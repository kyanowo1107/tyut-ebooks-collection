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667" r:id="rId3"/>
    <p:sldId id="668" r:id="rId4"/>
    <p:sldId id="669" r:id="rId5"/>
    <p:sldId id="670" r:id="rId6"/>
    <p:sldId id="671" r:id="rId7"/>
    <p:sldId id="672" r:id="rId8"/>
    <p:sldId id="673" r:id="rId9"/>
    <p:sldId id="674" r:id="rId10"/>
    <p:sldId id="677" r:id="rId11"/>
    <p:sldId id="675" r:id="rId12"/>
    <p:sldId id="676" r:id="rId13"/>
    <p:sldId id="678" r:id="rId14"/>
  </p:sldIdLst>
  <p:sldSz cx="9144000" cy="6858000" type="screen4x3"/>
  <p:notesSz cx="7099300" cy="10234930"/>
  <p:custDataLst>
    <p:tags r:id="rId21"/>
  </p:custDataLst>
  <p:defaultTextStyle>
    <a:defPPr>
      <a:defRPr lang="zh-CN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7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033CC"/>
    <a:srgbClr val="9900CC"/>
    <a:srgbClr val="CC3300"/>
    <a:srgbClr val="6600CC"/>
    <a:srgbClr val="B8E6E6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014"/>
    <p:restoredTop sz="94670"/>
  </p:normalViewPr>
  <p:slideViewPr>
    <p:cSldViewPr showGuides="1">
      <p:cViewPr varScale="1">
        <p:scale>
          <a:sx n="81" d="100"/>
          <a:sy n="81" d="100"/>
        </p:scale>
        <p:origin x="884" y="56"/>
      </p:cViewPr>
      <p:guideLst>
        <p:guide orient="horz" pos="2160"/>
        <p:guide pos="276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100" d="100"/>
        <a:sy n="100" d="100"/>
      </p:scale>
      <p:origin x="0" y="95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gs" Target="tags/tag24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image" Target="../media/image1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wmf"/><Relationship Id="rId1" Type="http://schemas.openxmlformats.org/officeDocument/2006/relationships/image" Target="../media/image5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6.v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7" Type="http://schemas.openxmlformats.org/officeDocument/2006/relationships/image" Target="../media/image22.wmf"/><Relationship Id="rId6" Type="http://schemas.openxmlformats.org/officeDocument/2006/relationships/image" Target="../media/image21.wmf"/><Relationship Id="rId5" Type="http://schemas.openxmlformats.org/officeDocument/2006/relationships/image" Target="../media/image20.wmf"/><Relationship Id="rId4" Type="http://schemas.openxmlformats.org/officeDocument/2006/relationships/image" Target="../media/image19.wmf"/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/Relationships>
</file>

<file path=ppt/drawings/_rels/vmlDrawing7.vml.rels><?xml version="1.0" encoding="UTF-8" standalone="yes"?>
<Relationships xmlns="http://schemas.openxmlformats.org/package/2006/relationships"><Relationship Id="rId4" Type="http://schemas.openxmlformats.org/officeDocument/2006/relationships/image" Target="../media/image27.wmf"/><Relationship Id="rId3" Type="http://schemas.openxmlformats.org/officeDocument/2006/relationships/image" Target="../media/image26.wmf"/><Relationship Id="rId2" Type="http://schemas.openxmlformats.org/officeDocument/2006/relationships/image" Target="../media/image25.wmf"/><Relationship Id="rId1" Type="http://schemas.openxmlformats.org/officeDocument/2006/relationships/image" Target="../media/image24.wmf"/></Relationships>
</file>

<file path=ppt/drawings/_rels/vmlDrawing8.vml.rels><?xml version="1.0" encoding="UTF-8" standalone="yes"?>
<Relationships xmlns="http://schemas.openxmlformats.org/package/2006/relationships"><Relationship Id="rId7" Type="http://schemas.openxmlformats.org/officeDocument/2006/relationships/image" Target="../media/image37.wmf"/><Relationship Id="rId6" Type="http://schemas.openxmlformats.org/officeDocument/2006/relationships/image" Target="../media/image36.wmf"/><Relationship Id="rId5" Type="http://schemas.openxmlformats.org/officeDocument/2006/relationships/image" Target="../media/image34.wmf"/><Relationship Id="rId4" Type="http://schemas.openxmlformats.org/officeDocument/2006/relationships/image" Target="../media/image33.wmf"/><Relationship Id="rId3" Type="http://schemas.openxmlformats.org/officeDocument/2006/relationships/image" Target="../media/image31.wmf"/><Relationship Id="rId2" Type="http://schemas.openxmlformats.org/officeDocument/2006/relationships/image" Target="../media/image30.wmf"/><Relationship Id="rId1" Type="http://schemas.openxmlformats.org/officeDocument/2006/relationships/image" Target="../media/image28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46.wmf"/><Relationship Id="rId7" Type="http://schemas.openxmlformats.org/officeDocument/2006/relationships/image" Target="../media/image45.wmf"/><Relationship Id="rId6" Type="http://schemas.openxmlformats.org/officeDocument/2006/relationships/image" Target="../media/image44.wmf"/><Relationship Id="rId5" Type="http://schemas.openxmlformats.org/officeDocument/2006/relationships/image" Target="../media/image43.wmf"/><Relationship Id="rId4" Type="http://schemas.openxmlformats.org/officeDocument/2006/relationships/image" Target="../media/image42.wmf"/><Relationship Id="rId3" Type="http://schemas.openxmlformats.org/officeDocument/2006/relationships/image" Target="../media/image41.wmf"/><Relationship Id="rId2" Type="http://schemas.openxmlformats.org/officeDocument/2006/relationships/image" Target="../media/image40.wmf"/><Relationship Id="rId1" Type="http://schemas.openxmlformats.org/officeDocument/2006/relationships/image" Target="../media/image38.wmf"/></Relationships>
</file>

<file path=ppt/drawings/_rels/vmlDrawing10.vml.rels><?xml version="1.0" encoding="UTF-8" standalone="yes"?>
<Relationships xmlns="http://schemas.openxmlformats.org/package/2006/relationships"><Relationship Id="rId4" Type="http://schemas.openxmlformats.org/officeDocument/2006/relationships/image" Target="../media/image50.wmf"/><Relationship Id="rId3" Type="http://schemas.openxmlformats.org/officeDocument/2006/relationships/image" Target="../media/image49.wmf"/><Relationship Id="rId2" Type="http://schemas.openxmlformats.org/officeDocument/2006/relationships/image" Target="../media/image48.wmf"/><Relationship Id="rId1" Type="http://schemas.openxmlformats.org/officeDocument/2006/relationships/image" Target="../media/image4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defRPr sz="1300"/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defRPr sz="1300"/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defRPr sz="1300"/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defRPr sz="1300" smtClean="0"/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208239E-FCCE-40D7-A9CB-E3D8F9E272D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55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defRPr sz="1300"/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5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defRPr sz="1300"/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5604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990600" y="768350"/>
            <a:ext cx="5118100" cy="3836988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55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5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defRPr sz="1300"/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55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defRPr sz="1300" smtClean="0"/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2E4F380-134B-4700-9730-3093622C4810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/>
          <p:cNvSpPr/>
          <p:nvPr/>
        </p:nvSpPr>
        <p:spPr>
          <a:xfrm>
            <a:off x="447675" y="3086100"/>
            <a:ext cx="8240713" cy="33051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>
                <a:solidFill>
                  <a:srgbClr val="9F296B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F673C2B-4639-4208-8AB9-D57C650CF33F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9F296B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rgbClr val="9F296B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/>
          <p:cNvSpPr>
            <a:spLocks noChangeAspect="1"/>
          </p:cNvSpPr>
          <p:nvPr/>
        </p:nvSpPr>
        <p:spPr>
          <a:xfrm>
            <a:off x="447675" y="600075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943C146-8E92-4980-8708-1861E8B4DFBB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/>
          <p:cNvSpPr>
            <a:spLocks noChangeAspect="1"/>
          </p:cNvSpPr>
          <p:nvPr/>
        </p:nvSpPr>
        <p:spPr>
          <a:xfrm>
            <a:off x="452438" y="5141913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/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>
                <a:solidFill>
                  <a:srgbClr val="9F296B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ADFA0E3-8049-4F96-AA3A-1B01512EC3F0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9F296B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rgbClr val="9F296B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/>
          <p:cNvSpPr>
            <a:spLocks noChangeAspect="1"/>
          </p:cNvSpPr>
          <p:nvPr/>
        </p:nvSpPr>
        <p:spPr>
          <a:xfrm>
            <a:off x="447675" y="600075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A2EEF24-66AA-4B30-B832-D59803B5425E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/>
          <p:cNvSpPr>
            <a:spLocks noChangeAspect="1"/>
          </p:cNvSpPr>
          <p:nvPr/>
        </p:nvSpPr>
        <p:spPr>
          <a:xfrm>
            <a:off x="447675" y="600075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Date Placeholder 6"/>
          <p:cNvSpPr>
            <a:spLocks noGrp="1"/>
          </p:cNvSpPr>
          <p:nvPr>
            <p:ph type="dt" sz="half" idx="1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7"/>
          <p:cNvSpPr>
            <a:spLocks noGrp="1"/>
          </p:cNvSpPr>
          <p:nvPr>
            <p:ph type="ftr" sz="quarter" idx="1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8"/>
          <p:cNvSpPr>
            <a:spLocks noGrp="1"/>
          </p:cNvSpPr>
          <p:nvPr>
            <p:ph type="sldNum" sz="quarter" idx="1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3E1FED3-68FE-442B-95A1-D25667F531A9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5"/>
          <p:cNvSpPr>
            <a:spLocks noChangeAspect="1"/>
          </p:cNvSpPr>
          <p:nvPr/>
        </p:nvSpPr>
        <p:spPr>
          <a:xfrm>
            <a:off x="447675" y="600075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38E2CE3-DEBB-42A9-955A-6096251A7F5A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D7A7090-F6B4-44C1-B409-0BE3D28C3D0F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8"/>
          <p:cNvSpPr>
            <a:spLocks noChangeAspect="1"/>
          </p:cNvSpPr>
          <p:nvPr/>
        </p:nvSpPr>
        <p:spPr>
          <a:xfrm>
            <a:off x="452438" y="5141913"/>
            <a:ext cx="8239125" cy="12747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>
                <a:solidFill>
                  <a:srgbClr val="9F296B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11A8497D-5402-49AA-B231-7F9B985BE68D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9F296B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rgbClr val="9F296B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/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/>
            </a:pPr>
            <a:r>
              <a:rPr kumimoji="0" lang="zh-CN" alt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单击图标添加图片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D7A7090-F6B4-44C1-B409-0BE3D28C3D0F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/>
          <p:cNvSpPr>
            <a:spLocks noChangeAspect="1"/>
          </p:cNvSpPr>
          <p:nvPr/>
        </p:nvSpPr>
        <p:spPr>
          <a:xfrm>
            <a:off x="447675" y="600075"/>
            <a:ext cx="8239125" cy="1258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A85DD3-5AE4-4560-B051-063FB08B6BD5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/>
          <p:cNvSpPr>
            <a:spLocks noChangeAspect="1"/>
          </p:cNvSpPr>
          <p:nvPr/>
        </p:nvSpPr>
        <p:spPr>
          <a:xfrm>
            <a:off x="6629400" y="600075"/>
            <a:ext cx="2057400" cy="5816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6745288" y="5956300"/>
            <a:ext cx="9477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75000"/>
                  <a:lumOff val="2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59229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mtClean="0">
                <a:solidFill>
                  <a:srgbClr val="9F296B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DF8524-EB33-4894-A4B6-6CC2296C7BE2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9F296B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rgbClr val="9F296B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025" y="687388"/>
            <a:ext cx="7989888" cy="10826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>
          <a:xfrm>
            <a:off x="581025" y="2227263"/>
            <a:ext cx="7989888" cy="36322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en-US" altLang="zh-C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425" y="59563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025" y="5951538"/>
            <a:ext cx="487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900" b="0" i="0" u="none" strike="noStrike" kern="1200" cap="all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975" y="5956300"/>
            <a:ext cx="7699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900" smtClean="0">
                <a:solidFill>
                  <a:schemeClr val="accent2"/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D7A7090-F6B4-44C1-B409-0BE3D28C3D0F}" type="slidenum"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9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47675" y="441325"/>
            <a:ext cx="2720975" cy="107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975350" y="441325"/>
            <a:ext cx="2711450" cy="10795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216275" y="441325"/>
            <a:ext cx="2711450" cy="10795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defRPr sz="2800" kern="1200" cap="all">
          <a:solidFill>
            <a:schemeClr val="bg1"/>
          </a:solidFill>
          <a:latin typeface="+mj-lt"/>
          <a:ea typeface="+mj-ea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Gill Sans MT" panose="020B0502020104020203" pitchFamily="34" charset="0"/>
          <a:ea typeface="华文中宋" panose="02010600040101010101" pitchFamily="2" charset="-122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Gill Sans MT" panose="020B0502020104020203" pitchFamily="34" charset="0"/>
          <a:ea typeface="华文中宋" panose="02010600040101010101" pitchFamily="2" charset="-122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Gill Sans MT" panose="020B0502020104020203" pitchFamily="34" charset="0"/>
          <a:ea typeface="华文中宋" panose="02010600040101010101" pitchFamily="2" charset="-122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Gill Sans MT" panose="020B0502020104020203" pitchFamily="34" charset="0"/>
          <a:ea typeface="华文中宋" panose="02010600040101010101" pitchFamily="2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4800" indent="-304800" algn="l" defTabSz="457200" rtl="0" eaLnBrk="0" fontAlgn="base" hangingPunct="0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ern="1200">
          <a:solidFill>
            <a:schemeClr val="tx2"/>
          </a:solidFill>
          <a:latin typeface="+mn-lt"/>
          <a:ea typeface="+mn-ea"/>
          <a:cs typeface="+mn-cs"/>
        </a:defRPr>
      </a:lvl1pPr>
      <a:lvl2pPr marL="628650" indent="-304800" algn="l" defTabSz="457200" rtl="0" eaLnBrk="0" fontAlgn="base" hangingPunct="0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8525" indent="-269875" algn="l" defTabSz="457200" rtl="0" eaLnBrk="0" fontAlgn="base" hangingPunct="0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425" indent="-233680" algn="l" defTabSz="457200" rtl="0" eaLnBrk="0" fontAlgn="base" hangingPunct="0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105" indent="-233680" algn="l" defTabSz="457200" rtl="0" eaLnBrk="0" fontAlgn="base" hangingPunct="0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2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27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9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71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1.v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.wmf"/><Relationship Id="rId3" Type="http://schemas.openxmlformats.org/officeDocument/2006/relationships/oleObject" Target="../embeddings/oleObject2.bin"/><Relationship Id="rId2" Type="http://schemas.openxmlformats.org/officeDocument/2006/relationships/image" Target="../media/image1.wmf"/><Relationship Id="rId1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2.v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wmf"/><Relationship Id="rId3" Type="http://schemas.openxmlformats.org/officeDocument/2006/relationships/oleObject" Target="../embeddings/oleObject4.bin"/><Relationship Id="rId2" Type="http://schemas.openxmlformats.org/officeDocument/2006/relationships/image" Target="../media/image3.wmf"/><Relationship Id="rId1" Type="http://schemas.openxmlformats.org/officeDocument/2006/relationships/oleObject" Target="../embeddings/oleObject3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3.v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6.wmf"/><Relationship Id="rId3" Type="http://schemas.openxmlformats.org/officeDocument/2006/relationships/oleObject" Target="../embeddings/oleObject6.bin"/><Relationship Id="rId2" Type="http://schemas.openxmlformats.org/officeDocument/2006/relationships/image" Target="../media/image5.wmf"/><Relationship Id="rId1" Type="http://schemas.openxmlformats.org/officeDocument/2006/relationships/oleObject" Target="../embeddings/oleObject5.bin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4.v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9.bin"/><Relationship Id="rId2" Type="http://schemas.openxmlformats.org/officeDocument/2006/relationships/image" Target="../media/image8.wmf"/><Relationship Id="rId1" Type="http://schemas.openxmlformats.org/officeDocument/2006/relationships/oleObject" Target="../embeddings/oleObject8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5.v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12.bin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1.wmf"/><Relationship Id="rId1" Type="http://schemas.openxmlformats.org/officeDocument/2006/relationships/oleObject" Target="../embeddings/oleObject11.bin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6.bin"/><Relationship Id="rId8" Type="http://schemas.openxmlformats.org/officeDocument/2006/relationships/oleObject" Target="../embeddings/oleObject15.bin"/><Relationship Id="rId7" Type="http://schemas.openxmlformats.org/officeDocument/2006/relationships/image" Target="../media/image17.wmf"/><Relationship Id="rId6" Type="http://schemas.openxmlformats.org/officeDocument/2006/relationships/oleObject" Target="../embeddings/oleObject14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13.bin"/><Relationship Id="rId3" Type="http://schemas.openxmlformats.org/officeDocument/2006/relationships/image" Target="../media/image15.wmf"/><Relationship Id="rId22" Type="http://schemas.openxmlformats.org/officeDocument/2006/relationships/vmlDrawing" Target="../drawings/vmlDrawing6.vml"/><Relationship Id="rId21" Type="http://schemas.openxmlformats.org/officeDocument/2006/relationships/slideLayout" Target="../slideLayouts/slideLayout7.xml"/><Relationship Id="rId20" Type="http://schemas.openxmlformats.org/officeDocument/2006/relationships/image" Target="../media/image23.wmf"/><Relationship Id="rId2" Type="http://schemas.openxmlformats.org/officeDocument/2006/relationships/image" Target="../media/image14.jpeg"/><Relationship Id="rId19" Type="http://schemas.openxmlformats.org/officeDocument/2006/relationships/oleObject" Target="../embeddings/oleObject21.bin"/><Relationship Id="rId18" Type="http://schemas.openxmlformats.org/officeDocument/2006/relationships/image" Target="../media/image22.wmf"/><Relationship Id="rId17" Type="http://schemas.openxmlformats.org/officeDocument/2006/relationships/oleObject" Target="../embeddings/oleObject20.bin"/><Relationship Id="rId16" Type="http://schemas.openxmlformats.org/officeDocument/2006/relationships/image" Target="../media/image21.wmf"/><Relationship Id="rId15" Type="http://schemas.openxmlformats.org/officeDocument/2006/relationships/oleObject" Target="../embeddings/oleObject19.bin"/><Relationship Id="rId14" Type="http://schemas.openxmlformats.org/officeDocument/2006/relationships/image" Target="../media/image20.wmf"/><Relationship Id="rId13" Type="http://schemas.openxmlformats.org/officeDocument/2006/relationships/oleObject" Target="../embeddings/oleObject18.bin"/><Relationship Id="rId12" Type="http://schemas.openxmlformats.org/officeDocument/2006/relationships/image" Target="../media/image19.wmf"/><Relationship Id="rId11" Type="http://schemas.openxmlformats.org/officeDocument/2006/relationships/oleObject" Target="../embeddings/oleObject17.bin"/><Relationship Id="rId10" Type="http://schemas.openxmlformats.org/officeDocument/2006/relationships/image" Target="../media/image18.wmf"/><Relationship Id="rId1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26.wmf"/><Relationship Id="rId7" Type="http://schemas.openxmlformats.org/officeDocument/2006/relationships/oleObject" Target="../embeddings/oleObject24.bin"/><Relationship Id="rId6" Type="http://schemas.openxmlformats.org/officeDocument/2006/relationships/image" Target="../media/image25.wmf"/><Relationship Id="rId5" Type="http://schemas.openxmlformats.org/officeDocument/2006/relationships/oleObject" Target="../embeddings/oleObject23.bin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image" Target="../media/image24.wmf"/><Relationship Id="rId15" Type="http://schemas.openxmlformats.org/officeDocument/2006/relationships/vmlDrawing" Target="../drawings/vmlDrawing7.vml"/><Relationship Id="rId14" Type="http://schemas.openxmlformats.org/officeDocument/2006/relationships/slideLayout" Target="../slideLayouts/slideLayout7.xml"/><Relationship Id="rId13" Type="http://schemas.openxmlformats.org/officeDocument/2006/relationships/tags" Target="../tags/tag7.xml"/><Relationship Id="rId12" Type="http://schemas.openxmlformats.org/officeDocument/2006/relationships/image" Target="../media/image27.wmf"/><Relationship Id="rId11" Type="http://schemas.openxmlformats.org/officeDocument/2006/relationships/oleObject" Target="../embeddings/oleObject25.bin"/><Relationship Id="rId10" Type="http://schemas.openxmlformats.org/officeDocument/2006/relationships/tags" Target="../tags/tag6.xml"/><Relationship Id="rId1" Type="http://schemas.openxmlformats.org/officeDocument/2006/relationships/oleObject" Target="../embeddings/oleObject22.bin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29.bin"/><Relationship Id="rId8" Type="http://schemas.openxmlformats.org/officeDocument/2006/relationships/image" Target="../media/image32.wmf"/><Relationship Id="rId7" Type="http://schemas.openxmlformats.org/officeDocument/2006/relationships/image" Target="../media/image31.wmf"/><Relationship Id="rId6" Type="http://schemas.openxmlformats.org/officeDocument/2006/relationships/oleObject" Target="../embeddings/oleObject28.bin"/><Relationship Id="rId5" Type="http://schemas.openxmlformats.org/officeDocument/2006/relationships/image" Target="../media/image30.wmf"/><Relationship Id="rId4" Type="http://schemas.openxmlformats.org/officeDocument/2006/relationships/oleObject" Target="../embeddings/oleObject27.bin"/><Relationship Id="rId3" Type="http://schemas.openxmlformats.org/officeDocument/2006/relationships/image" Target="../media/image29.wmf"/><Relationship Id="rId21" Type="http://schemas.openxmlformats.org/officeDocument/2006/relationships/vmlDrawing" Target="../drawings/vmlDrawing8.vml"/><Relationship Id="rId20" Type="http://schemas.openxmlformats.org/officeDocument/2006/relationships/slideLayout" Target="../slideLayouts/slideLayout7.xml"/><Relationship Id="rId2" Type="http://schemas.openxmlformats.org/officeDocument/2006/relationships/image" Target="../media/image28.wmf"/><Relationship Id="rId19" Type="http://schemas.openxmlformats.org/officeDocument/2006/relationships/tags" Target="../tags/tag9.xml"/><Relationship Id="rId18" Type="http://schemas.openxmlformats.org/officeDocument/2006/relationships/tags" Target="../tags/tag8.xml"/><Relationship Id="rId17" Type="http://schemas.openxmlformats.org/officeDocument/2006/relationships/image" Target="../media/image37.wmf"/><Relationship Id="rId16" Type="http://schemas.openxmlformats.org/officeDocument/2006/relationships/oleObject" Target="../embeddings/oleObject32.bin"/><Relationship Id="rId15" Type="http://schemas.openxmlformats.org/officeDocument/2006/relationships/image" Target="../media/image36.wmf"/><Relationship Id="rId14" Type="http://schemas.openxmlformats.org/officeDocument/2006/relationships/oleObject" Target="../embeddings/oleObject31.bin"/><Relationship Id="rId13" Type="http://schemas.openxmlformats.org/officeDocument/2006/relationships/image" Target="../media/image35.wmf"/><Relationship Id="rId12" Type="http://schemas.openxmlformats.org/officeDocument/2006/relationships/image" Target="../media/image34.wmf"/><Relationship Id="rId11" Type="http://schemas.openxmlformats.org/officeDocument/2006/relationships/oleObject" Target="../embeddings/oleObject30.bin"/><Relationship Id="rId10" Type="http://schemas.openxmlformats.org/officeDocument/2006/relationships/image" Target="../media/image33.wmf"/><Relationship Id="rId1" Type="http://schemas.openxmlformats.org/officeDocument/2006/relationships/oleObject" Target="../embeddings/oleObject26.bin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wmf"/><Relationship Id="rId8" Type="http://schemas.openxmlformats.org/officeDocument/2006/relationships/oleObject" Target="../embeddings/oleObject36.bin"/><Relationship Id="rId7" Type="http://schemas.openxmlformats.org/officeDocument/2006/relationships/image" Target="../media/image41.wmf"/><Relationship Id="rId6" Type="http://schemas.openxmlformats.org/officeDocument/2006/relationships/oleObject" Target="../embeddings/oleObject35.bin"/><Relationship Id="rId5" Type="http://schemas.openxmlformats.org/officeDocument/2006/relationships/image" Target="../media/image40.wmf"/><Relationship Id="rId4" Type="http://schemas.openxmlformats.org/officeDocument/2006/relationships/oleObject" Target="../embeddings/oleObject34.bin"/><Relationship Id="rId3" Type="http://schemas.openxmlformats.org/officeDocument/2006/relationships/image" Target="../media/image39.wmf"/><Relationship Id="rId21" Type="http://schemas.openxmlformats.org/officeDocument/2006/relationships/vmlDrawing" Target="../drawings/vmlDrawing9.vml"/><Relationship Id="rId20" Type="http://schemas.openxmlformats.org/officeDocument/2006/relationships/slideLayout" Target="../slideLayouts/slideLayout7.xml"/><Relationship Id="rId2" Type="http://schemas.openxmlformats.org/officeDocument/2006/relationships/image" Target="../media/image38.wmf"/><Relationship Id="rId19" Type="http://schemas.openxmlformats.org/officeDocument/2006/relationships/tags" Target="../tags/tag10.xml"/><Relationship Id="rId18" Type="http://schemas.openxmlformats.org/officeDocument/2006/relationships/image" Target="../media/image46.wmf"/><Relationship Id="rId17" Type="http://schemas.openxmlformats.org/officeDocument/2006/relationships/oleObject" Target="../embeddings/oleObject40.bin"/><Relationship Id="rId16" Type="http://schemas.openxmlformats.org/officeDocument/2006/relationships/image" Target="../media/image29.wmf"/><Relationship Id="rId15" Type="http://schemas.openxmlformats.org/officeDocument/2006/relationships/image" Target="../media/image45.wmf"/><Relationship Id="rId14" Type="http://schemas.openxmlformats.org/officeDocument/2006/relationships/oleObject" Target="../embeddings/oleObject39.bin"/><Relationship Id="rId13" Type="http://schemas.openxmlformats.org/officeDocument/2006/relationships/image" Target="../media/image44.wmf"/><Relationship Id="rId12" Type="http://schemas.openxmlformats.org/officeDocument/2006/relationships/oleObject" Target="../embeddings/oleObject38.bin"/><Relationship Id="rId11" Type="http://schemas.openxmlformats.org/officeDocument/2006/relationships/image" Target="../media/image43.wmf"/><Relationship Id="rId10" Type="http://schemas.openxmlformats.org/officeDocument/2006/relationships/oleObject" Target="../embeddings/oleObject37.bin"/><Relationship Id="rId1" Type="http://schemas.openxmlformats.org/officeDocument/2006/relationships/oleObject" Target="../embeddings/oleObject33.bin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2.bin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image" Target="../media/image47.wmf"/><Relationship Id="rId4" Type="http://schemas.openxmlformats.org/officeDocument/2006/relationships/oleObject" Target="../embeddings/oleObject41.bin"/><Relationship Id="rId3" Type="http://schemas.openxmlformats.org/officeDocument/2006/relationships/tags" Target="../tags/tag13.xml"/><Relationship Id="rId24" Type="http://schemas.openxmlformats.org/officeDocument/2006/relationships/vmlDrawing" Target="../drawings/vmlDrawing10.vml"/><Relationship Id="rId23" Type="http://schemas.openxmlformats.org/officeDocument/2006/relationships/slideLayout" Target="../slideLayouts/slideLayout7.xml"/><Relationship Id="rId22" Type="http://schemas.openxmlformats.org/officeDocument/2006/relationships/tags" Target="../tags/tag23.xml"/><Relationship Id="rId21" Type="http://schemas.openxmlformats.org/officeDocument/2006/relationships/tags" Target="../tags/tag22.xml"/><Relationship Id="rId20" Type="http://schemas.openxmlformats.org/officeDocument/2006/relationships/image" Target="../media/image50.wmf"/><Relationship Id="rId2" Type="http://schemas.openxmlformats.org/officeDocument/2006/relationships/tags" Target="../tags/tag12.xml"/><Relationship Id="rId19" Type="http://schemas.openxmlformats.org/officeDocument/2006/relationships/oleObject" Target="../embeddings/oleObject44.bin"/><Relationship Id="rId18" Type="http://schemas.openxmlformats.org/officeDocument/2006/relationships/tags" Target="../tags/tag21.xml"/><Relationship Id="rId17" Type="http://schemas.openxmlformats.org/officeDocument/2006/relationships/image" Target="../media/image29.wmf"/><Relationship Id="rId16" Type="http://schemas.openxmlformats.org/officeDocument/2006/relationships/tags" Target="../tags/tag20.xml"/><Relationship Id="rId15" Type="http://schemas.openxmlformats.org/officeDocument/2006/relationships/image" Target="../media/image49.wmf"/><Relationship Id="rId14" Type="http://schemas.openxmlformats.org/officeDocument/2006/relationships/oleObject" Target="../embeddings/oleObject43.bin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image" Target="../media/image48.wmf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32"/>
          <p:cNvSpPr txBox="1">
            <a:spLocks noChangeArrowheads="1"/>
          </p:cNvSpPr>
          <p:nvPr/>
        </p:nvSpPr>
        <p:spPr bwMode="auto">
          <a:xfrm>
            <a:off x="2308860" y="764540"/>
            <a:ext cx="755967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zh-CN" altLang="en-US" sz="2800" b="1">
                <a:solidFill>
                  <a:srgbClr val="CC0000"/>
                </a:solidFill>
                <a:cs typeface="Times New Roman" panose="02020603050405020304" pitchFamily="18" charset="0"/>
              </a:rPr>
              <a:t>第七章  气体动理论</a:t>
            </a:r>
            <a:r>
              <a:rPr lang="zh-CN" altLang="en-US" sz="2800" b="1">
                <a:solidFill>
                  <a:srgbClr val="CC0000"/>
                </a:solidFill>
                <a:cs typeface="Times New Roman" panose="02020603050405020304" pitchFamily="18" charset="0"/>
              </a:rPr>
              <a:t>复习</a:t>
            </a:r>
            <a:endParaRPr lang="zh-CN" altLang="en-US" sz="2800" b="1">
              <a:solidFill>
                <a:srgbClr val="CC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Text Box 32"/>
          <p:cNvSpPr txBox="1">
            <a:spLocks noChangeArrowheads="1"/>
          </p:cNvSpPr>
          <p:nvPr/>
        </p:nvSpPr>
        <p:spPr bwMode="auto">
          <a:xfrm>
            <a:off x="467360" y="1628775"/>
            <a:ext cx="434530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zh-CN" altLang="en-US" sz="2800" b="1">
                <a:solidFill>
                  <a:srgbClr val="0033CC"/>
                </a:solidFill>
                <a:cs typeface="Times New Roman" panose="02020603050405020304" pitchFamily="18" charset="0"/>
              </a:rPr>
              <a:t>一</a:t>
            </a:r>
            <a:r>
              <a:rPr lang="en-US" altLang="zh-CN" sz="2800" b="1">
                <a:solidFill>
                  <a:srgbClr val="0033CC"/>
                </a:solidFill>
                <a:cs typeface="Times New Roman" panose="02020603050405020304" pitchFamily="18" charset="0"/>
              </a:rPr>
              <a:t>. </a:t>
            </a:r>
            <a:r>
              <a:rPr lang="zh-CN" altLang="en-US" sz="2800" b="1">
                <a:solidFill>
                  <a:srgbClr val="0033CC"/>
                </a:solidFill>
                <a:cs typeface="Times New Roman" panose="02020603050405020304" pitchFamily="18" charset="0"/>
              </a:rPr>
              <a:t>基本概念和基本</a:t>
            </a:r>
            <a:r>
              <a:rPr lang="zh-CN" altLang="en-US" sz="2800" b="1">
                <a:solidFill>
                  <a:srgbClr val="0033CC"/>
                </a:solidFill>
                <a:cs typeface="Times New Roman" panose="02020603050405020304" pitchFamily="18" charset="0"/>
              </a:rPr>
              <a:t>方程</a:t>
            </a:r>
            <a:endParaRPr lang="zh-CN" altLang="en-US" sz="2800" b="1">
              <a:solidFill>
                <a:srgbClr val="0033CC"/>
              </a:solidFill>
              <a:cs typeface="Times New Roman" panose="02020603050405020304" pitchFamily="18" charset="0"/>
            </a:endParaRPr>
          </a:p>
        </p:txBody>
      </p:sp>
      <p:sp>
        <p:nvSpPr>
          <p:cNvPr id="14" name="Rectangle 30"/>
          <p:cNvSpPr/>
          <p:nvPr/>
        </p:nvSpPr>
        <p:spPr>
          <a:xfrm>
            <a:off x="375285" y="2221865"/>
            <a:ext cx="8546465" cy="13836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1.</a:t>
            </a:r>
            <a:r>
              <a:rPr lang="zh-CN" alt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平衡态：</a:t>
            </a:r>
            <a:r>
              <a:rPr lang="en-US" altLang="zh-CN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在不受外界影响的条件下，系统的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sym typeface="+mn-ea"/>
              </a:rPr>
              <a:t>各种宏观性质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不随时间改变的状态。</a:t>
            </a:r>
            <a:endParaRPr lang="zh-CN" altLang="en-US" sz="2800" b="1" dirty="0">
              <a:solidFill>
                <a:schemeClr val="tx1"/>
              </a:solidFill>
              <a:latin typeface="楷体_GB2312" pitchFamily="1" charset="-122"/>
              <a:ea typeface="宋体" panose="02010600030101010101" pitchFamily="2" charset="-122"/>
            </a:endParaRPr>
          </a:p>
        </p:txBody>
      </p:sp>
      <p:sp>
        <p:nvSpPr>
          <p:cNvPr id="2" name="Rectangle 30"/>
          <p:cNvSpPr/>
          <p:nvPr/>
        </p:nvSpPr>
        <p:spPr>
          <a:xfrm>
            <a:off x="375285" y="3644265"/>
            <a:ext cx="8546465" cy="737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2. </a:t>
            </a:r>
            <a:r>
              <a:rPr lang="zh-CN" alt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理想气体：</a:t>
            </a:r>
            <a:r>
              <a:rPr lang="en-US" altLang="zh-CN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温度不太低，压强不太大的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气体。</a:t>
            </a:r>
            <a:endParaRPr lang="zh-CN" altLang="en-US" sz="2800" b="1" dirty="0">
              <a:solidFill>
                <a:schemeClr val="tx1"/>
              </a:solidFill>
              <a:latin typeface="楷体_GB2312" pitchFamily="1" charset="-122"/>
              <a:ea typeface="宋体" panose="02010600030101010101" pitchFamily="2" charset="-122"/>
            </a:endParaRPr>
          </a:p>
        </p:txBody>
      </p:sp>
      <p:sp>
        <p:nvSpPr>
          <p:cNvPr id="5" name="Rectangle 30"/>
          <p:cNvSpPr/>
          <p:nvPr/>
        </p:nvSpPr>
        <p:spPr>
          <a:xfrm>
            <a:off x="375285" y="4507865"/>
            <a:ext cx="8546465" cy="13836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3. </a:t>
            </a:r>
            <a:r>
              <a:rPr lang="zh-CN" alt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理想气体的内能：</a:t>
            </a:r>
            <a:r>
              <a:rPr lang="en-US" altLang="zh-CN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组成系统所有分子无规则热运动能量的总和，仅是温度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的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sym typeface="+mn-ea"/>
              </a:rPr>
              <a:t>单值函数。</a:t>
            </a:r>
            <a:endParaRPr lang="zh-CN" altLang="en-US" sz="2800" b="1" dirty="0">
              <a:solidFill>
                <a:schemeClr val="tx1"/>
              </a:solidFill>
              <a:latin typeface="楷体_GB2312" pitchFamily="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14" grpId="0"/>
      <p:bldP spid="14" grpId="1"/>
      <p:bldP spid="2" grpId="0"/>
      <p:bldP spid="2" grpId="1"/>
      <p:bldP spid="5" grpId="0"/>
      <p:bldP spid="5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Rectangle 30"/>
          <p:cNvSpPr/>
          <p:nvPr/>
        </p:nvSpPr>
        <p:spPr>
          <a:xfrm>
            <a:off x="395605" y="620395"/>
            <a:ext cx="4373245" cy="737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4. </a:t>
            </a:r>
            <a:r>
              <a:rPr lang="zh-CN" alt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理想气体的状态</a:t>
            </a:r>
            <a:r>
              <a:rPr lang="zh-CN" alt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楷体_GB2312" pitchFamily="1" charset="-122"/>
              </a:rPr>
              <a:t>方程：</a:t>
            </a:r>
            <a:endParaRPr lang="zh-CN" altLang="en-US" sz="2800" b="1" dirty="0">
              <a:solidFill>
                <a:schemeClr val="tx1"/>
              </a:solidFill>
              <a:latin typeface="楷体_GB2312" pitchFamily="1" charset="-122"/>
              <a:ea typeface="宋体" panose="02010600030101010101" pitchFamily="2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539750" y="1700530"/>
            <a:ext cx="4642485" cy="1225550"/>
            <a:chOff x="850" y="2678"/>
            <a:chExt cx="7311" cy="1930"/>
          </a:xfrm>
        </p:grpSpPr>
        <p:graphicFrame>
          <p:nvGraphicFramePr>
            <p:cNvPr id="60422" name="Object 6"/>
            <p:cNvGraphicFramePr>
              <a:graphicFrameLocks noChangeAspect="1"/>
            </p:cNvGraphicFramePr>
            <p:nvPr/>
          </p:nvGraphicFramePr>
          <p:xfrm>
            <a:off x="4139" y="2678"/>
            <a:ext cx="4023" cy="19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09" name="公式" r:id="rId1" imgW="23469600" imgH="10363200" progId="Equation.3">
                    <p:embed/>
                  </p:oleObj>
                </mc:Choice>
                <mc:Fallback>
                  <p:oleObj name="公式" r:id="rId1" imgW="23469600" imgH="10363200" progId="Equation.3">
                    <p:embed/>
                    <p:pic>
                      <p:nvPicPr>
                        <p:cNvPr id="0" name="Object 6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4139" y="2678"/>
                          <a:ext cx="4023" cy="1930"/>
                        </a:xfrm>
                        <a:prstGeom prst="rect">
                          <a:avLst/>
                        </a:prstGeom>
                        <a:noFill/>
                        <a:ln w="12700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Rectangle 2"/>
            <p:cNvSpPr txBox="1">
              <a:spLocks noChangeArrowheads="1"/>
            </p:cNvSpPr>
            <p:nvPr/>
          </p:nvSpPr>
          <p:spPr bwMode="auto">
            <a:xfrm>
              <a:off x="850" y="2905"/>
              <a:ext cx="3038" cy="960"/>
            </a:xfrm>
            <a:prstGeom prst="rect">
              <a:avLst/>
            </a:prstGeom>
            <a:noFill/>
            <a:ln>
              <a:miter lim="800000"/>
            </a:ln>
          </p:spPr>
          <p:txBody>
            <a:bodyPr vert="horz" wrap="square" lIns="91440" tIns="45720" rIns="91440" bIns="45720" numCol="1" anchor="t" anchorCtr="0" compatLnSpc="1"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楷体_GB2312" pitchFamily="1" charset="-122"/>
                  <a:ea typeface="楷体_GB2312" pitchFamily="1" charset="-122"/>
                  <a:cs typeface="+mj-cs"/>
                </a:rPr>
                <a:t>宏观方程</a:t>
              </a:r>
              <a:endPara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539750" y="3213100"/>
            <a:ext cx="3863340" cy="792480"/>
            <a:chOff x="850" y="5060"/>
            <a:chExt cx="6084" cy="1248"/>
          </a:xfrm>
        </p:grpSpPr>
        <p:graphicFrame>
          <p:nvGraphicFramePr>
            <p:cNvPr id="25619" name="Object 19"/>
            <p:cNvGraphicFramePr>
              <a:graphicFrameLocks noChangeAspect="1"/>
            </p:cNvGraphicFramePr>
            <p:nvPr/>
          </p:nvGraphicFramePr>
          <p:xfrm>
            <a:off x="4252" y="5286"/>
            <a:ext cx="2682" cy="102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10" name="公式" r:id="rId3" imgW="13106400" imgH="4876800" progId="Equation.3">
                    <p:embed/>
                  </p:oleObj>
                </mc:Choice>
                <mc:Fallback>
                  <p:oleObj name="公式" r:id="rId3" imgW="13106400" imgH="4876800" progId="Equation.3">
                    <p:embed/>
                    <p:pic>
                      <p:nvPicPr>
                        <p:cNvPr id="0" name="Object 1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252" y="5286"/>
                          <a:ext cx="2682" cy="1022"/>
                        </a:xfrm>
                        <a:prstGeom prst="rect">
                          <a:avLst/>
                        </a:prstGeom>
                        <a:noFill/>
                        <a:ln w="9525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Rectangle 2"/>
            <p:cNvSpPr txBox="1">
              <a:spLocks noChangeArrowheads="1"/>
            </p:cNvSpPr>
            <p:nvPr/>
          </p:nvSpPr>
          <p:spPr bwMode="auto">
            <a:xfrm>
              <a:off x="850" y="5060"/>
              <a:ext cx="3038" cy="960"/>
            </a:xfrm>
            <a:prstGeom prst="rect">
              <a:avLst/>
            </a:prstGeom>
            <a:noFill/>
            <a:ln>
              <a:miter lim="800000"/>
            </a:ln>
          </p:spPr>
          <p:txBody>
            <a:bodyPr vert="horz" wrap="square" lIns="91440" tIns="45720" rIns="91440" bIns="45720" numCol="1" anchor="t" anchorCtr="0" compatLnSpc="1"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楷体_GB2312" pitchFamily="1" charset="-122"/>
                  <a:ea typeface="楷体_GB2312" pitchFamily="1" charset="-122"/>
                  <a:cs typeface="+mj-cs"/>
                </a:rPr>
                <a:t>微观方程</a:t>
              </a:r>
              <a:endPara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endParaRPr>
            </a:p>
          </p:txBody>
        </p:sp>
      </p:grp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611505" y="4653280"/>
            <a:ext cx="8062595" cy="1660525"/>
          </a:xfrm>
          <a:prstGeom prst="rect">
            <a:avLst/>
          </a:prstGeom>
          <a:noFill/>
          <a:ln>
            <a:miter lim="800000"/>
          </a:ln>
        </p:spPr>
        <p:txBody>
          <a:bodyPr vert="horz" wrap="square" lIns="91440" tIns="45720" rIns="91440" bIns="45720" numCol="1" anchor="t" anchorCtr="0" compatLnSpc="1"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注意：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平衡态有确定的状态参量，在</a:t>
            </a:r>
            <a:r>
              <a:rPr kumimoji="0" lang="en-US" altLang="zh-CN" sz="2800" b="1" i="1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楷体_GB2312" pitchFamily="1" charset="-122"/>
                <a:cs typeface="Times New Roman" panose="02020603050405020304" pitchFamily="18" charset="0"/>
              </a:rPr>
              <a:t>P-V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图上用一个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点表示。</a:t>
            </a:r>
            <a:endParaRPr kumimoji="0" lang="zh-CN" altLang="en-US" sz="2800" b="1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楷体_GB2312" pitchFamily="1" charset="-122"/>
              <a:ea typeface="楷体_GB2312" pitchFamily="1" charset="-122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4" grpId="0"/>
      <p:bldP spid="4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2"/>
          <p:cNvSpPr txBox="1">
            <a:spLocks noChangeArrowheads="1"/>
          </p:cNvSpPr>
          <p:nvPr/>
        </p:nvSpPr>
        <p:spPr bwMode="auto">
          <a:xfrm>
            <a:off x="467360" y="620395"/>
            <a:ext cx="434530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en-US" altLang="zh-CN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压强和温度的微观解释</a:t>
            </a:r>
            <a:endParaRPr lang="zh-CN" altLang="en-US" sz="2800" b="1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Box 32"/>
          <p:cNvSpPr txBox="1">
            <a:spLocks noChangeArrowheads="1"/>
          </p:cNvSpPr>
          <p:nvPr/>
        </p:nvSpPr>
        <p:spPr bwMode="auto">
          <a:xfrm>
            <a:off x="467360" y="1052195"/>
            <a:ext cx="8227060" cy="1383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zh-CN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zh-CN" altLang="en-US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理想气体分子微观模型假说：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1" charset="-122"/>
                <a:cs typeface="Times New Roman" panose="02020603050405020304" pitchFamily="18" charset="0"/>
                <a:sym typeface="+mn-ea"/>
              </a:rPr>
              <a:t>不计体积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1" charset="-122"/>
                <a:cs typeface="Times New Roman" panose="02020603050405020304" pitchFamily="18" charset="0"/>
                <a:sym typeface="+mn-ea"/>
              </a:rPr>
              <a:t>、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1" charset="-122"/>
                <a:cs typeface="Times New Roman" panose="02020603050405020304" pitchFamily="18" charset="0"/>
                <a:sym typeface="+mn-ea"/>
              </a:rPr>
              <a:t>自由、弹性质点</a:t>
            </a:r>
            <a:endParaRPr lang="zh-CN" altLang="en-US" sz="2800" b="1" dirty="0">
              <a:solidFill>
                <a:schemeClr val="tx1"/>
              </a:solidFill>
              <a:latin typeface="Times New Roman" panose="02020603050405020304" pitchFamily="18" charset="0"/>
              <a:ea typeface="楷体_GB2312" pitchFamily="1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Text Box 32"/>
          <p:cNvSpPr txBox="1">
            <a:spLocks noChangeArrowheads="1"/>
          </p:cNvSpPr>
          <p:nvPr/>
        </p:nvSpPr>
        <p:spPr bwMode="auto">
          <a:xfrm>
            <a:off x="467360" y="2420620"/>
            <a:ext cx="8227060" cy="73723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zh-CN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zh-CN" altLang="en-US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统计假说：</a:t>
            </a:r>
            <a:endParaRPr lang="zh-CN" altLang="en-US" sz="2800" b="1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284220"/>
            <a:ext cx="756856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457200" indent="-457200">
              <a:buFont typeface="Wingdings" panose="05000000000000000000" charset="0"/>
              <a:buChar char="Ø"/>
            </a:pPr>
            <a:r>
              <a:rPr lang="zh-CN" altLang="en-US" sz="2800" b="1" noProof="0">
                <a:latin typeface="Times New Roman" panose="02020603050405020304" pitchFamily="18" charset="0"/>
                <a:cs typeface="宋体" panose="02010600030101010101" pitchFamily="2" charset="-122"/>
                <a:sym typeface="+mn-ea"/>
              </a:rPr>
              <a:t>平衡态时分子按位置的分布是均匀的</a:t>
            </a:r>
            <a:endParaRPr lang="zh-CN" altLang="en-US" sz="2800" b="1" noProof="0">
              <a:latin typeface="Times New Roman" panose="02020603050405020304" pitchFamily="18" charset="0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7360" y="4004310"/>
            <a:ext cx="656844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457200" indent="-457200">
              <a:buFont typeface="Wingdings" panose="05000000000000000000" charset="0"/>
              <a:buChar char="Ø"/>
            </a:pPr>
            <a:r>
              <a:rPr lang="zh-CN" altLang="en-US" sz="2800" b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宋体" panose="02010600030101010101" pitchFamily="2" charset="-122"/>
                <a:sym typeface="+mn-ea"/>
              </a:rPr>
              <a:t>平衡态时分子速度</a:t>
            </a:r>
            <a:r>
              <a:rPr lang="zh-CN" altLang="en-US" sz="2800" b="1">
                <a:latin typeface="Times New Roman" panose="02020603050405020304" pitchFamily="18" charset="0"/>
                <a:sym typeface="+mn-ea"/>
              </a:rPr>
              <a:t>取向各方向等概率</a:t>
            </a:r>
            <a:endParaRPr lang="zh-CN" altLang="en-US" sz="2800" b="1"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2050" name="Object 10"/>
          <p:cNvGraphicFramePr/>
          <p:nvPr/>
        </p:nvGraphicFramePr>
        <p:xfrm>
          <a:off x="2267585" y="4724400"/>
          <a:ext cx="3332480" cy="6711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08" name="" r:id="rId1" imgW="1015365" imgH="241300" progId="Equation.3">
                  <p:embed/>
                </p:oleObj>
              </mc:Choice>
              <mc:Fallback>
                <p:oleObj name="" r:id="rId1" imgW="1015365" imgH="241300" progId="Equation.3">
                  <p:embed/>
                  <p:pic>
                    <p:nvPicPr>
                      <p:cNvPr id="0" name="图片 310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267585" y="4724400"/>
                        <a:ext cx="3332480" cy="67119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4" name="Object 12"/>
          <p:cNvGraphicFramePr/>
          <p:nvPr/>
        </p:nvGraphicFramePr>
        <p:xfrm>
          <a:off x="2267744" y="5593715"/>
          <a:ext cx="3232150" cy="1054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0" name="" r:id="rId3" imgW="1206500" imgH="393700" progId="Equation.3">
                  <p:embed/>
                </p:oleObj>
              </mc:Choice>
              <mc:Fallback>
                <p:oleObj name="" r:id="rId3" imgW="1206500" imgH="393700" progId="Equation.3">
                  <p:embed/>
                  <p:pic>
                    <p:nvPicPr>
                      <p:cNvPr id="0" name="图片 30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67744" y="5593715"/>
                        <a:ext cx="3232150" cy="10541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2" grpId="0"/>
      <p:bldP spid="2" grpId="1"/>
      <p:bldP spid="3" grpId="0"/>
      <p:bldP spid="3" grpId="1"/>
      <p:bldP spid="5" grpId="0"/>
      <p:bldP spid="5" grpId="1"/>
      <p:bldP spid="6" grpId="0"/>
      <p:bldP spid="6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 txBox="1">
            <a:spLocks noChangeArrowheads="1"/>
          </p:cNvSpPr>
          <p:nvPr/>
        </p:nvSpPr>
        <p:spPr bwMode="auto">
          <a:xfrm>
            <a:off x="395576" y="476546"/>
            <a:ext cx="5429288" cy="857256"/>
          </a:xfrm>
          <a:prstGeom prst="rect">
            <a:avLst/>
          </a:prstGeom>
          <a:noFill/>
          <a:ln>
            <a:miter lim="800000"/>
          </a:ln>
        </p:spPr>
        <p:txBody>
          <a:bodyPr vert="horz" wrap="square" lIns="91440" tIns="45720" rIns="91440" bIns="45720" numCol="1" anchor="t" anchorCtr="0" compatLnSpc="1"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3.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压强、温度微观公式</a:t>
            </a:r>
            <a:endParaRPr kumimoji="0" lang="zh-CN" altLang="en-US" sz="2800" b="1" i="0" u="none" strike="noStrike" kern="1200" cap="none" spc="0" normalizeH="0" baseline="0" noProof="0" dirty="0" smtClean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楷体_GB2312" pitchFamily="1" charset="-122"/>
              <a:ea typeface="楷体_GB2312" pitchFamily="1" charset="-122"/>
              <a:cs typeface="+mj-cs"/>
            </a:endParaRPr>
          </a:p>
        </p:txBody>
      </p:sp>
      <p:sp>
        <p:nvSpPr>
          <p:cNvPr id="3" name="Rectangle 2"/>
          <p:cNvSpPr txBox="1">
            <a:spLocks noChangeArrowheads="1"/>
          </p:cNvSpPr>
          <p:nvPr/>
        </p:nvSpPr>
        <p:spPr bwMode="auto">
          <a:xfrm>
            <a:off x="428625" y="1196340"/>
            <a:ext cx="8155305" cy="1416050"/>
          </a:xfrm>
          <a:prstGeom prst="rect">
            <a:avLst/>
          </a:prstGeom>
          <a:noFill/>
          <a:ln>
            <a:miter lim="800000"/>
          </a:ln>
        </p:spPr>
        <p:txBody>
          <a:bodyPr vert="horz" wrap="square" lIns="91440" tIns="45720" rIns="91440" bIns="45720" numCol="1" anchor="t" anchorCtr="0" compatLnSpc="1"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将分子看作质点，单个分子服从力学规律，对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大量分子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作统计平均</a:t>
            </a:r>
            <a:r>
              <a:rPr kumimoji="0" lang="zh-CN" altLang="en-US" sz="2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</a:rPr>
              <a:t>得</a:t>
            </a:r>
            <a:endParaRPr kumimoji="0" lang="zh-CN" altLang="en-US" sz="2800" b="1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楷体_GB2312" pitchFamily="1" charset="-122"/>
              <a:ea typeface="楷体_GB2312" pitchFamily="1" charset="-122"/>
              <a:cs typeface="+mj-cs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67360" y="2708910"/>
            <a:ext cx="6220460" cy="1170940"/>
            <a:chOff x="849" y="4266"/>
            <a:chExt cx="9796" cy="1844"/>
          </a:xfrm>
        </p:grpSpPr>
        <p:graphicFrame>
          <p:nvGraphicFramePr>
            <p:cNvPr id="8198" name="Object 12"/>
            <p:cNvGraphicFramePr>
              <a:graphicFrameLocks noChangeAspect="1"/>
            </p:cNvGraphicFramePr>
            <p:nvPr/>
          </p:nvGraphicFramePr>
          <p:xfrm>
            <a:off x="2777" y="4266"/>
            <a:ext cx="7868" cy="184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0658" name="公式" r:id="rId1" imgW="3150235" imgH="983615" progId="Equation.3">
                    <p:embed/>
                  </p:oleObj>
                </mc:Choice>
                <mc:Fallback>
                  <p:oleObj name="公式" r:id="rId1" imgW="3150235" imgH="983615" progId="Equation.3">
                    <p:embed/>
                    <p:pic>
                      <p:nvPicPr>
                        <p:cNvPr id="0" name="Object 12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2777" y="4266"/>
                          <a:ext cx="7868" cy="1845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" name="文本框 3"/>
            <p:cNvSpPr txBox="1"/>
            <p:nvPr/>
          </p:nvSpPr>
          <p:spPr>
            <a:xfrm>
              <a:off x="849" y="4833"/>
              <a:ext cx="1883" cy="82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2800" b="1" noProof="0" dirty="0" smtClean="0">
                  <a:ln>
                    <a:noFill/>
                  </a:ln>
                  <a:solidFill>
                    <a:srgbClr val="0033CC"/>
                  </a:solidFill>
                  <a:effectLst/>
                  <a:uLnTx/>
                  <a:uFillTx/>
                  <a:latin typeface="楷体_GB2312" pitchFamily="1" charset="-122"/>
                  <a:ea typeface="楷体_GB2312" pitchFamily="1" charset="-122"/>
                  <a:cs typeface="+mj-cs"/>
                  <a:sym typeface="+mn-ea"/>
                </a:rPr>
                <a:t>压强</a:t>
              </a:r>
              <a:endParaRPr lang="zh-CN" altLang="en-US" sz="2800" b="1" noProof="0" dirty="0" smtClean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539115" y="4076700"/>
            <a:ext cx="4556125" cy="1107440"/>
            <a:chOff x="849" y="6534"/>
            <a:chExt cx="7175" cy="1744"/>
          </a:xfrm>
        </p:grpSpPr>
        <p:graphicFrame>
          <p:nvGraphicFramePr>
            <p:cNvPr id="70674" name="Object 18"/>
            <p:cNvGraphicFramePr>
              <a:graphicFrameLocks noChangeAspect="1"/>
            </p:cNvGraphicFramePr>
            <p:nvPr/>
          </p:nvGraphicFramePr>
          <p:xfrm>
            <a:off x="4932" y="6534"/>
            <a:ext cx="3092" cy="17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35" name="公式" r:id="rId3" imgW="698500" imgH="393700" progId="Equation.3">
                    <p:embed/>
                  </p:oleObj>
                </mc:Choice>
                <mc:Fallback>
                  <p:oleObj name="公式" r:id="rId3" imgW="698500" imgH="393700" progId="Equation.3">
                    <p:embed/>
                    <p:pic>
                      <p:nvPicPr>
                        <p:cNvPr id="0" name="Object 18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932" y="6534"/>
                          <a:ext cx="3092" cy="1744"/>
                        </a:xfrm>
                        <a:prstGeom prst="rect">
                          <a:avLst/>
                        </a:prstGeom>
                        <a:noFill/>
                        <a:ln w="19050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 Box 12"/>
            <p:cNvSpPr txBox="1">
              <a:spLocks noChangeArrowheads="1"/>
            </p:cNvSpPr>
            <p:nvPr/>
          </p:nvSpPr>
          <p:spPr bwMode="auto">
            <a:xfrm>
              <a:off x="849" y="6997"/>
              <a:ext cx="5562" cy="818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p>
              <a:pPr>
                <a:spcBef>
                  <a:spcPct val="50000"/>
                </a:spcBef>
              </a:pPr>
              <a:r>
                <a:rPr lang="zh-CN" altLang="en-US" sz="2800" b="1" dirty="0" smtClean="0">
                  <a:ea typeface="楷体_GB2312" pitchFamily="1" charset="-122"/>
                </a:rPr>
                <a:t>平均</a:t>
              </a:r>
              <a:r>
                <a:rPr lang="zh-CN" altLang="en-US" sz="2800" b="1" dirty="0">
                  <a:ea typeface="楷体_GB2312" pitchFamily="1" charset="-122"/>
                </a:rPr>
                <a:t>平动动能</a:t>
              </a:r>
              <a:endParaRPr lang="zh-CN" altLang="en-US" sz="2800" b="1" dirty="0">
                <a:ea typeface="楷体_GB2312" pitchFamily="1" charset="-122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611505" y="5292090"/>
            <a:ext cx="4280853" cy="1136650"/>
            <a:chOff x="963" y="8334"/>
            <a:chExt cx="6742" cy="1790"/>
          </a:xfrm>
        </p:grpSpPr>
        <p:graphicFrame>
          <p:nvGraphicFramePr>
            <p:cNvPr id="52270" name="Object 46"/>
            <p:cNvGraphicFramePr>
              <a:graphicFrameLocks noChangeAspect="1"/>
            </p:cNvGraphicFramePr>
            <p:nvPr/>
          </p:nvGraphicFramePr>
          <p:xfrm>
            <a:off x="4932" y="8334"/>
            <a:ext cx="2773" cy="17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36" name="公式" r:id="rId5" imgW="14630400" imgH="9448800" progId="Equation.3">
                    <p:embed/>
                  </p:oleObj>
                </mc:Choice>
                <mc:Fallback>
                  <p:oleObj name="公式" r:id="rId5" imgW="14630400" imgH="9448800" progId="Equation.3">
                    <p:embed/>
                    <p:pic>
                      <p:nvPicPr>
                        <p:cNvPr id="0" name="Object 46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932" y="8334"/>
                          <a:ext cx="2773" cy="179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Text Box 12"/>
            <p:cNvSpPr txBox="1">
              <a:spLocks noChangeArrowheads="1"/>
            </p:cNvSpPr>
            <p:nvPr/>
          </p:nvSpPr>
          <p:spPr bwMode="auto">
            <a:xfrm>
              <a:off x="963" y="8834"/>
              <a:ext cx="2747" cy="82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p>
              <a:pPr>
                <a:spcBef>
                  <a:spcPct val="50000"/>
                </a:spcBef>
              </a:pPr>
              <a:r>
                <a:rPr lang="zh-CN" altLang="en-US" sz="2800" b="1" dirty="0" smtClean="0">
                  <a:ea typeface="楷体_GB2312" pitchFamily="1" charset="-122"/>
                </a:rPr>
                <a:t>温度</a:t>
              </a:r>
              <a:endParaRPr lang="zh-CN" altLang="en-US" sz="2800" b="1" dirty="0" smtClean="0">
                <a:ea typeface="楷体_GB2312" pitchFamily="1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3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467995" y="620395"/>
            <a:ext cx="8155305" cy="1383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50000"/>
              </a:lnSpc>
            </a:pPr>
            <a:r>
              <a:rPr lang="zh-CN" altLang="en-US" sz="2800" b="1" noProof="0" dirty="0" smtClean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  <a:sym typeface="+mn-ea"/>
              </a:rPr>
              <a:t>注意：</a:t>
            </a:r>
            <a:r>
              <a:rPr lang="zh-CN" altLang="en-US" sz="2800" b="1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楷体_GB2312" pitchFamily="1" charset="-122"/>
                <a:ea typeface="楷体_GB2312" pitchFamily="1" charset="-122"/>
                <a:cs typeface="+mj-cs"/>
                <a:sym typeface="+mn-ea"/>
              </a:rPr>
              <a:t>压强、温度都是统计量，就单个分子谈压强和温度无意义</a:t>
            </a:r>
            <a:endParaRPr lang="zh-CN" altLang="en-US" sz="2800" b="1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楷体_GB2312" pitchFamily="1" charset="-122"/>
              <a:ea typeface="楷体_GB2312" pitchFamily="1" charset="-122"/>
              <a:cs typeface="+mj-cs"/>
              <a:sym typeface="+mn-ea"/>
            </a:endParaRPr>
          </a:p>
        </p:txBody>
      </p:sp>
      <p:sp>
        <p:nvSpPr>
          <p:cNvPr id="56327" name="Text Box 7"/>
          <p:cNvSpPr txBox="1">
            <a:spLocks noChangeArrowheads="1"/>
          </p:cNvSpPr>
          <p:nvPr/>
        </p:nvSpPr>
        <p:spPr bwMode="auto">
          <a:xfrm>
            <a:off x="467360" y="2060575"/>
            <a:ext cx="8389620" cy="1383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indent="-347980" algn="l" defTabSz="914400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zh-CN" altLang="en-US" sz="2800" b="1" noProof="0">
                <a:latin typeface="宋体" panose="02010600030101010101" pitchFamily="2" charset="-122"/>
                <a:cs typeface="宋体" panose="02010600030101010101" pitchFamily="2" charset="-122"/>
                <a:sym typeface="+mn-ea"/>
              </a:rPr>
              <a:t>温度的</a:t>
            </a:r>
            <a:r>
              <a:rPr lang="zh-CN" altLang="en-US" sz="2800" b="1" noProof="0">
                <a:solidFill>
                  <a:srgbClr val="C00000"/>
                </a:solidFill>
                <a:latin typeface="宋体" panose="02010600030101010101" pitchFamily="2" charset="-122"/>
                <a:cs typeface="宋体" panose="02010600030101010101" pitchFamily="2" charset="-122"/>
                <a:sym typeface="+mn-ea"/>
              </a:rPr>
              <a:t>微观意义</a:t>
            </a:r>
            <a:r>
              <a:rPr lang="zh-CN" altLang="en-US" sz="2800" b="1" noProof="0">
                <a:latin typeface="宋体" panose="02010600030101010101" pitchFamily="2" charset="-122"/>
                <a:cs typeface="宋体" panose="02010600030101010101" pitchFamily="2" charset="-122"/>
                <a:sym typeface="+mn-ea"/>
              </a:rPr>
              <a:t>：标志物体内部大量分子无规运动的剧烈程度</a:t>
            </a:r>
            <a:r>
              <a:rPr lang="en-US" altLang="zh-CN" sz="2800" b="1" noProof="0">
                <a:latin typeface="宋体" panose="02010600030101010101" pitchFamily="2" charset="-122"/>
                <a:cs typeface="宋体" panose="02010600030101010101" pitchFamily="2" charset="-122"/>
                <a:sym typeface="+mn-ea"/>
              </a:rPr>
              <a:t>. </a:t>
            </a:r>
            <a:r>
              <a:rPr lang="zh-CN" altLang="en-US" sz="2800" b="1" dirty="0">
                <a:latin typeface="Times New Roman" panose="02020603050405020304" pitchFamily="18" charset="0"/>
                <a:ea typeface="楷体_GB2312" pitchFamily="1" charset="-122"/>
                <a:sym typeface="+mn-ea"/>
              </a:rPr>
              <a:t>温度越高，分子无规则运动越剧烈</a:t>
            </a:r>
            <a:r>
              <a:rPr lang="en-US" altLang="zh-CN" sz="2800" b="1" dirty="0">
                <a:latin typeface="Times New Roman" panose="02020603050405020304" pitchFamily="18" charset="0"/>
                <a:ea typeface="楷体_GB2312" pitchFamily="1" charset="-122"/>
                <a:sym typeface="+mn-ea"/>
              </a:rPr>
              <a:t>.</a:t>
            </a:r>
            <a:endParaRPr kumimoji="1" lang="en-US" altLang="zh-CN" sz="2800" b="1" kern="1200" cap="none" spc="0" normalizeH="0" baseline="0" noProof="0" dirty="0">
              <a:latin typeface="Times New Roman" panose="02020603050405020304" pitchFamily="18" charset="0"/>
              <a:ea typeface="楷体_GB2312" pitchFamily="1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4" name="Text Box 32"/>
          <p:cNvSpPr txBox="1">
            <a:spLocks noChangeArrowheads="1"/>
          </p:cNvSpPr>
          <p:nvPr/>
        </p:nvSpPr>
        <p:spPr bwMode="auto">
          <a:xfrm>
            <a:off x="539115" y="3583305"/>
            <a:ext cx="696531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三</a:t>
            </a:r>
            <a:r>
              <a:rPr lang="en-US" altLang="zh-CN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自由度</a:t>
            </a:r>
            <a:r>
              <a:rPr lang="en-US" altLang="zh-CN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能量按自由度均分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原理</a:t>
            </a:r>
            <a:endParaRPr lang="zh-CN" altLang="en-US" sz="2800" b="1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55"/>
          <p:cNvSpPr>
            <a:spLocks noChangeArrowheads="1"/>
          </p:cNvSpPr>
          <p:nvPr/>
        </p:nvSpPr>
        <p:spPr bwMode="auto">
          <a:xfrm>
            <a:off x="538451" y="5084772"/>
            <a:ext cx="3500462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r>
              <a:rPr kumimoji="1" lang="en-US" altLang="zh-CN" sz="2800" b="1" dirty="0" smtClean="0">
                <a:solidFill>
                  <a:srgbClr val="CC0000"/>
                </a:solidFill>
                <a:latin typeface="Times New Roman" panose="02020603050405020304" pitchFamily="18" charset="0"/>
                <a:ea typeface="楷体_GB2312" pitchFamily="1" charset="-122"/>
              </a:rPr>
              <a:t>1. </a:t>
            </a:r>
            <a:r>
              <a:rPr kumimoji="1" lang="zh-CN" altLang="en-US" sz="2800" b="1" dirty="0" smtClean="0">
                <a:solidFill>
                  <a:srgbClr val="CC0000"/>
                </a:solidFill>
                <a:latin typeface="Times New Roman" panose="02020603050405020304" pitchFamily="18" charset="0"/>
                <a:ea typeface="楷体_GB2312" pitchFamily="1" charset="-122"/>
              </a:rPr>
              <a:t>刚性</a:t>
            </a:r>
            <a:r>
              <a:rPr kumimoji="1" lang="zh-CN" altLang="en-US" sz="2800" b="1" u="none" dirty="0" smtClean="0">
                <a:solidFill>
                  <a:srgbClr val="CC0000"/>
                </a:solidFill>
                <a:latin typeface="Times New Roman" panose="02020603050405020304" pitchFamily="18" charset="0"/>
                <a:ea typeface="楷体_GB2312" pitchFamily="1" charset="-122"/>
              </a:rPr>
              <a:t>分子</a:t>
            </a:r>
            <a:r>
              <a:rPr kumimoji="1" lang="zh-CN" altLang="en-US" sz="2800" b="1" u="none" dirty="0">
                <a:solidFill>
                  <a:srgbClr val="CC0000"/>
                </a:solidFill>
                <a:latin typeface="Times New Roman" panose="02020603050405020304" pitchFamily="18" charset="0"/>
                <a:ea typeface="楷体_GB2312" pitchFamily="1" charset="-122"/>
              </a:rPr>
              <a:t>的自由度</a:t>
            </a:r>
            <a:endParaRPr kumimoji="1" lang="zh-CN" altLang="en-US" sz="2800" b="1" u="none" dirty="0">
              <a:solidFill>
                <a:srgbClr val="CC0000"/>
              </a:solidFill>
              <a:latin typeface="Times New Roman" panose="02020603050405020304" pitchFamily="18" charset="0"/>
              <a:ea typeface="楷体_GB2312" pitchFamily="1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3997960" y="4292286"/>
            <a:ext cx="4410075" cy="2250754"/>
            <a:chOff x="6296" y="6760"/>
            <a:chExt cx="6945" cy="3544"/>
          </a:xfrm>
        </p:grpSpPr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6700" y="6760"/>
              <a:ext cx="5215" cy="81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>
              <a:spAutoFit/>
            </a:bodyPr>
            <a:p>
              <a:pPr>
                <a:spcBef>
                  <a:spcPct val="50000"/>
                </a:spcBef>
              </a:pPr>
              <a:r>
                <a:rPr kumimoji="1" lang="zh-CN" altLang="en-US" sz="2800" b="1" u="none" dirty="0">
                  <a:latin typeface="Times New Roman" panose="02020603050405020304" pitchFamily="18" charset="0"/>
                  <a:ea typeface="楷体_GB2312" pitchFamily="1" charset="-122"/>
                </a:rPr>
                <a:t>单原子分子</a:t>
              </a:r>
              <a:r>
                <a:rPr kumimoji="1" lang="en-US" altLang="zh-CN" sz="2800" b="1" u="none" dirty="0">
                  <a:latin typeface="Times New Roman" panose="02020603050405020304" pitchFamily="18" charset="0"/>
                  <a:ea typeface="楷体_GB2312" pitchFamily="1" charset="-122"/>
                </a:rPr>
                <a:t>: </a:t>
              </a:r>
              <a:r>
                <a:rPr kumimoji="1" lang="en-US" altLang="zh-CN" sz="2800" b="1" i="1" u="none" dirty="0" err="1">
                  <a:latin typeface="Times New Roman" panose="02020603050405020304" pitchFamily="18" charset="0"/>
                  <a:ea typeface="楷体_GB2312" pitchFamily="1" charset="-122"/>
                </a:rPr>
                <a:t>i</a:t>
              </a:r>
              <a:r>
                <a:rPr kumimoji="1" lang="en-US" altLang="zh-CN" sz="2800" b="1" u="none" dirty="0">
                  <a:latin typeface="Times New Roman" panose="02020603050405020304" pitchFamily="18" charset="0"/>
                  <a:ea typeface="楷体_GB2312" pitchFamily="1" charset="-122"/>
                </a:rPr>
                <a:t> =3</a:t>
              </a:r>
              <a:endParaRPr kumimoji="1" lang="en-US" altLang="zh-CN" sz="2800" b="1" u="none" dirty="0">
                <a:latin typeface="Times New Roman" panose="02020603050405020304" pitchFamily="18" charset="0"/>
                <a:ea typeface="楷体_GB2312" pitchFamily="1" charset="-122"/>
              </a:endParaRP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6746" y="8121"/>
              <a:ext cx="5215" cy="81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>
              <a:spAutoFit/>
            </a:bodyPr>
            <a:p>
              <a:pPr>
                <a:spcBef>
                  <a:spcPct val="50000"/>
                </a:spcBef>
              </a:pPr>
              <a:r>
                <a:rPr kumimoji="1" lang="zh-CN" altLang="en-US" sz="2800" b="1" u="none" dirty="0" smtClean="0">
                  <a:latin typeface="Times New Roman" panose="02020603050405020304" pitchFamily="18" charset="0"/>
                  <a:ea typeface="楷体_GB2312" pitchFamily="1" charset="-122"/>
                </a:rPr>
                <a:t>双原子分子</a:t>
              </a:r>
              <a:r>
                <a:rPr kumimoji="1" lang="en-US" altLang="zh-CN" sz="2800" b="1" u="none" dirty="0">
                  <a:latin typeface="Times New Roman" panose="02020603050405020304" pitchFamily="18" charset="0"/>
                  <a:ea typeface="楷体_GB2312" pitchFamily="1" charset="-122"/>
                </a:rPr>
                <a:t>: </a:t>
              </a:r>
              <a:r>
                <a:rPr kumimoji="1" lang="en-US" altLang="zh-CN" sz="2800" b="1" i="1" u="none" dirty="0" err="1">
                  <a:latin typeface="Times New Roman" panose="02020603050405020304" pitchFamily="18" charset="0"/>
                  <a:ea typeface="楷体_GB2312" pitchFamily="1" charset="-122"/>
                </a:rPr>
                <a:t>i</a:t>
              </a:r>
              <a:r>
                <a:rPr kumimoji="1" lang="en-US" altLang="zh-CN" sz="2800" b="1" u="none" dirty="0" smtClean="0">
                  <a:latin typeface="Times New Roman" panose="02020603050405020304" pitchFamily="18" charset="0"/>
                  <a:ea typeface="楷体_GB2312" pitchFamily="1" charset="-122"/>
                </a:rPr>
                <a:t>=5</a:t>
              </a:r>
              <a:endParaRPr kumimoji="1" lang="en-US" altLang="zh-CN" sz="2800" b="1" u="none" dirty="0">
                <a:latin typeface="Times New Roman" panose="02020603050405020304" pitchFamily="18" charset="0"/>
                <a:ea typeface="楷体_GB2312" pitchFamily="1" charset="-122"/>
              </a:endParaRPr>
            </a:p>
          </p:txBody>
        </p:sp>
        <p:sp>
          <p:nvSpPr>
            <p:cNvPr id="15" name="Text Box 11"/>
            <p:cNvSpPr txBox="1">
              <a:spLocks noChangeArrowheads="1"/>
            </p:cNvSpPr>
            <p:nvPr/>
          </p:nvSpPr>
          <p:spPr bwMode="auto">
            <a:xfrm>
              <a:off x="6746" y="9482"/>
              <a:ext cx="6495" cy="82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p>
              <a:pPr>
                <a:spcBef>
                  <a:spcPct val="50000"/>
                </a:spcBef>
              </a:pPr>
              <a:r>
                <a:rPr kumimoji="1" lang="zh-CN" altLang="en-US" sz="2800" b="1" u="none" dirty="0" smtClean="0">
                  <a:latin typeface="Times New Roman" panose="02020603050405020304" pitchFamily="18" charset="0"/>
                  <a:ea typeface="楷体_GB2312" pitchFamily="1" charset="-122"/>
                </a:rPr>
                <a:t>非</a:t>
              </a:r>
              <a:r>
                <a:rPr kumimoji="1" lang="zh-CN" altLang="en-US" sz="2800" b="1" u="none" dirty="0" smtClean="0">
                  <a:latin typeface="Times New Roman" panose="02020603050405020304" pitchFamily="18" charset="0"/>
                  <a:ea typeface="楷体_GB2312" pitchFamily="1" charset="-122"/>
                </a:rPr>
                <a:t>直线型多原子分子</a:t>
              </a:r>
              <a:r>
                <a:rPr kumimoji="1" lang="en-US" altLang="zh-CN" sz="2800" b="1" u="none" dirty="0">
                  <a:latin typeface="Times New Roman" panose="02020603050405020304" pitchFamily="18" charset="0"/>
                  <a:ea typeface="楷体_GB2312" pitchFamily="1" charset="-122"/>
                </a:rPr>
                <a:t>: </a:t>
              </a:r>
              <a:r>
                <a:rPr kumimoji="1" lang="en-US" altLang="zh-CN" sz="2800" b="1" i="1" u="none" dirty="0" err="1">
                  <a:latin typeface="Times New Roman" panose="02020603050405020304" pitchFamily="18" charset="0"/>
                  <a:ea typeface="楷体_GB2312" pitchFamily="1" charset="-122"/>
                </a:rPr>
                <a:t>i</a:t>
              </a:r>
              <a:r>
                <a:rPr kumimoji="1" lang="en-US" altLang="zh-CN" sz="2800" b="1" u="none" dirty="0" smtClean="0">
                  <a:latin typeface="Times New Roman" panose="02020603050405020304" pitchFamily="18" charset="0"/>
                  <a:ea typeface="楷体_GB2312" pitchFamily="1" charset="-122"/>
                </a:rPr>
                <a:t>=6</a:t>
              </a:r>
              <a:endParaRPr kumimoji="1" lang="en-US" altLang="zh-CN" sz="2800" b="1" u="none" dirty="0">
                <a:latin typeface="Times New Roman" panose="02020603050405020304" pitchFamily="18" charset="0"/>
                <a:ea typeface="楷体_GB2312" pitchFamily="1" charset="-122"/>
              </a:endParaRPr>
            </a:p>
          </p:txBody>
        </p:sp>
        <p:sp>
          <p:nvSpPr>
            <p:cNvPr id="16" name="左大括号 216073"/>
            <p:cNvSpPr/>
            <p:nvPr/>
          </p:nvSpPr>
          <p:spPr bwMode="auto">
            <a:xfrm>
              <a:off x="6296" y="7100"/>
              <a:ext cx="451" cy="2757"/>
            </a:xfrm>
            <a:prstGeom prst="leftBrace">
              <a:avLst>
                <a:gd name="adj1" fmla="val 74642"/>
                <a:gd name="adj2" fmla="val 50000"/>
              </a:avLst>
            </a:prstGeom>
            <a:noFill/>
            <a:ln w="25400">
              <a:solidFill>
                <a:srgbClr val="0000FF"/>
              </a:solidFill>
              <a:round/>
            </a:ln>
          </p:spPr>
          <p:txBody>
            <a:bodyPr/>
            <a:p>
              <a:pPr algn="ctr">
                <a:lnSpc>
                  <a:spcPct val="150000"/>
                </a:lnSpc>
              </a:pPr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56327" grpId="0"/>
      <p:bldP spid="56327" grpId="1"/>
      <p:bldP spid="4" grpId="0"/>
      <p:bldP spid="4" grpId="1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94970" y="692150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800" b="1" dirty="0">
                <a:solidFill>
                  <a:srgbClr val="CC0000"/>
                </a:solidFill>
                <a:latin typeface="宋体" panose="02010600030101010101" pitchFamily="2" charset="-122"/>
                <a:sym typeface="+mn-ea"/>
              </a:rPr>
              <a:t>2.</a:t>
            </a:r>
            <a:r>
              <a:rPr lang="zh-CN" altLang="en-US" sz="2800" b="1" dirty="0">
                <a:solidFill>
                  <a:srgbClr val="CC0000"/>
                </a:solidFill>
                <a:latin typeface="宋体" panose="02010600030101010101" pitchFamily="2" charset="-122"/>
                <a:sym typeface="+mn-ea"/>
              </a:rPr>
              <a:t>能量按自由度均分定理</a:t>
            </a:r>
            <a:endParaRPr lang="zh-CN" altLang="en-US" sz="2800" b="1" dirty="0">
              <a:solidFill>
                <a:srgbClr val="CC0000"/>
              </a:solidFill>
              <a:latin typeface="宋体" panose="02010600030101010101" pitchFamily="2" charset="-122"/>
              <a:sym typeface="+mn-ea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95605" y="1268730"/>
            <a:ext cx="8263890" cy="1383665"/>
            <a:chOff x="623" y="1998"/>
            <a:chExt cx="13014" cy="2179"/>
          </a:xfrm>
        </p:grpSpPr>
        <p:sp>
          <p:nvSpPr>
            <p:cNvPr id="3" name="文本框 2"/>
            <p:cNvSpPr txBox="1"/>
            <p:nvPr/>
          </p:nvSpPr>
          <p:spPr>
            <a:xfrm>
              <a:off x="623" y="1998"/>
              <a:ext cx="13014" cy="217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>
                <a:lnSpc>
                  <a:spcPct val="150000"/>
                </a:lnSpc>
              </a:pPr>
              <a:r>
                <a:rPr lang="en-US" altLang="zh-CN" sz="2800" b="1" dirty="0">
                  <a:latin typeface="楷体_GB2312" pitchFamily="1" charset="-122"/>
                  <a:ea typeface="楷体_GB2312" pitchFamily="1" charset="-122"/>
                  <a:sym typeface="+mn-ea"/>
                </a:rPr>
                <a:t>    </a:t>
              </a:r>
              <a:r>
                <a:rPr lang="zh-CN" altLang="en-US" sz="2800" b="1" dirty="0">
                  <a:latin typeface="楷体_GB2312" pitchFamily="1" charset="-122"/>
                  <a:ea typeface="楷体_GB2312" pitchFamily="1" charset="-122"/>
                  <a:sym typeface="+mn-ea"/>
                </a:rPr>
                <a:t>在温度为</a:t>
              </a:r>
              <a:r>
                <a:rPr lang="en-US" altLang="zh-CN" sz="2800" b="1" i="1" dirty="0">
                  <a:latin typeface="Times New Roman" panose="02020603050405020304" pitchFamily="18" charset="0"/>
                  <a:ea typeface="楷体_GB2312" pitchFamily="1" charset="-122"/>
                  <a:sym typeface="+mn-ea"/>
                </a:rPr>
                <a:t>T</a:t>
              </a:r>
              <a:r>
                <a:rPr lang="en-US" altLang="zh-CN" sz="2800" b="1" i="1" dirty="0">
                  <a:latin typeface="楷体_GB2312" pitchFamily="1" charset="-122"/>
                  <a:ea typeface="楷体_GB2312" pitchFamily="1" charset="-122"/>
                  <a:sym typeface="+mn-ea"/>
                </a:rPr>
                <a:t> </a:t>
              </a:r>
              <a:r>
                <a:rPr lang="zh-CN" altLang="en-US" sz="2800" b="1" dirty="0">
                  <a:latin typeface="楷体_GB2312" pitchFamily="1" charset="-122"/>
                  <a:ea typeface="楷体_GB2312" pitchFamily="1" charset="-122"/>
                  <a:sym typeface="+mn-ea"/>
                </a:rPr>
                <a:t>的平衡态下，气体分子每个自由度的平均热动能都相等，都等于      </a:t>
              </a:r>
              <a:r>
                <a:rPr lang="en-US" altLang="zh-CN" sz="2800" b="1" dirty="0">
                  <a:latin typeface="楷体_GB2312" pitchFamily="1" charset="-122"/>
                  <a:ea typeface="楷体_GB2312" pitchFamily="1" charset="-122"/>
                  <a:sym typeface="+mn-ea"/>
                </a:rPr>
                <a:t>.</a:t>
              </a:r>
              <a:endParaRPr lang="en-US" altLang="zh-CN" sz="2800" b="1" dirty="0">
                <a:latin typeface="楷体_GB2312" pitchFamily="1" charset="-122"/>
                <a:ea typeface="楷体_GB2312" pitchFamily="1" charset="-122"/>
                <a:sym typeface="+mn-ea"/>
              </a:endParaRPr>
            </a:p>
          </p:txBody>
        </p:sp>
        <p:graphicFrame>
          <p:nvGraphicFramePr>
            <p:cNvPr id="5126" name="Object 14"/>
            <p:cNvGraphicFramePr/>
            <p:nvPr/>
          </p:nvGraphicFramePr>
          <p:xfrm>
            <a:off x="8097" y="3245"/>
            <a:ext cx="1600" cy="7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34" name="" r:id="rId1" imgW="380365" imgH="177800" progId="Equation.3">
                    <p:embed/>
                  </p:oleObj>
                </mc:Choice>
                <mc:Fallback>
                  <p:oleObj name="" r:id="rId1" imgW="380365" imgH="177800" progId="Equation.3">
                    <p:embed/>
                    <p:pic>
                      <p:nvPicPr>
                        <p:cNvPr id="0" name="图片 3133"/>
                        <p:cNvPicPr/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8097" y="3245"/>
                          <a:ext cx="1600" cy="768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组合 9"/>
          <p:cNvGrpSpPr/>
          <p:nvPr/>
        </p:nvGrpSpPr>
        <p:grpSpPr>
          <a:xfrm>
            <a:off x="467360" y="5102225"/>
            <a:ext cx="5133340" cy="1179830"/>
            <a:chOff x="736" y="7683"/>
            <a:chExt cx="8084" cy="1858"/>
          </a:xfrm>
        </p:grpSpPr>
        <p:graphicFrame>
          <p:nvGraphicFramePr>
            <p:cNvPr id="7" name="Object 9"/>
            <p:cNvGraphicFramePr>
              <a:graphicFrameLocks noChangeAspect="1"/>
            </p:cNvGraphicFramePr>
            <p:nvPr/>
          </p:nvGraphicFramePr>
          <p:xfrm>
            <a:off x="4478" y="7683"/>
            <a:ext cx="4342" cy="185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8" name="公式" r:id="rId3" imgW="876300" imgH="393700" progId="Equation.3">
                    <p:embed/>
                  </p:oleObj>
                </mc:Choice>
                <mc:Fallback>
                  <p:oleObj name="公式" r:id="rId3" imgW="876300" imgH="393700" progId="Equation.3">
                    <p:embed/>
                    <p:pic>
                      <p:nvPicPr>
                        <p:cNvPr id="0" name="Object 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478" y="7683"/>
                          <a:ext cx="4342" cy="185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19050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736" y="8234"/>
              <a:ext cx="3722" cy="82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2800" b="1" dirty="0">
                  <a:solidFill>
                    <a:srgbClr val="C00000"/>
                  </a:solidFill>
                  <a:latin typeface="楷体_GB2312" pitchFamily="1" charset="-122"/>
                  <a:ea typeface="楷体_GB2312" pitchFamily="1" charset="-122"/>
                  <a:sym typeface="+mn-ea"/>
                </a:rPr>
                <a:t>平均总能</a:t>
              </a:r>
              <a:r>
                <a:rPr lang="zh-CN" altLang="en-US" sz="2800" b="1" dirty="0">
                  <a:solidFill>
                    <a:srgbClr val="C00000"/>
                  </a:solidFill>
                  <a:latin typeface="楷体_GB2312" pitchFamily="1" charset="-122"/>
                  <a:ea typeface="楷体_GB2312" pitchFamily="1" charset="-122"/>
                  <a:sym typeface="+mn-ea"/>
                </a:rPr>
                <a:t>量</a:t>
              </a:r>
              <a:endParaRPr lang="zh-CN" altLang="en-US" sz="2800" b="1" dirty="0">
                <a:solidFill>
                  <a:srgbClr val="C00000"/>
                </a:solidFill>
                <a:latin typeface="楷体_GB2312" pitchFamily="1" charset="-122"/>
                <a:ea typeface="楷体_GB2312" pitchFamily="1" charset="-122"/>
                <a:sym typeface="+mn-ea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411480" y="2924175"/>
            <a:ext cx="7524115" cy="526415"/>
            <a:chOff x="736" y="4379"/>
            <a:chExt cx="11849" cy="829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736" y="4379"/>
              <a:ext cx="11700" cy="82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p>
              <a:r>
                <a:rPr lang="zh-CN" altLang="en-US" sz="2800" b="1" u="none" dirty="0">
                  <a:latin typeface="楷体_GB2312" pitchFamily="1" charset="-122"/>
                  <a:ea typeface="楷体_GB2312" pitchFamily="1" charset="-122"/>
                </a:rPr>
                <a:t>据能量均分定理</a:t>
              </a:r>
              <a:r>
                <a:rPr lang="zh-CN" altLang="en-US" sz="2800" b="1" u="none" dirty="0">
                  <a:latin typeface="楷体_GB2312" pitchFamily="1" charset="-122"/>
                  <a:ea typeface="楷体_GB2312" pitchFamily="1" charset="-122"/>
                </a:rPr>
                <a:t>得</a:t>
              </a:r>
              <a:endParaRPr lang="zh-CN" altLang="en-US" sz="2800" b="1" u="none" dirty="0">
                <a:latin typeface="楷体_GB2312" pitchFamily="1" charset="-122"/>
                <a:ea typeface="楷体_GB2312" pitchFamily="1" charset="-122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385" y="4386"/>
              <a:ext cx="7200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800" b="1" dirty="0" smtClean="0">
                  <a:latin typeface="楷体_GB2312" pitchFamily="1" charset="-122"/>
                  <a:ea typeface="楷体_GB2312" pitchFamily="1" charset="-122"/>
                  <a:sym typeface="+mn-ea"/>
                </a:rPr>
                <a:t>刚性分子</a:t>
              </a:r>
              <a:endParaRPr lang="zh-CN" altLang="en-US" sz="2800" b="1" dirty="0">
                <a:solidFill>
                  <a:srgbClr val="C00000"/>
                </a:solidFill>
                <a:latin typeface="楷体_GB2312" pitchFamily="1" charset="-122"/>
                <a:ea typeface="楷体_GB2312" pitchFamily="1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411480" y="3653155"/>
            <a:ext cx="4643120" cy="1179830"/>
            <a:chOff x="623" y="5513"/>
            <a:chExt cx="7312" cy="1858"/>
          </a:xfrm>
        </p:grpSpPr>
        <p:graphicFrame>
          <p:nvGraphicFramePr>
            <p:cNvPr id="6" name="Object 9"/>
            <p:cNvGraphicFramePr>
              <a:graphicFrameLocks noChangeAspect="1"/>
            </p:cNvGraphicFramePr>
            <p:nvPr/>
          </p:nvGraphicFramePr>
          <p:xfrm>
            <a:off x="4793" y="5513"/>
            <a:ext cx="3143" cy="185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1681" name="公式" r:id="rId5" imgW="634365" imgH="393700" progId="Equation.3">
                    <p:embed/>
                  </p:oleObj>
                </mc:Choice>
                <mc:Fallback>
                  <p:oleObj name="公式" r:id="rId5" imgW="634365" imgH="393700" progId="Equation.3">
                    <p:embed/>
                    <p:pic>
                      <p:nvPicPr>
                        <p:cNvPr id="0" name="Object 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793" y="5513"/>
                          <a:ext cx="3143" cy="185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19050" cap="flat" cmpd="sng">
                          <a:noFill/>
                          <a:prstDash val="solid"/>
                          <a:miter/>
                          <a:headEnd type="none" w="med" len="med"/>
                          <a:tailEnd type="none" w="med" len="med"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文本框 11"/>
            <p:cNvSpPr txBox="1"/>
            <p:nvPr/>
          </p:nvSpPr>
          <p:spPr>
            <a:xfrm>
              <a:off x="623" y="6080"/>
              <a:ext cx="4290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800" b="1" dirty="0">
                  <a:solidFill>
                    <a:srgbClr val="C00000"/>
                  </a:solidFill>
                  <a:latin typeface="楷体_GB2312" pitchFamily="1" charset="-122"/>
                  <a:ea typeface="楷体_GB2312" pitchFamily="1" charset="-122"/>
                  <a:sym typeface="+mn-ea"/>
                </a:rPr>
                <a:t>平均总动能</a:t>
              </a:r>
              <a:endParaRPr lang="zh-CN" altLang="en-US" sz="2800" b="1" dirty="0">
                <a:solidFill>
                  <a:srgbClr val="C00000"/>
                </a:solidFill>
                <a:latin typeface="楷体_GB2312" pitchFamily="1" charset="-122"/>
                <a:ea typeface="楷体_GB2312" pitchFamily="1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323502" y="1052505"/>
            <a:ext cx="4681537" cy="5191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p>
            <a:r>
              <a:rPr lang="zh-CN" altLang="en-US" sz="2800" b="1" u="none" dirty="0">
                <a:solidFill>
                  <a:srgbClr val="C00000"/>
                </a:solidFill>
                <a:latin typeface="楷体_GB2312" pitchFamily="1" charset="-122"/>
                <a:ea typeface="楷体_GB2312" pitchFamily="1" charset="-122"/>
              </a:rPr>
              <a:t>质量为</a:t>
            </a:r>
            <a:r>
              <a:rPr lang="en-US" altLang="zh-CN" sz="2800" b="1" i="1" u="none" dirty="0">
                <a:solidFill>
                  <a:srgbClr val="C00000"/>
                </a:solidFill>
                <a:latin typeface="Times New Roman" panose="02020603050405020304" pitchFamily="18" charset="0"/>
                <a:ea typeface="楷体_GB2312" pitchFamily="1" charset="-122"/>
              </a:rPr>
              <a:t>M</a:t>
            </a:r>
            <a:r>
              <a:rPr lang="zh-CN" altLang="en-US" sz="2800" b="1" u="none" dirty="0">
                <a:solidFill>
                  <a:srgbClr val="C00000"/>
                </a:solidFill>
                <a:latin typeface="楷体_GB2312" pitchFamily="1" charset="-122"/>
                <a:ea typeface="楷体_GB2312" pitchFamily="1" charset="-122"/>
              </a:rPr>
              <a:t>的理想气体内能</a:t>
            </a:r>
            <a:endParaRPr lang="zh-CN" altLang="en-US" sz="2800" b="1" u="none" dirty="0">
              <a:solidFill>
                <a:srgbClr val="C00000"/>
              </a:solidFill>
              <a:latin typeface="楷体_GB2312" pitchFamily="1" charset="-122"/>
              <a:ea typeface="楷体_GB2312" pitchFamily="1" charset="-122"/>
            </a:endParaRPr>
          </a:p>
        </p:txBody>
      </p:sp>
      <p:graphicFrame>
        <p:nvGraphicFramePr>
          <p:cNvPr id="5" name="Object 14"/>
          <p:cNvGraphicFramePr>
            <a:graphicFrameLocks noChangeAspect="1"/>
          </p:cNvGraphicFramePr>
          <p:nvPr/>
        </p:nvGraphicFramePr>
        <p:xfrm>
          <a:off x="4572000" y="764540"/>
          <a:ext cx="2843530" cy="11963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682" name="公式" r:id="rId1" imgW="24688800" imgH="10363200" progId="Equation.3">
                  <p:embed/>
                </p:oleObj>
              </mc:Choice>
              <mc:Fallback>
                <p:oleObj name="公式" r:id="rId1" imgW="24688800" imgH="10363200" progId="Equation.3">
                  <p:embed/>
                  <p:pic>
                    <p:nvPicPr>
                      <p:cNvPr id="0" name="Object 14"/>
                      <p:cNvPicPr>
                        <a:picLocks noChangeAspect="1"/>
                      </p:cNvPicPr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72000" y="764540"/>
                        <a:ext cx="2843530" cy="1196340"/>
                      </a:xfrm>
                      <a:prstGeom prst="rect">
                        <a:avLst/>
                      </a:prstGeom>
                      <a:noFill/>
                      <a:ln w="9525" cap="flat" cmpd="sng">
                        <a:noFill/>
                        <a:prstDash val="solid"/>
                        <a:miter/>
                        <a:headEnd type="none" w="med" len="med"/>
                        <a:tailEnd type="none" w="med" len="med"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50" name="Text Box 12"/>
          <p:cNvSpPr/>
          <p:nvPr>
            <p:custDataLst>
              <p:tags r:id="rId3"/>
            </p:custDataLst>
          </p:nvPr>
        </p:nvSpPr>
        <p:spPr>
          <a:xfrm>
            <a:off x="323215" y="2492375"/>
            <a:ext cx="488378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eaLnBrk="0" hangingPunct="0">
              <a:spcBef>
                <a:spcPct val="50000"/>
              </a:spcBef>
              <a:buFont typeface="Wingdings" panose="05000000000000000000" charset="0"/>
            </a:pPr>
            <a:r>
              <a:rPr lang="zh-CN" altLang="en-US" sz="2800" b="1">
                <a:solidFill>
                  <a:srgbClr val="C00000"/>
                </a:solidFill>
                <a:ea typeface="宋体" panose="02010600030101010101" pitchFamily="2" charset="-122"/>
              </a:rPr>
              <a:t>内能得增量</a:t>
            </a:r>
            <a:endParaRPr lang="zh-CN" altLang="en-US" sz="2800" b="1">
              <a:solidFill>
                <a:srgbClr val="C00000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3351" name="Object 13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139565" y="2204720"/>
          <a:ext cx="2854325" cy="11468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10" name="" r:id="rId5" imgW="901700" imgH="393700" progId="Equation.DSMT4">
                  <p:embed/>
                </p:oleObj>
              </mc:Choice>
              <mc:Fallback>
                <p:oleObj name="" r:id="rId5" imgW="901700" imgH="393700" progId="Equation.DSMT4">
                  <p:embed/>
                  <p:pic>
                    <p:nvPicPr>
                      <p:cNvPr id="0" name="图片 320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39565" y="2204720"/>
                        <a:ext cx="2854325" cy="114681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394970" y="3716655"/>
            <a:ext cx="8378825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50000"/>
              </a:lnSpc>
            </a:pPr>
            <a:r>
              <a:rPr lang="zh-CN" altLang="en-US" sz="2800" b="1" dirty="0">
                <a:latin typeface="楷体_GB2312" pitchFamily="1" charset="-122"/>
                <a:ea typeface="楷体_GB2312" pitchFamily="1" charset="-122"/>
                <a:sym typeface="+mn-ea"/>
              </a:rPr>
              <a:t>注：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内能的增量只与该过程的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始末温度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有关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，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而与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过程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无关。该式求解理气的内能增量是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通式，</a:t>
            </a:r>
            <a:r>
              <a:rPr lang="zh-CN" altLang="en-US" sz="2800" b="1" dirty="0">
                <a:solidFill>
                  <a:schemeClr val="tx1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适用于初态和末态均是</a:t>
            </a:r>
            <a:r>
              <a:rPr lang="zh-CN" altLang="en-US" sz="2800" b="1" dirty="0">
                <a:solidFill>
                  <a:srgbClr val="0033CC"/>
                </a:solidFill>
                <a:latin typeface="楷体_GB2312" pitchFamily="1" charset="-122"/>
                <a:ea typeface="楷体_GB2312" pitchFamily="1" charset="-122"/>
                <a:sym typeface="+mn-ea"/>
              </a:rPr>
              <a:t>平衡态的任意过程。</a:t>
            </a:r>
            <a:endParaRPr lang="zh-CN" altLang="en-US" sz="2800" b="1" dirty="0">
              <a:solidFill>
                <a:srgbClr val="0033CC"/>
              </a:solidFill>
              <a:latin typeface="楷体_GB2312" pitchFamily="1" charset="-122"/>
              <a:ea typeface="楷体_GB2312" pitchFamily="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5" nodeType="clickEffect">
                                  <p:childTnLst>
                                    <p:set>
                                      <p:cBhvr additive="base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base">
                                        <p:cTn id="15" dur="500"/>
                                        <p:tgtEl>
                                          <p:spTgt spid="3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childTnLst>
                                    <p:set>
                                      <p:cBhvr additive="base"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base">
                                        <p:cTn id="20" dur="500"/>
                                        <p:tgtEl>
                                          <p:spTgt spid="3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350" grpId="5" animBg="1"/>
      <p:bldP spid="2" grpId="0"/>
      <p:bldP spid="2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2"/>
          <p:cNvSpPr txBox="1">
            <a:spLocks noChangeArrowheads="1"/>
          </p:cNvSpPr>
          <p:nvPr/>
        </p:nvSpPr>
        <p:spPr bwMode="auto">
          <a:xfrm>
            <a:off x="395605" y="620395"/>
            <a:ext cx="696531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四</a:t>
            </a:r>
            <a:r>
              <a:rPr lang="en-US" altLang="zh-CN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麦克斯韦速率</a:t>
            </a:r>
            <a:r>
              <a:rPr lang="zh-CN" altLang="en-US" sz="2800" b="1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分布律</a:t>
            </a:r>
            <a:endParaRPr lang="zh-CN" altLang="en-US" sz="2800" b="1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54" name="Line 2"/>
          <p:cNvSpPr>
            <a:spLocks noChangeShapeType="1"/>
          </p:cNvSpPr>
          <p:nvPr/>
        </p:nvSpPr>
        <p:spPr bwMode="auto">
          <a:xfrm>
            <a:off x="2964498" y="4442778"/>
            <a:ext cx="0" cy="887412"/>
          </a:xfrm>
          <a:prstGeom prst="line">
            <a:avLst/>
          </a:prstGeom>
          <a:noFill/>
          <a:ln w="34925">
            <a:solidFill>
              <a:srgbClr val="0000FF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23555" name="Freeform 3"/>
          <p:cNvSpPr/>
          <p:nvPr/>
        </p:nvSpPr>
        <p:spPr bwMode="auto">
          <a:xfrm>
            <a:off x="4374198" y="3429953"/>
            <a:ext cx="901700" cy="1905000"/>
          </a:xfrm>
          <a:custGeom>
            <a:avLst/>
            <a:gdLst>
              <a:gd name="T0" fmla="*/ 2147483647 w 568"/>
              <a:gd name="T1" fmla="*/ 0 h 1163"/>
              <a:gd name="T2" fmla="*/ 2147483647 w 568"/>
              <a:gd name="T3" fmla="*/ 2147483647 h 1163"/>
              <a:gd name="T4" fmla="*/ 2147483647 w 568"/>
              <a:gd name="T5" fmla="*/ 2147483647 h 1163"/>
              <a:gd name="T6" fmla="*/ 2147483647 w 568"/>
              <a:gd name="T7" fmla="*/ 2147483647 h 1163"/>
              <a:gd name="T8" fmla="*/ 2147483647 w 568"/>
              <a:gd name="T9" fmla="*/ 2147483647 h 1163"/>
              <a:gd name="T10" fmla="*/ 2147483647 w 568"/>
              <a:gd name="T11" fmla="*/ 2147483647 h 1163"/>
              <a:gd name="T12" fmla="*/ 2147483647 w 568"/>
              <a:gd name="T13" fmla="*/ 2147483647 h 1163"/>
              <a:gd name="T14" fmla="*/ 2147483647 w 568"/>
              <a:gd name="T15" fmla="*/ 2147483647 h 1163"/>
              <a:gd name="T16" fmla="*/ 0 w 568"/>
              <a:gd name="T17" fmla="*/ 2147483647 h 1163"/>
              <a:gd name="T18" fmla="*/ 2147483647 w 568"/>
              <a:gd name="T19" fmla="*/ 0 h 1163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568"/>
              <a:gd name="T31" fmla="*/ 0 h 1163"/>
              <a:gd name="T32" fmla="*/ 568 w 568"/>
              <a:gd name="T33" fmla="*/ 1163 h 1163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568" h="1163">
                <a:moveTo>
                  <a:pt x="3" y="0"/>
                </a:moveTo>
                <a:cubicBezTo>
                  <a:pt x="21" y="37"/>
                  <a:pt x="42" y="76"/>
                  <a:pt x="59" y="113"/>
                </a:cubicBezTo>
                <a:cubicBezTo>
                  <a:pt x="90" y="183"/>
                  <a:pt x="72" y="192"/>
                  <a:pt x="138" y="237"/>
                </a:cubicBezTo>
                <a:cubicBezTo>
                  <a:pt x="149" y="267"/>
                  <a:pt x="183" y="352"/>
                  <a:pt x="206" y="372"/>
                </a:cubicBezTo>
                <a:cubicBezTo>
                  <a:pt x="227" y="390"/>
                  <a:pt x="274" y="418"/>
                  <a:pt x="274" y="418"/>
                </a:cubicBezTo>
                <a:cubicBezTo>
                  <a:pt x="324" y="493"/>
                  <a:pt x="336" y="501"/>
                  <a:pt x="421" y="531"/>
                </a:cubicBezTo>
                <a:cubicBezTo>
                  <a:pt x="453" y="562"/>
                  <a:pt x="523" y="632"/>
                  <a:pt x="568" y="632"/>
                </a:cubicBezTo>
                <a:lnTo>
                  <a:pt x="568" y="1163"/>
                </a:lnTo>
                <a:lnTo>
                  <a:pt x="0" y="1163"/>
                </a:lnTo>
                <a:lnTo>
                  <a:pt x="3" y="0"/>
                </a:lnTo>
                <a:close/>
              </a:path>
            </a:pathLst>
          </a:custGeom>
          <a:blipFill dpi="0" rotWithShape="1">
            <a:blip r:embed="rId1"/>
            <a:srcRect/>
            <a:tile tx="0" ty="0" sx="100000" sy="100000" flip="none" algn="tl"/>
          </a:blipFill>
          <a:ln w="9525">
            <a:noFill/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23557" name="Freeform 5"/>
          <p:cNvSpPr/>
          <p:nvPr/>
        </p:nvSpPr>
        <p:spPr bwMode="auto">
          <a:xfrm>
            <a:off x="2327910" y="2533015"/>
            <a:ext cx="5105400" cy="2832100"/>
          </a:xfrm>
          <a:custGeom>
            <a:avLst/>
            <a:gdLst>
              <a:gd name="T0" fmla="*/ 0 w 3216"/>
              <a:gd name="T1" fmla="*/ 2147483647 h 1784"/>
              <a:gd name="T2" fmla="*/ 2147483647 w 3216"/>
              <a:gd name="T3" fmla="*/ 2147483647 h 1784"/>
              <a:gd name="T4" fmla="*/ 2147483647 w 3216"/>
              <a:gd name="T5" fmla="*/ 2147483647 h 1784"/>
              <a:gd name="T6" fmla="*/ 2147483647 w 3216"/>
              <a:gd name="T7" fmla="*/ 2147483647 h 1784"/>
              <a:gd name="T8" fmla="*/ 2147483647 w 3216"/>
              <a:gd name="T9" fmla="*/ 2147483647 h 1784"/>
              <a:gd name="T10" fmla="*/ 2147483647 w 3216"/>
              <a:gd name="T11" fmla="*/ 2147483647 h 1784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3216"/>
              <a:gd name="T19" fmla="*/ 0 h 1784"/>
              <a:gd name="T20" fmla="*/ 3216 w 3216"/>
              <a:gd name="T21" fmla="*/ 1784 h 1784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3216" h="1784">
                <a:moveTo>
                  <a:pt x="0" y="1784"/>
                </a:moveTo>
                <a:cubicBezTo>
                  <a:pt x="160" y="1604"/>
                  <a:pt x="320" y="1424"/>
                  <a:pt x="432" y="1160"/>
                </a:cubicBezTo>
                <a:cubicBezTo>
                  <a:pt x="544" y="896"/>
                  <a:pt x="568" y="368"/>
                  <a:pt x="672" y="200"/>
                </a:cubicBezTo>
                <a:cubicBezTo>
                  <a:pt x="776" y="32"/>
                  <a:pt x="888" y="0"/>
                  <a:pt x="1056" y="152"/>
                </a:cubicBezTo>
                <a:cubicBezTo>
                  <a:pt x="1224" y="304"/>
                  <a:pt x="1320" y="856"/>
                  <a:pt x="1680" y="1112"/>
                </a:cubicBezTo>
                <a:cubicBezTo>
                  <a:pt x="2040" y="1368"/>
                  <a:pt x="2628" y="1528"/>
                  <a:pt x="3216" y="1688"/>
                </a:cubicBezTo>
              </a:path>
            </a:pathLst>
          </a:custGeom>
          <a:noFill/>
          <a:ln w="34925">
            <a:solidFill>
              <a:srgbClr val="0000FF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23558" name="Rectangle 6"/>
          <p:cNvSpPr>
            <a:spLocks noChangeArrowheads="1"/>
          </p:cNvSpPr>
          <p:nvPr/>
        </p:nvSpPr>
        <p:spPr bwMode="auto">
          <a:xfrm>
            <a:off x="3204210" y="3564890"/>
            <a:ext cx="152400" cy="1787525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</a:ln>
        </p:spPr>
        <p:txBody>
          <a:bodyPr wrap="none" anchor="ctr"/>
          <a:p>
            <a:endParaRPr lang="zh-CN" altLang="en-US"/>
          </a:p>
        </p:txBody>
      </p:sp>
      <p:sp>
        <p:nvSpPr>
          <p:cNvPr id="23559" name="Line 7"/>
          <p:cNvSpPr>
            <a:spLocks noChangeShapeType="1"/>
          </p:cNvSpPr>
          <p:nvPr/>
        </p:nvSpPr>
        <p:spPr bwMode="auto">
          <a:xfrm flipH="1">
            <a:off x="2289810" y="4442778"/>
            <a:ext cx="6858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lgDash"/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23560" name="Line 8"/>
          <p:cNvSpPr>
            <a:spLocks noChangeShapeType="1"/>
          </p:cNvSpPr>
          <p:nvPr/>
        </p:nvSpPr>
        <p:spPr bwMode="auto">
          <a:xfrm>
            <a:off x="4359910" y="3518853"/>
            <a:ext cx="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</p:spPr>
        <p:txBody>
          <a:bodyPr/>
          <a:p>
            <a:endParaRPr lang="zh-CN" altLang="en-US"/>
          </a:p>
        </p:txBody>
      </p:sp>
      <p:sp>
        <p:nvSpPr>
          <p:cNvPr id="23561" name="Line 9"/>
          <p:cNvSpPr>
            <a:spLocks noChangeShapeType="1"/>
          </p:cNvSpPr>
          <p:nvPr/>
        </p:nvSpPr>
        <p:spPr bwMode="auto">
          <a:xfrm>
            <a:off x="5274310" y="4509453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</p:spPr>
        <p:txBody>
          <a:bodyPr/>
          <a:p>
            <a:endParaRPr lang="zh-CN" altLang="en-US"/>
          </a:p>
        </p:txBody>
      </p:sp>
      <p:grpSp>
        <p:nvGrpSpPr>
          <p:cNvPr id="2" name="Group 13"/>
          <p:cNvGrpSpPr/>
          <p:nvPr/>
        </p:nvGrpSpPr>
        <p:grpSpPr bwMode="auto">
          <a:xfrm>
            <a:off x="2304098" y="1988503"/>
            <a:ext cx="5638800" cy="3352800"/>
            <a:chOff x="960" y="1152"/>
            <a:chExt cx="3552" cy="2112"/>
          </a:xfrm>
        </p:grpSpPr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960" y="1152"/>
              <a:ext cx="0" cy="2112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med" len="me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960" y="3264"/>
              <a:ext cx="3552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</p:grpSp>
      <p:pic>
        <p:nvPicPr>
          <p:cNvPr id="8210" name="Picture 18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35798" y="5319078"/>
            <a:ext cx="317500" cy="37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3" name="Group 20"/>
          <p:cNvGrpSpPr/>
          <p:nvPr/>
        </p:nvGrpSpPr>
        <p:grpSpPr bwMode="auto">
          <a:xfrm>
            <a:off x="3023235" y="5319078"/>
            <a:ext cx="539750" cy="360362"/>
            <a:chOff x="1296" y="3264"/>
            <a:chExt cx="288" cy="96"/>
          </a:xfrm>
        </p:grpSpPr>
        <p:sp>
          <p:nvSpPr>
            <p:cNvPr id="8214" name="Line 21"/>
            <p:cNvSpPr>
              <a:spLocks noChangeShapeType="1"/>
            </p:cNvSpPr>
            <p:nvPr/>
          </p:nvSpPr>
          <p:spPr bwMode="auto">
            <a:xfrm>
              <a:off x="1392" y="326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8215" name="Line 22"/>
            <p:cNvSpPr>
              <a:spLocks noChangeShapeType="1"/>
            </p:cNvSpPr>
            <p:nvPr/>
          </p:nvSpPr>
          <p:spPr bwMode="auto">
            <a:xfrm>
              <a:off x="1488" y="326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8216" name="Line 23"/>
            <p:cNvSpPr>
              <a:spLocks noChangeShapeType="1"/>
            </p:cNvSpPr>
            <p:nvPr/>
          </p:nvSpPr>
          <p:spPr bwMode="auto">
            <a:xfrm>
              <a:off x="1296" y="3312"/>
              <a:ext cx="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8217" name="Line 24"/>
            <p:cNvSpPr>
              <a:spLocks noChangeShapeType="1"/>
            </p:cNvSpPr>
            <p:nvPr/>
          </p:nvSpPr>
          <p:spPr bwMode="auto">
            <a:xfrm flipH="1">
              <a:off x="1488" y="3312"/>
              <a:ext cx="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</p:grpSp>
      <p:sp>
        <p:nvSpPr>
          <p:cNvPr id="23577" name="AutoShape 25"/>
          <p:cNvSpPr/>
          <p:nvPr/>
        </p:nvSpPr>
        <p:spPr bwMode="auto">
          <a:xfrm>
            <a:off x="3518535" y="1764665"/>
            <a:ext cx="1139825" cy="381000"/>
          </a:xfrm>
          <a:prstGeom prst="accentCallout3">
            <a:avLst>
              <a:gd name="adj1" fmla="val 30000"/>
              <a:gd name="adj2" fmla="val -6685"/>
              <a:gd name="adj3" fmla="val 30000"/>
              <a:gd name="adj4" fmla="val -68662"/>
              <a:gd name="adj5" fmla="val 245833"/>
              <a:gd name="adj6" fmla="val -68662"/>
              <a:gd name="adj7" fmla="val 527083"/>
              <a:gd name="adj8" fmla="val -21310"/>
            </a:avLst>
          </a:prstGeom>
          <a:noFill/>
          <a:ln w="9525">
            <a:solidFill>
              <a:schemeClr val="tx1"/>
            </a:solidFill>
            <a:miter lim="800000"/>
          </a:ln>
        </p:spPr>
        <p:txBody>
          <a:bodyPr lIns="18000" tIns="0" rIns="18000" bIns="0"/>
          <a:p>
            <a:r>
              <a:rPr kumimoji="1" lang="zh-CN" altLang="en-US" sz="2800" b="1">
                <a:latin typeface="Times New Roman" panose="02020603050405020304" pitchFamily="18" charset="0"/>
              </a:rPr>
              <a:t>面积</a:t>
            </a:r>
            <a:endParaRPr kumimoji="1" lang="zh-CN" altLang="en-US" sz="2800" b="1">
              <a:latin typeface="Times New Roman" panose="02020603050405020304" pitchFamily="18" charset="0"/>
            </a:endParaRPr>
          </a:p>
        </p:txBody>
      </p:sp>
      <p:sp>
        <p:nvSpPr>
          <p:cNvPr id="23579" name="AutoShape 27"/>
          <p:cNvSpPr/>
          <p:nvPr/>
        </p:nvSpPr>
        <p:spPr bwMode="auto">
          <a:xfrm>
            <a:off x="5274310" y="3214053"/>
            <a:ext cx="811213" cy="392112"/>
          </a:xfrm>
          <a:prstGeom prst="accentCallout2">
            <a:avLst>
              <a:gd name="adj1" fmla="val 29148"/>
              <a:gd name="adj2" fmla="val -9394"/>
              <a:gd name="adj3" fmla="val 29148"/>
              <a:gd name="adj4" fmla="val -54403"/>
              <a:gd name="adj5" fmla="val 287046"/>
              <a:gd name="adj6" fmla="val -81801"/>
            </a:avLst>
          </a:prstGeom>
          <a:noFill/>
          <a:ln w="9525">
            <a:solidFill>
              <a:schemeClr val="tx1"/>
            </a:solidFill>
            <a:miter lim="800000"/>
          </a:ln>
        </p:spPr>
        <p:txBody>
          <a:bodyPr lIns="36000" tIns="0" rIns="18000" bIns="0"/>
          <a:p>
            <a:r>
              <a:rPr kumimoji="1" lang="zh-CN" altLang="en-US" sz="2800" b="1" dirty="0">
                <a:latin typeface="Times New Roman" panose="02020603050405020304" pitchFamily="18" charset="0"/>
              </a:rPr>
              <a:t>面积</a:t>
            </a:r>
            <a:endParaRPr kumimoji="1" lang="zh-CN" altLang="en-US" sz="2800" b="1" dirty="0">
              <a:latin typeface="Times New Roman" panose="02020603050405020304" pitchFamily="18" charset="0"/>
            </a:endParaRPr>
          </a:p>
        </p:txBody>
      </p:sp>
      <p:graphicFrame>
        <p:nvGraphicFramePr>
          <p:cNvPr id="23580" name="Object 28"/>
          <p:cNvGraphicFramePr>
            <a:graphicFrameLocks noChangeAspect="1"/>
          </p:cNvGraphicFramePr>
          <p:nvPr/>
        </p:nvGraphicFramePr>
        <p:xfrm>
          <a:off x="6114415" y="2892743"/>
          <a:ext cx="2084388" cy="1004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05" name="公式" r:id="rId4" imgW="17678400" imgH="8534400" progId="Equation.3">
                  <p:embed/>
                </p:oleObj>
              </mc:Choice>
              <mc:Fallback>
                <p:oleObj name="公式" r:id="rId4" imgW="17678400" imgH="8534400" progId="Equation.3">
                  <p:embed/>
                  <p:pic>
                    <p:nvPicPr>
                      <p:cNvPr id="0" name="Object 28"/>
                      <p:cNvPicPr>
                        <a:picLocks noChangeAspect="1"/>
                      </p:cNvPicPr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114415" y="2892743"/>
                        <a:ext cx="2084388" cy="1004887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5" name="Object 42"/>
          <p:cNvGraphicFramePr>
            <a:graphicFrameLocks noChangeAspect="1"/>
          </p:cNvGraphicFramePr>
          <p:nvPr/>
        </p:nvGraphicFramePr>
        <p:xfrm>
          <a:off x="1306830" y="1700530"/>
          <a:ext cx="944563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06" name="公式" r:id="rId6" imgW="8229600" imgH="4876800" progId="Equation.3">
                  <p:embed/>
                </p:oleObj>
              </mc:Choice>
              <mc:Fallback>
                <p:oleObj name="公式" r:id="rId6" imgW="8229600" imgH="4876800" progId="Equation.3">
                  <p:embed/>
                  <p:pic>
                    <p:nvPicPr>
                      <p:cNvPr id="0" name="Object 42"/>
                      <p:cNvPicPr>
                        <a:picLocks noChangeAspect="1"/>
                      </p:cNvPicPr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306830" y="1700530"/>
                        <a:ext cx="944563" cy="523875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95" name="Object 43"/>
          <p:cNvGraphicFramePr>
            <a:graphicFrameLocks noChangeAspect="1"/>
          </p:cNvGraphicFramePr>
          <p:nvPr/>
        </p:nvGraphicFramePr>
        <p:xfrm>
          <a:off x="1269048" y="4149090"/>
          <a:ext cx="944562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07" name="公式" r:id="rId8" imgW="8229600" imgH="4876800" progId="Equation.3">
                  <p:embed/>
                </p:oleObj>
              </mc:Choice>
              <mc:Fallback>
                <p:oleObj name="公式" r:id="rId8" imgW="8229600" imgH="4876800" progId="Equation.3">
                  <p:embed/>
                  <p:pic>
                    <p:nvPicPr>
                      <p:cNvPr id="0" name="Object 43"/>
                      <p:cNvPicPr>
                        <a:picLocks noChangeAspect="1"/>
                      </p:cNvPicPr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69048" y="4149090"/>
                        <a:ext cx="944562" cy="523875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96" name="Object 44"/>
          <p:cNvGraphicFramePr>
            <a:graphicFrameLocks noChangeAspect="1"/>
          </p:cNvGraphicFramePr>
          <p:nvPr/>
        </p:nvGraphicFramePr>
        <p:xfrm>
          <a:off x="2975610" y="5403215"/>
          <a:ext cx="539750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08" name="公式" r:id="rId9" imgW="4876800" imgH="4267200" progId="Equation.3">
                  <p:embed/>
                </p:oleObj>
              </mc:Choice>
              <mc:Fallback>
                <p:oleObj name="公式" r:id="rId9" imgW="4876800" imgH="4267200" progId="Equation.3">
                  <p:embed/>
                  <p:pic>
                    <p:nvPicPr>
                      <p:cNvPr id="0" name="Object 44"/>
                      <p:cNvPicPr>
                        <a:picLocks noChangeAspect="1"/>
                      </p:cNvPicPr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975610" y="5403215"/>
                        <a:ext cx="539750" cy="473075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97" name="Object 45"/>
          <p:cNvGraphicFramePr>
            <a:graphicFrameLocks noChangeAspect="1"/>
          </p:cNvGraphicFramePr>
          <p:nvPr/>
        </p:nvGraphicFramePr>
        <p:xfrm>
          <a:off x="4193223" y="5274628"/>
          <a:ext cx="446087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09" name="公式" r:id="rId11" imgW="3962400" imgH="5181600" progId="Equation.3">
                  <p:embed/>
                </p:oleObj>
              </mc:Choice>
              <mc:Fallback>
                <p:oleObj name="公式" r:id="rId11" imgW="3962400" imgH="5181600" progId="Equation.3">
                  <p:embed/>
                  <p:pic>
                    <p:nvPicPr>
                      <p:cNvPr id="0" name="Object 45"/>
                      <p:cNvPicPr>
                        <a:picLocks noChangeAspect="1"/>
                      </p:cNvPicPr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193223" y="5274628"/>
                        <a:ext cx="446087" cy="584200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98" name="Object 46"/>
          <p:cNvGraphicFramePr>
            <a:graphicFrameLocks noChangeAspect="1"/>
          </p:cNvGraphicFramePr>
          <p:nvPr/>
        </p:nvGraphicFramePr>
        <p:xfrm>
          <a:off x="5048885" y="5274628"/>
          <a:ext cx="481013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10" name="公式" r:id="rId13" imgW="4267200" imgH="5181600" progId="Equation.3">
                  <p:embed/>
                </p:oleObj>
              </mc:Choice>
              <mc:Fallback>
                <p:oleObj name="公式" r:id="rId13" imgW="4267200" imgH="5181600" progId="Equation.3">
                  <p:embed/>
                  <p:pic>
                    <p:nvPicPr>
                      <p:cNvPr id="0" name="Object 46"/>
                      <p:cNvPicPr>
                        <a:picLocks noChangeAspect="1"/>
                      </p:cNvPicPr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048885" y="5274628"/>
                        <a:ext cx="481013" cy="584200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0" name="Object 47"/>
          <p:cNvGraphicFramePr>
            <a:graphicFrameLocks noChangeAspect="1"/>
          </p:cNvGraphicFramePr>
          <p:nvPr/>
        </p:nvGraphicFramePr>
        <p:xfrm>
          <a:off x="7656195" y="4875213"/>
          <a:ext cx="368300" cy="404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11" name="公式" r:id="rId15" imgW="3048000" imgH="3352800" progId="Equation.3">
                  <p:embed/>
                </p:oleObj>
              </mc:Choice>
              <mc:Fallback>
                <p:oleObj name="公式" r:id="rId15" imgW="3048000" imgH="3352800" progId="Equation.3">
                  <p:embed/>
                  <p:pic>
                    <p:nvPicPr>
                      <p:cNvPr id="0" name="Object 47"/>
                      <p:cNvPicPr>
                        <a:picLocks noChangeAspect="1"/>
                      </p:cNvPicPr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7656195" y="4875213"/>
                        <a:ext cx="368300" cy="404812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1" name="Object 9"/>
          <p:cNvGraphicFramePr>
            <a:graphicFrameLocks noChangeAspect="1"/>
          </p:cNvGraphicFramePr>
          <p:nvPr/>
        </p:nvGraphicFramePr>
        <p:xfrm>
          <a:off x="4415790" y="1364615"/>
          <a:ext cx="2516188" cy="113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712" name="公式" r:id="rId17" imgW="21031200" imgH="9448800" progId="Equation.3">
                  <p:embed/>
                </p:oleObj>
              </mc:Choice>
              <mc:Fallback>
                <p:oleObj name="公式" r:id="rId17" imgW="21031200" imgH="9448800" progId="Equation.3">
                  <p:embed/>
                  <p:pic>
                    <p:nvPicPr>
                      <p:cNvPr id="0" name="Object 9"/>
                      <p:cNvPicPr>
                        <a:picLocks noChangeAspect="1"/>
                      </p:cNvPicPr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415790" y="1364615"/>
                        <a:ext cx="2516188" cy="1130300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467995" y="1142365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1. </a:t>
            </a:r>
            <a:r>
              <a:rPr lang="zh-CN" altLang="en-US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麦速率分布曲线</a:t>
            </a:r>
            <a:endParaRPr lang="zh-CN" altLang="en-US" sz="2800" b="1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570865" y="6109970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800" b="1" dirty="0">
                <a:latin typeface="宋体" panose="02010600030101010101" pitchFamily="2" charset="-122"/>
                <a:sym typeface="+mn-ea"/>
              </a:rPr>
              <a:t>速率分布曲线下的总面积：</a:t>
            </a:r>
            <a:endParaRPr lang="en-US" altLang="zh-CN" sz="2800" b="1" dirty="0">
              <a:latin typeface="宋体" panose="02010600030101010101" pitchFamily="2" charset="-122"/>
              <a:sym typeface="+mn-ea"/>
            </a:endParaRPr>
          </a:p>
        </p:txBody>
      </p:sp>
      <p:graphicFrame>
        <p:nvGraphicFramePr>
          <p:cNvPr id="40" name="Object 11"/>
          <p:cNvGraphicFramePr/>
          <p:nvPr/>
        </p:nvGraphicFramePr>
        <p:xfrm>
          <a:off x="5317490" y="5696585"/>
          <a:ext cx="2362200" cy="1222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" name="" r:id="rId19" imgW="774065" imgH="482600" progId="Equation.3">
                  <p:embed/>
                </p:oleObj>
              </mc:Choice>
              <mc:Fallback>
                <p:oleObj name="" r:id="rId19" imgW="774065" imgH="482600" progId="Equation.3">
                  <p:embed/>
                  <p:pic>
                    <p:nvPicPr>
                      <p:cNvPr id="0" name="图片 314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317490" y="5696585"/>
                        <a:ext cx="2362200" cy="12223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3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35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23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3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23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3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8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3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3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9" dur="500"/>
                                        <p:tgtEl>
                                          <p:spTgt spid="23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23554" grpId="0" bldLvl="0" animBg="1"/>
      <p:bldP spid="23555" grpId="0" bldLvl="0" animBg="1"/>
      <p:bldP spid="23557" grpId="0" bldLvl="0" animBg="1"/>
      <p:bldP spid="23558" grpId="0" bldLvl="0" animBg="1"/>
      <p:bldP spid="23559" grpId="0" bldLvl="0" animBg="1"/>
      <p:bldP spid="23560" grpId="0" bldLvl="0" animBg="1"/>
      <p:bldP spid="23561" grpId="0" bldLvl="0" animBg="1"/>
      <p:bldP spid="23577" grpId="0" bldLvl="0" animBg="1" autoUpdateAnimBg="0"/>
      <p:bldP spid="23579" grpId="0" bldLvl="0" animBg="1" autoUpdateAnimBg="0"/>
      <p:bldP spid="5" grpId="0"/>
      <p:bldP spid="5" grpId="1"/>
      <p:bldP spid="39" grpId="0"/>
      <p:bldP spid="39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467995" y="620395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2. </a:t>
            </a:r>
            <a:r>
              <a:rPr lang="zh-CN" altLang="en-US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三种统计</a:t>
            </a:r>
            <a:r>
              <a:rPr lang="zh-CN" altLang="en-US" sz="28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速率</a:t>
            </a:r>
            <a:endParaRPr lang="zh-CN" altLang="en-US" sz="2800" b="1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80" name="Rectangle 19"/>
          <p:cNvSpPr/>
          <p:nvPr/>
        </p:nvSpPr>
        <p:spPr>
          <a:xfrm>
            <a:off x="696595" y="6021070"/>
            <a:ext cx="288925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0" hangingPunct="0"/>
            <a:r>
              <a:rPr lang="zh-CN" altLang="en-US" sz="2800" b="1" dirty="0">
                <a:latin typeface="Times New Roman" panose="02020603050405020304" pitchFamily="18" charset="0"/>
              </a:rPr>
              <a:t>三种速率比较：</a:t>
            </a:r>
            <a:endParaRPr lang="zh-CN" altLang="en-US" sz="28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16404" name="Object 20"/>
          <p:cNvGraphicFramePr/>
          <p:nvPr/>
        </p:nvGraphicFramePr>
        <p:xfrm>
          <a:off x="3707765" y="5813425"/>
          <a:ext cx="2342515" cy="9378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02" name="" r:id="rId1" imgW="838200" imgH="316865" progId="Equation.DSMT4">
                  <p:embed/>
                </p:oleObj>
              </mc:Choice>
              <mc:Fallback>
                <p:oleObj name="" r:id="rId1" imgW="838200" imgH="316865" progId="Equation.DSMT4">
                  <p:embed/>
                  <p:pic>
                    <p:nvPicPr>
                      <p:cNvPr id="0" name="图片 310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707765" y="5813425"/>
                        <a:ext cx="2342515" cy="93789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组合 13"/>
          <p:cNvGrpSpPr/>
          <p:nvPr/>
        </p:nvGrpSpPr>
        <p:grpSpPr>
          <a:xfrm>
            <a:off x="467995" y="3716655"/>
            <a:ext cx="5507990" cy="1873250"/>
            <a:chOff x="737" y="5853"/>
            <a:chExt cx="8674" cy="2950"/>
          </a:xfrm>
        </p:grpSpPr>
        <p:grpSp>
          <p:nvGrpSpPr>
            <p:cNvPr id="13" name="组合 12"/>
            <p:cNvGrpSpPr/>
            <p:nvPr/>
          </p:nvGrpSpPr>
          <p:grpSpPr>
            <a:xfrm>
              <a:off x="737" y="5853"/>
              <a:ext cx="7578" cy="1886"/>
              <a:chOff x="737" y="5853"/>
              <a:chExt cx="7578" cy="1886"/>
            </a:xfrm>
          </p:grpSpPr>
          <p:sp>
            <p:nvSpPr>
              <p:cNvPr id="32775" name="Rectangle 7"/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>
                <a:off x="737" y="6193"/>
                <a:ext cx="5673" cy="822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</p:spPr>
            <p:txBody>
              <a:bodyPr>
                <a:spAutoFit/>
              </a:bodyPr>
              <a:p>
                <a:pPr marL="457200" marR="0" lvl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charset="0"/>
                  <a:buChar char="Ø"/>
                  <a:defRPr/>
                </a:pPr>
                <a:r>
                  <a:rPr kumimoji="1" lang="zh-CN" altLang="en-US" sz="28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99"/>
                    </a:solidFill>
                    <a:effectLst/>
                    <a:uLnTx/>
                    <a:uFillTx/>
                    <a:latin typeface="宋体" panose="02010600030101010101" pitchFamily="2" charset="-122"/>
                    <a:cs typeface="宋体" panose="02010600030101010101" pitchFamily="2" charset="-122"/>
                  </a:rPr>
                  <a:t>方均根速率</a:t>
                </a:r>
                <a:endParaRPr kumimoji="1" lang="zh-CN" altLang="en-US" sz="2800" b="1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graphicFrame>
            <p:nvGraphicFramePr>
              <p:cNvPr id="32780" name="Object 12"/>
              <p:cNvGraphicFramePr/>
              <p:nvPr>
                <p:custDataLst>
                  <p:tags r:id="rId4"/>
                </p:custDataLst>
              </p:nvPr>
            </p:nvGraphicFramePr>
            <p:xfrm>
              <a:off x="4705" y="5853"/>
              <a:ext cx="3611" cy="188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148" name="" r:id="rId5" imgW="850900" imgH="444500" progId="Equation.3">
                      <p:embed/>
                    </p:oleObj>
                  </mc:Choice>
                  <mc:Fallback>
                    <p:oleObj name="" r:id="rId5" imgW="850900" imgH="444500" progId="Equation.3">
                      <p:embed/>
                      <p:pic>
                        <p:nvPicPr>
                          <p:cNvPr id="0" name="图片 3147"/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4705" y="5853"/>
                            <a:ext cx="3611" cy="188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noFill/>
                            <a:miter/>
                          </a:ln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" name="文本框 5"/>
            <p:cNvSpPr txBox="1"/>
            <p:nvPr/>
          </p:nvSpPr>
          <p:spPr>
            <a:xfrm>
              <a:off x="963" y="7643"/>
              <a:ext cx="8449" cy="11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>
                <a:lnSpc>
                  <a:spcPct val="150000"/>
                </a:lnSpc>
              </a:pPr>
              <a:r>
                <a:rPr lang="zh-CN" altLang="en-US" sz="2800" b="1" dirty="0">
                  <a:latin typeface="楷体_GB2312" pitchFamily="1" charset="-122"/>
                  <a:cs typeface="Times New Roman" panose="02020603050405020304" pitchFamily="18" charset="0"/>
                  <a:sym typeface="+mn-ea"/>
                </a:rPr>
                <a:t>用于计算分子的平均平动动能。</a:t>
              </a:r>
              <a:endParaRPr lang="zh-CN" altLang="en-US" sz="2800" b="1" dirty="0">
                <a:latin typeface="楷体_GB2312" pitchFamily="1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467360" y="2387600"/>
            <a:ext cx="9468485" cy="1041400"/>
            <a:chOff x="736" y="3760"/>
            <a:chExt cx="14911" cy="1640"/>
          </a:xfrm>
        </p:grpSpPr>
        <p:graphicFrame>
          <p:nvGraphicFramePr>
            <p:cNvPr id="3" name="对象 2"/>
            <p:cNvGraphicFramePr/>
            <p:nvPr/>
          </p:nvGraphicFramePr>
          <p:xfrm>
            <a:off x="4808" y="3760"/>
            <a:ext cx="2984" cy="16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" name="" r:id="rId7" imgW="1772285" imgH="1141095" progId="Equation.KSEE3">
                    <p:embed/>
                  </p:oleObj>
                </mc:Choice>
                <mc:Fallback>
                  <p:oleObj name="" r:id="rId7" imgW="1772285" imgH="1141095" progId="Equation.KSEE3">
                    <p:embed/>
                    <p:pic>
                      <p:nvPicPr>
                        <p:cNvPr id="0" name="图片 2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4808" y="3760"/>
                          <a:ext cx="2984" cy="164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725" name="Rectangle 5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736" y="4169"/>
              <a:ext cx="4795" cy="82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>
              <a:spAutoFit/>
            </a:bodyPr>
            <a:p>
              <a:pPr marL="457200" marR="0" lvl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charset="0"/>
                <a:buChar char="Ø"/>
                <a:defRPr/>
              </a:pPr>
              <a:r>
                <a:rPr kumimoji="1" lang="zh-CN" altLang="en-US" sz="2800" b="1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宋体" panose="02010600030101010101" pitchFamily="2" charset="-122"/>
                  <a:cs typeface="宋体" panose="02010600030101010101" pitchFamily="2" charset="-122"/>
                </a:rPr>
                <a:t>平均速率</a:t>
              </a:r>
              <a:endPara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447" y="4152"/>
              <a:ext cx="7200" cy="82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2800" b="1" dirty="0">
                  <a:latin typeface="楷体_GB2312" pitchFamily="1" charset="-122"/>
                  <a:cs typeface="Times New Roman" panose="02020603050405020304" pitchFamily="18" charset="0"/>
                  <a:sym typeface="+mn-ea"/>
                </a:rPr>
                <a:t>用于讨论分子碰撞</a:t>
              </a:r>
              <a:endParaRPr lang="zh-CN" altLang="en-US" sz="2800" b="1" dirty="0">
                <a:latin typeface="楷体_GB2312" pitchFamily="1" charset="-122"/>
                <a:cs typeface="Times New Roman" panose="02020603050405020304" pitchFamily="18" charset="0"/>
                <a:sym typeface="+mn-ea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467995" y="1196340"/>
            <a:ext cx="9503410" cy="1045210"/>
            <a:chOff x="737" y="1884"/>
            <a:chExt cx="14966" cy="1646"/>
          </a:xfrm>
        </p:grpSpPr>
        <p:graphicFrame>
          <p:nvGraphicFramePr>
            <p:cNvPr id="9" name="Object 12"/>
            <p:cNvGraphicFramePr/>
            <p:nvPr>
              <p:custDataLst>
                <p:tags r:id="rId10"/>
              </p:custDataLst>
            </p:nvPr>
          </p:nvGraphicFramePr>
          <p:xfrm>
            <a:off x="4932" y="1884"/>
            <a:ext cx="3126" cy="164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" name="" r:id="rId11" imgW="749300" imgH="381000" progId="Equation.3">
                    <p:embed/>
                  </p:oleObj>
                </mc:Choice>
                <mc:Fallback>
                  <p:oleObj name="" r:id="rId11" imgW="749300" imgH="381000" progId="Equation.3">
                    <p:embed/>
                    <p:pic>
                      <p:nvPicPr>
                        <p:cNvPr id="0" name="图片 3151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932" y="1884"/>
                          <a:ext cx="3126" cy="1646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" name="Rectangle 10"/>
            <p:cNvSpPr/>
            <p:nvPr>
              <p:custDataLst>
                <p:tags r:id="rId13"/>
              </p:custDataLst>
            </p:nvPr>
          </p:nvSpPr>
          <p:spPr>
            <a:xfrm>
              <a:off x="737" y="2338"/>
              <a:ext cx="5270" cy="822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p>
              <a:pPr>
                <a:buFont typeface="Wingdings" panose="05000000000000000000" charset="0"/>
                <a:buChar char="Ø"/>
              </a:pPr>
              <a:r>
                <a:rPr lang="en-US" altLang="zh-CN" sz="2800" b="1" dirty="0">
                  <a:solidFill>
                    <a:srgbClr val="000099"/>
                  </a:solidFill>
                  <a:latin typeface="宋体" panose="02010600030101010101" pitchFamily="2" charset="-122"/>
                  <a:cs typeface="宋体" panose="02010600030101010101" pitchFamily="2" charset="-122"/>
                </a:rPr>
                <a:t> </a:t>
              </a:r>
              <a:r>
                <a:rPr lang="zh-CN" altLang="en-US" sz="2800" b="1" dirty="0">
                  <a:solidFill>
                    <a:srgbClr val="000099"/>
                  </a:solidFill>
                  <a:latin typeface="宋体" panose="02010600030101010101" pitchFamily="2" charset="-122"/>
                  <a:cs typeface="宋体" panose="02010600030101010101" pitchFamily="2" charset="-122"/>
                </a:rPr>
                <a:t>最概然速率</a:t>
              </a:r>
              <a:endParaRPr lang="zh-CN" altLang="en-US" sz="2800" b="1" dirty="0">
                <a:solidFill>
                  <a:srgbClr val="000099"/>
                </a:solidFill>
                <a:latin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8503" y="1998"/>
              <a:ext cx="7200" cy="116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>
                <a:lnSpc>
                  <a:spcPct val="150000"/>
                </a:lnSpc>
              </a:pPr>
              <a:r>
                <a:rPr lang="zh-CN" altLang="en-US" sz="2800" b="1" dirty="0">
                  <a:latin typeface="楷体_GB2312" pitchFamily="1" charset="-122"/>
                  <a:cs typeface="Times New Roman" panose="02020603050405020304" pitchFamily="18" charset="0"/>
                  <a:sym typeface="Symbol" panose="05050102010706020507" pitchFamily="18" charset="2"/>
                </a:rPr>
                <a:t>用于讨论速率分布</a:t>
              </a:r>
              <a:endParaRPr lang="zh-CN" altLang="en-US" sz="2800" b="1" dirty="0">
                <a:latin typeface="楷体_GB2312" pitchFamily="1" charset="-122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4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4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11280" grpId="0"/>
      <p:bldP spid="11280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83970" name="Object 2"/>
          <p:cNvGraphicFramePr>
            <a:graphicFrameLocks noChangeAspect="1"/>
          </p:cNvGraphicFramePr>
          <p:nvPr/>
        </p:nvGraphicFramePr>
        <p:xfrm>
          <a:off x="4356100" y="1772920"/>
          <a:ext cx="210185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29" name="Equation" r:id="rId1" imgW="16764000" imgH="5486400" progId="Equation.3">
                  <p:embed/>
                </p:oleObj>
              </mc:Choice>
              <mc:Fallback>
                <p:oleObj name="Equation" r:id="rId1" imgW="16764000" imgH="5486400" progId="Equation.3">
                  <p:embed/>
                  <p:pic>
                    <p:nvPicPr>
                      <p:cNvPr id="0" name="Object 2"/>
                      <p:cNvPicPr>
                        <a:picLocks noChangeAspect="1"/>
                      </p:cNvPicPr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356100" y="1772920"/>
                        <a:ext cx="2101850" cy="688975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83972" name="Rectangle 4"/>
          <p:cNvSpPr>
            <a:spLocks noChangeArrowheads="1"/>
          </p:cNvSpPr>
          <p:nvPr/>
        </p:nvSpPr>
        <p:spPr bwMode="auto">
          <a:xfrm>
            <a:off x="467678" y="620395"/>
            <a:ext cx="6248400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p>
            <a:pPr eaLnBrk="0" hangingPunct="0"/>
            <a:r>
              <a:rPr kumimoji="1" lang="en-US" altLang="zh-CN" sz="2800" b="1" dirty="0">
                <a:solidFill>
                  <a:srgbClr val="CC0000"/>
                </a:solidFill>
                <a:latin typeface="Times New Roman" panose="02020603050405020304" pitchFamily="18" charset="0"/>
              </a:rPr>
              <a:t>3. </a:t>
            </a:r>
            <a:r>
              <a:rPr kumimoji="1" lang="zh-CN" altLang="en-US" sz="2800" b="1" dirty="0">
                <a:solidFill>
                  <a:srgbClr val="CC0000"/>
                </a:solidFill>
                <a:latin typeface="Times New Roman" panose="02020603050405020304" pitchFamily="18" charset="0"/>
              </a:rPr>
              <a:t>同一气体不同温度下速率分布比较</a:t>
            </a:r>
            <a:endParaRPr kumimoji="1" lang="zh-CN" altLang="en-US" sz="2800" dirty="0">
              <a:solidFill>
                <a:srgbClr val="CC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3" name="Group 12"/>
          <p:cNvGrpSpPr/>
          <p:nvPr/>
        </p:nvGrpSpPr>
        <p:grpSpPr bwMode="auto">
          <a:xfrm>
            <a:off x="1051878" y="1437958"/>
            <a:ext cx="5589587" cy="5091112"/>
            <a:chOff x="725" y="743"/>
            <a:chExt cx="3521" cy="3207"/>
          </a:xfrm>
        </p:grpSpPr>
        <p:pic>
          <p:nvPicPr>
            <p:cNvPr id="16412" name="Picture 1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37" y="3644"/>
              <a:ext cx="274" cy="30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6413" name="Line 14"/>
            <p:cNvSpPr>
              <a:spLocks noChangeShapeType="1"/>
            </p:cNvSpPr>
            <p:nvPr/>
          </p:nvSpPr>
          <p:spPr bwMode="auto">
            <a:xfrm flipV="1">
              <a:off x="1122" y="1140"/>
              <a:ext cx="0" cy="2498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6414" name="Line 15"/>
            <p:cNvSpPr>
              <a:spLocks noChangeShapeType="1"/>
            </p:cNvSpPr>
            <p:nvPr/>
          </p:nvSpPr>
          <p:spPr bwMode="auto">
            <a:xfrm>
              <a:off x="1122" y="3635"/>
              <a:ext cx="2880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  <p:graphicFrame>
          <p:nvGraphicFramePr>
            <p:cNvPr id="16391" name="Object 16"/>
            <p:cNvGraphicFramePr>
              <a:graphicFrameLocks noChangeAspect="1"/>
            </p:cNvGraphicFramePr>
            <p:nvPr/>
          </p:nvGraphicFramePr>
          <p:xfrm>
            <a:off x="725" y="743"/>
            <a:ext cx="652" cy="37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3733" name="公式" r:id="rId4" imgW="8229600" imgH="4876800" progId="Equation.3">
                    <p:embed/>
                  </p:oleObj>
                </mc:Choice>
                <mc:Fallback>
                  <p:oleObj name="公式" r:id="rId4" imgW="8229600" imgH="4876800" progId="Equation.3">
                    <p:embed/>
                    <p:pic>
                      <p:nvPicPr>
                        <p:cNvPr id="0" name="Object 16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725" y="743"/>
                          <a:ext cx="652" cy="370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392" name="Object 17"/>
            <p:cNvGraphicFramePr>
              <a:graphicFrameLocks noChangeAspect="1"/>
            </p:cNvGraphicFramePr>
            <p:nvPr/>
          </p:nvGraphicFramePr>
          <p:xfrm>
            <a:off x="4014" y="3578"/>
            <a:ext cx="232" cy="25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3734" name="公式" r:id="rId6" imgW="3048000" imgH="3352800" progId="Equation.3">
                    <p:embed/>
                  </p:oleObj>
                </mc:Choice>
                <mc:Fallback>
                  <p:oleObj name="公式" r:id="rId6" imgW="3048000" imgH="3352800" progId="Equation.3">
                    <p:embed/>
                    <p:pic>
                      <p:nvPicPr>
                        <p:cNvPr id="0" name="Object 17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4014" y="3578"/>
                          <a:ext cx="232" cy="255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8"/>
          <p:cNvGrpSpPr/>
          <p:nvPr/>
        </p:nvGrpSpPr>
        <p:grpSpPr bwMode="auto">
          <a:xfrm>
            <a:off x="602615" y="2922270"/>
            <a:ext cx="4826000" cy="3690938"/>
            <a:chOff x="402" y="1659"/>
            <a:chExt cx="3040" cy="2325"/>
          </a:xfrm>
        </p:grpSpPr>
        <p:grpSp>
          <p:nvGrpSpPr>
            <p:cNvPr id="5" name="Group 19"/>
            <p:cNvGrpSpPr/>
            <p:nvPr/>
          </p:nvGrpSpPr>
          <p:grpSpPr bwMode="auto">
            <a:xfrm>
              <a:off x="402" y="1659"/>
              <a:ext cx="3040" cy="1967"/>
              <a:chOff x="402" y="1688"/>
              <a:chExt cx="3040" cy="1967"/>
            </a:xfrm>
          </p:grpSpPr>
          <p:sp>
            <p:nvSpPr>
              <p:cNvPr id="16408" name="Freeform 20"/>
              <p:cNvSpPr/>
              <p:nvPr/>
            </p:nvSpPr>
            <p:spPr bwMode="auto">
              <a:xfrm>
                <a:off x="1094" y="1877"/>
                <a:ext cx="2348" cy="1778"/>
              </a:xfrm>
              <a:custGeom>
                <a:avLst/>
                <a:gdLst>
                  <a:gd name="T0" fmla="*/ 0 w 3024"/>
                  <a:gd name="T1" fmla="*/ 1220 h 2016"/>
                  <a:gd name="T2" fmla="*/ 139 w 3024"/>
                  <a:gd name="T3" fmla="*/ 959 h 2016"/>
                  <a:gd name="T4" fmla="*/ 244 w 3024"/>
                  <a:gd name="T5" fmla="*/ 233 h 2016"/>
                  <a:gd name="T6" fmla="*/ 366 w 3024"/>
                  <a:gd name="T7" fmla="*/ 0 h 2016"/>
                  <a:gd name="T8" fmla="*/ 489 w 3024"/>
                  <a:gd name="T9" fmla="*/ 233 h 2016"/>
                  <a:gd name="T10" fmla="*/ 646 w 3024"/>
                  <a:gd name="T11" fmla="*/ 900 h 2016"/>
                  <a:gd name="T12" fmla="*/ 1099 w 3024"/>
                  <a:gd name="T13" fmla="*/ 1191 h 201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3024"/>
                  <a:gd name="T22" fmla="*/ 0 h 2016"/>
                  <a:gd name="T23" fmla="*/ 3024 w 3024"/>
                  <a:gd name="T24" fmla="*/ 2016 h 201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3024" h="2016">
                    <a:moveTo>
                      <a:pt x="0" y="2016"/>
                    </a:moveTo>
                    <a:cubicBezTo>
                      <a:pt x="136" y="1936"/>
                      <a:pt x="272" y="1856"/>
                      <a:pt x="384" y="1584"/>
                    </a:cubicBezTo>
                    <a:cubicBezTo>
                      <a:pt x="496" y="1312"/>
                      <a:pt x="568" y="648"/>
                      <a:pt x="672" y="384"/>
                    </a:cubicBezTo>
                    <a:cubicBezTo>
                      <a:pt x="776" y="120"/>
                      <a:pt x="896" y="0"/>
                      <a:pt x="1008" y="0"/>
                    </a:cubicBezTo>
                    <a:cubicBezTo>
                      <a:pt x="1120" y="0"/>
                      <a:pt x="1216" y="136"/>
                      <a:pt x="1344" y="384"/>
                    </a:cubicBezTo>
                    <a:cubicBezTo>
                      <a:pt x="1472" y="632"/>
                      <a:pt x="1496" y="1224"/>
                      <a:pt x="1776" y="1488"/>
                    </a:cubicBezTo>
                    <a:cubicBezTo>
                      <a:pt x="2056" y="1752"/>
                      <a:pt x="2540" y="1860"/>
                      <a:pt x="3024" y="1968"/>
                    </a:cubicBezTo>
                  </a:path>
                </a:pathLst>
              </a:custGeom>
              <a:noFill/>
              <a:ln w="34925">
                <a:solidFill>
                  <a:srgbClr val="0000FF"/>
                </a:solidFill>
                <a:round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16409" name="Line 21"/>
              <p:cNvSpPr>
                <a:spLocks noChangeShapeType="1"/>
              </p:cNvSpPr>
              <p:nvPr/>
            </p:nvSpPr>
            <p:spPr bwMode="auto">
              <a:xfrm>
                <a:off x="1888" y="1876"/>
                <a:ext cx="0" cy="1778"/>
              </a:xfrm>
              <a:prstGeom prst="line">
                <a:avLst/>
              </a:prstGeom>
              <a:noFill/>
              <a:ln w="22225">
                <a:solidFill>
                  <a:srgbClr val="008800"/>
                </a:solidFill>
                <a:prstDash val="lgDash"/>
                <a:round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16410" name="Line 22"/>
              <p:cNvSpPr>
                <a:spLocks noChangeShapeType="1"/>
              </p:cNvSpPr>
              <p:nvPr/>
            </p:nvSpPr>
            <p:spPr bwMode="auto">
              <a:xfrm flipH="1">
                <a:off x="1082" y="1876"/>
                <a:ext cx="797" cy="0"/>
              </a:xfrm>
              <a:prstGeom prst="line">
                <a:avLst/>
              </a:prstGeom>
              <a:noFill/>
              <a:ln w="22225">
                <a:solidFill>
                  <a:srgbClr val="008800"/>
                </a:solidFill>
                <a:prstDash val="lgDash"/>
                <a:round/>
              </a:ln>
            </p:spPr>
            <p:txBody>
              <a:bodyPr/>
              <a:p>
                <a:endParaRPr lang="zh-CN" altLang="en-US"/>
              </a:p>
            </p:txBody>
          </p:sp>
          <p:pic>
            <p:nvPicPr>
              <p:cNvPr id="16411" name="Picture 23"/>
              <p:cNvPicPr>
                <a:picLocks noChangeAspect="1" noChangeArrowheads="1"/>
              </p:cNvPicPr>
              <p:nvPr/>
            </p:nvPicPr>
            <p:blipFill>
              <a:blip r:embed="rId8"/>
              <a:srcRect/>
              <a:stretch>
                <a:fillRect/>
              </a:stretch>
            </p:blipFill>
            <p:spPr bwMode="auto">
              <a:xfrm>
                <a:off x="2001" y="1706"/>
                <a:ext cx="287" cy="35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aphicFrame>
            <p:nvGraphicFramePr>
              <p:cNvPr id="16390" name="Object 24"/>
              <p:cNvGraphicFramePr>
                <a:graphicFrameLocks noChangeAspect="1"/>
              </p:cNvGraphicFramePr>
              <p:nvPr/>
            </p:nvGraphicFramePr>
            <p:xfrm>
              <a:off x="402" y="1688"/>
              <a:ext cx="674" cy="34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73735" name="公式" r:id="rId9" imgW="10972800" imgH="5791200" progId="Equation.3">
                      <p:embed/>
                    </p:oleObj>
                  </mc:Choice>
                  <mc:Fallback>
                    <p:oleObj name="公式" r:id="rId9" imgW="10972800" imgH="5791200" progId="Equation.3">
                      <p:embed/>
                      <p:pic>
                        <p:nvPicPr>
                          <p:cNvPr id="0" name="Object 24"/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10"/>
                          <a:stretch>
                            <a:fillRect/>
                          </a:stretch>
                        </p:blipFill>
                        <p:spPr>
                          <a:xfrm>
                            <a:off x="402" y="1688"/>
                            <a:ext cx="674" cy="341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</a:ln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6389" name="Object 25"/>
            <p:cNvGraphicFramePr>
              <a:graphicFrameLocks noChangeAspect="1"/>
            </p:cNvGraphicFramePr>
            <p:nvPr/>
          </p:nvGraphicFramePr>
          <p:xfrm>
            <a:off x="1774" y="3549"/>
            <a:ext cx="385" cy="4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3736" name="公式" r:id="rId11" imgW="5791200" imgH="5791200" progId="Equation.3">
                    <p:embed/>
                  </p:oleObj>
                </mc:Choice>
                <mc:Fallback>
                  <p:oleObj name="公式" r:id="rId11" imgW="5791200" imgH="5791200" progId="Equation.3">
                    <p:embed/>
                    <p:pic>
                      <p:nvPicPr>
                        <p:cNvPr id="0" name="Object 25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774" y="3549"/>
                          <a:ext cx="385" cy="435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6"/>
          <p:cNvGrpSpPr/>
          <p:nvPr/>
        </p:nvGrpSpPr>
        <p:grpSpPr bwMode="auto">
          <a:xfrm>
            <a:off x="558165" y="2247583"/>
            <a:ext cx="4117975" cy="4398962"/>
            <a:chOff x="405" y="1196"/>
            <a:chExt cx="2594" cy="2771"/>
          </a:xfrm>
        </p:grpSpPr>
        <p:sp>
          <p:nvSpPr>
            <p:cNvPr id="16402" name="Freeform 27"/>
            <p:cNvSpPr/>
            <p:nvPr/>
          </p:nvSpPr>
          <p:spPr bwMode="auto">
            <a:xfrm>
              <a:off x="1094" y="1367"/>
              <a:ext cx="1905" cy="2244"/>
            </a:xfrm>
            <a:custGeom>
              <a:avLst/>
              <a:gdLst>
                <a:gd name="T0" fmla="*/ 0 w 2064"/>
                <a:gd name="T1" fmla="*/ 1540 h 2544"/>
                <a:gd name="T2" fmla="*/ 105 w 2064"/>
                <a:gd name="T3" fmla="*/ 1307 h 2544"/>
                <a:gd name="T4" fmla="*/ 279 w 2064"/>
                <a:gd name="T5" fmla="*/ 175 h 2544"/>
                <a:gd name="T6" fmla="*/ 487 w 2064"/>
                <a:gd name="T7" fmla="*/ 261 h 2544"/>
                <a:gd name="T8" fmla="*/ 697 w 2064"/>
                <a:gd name="T9" fmla="*/ 930 h 2544"/>
                <a:gd name="T10" fmla="*/ 905 w 2064"/>
                <a:gd name="T11" fmla="*/ 1250 h 2544"/>
                <a:gd name="T12" fmla="*/ 1498 w 2064"/>
                <a:gd name="T13" fmla="*/ 1511 h 2544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064"/>
                <a:gd name="T22" fmla="*/ 0 h 2544"/>
                <a:gd name="T23" fmla="*/ 2064 w 2064"/>
                <a:gd name="T24" fmla="*/ 2544 h 2544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064" h="2544">
                  <a:moveTo>
                    <a:pt x="0" y="2544"/>
                  </a:moveTo>
                  <a:cubicBezTo>
                    <a:pt x="40" y="2540"/>
                    <a:pt x="80" y="2536"/>
                    <a:pt x="144" y="2160"/>
                  </a:cubicBezTo>
                  <a:cubicBezTo>
                    <a:pt x="208" y="1784"/>
                    <a:pt x="296" y="576"/>
                    <a:pt x="384" y="288"/>
                  </a:cubicBezTo>
                  <a:cubicBezTo>
                    <a:pt x="472" y="0"/>
                    <a:pt x="576" y="224"/>
                    <a:pt x="672" y="432"/>
                  </a:cubicBezTo>
                  <a:cubicBezTo>
                    <a:pt x="768" y="640"/>
                    <a:pt x="864" y="1264"/>
                    <a:pt x="960" y="1536"/>
                  </a:cubicBezTo>
                  <a:cubicBezTo>
                    <a:pt x="1056" y="1808"/>
                    <a:pt x="1064" y="1904"/>
                    <a:pt x="1248" y="2064"/>
                  </a:cubicBezTo>
                  <a:cubicBezTo>
                    <a:pt x="1432" y="2224"/>
                    <a:pt x="1928" y="2424"/>
                    <a:pt x="2064" y="2496"/>
                  </a:cubicBezTo>
                </a:path>
              </a:pathLst>
            </a:custGeom>
            <a:noFill/>
            <a:ln w="34925">
              <a:solidFill>
                <a:srgbClr val="FF0000"/>
              </a:solidFill>
              <a:round/>
            </a:ln>
          </p:spPr>
          <p:txBody>
            <a:bodyPr/>
            <a:p>
              <a:endParaRPr lang="zh-CN" altLang="en-US"/>
            </a:p>
          </p:txBody>
        </p:sp>
        <p:grpSp>
          <p:nvGrpSpPr>
            <p:cNvPr id="7" name="Group 28"/>
            <p:cNvGrpSpPr/>
            <p:nvPr/>
          </p:nvGrpSpPr>
          <p:grpSpPr bwMode="auto">
            <a:xfrm>
              <a:off x="405" y="1196"/>
              <a:ext cx="1456" cy="2771"/>
              <a:chOff x="405" y="1224"/>
              <a:chExt cx="1456" cy="2771"/>
            </a:xfrm>
          </p:grpSpPr>
          <p:sp>
            <p:nvSpPr>
              <p:cNvPr id="16404" name="Line 29"/>
              <p:cNvSpPr>
                <a:spLocks noChangeShapeType="1"/>
              </p:cNvSpPr>
              <p:nvPr/>
            </p:nvSpPr>
            <p:spPr bwMode="auto">
              <a:xfrm>
                <a:off x="1548" y="1500"/>
                <a:ext cx="0" cy="2117"/>
              </a:xfrm>
              <a:prstGeom prst="line">
                <a:avLst/>
              </a:prstGeom>
              <a:noFill/>
              <a:ln w="22225">
                <a:solidFill>
                  <a:srgbClr val="008800"/>
                </a:solidFill>
                <a:prstDash val="lgDash"/>
                <a:round/>
              </a:ln>
            </p:spPr>
            <p:txBody>
              <a:bodyPr/>
              <a:p>
                <a:endParaRPr lang="zh-CN" altLang="en-US"/>
              </a:p>
            </p:txBody>
          </p:sp>
          <p:sp>
            <p:nvSpPr>
              <p:cNvPr id="16405" name="Line 30"/>
              <p:cNvSpPr>
                <a:spLocks noChangeShapeType="1"/>
              </p:cNvSpPr>
              <p:nvPr/>
            </p:nvSpPr>
            <p:spPr bwMode="auto">
              <a:xfrm flipH="1">
                <a:off x="1094" y="1499"/>
                <a:ext cx="443" cy="0"/>
              </a:xfrm>
              <a:prstGeom prst="line">
                <a:avLst/>
              </a:prstGeom>
              <a:noFill/>
              <a:ln w="22225">
                <a:solidFill>
                  <a:srgbClr val="008800"/>
                </a:solidFill>
                <a:prstDash val="lgDash"/>
                <a:round/>
              </a:ln>
            </p:spPr>
            <p:txBody>
              <a:bodyPr/>
              <a:p>
                <a:endParaRPr lang="zh-CN" altLang="en-US"/>
              </a:p>
            </p:txBody>
          </p:sp>
          <p:pic>
            <p:nvPicPr>
              <p:cNvPr id="16406" name="Picture 31"/>
              <p:cNvPicPr>
                <a:picLocks noChangeAspect="1" noChangeArrowheads="1"/>
              </p:cNvPicPr>
              <p:nvPr/>
            </p:nvPicPr>
            <p:blipFill>
              <a:blip r:embed="rId13"/>
              <a:srcRect/>
              <a:stretch>
                <a:fillRect/>
              </a:stretch>
            </p:blipFill>
            <p:spPr bwMode="auto">
              <a:xfrm>
                <a:off x="1548" y="1224"/>
                <a:ext cx="313" cy="3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aphicFrame>
            <p:nvGraphicFramePr>
              <p:cNvPr id="16387" name="Object 32"/>
              <p:cNvGraphicFramePr>
                <a:graphicFrameLocks noChangeAspect="1"/>
              </p:cNvGraphicFramePr>
              <p:nvPr/>
            </p:nvGraphicFramePr>
            <p:xfrm>
              <a:off x="405" y="1273"/>
              <a:ext cx="656" cy="34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73737" name="公式" r:id="rId14" imgW="10668000" imgH="5791200" progId="Equation.3">
                      <p:embed/>
                    </p:oleObj>
                  </mc:Choice>
                  <mc:Fallback>
                    <p:oleObj name="公式" r:id="rId14" imgW="10668000" imgH="5791200" progId="Equation.3">
                      <p:embed/>
                      <p:pic>
                        <p:nvPicPr>
                          <p:cNvPr id="0" name="Object 32"/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15"/>
                          <a:stretch>
                            <a:fillRect/>
                          </a:stretch>
                        </p:blipFill>
                        <p:spPr>
                          <a:xfrm>
                            <a:off x="405" y="1273"/>
                            <a:ext cx="656" cy="341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</a:ln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6388" name="Object 33"/>
              <p:cNvGraphicFramePr>
                <a:graphicFrameLocks noChangeAspect="1"/>
              </p:cNvGraphicFramePr>
              <p:nvPr/>
            </p:nvGraphicFramePr>
            <p:xfrm>
              <a:off x="1349" y="3542"/>
              <a:ext cx="381" cy="4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73738" name="公式" r:id="rId16" imgW="5486400" imgH="5791200" progId="Equation.3">
                      <p:embed/>
                    </p:oleObj>
                  </mc:Choice>
                  <mc:Fallback>
                    <p:oleObj name="公式" r:id="rId16" imgW="5486400" imgH="5791200" progId="Equation.3">
                      <p:embed/>
                      <p:pic>
                        <p:nvPicPr>
                          <p:cNvPr id="0" name="Object 33"/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17"/>
                          <a:stretch>
                            <a:fillRect/>
                          </a:stretch>
                        </p:blipFill>
                        <p:spPr>
                          <a:xfrm>
                            <a:off x="1349" y="3542"/>
                            <a:ext cx="381" cy="453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</a:ln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sp>
        <p:nvSpPr>
          <p:cNvPr id="46" name="Text Box 93"/>
          <p:cNvSpPr txBox="1"/>
          <p:nvPr>
            <p:custDataLst>
              <p:tags r:id="rId18"/>
            </p:custDataLst>
          </p:nvPr>
        </p:nvSpPr>
        <p:spPr>
          <a:xfrm>
            <a:off x="4363085" y="3280410"/>
            <a:ext cx="322262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2800" b="1" dirty="0">
                <a:solidFill>
                  <a:srgbClr val="C00000"/>
                </a:solidFill>
                <a:latin typeface="楷体_GB2312" pitchFamily="1" charset="-122"/>
              </a:rPr>
              <a:t>曲线右移，变平坦</a:t>
            </a:r>
            <a:r>
              <a:rPr lang="en-US" altLang="zh-CN" sz="2800" b="1" dirty="0">
                <a:solidFill>
                  <a:srgbClr val="C00000"/>
                </a:solidFill>
                <a:latin typeface="楷体_GB2312" pitchFamily="1" charset="-122"/>
              </a:rPr>
              <a:t>!</a:t>
            </a:r>
            <a:endParaRPr lang="en-US" altLang="zh-CN" sz="2800" b="1" dirty="0">
              <a:solidFill>
                <a:srgbClr val="C00000"/>
              </a:solidFill>
              <a:latin typeface="楷体_GB2312" pitchFamily="1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364990" y="2636520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kumimoji="1" lang="zh-CN" altLang="en-US" sz="2800" b="1" noProof="0">
                <a:latin typeface="宋体" panose="02010600030101010101" pitchFamily="2" charset="-122"/>
                <a:sym typeface="+mn-ea"/>
              </a:rPr>
              <a:t>温度越高：</a:t>
            </a:r>
            <a:endParaRPr kumimoji="1" lang="zh-CN" altLang="en-US" sz="2800" b="1" noProof="0">
              <a:latin typeface="宋体" panose="02010600030101010101" pitchFamily="2" charset="-122"/>
              <a:sym typeface="+mn-ea"/>
            </a:endParaRPr>
          </a:p>
        </p:txBody>
      </p:sp>
      <p:sp>
        <p:nvSpPr>
          <p:cNvPr id="83971" name="Text Box 3"/>
          <p:cNvSpPr txBox="1">
            <a:spLocks noChangeArrowheads="1"/>
          </p:cNvSpPr>
          <p:nvPr>
            <p:custDataLst>
              <p:tags r:id="rId19"/>
            </p:custDataLst>
          </p:nvPr>
        </p:nvSpPr>
        <p:spPr bwMode="auto">
          <a:xfrm>
            <a:off x="4364990" y="3966210"/>
            <a:ext cx="5594350" cy="73723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ctr">
            <a:spAutoFit/>
          </a:bodyPr>
          <a:p>
            <a:pPr marR="0" defTabSz="9144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>
                <a:latin typeface="宋体" panose="02010600030101010101" pitchFamily="2" charset="-122"/>
                <a:cs typeface="+mn-cs"/>
              </a:rPr>
              <a:t>速率大的分子数越多</a:t>
            </a:r>
            <a:endParaRPr kumimoji="1" lang="zh-CN" altLang="en-US" sz="2800" b="1" kern="1200" cap="none" spc="0" normalizeH="0" baseline="0" noProof="0">
              <a:latin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39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839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charRg st="0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83971">
                                            <p:txEl>
                                              <p:charRg st="0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2" grpId="0" advAuto="0" autoUpdateAnimBg="0" build="p"/>
      <p:bldP spid="46" grpId="0"/>
      <p:bldP spid="8" grpId="0"/>
      <p:bldP spid="8" grpId="1"/>
      <p:bldP spid="83971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84994" name="Object 2"/>
          <p:cNvGraphicFramePr>
            <a:graphicFrameLocks noChangeAspect="1"/>
          </p:cNvGraphicFramePr>
          <p:nvPr/>
        </p:nvGraphicFramePr>
        <p:xfrm>
          <a:off x="5048250" y="2852420"/>
          <a:ext cx="236220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53" name="Equation" r:id="rId1" imgW="19812000" imgH="5486400" progId="Equation.3">
                  <p:embed/>
                </p:oleObj>
              </mc:Choice>
              <mc:Fallback>
                <p:oleObj name="Equation" r:id="rId1" imgW="19812000" imgH="5486400" progId="Equation.3">
                  <p:embed/>
                  <p:pic>
                    <p:nvPicPr>
                      <p:cNvPr id="0" name="Object 2"/>
                      <p:cNvPicPr>
                        <a:picLocks noChangeAspect="1"/>
                      </p:cNvPicPr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5048250" y="2852420"/>
                        <a:ext cx="2362200" cy="654050"/>
                      </a:xfrm>
                      <a:prstGeom prst="rect">
                        <a:avLst/>
                      </a:prstGeom>
                      <a:noFill/>
                      <a:ln w="9525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84995" name="Rectangle 3"/>
          <p:cNvSpPr>
            <a:spLocks noChangeArrowheads="1"/>
          </p:cNvSpPr>
          <p:nvPr/>
        </p:nvSpPr>
        <p:spPr bwMode="auto">
          <a:xfrm>
            <a:off x="467360" y="548640"/>
            <a:ext cx="657542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eaLnBrk="0" hangingPunct="0"/>
            <a:r>
              <a:rPr kumimoji="1" lang="en-US" altLang="zh-CN" sz="2800" b="1" dirty="0">
                <a:solidFill>
                  <a:srgbClr val="CC0000"/>
                </a:solidFill>
                <a:latin typeface="Times New Roman" panose="02020603050405020304" pitchFamily="18" charset="0"/>
              </a:rPr>
              <a:t>4. </a:t>
            </a:r>
            <a:r>
              <a:rPr kumimoji="1" lang="zh-CN" altLang="en-US" sz="2800" b="1" dirty="0">
                <a:solidFill>
                  <a:srgbClr val="CC0000"/>
                </a:solidFill>
                <a:latin typeface="Times New Roman" panose="02020603050405020304" pitchFamily="18" charset="0"/>
              </a:rPr>
              <a:t>同一温度下不同种气体速率分布比较</a:t>
            </a:r>
            <a:endParaRPr kumimoji="1" lang="zh-CN" altLang="en-US" sz="2800" b="1" dirty="0">
              <a:solidFill>
                <a:srgbClr val="CC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4996" name="Text Box 4"/>
          <p:cNvSpPr txBox="1">
            <a:spLocks noChangeArrowheads="1"/>
          </p:cNvSpPr>
          <p:nvPr/>
        </p:nvSpPr>
        <p:spPr bwMode="auto">
          <a:xfrm>
            <a:off x="2860040" y="1844675"/>
            <a:ext cx="6327775" cy="5219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anchor="ctr">
            <a:spAutoFit/>
          </a:bodyPr>
          <a:p>
            <a:r>
              <a:rPr kumimoji="1" lang="zh-CN" altLang="en-US" sz="2800" b="1">
                <a:latin typeface="Times New Roman" panose="02020603050405020304" pitchFamily="18" charset="0"/>
              </a:rPr>
              <a:t>分子质量越小，速率大的分子数越多。</a:t>
            </a:r>
            <a:endParaRPr kumimoji="1" lang="zh-CN" altLang="en-US" sz="2800" b="1">
              <a:latin typeface="Times New Roman" panose="02020603050405020304" pitchFamily="18" charset="0"/>
            </a:endParaRPr>
          </a:p>
        </p:txBody>
      </p:sp>
      <p:grpSp>
        <p:nvGrpSpPr>
          <p:cNvPr id="2" name="Group 5"/>
          <p:cNvGrpSpPr/>
          <p:nvPr/>
        </p:nvGrpSpPr>
        <p:grpSpPr bwMode="auto">
          <a:xfrm>
            <a:off x="1316673" y="2175828"/>
            <a:ext cx="2855912" cy="4283075"/>
            <a:chOff x="868" y="1265"/>
            <a:chExt cx="1799" cy="2698"/>
          </a:xfrm>
        </p:grpSpPr>
        <p:pic>
          <p:nvPicPr>
            <p:cNvPr id="17431" name="Picture 6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1152" y="1265"/>
              <a:ext cx="365" cy="3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7432" name="Line 7"/>
            <p:cNvSpPr>
              <a:spLocks noChangeShapeType="1"/>
            </p:cNvSpPr>
            <p:nvPr/>
          </p:nvSpPr>
          <p:spPr bwMode="auto">
            <a:xfrm>
              <a:off x="1321" y="1598"/>
              <a:ext cx="0" cy="1955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prstDash val="lgDash"/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7433" name="Freeform 8"/>
            <p:cNvSpPr/>
            <p:nvPr/>
          </p:nvSpPr>
          <p:spPr bwMode="auto">
            <a:xfrm>
              <a:off x="868" y="1485"/>
              <a:ext cx="1799" cy="2033"/>
            </a:xfrm>
            <a:custGeom>
              <a:avLst/>
              <a:gdLst>
                <a:gd name="T0" fmla="*/ 0 w 1968"/>
                <a:gd name="T1" fmla="*/ 1099 h 2496"/>
                <a:gd name="T2" fmla="*/ 335 w 1968"/>
                <a:gd name="T3" fmla="*/ 63 h 2496"/>
                <a:gd name="T4" fmla="*/ 771 w 1968"/>
                <a:gd name="T5" fmla="*/ 718 h 2496"/>
                <a:gd name="T6" fmla="*/ 1375 w 1968"/>
                <a:gd name="T7" fmla="*/ 1099 h 24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68"/>
                <a:gd name="T13" fmla="*/ 0 h 2496"/>
                <a:gd name="T14" fmla="*/ 1968 w 1968"/>
                <a:gd name="T15" fmla="*/ 2496 h 24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68" h="2496">
                  <a:moveTo>
                    <a:pt x="0" y="2496"/>
                  </a:moveTo>
                  <a:cubicBezTo>
                    <a:pt x="148" y="1392"/>
                    <a:pt x="296" y="288"/>
                    <a:pt x="480" y="144"/>
                  </a:cubicBezTo>
                  <a:cubicBezTo>
                    <a:pt x="664" y="0"/>
                    <a:pt x="856" y="1240"/>
                    <a:pt x="1104" y="1632"/>
                  </a:cubicBezTo>
                  <a:cubicBezTo>
                    <a:pt x="1352" y="2024"/>
                    <a:pt x="1660" y="2260"/>
                    <a:pt x="1968" y="2496"/>
                  </a:cubicBezTo>
                </a:path>
              </a:pathLst>
            </a:custGeom>
            <a:noFill/>
            <a:ln w="34925">
              <a:solidFill>
                <a:srgbClr val="FF0000"/>
              </a:solidFill>
              <a:round/>
            </a:ln>
          </p:spPr>
          <p:txBody>
            <a:bodyPr wrap="none" anchor="ctr"/>
            <a:p>
              <a:endParaRPr lang="zh-CN" altLang="en-US"/>
            </a:p>
          </p:txBody>
        </p:sp>
        <p:graphicFrame>
          <p:nvGraphicFramePr>
            <p:cNvPr id="17417" name="Object 9"/>
            <p:cNvGraphicFramePr>
              <a:graphicFrameLocks noChangeAspect="1"/>
            </p:cNvGraphicFramePr>
            <p:nvPr/>
          </p:nvGraphicFramePr>
          <p:xfrm>
            <a:off x="1094" y="3464"/>
            <a:ext cx="425" cy="49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4" name="公式" r:id="rId4" imgW="5486400" imgH="6705600" progId="Equation.3">
                    <p:embed/>
                  </p:oleObj>
                </mc:Choice>
                <mc:Fallback>
                  <p:oleObj name="公式" r:id="rId4" imgW="5486400" imgH="6705600" progId="Equation.3">
                    <p:embed/>
                    <p:pic>
                      <p:nvPicPr>
                        <p:cNvPr id="0" name="Object 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094" y="3464"/>
                          <a:ext cx="425" cy="499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0"/>
          <p:cNvGrpSpPr/>
          <p:nvPr/>
        </p:nvGrpSpPr>
        <p:grpSpPr bwMode="auto">
          <a:xfrm>
            <a:off x="1316673" y="2671128"/>
            <a:ext cx="3065462" cy="3841750"/>
            <a:chOff x="867" y="1571"/>
            <a:chExt cx="1931" cy="2420"/>
          </a:xfrm>
        </p:grpSpPr>
        <p:graphicFrame>
          <p:nvGraphicFramePr>
            <p:cNvPr id="17415" name="Object 11"/>
            <p:cNvGraphicFramePr>
              <a:graphicFrameLocks noChangeAspect="1"/>
            </p:cNvGraphicFramePr>
            <p:nvPr/>
          </p:nvGraphicFramePr>
          <p:xfrm>
            <a:off x="1746" y="1571"/>
            <a:ext cx="369" cy="34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5" name="Equation" r:id="rId6" imgW="4876800" imgH="5181600" progId="Equation.3">
                    <p:embed/>
                  </p:oleObj>
                </mc:Choice>
                <mc:Fallback>
                  <p:oleObj name="Equation" r:id="rId6" imgW="4876800" imgH="5181600" progId="Equation.3">
                    <p:embed/>
                    <p:pic>
                      <p:nvPicPr>
                        <p:cNvPr id="0" name="Object 11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1746" y="1571"/>
                          <a:ext cx="369" cy="349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429" name="Line 12"/>
            <p:cNvSpPr>
              <a:spLocks noChangeShapeType="1"/>
            </p:cNvSpPr>
            <p:nvPr/>
          </p:nvSpPr>
          <p:spPr bwMode="auto">
            <a:xfrm>
              <a:off x="1656" y="1881"/>
              <a:ext cx="0" cy="1642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prstDash val="lgDash"/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7430" name="Freeform 13"/>
            <p:cNvSpPr/>
            <p:nvPr/>
          </p:nvSpPr>
          <p:spPr bwMode="auto">
            <a:xfrm>
              <a:off x="867" y="1741"/>
              <a:ext cx="1931" cy="1733"/>
            </a:xfrm>
            <a:custGeom>
              <a:avLst/>
              <a:gdLst>
                <a:gd name="T0" fmla="*/ 0 w 2112"/>
                <a:gd name="T1" fmla="*/ 936 h 2128"/>
                <a:gd name="T2" fmla="*/ 571 w 2112"/>
                <a:gd name="T3" fmla="*/ 70 h 2128"/>
                <a:gd name="T4" fmla="*/ 1007 w 2112"/>
                <a:gd name="T5" fmla="*/ 513 h 2128"/>
                <a:gd name="T6" fmla="*/ 1477 w 2112"/>
                <a:gd name="T7" fmla="*/ 852 h 212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2"/>
                <a:gd name="T13" fmla="*/ 0 h 2128"/>
                <a:gd name="T14" fmla="*/ 2112 w 2112"/>
                <a:gd name="T15" fmla="*/ 2128 h 212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2" h="2128">
                  <a:moveTo>
                    <a:pt x="0" y="2128"/>
                  </a:moveTo>
                  <a:cubicBezTo>
                    <a:pt x="288" y="1224"/>
                    <a:pt x="576" y="320"/>
                    <a:pt x="816" y="160"/>
                  </a:cubicBezTo>
                  <a:cubicBezTo>
                    <a:pt x="1056" y="0"/>
                    <a:pt x="1224" y="872"/>
                    <a:pt x="1440" y="1168"/>
                  </a:cubicBezTo>
                  <a:cubicBezTo>
                    <a:pt x="1656" y="1464"/>
                    <a:pt x="1884" y="1700"/>
                    <a:pt x="2112" y="1936"/>
                  </a:cubicBezTo>
                </a:path>
              </a:pathLst>
            </a:custGeom>
            <a:noFill/>
            <a:ln w="34925">
              <a:solidFill>
                <a:srgbClr val="0000FF"/>
              </a:solidFill>
              <a:round/>
            </a:ln>
          </p:spPr>
          <p:txBody>
            <a:bodyPr wrap="none" anchor="ctr"/>
            <a:p>
              <a:endParaRPr lang="zh-CN" altLang="en-US"/>
            </a:p>
          </p:txBody>
        </p:sp>
        <p:graphicFrame>
          <p:nvGraphicFramePr>
            <p:cNvPr id="17416" name="Object 14"/>
            <p:cNvGraphicFramePr>
              <a:graphicFrameLocks noChangeAspect="1"/>
            </p:cNvGraphicFramePr>
            <p:nvPr/>
          </p:nvGraphicFramePr>
          <p:xfrm>
            <a:off x="1491" y="3492"/>
            <a:ext cx="370" cy="49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6" name="公式" r:id="rId8" imgW="5791200" imgH="6705600" progId="Equation.3">
                    <p:embed/>
                  </p:oleObj>
                </mc:Choice>
                <mc:Fallback>
                  <p:oleObj name="公式" r:id="rId8" imgW="5791200" imgH="6705600" progId="Equation.3">
                    <p:embed/>
                    <p:pic>
                      <p:nvPicPr>
                        <p:cNvPr id="0" name="Object 14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491" y="3492"/>
                          <a:ext cx="370" cy="499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5"/>
          <p:cNvGrpSpPr/>
          <p:nvPr/>
        </p:nvGrpSpPr>
        <p:grpSpPr bwMode="auto">
          <a:xfrm>
            <a:off x="1407160" y="3706178"/>
            <a:ext cx="3552825" cy="2747962"/>
            <a:chOff x="874" y="2249"/>
            <a:chExt cx="2238" cy="1731"/>
          </a:xfrm>
        </p:grpSpPr>
        <p:graphicFrame>
          <p:nvGraphicFramePr>
            <p:cNvPr id="17413" name="Object 16"/>
            <p:cNvGraphicFramePr>
              <a:graphicFrameLocks noChangeAspect="1"/>
            </p:cNvGraphicFramePr>
            <p:nvPr/>
          </p:nvGraphicFramePr>
          <p:xfrm>
            <a:off x="2377" y="2249"/>
            <a:ext cx="495" cy="3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7" name="Equation" r:id="rId10" imgW="4876800" imgH="5486400" progId="Equation.3">
                    <p:embed/>
                  </p:oleObj>
                </mc:Choice>
                <mc:Fallback>
                  <p:oleObj name="Equation" r:id="rId10" imgW="4876800" imgH="5486400" progId="Equation.3">
                    <p:embed/>
                    <p:pic>
                      <p:nvPicPr>
                        <p:cNvPr id="0" name="Object 16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2377" y="2249"/>
                          <a:ext cx="495" cy="386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427" name="Line 17"/>
            <p:cNvSpPr>
              <a:spLocks noChangeShapeType="1"/>
            </p:cNvSpPr>
            <p:nvPr/>
          </p:nvSpPr>
          <p:spPr bwMode="auto">
            <a:xfrm>
              <a:off x="2058" y="2415"/>
              <a:ext cx="0" cy="1173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prstDash val="lgDash"/>
              <a:round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7428" name="Freeform 18"/>
            <p:cNvSpPr/>
            <p:nvPr/>
          </p:nvSpPr>
          <p:spPr bwMode="auto">
            <a:xfrm>
              <a:off x="874" y="2306"/>
              <a:ext cx="2238" cy="1147"/>
            </a:xfrm>
            <a:custGeom>
              <a:avLst/>
              <a:gdLst>
                <a:gd name="T0" fmla="*/ 0 w 2592"/>
                <a:gd name="T1" fmla="*/ 620 h 1408"/>
                <a:gd name="T2" fmla="*/ 720 w 2592"/>
                <a:gd name="T3" fmla="*/ 49 h 1408"/>
                <a:gd name="T4" fmla="*/ 1174 w 2592"/>
                <a:gd name="T5" fmla="*/ 324 h 1408"/>
                <a:gd name="T6" fmla="*/ 1440 w 2592"/>
                <a:gd name="T7" fmla="*/ 514 h 140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592"/>
                <a:gd name="T13" fmla="*/ 0 h 1408"/>
                <a:gd name="T14" fmla="*/ 2592 w 2592"/>
                <a:gd name="T15" fmla="*/ 1408 h 140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592" h="1408">
                  <a:moveTo>
                    <a:pt x="0" y="1408"/>
                  </a:moveTo>
                  <a:cubicBezTo>
                    <a:pt x="472" y="816"/>
                    <a:pt x="944" y="224"/>
                    <a:pt x="1296" y="112"/>
                  </a:cubicBezTo>
                  <a:cubicBezTo>
                    <a:pt x="1648" y="0"/>
                    <a:pt x="1896" y="560"/>
                    <a:pt x="2112" y="736"/>
                  </a:cubicBezTo>
                  <a:cubicBezTo>
                    <a:pt x="2328" y="912"/>
                    <a:pt x="2512" y="1096"/>
                    <a:pt x="2592" y="1168"/>
                  </a:cubicBezTo>
                </a:path>
              </a:pathLst>
            </a:custGeom>
            <a:noFill/>
            <a:ln w="34925">
              <a:solidFill>
                <a:srgbClr val="008000"/>
              </a:solidFill>
              <a:round/>
            </a:ln>
          </p:spPr>
          <p:txBody>
            <a:bodyPr wrap="none" anchor="ctr"/>
            <a:p>
              <a:endParaRPr lang="zh-CN" altLang="en-US"/>
            </a:p>
          </p:txBody>
        </p:sp>
        <p:graphicFrame>
          <p:nvGraphicFramePr>
            <p:cNvPr id="17414" name="Object 19"/>
            <p:cNvGraphicFramePr>
              <a:graphicFrameLocks noChangeAspect="1"/>
            </p:cNvGraphicFramePr>
            <p:nvPr/>
          </p:nvGraphicFramePr>
          <p:xfrm>
            <a:off x="1951" y="3549"/>
            <a:ext cx="350" cy="4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8" name="公式" r:id="rId12" imgW="5486400" imgH="5791200" progId="Equation.3">
                    <p:embed/>
                  </p:oleObj>
                </mc:Choice>
                <mc:Fallback>
                  <p:oleObj name="公式" r:id="rId12" imgW="5486400" imgH="5791200" progId="Equation.3">
                    <p:embed/>
                    <p:pic>
                      <p:nvPicPr>
                        <p:cNvPr id="0" name="Object 1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951" y="3549"/>
                          <a:ext cx="350" cy="431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0"/>
          <p:cNvGrpSpPr/>
          <p:nvPr/>
        </p:nvGrpSpPr>
        <p:grpSpPr bwMode="auto">
          <a:xfrm>
            <a:off x="821373" y="1455103"/>
            <a:ext cx="5583237" cy="4764087"/>
            <a:chOff x="556" y="803"/>
            <a:chExt cx="3517" cy="3001"/>
          </a:xfrm>
        </p:grpSpPr>
        <p:sp>
          <p:nvSpPr>
            <p:cNvPr id="17424" name="Line 21"/>
            <p:cNvSpPr>
              <a:spLocks noChangeShapeType="1"/>
            </p:cNvSpPr>
            <p:nvPr/>
          </p:nvSpPr>
          <p:spPr bwMode="auto">
            <a:xfrm flipV="1">
              <a:off x="868" y="1200"/>
              <a:ext cx="0" cy="230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17425" name="Line 22"/>
            <p:cNvSpPr>
              <a:spLocks noChangeShapeType="1"/>
            </p:cNvSpPr>
            <p:nvPr/>
          </p:nvSpPr>
          <p:spPr bwMode="auto">
            <a:xfrm>
              <a:off x="868" y="3521"/>
              <a:ext cx="2852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endParaRPr lang="zh-CN" altLang="en-US"/>
            </a:p>
          </p:txBody>
        </p:sp>
        <p:graphicFrame>
          <p:nvGraphicFramePr>
            <p:cNvPr id="17411" name="Object 23"/>
            <p:cNvGraphicFramePr>
              <a:graphicFrameLocks noChangeAspect="1"/>
            </p:cNvGraphicFramePr>
            <p:nvPr/>
          </p:nvGraphicFramePr>
          <p:xfrm>
            <a:off x="556" y="803"/>
            <a:ext cx="737" cy="3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59" name="公式" r:id="rId14" imgW="8229600" imgH="4876800" progId="Equation.3">
                    <p:embed/>
                  </p:oleObj>
                </mc:Choice>
                <mc:Fallback>
                  <p:oleObj name="公式" r:id="rId14" imgW="8229600" imgH="4876800" progId="Equation.3">
                    <p:embed/>
                    <p:pic>
                      <p:nvPicPr>
                        <p:cNvPr id="0" name="Object 23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556" y="803"/>
                          <a:ext cx="737" cy="390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17426" name="Picture 24"/>
            <p:cNvPicPr>
              <a:picLocks noChangeAspect="1" noChangeArrowheads="1"/>
            </p:cNvPicPr>
            <p:nvPr/>
          </p:nvPicPr>
          <p:blipFill>
            <a:blip r:embed="rId16"/>
            <a:srcRect/>
            <a:stretch>
              <a:fillRect/>
            </a:stretch>
          </p:blipFill>
          <p:spPr bwMode="auto">
            <a:xfrm>
              <a:off x="604" y="3521"/>
              <a:ext cx="271" cy="2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aphicFrame>
          <p:nvGraphicFramePr>
            <p:cNvPr id="17412" name="Object 25"/>
            <p:cNvGraphicFramePr>
              <a:graphicFrameLocks noChangeAspect="1"/>
            </p:cNvGraphicFramePr>
            <p:nvPr/>
          </p:nvGraphicFramePr>
          <p:xfrm>
            <a:off x="3816" y="3407"/>
            <a:ext cx="257" cy="2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74760" name="公式" r:id="rId17" imgW="3048000" imgH="3352800" progId="Equation.3">
                    <p:embed/>
                  </p:oleObj>
                </mc:Choice>
                <mc:Fallback>
                  <p:oleObj name="公式" r:id="rId17" imgW="3048000" imgH="3352800" progId="Equation.3">
                    <p:embed/>
                    <p:pic>
                      <p:nvPicPr>
                        <p:cNvPr id="0" name="Object 25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3816" y="3407"/>
                          <a:ext cx="257" cy="283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1" name="Text Box 93"/>
          <p:cNvSpPr txBox="1"/>
          <p:nvPr>
            <p:custDataLst>
              <p:tags r:id="rId19"/>
            </p:custDataLst>
          </p:nvPr>
        </p:nvSpPr>
        <p:spPr>
          <a:xfrm>
            <a:off x="5085715" y="3860800"/>
            <a:ext cx="322262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2800" b="1" dirty="0">
                <a:solidFill>
                  <a:srgbClr val="C00000"/>
                </a:solidFill>
                <a:latin typeface="楷体_GB2312" pitchFamily="1" charset="-122"/>
              </a:rPr>
              <a:t>曲线左移，越尖锐</a:t>
            </a:r>
            <a:r>
              <a:rPr lang="en-US" altLang="zh-CN" sz="2800" b="1" dirty="0">
                <a:solidFill>
                  <a:srgbClr val="C00000"/>
                </a:solidFill>
                <a:latin typeface="楷体_GB2312" pitchFamily="1" charset="-122"/>
              </a:rPr>
              <a:t>!</a:t>
            </a:r>
            <a:endParaRPr lang="en-US" altLang="zh-CN" sz="2800" b="1" dirty="0">
              <a:solidFill>
                <a:srgbClr val="C00000"/>
              </a:solidFill>
              <a:latin typeface="楷体_GB2312" pitchFamily="1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49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41" dur="80"/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42" dur="80"/>
                                        <p:tgtEl>
                                          <p:spTgt spid="8499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80"/>
                                        <p:tgtEl>
                                          <p:spTgt spid="8499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5" grpId="0" advAuto="0" autoUpdateAnimBg="0" build="p"/>
      <p:bldP spid="84996" grpId="0"/>
      <p:bldP spid="7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571472" y="701972"/>
            <a:ext cx="7286676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eaLnBrk="0" hangingPunct="0"/>
            <a:r>
              <a:rPr kumimoji="1" lang="zh-CN" altLang="en-US" sz="2800" b="1" dirty="0">
                <a:solidFill>
                  <a:srgbClr val="CC0000"/>
                </a:solidFill>
                <a:latin typeface="Times New Roman" panose="02020603050405020304" pitchFamily="18" charset="0"/>
              </a:rPr>
              <a:t>同一温度</a:t>
            </a:r>
            <a:r>
              <a:rPr kumimoji="1" lang="zh-CN" altLang="en-US" sz="2800" b="1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下</a:t>
            </a:r>
            <a:r>
              <a:rPr kumimoji="1" lang="en-US" altLang="zh-CN" sz="2800" b="1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H</a:t>
            </a:r>
            <a:r>
              <a:rPr kumimoji="1" lang="en-US" altLang="zh-CN" sz="2800" b="1" baseline="-25000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2</a:t>
            </a:r>
            <a:r>
              <a:rPr kumimoji="1" lang="zh-CN" altLang="en-US" sz="2800" b="1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与</a:t>
            </a:r>
            <a:r>
              <a:rPr kumimoji="1" lang="en-US" altLang="zh-CN" sz="2800" b="1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O</a:t>
            </a:r>
            <a:r>
              <a:rPr kumimoji="1" lang="en-US" altLang="zh-CN" sz="2800" b="1" baseline="-25000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2</a:t>
            </a:r>
            <a:r>
              <a:rPr kumimoji="1" lang="zh-CN" altLang="en-US" sz="2800" b="1" dirty="0" smtClean="0">
                <a:solidFill>
                  <a:srgbClr val="CC0000"/>
                </a:solidFill>
                <a:latin typeface="Times New Roman" panose="02020603050405020304" pitchFamily="18" charset="0"/>
              </a:rPr>
              <a:t>的最概然速率之比</a:t>
            </a:r>
            <a:endParaRPr kumimoji="1" lang="zh-CN" altLang="en-US" sz="2800" b="1" dirty="0">
              <a:solidFill>
                <a:srgbClr val="CC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2" name="Group 5"/>
          <p:cNvGrpSpPr/>
          <p:nvPr/>
        </p:nvGrpSpPr>
        <p:grpSpPr>
          <a:xfrm>
            <a:off x="1318578" y="2553018"/>
            <a:ext cx="2920999" cy="3836988"/>
            <a:chOff x="868" y="1485"/>
            <a:chExt cx="1840" cy="2417"/>
          </a:xfrm>
        </p:grpSpPr>
        <p:sp>
          <p:nvSpPr>
            <p:cNvPr id="17432" name="Line 7"/>
            <p:cNvSpPr>
              <a:spLocks noChangeShapeType="1"/>
            </p:cNvSpPr>
            <p:nvPr>
              <p:custDataLst>
                <p:tags r:id="rId1"/>
              </p:custDataLst>
            </p:nvPr>
          </p:nvSpPr>
          <p:spPr bwMode="auto">
            <a:xfrm>
              <a:off x="1321" y="1598"/>
              <a:ext cx="0" cy="1955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prstDash val="lgDash"/>
              <a:round/>
            </a:ln>
          </p:spPr>
          <p:txBody>
            <a:bodyPr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433" name="Freeform 8"/>
            <p:cNvSpPr/>
            <p:nvPr>
              <p:custDataLst>
                <p:tags r:id="rId2"/>
              </p:custDataLst>
            </p:nvPr>
          </p:nvSpPr>
          <p:spPr bwMode="auto">
            <a:xfrm>
              <a:off x="868" y="1485"/>
              <a:ext cx="1840" cy="1973"/>
            </a:xfrm>
            <a:custGeom>
              <a:avLst/>
              <a:gdLst>
                <a:gd name="T0" fmla="*/ 0 w 1968"/>
                <a:gd name="T1" fmla="*/ 1099 h 2496"/>
                <a:gd name="T2" fmla="*/ 335 w 1968"/>
                <a:gd name="T3" fmla="*/ 63 h 2496"/>
                <a:gd name="T4" fmla="*/ 771 w 1968"/>
                <a:gd name="T5" fmla="*/ 718 h 2496"/>
                <a:gd name="T6" fmla="*/ 1375 w 1968"/>
                <a:gd name="T7" fmla="*/ 1099 h 24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68"/>
                <a:gd name="T13" fmla="*/ 0 h 2496"/>
                <a:gd name="T14" fmla="*/ 1968 w 1968"/>
                <a:gd name="T15" fmla="*/ 2496 h 24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68" h="2496">
                  <a:moveTo>
                    <a:pt x="0" y="2496"/>
                  </a:moveTo>
                  <a:cubicBezTo>
                    <a:pt x="148" y="1392"/>
                    <a:pt x="296" y="288"/>
                    <a:pt x="480" y="144"/>
                  </a:cubicBezTo>
                  <a:cubicBezTo>
                    <a:pt x="664" y="0"/>
                    <a:pt x="856" y="1240"/>
                    <a:pt x="1104" y="1632"/>
                  </a:cubicBezTo>
                  <a:cubicBezTo>
                    <a:pt x="1352" y="2024"/>
                    <a:pt x="1660" y="2260"/>
                    <a:pt x="1968" y="2496"/>
                  </a:cubicBezTo>
                </a:path>
              </a:pathLst>
            </a:custGeom>
            <a:noFill/>
            <a:ln w="34925">
              <a:solidFill>
                <a:srgbClr val="FF0000"/>
              </a:solidFill>
              <a:round/>
            </a:ln>
          </p:spPr>
          <p:txBody>
            <a:bodyPr wrap="none" anchor="ctr"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graphicFrame>
          <p:nvGraphicFramePr>
            <p:cNvPr id="17417" name="Object 9"/>
            <p:cNvGraphicFramePr/>
            <p:nvPr>
              <p:custDataLst>
                <p:tags r:id="rId3"/>
              </p:custDataLst>
            </p:nvPr>
          </p:nvGraphicFramePr>
          <p:xfrm>
            <a:off x="1152" y="3462"/>
            <a:ext cx="424" cy="4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085" name="" r:id="rId4" imgW="228600" imgH="279400" progId="Equation.3">
                    <p:embed/>
                  </p:oleObj>
                </mc:Choice>
                <mc:Fallback>
                  <p:oleObj name="" r:id="rId4" imgW="228600" imgH="279400" progId="Equation.3">
                    <p:embed/>
                    <p:pic>
                      <p:nvPicPr>
                        <p:cNvPr id="0" name="图片 3084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152" y="3462"/>
                          <a:ext cx="424" cy="440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5"/>
          <p:cNvGrpSpPr/>
          <p:nvPr/>
        </p:nvGrpSpPr>
        <p:grpSpPr>
          <a:xfrm>
            <a:off x="1351280" y="3938270"/>
            <a:ext cx="3552825" cy="2525712"/>
            <a:chOff x="874" y="2306"/>
            <a:chExt cx="2238" cy="1591"/>
          </a:xfrm>
        </p:grpSpPr>
        <p:sp>
          <p:nvSpPr>
            <p:cNvPr id="17427" name="Line 17"/>
            <p:cNvSpPr>
              <a:spLocks noChangeShapeType="1"/>
            </p:cNvSpPr>
            <p:nvPr>
              <p:custDataLst>
                <p:tags r:id="rId6"/>
              </p:custDataLst>
            </p:nvPr>
          </p:nvSpPr>
          <p:spPr bwMode="auto">
            <a:xfrm>
              <a:off x="2058" y="2415"/>
              <a:ext cx="0" cy="1102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prstDash val="lgDash"/>
              <a:round/>
            </a:ln>
          </p:spPr>
          <p:txBody>
            <a:bodyPr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428" name="Freeform 18"/>
            <p:cNvSpPr/>
            <p:nvPr>
              <p:custDataLst>
                <p:tags r:id="rId7"/>
              </p:custDataLst>
            </p:nvPr>
          </p:nvSpPr>
          <p:spPr bwMode="auto">
            <a:xfrm>
              <a:off x="874" y="2306"/>
              <a:ext cx="2238" cy="1147"/>
            </a:xfrm>
            <a:custGeom>
              <a:avLst/>
              <a:gdLst>
                <a:gd name="T0" fmla="*/ 0 w 2592"/>
                <a:gd name="T1" fmla="*/ 620 h 1408"/>
                <a:gd name="T2" fmla="*/ 720 w 2592"/>
                <a:gd name="T3" fmla="*/ 49 h 1408"/>
                <a:gd name="T4" fmla="*/ 1174 w 2592"/>
                <a:gd name="T5" fmla="*/ 324 h 1408"/>
                <a:gd name="T6" fmla="*/ 1440 w 2592"/>
                <a:gd name="T7" fmla="*/ 514 h 140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592"/>
                <a:gd name="T13" fmla="*/ 0 h 1408"/>
                <a:gd name="T14" fmla="*/ 2592 w 2592"/>
                <a:gd name="T15" fmla="*/ 1408 h 140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592" h="1408">
                  <a:moveTo>
                    <a:pt x="0" y="1408"/>
                  </a:moveTo>
                  <a:cubicBezTo>
                    <a:pt x="472" y="816"/>
                    <a:pt x="944" y="224"/>
                    <a:pt x="1296" y="112"/>
                  </a:cubicBezTo>
                  <a:cubicBezTo>
                    <a:pt x="1648" y="0"/>
                    <a:pt x="1896" y="560"/>
                    <a:pt x="2112" y="736"/>
                  </a:cubicBezTo>
                  <a:cubicBezTo>
                    <a:pt x="2328" y="912"/>
                    <a:pt x="2512" y="1096"/>
                    <a:pt x="2592" y="1168"/>
                  </a:cubicBezTo>
                </a:path>
              </a:pathLst>
            </a:custGeom>
            <a:noFill/>
            <a:ln w="34925">
              <a:solidFill>
                <a:srgbClr val="008000"/>
              </a:solidFill>
              <a:round/>
            </a:ln>
          </p:spPr>
          <p:txBody>
            <a:bodyPr wrap="none" anchor="ctr"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graphicFrame>
          <p:nvGraphicFramePr>
            <p:cNvPr id="17414" name="Object 19"/>
            <p:cNvGraphicFramePr/>
            <p:nvPr>
              <p:custDataLst>
                <p:tags r:id="rId8"/>
              </p:custDataLst>
            </p:nvPr>
          </p:nvGraphicFramePr>
          <p:xfrm>
            <a:off x="1950" y="3466"/>
            <a:ext cx="350" cy="4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088" name="" r:id="rId9" imgW="228600" imgH="241300" progId="Equation.3">
                    <p:embed/>
                  </p:oleObj>
                </mc:Choice>
                <mc:Fallback>
                  <p:oleObj name="" r:id="rId9" imgW="228600" imgH="241300" progId="Equation.3">
                    <p:embed/>
                    <p:pic>
                      <p:nvPicPr>
                        <p:cNvPr id="0" name="图片 3087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950" y="3466"/>
                          <a:ext cx="350" cy="431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0"/>
          <p:cNvGrpSpPr/>
          <p:nvPr/>
        </p:nvGrpSpPr>
        <p:grpSpPr>
          <a:xfrm>
            <a:off x="899478" y="1556068"/>
            <a:ext cx="5507037" cy="4691062"/>
            <a:chOff x="604" y="849"/>
            <a:chExt cx="3469" cy="2955"/>
          </a:xfrm>
        </p:grpSpPr>
        <p:sp>
          <p:nvSpPr>
            <p:cNvPr id="17424" name="Line 21"/>
            <p:cNvSpPr>
              <a:spLocks noChangeShapeType="1"/>
            </p:cNvSpPr>
            <p:nvPr>
              <p:custDataLst>
                <p:tags r:id="rId11"/>
              </p:custDataLst>
            </p:nvPr>
          </p:nvSpPr>
          <p:spPr bwMode="auto">
            <a:xfrm flipV="1">
              <a:off x="868" y="1200"/>
              <a:ext cx="0" cy="230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425" name="Line 22"/>
            <p:cNvSpPr>
              <a:spLocks noChangeShapeType="1"/>
            </p:cNvSpPr>
            <p:nvPr>
              <p:custDataLst>
                <p:tags r:id="rId12"/>
              </p:custDataLst>
            </p:nvPr>
          </p:nvSpPr>
          <p:spPr bwMode="auto">
            <a:xfrm>
              <a:off x="868" y="3521"/>
              <a:ext cx="2852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tailEnd type="triangle" w="med" len="med"/>
            </a:ln>
          </p:spPr>
          <p:txBody>
            <a:bodyPr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graphicFrame>
          <p:nvGraphicFramePr>
            <p:cNvPr id="17411" name="Object 23"/>
            <p:cNvGraphicFramePr/>
            <p:nvPr>
              <p:custDataLst>
                <p:tags r:id="rId13"/>
              </p:custDataLst>
            </p:nvPr>
          </p:nvGraphicFramePr>
          <p:xfrm>
            <a:off x="605" y="849"/>
            <a:ext cx="669" cy="35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090" name="" r:id="rId14" imgW="342900" imgH="203200" progId="Equation.3">
                    <p:embed/>
                  </p:oleObj>
                </mc:Choice>
                <mc:Fallback>
                  <p:oleObj name="" r:id="rId14" imgW="342900" imgH="203200" progId="Equation.3">
                    <p:embed/>
                    <p:pic>
                      <p:nvPicPr>
                        <p:cNvPr id="0" name="图片 3089"/>
                        <p:cNvPicPr/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605" y="849"/>
                          <a:ext cx="669" cy="351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17426" name="Picture 24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604" y="3521"/>
              <a:ext cx="271" cy="283"/>
            </a:xfrm>
            <a:prstGeom prst="rect">
              <a:avLst/>
            </a:prstGeom>
            <a:noFill/>
            <a:ln w="9525">
              <a:noFill/>
            </a:ln>
          </p:spPr>
        </p:pic>
        <p:graphicFrame>
          <p:nvGraphicFramePr>
            <p:cNvPr id="17412" name="Object 25"/>
            <p:cNvGraphicFramePr/>
            <p:nvPr>
              <p:custDataLst>
                <p:tags r:id="rId18"/>
              </p:custDataLst>
            </p:nvPr>
          </p:nvGraphicFramePr>
          <p:xfrm>
            <a:off x="3816" y="3407"/>
            <a:ext cx="257" cy="2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091" name="" r:id="rId19" imgW="127000" imgH="139700" progId="Equation.3">
                    <p:embed/>
                  </p:oleObj>
                </mc:Choice>
                <mc:Fallback>
                  <p:oleObj name="" r:id="rId19" imgW="127000" imgH="139700" progId="Equation.3">
                    <p:embed/>
                    <p:pic>
                      <p:nvPicPr>
                        <p:cNvPr id="0" name="图片 3090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3816" y="3407"/>
                          <a:ext cx="257" cy="283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" name="Text Box 67"/>
          <p:cNvSpPr txBox="1"/>
          <p:nvPr>
            <p:custDataLst>
              <p:tags r:id="rId21"/>
            </p:custDataLst>
          </p:nvPr>
        </p:nvSpPr>
        <p:spPr>
          <a:xfrm>
            <a:off x="2268243" y="2429511"/>
            <a:ext cx="1511350" cy="9531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O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en-US" altLang="zh-CN" sz="28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>
              <a:buNone/>
            </a:pPr>
            <a:endParaRPr lang="en-US" altLang="zh-CN" sz="28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Text Box 68"/>
          <p:cNvSpPr txBox="1"/>
          <p:nvPr>
            <p:custDataLst>
              <p:tags r:id="rId22"/>
            </p:custDataLst>
          </p:nvPr>
        </p:nvSpPr>
        <p:spPr>
          <a:xfrm>
            <a:off x="3059430" y="3442335"/>
            <a:ext cx="202120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800" b="1" dirty="0">
                <a:latin typeface="Times New Roman" panose="02020603050405020304" pitchFamily="18" charset="0"/>
                <a:ea typeface="宋体" panose="02010600030101010101" pitchFamily="2" charset="-122"/>
              </a:rPr>
              <a:t>H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en-US" altLang="zh-CN" sz="28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787900" y="3068955"/>
            <a:ext cx="4572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304800"/>
            <a:r>
              <a:rPr lang="en-US" altLang="zh-CN" sz="3200" b="1" i="1"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3200" b="1" baseline="-25000">
                <a:latin typeface="Times New Roman" panose="02020603050405020304" pitchFamily="18" charset="0"/>
                <a:sym typeface="+mn-ea"/>
              </a:rPr>
              <a:t>p</a:t>
            </a:r>
            <a:r>
              <a:rPr lang="en-US" altLang="zh-CN" sz="3200" b="1">
                <a:latin typeface="Times New Roman" panose="02020603050405020304" pitchFamily="18" charset="0"/>
                <a:sym typeface="+mn-ea"/>
              </a:rPr>
              <a:t>(O</a:t>
            </a:r>
            <a:r>
              <a:rPr lang="en-US" altLang="zh-CN" sz="3200" b="1" baseline="-25000">
                <a:latin typeface="Times New Roman" panose="02020603050405020304" pitchFamily="18" charset="0"/>
                <a:sym typeface="+mn-ea"/>
              </a:rPr>
              <a:t>2</a:t>
            </a:r>
            <a:r>
              <a:rPr lang="en-US" altLang="zh-CN" sz="3200" b="1">
                <a:latin typeface="Times New Roman" panose="02020603050405020304" pitchFamily="18" charset="0"/>
                <a:sym typeface="+mn-ea"/>
              </a:rPr>
              <a:t>)/</a:t>
            </a:r>
            <a:r>
              <a:rPr lang="en-US" altLang="zh-CN" sz="3200" b="1" i="1"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3200" b="1" baseline="-25000">
                <a:latin typeface="Times New Roman" panose="02020603050405020304" pitchFamily="18" charset="0"/>
                <a:sym typeface="+mn-ea"/>
              </a:rPr>
              <a:t>p</a:t>
            </a:r>
            <a:r>
              <a:rPr lang="en-US" altLang="zh-CN" sz="3200" b="1">
                <a:latin typeface="Times New Roman" panose="02020603050405020304" pitchFamily="18" charset="0"/>
                <a:sym typeface="+mn-ea"/>
              </a:rPr>
              <a:t>(H</a:t>
            </a:r>
            <a:r>
              <a:rPr lang="en-US" altLang="zh-CN" sz="3200" b="1" baseline="-25000">
                <a:latin typeface="Times New Roman" panose="02020603050405020304" pitchFamily="18" charset="0"/>
                <a:sym typeface="+mn-ea"/>
              </a:rPr>
              <a:t>2</a:t>
            </a:r>
            <a:r>
              <a:rPr lang="en-US" altLang="zh-CN" sz="3200" b="1">
                <a:latin typeface="Times New Roman" panose="02020603050405020304" pitchFamily="18" charset="0"/>
                <a:sym typeface="+mn-ea"/>
              </a:rPr>
              <a:t>)=1/4</a:t>
            </a:r>
            <a:endParaRPr lang="en-US" altLang="zh-CN" sz="3200" b="1">
              <a:latin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  <p:bldP spid="13" grpId="0"/>
      <p:bldP spid="13" grpId="1"/>
      <p:bldP spid="3" grpId="0"/>
      <p:bldP spid="3" grpId="1"/>
    </p:bldLst>
  </p:timing>
</p:sld>
</file>

<file path=ppt/tags/tag1.xml><?xml version="1.0" encoding="utf-8"?>
<p:tagLst xmlns:p="http://schemas.openxmlformats.org/presentationml/2006/main">
  <p:tag name="AS_UNIQUEID" val="1421"/>
  <p:tag name="KSO_WM_BEAUTIFY_FLAG" val=""/>
</p:tagLst>
</file>

<file path=ppt/tags/tag2.xml><?xml version="1.0" encoding="utf-8"?>
<p:tagLst xmlns:p="http://schemas.openxmlformats.org/presentationml/2006/main">
  <p:tag name="AS_UNIQUEID" val="1422"/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PP_MARK_KEY" val="843e1d22-2888-445f-9f9c-3f4d34df5121"/>
  <p:tag name="COMMONDATA" val="eyJoZGlkIjoiM2Q2NWYzNDBhMDMyMTZjYTExN2Y4NTE1Mzg3MjkxMmUifQ=="/>
  <p:tag name="commondata" val="eyJoZGlkIjoiOTg2MGQ4N2NjYmE0YzdjYmVmZjdmMzlhODEwMjZmYTAifQ=="/>
</p:tagLst>
</file>

<file path=ppt/theme/theme1.xml><?xml version="1.0" encoding="utf-8"?>
<a:theme xmlns:a="http://schemas.openxmlformats.org/drawingml/2006/main" name="红利">
  <a:themeElements>
    <a:clrScheme name="红利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红利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832</Words>
  <Application>WPS 演示</Application>
  <PresentationFormat>全屏显示(4:3)</PresentationFormat>
  <Paragraphs>119</Paragraphs>
  <Slides>12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44</vt:i4>
      </vt:variant>
      <vt:variant>
        <vt:lpstr>幻灯片标题</vt:lpstr>
      </vt:variant>
      <vt:variant>
        <vt:i4>12</vt:i4>
      </vt:variant>
    </vt:vector>
  </HeadingPairs>
  <TitlesOfParts>
    <vt:vector size="72" baseType="lpstr">
      <vt:lpstr>Arial</vt:lpstr>
      <vt:lpstr>宋体</vt:lpstr>
      <vt:lpstr>Wingdings</vt:lpstr>
      <vt:lpstr>Gill Sans MT</vt:lpstr>
      <vt:lpstr>华文中宋</vt:lpstr>
      <vt:lpstr>Wingdings 2</vt:lpstr>
      <vt:lpstr>Symbol</vt:lpstr>
      <vt:lpstr>Wingdings</vt:lpstr>
      <vt:lpstr>Times New Roman</vt:lpstr>
      <vt:lpstr>新宋体</vt:lpstr>
      <vt:lpstr>微软雅黑</vt:lpstr>
      <vt:lpstr>Arial Unicode MS</vt:lpstr>
      <vt:lpstr>Century Schoolbook</vt:lpstr>
      <vt:lpstr>楷体_GB2312</vt:lpstr>
      <vt:lpstr>Bookman Old Style</vt:lpstr>
      <vt:lpstr>红利</vt:lpstr>
      <vt:lpstr>Equation.3</vt:lpstr>
      <vt:lpstr>Equation.3</vt:lpstr>
      <vt:lpstr>Equation.3</vt:lpstr>
      <vt:lpstr>Equation.DSMT4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Equation.DSMT4</vt:lpstr>
      <vt:lpstr>Equation.3</vt:lpstr>
      <vt:lpstr>Equation.KSEE3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Equation.3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lenovo</dc:creator>
  <cp:lastModifiedBy>清火</cp:lastModifiedBy>
  <cp:revision>217</cp:revision>
  <dcterms:created xsi:type="dcterms:W3CDTF">2003-08-23T08:09:00Z</dcterms:created>
  <dcterms:modified xsi:type="dcterms:W3CDTF">2024-06-04T13:39:35Z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mondata">
    <vt:lpwstr>eyJoZGlkIjoiM2U0NzdmMmYyYzZhZDc4ZGIwNjYzNDExOTg2MmRhMTQifQ==</vt:lpwstr>
  </property>
  <property fmtid="{D5CDD505-2E9C-101B-9397-08002B2CF9AE}" pid="3" name="ICV">
    <vt:lpwstr>1EECDDD398014CE696498AF4152D1BEB_13</vt:lpwstr>
  </property>
  <property fmtid="{D5CDD505-2E9C-101B-9397-08002B2CF9AE}" pid="4" name="KSOProductBuildVer">
    <vt:lpwstr>2052-12.1.0.16929</vt:lpwstr>
  </property>
</Properties>
</file>