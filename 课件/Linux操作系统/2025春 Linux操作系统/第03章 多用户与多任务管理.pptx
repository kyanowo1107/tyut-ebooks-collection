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1" r:id="rId1"/>
  </p:sldMasterIdLst>
  <p:notesMasterIdLst>
    <p:notesMasterId r:id="rId146"/>
  </p:notesMasterIdLst>
  <p:sldIdLst>
    <p:sldId id="516" r:id="rId2"/>
    <p:sldId id="332" r:id="rId3"/>
    <p:sldId id="541" r:id="rId4"/>
    <p:sldId id="540" r:id="rId5"/>
    <p:sldId id="337" r:id="rId6"/>
    <p:sldId id="338" r:id="rId7"/>
    <p:sldId id="339" r:id="rId8"/>
    <p:sldId id="340" r:id="rId9"/>
    <p:sldId id="341" r:id="rId10"/>
    <p:sldId id="342" r:id="rId11"/>
    <p:sldId id="343" r:id="rId12"/>
    <p:sldId id="344" r:id="rId13"/>
    <p:sldId id="517" r:id="rId14"/>
    <p:sldId id="345" r:id="rId15"/>
    <p:sldId id="518" r:id="rId16"/>
    <p:sldId id="542" r:id="rId17"/>
    <p:sldId id="346" r:id="rId18"/>
    <p:sldId id="519" r:id="rId19"/>
    <p:sldId id="347" r:id="rId20"/>
    <p:sldId id="520" r:id="rId21"/>
    <p:sldId id="521" r:id="rId22"/>
    <p:sldId id="348" r:id="rId23"/>
    <p:sldId id="543" r:id="rId24"/>
    <p:sldId id="350" r:id="rId25"/>
    <p:sldId id="351" r:id="rId26"/>
    <p:sldId id="545" r:id="rId27"/>
    <p:sldId id="369" r:id="rId28"/>
    <p:sldId id="349" r:id="rId29"/>
    <p:sldId id="522" r:id="rId30"/>
    <p:sldId id="523" r:id="rId31"/>
    <p:sldId id="544" r:id="rId32"/>
    <p:sldId id="370" r:id="rId33"/>
    <p:sldId id="352" r:id="rId34"/>
    <p:sldId id="524" r:id="rId35"/>
    <p:sldId id="362" r:id="rId36"/>
    <p:sldId id="363" r:id="rId37"/>
    <p:sldId id="364" r:id="rId38"/>
    <p:sldId id="525" r:id="rId39"/>
    <p:sldId id="547" r:id="rId40"/>
    <p:sldId id="365" r:id="rId41"/>
    <p:sldId id="354" r:id="rId42"/>
    <p:sldId id="548" r:id="rId43"/>
    <p:sldId id="355" r:id="rId44"/>
    <p:sldId id="356" r:id="rId45"/>
    <p:sldId id="357" r:id="rId46"/>
    <p:sldId id="358" r:id="rId47"/>
    <p:sldId id="361" r:id="rId48"/>
    <p:sldId id="381" r:id="rId49"/>
    <p:sldId id="527" r:id="rId50"/>
    <p:sldId id="528" r:id="rId51"/>
    <p:sldId id="529" r:id="rId52"/>
    <p:sldId id="530" r:id="rId53"/>
    <p:sldId id="531" r:id="rId54"/>
    <p:sldId id="380" r:id="rId55"/>
    <p:sldId id="373" r:id="rId56"/>
    <p:sldId id="374" r:id="rId57"/>
    <p:sldId id="375" r:id="rId58"/>
    <p:sldId id="376" r:id="rId59"/>
    <p:sldId id="378" r:id="rId60"/>
    <p:sldId id="379" r:id="rId61"/>
    <p:sldId id="462" r:id="rId62"/>
    <p:sldId id="270" r:id="rId63"/>
    <p:sldId id="526" r:id="rId64"/>
    <p:sldId id="366" r:id="rId65"/>
    <p:sldId id="367" r:id="rId66"/>
    <p:sldId id="368" r:id="rId67"/>
    <p:sldId id="382" r:id="rId68"/>
    <p:sldId id="383" r:id="rId69"/>
    <p:sldId id="395" r:id="rId70"/>
    <p:sldId id="384" r:id="rId71"/>
    <p:sldId id="396" r:id="rId72"/>
    <p:sldId id="385" r:id="rId73"/>
    <p:sldId id="386" r:id="rId74"/>
    <p:sldId id="532" r:id="rId75"/>
    <p:sldId id="553" r:id="rId76"/>
    <p:sldId id="552" r:id="rId77"/>
    <p:sldId id="387" r:id="rId78"/>
    <p:sldId id="388" r:id="rId79"/>
    <p:sldId id="389" r:id="rId80"/>
    <p:sldId id="390" r:id="rId81"/>
    <p:sldId id="391" r:id="rId82"/>
    <p:sldId id="533" r:id="rId83"/>
    <p:sldId id="392" r:id="rId84"/>
    <p:sldId id="397" r:id="rId85"/>
    <p:sldId id="398" r:id="rId86"/>
    <p:sldId id="534" r:id="rId87"/>
    <p:sldId id="399" r:id="rId88"/>
    <p:sldId id="400" r:id="rId89"/>
    <p:sldId id="404" r:id="rId90"/>
    <p:sldId id="401" r:id="rId91"/>
    <p:sldId id="402" r:id="rId92"/>
    <p:sldId id="393" r:id="rId93"/>
    <p:sldId id="405" r:id="rId94"/>
    <p:sldId id="409" r:id="rId95"/>
    <p:sldId id="410" r:id="rId96"/>
    <p:sldId id="406" r:id="rId97"/>
    <p:sldId id="407" r:id="rId98"/>
    <p:sldId id="408" r:id="rId99"/>
    <p:sldId id="394" r:id="rId100"/>
    <p:sldId id="555" r:id="rId101"/>
    <p:sldId id="412" r:id="rId102"/>
    <p:sldId id="413" r:id="rId103"/>
    <p:sldId id="415" r:id="rId104"/>
    <p:sldId id="416" r:id="rId105"/>
    <p:sldId id="417" r:id="rId106"/>
    <p:sldId id="414" r:id="rId107"/>
    <p:sldId id="538" r:id="rId108"/>
    <p:sldId id="556" r:id="rId109"/>
    <p:sldId id="535" r:id="rId110"/>
    <p:sldId id="536" r:id="rId111"/>
    <p:sldId id="551" r:id="rId112"/>
    <p:sldId id="557" r:id="rId113"/>
    <p:sldId id="419" r:id="rId114"/>
    <p:sldId id="537" r:id="rId115"/>
    <p:sldId id="420" r:id="rId116"/>
    <p:sldId id="421" r:id="rId117"/>
    <p:sldId id="422" r:id="rId118"/>
    <p:sldId id="423" r:id="rId119"/>
    <p:sldId id="424" r:id="rId120"/>
    <p:sldId id="554" r:id="rId121"/>
    <p:sldId id="425" r:id="rId122"/>
    <p:sldId id="426" r:id="rId123"/>
    <p:sldId id="427" r:id="rId124"/>
    <p:sldId id="428" r:id="rId125"/>
    <p:sldId id="431" r:id="rId126"/>
    <p:sldId id="549" r:id="rId127"/>
    <p:sldId id="432" r:id="rId128"/>
    <p:sldId id="433" r:id="rId129"/>
    <p:sldId id="434" r:id="rId130"/>
    <p:sldId id="435" r:id="rId131"/>
    <p:sldId id="436" r:id="rId132"/>
    <p:sldId id="437" r:id="rId133"/>
    <p:sldId id="438" r:id="rId134"/>
    <p:sldId id="439" r:id="rId135"/>
    <p:sldId id="539" r:id="rId136"/>
    <p:sldId id="440" r:id="rId137"/>
    <p:sldId id="441" r:id="rId138"/>
    <p:sldId id="442" r:id="rId139"/>
    <p:sldId id="443" r:id="rId140"/>
    <p:sldId id="550" r:id="rId141"/>
    <p:sldId id="444" r:id="rId142"/>
    <p:sldId id="445" r:id="rId143"/>
    <p:sldId id="446" r:id="rId144"/>
    <p:sldId id="447" r:id="rId145"/>
  </p:sldIdLst>
  <p:sldSz cx="9144000" cy="6858000" type="screen4x3"/>
  <p:notesSz cx="7099300" cy="10234613"/>
  <p:defaultTextStyle>
    <a:defPPr>
      <a:defRPr lang="zh-CN"/>
    </a:defPPr>
    <a:lvl1pPr algn="l" rtl="0" fontAlgn="base">
      <a:spcBef>
        <a:spcPct val="0"/>
      </a:spcBef>
      <a:spcAft>
        <a:spcPct val="0"/>
      </a:spcAft>
      <a:defRPr kern="1200">
        <a:solidFill>
          <a:schemeClr val="tx1"/>
        </a:solidFill>
        <a:latin typeface="Arial" charset="0"/>
        <a:ea typeface="宋体" charset="-122"/>
        <a:cs typeface="+mn-cs"/>
      </a:defRPr>
    </a:lvl1pPr>
    <a:lvl2pPr marL="457200" algn="l" rtl="0" fontAlgn="base">
      <a:spcBef>
        <a:spcPct val="0"/>
      </a:spcBef>
      <a:spcAft>
        <a:spcPct val="0"/>
      </a:spcAft>
      <a:defRPr kern="1200">
        <a:solidFill>
          <a:schemeClr val="tx1"/>
        </a:solidFill>
        <a:latin typeface="Arial" charset="0"/>
        <a:ea typeface="宋体" charset="-122"/>
        <a:cs typeface="+mn-cs"/>
      </a:defRPr>
    </a:lvl2pPr>
    <a:lvl3pPr marL="914400" algn="l" rtl="0" fontAlgn="base">
      <a:spcBef>
        <a:spcPct val="0"/>
      </a:spcBef>
      <a:spcAft>
        <a:spcPct val="0"/>
      </a:spcAft>
      <a:defRPr kern="1200">
        <a:solidFill>
          <a:schemeClr val="tx1"/>
        </a:solidFill>
        <a:latin typeface="Arial" charset="0"/>
        <a:ea typeface="宋体" charset="-122"/>
        <a:cs typeface="+mn-cs"/>
      </a:defRPr>
    </a:lvl3pPr>
    <a:lvl4pPr marL="1371600" algn="l" rtl="0" fontAlgn="base">
      <a:spcBef>
        <a:spcPct val="0"/>
      </a:spcBef>
      <a:spcAft>
        <a:spcPct val="0"/>
      </a:spcAft>
      <a:defRPr kern="1200">
        <a:solidFill>
          <a:schemeClr val="tx1"/>
        </a:solidFill>
        <a:latin typeface="Arial" charset="0"/>
        <a:ea typeface="宋体" charset="-122"/>
        <a:cs typeface="+mn-cs"/>
      </a:defRPr>
    </a:lvl4pPr>
    <a:lvl5pPr marL="1828800" algn="l" rtl="0" fontAlgn="base">
      <a:spcBef>
        <a:spcPct val="0"/>
      </a:spcBef>
      <a:spcAft>
        <a:spcPct val="0"/>
      </a:spcAft>
      <a:defRPr kern="1200">
        <a:solidFill>
          <a:schemeClr val="tx1"/>
        </a:solidFill>
        <a:latin typeface="Arial" charset="0"/>
        <a:ea typeface="宋体" charset="-122"/>
        <a:cs typeface="+mn-cs"/>
      </a:defRPr>
    </a:lvl5pPr>
    <a:lvl6pPr marL="2286000" algn="l" defTabSz="914400" rtl="0" eaLnBrk="1" latinLnBrk="0" hangingPunct="1">
      <a:defRPr kern="1200">
        <a:solidFill>
          <a:schemeClr val="tx1"/>
        </a:solidFill>
        <a:latin typeface="Arial" charset="0"/>
        <a:ea typeface="宋体" charset="-122"/>
        <a:cs typeface="+mn-cs"/>
      </a:defRPr>
    </a:lvl6pPr>
    <a:lvl7pPr marL="2743200" algn="l" defTabSz="914400" rtl="0" eaLnBrk="1" latinLnBrk="0" hangingPunct="1">
      <a:defRPr kern="1200">
        <a:solidFill>
          <a:schemeClr val="tx1"/>
        </a:solidFill>
        <a:latin typeface="Arial" charset="0"/>
        <a:ea typeface="宋体" charset="-122"/>
        <a:cs typeface="+mn-cs"/>
      </a:defRPr>
    </a:lvl7pPr>
    <a:lvl8pPr marL="3200400" algn="l" defTabSz="914400" rtl="0" eaLnBrk="1" latinLnBrk="0" hangingPunct="1">
      <a:defRPr kern="1200">
        <a:solidFill>
          <a:schemeClr val="tx1"/>
        </a:solidFill>
        <a:latin typeface="Arial" charset="0"/>
        <a:ea typeface="宋体" charset="-122"/>
        <a:cs typeface="+mn-cs"/>
      </a:defRPr>
    </a:lvl8pPr>
    <a:lvl9pPr marL="3657600" algn="l" defTabSz="914400" rtl="0" eaLnBrk="1" latinLnBrk="0" hangingPunct="1">
      <a:defRPr kern="1200">
        <a:solidFill>
          <a:schemeClr val="tx1"/>
        </a:solidFill>
        <a:latin typeface="Arial" charset="0"/>
        <a:ea typeface="宋体" charset="-122"/>
        <a:cs typeface="+mn-cs"/>
      </a:defRPr>
    </a:lvl9pPr>
  </p:defaultTextStyle>
  <p:extLst>
    <p:ext uri="{EFAFB233-063F-42B5-8137-9DF3F51BA10A}">
      <p15:sldGuideLst xmlns:p15="http://schemas.microsoft.com/office/powerpoint/2012/main">
        <p15:guide id="1" orient="horz" pos="3793" userDrawn="1">
          <p15:clr>
            <a:srgbClr val="A4A3A4"/>
          </p15:clr>
        </p15:guide>
        <p15:guide id="2" pos="2880">
          <p15:clr>
            <a:srgbClr val="A4A3A4"/>
          </p15:clr>
        </p15:guide>
      </p15:sldGuideLst>
    </p:ext>
    <p:ext uri="{2D200454-40CA-4A62-9FC3-DE9A4176ACB9}">
      <p15:notesGuideLst xmlns:p15="http://schemas.microsoft.com/office/powerpoint/2012/main">
        <p15:guide id="1" orient="horz" pos="3224" userDrawn="1">
          <p15:clr>
            <a:srgbClr val="A4A3A4"/>
          </p15:clr>
        </p15:guide>
        <p15:guide id="2" pos="2236"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0000"/>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84E427A-3D55-4303-BF80-6455036E1DE7}" styleName="主题样式 1 - 强调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16D9F66E-5EB9-4882-86FB-DCBF35E3C3E4}" styleName="中度样式 4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11" autoAdjust="0"/>
    <p:restoredTop sz="75643" autoAdjust="0"/>
  </p:normalViewPr>
  <p:slideViewPr>
    <p:cSldViewPr>
      <p:cViewPr varScale="1">
        <p:scale>
          <a:sx n="80" d="100"/>
          <a:sy n="80" d="100"/>
        </p:scale>
        <p:origin x="2406" y="90"/>
      </p:cViewPr>
      <p:guideLst>
        <p:guide orient="horz" pos="3793"/>
        <p:guide pos="2880"/>
      </p:guideLst>
    </p:cSldViewPr>
  </p:slideViewPr>
  <p:notesTextViewPr>
    <p:cViewPr>
      <p:scale>
        <a:sx n="100" d="100"/>
        <a:sy n="100" d="100"/>
      </p:scale>
      <p:origin x="0" y="0"/>
    </p:cViewPr>
  </p:notesTextViewPr>
  <p:sorterViewPr>
    <p:cViewPr>
      <p:scale>
        <a:sx n="66" d="100"/>
        <a:sy n="66" d="100"/>
      </p:scale>
      <p:origin x="0" y="0"/>
    </p:cViewPr>
  </p:sorterViewPr>
  <p:notesViewPr>
    <p:cSldViewPr>
      <p:cViewPr varScale="1">
        <p:scale>
          <a:sx n="58" d="100"/>
          <a:sy n="58" d="100"/>
        </p:scale>
        <p:origin x="-2532" y="-78"/>
      </p:cViewPr>
      <p:guideLst>
        <p:guide orient="horz" pos="3224"/>
        <p:guide pos="2236"/>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theme" Target="theme/theme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3A8CFF7-15A2-4EEC-B7BB-1BED82E3AC43}" type="doc">
      <dgm:prSet loTypeId="urn:microsoft.com/office/officeart/2005/8/layout/hProcess9" loCatId="process" qsTypeId="urn:microsoft.com/office/officeart/2005/8/quickstyle/simple1" qsCatId="simple" csTypeId="urn:microsoft.com/office/officeart/2005/8/colors/accent0_3" csCatId="mainScheme" phldr="1"/>
      <dgm:spPr/>
    </dgm:pt>
    <dgm:pt modelId="{C7C0BF61-D942-411E-9197-E14B7F56F2F2}">
      <dgm:prSet phldrT="[文本]"/>
      <dgm:spPr/>
      <dgm:t>
        <a:bodyPr/>
        <a:lstStyle/>
        <a:p>
          <a:r>
            <a:rPr lang="en-US" altLang="zh-CN" dirty="0" err="1" smtClean="0"/>
            <a:t>Systemd</a:t>
          </a:r>
          <a:r>
            <a:rPr lang="zh-CN" altLang="en-US" dirty="0" smtClean="0"/>
            <a:t>进程</a:t>
          </a:r>
          <a:endParaRPr lang="zh-CN" altLang="en-US" dirty="0"/>
        </a:p>
      </dgm:t>
    </dgm:pt>
    <dgm:pt modelId="{874BE1DF-D42A-46BE-B239-7B467E6DB79F}" type="parTrans" cxnId="{FE341B29-F1AD-47EE-A2CF-DA40C99B3ED8}">
      <dgm:prSet/>
      <dgm:spPr/>
      <dgm:t>
        <a:bodyPr/>
        <a:lstStyle/>
        <a:p>
          <a:endParaRPr lang="zh-CN" altLang="en-US"/>
        </a:p>
      </dgm:t>
    </dgm:pt>
    <dgm:pt modelId="{33555076-18F9-436D-B0AD-5909ECDBE328}" type="sibTrans" cxnId="{FE341B29-F1AD-47EE-A2CF-DA40C99B3ED8}">
      <dgm:prSet/>
      <dgm:spPr/>
      <dgm:t>
        <a:bodyPr/>
        <a:lstStyle/>
        <a:p>
          <a:endParaRPr lang="zh-CN" altLang="en-US"/>
        </a:p>
      </dgm:t>
    </dgm:pt>
    <dgm:pt modelId="{A8DB0F9D-65A9-4F40-B508-373C28C71BF6}">
      <dgm:prSet/>
      <dgm:spPr/>
      <dgm:t>
        <a:bodyPr/>
        <a:lstStyle/>
        <a:p>
          <a:r>
            <a:rPr lang="en-US" altLang="zh-CN" smtClean="0"/>
            <a:t>Login</a:t>
          </a:r>
          <a:r>
            <a:rPr lang="zh-CN" altLang="en-US" smtClean="0"/>
            <a:t>进程</a:t>
          </a:r>
          <a:endParaRPr lang="en-US" altLang="zh-CN" dirty="0" smtClean="0"/>
        </a:p>
      </dgm:t>
    </dgm:pt>
    <dgm:pt modelId="{440818E8-45ED-4F0F-BC17-45E568BF4B8C}" type="parTrans" cxnId="{BCF7EDB3-8CB2-47F4-B65B-9887234C4DCD}">
      <dgm:prSet/>
      <dgm:spPr/>
      <dgm:t>
        <a:bodyPr/>
        <a:lstStyle/>
        <a:p>
          <a:endParaRPr lang="zh-CN" altLang="en-US"/>
        </a:p>
      </dgm:t>
    </dgm:pt>
    <dgm:pt modelId="{17E7D5B5-9710-45B2-8745-78A75BBAC5C6}" type="sibTrans" cxnId="{BCF7EDB3-8CB2-47F4-B65B-9887234C4DCD}">
      <dgm:prSet/>
      <dgm:spPr/>
      <dgm:t>
        <a:bodyPr/>
        <a:lstStyle/>
        <a:p>
          <a:endParaRPr lang="zh-CN" altLang="en-US"/>
        </a:p>
      </dgm:t>
    </dgm:pt>
    <dgm:pt modelId="{FCCDCF0F-AEBA-4CB1-BF6F-7A503DA91923}">
      <dgm:prSet/>
      <dgm:spPr/>
      <dgm:t>
        <a:bodyPr/>
        <a:lstStyle/>
        <a:p>
          <a:r>
            <a:rPr lang="en-US" altLang="zh-CN" smtClean="0"/>
            <a:t>Shell</a:t>
          </a:r>
          <a:r>
            <a:rPr lang="zh-CN" altLang="en-US" smtClean="0"/>
            <a:t>进程</a:t>
          </a:r>
          <a:endParaRPr lang="en-US" altLang="zh-CN" dirty="0" smtClean="0"/>
        </a:p>
      </dgm:t>
    </dgm:pt>
    <dgm:pt modelId="{11100F27-EDF2-4F4B-9687-F852516263B1}" type="parTrans" cxnId="{7DD19B02-6804-470D-A933-82BC8C548770}">
      <dgm:prSet/>
      <dgm:spPr/>
      <dgm:t>
        <a:bodyPr/>
        <a:lstStyle/>
        <a:p>
          <a:endParaRPr lang="zh-CN" altLang="en-US"/>
        </a:p>
      </dgm:t>
    </dgm:pt>
    <dgm:pt modelId="{D8364E71-A2F6-424D-B279-9D0F562650D8}" type="sibTrans" cxnId="{7DD19B02-6804-470D-A933-82BC8C548770}">
      <dgm:prSet/>
      <dgm:spPr/>
      <dgm:t>
        <a:bodyPr/>
        <a:lstStyle/>
        <a:p>
          <a:endParaRPr lang="zh-CN" altLang="en-US"/>
        </a:p>
      </dgm:t>
    </dgm:pt>
    <dgm:pt modelId="{4960A3E3-34E5-49E4-BB04-866D89325C0E}">
      <dgm:prSet/>
      <dgm:spPr/>
      <dgm:t>
        <a:bodyPr/>
        <a:lstStyle/>
        <a:p>
          <a:r>
            <a:rPr lang="en-US" altLang="zh-CN" smtClean="0"/>
            <a:t>…</a:t>
          </a:r>
          <a:endParaRPr lang="en-US" altLang="zh-CN" dirty="0" smtClean="0"/>
        </a:p>
      </dgm:t>
    </dgm:pt>
    <dgm:pt modelId="{DE3C047C-AC37-4CAA-A6C8-5A18D332742A}" type="parTrans" cxnId="{9B18E5AF-570C-4BA7-99CA-D6ACD03A0F80}">
      <dgm:prSet/>
      <dgm:spPr/>
      <dgm:t>
        <a:bodyPr/>
        <a:lstStyle/>
        <a:p>
          <a:endParaRPr lang="zh-CN" altLang="en-US"/>
        </a:p>
      </dgm:t>
    </dgm:pt>
    <dgm:pt modelId="{5EDF4E6F-255E-4EB5-B9B7-ED0774A4365B}" type="sibTrans" cxnId="{9B18E5AF-570C-4BA7-99CA-D6ACD03A0F80}">
      <dgm:prSet/>
      <dgm:spPr/>
      <dgm:t>
        <a:bodyPr/>
        <a:lstStyle/>
        <a:p>
          <a:endParaRPr lang="zh-CN" altLang="en-US"/>
        </a:p>
      </dgm:t>
    </dgm:pt>
    <dgm:pt modelId="{429A13F9-AC79-4AC8-9B19-A98CA8A9D555}" type="pres">
      <dgm:prSet presAssocID="{83A8CFF7-15A2-4EEC-B7BB-1BED82E3AC43}" presName="CompostProcess" presStyleCnt="0">
        <dgm:presLayoutVars>
          <dgm:dir/>
          <dgm:resizeHandles val="exact"/>
        </dgm:presLayoutVars>
      </dgm:prSet>
      <dgm:spPr/>
    </dgm:pt>
    <dgm:pt modelId="{CBE47DB4-F372-43B8-8DAB-DCA58FE6390B}" type="pres">
      <dgm:prSet presAssocID="{83A8CFF7-15A2-4EEC-B7BB-1BED82E3AC43}" presName="arrow" presStyleLbl="bgShp" presStyleIdx="0" presStyleCnt="1"/>
      <dgm:spPr/>
    </dgm:pt>
    <dgm:pt modelId="{091B6C35-ED8B-4C1B-9ABF-9B7DDE8D775B}" type="pres">
      <dgm:prSet presAssocID="{83A8CFF7-15A2-4EEC-B7BB-1BED82E3AC43}" presName="linearProcess" presStyleCnt="0"/>
      <dgm:spPr/>
    </dgm:pt>
    <dgm:pt modelId="{9E5F414D-92C2-459D-A228-E3E38A9EEE3C}" type="pres">
      <dgm:prSet presAssocID="{C7C0BF61-D942-411E-9197-E14B7F56F2F2}" presName="textNode" presStyleLbl="node1" presStyleIdx="0" presStyleCnt="4">
        <dgm:presLayoutVars>
          <dgm:bulletEnabled val="1"/>
        </dgm:presLayoutVars>
      </dgm:prSet>
      <dgm:spPr/>
      <dgm:t>
        <a:bodyPr/>
        <a:lstStyle/>
        <a:p>
          <a:endParaRPr lang="zh-CN" altLang="en-US"/>
        </a:p>
      </dgm:t>
    </dgm:pt>
    <dgm:pt modelId="{F31CBA64-49D9-4E52-9C36-570D73F5873E}" type="pres">
      <dgm:prSet presAssocID="{33555076-18F9-436D-B0AD-5909ECDBE328}" presName="sibTrans" presStyleCnt="0"/>
      <dgm:spPr/>
    </dgm:pt>
    <dgm:pt modelId="{C9810203-3ADF-47EC-B8D9-EAECCE84C36D}" type="pres">
      <dgm:prSet presAssocID="{A8DB0F9D-65A9-4F40-B508-373C28C71BF6}" presName="textNode" presStyleLbl="node1" presStyleIdx="1" presStyleCnt="4">
        <dgm:presLayoutVars>
          <dgm:bulletEnabled val="1"/>
        </dgm:presLayoutVars>
      </dgm:prSet>
      <dgm:spPr/>
      <dgm:t>
        <a:bodyPr/>
        <a:lstStyle/>
        <a:p>
          <a:endParaRPr lang="zh-CN" altLang="en-US"/>
        </a:p>
      </dgm:t>
    </dgm:pt>
    <dgm:pt modelId="{8DEEC1A7-69FE-4351-A6B3-59D3090DEACB}" type="pres">
      <dgm:prSet presAssocID="{17E7D5B5-9710-45B2-8745-78A75BBAC5C6}" presName="sibTrans" presStyleCnt="0"/>
      <dgm:spPr/>
    </dgm:pt>
    <dgm:pt modelId="{7105B831-81AB-4C3D-9C31-D355DB8ED755}" type="pres">
      <dgm:prSet presAssocID="{FCCDCF0F-AEBA-4CB1-BF6F-7A503DA91923}" presName="textNode" presStyleLbl="node1" presStyleIdx="2" presStyleCnt="4">
        <dgm:presLayoutVars>
          <dgm:bulletEnabled val="1"/>
        </dgm:presLayoutVars>
      </dgm:prSet>
      <dgm:spPr/>
      <dgm:t>
        <a:bodyPr/>
        <a:lstStyle/>
        <a:p>
          <a:endParaRPr lang="zh-CN" altLang="en-US"/>
        </a:p>
      </dgm:t>
    </dgm:pt>
    <dgm:pt modelId="{D899DAF3-957C-4054-BC76-8E9D29171920}" type="pres">
      <dgm:prSet presAssocID="{D8364E71-A2F6-424D-B279-9D0F562650D8}" presName="sibTrans" presStyleCnt="0"/>
      <dgm:spPr/>
    </dgm:pt>
    <dgm:pt modelId="{13D64328-F228-4191-8402-C0CA380FF6C3}" type="pres">
      <dgm:prSet presAssocID="{4960A3E3-34E5-49E4-BB04-866D89325C0E}" presName="textNode" presStyleLbl="node1" presStyleIdx="3" presStyleCnt="4">
        <dgm:presLayoutVars>
          <dgm:bulletEnabled val="1"/>
        </dgm:presLayoutVars>
      </dgm:prSet>
      <dgm:spPr/>
      <dgm:t>
        <a:bodyPr/>
        <a:lstStyle/>
        <a:p>
          <a:endParaRPr lang="zh-CN" altLang="en-US"/>
        </a:p>
      </dgm:t>
    </dgm:pt>
  </dgm:ptLst>
  <dgm:cxnLst>
    <dgm:cxn modelId="{7DD19B02-6804-470D-A933-82BC8C548770}" srcId="{83A8CFF7-15A2-4EEC-B7BB-1BED82E3AC43}" destId="{FCCDCF0F-AEBA-4CB1-BF6F-7A503DA91923}" srcOrd="2" destOrd="0" parTransId="{11100F27-EDF2-4F4B-9687-F852516263B1}" sibTransId="{D8364E71-A2F6-424D-B279-9D0F562650D8}"/>
    <dgm:cxn modelId="{BCF7EDB3-8CB2-47F4-B65B-9887234C4DCD}" srcId="{83A8CFF7-15A2-4EEC-B7BB-1BED82E3AC43}" destId="{A8DB0F9D-65A9-4F40-B508-373C28C71BF6}" srcOrd="1" destOrd="0" parTransId="{440818E8-45ED-4F0F-BC17-45E568BF4B8C}" sibTransId="{17E7D5B5-9710-45B2-8745-78A75BBAC5C6}"/>
    <dgm:cxn modelId="{009DE206-5FDA-4715-836D-73C5520A97CB}" type="presOf" srcId="{83A8CFF7-15A2-4EEC-B7BB-1BED82E3AC43}" destId="{429A13F9-AC79-4AC8-9B19-A98CA8A9D555}" srcOrd="0" destOrd="0" presId="urn:microsoft.com/office/officeart/2005/8/layout/hProcess9"/>
    <dgm:cxn modelId="{FE341B29-F1AD-47EE-A2CF-DA40C99B3ED8}" srcId="{83A8CFF7-15A2-4EEC-B7BB-1BED82E3AC43}" destId="{C7C0BF61-D942-411E-9197-E14B7F56F2F2}" srcOrd="0" destOrd="0" parTransId="{874BE1DF-D42A-46BE-B239-7B467E6DB79F}" sibTransId="{33555076-18F9-436D-B0AD-5909ECDBE328}"/>
    <dgm:cxn modelId="{CE5016DF-4C04-4292-A9E0-EC6A287F626D}" type="presOf" srcId="{FCCDCF0F-AEBA-4CB1-BF6F-7A503DA91923}" destId="{7105B831-81AB-4C3D-9C31-D355DB8ED755}" srcOrd="0" destOrd="0" presId="urn:microsoft.com/office/officeart/2005/8/layout/hProcess9"/>
    <dgm:cxn modelId="{3742EA92-5217-426A-8B42-42EFF2112CDB}" type="presOf" srcId="{4960A3E3-34E5-49E4-BB04-866D89325C0E}" destId="{13D64328-F228-4191-8402-C0CA380FF6C3}" srcOrd="0" destOrd="0" presId="urn:microsoft.com/office/officeart/2005/8/layout/hProcess9"/>
    <dgm:cxn modelId="{439FF5F4-62F7-4D40-A45E-77935C6CE0E3}" type="presOf" srcId="{C7C0BF61-D942-411E-9197-E14B7F56F2F2}" destId="{9E5F414D-92C2-459D-A228-E3E38A9EEE3C}" srcOrd="0" destOrd="0" presId="urn:microsoft.com/office/officeart/2005/8/layout/hProcess9"/>
    <dgm:cxn modelId="{9B18E5AF-570C-4BA7-99CA-D6ACD03A0F80}" srcId="{83A8CFF7-15A2-4EEC-B7BB-1BED82E3AC43}" destId="{4960A3E3-34E5-49E4-BB04-866D89325C0E}" srcOrd="3" destOrd="0" parTransId="{DE3C047C-AC37-4CAA-A6C8-5A18D332742A}" sibTransId="{5EDF4E6F-255E-4EB5-B9B7-ED0774A4365B}"/>
    <dgm:cxn modelId="{29C37881-D6C3-408D-8A1C-BD73CD2E695C}" type="presOf" srcId="{A8DB0F9D-65A9-4F40-B508-373C28C71BF6}" destId="{C9810203-3ADF-47EC-B8D9-EAECCE84C36D}" srcOrd="0" destOrd="0" presId="urn:microsoft.com/office/officeart/2005/8/layout/hProcess9"/>
    <dgm:cxn modelId="{BFF9EDB3-B4C7-4CD0-9E74-1370DA985BEE}" type="presParOf" srcId="{429A13F9-AC79-4AC8-9B19-A98CA8A9D555}" destId="{CBE47DB4-F372-43B8-8DAB-DCA58FE6390B}" srcOrd="0" destOrd="0" presId="urn:microsoft.com/office/officeart/2005/8/layout/hProcess9"/>
    <dgm:cxn modelId="{97BFF00F-E918-4055-80DC-C8550C339867}" type="presParOf" srcId="{429A13F9-AC79-4AC8-9B19-A98CA8A9D555}" destId="{091B6C35-ED8B-4C1B-9ABF-9B7DDE8D775B}" srcOrd="1" destOrd="0" presId="urn:microsoft.com/office/officeart/2005/8/layout/hProcess9"/>
    <dgm:cxn modelId="{9FB3FB14-58E6-4947-854A-192A7289BBC5}" type="presParOf" srcId="{091B6C35-ED8B-4C1B-9ABF-9B7DDE8D775B}" destId="{9E5F414D-92C2-459D-A228-E3E38A9EEE3C}" srcOrd="0" destOrd="0" presId="urn:microsoft.com/office/officeart/2005/8/layout/hProcess9"/>
    <dgm:cxn modelId="{6732CACB-5AE4-4EBE-BDAB-0005118DCB48}" type="presParOf" srcId="{091B6C35-ED8B-4C1B-9ABF-9B7DDE8D775B}" destId="{F31CBA64-49D9-4E52-9C36-570D73F5873E}" srcOrd="1" destOrd="0" presId="urn:microsoft.com/office/officeart/2005/8/layout/hProcess9"/>
    <dgm:cxn modelId="{2A1C642C-9B1C-4748-975F-57D4F3BA94EF}" type="presParOf" srcId="{091B6C35-ED8B-4C1B-9ABF-9B7DDE8D775B}" destId="{C9810203-3ADF-47EC-B8D9-EAECCE84C36D}" srcOrd="2" destOrd="0" presId="urn:microsoft.com/office/officeart/2005/8/layout/hProcess9"/>
    <dgm:cxn modelId="{ABD5DE8D-75EA-4BF7-9C30-961187F65BAC}" type="presParOf" srcId="{091B6C35-ED8B-4C1B-9ABF-9B7DDE8D775B}" destId="{8DEEC1A7-69FE-4351-A6B3-59D3090DEACB}" srcOrd="3" destOrd="0" presId="urn:microsoft.com/office/officeart/2005/8/layout/hProcess9"/>
    <dgm:cxn modelId="{1ACA21BF-FAD5-49F5-A7C1-D8E3408A51C3}" type="presParOf" srcId="{091B6C35-ED8B-4C1B-9ABF-9B7DDE8D775B}" destId="{7105B831-81AB-4C3D-9C31-D355DB8ED755}" srcOrd="4" destOrd="0" presId="urn:microsoft.com/office/officeart/2005/8/layout/hProcess9"/>
    <dgm:cxn modelId="{8C72A4F5-16AD-4FEC-8D07-CD80E7A5379F}" type="presParOf" srcId="{091B6C35-ED8B-4C1B-9ABF-9B7DDE8D775B}" destId="{D899DAF3-957C-4054-BC76-8E9D29171920}" srcOrd="5" destOrd="0" presId="urn:microsoft.com/office/officeart/2005/8/layout/hProcess9"/>
    <dgm:cxn modelId="{973892F5-BA1E-4599-B148-9E522C2B6434}" type="presParOf" srcId="{091B6C35-ED8B-4C1B-9ABF-9B7DDE8D775B}" destId="{13D64328-F228-4191-8402-C0CA380FF6C3}" srcOrd="6"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BE47DB4-F372-43B8-8DAB-DCA58FE6390B}">
      <dsp:nvSpPr>
        <dsp:cNvPr id="0" name=""/>
        <dsp:cNvSpPr/>
      </dsp:nvSpPr>
      <dsp:spPr>
        <a:xfrm>
          <a:off x="457199" y="0"/>
          <a:ext cx="5181600" cy="4064000"/>
        </a:xfrm>
        <a:prstGeom prst="rightArrow">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5F414D-92C2-459D-A228-E3E38A9EEE3C}">
      <dsp:nvSpPr>
        <dsp:cNvPr id="0" name=""/>
        <dsp:cNvSpPr/>
      </dsp:nvSpPr>
      <dsp:spPr>
        <a:xfrm>
          <a:off x="3590" y="1219199"/>
          <a:ext cx="1460701" cy="162560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lvl="0" algn="ctr" defTabSz="1022350">
            <a:lnSpc>
              <a:spcPct val="90000"/>
            </a:lnSpc>
            <a:spcBef>
              <a:spcPct val="0"/>
            </a:spcBef>
            <a:spcAft>
              <a:spcPct val="35000"/>
            </a:spcAft>
          </a:pPr>
          <a:r>
            <a:rPr lang="en-US" altLang="zh-CN" sz="2300" kern="1200" dirty="0" err="1" smtClean="0"/>
            <a:t>Systemd</a:t>
          </a:r>
          <a:r>
            <a:rPr lang="zh-CN" altLang="en-US" sz="2300" kern="1200" dirty="0" smtClean="0"/>
            <a:t>进程</a:t>
          </a:r>
          <a:endParaRPr lang="zh-CN" altLang="en-US" sz="2300" kern="1200" dirty="0"/>
        </a:p>
      </dsp:txBody>
      <dsp:txXfrm>
        <a:off x="74896" y="1290505"/>
        <a:ext cx="1318089" cy="1482988"/>
      </dsp:txXfrm>
    </dsp:sp>
    <dsp:sp modelId="{C9810203-3ADF-47EC-B8D9-EAECCE84C36D}">
      <dsp:nvSpPr>
        <dsp:cNvPr id="0" name=""/>
        <dsp:cNvSpPr/>
      </dsp:nvSpPr>
      <dsp:spPr>
        <a:xfrm>
          <a:off x="1546296" y="1219199"/>
          <a:ext cx="1460701" cy="162560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lvl="0" algn="ctr" defTabSz="1022350">
            <a:lnSpc>
              <a:spcPct val="90000"/>
            </a:lnSpc>
            <a:spcBef>
              <a:spcPct val="0"/>
            </a:spcBef>
            <a:spcAft>
              <a:spcPct val="35000"/>
            </a:spcAft>
          </a:pPr>
          <a:r>
            <a:rPr lang="en-US" altLang="zh-CN" sz="2300" kern="1200" smtClean="0"/>
            <a:t>Login</a:t>
          </a:r>
          <a:r>
            <a:rPr lang="zh-CN" altLang="en-US" sz="2300" kern="1200" smtClean="0"/>
            <a:t>进程</a:t>
          </a:r>
          <a:endParaRPr lang="en-US" altLang="zh-CN" sz="2300" kern="1200" dirty="0" smtClean="0"/>
        </a:p>
      </dsp:txBody>
      <dsp:txXfrm>
        <a:off x="1617602" y="1290505"/>
        <a:ext cx="1318089" cy="1482988"/>
      </dsp:txXfrm>
    </dsp:sp>
    <dsp:sp modelId="{7105B831-81AB-4C3D-9C31-D355DB8ED755}">
      <dsp:nvSpPr>
        <dsp:cNvPr id="0" name=""/>
        <dsp:cNvSpPr/>
      </dsp:nvSpPr>
      <dsp:spPr>
        <a:xfrm>
          <a:off x="3089002" y="1219199"/>
          <a:ext cx="1460701" cy="162560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lvl="0" algn="ctr" defTabSz="1022350">
            <a:lnSpc>
              <a:spcPct val="90000"/>
            </a:lnSpc>
            <a:spcBef>
              <a:spcPct val="0"/>
            </a:spcBef>
            <a:spcAft>
              <a:spcPct val="35000"/>
            </a:spcAft>
          </a:pPr>
          <a:r>
            <a:rPr lang="en-US" altLang="zh-CN" sz="2300" kern="1200" smtClean="0"/>
            <a:t>Shell</a:t>
          </a:r>
          <a:r>
            <a:rPr lang="zh-CN" altLang="en-US" sz="2300" kern="1200" smtClean="0"/>
            <a:t>进程</a:t>
          </a:r>
          <a:endParaRPr lang="en-US" altLang="zh-CN" sz="2300" kern="1200" dirty="0" smtClean="0"/>
        </a:p>
      </dsp:txBody>
      <dsp:txXfrm>
        <a:off x="3160308" y="1290505"/>
        <a:ext cx="1318089" cy="1482988"/>
      </dsp:txXfrm>
    </dsp:sp>
    <dsp:sp modelId="{13D64328-F228-4191-8402-C0CA380FF6C3}">
      <dsp:nvSpPr>
        <dsp:cNvPr id="0" name=""/>
        <dsp:cNvSpPr/>
      </dsp:nvSpPr>
      <dsp:spPr>
        <a:xfrm>
          <a:off x="4631707" y="1219199"/>
          <a:ext cx="1460701" cy="162560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lvl="0" algn="ctr" defTabSz="1022350">
            <a:lnSpc>
              <a:spcPct val="90000"/>
            </a:lnSpc>
            <a:spcBef>
              <a:spcPct val="0"/>
            </a:spcBef>
            <a:spcAft>
              <a:spcPct val="35000"/>
            </a:spcAft>
          </a:pPr>
          <a:r>
            <a:rPr lang="en-US" altLang="zh-CN" sz="2300" kern="1200" smtClean="0"/>
            <a:t>…</a:t>
          </a:r>
          <a:endParaRPr lang="en-US" altLang="zh-CN" sz="2300" kern="1200" dirty="0" smtClean="0"/>
        </a:p>
      </dsp:txBody>
      <dsp:txXfrm>
        <a:off x="4703013" y="1290505"/>
        <a:ext cx="1318089" cy="1482988"/>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6363" cy="511731"/>
          </a:xfrm>
          <a:prstGeom prst="rect">
            <a:avLst/>
          </a:prstGeom>
        </p:spPr>
        <p:txBody>
          <a:bodyPr vert="horz" lIns="99048" tIns="49524" rIns="99048" bIns="49524" rtlCol="0"/>
          <a:lstStyle>
            <a:lvl1pPr algn="l">
              <a:defRPr sz="1300"/>
            </a:lvl1pPr>
          </a:lstStyle>
          <a:p>
            <a:endParaRPr lang="zh-CN" altLang="en-US"/>
          </a:p>
        </p:txBody>
      </p:sp>
      <p:sp>
        <p:nvSpPr>
          <p:cNvPr id="3" name="日期占位符 2"/>
          <p:cNvSpPr>
            <a:spLocks noGrp="1"/>
          </p:cNvSpPr>
          <p:nvPr>
            <p:ph type="dt" idx="1"/>
          </p:nvPr>
        </p:nvSpPr>
        <p:spPr>
          <a:xfrm>
            <a:off x="4021294" y="0"/>
            <a:ext cx="3076363" cy="511731"/>
          </a:xfrm>
          <a:prstGeom prst="rect">
            <a:avLst/>
          </a:prstGeom>
        </p:spPr>
        <p:txBody>
          <a:bodyPr vert="horz" lIns="99048" tIns="49524" rIns="99048" bIns="49524" rtlCol="0"/>
          <a:lstStyle>
            <a:lvl1pPr algn="r">
              <a:defRPr sz="1300"/>
            </a:lvl1pPr>
          </a:lstStyle>
          <a:p>
            <a:fld id="{1C6D6CB1-C28C-4AC0-9E57-7AED4F13BECC}" type="datetimeFigureOut">
              <a:rPr lang="zh-CN" altLang="en-US" smtClean="0"/>
              <a:pPr/>
              <a:t>2025/5/7</a:t>
            </a:fld>
            <a:endParaRPr lang="zh-CN" altLang="en-US"/>
          </a:p>
        </p:txBody>
      </p:sp>
      <p:sp>
        <p:nvSpPr>
          <p:cNvPr id="4" name="幻灯片图像占位符 3"/>
          <p:cNvSpPr>
            <a:spLocks noGrp="1" noRot="1" noChangeAspect="1"/>
          </p:cNvSpPr>
          <p:nvPr>
            <p:ph type="sldImg" idx="2"/>
          </p:nvPr>
        </p:nvSpPr>
        <p:spPr>
          <a:xfrm>
            <a:off x="992188" y="768350"/>
            <a:ext cx="5114925" cy="3836988"/>
          </a:xfrm>
          <a:prstGeom prst="rect">
            <a:avLst/>
          </a:prstGeom>
          <a:noFill/>
          <a:ln w="12700">
            <a:solidFill>
              <a:prstClr val="black"/>
            </a:solidFill>
          </a:ln>
        </p:spPr>
        <p:txBody>
          <a:bodyPr vert="horz" lIns="99048" tIns="49524" rIns="99048" bIns="49524" rtlCol="0" anchor="ctr"/>
          <a:lstStyle/>
          <a:p>
            <a:endParaRPr lang="zh-CN" altLang="en-US"/>
          </a:p>
        </p:txBody>
      </p:sp>
      <p:sp>
        <p:nvSpPr>
          <p:cNvPr id="5" name="备注占位符 4"/>
          <p:cNvSpPr>
            <a:spLocks noGrp="1"/>
          </p:cNvSpPr>
          <p:nvPr>
            <p:ph type="body" sz="quarter" idx="3"/>
          </p:nvPr>
        </p:nvSpPr>
        <p:spPr>
          <a:xfrm>
            <a:off x="709930" y="4861441"/>
            <a:ext cx="5679440" cy="4605576"/>
          </a:xfrm>
          <a:prstGeom prst="rect">
            <a:avLst/>
          </a:prstGeom>
        </p:spPr>
        <p:txBody>
          <a:bodyPr vert="horz" lIns="99048" tIns="49524" rIns="99048" bIns="49524"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106"/>
            <a:ext cx="3076363" cy="511731"/>
          </a:xfrm>
          <a:prstGeom prst="rect">
            <a:avLst/>
          </a:prstGeom>
        </p:spPr>
        <p:txBody>
          <a:bodyPr vert="horz" lIns="99048" tIns="49524" rIns="99048" bIns="49524" rtlCol="0" anchor="b"/>
          <a:lstStyle>
            <a:lvl1pPr algn="l">
              <a:defRPr sz="1300"/>
            </a:lvl1pPr>
          </a:lstStyle>
          <a:p>
            <a:endParaRPr lang="zh-CN" altLang="en-US"/>
          </a:p>
        </p:txBody>
      </p:sp>
      <p:sp>
        <p:nvSpPr>
          <p:cNvPr id="7" name="灯片编号占位符 6"/>
          <p:cNvSpPr>
            <a:spLocks noGrp="1"/>
          </p:cNvSpPr>
          <p:nvPr>
            <p:ph type="sldNum" sz="quarter" idx="5"/>
          </p:nvPr>
        </p:nvSpPr>
        <p:spPr>
          <a:xfrm>
            <a:off x="4021294" y="9721106"/>
            <a:ext cx="3076363" cy="511731"/>
          </a:xfrm>
          <a:prstGeom prst="rect">
            <a:avLst/>
          </a:prstGeom>
        </p:spPr>
        <p:txBody>
          <a:bodyPr vert="horz" lIns="99048" tIns="49524" rIns="99048" bIns="49524" rtlCol="0" anchor="b"/>
          <a:lstStyle>
            <a:lvl1pPr algn="r">
              <a:defRPr sz="1300"/>
            </a:lvl1pPr>
          </a:lstStyle>
          <a:p>
            <a:fld id="{A5E67A7B-7D8A-4E03-B174-B3300045038D}" type="slidenum">
              <a:rPr lang="zh-CN" altLang="en-US" smtClean="0"/>
              <a:pPr/>
              <a:t>‹#›</a:t>
            </a:fld>
            <a:endParaRPr lang="zh-CN" altLang="en-US"/>
          </a:p>
        </p:txBody>
      </p:sp>
    </p:spTree>
    <p:extLst>
      <p:ext uri="{BB962C8B-B14F-4D97-AF65-F5344CB8AC3E}">
        <p14:creationId xmlns:p14="http://schemas.microsoft.com/office/powerpoint/2010/main" val="35670319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通过我们的学习，我们已经知道</a:t>
            </a:r>
            <a:r>
              <a:rPr lang="en-US" altLang="zh-CN" dirty="0"/>
              <a:t>Linux</a:t>
            </a:r>
            <a:r>
              <a:rPr lang="zh-CN" altLang="en-US" dirty="0"/>
              <a:t>操作系统是一个多用户多任务的操作系统，如何给每个用户提供一种安全机制呢？就是我们这一章要给大家介绍的用户 用户组以及用户的权限。</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a:t>
            </a:fld>
            <a:endParaRPr lang="zh-CN" altLang="en-US"/>
          </a:p>
        </p:txBody>
      </p:sp>
    </p:spTree>
    <p:extLst>
      <p:ext uri="{BB962C8B-B14F-4D97-AF65-F5344CB8AC3E}">
        <p14:creationId xmlns:p14="http://schemas.microsoft.com/office/powerpoint/2010/main" val="10161867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用户账号是为了便于记忆，用户的</a:t>
            </a:r>
            <a:r>
              <a:rPr lang="en-US" altLang="zh-CN" dirty="0"/>
              <a:t>ID</a:t>
            </a:r>
            <a:r>
              <a:rPr lang="zh-CN" altLang="en-US" dirty="0"/>
              <a:t>则是方便机器辨识。系统用户是给网络服务或后台服务的拥有者提供的账户。对应</a:t>
            </a:r>
            <a:r>
              <a:rPr lang="en-US" altLang="zh-CN" dirty="0"/>
              <a:t>/</a:t>
            </a:r>
            <a:r>
              <a:rPr lang="en-US" altLang="zh-CN" dirty="0" err="1"/>
              <a:t>sbin</a:t>
            </a:r>
            <a:r>
              <a:rPr lang="en-US" altLang="zh-CN" dirty="0"/>
              <a:t>/</a:t>
            </a:r>
            <a:r>
              <a:rPr lang="en-US" altLang="zh-CN" dirty="0" err="1"/>
              <a:t>nologin</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a:t>
            </a:fld>
            <a:endParaRPr lang="zh-CN" altLang="en-US"/>
          </a:p>
        </p:txBody>
      </p:sp>
    </p:spTree>
    <p:extLst>
      <p:ext uri="{BB962C8B-B14F-4D97-AF65-F5344CB8AC3E}">
        <p14:creationId xmlns:p14="http://schemas.microsoft.com/office/powerpoint/2010/main" val="12588513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GB" sz="1200" dirty="0">
                <a:solidFill>
                  <a:schemeClr val="accent6">
                    <a:lumMod val="75000"/>
                  </a:schemeClr>
                </a:solidFill>
              </a:rPr>
              <a:t>/</a:t>
            </a:r>
            <a:r>
              <a:rPr lang="en-GB" altLang="zh-CN" sz="1200" dirty="0">
                <a:solidFill>
                  <a:schemeClr val="accent6">
                    <a:lumMod val="75000"/>
                  </a:schemeClr>
                </a:solidFill>
              </a:rPr>
              <a:t>etc/passwd </a:t>
            </a:r>
            <a:r>
              <a:rPr lang="zh-CN" altLang="en-US" sz="1200" dirty="0">
                <a:solidFill>
                  <a:schemeClr val="accent6">
                    <a:lumMod val="75000"/>
                  </a:schemeClr>
                </a:solidFill>
              </a:rPr>
              <a:t>文件中</a:t>
            </a:r>
            <a:r>
              <a:rPr lang="en-US" altLang="zh-CN" dirty="0"/>
              <a:t>GID</a:t>
            </a:r>
            <a:r>
              <a:rPr lang="zh-CN" altLang="en-US" dirty="0"/>
              <a:t>字段指定的组就是主组</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a:t>
            </a:fld>
            <a:endParaRPr lang="zh-CN" altLang="en-US"/>
          </a:p>
        </p:txBody>
      </p:sp>
    </p:spTree>
    <p:extLst>
      <p:ext uri="{BB962C8B-B14F-4D97-AF65-F5344CB8AC3E}">
        <p14:creationId xmlns:p14="http://schemas.microsoft.com/office/powerpoint/2010/main" val="128213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我们知道很多程序的运行都与权限有关，而权限与</a:t>
            </a:r>
            <a:r>
              <a:rPr lang="en-US" altLang="zh-CN" dirty="0"/>
              <a:t>UID</a:t>
            </a:r>
            <a:r>
              <a:rPr lang="zh-CN" altLang="en-US" dirty="0"/>
              <a:t>和</a:t>
            </a:r>
            <a:r>
              <a:rPr lang="en-US" altLang="zh-CN" dirty="0"/>
              <a:t>GID</a:t>
            </a:r>
            <a:r>
              <a:rPr lang="zh-CN" altLang="en-US" dirty="0"/>
              <a:t>有关，因此各程序当然需要读取</a:t>
            </a:r>
            <a:r>
              <a:rPr lang="en-US" altLang="zh-CN" dirty="0"/>
              <a:t>/</a:t>
            </a:r>
            <a:r>
              <a:rPr lang="en-US" altLang="zh-CN" dirty="0" err="1"/>
              <a:t>etc</a:t>
            </a:r>
            <a:r>
              <a:rPr lang="en-US" altLang="zh-CN" dirty="0"/>
              <a:t>/passwd</a:t>
            </a:r>
            <a:r>
              <a:rPr lang="zh-CN" altLang="en-US" dirty="0"/>
              <a:t>来了解不同账号的权限，因此</a:t>
            </a:r>
            <a:r>
              <a:rPr lang="en-US" altLang="zh-CN" dirty="0"/>
              <a:t>/</a:t>
            </a:r>
            <a:r>
              <a:rPr lang="en-US" altLang="zh-CN" dirty="0" err="1"/>
              <a:t>etc</a:t>
            </a:r>
            <a:r>
              <a:rPr lang="en-US" altLang="zh-CN" dirty="0"/>
              <a:t>/passwd</a:t>
            </a:r>
            <a:r>
              <a:rPr lang="zh-CN" altLang="en-US" dirty="0"/>
              <a:t>的权限需要设置为</a:t>
            </a:r>
            <a:r>
              <a:rPr lang="en-GB" altLang="zh-CN" dirty="0"/>
              <a:t>(-</a:t>
            </a:r>
            <a:r>
              <a:rPr lang="en-GB" altLang="zh-CN" dirty="0" err="1"/>
              <a:t>rw</a:t>
            </a:r>
            <a:r>
              <a:rPr lang="en-GB" altLang="zh-CN" dirty="0"/>
              <a:t>-r--r--)</a:t>
            </a:r>
            <a:r>
              <a:rPr lang="zh-CN" altLang="en-US" dirty="0"/>
              <a:t>。因为</a:t>
            </a:r>
            <a:r>
              <a:rPr lang="zh-CN" altLang="en-GB" dirty="0">
                <a:solidFill>
                  <a:schemeClr val="accent6">
                    <a:lumMod val="75000"/>
                  </a:schemeClr>
                </a:solidFill>
              </a:rPr>
              <a:t>/</a:t>
            </a:r>
            <a:r>
              <a:rPr lang="en-GB" altLang="zh-CN" dirty="0">
                <a:solidFill>
                  <a:schemeClr val="accent6">
                    <a:lumMod val="75000"/>
                  </a:schemeClr>
                </a:solidFill>
              </a:rPr>
              <a:t>etc/passwd </a:t>
            </a:r>
            <a:r>
              <a:rPr lang="zh-CN" altLang="en-US" dirty="0">
                <a:solidFill>
                  <a:schemeClr val="accent6">
                    <a:lumMod val="75000"/>
                  </a:schemeClr>
                </a:solidFill>
              </a:rPr>
              <a:t>对任何人都可以读，如果将加密密码直接放在</a:t>
            </a:r>
            <a:r>
              <a:rPr lang="en-US" altLang="zh-CN" dirty="0">
                <a:solidFill>
                  <a:schemeClr val="accent6">
                    <a:lumMod val="75000"/>
                  </a:schemeClr>
                </a:solidFill>
              </a:rPr>
              <a:t>passwd</a:t>
            </a:r>
            <a:r>
              <a:rPr lang="zh-CN" altLang="en-US" dirty="0">
                <a:solidFill>
                  <a:schemeClr val="accent6">
                    <a:lumMod val="75000"/>
                  </a:schemeClr>
                </a:solidFill>
              </a:rPr>
              <a:t>文件很容易造成密码丢失，所以就将密码转移到</a:t>
            </a:r>
            <a:r>
              <a:rPr lang="zh-CN" altLang="en-GB" dirty="0">
                <a:solidFill>
                  <a:schemeClr val="accent6">
                    <a:lumMod val="75000"/>
                  </a:schemeClr>
                </a:solidFill>
              </a:rPr>
              <a:t>/</a:t>
            </a:r>
            <a:r>
              <a:rPr lang="en-GB" altLang="zh-CN" dirty="0">
                <a:solidFill>
                  <a:schemeClr val="accent6">
                    <a:lumMod val="75000"/>
                  </a:schemeClr>
                </a:solidFill>
              </a:rPr>
              <a:t>etc/shadow</a:t>
            </a:r>
            <a:r>
              <a:rPr lang="zh-CN" altLang="en-US" dirty="0">
                <a:solidFill>
                  <a:schemeClr val="accent6">
                    <a:lumMod val="75000"/>
                  </a:schemeClr>
                </a:solidFill>
              </a:rPr>
              <a:t>中，通过文件的分割技术提高安全性。虽然</a:t>
            </a:r>
            <a:r>
              <a:rPr lang="zh-CN" altLang="en-GB" dirty="0">
                <a:solidFill>
                  <a:schemeClr val="accent6">
                    <a:lumMod val="75000"/>
                  </a:schemeClr>
                </a:solidFill>
              </a:rPr>
              <a:t>/</a:t>
            </a:r>
            <a:r>
              <a:rPr lang="en-GB" altLang="zh-CN" dirty="0">
                <a:solidFill>
                  <a:schemeClr val="accent6">
                    <a:lumMod val="75000"/>
                  </a:schemeClr>
                </a:solidFill>
              </a:rPr>
              <a:t>etc/shadow</a:t>
            </a:r>
            <a:r>
              <a:rPr lang="zh-CN" altLang="en-US" dirty="0">
                <a:solidFill>
                  <a:schemeClr val="accent6">
                    <a:lumMod val="75000"/>
                  </a:schemeClr>
                </a:solidFill>
              </a:rPr>
              <a:t>中的密码是加密过得，破解难但不等于不能破解，所以一般他的文件权限为</a:t>
            </a:r>
            <a:r>
              <a:rPr lang="en-GB" altLang="zh-CN" dirty="0"/>
              <a:t> (-r</a:t>
            </a:r>
            <a:r>
              <a:rPr lang="en-US" altLang="zh-CN" dirty="0"/>
              <a:t>w</a:t>
            </a:r>
            <a:r>
              <a:rPr lang="en-GB" altLang="zh-CN" dirty="0"/>
              <a:t>-------</a:t>
            </a:r>
            <a:r>
              <a:rPr lang="zh-CN" altLang="en-US" dirty="0"/>
              <a:t>或者</a:t>
            </a:r>
            <a:r>
              <a:rPr lang="en-US" altLang="zh-CN" dirty="0"/>
              <a:t>----------</a:t>
            </a:r>
            <a:r>
              <a:rPr lang="en-GB" altLang="zh-CN" dirty="0"/>
              <a:t>)</a:t>
            </a:r>
            <a:r>
              <a:rPr lang="zh-CN" altLang="en-US" dirty="0"/>
              <a:t>，只有</a:t>
            </a:r>
            <a:r>
              <a:rPr lang="en-US" altLang="zh-CN" dirty="0"/>
              <a:t>root</a:t>
            </a:r>
            <a:r>
              <a:rPr lang="zh-CN" altLang="en-US" dirty="0"/>
              <a:t>可以读写。通过我们对于用户账户相关的两个重要文件的介绍，那么下面两个就不陌生了，他们主要是面向组用户的。</a:t>
            </a:r>
            <a:endParaRPr lang="zh-CN" altLang="en-GB" dirty="0"/>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a:t>
            </a:fld>
            <a:endParaRPr lang="zh-CN" altLang="en-US"/>
          </a:p>
        </p:txBody>
      </p:sp>
    </p:spTree>
    <p:extLst>
      <p:ext uri="{BB962C8B-B14F-4D97-AF65-F5344CB8AC3E}">
        <p14:creationId xmlns:p14="http://schemas.microsoft.com/office/powerpoint/2010/main" val="21051548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t>
            </a:r>
            <a:r>
              <a:rPr lang="en-US" altLang="zh-CN" dirty="0" err="1"/>
              <a:t>etc</a:t>
            </a:r>
            <a:r>
              <a:rPr lang="en-US" altLang="zh-CN" dirty="0"/>
              <a:t>/passwd</a:t>
            </a:r>
            <a:r>
              <a:rPr lang="zh-CN" altLang="en-US" dirty="0"/>
              <a:t>文件中每一行记录代表一个用户账号，行数就等于用户的数目，里面有很多账号本来就是系统正常运行所必须的，我们可以简称他为系统账号，如</a:t>
            </a:r>
            <a:r>
              <a:rPr lang="en-US" altLang="zh-CN" dirty="0"/>
              <a:t>bin</a:t>
            </a:r>
            <a:r>
              <a:rPr lang="zh-CN" altLang="en-US" dirty="0"/>
              <a:t>、</a:t>
            </a:r>
            <a:r>
              <a:rPr lang="en-US" altLang="zh-CN" dirty="0"/>
              <a:t>daemon</a:t>
            </a:r>
            <a:r>
              <a:rPr lang="zh-CN" altLang="en-US" dirty="0"/>
              <a:t>、</a:t>
            </a:r>
            <a:r>
              <a:rPr lang="en-US" altLang="zh-CN" dirty="0" err="1"/>
              <a:t>adm</a:t>
            </a:r>
            <a:r>
              <a:rPr lang="zh-CN" altLang="en-US" dirty="0"/>
              <a:t>等，这些账号不要随意删除。为什么在</a:t>
            </a:r>
            <a:r>
              <a:rPr lang="en-US" altLang="zh-CN" dirty="0"/>
              <a:t>/</a:t>
            </a:r>
            <a:r>
              <a:rPr lang="en-US" altLang="zh-CN" dirty="0" err="1"/>
              <a:t>etc</a:t>
            </a:r>
            <a:r>
              <a:rPr lang="en-US" altLang="zh-CN" dirty="0"/>
              <a:t>/passwd</a:t>
            </a:r>
            <a:r>
              <a:rPr lang="zh-CN" altLang="en-US" dirty="0"/>
              <a:t>文件里用户的口令是个</a:t>
            </a:r>
            <a:r>
              <a:rPr lang="en-US" altLang="zh-CN" dirty="0"/>
              <a:t>X</a:t>
            </a:r>
            <a:r>
              <a:rPr lang="zh-CN" altLang="en-US" dirty="0"/>
              <a:t>呢？这是因为这个文件所有程序序都能够读取，密码如果经过加密发在第二个字段，很容易造成密码数据丢失，因此该字段会被加密后放在影子口令文件中。</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a:t>
            </a:fld>
            <a:endParaRPr lang="zh-CN" altLang="en-US"/>
          </a:p>
        </p:txBody>
      </p:sp>
    </p:spTree>
    <p:extLst>
      <p:ext uri="{BB962C8B-B14F-4D97-AF65-F5344CB8AC3E}">
        <p14:creationId xmlns:p14="http://schemas.microsoft.com/office/powerpoint/2010/main" val="2511314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Name </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password </a:t>
            </a:r>
            <a:r>
              <a:rPr lang="en-US" altLang="zh-CN" sz="1800" b="0" i="0" u="none" strike="noStrike" kern="1200" dirty="0" err="1">
                <a:solidFill>
                  <a:srgbClr val="000000"/>
                </a:solidFill>
                <a:effectLst/>
                <a:latin typeface="Tahoma" panose="020B0604030504040204" pitchFamily="34" charset="0"/>
                <a:ea typeface="宋体" panose="02010600030101010101" pitchFamily="2" charset="-122"/>
              </a:rPr>
              <a:t>uid</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gid description home shell</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各字段的含义 标红的每一行依次代表 超级用户 系统用户 普通用户</a:t>
            </a:r>
            <a:endParaRPr lang="zh-CN" altLang="zh-CN" sz="18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a:t>
            </a:fld>
            <a:endParaRPr lang="zh-CN" altLang="en-US"/>
          </a:p>
        </p:txBody>
      </p:sp>
    </p:spTree>
    <p:extLst>
      <p:ext uri="{BB962C8B-B14F-4D97-AF65-F5344CB8AC3E}">
        <p14:creationId xmlns:p14="http://schemas.microsoft.com/office/powerpoint/2010/main" val="21764562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a:t>
            </a:r>
            <a:r>
              <a:rPr lang="en-US" altLang="zh-CN" dirty="0" err="1"/>
              <a:t>etc</a:t>
            </a:r>
            <a:r>
              <a:rPr lang="en-US" altLang="zh-CN" dirty="0"/>
              <a:t>/passwd</a:t>
            </a:r>
            <a:r>
              <a:rPr lang="zh-CN" altLang="en-US" dirty="0"/>
              <a:t>文件对任何用户均可读， 为了增加系统的安全性， 用户的口令通常用</a:t>
            </a:r>
            <a:r>
              <a:rPr lang="en-US" altLang="zh-CN" dirty="0"/>
              <a:t>shadow passwords</a:t>
            </a:r>
            <a:r>
              <a:rPr lang="zh-CN" altLang="en-US" dirty="0"/>
              <a:t>保护。</a:t>
            </a:r>
          </a:p>
          <a:p>
            <a:r>
              <a:rPr lang="zh-CN" altLang="en-US" dirty="0"/>
              <a:t>经过</a:t>
            </a:r>
            <a:r>
              <a:rPr lang="en-US" altLang="zh-CN" dirty="0"/>
              <a:t>shadow passwords</a:t>
            </a:r>
            <a:r>
              <a:rPr lang="zh-CN" altLang="en-US" dirty="0"/>
              <a:t>保护的账户密码和相关设置信息保存在</a:t>
            </a:r>
            <a:r>
              <a:rPr lang="en-US" altLang="zh-CN" dirty="0"/>
              <a:t>/</a:t>
            </a:r>
            <a:r>
              <a:rPr lang="en-US" altLang="zh-CN" dirty="0" err="1"/>
              <a:t>etc</a:t>
            </a:r>
            <a:r>
              <a:rPr lang="en-US" altLang="zh-CN" dirty="0"/>
              <a:t>/shadow</a:t>
            </a:r>
            <a:r>
              <a:rPr lang="zh-CN" altLang="en-US" dirty="0"/>
              <a:t>文件里。 </a:t>
            </a:r>
            <a:r>
              <a:rPr lang="en-US" altLang="zh-CN" dirty="0"/>
              <a:t>/</a:t>
            </a:r>
            <a:r>
              <a:rPr lang="en-US" altLang="zh-CN" dirty="0" err="1"/>
              <a:t>etc</a:t>
            </a:r>
            <a:r>
              <a:rPr lang="en-US" altLang="zh-CN" dirty="0"/>
              <a:t>/shadow</a:t>
            </a:r>
            <a:r>
              <a:rPr lang="zh-CN" altLang="en-US" dirty="0"/>
              <a:t>只对</a:t>
            </a:r>
            <a:r>
              <a:rPr lang="en-US" altLang="zh-CN" dirty="0"/>
              <a:t>root</a:t>
            </a:r>
            <a:r>
              <a:rPr lang="zh-CN" altLang="en-US" dirty="0"/>
              <a:t>用户可读。</a:t>
            </a:r>
          </a:p>
          <a:p>
            <a:r>
              <a:rPr lang="zh-CN" altLang="en-US" dirty="0"/>
              <a:t>默认使用</a:t>
            </a:r>
            <a:r>
              <a:rPr lang="en-US" altLang="zh-CN" dirty="0"/>
              <a:t>sha512</a:t>
            </a:r>
            <a:r>
              <a:rPr lang="zh-CN" altLang="en-US" dirty="0"/>
              <a:t>哈希算法存储用户的口令。</a:t>
            </a:r>
          </a:p>
          <a:p>
            <a:r>
              <a:rPr lang="zh-CN" altLang="en-US" dirty="0"/>
              <a:t>一般不设置组口令。因为绝大多数应用程序不使用</a:t>
            </a:r>
            <a:endParaRPr lang="en-US" altLang="zh-CN" dirty="0"/>
          </a:p>
          <a:p>
            <a:pPr defTabSz="990478">
              <a:defRPr/>
            </a:pPr>
            <a:r>
              <a:rPr lang="zh-CN" altLang="en-US" dirty="0"/>
              <a:t>其实质第四个字段</a:t>
            </a:r>
            <a:r>
              <a:rPr lang="zh-CN" altLang="en-US" sz="1300" dirty="0"/>
              <a:t>最小时间间隔：</a:t>
            </a:r>
            <a:r>
              <a:rPr lang="zh-CN" altLang="en-US" dirty="0"/>
              <a:t>表示的是，账号的密码在最近一次修改后需要经过几天才可以再次被修改，第五个字段</a:t>
            </a:r>
            <a:r>
              <a:rPr lang="zh-CN" altLang="en-US" sz="1300" dirty="0"/>
              <a:t>最大时间间隔：</a:t>
            </a:r>
            <a:r>
              <a:rPr lang="zh-CN" altLang="en-US" dirty="0"/>
              <a:t>为指定在最近一次更改密码后，在多少天内需要再次修改密码才行。警告时间：密码需要修改期限前的警告天数，不活动时间：密码过期后的账号宽限时间；失效时间：账户失效的时间。</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14</a:t>
            </a:fld>
            <a:endParaRPr lang="zh-CN" altLang="en-US"/>
          </a:p>
        </p:txBody>
      </p:sp>
    </p:spTree>
    <p:extLst>
      <p:ext uri="{BB962C8B-B14F-4D97-AF65-F5344CB8AC3E}">
        <p14:creationId xmlns:p14="http://schemas.microsoft.com/office/powerpoint/2010/main" val="38478887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用户名</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口令</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最后一次修改的时间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最小时间间隔</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最大时间间隔</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警告时间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不活动时间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失效时间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标志</a:t>
            </a:r>
            <a:endParaRPr lang="zh-CN" altLang="zh-CN" sz="1800" b="0" i="0" u="none" strike="noStrike" dirty="0">
              <a:effectLst/>
              <a:latin typeface="Arial" panose="020B0604020202020204" pitchFamily="34" charset="0"/>
            </a:endParaRPr>
          </a:p>
          <a:p>
            <a:r>
              <a:rPr lang="zh-CN" altLang="en-US" dirty="0"/>
              <a:t>最小间隔时间为</a:t>
            </a:r>
            <a:r>
              <a:rPr lang="en-US" altLang="zh-CN" dirty="0"/>
              <a:t>0</a:t>
            </a:r>
            <a:r>
              <a:rPr lang="zh-CN" altLang="en-US" dirty="0"/>
              <a:t>，随时都可以修改，</a:t>
            </a:r>
            <a:r>
              <a:rPr lang="en-US" altLang="zh-CN" sz="1300" dirty="0">
                <a:solidFill>
                  <a:srgbClr val="FF0000"/>
                </a:solidFill>
              </a:rPr>
              <a:t>99999=273</a:t>
            </a:r>
            <a:r>
              <a:rPr lang="zh-CN" altLang="en-US" sz="1300" dirty="0">
                <a:solidFill>
                  <a:srgbClr val="FF0000"/>
                </a:solidFill>
              </a:rPr>
              <a:t>年，密码基本不会过期了，需要修改期限前</a:t>
            </a:r>
            <a:r>
              <a:rPr lang="en-US" altLang="zh-CN" sz="1300" dirty="0">
                <a:solidFill>
                  <a:srgbClr val="FF0000"/>
                </a:solidFill>
              </a:rPr>
              <a:t>7</a:t>
            </a:r>
            <a:r>
              <a:rPr lang="zh-CN" altLang="en-US" sz="1300" dirty="0">
                <a:solidFill>
                  <a:srgbClr val="FF0000"/>
                </a:solidFill>
              </a:rPr>
              <a:t>天提醒。</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15</a:t>
            </a:fld>
            <a:endParaRPr lang="zh-CN" altLang="en-US"/>
          </a:p>
        </p:txBody>
      </p:sp>
    </p:spTree>
    <p:extLst>
      <p:ext uri="{BB962C8B-B14F-4D97-AF65-F5344CB8AC3E}">
        <p14:creationId xmlns:p14="http://schemas.microsoft.com/office/powerpoint/2010/main" val="7694604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16</a:t>
            </a:fld>
            <a:endParaRPr lang="zh-CN" altLang="en-US"/>
          </a:p>
        </p:txBody>
      </p:sp>
    </p:spTree>
    <p:extLst>
      <p:ext uri="{BB962C8B-B14F-4D97-AF65-F5344CB8AC3E}">
        <p14:creationId xmlns:p14="http://schemas.microsoft.com/office/powerpoint/2010/main" val="3668281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组名</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口令</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GID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组内用户列表</a:t>
            </a:r>
            <a:endParaRPr lang="zh-CN" altLang="zh-CN" sz="18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18</a:t>
            </a:fld>
            <a:endParaRPr lang="zh-CN" altLang="en-US"/>
          </a:p>
        </p:txBody>
      </p:sp>
    </p:spTree>
    <p:extLst>
      <p:ext uri="{BB962C8B-B14F-4D97-AF65-F5344CB8AC3E}">
        <p14:creationId xmlns:p14="http://schemas.microsoft.com/office/powerpoint/2010/main" val="20145773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19</a:t>
            </a:fld>
            <a:endParaRPr lang="zh-CN" altLang="en-US"/>
          </a:p>
        </p:txBody>
      </p:sp>
    </p:spTree>
    <p:extLst>
      <p:ext uri="{BB962C8B-B14F-4D97-AF65-F5344CB8AC3E}">
        <p14:creationId xmlns:p14="http://schemas.microsoft.com/office/powerpoint/2010/main" val="13906568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组名</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加密的组口令</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组的管理员账号</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组内用户列表</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a:t>
            </a:r>
            <a:r>
              <a:rPr lang="zh-CN" altLang="en-US" sz="1800" dirty="0"/>
              <a:t>两个！！表示当前密码无效</a:t>
            </a:r>
            <a:endParaRPr lang="zh-CN" altLang="zh-CN" sz="18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20</a:t>
            </a:fld>
            <a:endParaRPr lang="zh-CN" altLang="en-US"/>
          </a:p>
        </p:txBody>
      </p:sp>
    </p:spTree>
    <p:extLst>
      <p:ext uri="{BB962C8B-B14F-4D97-AF65-F5344CB8AC3E}">
        <p14:creationId xmlns:p14="http://schemas.microsoft.com/office/powerpoint/2010/main" val="33268882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200" b="1" i="0" u="none" strike="noStrike" kern="1200" dirty="0" err="1">
                <a:solidFill>
                  <a:srgbClr val="FFFFFF"/>
                </a:solidFill>
                <a:effectLst/>
                <a:latin typeface="Tahoma" panose="020B0604030504040204" pitchFamily="34" charset="0"/>
                <a:ea typeface="宋体" panose="02010600030101010101" pitchFamily="2" charset="-122"/>
              </a:rPr>
              <a:t>etc</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/shadow </a:t>
            </a:r>
            <a:r>
              <a:rPr lang="zh-CN" altLang="en-US" sz="1200" b="1" i="0" u="none" strike="noStrike" kern="1200" dirty="0">
                <a:solidFill>
                  <a:srgbClr val="FFFFFF"/>
                </a:solidFill>
                <a:effectLst/>
                <a:latin typeface="Tahoma" panose="020B0604030504040204" pitchFamily="34" charset="0"/>
                <a:ea typeface="宋体" panose="02010600030101010101" pitchFamily="2" charset="-122"/>
              </a:rPr>
              <a:t>的字段为</a:t>
            </a:r>
            <a:r>
              <a:rPr lang="zh-CN" altLang="zh-CN" sz="1200" b="1" i="0" u="none" strike="noStrike" kern="1200" dirty="0">
                <a:solidFill>
                  <a:srgbClr val="FFFFFF"/>
                </a:solidFill>
                <a:effectLst/>
                <a:latin typeface="Tahoma" panose="020B0604030504040204" pitchFamily="34" charset="0"/>
                <a:ea typeface="宋体" panose="02010600030101010101" pitchFamily="2" charset="-122"/>
              </a:rPr>
              <a:t>用户名</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口令</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最后一次修改的时间</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最小时间间隔</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最大时间间隔</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警告时间</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不活动时间</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失效时间</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标志</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200" b="1" i="0" u="none" strike="noStrike" kern="1200" dirty="0" err="1">
                <a:solidFill>
                  <a:srgbClr val="FFFFFF"/>
                </a:solidFill>
                <a:effectLst/>
                <a:latin typeface="Tahoma" panose="020B0604030504040204" pitchFamily="34" charset="0"/>
                <a:ea typeface="宋体" panose="02010600030101010101" pitchFamily="2" charset="-122"/>
              </a:rPr>
              <a:t>etc</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200" b="1" i="0" u="none" strike="noStrike" kern="1200" dirty="0" err="1">
                <a:solidFill>
                  <a:srgbClr val="FFFFFF"/>
                </a:solidFill>
                <a:effectLst/>
                <a:latin typeface="Tahoma" panose="020B0604030504040204" pitchFamily="34" charset="0"/>
                <a:ea typeface="宋体" panose="02010600030101010101" pitchFamily="2" charset="-122"/>
              </a:rPr>
              <a:t>gshadow</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 </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1" i="0" u="none" strike="noStrike" kern="1200" dirty="0">
                <a:solidFill>
                  <a:srgbClr val="FFFFFF"/>
                </a:solidFill>
                <a:effectLst/>
                <a:latin typeface="Tahoma" panose="020B0604030504040204" pitchFamily="34" charset="0"/>
                <a:ea typeface="宋体" panose="02010600030101010101" pitchFamily="2" charset="-122"/>
              </a:rPr>
              <a:t>组名</a:t>
            </a:r>
            <a:r>
              <a:rPr lang="en-US" altLang="zh-CN" sz="1200" b="1" i="0" u="none" strike="noStrike" kern="1200" dirty="0">
                <a:solidFill>
                  <a:srgbClr val="FFFFFF"/>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加密的组口令</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组的管理员账号</a:t>
            </a:r>
            <a:r>
              <a:rPr lang="en-US" altLang="zh-CN" sz="1200" b="0" i="0" u="none" strike="noStrike" kern="1200" dirty="0">
                <a:solidFill>
                  <a:srgbClr val="000000"/>
                </a:solidFill>
                <a:effectLst/>
                <a:latin typeface="Tahoma" panose="020B0604030504040204" pitchFamily="34" charset="0"/>
                <a:ea typeface="宋体" panose="02010600030101010101" pitchFamily="2" charset="-122"/>
              </a:rPr>
              <a:t> </a:t>
            </a:r>
            <a:r>
              <a:rPr lang="zh-CN" altLang="zh-CN" sz="1200" b="0" i="0" u="none" strike="noStrike" kern="1200" dirty="0">
                <a:solidFill>
                  <a:srgbClr val="000000"/>
                </a:solidFill>
                <a:effectLst/>
                <a:latin typeface="Tahoma" panose="020B0604030504040204" pitchFamily="34" charset="0"/>
                <a:ea typeface="宋体" panose="02010600030101010101" pitchFamily="2" charset="-122"/>
              </a:rPr>
              <a:t>组内用户列表</a:t>
            </a:r>
            <a:endParaRPr lang="zh-CN" altLang="zh-CN" sz="1200" b="0" i="0" u="none" strike="noStrike" dirty="0">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zh-CN" sz="12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21</a:t>
            </a:fld>
            <a:endParaRPr lang="zh-CN" altLang="en-US"/>
          </a:p>
        </p:txBody>
      </p:sp>
    </p:spTree>
    <p:extLst>
      <p:ext uri="{BB962C8B-B14F-4D97-AF65-F5344CB8AC3E}">
        <p14:creationId xmlns:p14="http://schemas.microsoft.com/office/powerpoint/2010/main" val="26256718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既然我们不建议直接修改系统用户文件来维护用户和组，那么我们如何实现用户和组的管理？接下来我们就带大家一起了解用户和组管理的工具。</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24</a:t>
            </a:fld>
            <a:endParaRPr lang="zh-CN" altLang="en-US"/>
          </a:p>
        </p:txBody>
      </p:sp>
    </p:spTree>
    <p:extLst>
      <p:ext uri="{BB962C8B-B14F-4D97-AF65-F5344CB8AC3E}">
        <p14:creationId xmlns:p14="http://schemas.microsoft.com/office/powerpoint/2010/main" val="3059771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defTabSz="990478">
              <a:defRPr/>
            </a:pPr>
            <a:r>
              <a:rPr lang="en-US" altLang="zh-CN" dirty="0"/>
              <a:t>-g</a:t>
            </a:r>
            <a:r>
              <a:rPr lang="zh-CN" altLang="en-US" sz="1300" dirty="0"/>
              <a:t>指定新用户的</a:t>
            </a:r>
            <a:r>
              <a:rPr lang="zh-CN" altLang="en-US" sz="1300" dirty="0">
                <a:solidFill>
                  <a:srgbClr val="FF0000"/>
                </a:solidFill>
              </a:rPr>
              <a:t>主（私有）组；</a:t>
            </a:r>
            <a:r>
              <a:rPr lang="en-US" altLang="zh-CN" dirty="0"/>
              <a:t>-e</a:t>
            </a:r>
            <a:r>
              <a:rPr lang="zh-CN" altLang="en-US" sz="1300" dirty="0"/>
              <a:t>指定用户的登录</a:t>
            </a:r>
            <a:r>
              <a:rPr lang="zh-CN" altLang="en-US" sz="1300" dirty="0">
                <a:solidFill>
                  <a:srgbClr val="FF0000"/>
                </a:solidFill>
              </a:rPr>
              <a:t>失效时间；</a:t>
            </a:r>
            <a:r>
              <a:rPr lang="en-US" altLang="zh-CN" sz="1300" dirty="0">
                <a:solidFill>
                  <a:srgbClr val="FF0000"/>
                </a:solidFill>
              </a:rPr>
              <a:t>-G</a:t>
            </a:r>
            <a:r>
              <a:rPr lang="zh-CN" altLang="en-US" sz="1300" dirty="0"/>
              <a:t>指定新用户可加入的</a:t>
            </a:r>
            <a:r>
              <a:rPr lang="zh-CN" altLang="en-US" sz="1300" dirty="0">
                <a:solidFill>
                  <a:srgbClr val="FF0000"/>
                </a:solidFill>
              </a:rPr>
              <a:t>附加组</a:t>
            </a:r>
            <a:r>
              <a:rPr lang="en-US" altLang="zh-CN" sz="1300" dirty="0">
                <a:solidFill>
                  <a:srgbClr val="FF0000"/>
                </a:solidFill>
              </a:rPr>
              <a:t>; -d</a:t>
            </a:r>
            <a:r>
              <a:rPr lang="zh-CN" altLang="en-US" sz="1300" dirty="0">
                <a:solidFill>
                  <a:srgbClr val="FF0000"/>
                </a:solidFill>
              </a:rPr>
              <a:t>指定</a:t>
            </a:r>
            <a:r>
              <a:rPr lang="zh-CN" altLang="en-US" sz="1300" dirty="0"/>
              <a:t>新用户的自</a:t>
            </a:r>
            <a:r>
              <a:rPr lang="zh-CN" altLang="en-US" sz="1300" dirty="0">
                <a:solidFill>
                  <a:srgbClr val="FF0000"/>
                </a:solidFill>
              </a:rPr>
              <a:t>家目录 </a:t>
            </a:r>
            <a:r>
              <a:rPr lang="en-US" altLang="zh-CN" sz="1300" dirty="0">
                <a:solidFill>
                  <a:srgbClr val="FF0000"/>
                </a:solidFill>
              </a:rPr>
              <a:t>–s</a:t>
            </a:r>
            <a:r>
              <a:rPr lang="zh-CN" altLang="en-US" sz="1300" dirty="0">
                <a:solidFill>
                  <a:srgbClr val="FF0000"/>
                </a:solidFill>
              </a:rPr>
              <a:t>指定</a:t>
            </a:r>
            <a:r>
              <a:rPr lang="zh-CN" altLang="en-US" sz="1300" dirty="0"/>
              <a:t>新用户使用的</a:t>
            </a:r>
            <a:r>
              <a:rPr lang="en-US" altLang="zh-CN" sz="1300" dirty="0">
                <a:solidFill>
                  <a:srgbClr val="FF0000"/>
                </a:solidFill>
              </a:rPr>
              <a:t>Shell;-M</a:t>
            </a:r>
            <a:r>
              <a:rPr lang="zh-CN" altLang="en-US" sz="1300" dirty="0">
                <a:solidFill>
                  <a:srgbClr val="FF0000"/>
                </a:solidFill>
              </a:rPr>
              <a:t>不建立</a:t>
            </a:r>
            <a:r>
              <a:rPr lang="zh-CN" altLang="en-US" sz="1300" dirty="0"/>
              <a:t>新用户的自</a:t>
            </a:r>
            <a:r>
              <a:rPr lang="zh-CN" altLang="en-US" sz="1300" dirty="0">
                <a:solidFill>
                  <a:srgbClr val="FF0000"/>
                </a:solidFill>
              </a:rPr>
              <a:t>家目录</a:t>
            </a:r>
            <a:endParaRPr lang="zh-CN" altLang="en-US" sz="1300" dirty="0">
              <a:solidFill>
                <a:srgbClr val="FF0000"/>
              </a:solidFill>
              <a:latin typeface="Arial" charset="0"/>
              <a:ea typeface="宋体" charset="-122"/>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26</a:t>
            </a:fld>
            <a:endParaRPr lang="zh-CN" altLang="en-US"/>
          </a:p>
        </p:txBody>
      </p:sp>
    </p:spTree>
    <p:extLst>
      <p:ext uri="{BB962C8B-B14F-4D97-AF65-F5344CB8AC3E}">
        <p14:creationId xmlns:p14="http://schemas.microsoft.com/office/powerpoint/2010/main" val="3691987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defTabSz="990478">
              <a:defRPr/>
            </a:pPr>
            <a:r>
              <a:rPr lang="zh-CN" altLang="en-US" dirty="0">
                <a:solidFill>
                  <a:srgbClr val="FF0000"/>
                </a:solidFill>
              </a:rPr>
              <a:t>利用</a:t>
            </a:r>
            <a:r>
              <a:rPr lang="en-US" altLang="zh-CN" dirty="0">
                <a:solidFill>
                  <a:srgbClr val="FF0000"/>
                </a:solidFill>
              </a:rPr>
              <a:t>useradd</a:t>
            </a:r>
            <a:r>
              <a:rPr lang="zh-CN" altLang="en-US" dirty="0">
                <a:solidFill>
                  <a:srgbClr val="FF0000"/>
                </a:solidFill>
              </a:rPr>
              <a:t>程序建立</a:t>
            </a:r>
            <a:r>
              <a:rPr lang="en-US" altLang="zh-CN" dirty="0" err="1">
                <a:solidFill>
                  <a:srgbClr val="FF0000"/>
                </a:solidFill>
              </a:rPr>
              <a:t>linux</a:t>
            </a:r>
            <a:r>
              <a:rPr lang="zh-CN" altLang="en-US" dirty="0">
                <a:solidFill>
                  <a:srgbClr val="FF0000"/>
                </a:solidFill>
              </a:rPr>
              <a:t>新账号是，至少需要参考的三个文件。</a:t>
            </a:r>
            <a:r>
              <a:rPr lang="en-US" altLang="zh-CN" b="0" i="0" dirty="0">
                <a:solidFill>
                  <a:srgbClr val="444444"/>
                </a:solidFill>
                <a:effectLst/>
                <a:latin typeface="Helvetica Neue"/>
              </a:rPr>
              <a:t>/</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/default/useradd</a:t>
            </a:r>
            <a:r>
              <a:rPr lang="zh-CN" altLang="en-US" b="0" i="0" dirty="0">
                <a:solidFill>
                  <a:srgbClr val="444444"/>
                </a:solidFill>
                <a:effectLst/>
                <a:latin typeface="Helvetica Neue"/>
              </a:rPr>
              <a:t>指定了</a:t>
            </a:r>
            <a:r>
              <a:rPr lang="en-US" altLang="zh-CN" b="0" i="0" dirty="0">
                <a:solidFill>
                  <a:srgbClr val="444444"/>
                </a:solidFill>
                <a:effectLst/>
                <a:latin typeface="Helvetica Neue"/>
              </a:rPr>
              <a:t>useradd</a:t>
            </a:r>
            <a:r>
              <a:rPr lang="zh-CN" altLang="en-US" b="0" i="0" dirty="0">
                <a:solidFill>
                  <a:srgbClr val="444444"/>
                </a:solidFill>
                <a:effectLst/>
                <a:latin typeface="Helvetica Neue"/>
              </a:rPr>
              <a:t>命令的一些默认参数值，</a:t>
            </a:r>
            <a:r>
              <a:rPr lang="en-US" altLang="zh-CN" b="0" i="0" dirty="0">
                <a:solidFill>
                  <a:srgbClr val="444444"/>
                </a:solidFill>
                <a:effectLst/>
                <a:latin typeface="Helvetica Neue"/>
              </a:rPr>
              <a:t>/</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a:t>
            </a:r>
            <a:r>
              <a:rPr lang="en-US" altLang="zh-CN" b="0" i="0" dirty="0" err="1">
                <a:solidFill>
                  <a:srgbClr val="444444"/>
                </a:solidFill>
                <a:effectLst/>
                <a:latin typeface="Helvetica Neue"/>
              </a:rPr>
              <a:t>login.defs</a:t>
            </a:r>
            <a:r>
              <a:rPr lang="en-US" altLang="zh-CN" b="0" i="0" dirty="0">
                <a:solidFill>
                  <a:srgbClr val="444444"/>
                </a:solidFill>
                <a:effectLst/>
                <a:latin typeface="Helvetica Neue"/>
              </a:rPr>
              <a:t> </a:t>
            </a:r>
            <a:r>
              <a:rPr lang="zh-CN" altLang="en-US" b="0" i="0" dirty="0">
                <a:solidFill>
                  <a:srgbClr val="444444"/>
                </a:solidFill>
                <a:effectLst/>
                <a:latin typeface="Helvetica Neue"/>
              </a:rPr>
              <a:t>文件用于在创建用户时，对用户的一些基本属性做默认设置，例如指定用户 </a:t>
            </a:r>
            <a:r>
              <a:rPr lang="en-US" altLang="zh-CN" b="0" i="0" dirty="0">
                <a:solidFill>
                  <a:srgbClr val="444444"/>
                </a:solidFill>
                <a:effectLst/>
                <a:latin typeface="Helvetica Neue"/>
              </a:rPr>
              <a:t>UID </a:t>
            </a:r>
            <a:r>
              <a:rPr lang="zh-CN" altLang="en-US" b="0" i="0" dirty="0">
                <a:solidFill>
                  <a:srgbClr val="444444"/>
                </a:solidFill>
                <a:effectLst/>
                <a:latin typeface="Helvetica Neue"/>
              </a:rPr>
              <a:t>和 </a:t>
            </a:r>
            <a:r>
              <a:rPr lang="en-US" altLang="zh-CN" b="0" i="0" dirty="0">
                <a:solidFill>
                  <a:srgbClr val="444444"/>
                </a:solidFill>
                <a:effectLst/>
                <a:latin typeface="Helvetica Neue"/>
              </a:rPr>
              <a:t>GID </a:t>
            </a:r>
            <a:r>
              <a:rPr lang="zh-CN" altLang="en-US" b="0" i="0" dirty="0">
                <a:solidFill>
                  <a:srgbClr val="444444"/>
                </a:solidFill>
                <a:effectLst/>
                <a:latin typeface="Helvetica Neue"/>
              </a:rPr>
              <a:t>的范围，用户的过期时间，密码的最大长度，等等。</a:t>
            </a:r>
            <a:r>
              <a:rPr lang="en-US" altLang="zh-CN" dirty="0">
                <a:solidFill>
                  <a:srgbClr val="FF0000"/>
                </a:solidFill>
              </a:rPr>
              <a:t>/</a:t>
            </a:r>
            <a:r>
              <a:rPr lang="en-US" altLang="zh-CN" dirty="0" err="1">
                <a:solidFill>
                  <a:srgbClr val="FF0000"/>
                </a:solidFill>
              </a:rPr>
              <a:t>etc</a:t>
            </a:r>
            <a:r>
              <a:rPr lang="en-US" altLang="zh-CN" dirty="0">
                <a:solidFill>
                  <a:srgbClr val="FF0000"/>
                </a:solidFill>
              </a:rPr>
              <a:t>/</a:t>
            </a:r>
            <a:r>
              <a:rPr lang="en-US" altLang="zh-CN" dirty="0" err="1">
                <a:solidFill>
                  <a:srgbClr val="FF0000"/>
                </a:solidFill>
              </a:rPr>
              <a:t>skel</a:t>
            </a:r>
            <a:r>
              <a:rPr lang="en-US" altLang="zh-CN" dirty="0">
                <a:solidFill>
                  <a:srgbClr val="FF0000"/>
                </a:solidFill>
              </a:rPr>
              <a:t> </a:t>
            </a:r>
            <a:r>
              <a:rPr lang="zh-CN" altLang="en-US" dirty="0">
                <a:solidFill>
                  <a:srgbClr val="FF0000"/>
                </a:solidFill>
              </a:rPr>
              <a:t> 家目录下创建的默认文件夹，</a:t>
            </a:r>
            <a:endParaRPr lang="en-US" altLang="zh-CN" dirty="0">
              <a:solidFill>
                <a:srgbClr val="FF0000"/>
              </a:solidFill>
            </a:endParaRPr>
          </a:p>
          <a:p>
            <a:pPr defTabSz="990478">
              <a:defRPr/>
            </a:pPr>
            <a:r>
              <a:rPr lang="en-US" altLang="zh-CN" b="0" i="0" dirty="0">
                <a:solidFill>
                  <a:srgbClr val="444444"/>
                </a:solidFill>
                <a:effectLst/>
                <a:latin typeface="Helvetica Neue"/>
              </a:rPr>
              <a:t>[</a:t>
            </a:r>
            <a:r>
              <a:rPr lang="en-US" altLang="zh-CN" b="0" i="0" dirty="0" err="1">
                <a:solidFill>
                  <a:srgbClr val="444444"/>
                </a:solidFill>
                <a:effectLst/>
                <a:latin typeface="Helvetica Neue"/>
              </a:rPr>
              <a:t>root@localhost</a:t>
            </a:r>
            <a:r>
              <a:rPr lang="en-US" altLang="zh-CN" b="0" i="0" dirty="0">
                <a:solidFill>
                  <a:srgbClr val="444444"/>
                </a:solidFill>
                <a:effectLst/>
                <a:latin typeface="Helvetica Neue"/>
              </a:rPr>
              <a:t> ~]#vim /</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/default/useradd</a:t>
            </a:r>
            <a:r>
              <a:rPr lang="en-US" altLang="zh-CN" dirty="0"/>
              <a:t/>
            </a:r>
            <a:br>
              <a:rPr lang="en-US" altLang="zh-CN" dirty="0"/>
            </a:br>
            <a:r>
              <a:rPr lang="en-US" altLang="zh-CN" b="0" i="0" dirty="0">
                <a:solidFill>
                  <a:srgbClr val="444444"/>
                </a:solidFill>
                <a:effectLst/>
                <a:latin typeface="Helvetica Neue"/>
              </a:rPr>
              <a:t># useradd defaults file</a:t>
            </a:r>
            <a:r>
              <a:rPr lang="en-US" altLang="zh-CN" dirty="0"/>
              <a:t/>
            </a:r>
            <a:br>
              <a:rPr lang="en-US" altLang="zh-CN" dirty="0"/>
            </a:br>
            <a:r>
              <a:rPr lang="en-US" altLang="zh-CN" b="0" i="0" dirty="0">
                <a:solidFill>
                  <a:srgbClr val="444444"/>
                </a:solidFill>
                <a:effectLst/>
                <a:latin typeface="Helvetica Neue"/>
              </a:rPr>
              <a:t>GR0UP=100</a:t>
            </a:r>
            <a:r>
              <a:rPr lang="en-US" altLang="zh-CN" dirty="0"/>
              <a:t/>
            </a:r>
            <a:br>
              <a:rPr lang="en-US" altLang="zh-CN" dirty="0"/>
            </a:br>
            <a:r>
              <a:rPr lang="en-US" altLang="zh-CN" b="0" i="0" dirty="0">
                <a:solidFill>
                  <a:srgbClr val="444444"/>
                </a:solidFill>
                <a:effectLst/>
                <a:latin typeface="Helvetica Neue"/>
              </a:rPr>
              <a:t>HOME=/home</a:t>
            </a:r>
            <a:r>
              <a:rPr lang="en-US" altLang="zh-CN" dirty="0"/>
              <a:t/>
            </a:r>
            <a:br>
              <a:rPr lang="en-US" altLang="zh-CN" dirty="0"/>
            </a:br>
            <a:r>
              <a:rPr lang="en-US" altLang="zh-CN" b="0" i="0" dirty="0">
                <a:solidFill>
                  <a:srgbClr val="444444"/>
                </a:solidFill>
                <a:effectLst/>
                <a:latin typeface="Helvetica Neue"/>
              </a:rPr>
              <a:t>INACTIVE=-1</a:t>
            </a:r>
            <a:r>
              <a:rPr lang="en-US" altLang="zh-CN" dirty="0"/>
              <a:t/>
            </a:r>
            <a:br>
              <a:rPr lang="en-US" altLang="zh-CN" dirty="0"/>
            </a:br>
            <a:r>
              <a:rPr lang="en-US" altLang="zh-CN" b="0" i="0" dirty="0">
                <a:solidFill>
                  <a:srgbClr val="444444"/>
                </a:solidFill>
                <a:effectLst/>
                <a:latin typeface="Helvetica Neue"/>
              </a:rPr>
              <a:t>EXPIRE=</a:t>
            </a:r>
            <a:r>
              <a:rPr lang="en-US" altLang="zh-CN" dirty="0"/>
              <a:t/>
            </a:r>
            <a:br>
              <a:rPr lang="en-US" altLang="zh-CN" dirty="0"/>
            </a:br>
            <a:r>
              <a:rPr lang="en-US" altLang="zh-CN" b="0" i="0" dirty="0">
                <a:solidFill>
                  <a:srgbClr val="444444"/>
                </a:solidFill>
                <a:effectLst/>
                <a:latin typeface="Helvetica Neue"/>
              </a:rPr>
              <a:t>SHELL=/bin/bash</a:t>
            </a:r>
            <a:r>
              <a:rPr lang="en-US" altLang="zh-CN" dirty="0"/>
              <a:t/>
            </a:r>
            <a:br>
              <a:rPr lang="en-US" altLang="zh-CN" dirty="0"/>
            </a:br>
            <a:r>
              <a:rPr lang="en-US" altLang="zh-CN" b="0" i="0" dirty="0">
                <a:solidFill>
                  <a:srgbClr val="444444"/>
                </a:solidFill>
                <a:effectLst/>
                <a:latin typeface="Helvetica Neue"/>
              </a:rPr>
              <a:t>SKEL=/</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a:t>
            </a:r>
            <a:r>
              <a:rPr lang="en-US" altLang="zh-CN" b="0" i="0" dirty="0" err="1">
                <a:solidFill>
                  <a:srgbClr val="444444"/>
                </a:solidFill>
                <a:effectLst/>
                <a:latin typeface="Helvetica Neue"/>
              </a:rPr>
              <a:t>skel</a:t>
            </a:r>
            <a:r>
              <a:rPr lang="en-US" altLang="zh-CN" dirty="0"/>
              <a:t/>
            </a:r>
            <a:br>
              <a:rPr lang="en-US" altLang="zh-CN" dirty="0"/>
            </a:br>
            <a:r>
              <a:rPr lang="en-US" altLang="zh-CN" b="0" i="0" dirty="0">
                <a:solidFill>
                  <a:srgbClr val="444444"/>
                </a:solidFill>
                <a:effectLst/>
                <a:latin typeface="Helvetica Neue"/>
              </a:rPr>
              <a:t>CREATE_MAIL_SPOOL=yes</a:t>
            </a:r>
            <a:endParaRPr lang="en-US" altLang="zh-CN" dirty="0">
              <a:solidFill>
                <a:srgbClr val="FF0000"/>
              </a:solidFill>
            </a:endParaRP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28</a:t>
            </a:fld>
            <a:endParaRPr lang="zh-CN" altLang="en-US"/>
          </a:p>
        </p:txBody>
      </p:sp>
    </p:spTree>
    <p:extLst>
      <p:ext uri="{BB962C8B-B14F-4D97-AF65-F5344CB8AC3E}">
        <p14:creationId xmlns:p14="http://schemas.microsoft.com/office/powerpoint/2010/main" val="42182812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我们的密码参数在哪里呢？</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29</a:t>
            </a:fld>
            <a:endParaRPr lang="zh-CN" altLang="en-US"/>
          </a:p>
        </p:txBody>
      </p:sp>
    </p:spTree>
    <p:extLst>
      <p:ext uri="{BB962C8B-B14F-4D97-AF65-F5344CB8AC3E}">
        <p14:creationId xmlns:p14="http://schemas.microsoft.com/office/powerpoint/2010/main" val="36956309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Centos 7</a:t>
            </a:r>
            <a:r>
              <a:rPr lang="zh-CN" altLang="en-US" dirty="0"/>
              <a:t>中我们采用了私有组的机制后</a:t>
            </a:r>
            <a:r>
              <a:rPr lang="en-US" altLang="zh-CN" dirty="0"/>
              <a:t>Group</a:t>
            </a:r>
            <a:r>
              <a:rPr lang="zh-CN" altLang="en-US" dirty="0"/>
              <a:t>就失去意义了。 </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30</a:t>
            </a:fld>
            <a:endParaRPr lang="zh-CN" altLang="en-US"/>
          </a:p>
        </p:txBody>
      </p:sp>
    </p:spTree>
    <p:extLst>
      <p:ext uri="{BB962C8B-B14F-4D97-AF65-F5344CB8AC3E}">
        <p14:creationId xmlns:p14="http://schemas.microsoft.com/office/powerpoint/2010/main" val="12479396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defTabSz="990478">
              <a:defRPr/>
            </a:pPr>
            <a:r>
              <a:rPr lang="zh-CN" altLang="en-US" dirty="0">
                <a:solidFill>
                  <a:srgbClr val="FF0000"/>
                </a:solidFill>
              </a:rPr>
              <a:t>利用</a:t>
            </a:r>
            <a:r>
              <a:rPr lang="en-US" altLang="zh-CN" dirty="0">
                <a:solidFill>
                  <a:srgbClr val="FF0000"/>
                </a:solidFill>
              </a:rPr>
              <a:t>useradd</a:t>
            </a:r>
            <a:r>
              <a:rPr lang="zh-CN" altLang="en-US" dirty="0">
                <a:solidFill>
                  <a:srgbClr val="FF0000"/>
                </a:solidFill>
              </a:rPr>
              <a:t>程序建立</a:t>
            </a:r>
            <a:r>
              <a:rPr lang="en-US" altLang="zh-CN" dirty="0" err="1">
                <a:solidFill>
                  <a:srgbClr val="FF0000"/>
                </a:solidFill>
              </a:rPr>
              <a:t>linux</a:t>
            </a:r>
            <a:r>
              <a:rPr lang="zh-CN" altLang="en-US" dirty="0">
                <a:solidFill>
                  <a:srgbClr val="FF0000"/>
                </a:solidFill>
              </a:rPr>
              <a:t>新账号是，至少需要参考的三个文件。</a:t>
            </a:r>
            <a:r>
              <a:rPr lang="en-US" altLang="zh-CN" b="0" i="0" dirty="0">
                <a:solidFill>
                  <a:srgbClr val="444444"/>
                </a:solidFill>
                <a:effectLst/>
                <a:latin typeface="Helvetica Neue"/>
              </a:rPr>
              <a:t>/</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/default/useradd</a:t>
            </a:r>
            <a:r>
              <a:rPr lang="zh-CN" altLang="en-US" b="0" i="0" dirty="0">
                <a:solidFill>
                  <a:srgbClr val="444444"/>
                </a:solidFill>
                <a:effectLst/>
                <a:latin typeface="Helvetica Neue"/>
              </a:rPr>
              <a:t>指定了</a:t>
            </a:r>
            <a:r>
              <a:rPr lang="en-US" altLang="zh-CN" b="0" i="0" dirty="0">
                <a:solidFill>
                  <a:srgbClr val="444444"/>
                </a:solidFill>
                <a:effectLst/>
                <a:latin typeface="Helvetica Neue"/>
              </a:rPr>
              <a:t>useradd</a:t>
            </a:r>
            <a:r>
              <a:rPr lang="zh-CN" altLang="en-US" b="0" i="0" dirty="0">
                <a:solidFill>
                  <a:srgbClr val="444444"/>
                </a:solidFill>
                <a:effectLst/>
                <a:latin typeface="Helvetica Neue"/>
              </a:rPr>
              <a:t>命令的一些默认参数值，</a:t>
            </a:r>
            <a:r>
              <a:rPr lang="en-US" altLang="zh-CN" b="0" i="0" dirty="0">
                <a:solidFill>
                  <a:srgbClr val="444444"/>
                </a:solidFill>
                <a:effectLst/>
                <a:latin typeface="Helvetica Neue"/>
              </a:rPr>
              <a:t>/</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a:t>
            </a:r>
            <a:r>
              <a:rPr lang="en-US" altLang="zh-CN" b="0" i="0" dirty="0" err="1">
                <a:solidFill>
                  <a:srgbClr val="444444"/>
                </a:solidFill>
                <a:effectLst/>
                <a:latin typeface="Helvetica Neue"/>
              </a:rPr>
              <a:t>login.defs</a:t>
            </a:r>
            <a:r>
              <a:rPr lang="en-US" altLang="zh-CN" b="0" i="0" dirty="0">
                <a:solidFill>
                  <a:srgbClr val="444444"/>
                </a:solidFill>
                <a:effectLst/>
                <a:latin typeface="Helvetica Neue"/>
              </a:rPr>
              <a:t> </a:t>
            </a:r>
            <a:r>
              <a:rPr lang="zh-CN" altLang="en-US" b="0" i="0" dirty="0">
                <a:solidFill>
                  <a:srgbClr val="444444"/>
                </a:solidFill>
                <a:effectLst/>
                <a:latin typeface="Helvetica Neue"/>
              </a:rPr>
              <a:t>文件用于在创建用户时，对用户的一些基本属性做默认设置，例如指定用户 </a:t>
            </a:r>
            <a:r>
              <a:rPr lang="en-US" altLang="zh-CN" b="0" i="0" dirty="0">
                <a:solidFill>
                  <a:srgbClr val="444444"/>
                </a:solidFill>
                <a:effectLst/>
                <a:latin typeface="Helvetica Neue"/>
              </a:rPr>
              <a:t>UID </a:t>
            </a:r>
            <a:r>
              <a:rPr lang="zh-CN" altLang="en-US" b="0" i="0" dirty="0">
                <a:solidFill>
                  <a:srgbClr val="444444"/>
                </a:solidFill>
                <a:effectLst/>
                <a:latin typeface="Helvetica Neue"/>
              </a:rPr>
              <a:t>和 </a:t>
            </a:r>
            <a:r>
              <a:rPr lang="en-US" altLang="zh-CN" b="0" i="0" dirty="0">
                <a:solidFill>
                  <a:srgbClr val="444444"/>
                </a:solidFill>
                <a:effectLst/>
                <a:latin typeface="Helvetica Neue"/>
              </a:rPr>
              <a:t>GID </a:t>
            </a:r>
            <a:r>
              <a:rPr lang="zh-CN" altLang="en-US" b="0" i="0" dirty="0">
                <a:solidFill>
                  <a:srgbClr val="444444"/>
                </a:solidFill>
                <a:effectLst/>
                <a:latin typeface="Helvetica Neue"/>
              </a:rPr>
              <a:t>的范围，用户的过期时间，密码的最大长度，等等。</a:t>
            </a:r>
            <a:r>
              <a:rPr lang="en-US" altLang="zh-CN" dirty="0">
                <a:solidFill>
                  <a:srgbClr val="FF0000"/>
                </a:solidFill>
              </a:rPr>
              <a:t>/</a:t>
            </a:r>
            <a:r>
              <a:rPr lang="en-US" altLang="zh-CN" dirty="0" err="1">
                <a:solidFill>
                  <a:srgbClr val="FF0000"/>
                </a:solidFill>
              </a:rPr>
              <a:t>etc</a:t>
            </a:r>
            <a:r>
              <a:rPr lang="en-US" altLang="zh-CN" dirty="0">
                <a:solidFill>
                  <a:srgbClr val="FF0000"/>
                </a:solidFill>
              </a:rPr>
              <a:t>/</a:t>
            </a:r>
            <a:r>
              <a:rPr lang="en-US" altLang="zh-CN" dirty="0" err="1">
                <a:solidFill>
                  <a:srgbClr val="FF0000"/>
                </a:solidFill>
              </a:rPr>
              <a:t>skel</a:t>
            </a:r>
            <a:r>
              <a:rPr lang="en-US" altLang="zh-CN" dirty="0">
                <a:solidFill>
                  <a:srgbClr val="FF0000"/>
                </a:solidFill>
              </a:rPr>
              <a:t> </a:t>
            </a:r>
            <a:r>
              <a:rPr lang="zh-CN" altLang="en-US" dirty="0">
                <a:solidFill>
                  <a:srgbClr val="FF0000"/>
                </a:solidFill>
              </a:rPr>
              <a:t> 家目录下创建的默认文件夹，</a:t>
            </a:r>
            <a:endParaRPr lang="en-US" altLang="zh-CN" dirty="0">
              <a:solidFill>
                <a:srgbClr val="FF0000"/>
              </a:solidFill>
            </a:endParaRPr>
          </a:p>
          <a:p>
            <a:pPr defTabSz="990478">
              <a:defRPr/>
            </a:pPr>
            <a:r>
              <a:rPr lang="en-US" altLang="zh-CN" b="0" i="0" dirty="0">
                <a:solidFill>
                  <a:srgbClr val="444444"/>
                </a:solidFill>
                <a:effectLst/>
                <a:latin typeface="Helvetica Neue"/>
              </a:rPr>
              <a:t>[</a:t>
            </a:r>
            <a:r>
              <a:rPr lang="en-US" altLang="zh-CN" b="0" i="0" dirty="0" err="1">
                <a:solidFill>
                  <a:srgbClr val="444444"/>
                </a:solidFill>
                <a:effectLst/>
                <a:latin typeface="Helvetica Neue"/>
              </a:rPr>
              <a:t>root@localhost</a:t>
            </a:r>
            <a:r>
              <a:rPr lang="en-US" altLang="zh-CN" b="0" i="0" dirty="0">
                <a:solidFill>
                  <a:srgbClr val="444444"/>
                </a:solidFill>
                <a:effectLst/>
                <a:latin typeface="Helvetica Neue"/>
              </a:rPr>
              <a:t> ~]#vim /</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/default/useradd</a:t>
            </a:r>
            <a:r>
              <a:rPr lang="en-US" altLang="zh-CN" dirty="0"/>
              <a:t/>
            </a:r>
            <a:br>
              <a:rPr lang="en-US" altLang="zh-CN" dirty="0"/>
            </a:br>
            <a:r>
              <a:rPr lang="en-US" altLang="zh-CN" b="0" i="0" dirty="0">
                <a:solidFill>
                  <a:srgbClr val="444444"/>
                </a:solidFill>
                <a:effectLst/>
                <a:latin typeface="Helvetica Neue"/>
              </a:rPr>
              <a:t># useradd defaults file</a:t>
            </a:r>
            <a:r>
              <a:rPr lang="en-US" altLang="zh-CN" dirty="0"/>
              <a:t/>
            </a:r>
            <a:br>
              <a:rPr lang="en-US" altLang="zh-CN" dirty="0"/>
            </a:br>
            <a:r>
              <a:rPr lang="en-US" altLang="zh-CN" b="0" i="0" dirty="0">
                <a:solidFill>
                  <a:srgbClr val="444444"/>
                </a:solidFill>
                <a:effectLst/>
                <a:latin typeface="Helvetica Neue"/>
              </a:rPr>
              <a:t>GR0UP=100</a:t>
            </a:r>
            <a:r>
              <a:rPr lang="en-US" altLang="zh-CN" dirty="0"/>
              <a:t/>
            </a:r>
            <a:br>
              <a:rPr lang="en-US" altLang="zh-CN" dirty="0"/>
            </a:br>
            <a:r>
              <a:rPr lang="en-US" altLang="zh-CN" b="0" i="0" dirty="0">
                <a:solidFill>
                  <a:srgbClr val="444444"/>
                </a:solidFill>
                <a:effectLst/>
                <a:latin typeface="Helvetica Neue"/>
              </a:rPr>
              <a:t>HOME=/home</a:t>
            </a:r>
            <a:r>
              <a:rPr lang="en-US" altLang="zh-CN" dirty="0"/>
              <a:t/>
            </a:r>
            <a:br>
              <a:rPr lang="en-US" altLang="zh-CN" dirty="0"/>
            </a:br>
            <a:r>
              <a:rPr lang="en-US" altLang="zh-CN" b="0" i="0" dirty="0">
                <a:solidFill>
                  <a:srgbClr val="444444"/>
                </a:solidFill>
                <a:effectLst/>
                <a:latin typeface="Helvetica Neue"/>
              </a:rPr>
              <a:t>INACTIVE=-1</a:t>
            </a:r>
            <a:r>
              <a:rPr lang="en-US" altLang="zh-CN" dirty="0"/>
              <a:t/>
            </a:r>
            <a:br>
              <a:rPr lang="en-US" altLang="zh-CN" dirty="0"/>
            </a:br>
            <a:r>
              <a:rPr lang="en-US" altLang="zh-CN" b="0" i="0" dirty="0">
                <a:solidFill>
                  <a:srgbClr val="444444"/>
                </a:solidFill>
                <a:effectLst/>
                <a:latin typeface="Helvetica Neue"/>
              </a:rPr>
              <a:t>EXPIRE=</a:t>
            </a:r>
            <a:r>
              <a:rPr lang="en-US" altLang="zh-CN" dirty="0"/>
              <a:t/>
            </a:r>
            <a:br>
              <a:rPr lang="en-US" altLang="zh-CN" dirty="0"/>
            </a:br>
            <a:r>
              <a:rPr lang="en-US" altLang="zh-CN" b="0" i="0" dirty="0">
                <a:solidFill>
                  <a:srgbClr val="444444"/>
                </a:solidFill>
                <a:effectLst/>
                <a:latin typeface="Helvetica Neue"/>
              </a:rPr>
              <a:t>SHELL=/bin/bash</a:t>
            </a:r>
            <a:r>
              <a:rPr lang="en-US" altLang="zh-CN" dirty="0"/>
              <a:t/>
            </a:r>
            <a:br>
              <a:rPr lang="en-US" altLang="zh-CN" dirty="0"/>
            </a:br>
            <a:r>
              <a:rPr lang="en-US" altLang="zh-CN" b="0" i="0" dirty="0">
                <a:solidFill>
                  <a:srgbClr val="444444"/>
                </a:solidFill>
                <a:effectLst/>
                <a:latin typeface="Helvetica Neue"/>
              </a:rPr>
              <a:t>SKEL=/</a:t>
            </a:r>
            <a:r>
              <a:rPr lang="en-US" altLang="zh-CN" b="0" i="0" dirty="0" err="1">
                <a:solidFill>
                  <a:srgbClr val="444444"/>
                </a:solidFill>
                <a:effectLst/>
                <a:latin typeface="Helvetica Neue"/>
              </a:rPr>
              <a:t>etc</a:t>
            </a:r>
            <a:r>
              <a:rPr lang="en-US" altLang="zh-CN" b="0" i="0" dirty="0">
                <a:solidFill>
                  <a:srgbClr val="444444"/>
                </a:solidFill>
                <a:effectLst/>
                <a:latin typeface="Helvetica Neue"/>
              </a:rPr>
              <a:t>/</a:t>
            </a:r>
            <a:r>
              <a:rPr lang="en-US" altLang="zh-CN" b="0" i="0" dirty="0" err="1">
                <a:solidFill>
                  <a:srgbClr val="444444"/>
                </a:solidFill>
                <a:effectLst/>
                <a:latin typeface="Helvetica Neue"/>
              </a:rPr>
              <a:t>skel</a:t>
            </a:r>
            <a:r>
              <a:rPr lang="en-US" altLang="zh-CN" dirty="0"/>
              <a:t/>
            </a:r>
            <a:br>
              <a:rPr lang="en-US" altLang="zh-CN" dirty="0"/>
            </a:br>
            <a:r>
              <a:rPr lang="en-US" altLang="zh-CN" b="0" i="0" dirty="0">
                <a:solidFill>
                  <a:srgbClr val="444444"/>
                </a:solidFill>
                <a:effectLst/>
                <a:latin typeface="Helvetica Neue"/>
              </a:rPr>
              <a:t>CREATE_MAIL_SPOOL=yes</a:t>
            </a:r>
            <a:endParaRPr lang="en-US" altLang="zh-CN" dirty="0">
              <a:solidFill>
                <a:srgbClr val="FF0000"/>
              </a:solidFill>
            </a:endParaRP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31</a:t>
            </a:fld>
            <a:endParaRPr lang="zh-CN" altLang="en-US"/>
          </a:p>
        </p:txBody>
      </p:sp>
    </p:spTree>
    <p:extLst>
      <p:ext uri="{BB962C8B-B14F-4D97-AF65-F5344CB8AC3E}">
        <p14:creationId xmlns:p14="http://schemas.microsoft.com/office/powerpoint/2010/main" val="19604232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b="1" dirty="0">
                <a:solidFill>
                  <a:schemeClr val="accent6">
                    <a:lumMod val="75000"/>
                  </a:schemeClr>
                </a:solidFill>
              </a:rPr>
              <a:t>useradd -D </a:t>
            </a:r>
            <a:r>
              <a:rPr lang="zh-CN" altLang="en-US" b="1" dirty="0">
                <a:solidFill>
                  <a:schemeClr val="accent6">
                    <a:lumMod val="75000"/>
                  </a:schemeClr>
                </a:solidFill>
              </a:rPr>
              <a:t>和</a:t>
            </a:r>
            <a:r>
              <a:rPr lang="en-US" altLang="zh-CN" b="1" dirty="0">
                <a:solidFill>
                  <a:schemeClr val="accent6">
                    <a:lumMod val="75000"/>
                  </a:schemeClr>
                </a:solidFill>
              </a:rPr>
              <a:t>vi</a:t>
            </a:r>
            <a:r>
              <a:rPr lang="zh-CN" altLang="en-US" dirty="0"/>
              <a:t>文件 </a:t>
            </a:r>
            <a:r>
              <a:rPr lang="en-US" altLang="zh-CN" dirty="0"/>
              <a:t>/</a:t>
            </a:r>
            <a:r>
              <a:rPr lang="en-US" altLang="zh-CN" dirty="0" err="1"/>
              <a:t>etc</a:t>
            </a:r>
            <a:r>
              <a:rPr lang="en-US" altLang="zh-CN" dirty="0"/>
              <a:t>/default/useradd </a:t>
            </a:r>
            <a:r>
              <a:rPr lang="zh-CN" altLang="en-US" dirty="0"/>
              <a:t>得到的结果一致</a:t>
            </a:r>
            <a:endParaRPr lang="en-US" altLang="zh-CN" b="1" dirty="0">
              <a:solidFill>
                <a:schemeClr val="accent6">
                  <a:lumMod val="75000"/>
                </a:schemeClr>
              </a:solidFill>
            </a:endParaRP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32</a:t>
            </a:fld>
            <a:endParaRPr lang="zh-CN" altLang="en-US"/>
          </a:p>
        </p:txBody>
      </p:sp>
    </p:spTree>
    <p:extLst>
      <p:ext uri="{BB962C8B-B14F-4D97-AF65-F5344CB8AC3E}">
        <p14:creationId xmlns:p14="http://schemas.microsoft.com/office/powerpoint/2010/main" val="32848129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我们利用</a:t>
            </a:r>
            <a:r>
              <a:rPr lang="en-US" altLang="zh-CN" dirty="0"/>
              <a:t>useradd</a:t>
            </a:r>
            <a:r>
              <a:rPr lang="zh-CN" altLang="en-US" dirty="0"/>
              <a:t>建立新账号之后，默认情况下，这个账号是暂时被锁定的，也就是该账号是无法登陆的，可以查看</a:t>
            </a:r>
            <a:r>
              <a:rPr lang="en-US" altLang="zh-CN" dirty="0"/>
              <a:t>/</a:t>
            </a:r>
            <a:r>
              <a:rPr lang="en-US" altLang="zh-CN" dirty="0" err="1"/>
              <a:t>etc</a:t>
            </a:r>
            <a:r>
              <a:rPr lang="en-US" altLang="zh-CN" dirty="0"/>
              <a:t>/shadow</a:t>
            </a:r>
            <a:r>
              <a:rPr lang="zh-CN" altLang="en-US" dirty="0"/>
              <a:t>文件的第二字段，是两个！！表示当前密码无效，那么我们怎么做呢？当然就是给用户设置一个新密码，那么怎么设置密码呢？也就是我们接下来要给大家介绍的</a:t>
            </a:r>
            <a:r>
              <a:rPr lang="en-US" altLang="zh-CN" dirty="0"/>
              <a:t>passwd</a:t>
            </a:r>
            <a:r>
              <a:rPr lang="zh-CN" altLang="en-US" dirty="0"/>
              <a:t>命令。</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33</a:t>
            </a:fld>
            <a:endParaRPr lang="zh-CN" altLang="en-US"/>
          </a:p>
        </p:txBody>
      </p:sp>
    </p:spTree>
    <p:extLst>
      <p:ext uri="{BB962C8B-B14F-4D97-AF65-F5344CB8AC3E}">
        <p14:creationId xmlns:p14="http://schemas.microsoft.com/office/powerpoint/2010/main" val="35709731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第八章 安全的部分会介绍</a:t>
            </a:r>
            <a:r>
              <a:rPr lang="en-US" altLang="zh-CN" dirty="0"/>
              <a:t>PAM</a:t>
            </a:r>
            <a:r>
              <a:rPr lang="zh-CN" altLang="en-US" dirty="0"/>
              <a:t>模块，通过两个具体的例子我们可以知道的只有管理员张虎可以更改其他用户的口令，普通用户只能修改自己的口令，并且在更改口令之前系统要求用户输入旧的口令。</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34</a:t>
            </a:fld>
            <a:endParaRPr lang="zh-CN" altLang="en-US"/>
          </a:p>
        </p:txBody>
      </p:sp>
    </p:spTree>
    <p:extLst>
      <p:ext uri="{BB962C8B-B14F-4D97-AF65-F5344CB8AC3E}">
        <p14:creationId xmlns:p14="http://schemas.microsoft.com/office/powerpoint/2010/main" val="869222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l</a:t>
            </a:r>
            <a:r>
              <a:rPr lang="zh-CN" altLang="en-US" dirty="0"/>
              <a:t>是</a:t>
            </a:r>
            <a:r>
              <a:rPr lang="en-US" altLang="zh-CN" dirty="0"/>
              <a:t>lock</a:t>
            </a:r>
            <a:r>
              <a:rPr lang="zh-CN" altLang="en-US" dirty="0"/>
              <a:t>的缩写，也就是锁定用户，</a:t>
            </a:r>
            <a:r>
              <a:rPr lang="en-US" altLang="zh-CN" dirty="0"/>
              <a:t>-u</a:t>
            </a:r>
            <a:r>
              <a:rPr lang="zh-CN" altLang="en-US" dirty="0"/>
              <a:t>则与</a:t>
            </a:r>
            <a:r>
              <a:rPr lang="en-US" altLang="zh-CN" dirty="0"/>
              <a:t>lock</a:t>
            </a:r>
            <a:r>
              <a:rPr lang="zh-CN" altLang="en-US" dirty="0"/>
              <a:t>相对，是</a:t>
            </a:r>
            <a:r>
              <a:rPr lang="en-US" altLang="zh-CN" dirty="0"/>
              <a:t>unlock</a:t>
            </a:r>
            <a:r>
              <a:rPr lang="zh-CN" altLang="en-US" dirty="0"/>
              <a:t>的意思</a:t>
            </a:r>
            <a:r>
              <a:rPr lang="en-US" altLang="zh-CN" dirty="0"/>
              <a:t>,passwd</a:t>
            </a:r>
            <a:r>
              <a:rPr lang="zh-CN" altLang="en-US" dirty="0"/>
              <a:t>还有很多其他的可选参数，大家可以利用我们第二章练习的命令帮助查看方法，查阅使用。</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35</a:t>
            </a:fld>
            <a:endParaRPr lang="zh-CN" altLang="en-US"/>
          </a:p>
        </p:txBody>
      </p:sp>
    </p:spTree>
    <p:extLst>
      <p:ext uri="{BB962C8B-B14F-4D97-AF65-F5344CB8AC3E}">
        <p14:creationId xmlns:p14="http://schemas.microsoft.com/office/powerpoint/2010/main" val="41885429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由于计算机硬件能力越来越强大，大大缩短了利用自动运行程序猜测口令的时间，如何提高口令的安全性？制定了一种口令时效的机制。</a:t>
            </a:r>
            <a:r>
              <a:rPr lang="en-US" altLang="zh-CN" dirty="0"/>
              <a:t>PPT</a:t>
            </a:r>
            <a:r>
              <a:rPr lang="zh-CN" altLang="en-US" dirty="0"/>
              <a:t>内容讲完。在</a:t>
            </a:r>
            <a:r>
              <a:rPr lang="en-US" altLang="zh-CN" dirty="0"/>
              <a:t>Linux</a:t>
            </a:r>
            <a:r>
              <a:rPr lang="zh-CN" altLang="en-US" dirty="0"/>
              <a:t>系统上，修改口令时效分为：对未来要创建的所有用户的口令时效需要修改</a:t>
            </a:r>
            <a:r>
              <a:rPr lang="en-US" altLang="zh-CN" dirty="0"/>
              <a:t>/</a:t>
            </a:r>
            <a:r>
              <a:rPr lang="en-US" altLang="zh-CN" dirty="0" err="1"/>
              <a:t>etc</a:t>
            </a:r>
            <a:r>
              <a:rPr lang="en-US" altLang="zh-CN" dirty="0"/>
              <a:t>/</a:t>
            </a:r>
            <a:r>
              <a:rPr lang="en-US" altLang="zh-CN" dirty="0" err="1"/>
              <a:t>login.defs</a:t>
            </a:r>
            <a:r>
              <a:rPr lang="zh-CN" altLang="en-US" dirty="0"/>
              <a:t>文件的相关参数，对已存在的用户修改口令时效是通过</a:t>
            </a:r>
            <a:r>
              <a:rPr lang="en-US" altLang="zh-CN" dirty="0" err="1"/>
              <a:t>chage</a:t>
            </a:r>
            <a:r>
              <a:rPr lang="zh-CN" altLang="en-US" dirty="0"/>
              <a:t>命令来管理。</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36</a:t>
            </a:fld>
            <a:endParaRPr lang="zh-CN" altLang="en-US"/>
          </a:p>
        </p:txBody>
      </p:sp>
    </p:spTree>
    <p:extLst>
      <p:ext uri="{BB962C8B-B14F-4D97-AF65-F5344CB8AC3E}">
        <p14:creationId xmlns:p14="http://schemas.microsoft.com/office/powerpoint/2010/main" val="3317051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92500" lnSpcReduction="10000"/>
          </a:bodyPr>
          <a:lstStyle/>
          <a:p>
            <a:r>
              <a:rPr lang="zh-CN" altLang="en-US" sz="1900" dirty="0">
                <a:solidFill>
                  <a:srgbClr val="FF6666"/>
                </a:solidFill>
                <a:latin typeface="细明体"/>
              </a:rPr>
              <a:t>选项与参数： </a:t>
            </a:r>
            <a:r>
              <a:rPr lang="en-US" altLang="zh-CN" sz="1900" dirty="0">
                <a:solidFill>
                  <a:srgbClr val="FF6666"/>
                </a:solidFill>
                <a:latin typeface="细明体"/>
              </a:rPr>
              <a:t>-l </a:t>
            </a:r>
            <a:r>
              <a:rPr lang="zh-CN" altLang="en-US" sz="1900" dirty="0">
                <a:solidFill>
                  <a:srgbClr val="FF6666"/>
                </a:solidFill>
                <a:latin typeface="细明体"/>
              </a:rPr>
              <a:t>：列出该账号的详细口令参数； </a:t>
            </a:r>
            <a:r>
              <a:rPr lang="en-US" altLang="zh-CN" sz="1900" dirty="0">
                <a:solidFill>
                  <a:srgbClr val="FF6666"/>
                </a:solidFill>
                <a:latin typeface="细明体"/>
              </a:rPr>
              <a:t>-d </a:t>
            </a:r>
            <a:r>
              <a:rPr lang="zh-CN" altLang="en-US" sz="1900" dirty="0">
                <a:solidFill>
                  <a:srgbClr val="FF6666"/>
                </a:solidFill>
                <a:latin typeface="细明体"/>
              </a:rPr>
              <a:t>：后面接日期，修改 </a:t>
            </a:r>
            <a:r>
              <a:rPr lang="en-US" altLang="zh-CN" sz="1900" dirty="0">
                <a:solidFill>
                  <a:srgbClr val="FF6666"/>
                </a:solidFill>
                <a:latin typeface="细明体"/>
              </a:rPr>
              <a:t>shadow </a:t>
            </a:r>
            <a:r>
              <a:rPr lang="zh-CN" altLang="en-US" sz="1900" dirty="0">
                <a:solidFill>
                  <a:srgbClr val="FF6666"/>
                </a:solidFill>
                <a:latin typeface="细明体"/>
              </a:rPr>
              <a:t>第三字段</a:t>
            </a:r>
            <a:r>
              <a:rPr lang="en-US" altLang="zh-CN" sz="1900" dirty="0">
                <a:solidFill>
                  <a:srgbClr val="FF6666"/>
                </a:solidFill>
                <a:latin typeface="细明体"/>
              </a:rPr>
              <a:t>(</a:t>
            </a:r>
            <a:r>
              <a:rPr lang="zh-CN" altLang="en-US" sz="1900" dirty="0">
                <a:solidFill>
                  <a:srgbClr val="FF6666"/>
                </a:solidFill>
                <a:latin typeface="细明体"/>
              </a:rPr>
              <a:t>最近一次更改口令的日期</a:t>
            </a:r>
            <a:r>
              <a:rPr lang="en-US" altLang="zh-CN" sz="1900" dirty="0">
                <a:solidFill>
                  <a:srgbClr val="FF6666"/>
                </a:solidFill>
                <a:latin typeface="细明体"/>
              </a:rPr>
              <a:t>)</a:t>
            </a:r>
            <a:r>
              <a:rPr lang="zh-CN" altLang="en-US" sz="1900" dirty="0">
                <a:solidFill>
                  <a:srgbClr val="FF6666"/>
                </a:solidFill>
                <a:latin typeface="细明体"/>
              </a:rPr>
              <a:t>，格式 </a:t>
            </a:r>
            <a:r>
              <a:rPr lang="en-US" altLang="zh-CN" sz="1900" dirty="0">
                <a:solidFill>
                  <a:srgbClr val="FF6666"/>
                </a:solidFill>
                <a:latin typeface="细明体"/>
              </a:rPr>
              <a:t>YYYY-MM-DD -E </a:t>
            </a:r>
            <a:r>
              <a:rPr lang="zh-CN" altLang="en-US" sz="1900" dirty="0">
                <a:solidFill>
                  <a:srgbClr val="FF6666"/>
                </a:solidFill>
                <a:latin typeface="细明体"/>
              </a:rPr>
              <a:t>：后面接日期，修改 </a:t>
            </a:r>
            <a:r>
              <a:rPr lang="en-US" altLang="zh-CN" sz="1900" dirty="0">
                <a:solidFill>
                  <a:srgbClr val="FF6666"/>
                </a:solidFill>
                <a:latin typeface="细明体"/>
              </a:rPr>
              <a:t>shadow </a:t>
            </a:r>
            <a:r>
              <a:rPr lang="zh-CN" altLang="en-US" sz="1900" dirty="0">
                <a:solidFill>
                  <a:srgbClr val="FF6666"/>
                </a:solidFill>
                <a:latin typeface="细明体"/>
              </a:rPr>
              <a:t>第八字段</a:t>
            </a:r>
            <a:r>
              <a:rPr lang="en-US" altLang="zh-CN" sz="1900" dirty="0">
                <a:solidFill>
                  <a:srgbClr val="FF6666"/>
                </a:solidFill>
                <a:latin typeface="细明体"/>
              </a:rPr>
              <a:t>(</a:t>
            </a:r>
            <a:r>
              <a:rPr lang="zh-CN" altLang="en-US" sz="1900" dirty="0">
                <a:solidFill>
                  <a:srgbClr val="FF6666"/>
                </a:solidFill>
                <a:latin typeface="细明体"/>
              </a:rPr>
              <a:t>账号失效日</a:t>
            </a:r>
            <a:r>
              <a:rPr lang="en-US" altLang="zh-CN" sz="1900" dirty="0">
                <a:solidFill>
                  <a:srgbClr val="FF6666"/>
                </a:solidFill>
                <a:latin typeface="细明体"/>
              </a:rPr>
              <a:t>)</a:t>
            </a:r>
            <a:r>
              <a:rPr lang="zh-CN" altLang="en-US" sz="1900" dirty="0">
                <a:solidFill>
                  <a:srgbClr val="FF6666"/>
                </a:solidFill>
                <a:latin typeface="细明体"/>
              </a:rPr>
              <a:t>，格式 </a:t>
            </a:r>
            <a:r>
              <a:rPr lang="en-US" altLang="zh-CN" sz="1900" dirty="0">
                <a:solidFill>
                  <a:srgbClr val="FF6666"/>
                </a:solidFill>
                <a:latin typeface="细明体"/>
              </a:rPr>
              <a:t>YYYY-MM-DD -I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第七字段</a:t>
            </a:r>
            <a:r>
              <a:rPr lang="en-US" altLang="zh-CN" sz="1900" dirty="0">
                <a:solidFill>
                  <a:srgbClr val="FF6666"/>
                </a:solidFill>
                <a:latin typeface="细明体"/>
              </a:rPr>
              <a:t>(</a:t>
            </a:r>
            <a:r>
              <a:rPr lang="zh-CN" altLang="en-US" sz="1900" dirty="0">
                <a:solidFill>
                  <a:srgbClr val="FF6666"/>
                </a:solidFill>
                <a:latin typeface="细明体"/>
              </a:rPr>
              <a:t>口令失效日期</a:t>
            </a:r>
            <a:r>
              <a:rPr lang="en-US" altLang="zh-CN" sz="1900" dirty="0">
                <a:solidFill>
                  <a:srgbClr val="FF6666"/>
                </a:solidFill>
                <a:latin typeface="细明体"/>
              </a:rPr>
              <a:t>) -m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第四字段</a:t>
            </a:r>
            <a:r>
              <a:rPr lang="en-US" altLang="zh-CN" sz="1900" dirty="0">
                <a:solidFill>
                  <a:srgbClr val="FF6666"/>
                </a:solidFill>
                <a:latin typeface="细明体"/>
              </a:rPr>
              <a:t>(</a:t>
            </a:r>
            <a:r>
              <a:rPr lang="zh-CN" altLang="en-US" sz="1900" dirty="0">
                <a:solidFill>
                  <a:srgbClr val="FF6666"/>
                </a:solidFill>
                <a:latin typeface="细明体"/>
              </a:rPr>
              <a:t>口令最短保留天数</a:t>
            </a:r>
            <a:r>
              <a:rPr lang="en-US" altLang="zh-CN" sz="1900" dirty="0">
                <a:solidFill>
                  <a:srgbClr val="FF6666"/>
                </a:solidFill>
                <a:latin typeface="细明体"/>
              </a:rPr>
              <a:t>) -M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第五字段</a:t>
            </a:r>
            <a:r>
              <a:rPr lang="en-US" altLang="zh-CN" sz="1900" dirty="0">
                <a:solidFill>
                  <a:srgbClr val="FF6666"/>
                </a:solidFill>
                <a:latin typeface="细明体"/>
              </a:rPr>
              <a:t>(</a:t>
            </a:r>
            <a:r>
              <a:rPr lang="zh-CN" altLang="en-US" sz="1900" dirty="0">
                <a:solidFill>
                  <a:srgbClr val="FF6666"/>
                </a:solidFill>
                <a:latin typeface="细明体"/>
              </a:rPr>
              <a:t>口令多久需要进行变更</a:t>
            </a:r>
            <a:r>
              <a:rPr lang="en-US" altLang="zh-CN" sz="1900" dirty="0">
                <a:solidFill>
                  <a:srgbClr val="FF6666"/>
                </a:solidFill>
                <a:latin typeface="细明体"/>
              </a:rPr>
              <a:t>) -W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第六字段</a:t>
            </a:r>
            <a:r>
              <a:rPr lang="en-US" altLang="zh-CN" sz="1900" dirty="0">
                <a:solidFill>
                  <a:srgbClr val="FF6666"/>
                </a:solidFill>
                <a:latin typeface="细明体"/>
              </a:rPr>
              <a:t>(</a:t>
            </a:r>
            <a:r>
              <a:rPr lang="zh-CN" altLang="en-US" sz="1900" dirty="0">
                <a:solidFill>
                  <a:srgbClr val="FF6666"/>
                </a:solidFill>
                <a:latin typeface="细明体"/>
              </a:rPr>
              <a:t>口令过期前警告日期</a:t>
            </a:r>
            <a:r>
              <a:rPr lang="en-US" altLang="zh-CN" sz="1900" dirty="0">
                <a:solidFill>
                  <a:srgbClr val="FF6666"/>
                </a:solidFill>
                <a:latin typeface="细明体"/>
              </a:rPr>
              <a:t>)</a:t>
            </a:r>
            <a:r>
              <a:rPr lang="zh-CN" altLang="en-US" sz="1900" dirty="0">
                <a:solidFill>
                  <a:srgbClr val="FFFFFF"/>
                </a:solidFill>
                <a:latin typeface="细明体"/>
              </a:rPr>
              <a:t> </a:t>
            </a:r>
            <a:r>
              <a:rPr lang="zh-CN" altLang="en-US" sz="1900" dirty="0">
                <a:solidFill>
                  <a:srgbClr val="BBBBBB"/>
                </a:solidFill>
                <a:latin typeface="细明体"/>
              </a:rPr>
              <a:t>范例一：列出 </a:t>
            </a:r>
            <a:r>
              <a:rPr lang="en-US" altLang="zh-CN" sz="1900" dirty="0">
                <a:solidFill>
                  <a:srgbClr val="BBBBBB"/>
                </a:solidFill>
                <a:latin typeface="细明体"/>
              </a:rPr>
              <a:t>vbird2 </a:t>
            </a:r>
            <a:r>
              <a:rPr lang="zh-CN" altLang="en-US" sz="1900" dirty="0">
                <a:solidFill>
                  <a:srgbClr val="BBBBBB"/>
                </a:solidFill>
                <a:latin typeface="细明体"/>
              </a:rPr>
              <a:t>的详细口令参数</a:t>
            </a:r>
            <a:r>
              <a:rPr lang="zh-CN" altLang="en-US" sz="1900" dirty="0">
                <a:solidFill>
                  <a:srgbClr val="FFFFFF"/>
                </a:solidFill>
                <a:latin typeface="细明体"/>
              </a:rPr>
              <a:t> </a:t>
            </a:r>
            <a:r>
              <a:rPr lang="en-US" altLang="zh-CN" sz="1900" dirty="0">
                <a:solidFill>
                  <a:srgbClr val="FFFFFF"/>
                </a:solidFill>
                <a:latin typeface="细明体"/>
              </a:rPr>
              <a:t>[</a:t>
            </a:r>
            <a:r>
              <a:rPr lang="en-US" altLang="zh-CN" sz="1900" dirty="0" err="1">
                <a:solidFill>
                  <a:srgbClr val="FFFFFF"/>
                </a:solidFill>
                <a:latin typeface="细明体"/>
              </a:rPr>
              <a:t>root@www</a:t>
            </a:r>
            <a:r>
              <a:rPr lang="en-US" altLang="zh-CN" sz="1900" dirty="0">
                <a:solidFill>
                  <a:srgbClr val="FFFFFF"/>
                </a:solidFill>
                <a:latin typeface="细明体"/>
              </a:rPr>
              <a:t> ~]# </a:t>
            </a:r>
            <a:r>
              <a:rPr lang="en-US" altLang="zh-CN" sz="1900" b="1" dirty="0" err="1">
                <a:solidFill>
                  <a:srgbClr val="FFFF00"/>
                </a:solidFill>
                <a:latin typeface="细明体"/>
              </a:rPr>
              <a:t>chage</a:t>
            </a:r>
            <a:r>
              <a:rPr lang="en-US" altLang="zh-CN" sz="1900" b="1" dirty="0">
                <a:solidFill>
                  <a:srgbClr val="FFFF00"/>
                </a:solidFill>
                <a:latin typeface="细明体"/>
              </a:rPr>
              <a:t> -l vbird2</a:t>
            </a:r>
            <a:r>
              <a:rPr lang="en-US" altLang="zh-CN" sz="1900" dirty="0">
                <a:solidFill>
                  <a:srgbClr val="FFFFFF"/>
                </a:solidFill>
                <a:latin typeface="细明体"/>
              </a:rPr>
              <a:t> Last password change : Feb 26, 2009 Password expires : Apr 27, 2009 Password inactive : May 07, 2009 Account expires : never Minimum number of days between password change : 0 Maximum number of days between password change : 60 Number of days of warning before password expires : 7</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38</a:t>
            </a:fld>
            <a:endParaRPr lang="zh-CN" altLang="en-US"/>
          </a:p>
        </p:txBody>
      </p:sp>
    </p:spTree>
    <p:extLst>
      <p:ext uri="{BB962C8B-B14F-4D97-AF65-F5344CB8AC3E}">
        <p14:creationId xmlns:p14="http://schemas.microsoft.com/office/powerpoint/2010/main" val="24309075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92500" lnSpcReduction="10000"/>
          </a:bodyPr>
          <a:lstStyle/>
          <a:p>
            <a:r>
              <a:rPr lang="zh-CN" altLang="en-US" sz="1900" dirty="0">
                <a:solidFill>
                  <a:srgbClr val="FF6666"/>
                </a:solidFill>
                <a:latin typeface="细明体"/>
              </a:rPr>
              <a:t>选项与参数： </a:t>
            </a:r>
            <a:r>
              <a:rPr lang="en-US" altLang="zh-CN" sz="1900" dirty="0">
                <a:solidFill>
                  <a:srgbClr val="FF6666"/>
                </a:solidFill>
                <a:latin typeface="细明体"/>
              </a:rPr>
              <a:t>-l </a:t>
            </a:r>
            <a:r>
              <a:rPr lang="zh-CN" altLang="en-US" sz="1900" dirty="0">
                <a:solidFill>
                  <a:srgbClr val="FF6666"/>
                </a:solidFill>
                <a:latin typeface="细明体"/>
              </a:rPr>
              <a:t>：列出该账号的详细口令参数； </a:t>
            </a:r>
            <a:r>
              <a:rPr lang="en-US" altLang="zh-CN" sz="1900" dirty="0">
                <a:solidFill>
                  <a:srgbClr val="FF6666"/>
                </a:solidFill>
                <a:latin typeface="细明体"/>
              </a:rPr>
              <a:t>-d </a:t>
            </a:r>
            <a:r>
              <a:rPr lang="zh-CN" altLang="en-US" sz="1900" dirty="0">
                <a:solidFill>
                  <a:srgbClr val="FF6666"/>
                </a:solidFill>
                <a:latin typeface="细明体"/>
              </a:rPr>
              <a:t>：后面接日期，修改 </a:t>
            </a:r>
            <a:r>
              <a:rPr lang="en-US" altLang="zh-CN" sz="1900" dirty="0">
                <a:solidFill>
                  <a:srgbClr val="FF6666"/>
                </a:solidFill>
                <a:latin typeface="细明体"/>
              </a:rPr>
              <a:t>shadow </a:t>
            </a:r>
            <a:r>
              <a:rPr lang="zh-CN" altLang="en-US" sz="1900" dirty="0">
                <a:solidFill>
                  <a:srgbClr val="FF6666"/>
                </a:solidFill>
                <a:latin typeface="细明体"/>
              </a:rPr>
              <a:t>第三字段</a:t>
            </a:r>
            <a:r>
              <a:rPr lang="en-US" altLang="zh-CN" sz="1900" dirty="0">
                <a:solidFill>
                  <a:srgbClr val="FF6666"/>
                </a:solidFill>
                <a:latin typeface="细明体"/>
              </a:rPr>
              <a:t>(</a:t>
            </a:r>
            <a:r>
              <a:rPr lang="zh-CN" altLang="en-US" sz="1900" dirty="0">
                <a:solidFill>
                  <a:srgbClr val="FF6666"/>
                </a:solidFill>
                <a:latin typeface="细明体"/>
              </a:rPr>
              <a:t>最近一次更改口令的日期</a:t>
            </a:r>
            <a:r>
              <a:rPr lang="en-US" altLang="zh-CN" sz="1900" dirty="0">
                <a:solidFill>
                  <a:srgbClr val="FF6666"/>
                </a:solidFill>
                <a:latin typeface="细明体"/>
              </a:rPr>
              <a:t>)</a:t>
            </a:r>
            <a:r>
              <a:rPr lang="zh-CN" altLang="en-US" sz="1900" dirty="0">
                <a:solidFill>
                  <a:srgbClr val="FF6666"/>
                </a:solidFill>
                <a:latin typeface="细明体"/>
              </a:rPr>
              <a:t>，格式 </a:t>
            </a:r>
            <a:r>
              <a:rPr lang="en-US" altLang="zh-CN" sz="1900" dirty="0">
                <a:solidFill>
                  <a:srgbClr val="FF6666"/>
                </a:solidFill>
                <a:latin typeface="细明体"/>
              </a:rPr>
              <a:t>YYYY-MM-DD -E </a:t>
            </a:r>
            <a:r>
              <a:rPr lang="zh-CN" altLang="en-US" sz="1900" dirty="0">
                <a:solidFill>
                  <a:srgbClr val="FF6666"/>
                </a:solidFill>
                <a:latin typeface="细明体"/>
              </a:rPr>
              <a:t>：后面接日期，修改 </a:t>
            </a:r>
            <a:r>
              <a:rPr lang="en-US" altLang="zh-CN" sz="1900" dirty="0">
                <a:solidFill>
                  <a:srgbClr val="FF6666"/>
                </a:solidFill>
                <a:latin typeface="细明体"/>
              </a:rPr>
              <a:t>shadow </a:t>
            </a:r>
            <a:r>
              <a:rPr lang="zh-CN" altLang="en-US" sz="1900" dirty="0">
                <a:solidFill>
                  <a:srgbClr val="FF6666"/>
                </a:solidFill>
                <a:latin typeface="细明体"/>
              </a:rPr>
              <a:t>第八字段</a:t>
            </a:r>
            <a:r>
              <a:rPr lang="en-US" altLang="zh-CN" sz="1900" dirty="0">
                <a:solidFill>
                  <a:srgbClr val="FF6666"/>
                </a:solidFill>
                <a:latin typeface="细明体"/>
              </a:rPr>
              <a:t>(</a:t>
            </a:r>
            <a:r>
              <a:rPr lang="zh-CN" altLang="en-US" sz="1900" dirty="0">
                <a:solidFill>
                  <a:srgbClr val="FF6666"/>
                </a:solidFill>
                <a:latin typeface="细明体"/>
              </a:rPr>
              <a:t>账号失效日</a:t>
            </a:r>
            <a:r>
              <a:rPr lang="en-US" altLang="zh-CN" sz="1900" dirty="0">
                <a:solidFill>
                  <a:srgbClr val="FF6666"/>
                </a:solidFill>
                <a:latin typeface="细明体"/>
              </a:rPr>
              <a:t>)</a:t>
            </a:r>
            <a:r>
              <a:rPr lang="zh-CN" altLang="en-US" sz="1900" dirty="0">
                <a:solidFill>
                  <a:srgbClr val="FF6666"/>
                </a:solidFill>
                <a:latin typeface="细明体"/>
              </a:rPr>
              <a:t>，格式 </a:t>
            </a:r>
            <a:r>
              <a:rPr lang="en-US" altLang="zh-CN" sz="1900" dirty="0">
                <a:solidFill>
                  <a:srgbClr val="FF6666"/>
                </a:solidFill>
                <a:latin typeface="细明体"/>
              </a:rPr>
              <a:t>YYYY-MM-DD -I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第七字段</a:t>
            </a:r>
            <a:r>
              <a:rPr lang="en-US" altLang="zh-CN" sz="1900" dirty="0">
                <a:solidFill>
                  <a:srgbClr val="FF6666"/>
                </a:solidFill>
                <a:latin typeface="细明体"/>
              </a:rPr>
              <a:t>(</a:t>
            </a:r>
            <a:r>
              <a:rPr lang="zh-CN" altLang="en-US" sz="1900" dirty="0">
                <a:solidFill>
                  <a:srgbClr val="FF6666"/>
                </a:solidFill>
                <a:latin typeface="细明体"/>
              </a:rPr>
              <a:t>口令失效日期</a:t>
            </a:r>
            <a:r>
              <a:rPr lang="en-US" altLang="zh-CN" sz="1900" dirty="0">
                <a:solidFill>
                  <a:srgbClr val="FF6666"/>
                </a:solidFill>
                <a:latin typeface="细明体"/>
              </a:rPr>
              <a:t>) -m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第四字段</a:t>
            </a:r>
            <a:r>
              <a:rPr lang="en-US" altLang="zh-CN" sz="1900" dirty="0">
                <a:solidFill>
                  <a:srgbClr val="FF6666"/>
                </a:solidFill>
                <a:latin typeface="细明体"/>
              </a:rPr>
              <a:t>(</a:t>
            </a:r>
            <a:r>
              <a:rPr lang="zh-CN" altLang="en-US" sz="1900" dirty="0">
                <a:solidFill>
                  <a:srgbClr val="FF6666"/>
                </a:solidFill>
                <a:latin typeface="细明体"/>
              </a:rPr>
              <a:t>口令最短保留天数</a:t>
            </a:r>
            <a:r>
              <a:rPr lang="en-US" altLang="zh-CN" sz="1900" dirty="0">
                <a:solidFill>
                  <a:srgbClr val="FF6666"/>
                </a:solidFill>
                <a:latin typeface="细明体"/>
              </a:rPr>
              <a:t>) -M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第五字段</a:t>
            </a:r>
            <a:r>
              <a:rPr lang="en-US" altLang="zh-CN" sz="1900" dirty="0">
                <a:solidFill>
                  <a:srgbClr val="FF6666"/>
                </a:solidFill>
                <a:latin typeface="细明体"/>
              </a:rPr>
              <a:t>(</a:t>
            </a:r>
            <a:r>
              <a:rPr lang="zh-CN" altLang="en-US" sz="1900" dirty="0">
                <a:solidFill>
                  <a:srgbClr val="FF6666"/>
                </a:solidFill>
                <a:latin typeface="细明体"/>
              </a:rPr>
              <a:t>口令多久需要进行变更</a:t>
            </a:r>
            <a:r>
              <a:rPr lang="en-US" altLang="zh-CN" sz="1900" dirty="0">
                <a:solidFill>
                  <a:srgbClr val="FF6666"/>
                </a:solidFill>
                <a:latin typeface="细明体"/>
              </a:rPr>
              <a:t>) -W </a:t>
            </a:r>
            <a:r>
              <a:rPr lang="zh-CN" altLang="en-US" sz="1900" dirty="0">
                <a:solidFill>
                  <a:srgbClr val="FF6666"/>
                </a:solidFill>
                <a:latin typeface="细明体"/>
              </a:rPr>
              <a:t>：后面接天数，修改 </a:t>
            </a:r>
            <a:r>
              <a:rPr lang="en-US" altLang="zh-CN" sz="1900" dirty="0">
                <a:solidFill>
                  <a:srgbClr val="FF6666"/>
                </a:solidFill>
                <a:latin typeface="细明体"/>
              </a:rPr>
              <a:t>shadow </a:t>
            </a:r>
            <a:r>
              <a:rPr lang="zh-CN" altLang="en-US" sz="1900" dirty="0">
                <a:solidFill>
                  <a:srgbClr val="FF6666"/>
                </a:solidFill>
                <a:latin typeface="细明体"/>
              </a:rPr>
              <a:t>第六字段</a:t>
            </a:r>
            <a:r>
              <a:rPr lang="en-US" altLang="zh-CN" sz="1900" dirty="0">
                <a:solidFill>
                  <a:srgbClr val="FF6666"/>
                </a:solidFill>
                <a:latin typeface="细明体"/>
              </a:rPr>
              <a:t>(</a:t>
            </a:r>
            <a:r>
              <a:rPr lang="zh-CN" altLang="en-US" sz="1900" dirty="0">
                <a:solidFill>
                  <a:srgbClr val="FF6666"/>
                </a:solidFill>
                <a:latin typeface="细明体"/>
              </a:rPr>
              <a:t>口令过期前警告日期</a:t>
            </a:r>
            <a:r>
              <a:rPr lang="en-US" altLang="zh-CN" sz="1900" dirty="0">
                <a:solidFill>
                  <a:srgbClr val="FF6666"/>
                </a:solidFill>
                <a:latin typeface="细明体"/>
              </a:rPr>
              <a:t>)</a:t>
            </a:r>
            <a:r>
              <a:rPr lang="zh-CN" altLang="en-US" sz="1900" dirty="0">
                <a:solidFill>
                  <a:srgbClr val="FFFFFF"/>
                </a:solidFill>
                <a:latin typeface="细明体"/>
              </a:rPr>
              <a:t> </a:t>
            </a:r>
            <a:r>
              <a:rPr lang="zh-CN" altLang="en-US" sz="1900" dirty="0">
                <a:solidFill>
                  <a:srgbClr val="BBBBBB"/>
                </a:solidFill>
                <a:latin typeface="细明体"/>
              </a:rPr>
              <a:t>范例一：列出 </a:t>
            </a:r>
            <a:r>
              <a:rPr lang="en-US" altLang="zh-CN" sz="1900" dirty="0">
                <a:solidFill>
                  <a:srgbClr val="BBBBBB"/>
                </a:solidFill>
                <a:latin typeface="细明体"/>
              </a:rPr>
              <a:t>vbird2 </a:t>
            </a:r>
            <a:r>
              <a:rPr lang="zh-CN" altLang="en-US" sz="1900" dirty="0">
                <a:solidFill>
                  <a:srgbClr val="BBBBBB"/>
                </a:solidFill>
                <a:latin typeface="细明体"/>
              </a:rPr>
              <a:t>的详细口令参数</a:t>
            </a:r>
            <a:r>
              <a:rPr lang="zh-CN" altLang="en-US" sz="1900" dirty="0">
                <a:solidFill>
                  <a:srgbClr val="FFFFFF"/>
                </a:solidFill>
                <a:latin typeface="细明体"/>
              </a:rPr>
              <a:t> </a:t>
            </a:r>
            <a:r>
              <a:rPr lang="en-US" altLang="zh-CN" sz="1900" dirty="0">
                <a:solidFill>
                  <a:srgbClr val="FFFFFF"/>
                </a:solidFill>
                <a:latin typeface="细明体"/>
              </a:rPr>
              <a:t>[</a:t>
            </a:r>
            <a:r>
              <a:rPr lang="en-US" altLang="zh-CN" sz="1900" dirty="0" err="1">
                <a:solidFill>
                  <a:srgbClr val="FFFFFF"/>
                </a:solidFill>
                <a:latin typeface="细明体"/>
              </a:rPr>
              <a:t>root@www</a:t>
            </a:r>
            <a:r>
              <a:rPr lang="en-US" altLang="zh-CN" sz="1900" dirty="0">
                <a:solidFill>
                  <a:srgbClr val="FFFFFF"/>
                </a:solidFill>
                <a:latin typeface="细明体"/>
              </a:rPr>
              <a:t> ~]# </a:t>
            </a:r>
            <a:r>
              <a:rPr lang="en-US" altLang="zh-CN" sz="1900" b="1" dirty="0" err="1">
                <a:solidFill>
                  <a:srgbClr val="FFFF00"/>
                </a:solidFill>
                <a:latin typeface="细明体"/>
              </a:rPr>
              <a:t>chage</a:t>
            </a:r>
            <a:r>
              <a:rPr lang="en-US" altLang="zh-CN" sz="1900" b="1" dirty="0">
                <a:solidFill>
                  <a:srgbClr val="FFFF00"/>
                </a:solidFill>
                <a:latin typeface="细明体"/>
              </a:rPr>
              <a:t> -l vbird2</a:t>
            </a:r>
            <a:r>
              <a:rPr lang="en-US" altLang="zh-CN" sz="1900" dirty="0">
                <a:solidFill>
                  <a:srgbClr val="FFFFFF"/>
                </a:solidFill>
                <a:latin typeface="细明体"/>
              </a:rPr>
              <a:t> Last password change : Feb 26, 2009 Password expires : Apr 27, 2009 Password inactive : May 07, 2009 Account expires : never Minimum number of days between password change : 0 Maximum number of days between password change : 60 Number of days of warning before password expires : 7</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39</a:t>
            </a:fld>
            <a:endParaRPr lang="zh-CN" altLang="en-US"/>
          </a:p>
        </p:txBody>
      </p:sp>
    </p:spTree>
    <p:extLst>
      <p:ext uri="{BB962C8B-B14F-4D97-AF65-F5344CB8AC3E}">
        <p14:creationId xmlns:p14="http://schemas.microsoft.com/office/powerpoint/2010/main" val="14463824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rgbClr val="FF6666"/>
                </a:solidFill>
                <a:latin typeface="细明体"/>
              </a:rPr>
              <a:t>选项与参数： </a:t>
            </a:r>
            <a:r>
              <a:rPr lang="en-US" altLang="zh-CN" sz="1200" dirty="0">
                <a:solidFill>
                  <a:srgbClr val="FF6666"/>
                </a:solidFill>
                <a:latin typeface="细明体"/>
              </a:rPr>
              <a:t>-l </a:t>
            </a:r>
            <a:r>
              <a:rPr lang="zh-CN" altLang="en-US" sz="1200" dirty="0">
                <a:solidFill>
                  <a:srgbClr val="FF6666"/>
                </a:solidFill>
                <a:latin typeface="细明体"/>
              </a:rPr>
              <a:t>：列出该账号的详细口令参数； </a:t>
            </a:r>
            <a:r>
              <a:rPr lang="en-US" altLang="zh-CN" sz="1200" dirty="0">
                <a:solidFill>
                  <a:srgbClr val="FF6666"/>
                </a:solidFill>
                <a:latin typeface="细明体"/>
              </a:rPr>
              <a:t>-d </a:t>
            </a:r>
            <a:r>
              <a:rPr lang="zh-CN" altLang="en-US" sz="1200" dirty="0">
                <a:solidFill>
                  <a:srgbClr val="FF6666"/>
                </a:solidFill>
                <a:latin typeface="细明体"/>
              </a:rPr>
              <a:t>：后面接日期，修改 </a:t>
            </a:r>
            <a:r>
              <a:rPr lang="en-US" altLang="zh-CN" sz="1200" dirty="0">
                <a:solidFill>
                  <a:srgbClr val="FF6666"/>
                </a:solidFill>
                <a:latin typeface="细明体"/>
              </a:rPr>
              <a:t>shadow </a:t>
            </a:r>
            <a:r>
              <a:rPr lang="zh-CN" altLang="en-US" sz="1200" dirty="0">
                <a:solidFill>
                  <a:srgbClr val="FF6666"/>
                </a:solidFill>
                <a:latin typeface="细明体"/>
              </a:rPr>
              <a:t>第三字段</a:t>
            </a:r>
            <a:r>
              <a:rPr lang="en-US" altLang="zh-CN" sz="1200" dirty="0">
                <a:solidFill>
                  <a:srgbClr val="FF6666"/>
                </a:solidFill>
                <a:latin typeface="细明体"/>
              </a:rPr>
              <a:t>(</a:t>
            </a:r>
            <a:r>
              <a:rPr lang="zh-CN" altLang="en-US" sz="1200" dirty="0">
                <a:solidFill>
                  <a:srgbClr val="FF6666"/>
                </a:solidFill>
                <a:latin typeface="细明体"/>
              </a:rPr>
              <a:t>最近一次更改口令的日期</a:t>
            </a:r>
            <a:r>
              <a:rPr lang="en-US" altLang="zh-CN" sz="1200" dirty="0">
                <a:solidFill>
                  <a:srgbClr val="FF6666"/>
                </a:solidFill>
                <a:latin typeface="细明体"/>
              </a:rPr>
              <a:t>)</a:t>
            </a:r>
            <a:r>
              <a:rPr lang="zh-CN" altLang="en-US" sz="1200" dirty="0">
                <a:solidFill>
                  <a:srgbClr val="FF6666"/>
                </a:solidFill>
                <a:latin typeface="细明体"/>
              </a:rPr>
              <a:t>，格式 </a:t>
            </a:r>
            <a:r>
              <a:rPr lang="en-US" altLang="zh-CN" sz="1200" dirty="0">
                <a:solidFill>
                  <a:srgbClr val="FF6666"/>
                </a:solidFill>
                <a:latin typeface="细明体"/>
              </a:rPr>
              <a:t>YYYY-MM-DD -m </a:t>
            </a:r>
            <a:r>
              <a:rPr lang="zh-CN" altLang="en-US" sz="1200" dirty="0">
                <a:solidFill>
                  <a:srgbClr val="FF6666"/>
                </a:solidFill>
                <a:latin typeface="细明体"/>
              </a:rPr>
              <a:t>：后面接天数，修改 </a:t>
            </a:r>
            <a:r>
              <a:rPr lang="en-US" altLang="zh-CN" sz="1200" dirty="0">
                <a:solidFill>
                  <a:srgbClr val="FF6666"/>
                </a:solidFill>
                <a:latin typeface="细明体"/>
              </a:rPr>
              <a:t>shadow </a:t>
            </a:r>
            <a:r>
              <a:rPr lang="zh-CN" altLang="en-US" sz="1200" dirty="0">
                <a:solidFill>
                  <a:srgbClr val="FF6666"/>
                </a:solidFill>
                <a:latin typeface="细明体"/>
              </a:rPr>
              <a:t>第四字段</a:t>
            </a:r>
            <a:r>
              <a:rPr lang="en-US" altLang="zh-CN" sz="1200" dirty="0">
                <a:solidFill>
                  <a:srgbClr val="FF6666"/>
                </a:solidFill>
                <a:latin typeface="细明体"/>
              </a:rPr>
              <a:t>(</a:t>
            </a:r>
            <a:r>
              <a:rPr lang="zh-CN" altLang="en-US" sz="1200" dirty="0">
                <a:solidFill>
                  <a:srgbClr val="FF6666"/>
                </a:solidFill>
                <a:latin typeface="细明体"/>
              </a:rPr>
              <a:t>口令最短保留天数</a:t>
            </a:r>
            <a:r>
              <a:rPr lang="en-US" altLang="zh-CN" sz="1200" dirty="0">
                <a:solidFill>
                  <a:srgbClr val="FF6666"/>
                </a:solidFill>
                <a:latin typeface="细明体"/>
              </a:rPr>
              <a:t>) -M </a:t>
            </a:r>
            <a:r>
              <a:rPr lang="zh-CN" altLang="en-US" sz="1200" dirty="0">
                <a:solidFill>
                  <a:srgbClr val="FF6666"/>
                </a:solidFill>
                <a:latin typeface="细明体"/>
              </a:rPr>
              <a:t>：后面接天数，修改 </a:t>
            </a:r>
            <a:r>
              <a:rPr lang="en-US" altLang="zh-CN" sz="1200" dirty="0">
                <a:solidFill>
                  <a:srgbClr val="FF6666"/>
                </a:solidFill>
                <a:latin typeface="细明体"/>
              </a:rPr>
              <a:t>shadow </a:t>
            </a:r>
            <a:r>
              <a:rPr lang="zh-CN" altLang="en-US" sz="1200" dirty="0">
                <a:solidFill>
                  <a:srgbClr val="FF6666"/>
                </a:solidFill>
                <a:latin typeface="细明体"/>
              </a:rPr>
              <a:t>第五字段</a:t>
            </a:r>
            <a:r>
              <a:rPr lang="en-US" altLang="zh-CN" sz="1200" dirty="0">
                <a:solidFill>
                  <a:srgbClr val="FF6666"/>
                </a:solidFill>
                <a:latin typeface="细明体"/>
              </a:rPr>
              <a:t>(</a:t>
            </a:r>
            <a:r>
              <a:rPr lang="zh-CN" altLang="en-US" sz="1200" dirty="0">
                <a:solidFill>
                  <a:srgbClr val="FF6666"/>
                </a:solidFill>
                <a:latin typeface="细明体"/>
              </a:rPr>
              <a:t>口令多久需要进行变更</a:t>
            </a:r>
            <a:r>
              <a:rPr lang="en-US" altLang="zh-CN" sz="1200" dirty="0">
                <a:solidFill>
                  <a:srgbClr val="FF6666"/>
                </a:solidFill>
                <a:latin typeface="细明体"/>
              </a:rPr>
              <a:t>) -W </a:t>
            </a:r>
            <a:r>
              <a:rPr lang="zh-CN" altLang="en-US" sz="1200" dirty="0">
                <a:solidFill>
                  <a:srgbClr val="FF6666"/>
                </a:solidFill>
                <a:latin typeface="细明体"/>
              </a:rPr>
              <a:t>：后面接天数，修改 </a:t>
            </a:r>
            <a:r>
              <a:rPr lang="en-US" altLang="zh-CN" sz="1200" dirty="0">
                <a:solidFill>
                  <a:srgbClr val="FF6666"/>
                </a:solidFill>
                <a:latin typeface="细明体"/>
              </a:rPr>
              <a:t>shadow </a:t>
            </a:r>
            <a:r>
              <a:rPr lang="zh-CN" altLang="en-US" sz="1200" dirty="0">
                <a:solidFill>
                  <a:srgbClr val="FF6666"/>
                </a:solidFill>
                <a:latin typeface="细明体"/>
              </a:rPr>
              <a:t>第六字段</a:t>
            </a:r>
            <a:r>
              <a:rPr lang="en-US" altLang="zh-CN" sz="1200" dirty="0">
                <a:solidFill>
                  <a:srgbClr val="FF6666"/>
                </a:solidFill>
                <a:latin typeface="细明体"/>
              </a:rPr>
              <a:t>(</a:t>
            </a:r>
            <a:r>
              <a:rPr lang="zh-CN" altLang="en-US" sz="1200" dirty="0">
                <a:solidFill>
                  <a:srgbClr val="FF6666"/>
                </a:solidFill>
                <a:latin typeface="细明体"/>
              </a:rPr>
              <a:t>口令过期前警告日期</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40</a:t>
            </a:fld>
            <a:endParaRPr lang="zh-CN" altLang="en-US"/>
          </a:p>
        </p:txBody>
      </p:sp>
    </p:spTree>
    <p:extLst>
      <p:ext uri="{BB962C8B-B14F-4D97-AF65-F5344CB8AC3E}">
        <p14:creationId xmlns:p14="http://schemas.microsoft.com/office/powerpoint/2010/main" val="38796432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不过还是不要随意修改组的</a:t>
            </a:r>
            <a:r>
              <a:rPr lang="en-US" altLang="zh-CN" dirty="0"/>
              <a:t>ID</a:t>
            </a:r>
            <a:r>
              <a:rPr lang="zh-CN" altLang="en-US" dirty="0"/>
              <a:t>，容易造成系统混乱。</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45</a:t>
            </a:fld>
            <a:endParaRPr lang="zh-CN" altLang="en-US"/>
          </a:p>
        </p:txBody>
      </p:sp>
    </p:spTree>
    <p:extLst>
      <p:ext uri="{BB962C8B-B14F-4D97-AF65-F5344CB8AC3E}">
        <p14:creationId xmlns:p14="http://schemas.microsoft.com/office/powerpoint/2010/main" val="19546861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另外我们可以给每个组增加一个组管理员，在系统管理员</a:t>
            </a:r>
            <a:r>
              <a:rPr lang="en-US" altLang="zh-CN" dirty="0"/>
              <a:t>root</a:t>
            </a:r>
            <a:r>
              <a:rPr lang="zh-CN" altLang="en-US" dirty="0"/>
              <a:t>账号忙的时候，接替系统管理员管理组。</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47</a:t>
            </a:fld>
            <a:endParaRPr lang="zh-CN" altLang="en-US"/>
          </a:p>
        </p:txBody>
      </p:sp>
    </p:spTree>
    <p:extLst>
      <p:ext uri="{BB962C8B-B14F-4D97-AF65-F5344CB8AC3E}">
        <p14:creationId xmlns:p14="http://schemas.microsoft.com/office/powerpoint/2010/main" val="11628447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err="1"/>
              <a:t>su</a:t>
            </a:r>
            <a:r>
              <a:rPr lang="en-US" altLang="zh-CN" dirty="0"/>
              <a:t> </a:t>
            </a:r>
            <a:r>
              <a:rPr lang="zh-CN" altLang="en-US" dirty="0"/>
              <a:t>命令因为在进行身份切换的时候需要超级用户的密码，所以安全起见适用于单个系统管理员的情况。系统管理员和超级用户</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48</a:t>
            </a:fld>
            <a:endParaRPr lang="zh-CN" altLang="en-US"/>
          </a:p>
        </p:txBody>
      </p:sp>
    </p:spTree>
    <p:extLst>
      <p:ext uri="{BB962C8B-B14F-4D97-AF65-F5344CB8AC3E}">
        <p14:creationId xmlns:p14="http://schemas.microsoft.com/office/powerpoint/2010/main" val="3315135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单纯使用</a:t>
            </a:r>
            <a:r>
              <a:rPr lang="en-US" altLang="zh-CN" dirty="0" err="1"/>
              <a:t>su</a:t>
            </a:r>
            <a:r>
              <a:rPr lang="zh-CN" altLang="en-US" dirty="0"/>
              <a:t>命令切换身份</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49</a:t>
            </a:fld>
            <a:endParaRPr lang="zh-CN" altLang="en-US"/>
          </a:p>
        </p:txBody>
      </p:sp>
    </p:spTree>
    <p:extLst>
      <p:ext uri="{BB962C8B-B14F-4D97-AF65-F5344CB8AC3E}">
        <p14:creationId xmlns:p14="http://schemas.microsoft.com/office/powerpoint/2010/main" val="32854471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单纯使用</a:t>
            </a:r>
            <a:r>
              <a:rPr lang="en-US" altLang="zh-CN" dirty="0" err="1"/>
              <a:t>su</a:t>
            </a:r>
            <a:r>
              <a:rPr lang="zh-CN" altLang="en-US" dirty="0"/>
              <a:t>命令切换</a:t>
            </a:r>
            <a:r>
              <a:rPr lang="zh-CN" altLang="en-US" b="0" i="0" dirty="0">
                <a:solidFill>
                  <a:srgbClr val="000000"/>
                </a:solidFill>
                <a:effectLst/>
                <a:latin typeface="新细明体"/>
              </a:rPr>
              <a:t>成为 </a:t>
            </a:r>
            <a:r>
              <a:rPr lang="en-US" altLang="zh-CN" b="0" i="0" dirty="0">
                <a:solidFill>
                  <a:srgbClr val="000000"/>
                </a:solidFill>
                <a:effectLst/>
                <a:latin typeface="新细明体"/>
              </a:rPr>
              <a:t>root </a:t>
            </a:r>
            <a:r>
              <a:rPr lang="zh-CN" altLang="en-US" b="0" i="0" dirty="0">
                <a:solidFill>
                  <a:srgbClr val="000000"/>
                </a:solidFill>
                <a:effectLst/>
                <a:latin typeface="新细明体"/>
              </a:rPr>
              <a:t>的身份，</a:t>
            </a:r>
            <a:r>
              <a:rPr lang="zh-CN" altLang="en-US" b="0" dirty="0">
                <a:solidFill>
                  <a:srgbClr val="000088"/>
                </a:solidFill>
                <a:effectLst/>
                <a:latin typeface="新细明体"/>
              </a:rPr>
              <a:t>读取的变量配置方式为 </a:t>
            </a:r>
            <a:r>
              <a:rPr lang="en-US" altLang="zh-CN" b="0" dirty="0">
                <a:solidFill>
                  <a:srgbClr val="000088"/>
                </a:solidFill>
                <a:effectLst/>
                <a:latin typeface="新细明体"/>
              </a:rPr>
              <a:t>non-login shell </a:t>
            </a:r>
            <a:r>
              <a:rPr lang="zh-CN" altLang="en-US" b="0" dirty="0">
                <a:solidFill>
                  <a:srgbClr val="000088"/>
                </a:solidFill>
                <a:effectLst/>
                <a:latin typeface="新细明体"/>
              </a:rPr>
              <a:t>的方式，这种方式很多原本的变量不会被改变</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50</a:t>
            </a:fld>
            <a:endParaRPr lang="zh-CN" altLang="en-US"/>
          </a:p>
        </p:txBody>
      </p:sp>
    </p:spTree>
    <p:extLst>
      <p:ext uri="{BB962C8B-B14F-4D97-AF65-F5344CB8AC3E}">
        <p14:creationId xmlns:p14="http://schemas.microsoft.com/office/powerpoint/2010/main" val="1248719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51</a:t>
            </a:fld>
            <a:endParaRPr lang="zh-CN" altLang="en-US"/>
          </a:p>
        </p:txBody>
      </p:sp>
    </p:spTree>
    <p:extLst>
      <p:ext uri="{BB962C8B-B14F-4D97-AF65-F5344CB8AC3E}">
        <p14:creationId xmlns:p14="http://schemas.microsoft.com/office/powerpoint/2010/main" val="22982890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 </a:t>
            </a:r>
            <a:r>
              <a:rPr lang="en-US" altLang="zh-CN" sz="1900" b="1" dirty="0" err="1">
                <a:solidFill>
                  <a:srgbClr val="FFFF00"/>
                </a:solidFill>
                <a:latin typeface="细明体"/>
              </a:rPr>
              <a:t>sudo</a:t>
            </a:r>
            <a:r>
              <a:rPr lang="en-US" altLang="zh-CN" sz="1900" b="1" dirty="0">
                <a:solidFill>
                  <a:srgbClr val="FFFF00"/>
                </a:solidFill>
                <a:latin typeface="细明体"/>
              </a:rPr>
              <a:t> [-b] [-u </a:t>
            </a:r>
            <a:r>
              <a:rPr lang="zh-CN" altLang="en-US" sz="1900" b="1" dirty="0">
                <a:solidFill>
                  <a:srgbClr val="FFFF00"/>
                </a:solidFill>
                <a:latin typeface="细明体"/>
              </a:rPr>
              <a:t>新使用者账号</a:t>
            </a:r>
            <a:r>
              <a:rPr lang="en-US" altLang="zh-CN" sz="1900" b="1" dirty="0">
                <a:solidFill>
                  <a:srgbClr val="FFFF00"/>
                </a:solidFill>
                <a:latin typeface="细明体"/>
              </a:rPr>
              <a:t>]</a:t>
            </a:r>
            <a:r>
              <a:rPr lang="zh-CN" altLang="en-US" dirty="0"/>
              <a:t> </a:t>
            </a:r>
            <a:r>
              <a:rPr lang="zh-CN" altLang="en-US" sz="1900" dirty="0">
                <a:solidFill>
                  <a:srgbClr val="FF6666"/>
                </a:solidFill>
                <a:latin typeface="细明体"/>
              </a:rPr>
              <a:t>选项与参数： </a:t>
            </a:r>
            <a:r>
              <a:rPr lang="en-US" altLang="zh-CN" sz="1900" dirty="0">
                <a:solidFill>
                  <a:srgbClr val="FF6666"/>
                </a:solidFill>
                <a:latin typeface="细明体"/>
              </a:rPr>
              <a:t>-b </a:t>
            </a:r>
            <a:r>
              <a:rPr lang="zh-CN" altLang="en-US" sz="1900" dirty="0">
                <a:solidFill>
                  <a:srgbClr val="FF6666"/>
                </a:solidFill>
                <a:latin typeface="细明体"/>
              </a:rPr>
              <a:t>：将后续的命令放到背景中让系统自行运行，而不与目前的 </a:t>
            </a:r>
            <a:r>
              <a:rPr lang="en-US" altLang="zh-CN" sz="1900" dirty="0">
                <a:solidFill>
                  <a:srgbClr val="FF6666"/>
                </a:solidFill>
                <a:latin typeface="细明体"/>
              </a:rPr>
              <a:t>shell </a:t>
            </a:r>
            <a:r>
              <a:rPr lang="zh-CN" altLang="en-US" sz="1900" dirty="0">
                <a:solidFill>
                  <a:srgbClr val="FF6666"/>
                </a:solidFill>
                <a:latin typeface="细明体"/>
              </a:rPr>
              <a:t>产生影响 </a:t>
            </a:r>
            <a:r>
              <a:rPr lang="en-US" altLang="zh-CN" sz="1900" dirty="0">
                <a:solidFill>
                  <a:srgbClr val="FF6666"/>
                </a:solidFill>
                <a:latin typeface="细明体"/>
              </a:rPr>
              <a:t>-u </a:t>
            </a:r>
            <a:r>
              <a:rPr lang="zh-CN" altLang="en-US" sz="1900" dirty="0">
                <a:solidFill>
                  <a:srgbClr val="FF6666"/>
                </a:solidFill>
                <a:latin typeface="细明体"/>
              </a:rPr>
              <a:t>：后面可以接欲切换的使用者，若无此项则代表切换身份为 </a:t>
            </a:r>
            <a:r>
              <a:rPr lang="en-US" altLang="zh-CN" sz="1900" dirty="0">
                <a:solidFill>
                  <a:srgbClr val="FF6666"/>
                </a:solidFill>
                <a:latin typeface="细明体"/>
              </a:rPr>
              <a:t>root </a:t>
            </a:r>
            <a:r>
              <a:rPr lang="zh-CN" altLang="en-US" sz="1900" dirty="0">
                <a:solidFill>
                  <a:srgbClr val="FF6666"/>
                </a:solidFill>
                <a:latin typeface="细明体"/>
              </a:rPr>
              <a:t>。</a:t>
            </a:r>
            <a:r>
              <a:rPr lang="zh-CN" altLang="en-US" dirty="0"/>
              <a:t> </a:t>
            </a:r>
            <a:r>
              <a:rPr lang="zh-CN" altLang="en-US" sz="1900" dirty="0">
                <a:solidFill>
                  <a:srgbClr val="BBBBBB"/>
                </a:solidFill>
                <a:latin typeface="细明体"/>
              </a:rPr>
              <a:t>范例一：你想要以 </a:t>
            </a:r>
            <a:r>
              <a:rPr lang="en-US" altLang="zh-CN" sz="1900" dirty="0" err="1">
                <a:solidFill>
                  <a:srgbClr val="BBBBBB"/>
                </a:solidFill>
                <a:latin typeface="细明体"/>
              </a:rPr>
              <a:t>sshd</a:t>
            </a:r>
            <a:r>
              <a:rPr lang="en-US" altLang="zh-CN" sz="1900" dirty="0">
                <a:solidFill>
                  <a:srgbClr val="BBBBBB"/>
                </a:solidFill>
                <a:latin typeface="细明体"/>
              </a:rPr>
              <a:t> </a:t>
            </a:r>
            <a:r>
              <a:rPr lang="zh-CN" altLang="en-US" sz="1900" dirty="0">
                <a:solidFill>
                  <a:srgbClr val="BBBBBB"/>
                </a:solidFill>
                <a:latin typeface="细明体"/>
              </a:rPr>
              <a:t>的身份在 </a:t>
            </a:r>
            <a:r>
              <a:rPr lang="en-US" altLang="zh-CN" sz="1900" dirty="0">
                <a:solidFill>
                  <a:srgbClr val="BBBBBB"/>
                </a:solidFill>
                <a:latin typeface="细明体"/>
              </a:rPr>
              <a:t>/</a:t>
            </a:r>
            <a:r>
              <a:rPr lang="en-US" altLang="zh-CN" sz="1900" dirty="0" err="1">
                <a:solidFill>
                  <a:srgbClr val="BBBBBB"/>
                </a:solidFill>
                <a:latin typeface="细明体"/>
              </a:rPr>
              <a:t>tmp</a:t>
            </a:r>
            <a:r>
              <a:rPr lang="en-US" altLang="zh-CN" sz="1900" dirty="0">
                <a:solidFill>
                  <a:srgbClr val="BBBBBB"/>
                </a:solidFill>
                <a:latin typeface="细明体"/>
              </a:rPr>
              <a:t> </a:t>
            </a:r>
            <a:r>
              <a:rPr lang="zh-CN" altLang="en-US" sz="1900" dirty="0">
                <a:solidFill>
                  <a:srgbClr val="BBBBBB"/>
                </a:solidFill>
                <a:latin typeface="细明体"/>
              </a:rPr>
              <a:t>底下创建一个名为 </a:t>
            </a:r>
            <a:r>
              <a:rPr lang="en-US" altLang="zh-CN" sz="1900" dirty="0" err="1">
                <a:solidFill>
                  <a:srgbClr val="BBBBBB"/>
                </a:solidFill>
                <a:latin typeface="细明体"/>
              </a:rPr>
              <a:t>mysshd</a:t>
            </a:r>
            <a:r>
              <a:rPr lang="en-US" altLang="zh-CN" sz="1900" dirty="0">
                <a:solidFill>
                  <a:srgbClr val="BBBBBB"/>
                </a:solidFill>
                <a:latin typeface="细明体"/>
              </a:rPr>
              <a:t> </a:t>
            </a:r>
            <a:r>
              <a:rPr lang="zh-CN" altLang="en-US" sz="1900" dirty="0">
                <a:solidFill>
                  <a:srgbClr val="BBBBBB"/>
                </a:solidFill>
                <a:latin typeface="细明体"/>
              </a:rPr>
              <a:t>的文件</a:t>
            </a:r>
            <a:r>
              <a:rPr lang="zh-CN" altLang="en-US" dirty="0"/>
              <a:t> </a:t>
            </a:r>
            <a:r>
              <a:rPr lang="en-US" altLang="zh-CN" dirty="0"/>
              <a:t>[</a:t>
            </a:r>
            <a:r>
              <a:rPr lang="en-US" altLang="zh-CN" dirty="0" err="1"/>
              <a:t>root@www</a:t>
            </a:r>
            <a:r>
              <a:rPr lang="en-US" altLang="zh-CN" dirty="0"/>
              <a:t> ~]# </a:t>
            </a:r>
            <a:r>
              <a:rPr lang="en-US" altLang="zh-CN" sz="1900" b="1" dirty="0" err="1">
                <a:solidFill>
                  <a:srgbClr val="FFFF00"/>
                </a:solidFill>
                <a:latin typeface="细明体"/>
              </a:rPr>
              <a:t>sudo</a:t>
            </a:r>
            <a:r>
              <a:rPr lang="en-US" altLang="zh-CN" sz="1900" b="1" dirty="0">
                <a:solidFill>
                  <a:srgbClr val="FFFF00"/>
                </a:solidFill>
                <a:latin typeface="细明体"/>
              </a:rPr>
              <a:t> -u </a:t>
            </a:r>
            <a:r>
              <a:rPr lang="en-US" altLang="zh-CN" sz="1900" b="1" dirty="0" err="1">
                <a:solidFill>
                  <a:srgbClr val="FFFF00"/>
                </a:solidFill>
                <a:latin typeface="细明体"/>
              </a:rPr>
              <a:t>sshd</a:t>
            </a:r>
            <a:r>
              <a:rPr lang="en-US" altLang="zh-CN" sz="1900" b="1" dirty="0">
                <a:solidFill>
                  <a:srgbClr val="FFFF00"/>
                </a:solidFill>
                <a:latin typeface="细明体"/>
              </a:rPr>
              <a:t> touch /</a:t>
            </a:r>
            <a:r>
              <a:rPr lang="en-US" altLang="zh-CN" sz="1900" b="1" dirty="0" err="1">
                <a:solidFill>
                  <a:srgbClr val="FFFF00"/>
                </a:solidFill>
                <a:latin typeface="细明体"/>
              </a:rPr>
              <a:t>tmp</a:t>
            </a:r>
            <a:r>
              <a:rPr lang="en-US" altLang="zh-CN" sz="1900" b="1" dirty="0">
                <a:solidFill>
                  <a:srgbClr val="FFFF00"/>
                </a:solidFill>
                <a:latin typeface="细明体"/>
              </a:rPr>
              <a:t>/</a:t>
            </a:r>
            <a:r>
              <a:rPr lang="en-US" altLang="zh-CN" sz="1900" b="1" dirty="0" err="1">
                <a:solidFill>
                  <a:srgbClr val="FFFF00"/>
                </a:solidFill>
                <a:latin typeface="细明体"/>
              </a:rPr>
              <a:t>mysshd</a:t>
            </a:r>
            <a:r>
              <a:rPr lang="zh-CN" altLang="en-US" dirty="0"/>
              <a:t> </a:t>
            </a:r>
            <a:r>
              <a:rPr lang="en-US" altLang="zh-CN" dirty="0"/>
              <a:t>[</a:t>
            </a:r>
            <a:r>
              <a:rPr lang="en-US" altLang="zh-CN" dirty="0" err="1"/>
              <a:t>root@www</a:t>
            </a:r>
            <a:r>
              <a:rPr lang="en-US" altLang="zh-CN" dirty="0"/>
              <a:t> ~]# </a:t>
            </a:r>
            <a:r>
              <a:rPr lang="en-US" altLang="zh-CN" sz="1900" b="1" dirty="0" err="1">
                <a:solidFill>
                  <a:srgbClr val="FFFF00"/>
                </a:solidFill>
                <a:latin typeface="细明体"/>
              </a:rPr>
              <a:t>ll</a:t>
            </a:r>
            <a:r>
              <a:rPr lang="en-US" altLang="zh-CN" sz="1900" b="1" dirty="0">
                <a:solidFill>
                  <a:srgbClr val="FFFF00"/>
                </a:solidFill>
                <a:latin typeface="细明体"/>
              </a:rPr>
              <a:t> /</a:t>
            </a:r>
            <a:r>
              <a:rPr lang="en-US" altLang="zh-CN" sz="1900" b="1" dirty="0" err="1">
                <a:solidFill>
                  <a:srgbClr val="FFFF00"/>
                </a:solidFill>
                <a:latin typeface="细明体"/>
              </a:rPr>
              <a:t>tmp</a:t>
            </a:r>
            <a:r>
              <a:rPr lang="en-US" altLang="zh-CN" sz="1900" b="1" dirty="0">
                <a:solidFill>
                  <a:srgbClr val="FFFF00"/>
                </a:solidFill>
                <a:latin typeface="细明体"/>
              </a:rPr>
              <a:t>/</a:t>
            </a:r>
            <a:r>
              <a:rPr lang="en-US" altLang="zh-CN" sz="1900" b="1" dirty="0" err="1">
                <a:solidFill>
                  <a:srgbClr val="FFFF00"/>
                </a:solidFill>
                <a:latin typeface="细明体"/>
              </a:rPr>
              <a:t>mysshd</a:t>
            </a:r>
            <a:r>
              <a:rPr lang="zh-CN" altLang="en-US" dirty="0"/>
              <a:t> </a:t>
            </a:r>
            <a:r>
              <a:rPr lang="en-US" altLang="zh-CN" dirty="0"/>
              <a:t>-</a:t>
            </a:r>
            <a:r>
              <a:rPr lang="en-US" altLang="zh-CN" dirty="0" err="1"/>
              <a:t>rw</a:t>
            </a:r>
            <a:r>
              <a:rPr lang="en-US" altLang="zh-CN" dirty="0"/>
              <a:t>-r--r-- 1 </a:t>
            </a:r>
            <a:r>
              <a:rPr lang="en-US" altLang="zh-CN" sz="1900" dirty="0" err="1">
                <a:solidFill>
                  <a:srgbClr val="FFFF00"/>
                </a:solidFill>
                <a:latin typeface="细明体"/>
              </a:rPr>
              <a:t>sshd</a:t>
            </a:r>
            <a:r>
              <a:rPr lang="en-US" altLang="zh-CN" sz="1900" dirty="0">
                <a:solidFill>
                  <a:srgbClr val="FFFF00"/>
                </a:solidFill>
                <a:latin typeface="细明体"/>
              </a:rPr>
              <a:t> </a:t>
            </a:r>
            <a:r>
              <a:rPr lang="en-US" altLang="zh-CN" sz="1900" dirty="0" err="1">
                <a:solidFill>
                  <a:srgbClr val="FFFF00"/>
                </a:solidFill>
                <a:latin typeface="细明体"/>
              </a:rPr>
              <a:t>sshd</a:t>
            </a:r>
            <a:r>
              <a:rPr lang="zh-CN" altLang="en-US" dirty="0"/>
              <a:t> </a:t>
            </a:r>
            <a:r>
              <a:rPr lang="en-US" altLang="zh-CN" dirty="0"/>
              <a:t>0 Feb 28 17:42 /</a:t>
            </a:r>
            <a:r>
              <a:rPr lang="en-US" altLang="zh-CN" dirty="0" err="1"/>
              <a:t>tmp</a:t>
            </a:r>
            <a:r>
              <a:rPr lang="en-US" altLang="zh-CN" dirty="0"/>
              <a:t>/</a:t>
            </a:r>
            <a:r>
              <a:rPr lang="en-US" altLang="zh-CN" dirty="0" err="1"/>
              <a:t>mysshd</a:t>
            </a:r>
            <a:r>
              <a:rPr lang="en-US" altLang="zh-CN" dirty="0"/>
              <a:t> </a:t>
            </a:r>
            <a:r>
              <a:rPr lang="en-US" altLang="zh-CN" sz="1900" dirty="0">
                <a:solidFill>
                  <a:srgbClr val="FF6666"/>
                </a:solidFill>
                <a:latin typeface="细明体"/>
              </a:rPr>
              <a:t># </a:t>
            </a:r>
            <a:r>
              <a:rPr lang="zh-CN" altLang="en-US" sz="1900" dirty="0">
                <a:solidFill>
                  <a:srgbClr val="FF6666"/>
                </a:solidFill>
                <a:latin typeface="细明体"/>
              </a:rPr>
              <a:t>特别留意，这个文件的权限是由 </a:t>
            </a:r>
            <a:r>
              <a:rPr lang="en-US" altLang="zh-CN" sz="1900" dirty="0" err="1">
                <a:solidFill>
                  <a:srgbClr val="FF6666"/>
                </a:solidFill>
                <a:latin typeface="细明体"/>
              </a:rPr>
              <a:t>sshd</a:t>
            </a:r>
            <a:r>
              <a:rPr lang="en-US" altLang="zh-CN" sz="1900" dirty="0">
                <a:solidFill>
                  <a:srgbClr val="FF6666"/>
                </a:solidFill>
                <a:latin typeface="细明体"/>
              </a:rPr>
              <a:t> </a:t>
            </a:r>
            <a:r>
              <a:rPr lang="zh-CN" altLang="en-US" sz="1900" dirty="0">
                <a:solidFill>
                  <a:srgbClr val="FF6666"/>
                </a:solidFill>
                <a:latin typeface="细明体"/>
              </a:rPr>
              <a:t>所创建的情况喔！</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52</a:t>
            </a:fld>
            <a:endParaRPr lang="zh-CN" altLang="en-US"/>
          </a:p>
        </p:txBody>
      </p:sp>
    </p:spTree>
    <p:extLst>
      <p:ext uri="{BB962C8B-B14F-4D97-AF65-F5344CB8AC3E}">
        <p14:creationId xmlns:p14="http://schemas.microsoft.com/office/powerpoint/2010/main" val="27586931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53</a:t>
            </a:fld>
            <a:endParaRPr lang="zh-CN" altLang="en-US"/>
          </a:p>
        </p:txBody>
      </p:sp>
    </p:spTree>
    <p:extLst>
      <p:ext uri="{BB962C8B-B14F-4D97-AF65-F5344CB8AC3E}">
        <p14:creationId xmlns:p14="http://schemas.microsoft.com/office/powerpoint/2010/main" val="26382266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将用户加入另一个用户组的方式有两种 </a:t>
            </a:r>
            <a:r>
              <a:rPr lang="en-US" altLang="zh-CN" dirty="0"/>
              <a:t>usermod</a:t>
            </a:r>
            <a:r>
              <a:rPr lang="zh-CN" altLang="en-US" dirty="0"/>
              <a:t>或者</a:t>
            </a:r>
            <a:r>
              <a:rPr lang="en-US" altLang="zh-CN" dirty="0"/>
              <a:t>gpasswd</a:t>
            </a:r>
            <a:r>
              <a:rPr lang="zh-CN" altLang="en-US" dirty="0"/>
              <a:t>，</a:t>
            </a:r>
            <a:r>
              <a:rPr kumimoji="0" lang="en-US" altLang="zh-CN" sz="1200" b="0" i="0" u="none" strike="noStrike" cap="none" normalizeH="0" baseline="0" dirty="0" err="1">
                <a:ln>
                  <a:noFill/>
                </a:ln>
                <a:solidFill>
                  <a:srgbClr val="FF0000"/>
                </a:solidFill>
                <a:effectLst/>
                <a:latin typeface="Arial" charset="0"/>
                <a:ea typeface="宋体" charset="-122"/>
              </a:rPr>
              <a:t>newgrp</a:t>
            </a:r>
            <a:r>
              <a:rPr kumimoji="0" lang="zh-CN" altLang="en-US" sz="1200" b="0" i="0" u="none" strike="noStrike" cap="none" normalizeH="0" baseline="0" dirty="0">
                <a:ln>
                  <a:noFill/>
                </a:ln>
                <a:solidFill>
                  <a:srgbClr val="FF0000"/>
                </a:solidFill>
                <a:effectLst/>
                <a:latin typeface="Arial" charset="0"/>
                <a:ea typeface="宋体" charset="-122"/>
              </a:rPr>
              <a:t>命令用于实现用户在其所属的不同组之间的切换。</a:t>
            </a:r>
            <a:endParaRPr kumimoji="0" lang="en-US" altLang="zh-CN" sz="1200" b="0" i="0" u="none" strike="noStrike" cap="none" normalizeH="0" baseline="0" dirty="0">
              <a:ln>
                <a:noFill/>
              </a:ln>
              <a:solidFill>
                <a:srgbClr val="FF0000"/>
              </a:solidFill>
              <a:effectLst/>
              <a:latin typeface="Arial" charset="0"/>
              <a:ea typeface="宋体" charset="-122"/>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54</a:t>
            </a:fld>
            <a:endParaRPr lang="zh-CN" altLang="en-US"/>
          </a:p>
        </p:txBody>
      </p:sp>
    </p:spTree>
    <p:extLst>
      <p:ext uri="{BB962C8B-B14F-4D97-AF65-F5344CB8AC3E}">
        <p14:creationId xmlns:p14="http://schemas.microsoft.com/office/powerpoint/2010/main" val="352043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这一部分在书中没有 大家作为了解</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55</a:t>
            </a:fld>
            <a:endParaRPr lang="zh-CN" altLang="en-US"/>
          </a:p>
        </p:txBody>
      </p:sp>
    </p:spTree>
    <p:extLst>
      <p:ext uri="{BB962C8B-B14F-4D97-AF65-F5344CB8AC3E}">
        <p14:creationId xmlns:p14="http://schemas.microsoft.com/office/powerpoint/2010/main" val="36295979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en-US" altLang="zh-CN" dirty="0"/>
              <a:t>-c</a:t>
            </a:r>
            <a:r>
              <a:rPr lang="zh-CN" altLang="en-US" dirty="0"/>
              <a:t>：至少包含一个大写字母</a:t>
            </a:r>
          </a:p>
          <a:p>
            <a:pPr lvl="1"/>
            <a:r>
              <a:rPr lang="en-US" altLang="zh-CN" dirty="0"/>
              <a:t>-n</a:t>
            </a:r>
            <a:r>
              <a:rPr lang="zh-CN" altLang="en-US" dirty="0"/>
              <a:t>：至少包含一个数字</a:t>
            </a:r>
          </a:p>
          <a:p>
            <a:pPr lvl="1"/>
            <a:r>
              <a:rPr lang="en-US" altLang="zh-CN" dirty="0"/>
              <a:t>-y</a:t>
            </a:r>
            <a:r>
              <a:rPr lang="zh-CN" altLang="en-US" dirty="0"/>
              <a:t>：至少包含一个非字母和数字的特殊字符</a:t>
            </a:r>
          </a:p>
          <a:p>
            <a:pPr lvl="1"/>
            <a:r>
              <a:rPr lang="en-US" altLang="zh-CN" dirty="0"/>
              <a:t>-s</a:t>
            </a:r>
            <a:r>
              <a:rPr lang="zh-CN" altLang="en-US" dirty="0"/>
              <a:t>：生成完全随机的安全口令</a:t>
            </a:r>
          </a:p>
          <a:p>
            <a:pPr lvl="1"/>
            <a:r>
              <a:rPr lang="en-US" altLang="zh-CN" dirty="0"/>
              <a:t>-1</a:t>
            </a:r>
            <a:r>
              <a:rPr lang="zh-CN" altLang="en-US" dirty="0"/>
              <a:t>：每行显示一个口令</a:t>
            </a: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59</a:t>
            </a:fld>
            <a:endParaRPr lang="zh-CN" altLang="en-US"/>
          </a:p>
        </p:txBody>
      </p:sp>
    </p:spTree>
    <p:extLst>
      <p:ext uri="{BB962C8B-B14F-4D97-AF65-F5344CB8AC3E}">
        <p14:creationId xmlns:p14="http://schemas.microsoft.com/office/powerpoint/2010/main" val="233836194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lvl="1"/>
            <a:r>
              <a:rPr lang="en-US" altLang="zh-CN" dirty="0"/>
              <a:t>-c</a:t>
            </a:r>
            <a:r>
              <a:rPr lang="zh-CN" altLang="en-US" dirty="0"/>
              <a:t>：至少包含一个大写字母  </a:t>
            </a:r>
            <a:r>
              <a:rPr lang="en-US" altLang="zh-CN" dirty="0"/>
              <a:t>-n</a:t>
            </a:r>
            <a:r>
              <a:rPr lang="zh-CN" altLang="en-US" dirty="0"/>
              <a:t>：至少包含一个数字  </a:t>
            </a:r>
            <a:r>
              <a:rPr lang="en-US" altLang="zh-CN" dirty="0"/>
              <a:t>-1</a:t>
            </a:r>
            <a:r>
              <a:rPr lang="zh-CN" altLang="en-US" dirty="0"/>
              <a:t>：每行显示一个口令 </a:t>
            </a:r>
            <a:r>
              <a:rPr lang="en-US" altLang="zh-CN" dirty="0"/>
              <a:t>pwgen </a:t>
            </a:r>
            <a:r>
              <a:rPr lang="zh-CN" altLang="en-US" dirty="0"/>
              <a:t>口令选项 口令长度 口令个数 </a:t>
            </a:r>
            <a:r>
              <a:rPr lang="en-US" altLang="zh-CN" dirty="0"/>
              <a:t>paste</a:t>
            </a:r>
            <a:r>
              <a:rPr lang="zh-CN" altLang="en-US" dirty="0"/>
              <a:t>命令使用</a:t>
            </a:r>
            <a:r>
              <a:rPr lang="en-US" altLang="zh-CN" dirty="0"/>
              <a:t>-s</a:t>
            </a:r>
            <a:r>
              <a:rPr lang="zh-CN" altLang="en-US" dirty="0"/>
              <a:t>选项可以指定拼接模式为串行拼接</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60</a:t>
            </a:fld>
            <a:endParaRPr lang="zh-CN" altLang="en-US"/>
          </a:p>
        </p:txBody>
      </p:sp>
    </p:spTree>
    <p:extLst>
      <p:ext uri="{BB962C8B-B14F-4D97-AF65-F5344CB8AC3E}">
        <p14:creationId xmlns:p14="http://schemas.microsoft.com/office/powerpoint/2010/main" val="28649276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900" dirty="0">
                <a:solidFill>
                  <a:srgbClr val="BBBBBB"/>
                </a:solidFill>
                <a:latin typeface="细明体"/>
              </a:rPr>
              <a:t># </a:t>
            </a:r>
            <a:r>
              <a:rPr lang="zh-CN" altLang="en-US" sz="1900" dirty="0">
                <a:solidFill>
                  <a:srgbClr val="BBBBBB"/>
                </a:solidFill>
                <a:latin typeface="细明体"/>
              </a:rPr>
              <a:t>先处理账号相关属性的数据：</a:t>
            </a:r>
            <a:r>
              <a:rPr lang="zh-CN" altLang="en-US" dirty="0"/>
              <a:t> </a:t>
            </a:r>
            <a:r>
              <a:rPr lang="en-US" altLang="zh-CN" dirty="0"/>
              <a:t>[</a:t>
            </a:r>
            <a:r>
              <a:rPr lang="en-US" altLang="zh-CN" dirty="0" err="1"/>
              <a:t>root@www</a:t>
            </a:r>
            <a:r>
              <a:rPr lang="en-US" altLang="zh-CN" dirty="0"/>
              <a:t> ~]# </a:t>
            </a:r>
            <a:r>
              <a:rPr lang="en-US" altLang="zh-CN" sz="1900" b="1" dirty="0" err="1">
                <a:solidFill>
                  <a:srgbClr val="FFFF00"/>
                </a:solidFill>
                <a:latin typeface="细明体"/>
              </a:rPr>
              <a:t>groupadd</a:t>
            </a:r>
            <a:r>
              <a:rPr lang="en-US" altLang="zh-CN" sz="1900" b="1" dirty="0">
                <a:solidFill>
                  <a:srgbClr val="FFFF00"/>
                </a:solidFill>
                <a:latin typeface="细明体"/>
              </a:rPr>
              <a:t> mygroup1</a:t>
            </a:r>
            <a:r>
              <a:rPr lang="en-US" altLang="zh-CN" dirty="0"/>
              <a:t> [</a:t>
            </a:r>
            <a:r>
              <a:rPr lang="en-US" altLang="zh-CN" dirty="0" err="1"/>
              <a:t>root@www</a:t>
            </a:r>
            <a:r>
              <a:rPr lang="en-US" altLang="zh-CN" dirty="0"/>
              <a:t> ~]# </a:t>
            </a:r>
            <a:r>
              <a:rPr lang="en-US" altLang="zh-CN" sz="1900" b="1" dirty="0">
                <a:solidFill>
                  <a:srgbClr val="FFFF00"/>
                </a:solidFill>
                <a:latin typeface="细明体"/>
              </a:rPr>
              <a:t>useradd -G mygroup1 -c "1st user" myuser1</a:t>
            </a:r>
            <a:r>
              <a:rPr lang="en-US" altLang="zh-CN" dirty="0"/>
              <a:t> [</a:t>
            </a:r>
            <a:r>
              <a:rPr lang="en-US" altLang="zh-CN" dirty="0" err="1"/>
              <a:t>root@www</a:t>
            </a:r>
            <a:r>
              <a:rPr lang="en-US" altLang="zh-CN" dirty="0"/>
              <a:t> ~]# </a:t>
            </a:r>
            <a:r>
              <a:rPr lang="en-US" altLang="zh-CN" sz="1900" b="1" dirty="0">
                <a:solidFill>
                  <a:srgbClr val="FFFF00"/>
                </a:solidFill>
                <a:latin typeface="细明体"/>
              </a:rPr>
              <a:t>useradd -G mygroup1 -c "2nd user" myuser2</a:t>
            </a:r>
            <a:r>
              <a:rPr lang="en-US" altLang="zh-CN" dirty="0"/>
              <a:t> [</a:t>
            </a:r>
            <a:r>
              <a:rPr lang="en-US" altLang="zh-CN" dirty="0" err="1"/>
              <a:t>root@www</a:t>
            </a:r>
            <a:r>
              <a:rPr lang="en-US" altLang="zh-CN" dirty="0"/>
              <a:t> ~]# </a:t>
            </a:r>
            <a:r>
              <a:rPr lang="en-US" altLang="zh-CN" sz="1900" b="1" dirty="0">
                <a:solidFill>
                  <a:srgbClr val="FFFF00"/>
                </a:solidFill>
                <a:latin typeface="细明体"/>
              </a:rPr>
              <a:t>useradd -c "3rd user" -s /</a:t>
            </a:r>
            <a:r>
              <a:rPr lang="en-US" altLang="zh-CN" sz="1900" b="1" dirty="0" err="1">
                <a:solidFill>
                  <a:srgbClr val="FFFF00"/>
                </a:solidFill>
                <a:latin typeface="细明体"/>
              </a:rPr>
              <a:t>sbin</a:t>
            </a:r>
            <a:r>
              <a:rPr lang="en-US" altLang="zh-CN" sz="1900" b="1" dirty="0">
                <a:solidFill>
                  <a:srgbClr val="FFFF00"/>
                </a:solidFill>
                <a:latin typeface="细明体"/>
              </a:rPr>
              <a:t>/</a:t>
            </a:r>
            <a:r>
              <a:rPr lang="en-US" altLang="zh-CN" sz="1900" b="1" dirty="0" err="1">
                <a:solidFill>
                  <a:srgbClr val="FFFF00"/>
                </a:solidFill>
                <a:latin typeface="细明体"/>
              </a:rPr>
              <a:t>nologin</a:t>
            </a:r>
            <a:r>
              <a:rPr lang="en-US" altLang="zh-CN" sz="1900" b="1" dirty="0">
                <a:solidFill>
                  <a:srgbClr val="FFFF00"/>
                </a:solidFill>
                <a:latin typeface="细明体"/>
              </a:rPr>
              <a:t> myuser3</a:t>
            </a:r>
            <a:r>
              <a:rPr lang="en-US" altLang="zh-CN" dirty="0"/>
              <a:t> </a:t>
            </a:r>
            <a:r>
              <a:rPr lang="en-US" altLang="zh-CN" sz="1900" dirty="0">
                <a:solidFill>
                  <a:srgbClr val="BBBBBB"/>
                </a:solidFill>
                <a:latin typeface="细明体"/>
              </a:rPr>
              <a:t># </a:t>
            </a:r>
            <a:r>
              <a:rPr lang="zh-CN" altLang="en-US" sz="1900" dirty="0">
                <a:solidFill>
                  <a:srgbClr val="BBBBBB"/>
                </a:solidFill>
                <a:latin typeface="细明体"/>
              </a:rPr>
              <a:t>再处理账号的口令相关属性的数据：</a:t>
            </a:r>
            <a:r>
              <a:rPr lang="zh-CN" altLang="en-US" dirty="0"/>
              <a:t> </a:t>
            </a:r>
            <a:r>
              <a:rPr lang="en-US" altLang="zh-CN" dirty="0"/>
              <a:t>[</a:t>
            </a:r>
            <a:r>
              <a:rPr lang="en-US" altLang="zh-CN" dirty="0" err="1"/>
              <a:t>root@www</a:t>
            </a:r>
            <a:r>
              <a:rPr lang="en-US" altLang="zh-CN" dirty="0"/>
              <a:t> ~]# </a:t>
            </a:r>
            <a:r>
              <a:rPr lang="en-US" altLang="zh-CN" sz="1900" b="1" dirty="0">
                <a:solidFill>
                  <a:srgbClr val="FFFF00"/>
                </a:solidFill>
                <a:latin typeface="细明体"/>
              </a:rPr>
              <a:t>echo "password" | passwd --stdin myuser1</a:t>
            </a:r>
            <a:r>
              <a:rPr lang="en-US" altLang="zh-CN" dirty="0"/>
              <a:t> [</a:t>
            </a:r>
            <a:r>
              <a:rPr lang="en-US" altLang="zh-CN" dirty="0" err="1"/>
              <a:t>root@www</a:t>
            </a:r>
            <a:r>
              <a:rPr lang="en-US" altLang="zh-CN" dirty="0"/>
              <a:t> ~]# </a:t>
            </a:r>
            <a:r>
              <a:rPr lang="en-US" altLang="zh-CN" sz="1900" b="1" dirty="0">
                <a:solidFill>
                  <a:srgbClr val="FFFF00"/>
                </a:solidFill>
                <a:latin typeface="细明体"/>
              </a:rPr>
              <a:t>echo "password" | passwd --stdin myuser2</a:t>
            </a:r>
            <a:r>
              <a:rPr lang="en-US" altLang="zh-CN" dirty="0"/>
              <a:t> [</a:t>
            </a:r>
            <a:r>
              <a:rPr lang="en-US" altLang="zh-CN" dirty="0" err="1"/>
              <a:t>root@www</a:t>
            </a:r>
            <a:r>
              <a:rPr lang="en-US" altLang="zh-CN" dirty="0"/>
              <a:t> ~]# </a:t>
            </a:r>
            <a:r>
              <a:rPr lang="en-US" altLang="zh-CN" sz="1900" b="1" dirty="0">
                <a:solidFill>
                  <a:srgbClr val="FFFF00"/>
                </a:solidFill>
                <a:latin typeface="细明体"/>
              </a:rPr>
              <a:t>echo "password" | passwd --stdin myuser3</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61</a:t>
            </a:fld>
            <a:endParaRPr lang="zh-CN" altLang="en-US"/>
          </a:p>
        </p:txBody>
      </p:sp>
    </p:spTree>
    <p:extLst>
      <p:ext uri="{BB962C8B-B14F-4D97-AF65-F5344CB8AC3E}">
        <p14:creationId xmlns:p14="http://schemas.microsoft.com/office/powerpoint/2010/main" val="417408967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4</a:t>
            </a:r>
            <a:r>
              <a:rPr lang="zh-CN" altLang="en-US" dirty="0"/>
              <a:t>、简述私有组和主组的关系</a:t>
            </a:r>
            <a:r>
              <a:rPr lang="en-US" altLang="zh-CN" dirty="0"/>
              <a:t>?</a:t>
            </a:r>
            <a:r>
              <a:rPr lang="zh-CN" altLang="en-US" dirty="0"/>
              <a:t>简述标准组和附加组的关系</a:t>
            </a:r>
            <a:r>
              <a:rPr lang="en-US" altLang="zh-CN" dirty="0"/>
              <a:t>?</a:t>
            </a:r>
            <a:r>
              <a:rPr lang="zh-CN" altLang="en-US" dirty="0"/>
              <a:t>私有组</a:t>
            </a:r>
            <a:r>
              <a:rPr lang="en-US" altLang="zh-CN" dirty="0"/>
              <a:t>:</a:t>
            </a:r>
            <a:r>
              <a:rPr lang="zh-CN" altLang="en-US" dirty="0"/>
              <a:t>私有组中只有用户自己，主组</a:t>
            </a:r>
            <a:r>
              <a:rPr lang="en-US" altLang="zh-CN" dirty="0"/>
              <a:t>:</a:t>
            </a:r>
            <a:r>
              <a:rPr lang="zh-CN" altLang="en-US" dirty="0"/>
              <a:t>用户登录系统时的组。主组不一定是私有组，也可以是标准组标准组</a:t>
            </a:r>
            <a:r>
              <a:rPr lang="en-US" altLang="zh-CN" dirty="0"/>
              <a:t>:</a:t>
            </a:r>
            <a:r>
              <a:rPr lang="zh-CN" altLang="en-US" dirty="0"/>
              <a:t>标准组可以容纳多个用户，附加组</a:t>
            </a:r>
            <a:r>
              <a:rPr lang="en-US" altLang="zh-CN" dirty="0"/>
              <a:t>:</a:t>
            </a:r>
            <a:r>
              <a:rPr lang="zh-CN" altLang="en-US" dirty="0"/>
              <a:t>可切换的其他组。标准组可以是主组也可以是附加组，附加组不一定是标准组。</a:t>
            </a:r>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62</a:t>
            </a:fld>
            <a:endParaRPr lang="zh-CN" altLang="en-US"/>
          </a:p>
        </p:txBody>
      </p:sp>
    </p:spTree>
    <p:extLst>
      <p:ext uri="{BB962C8B-B14F-4D97-AF65-F5344CB8AC3E}">
        <p14:creationId xmlns:p14="http://schemas.microsoft.com/office/powerpoint/2010/main" val="360735726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63</a:t>
            </a:fld>
            <a:endParaRPr lang="zh-CN" altLang="en-US"/>
          </a:p>
        </p:txBody>
      </p:sp>
    </p:spTree>
    <p:extLst>
      <p:ext uri="{BB962C8B-B14F-4D97-AF65-F5344CB8AC3E}">
        <p14:creationId xmlns:p14="http://schemas.microsoft.com/office/powerpoint/2010/main" val="5871948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66</a:t>
            </a:fld>
            <a:endParaRPr lang="zh-CN" altLang="en-US"/>
          </a:p>
        </p:txBody>
      </p:sp>
    </p:spTree>
    <p:extLst>
      <p:ext uri="{BB962C8B-B14F-4D97-AF65-F5344CB8AC3E}">
        <p14:creationId xmlns:p14="http://schemas.microsoft.com/office/powerpoint/2010/main" val="31170585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79</a:t>
            </a:fld>
            <a:endParaRPr lang="zh-CN" altLang="en-US"/>
          </a:p>
        </p:txBody>
      </p:sp>
    </p:spTree>
    <p:extLst>
      <p:ext uri="{BB962C8B-B14F-4D97-AF65-F5344CB8AC3E}">
        <p14:creationId xmlns:p14="http://schemas.microsoft.com/office/powerpoint/2010/main" val="122075709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t>
            </a:r>
            <a:r>
              <a:rPr lang="zh-CN" altLang="en-US" dirty="0"/>
              <a:t>和：都可以用来间隔用户名和组，但是我们建议使用：，这两个命令什么时候使用呢？我们在使用</a:t>
            </a:r>
            <a:r>
              <a:rPr lang="en-US" altLang="zh-CN" dirty="0"/>
              <a:t>cp</a:t>
            </a:r>
            <a:r>
              <a:rPr lang="zh-CN" altLang="en-US" dirty="0"/>
              <a:t>命令进行复制操作的时候，会复制操作者的属性和权限，而复制文件是指定给其他用户或者组使用的时候就需要用到</a:t>
            </a:r>
            <a:r>
              <a:rPr lang="en-US" altLang="zh-CN" dirty="0"/>
              <a:t>chown</a:t>
            </a:r>
            <a:r>
              <a:rPr lang="zh-CN" altLang="en-US" dirty="0"/>
              <a:t>和</a:t>
            </a:r>
            <a:r>
              <a:rPr lang="en-US" altLang="zh-CN" dirty="0" err="1"/>
              <a:t>chgrp</a:t>
            </a:r>
            <a:r>
              <a:rPr lang="zh-CN" altLang="en-US" dirty="0"/>
              <a:t>命令</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81</a:t>
            </a:fld>
            <a:endParaRPr lang="zh-CN" altLang="en-US"/>
          </a:p>
        </p:txBody>
      </p:sp>
    </p:spTree>
    <p:extLst>
      <p:ext uri="{BB962C8B-B14F-4D97-AF65-F5344CB8AC3E}">
        <p14:creationId xmlns:p14="http://schemas.microsoft.com/office/powerpoint/2010/main" val="200123025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82</a:t>
            </a:fld>
            <a:endParaRPr lang="zh-CN" altLang="en-US"/>
          </a:p>
        </p:txBody>
      </p:sp>
    </p:spTree>
    <p:extLst>
      <p:ext uri="{BB962C8B-B14F-4D97-AF65-F5344CB8AC3E}">
        <p14:creationId xmlns:p14="http://schemas.microsoft.com/office/powerpoint/2010/main" val="2981581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solidFill>
                  <a:srgbClr val="FF0000"/>
                </a:solidFill>
              </a:rPr>
              <a:t>-R </a:t>
            </a:r>
            <a:r>
              <a:rPr lang="zh-CN" altLang="en-US" sz="1200" dirty="0"/>
              <a:t>选项表示对目录中的所有文件或子目录进行</a:t>
            </a:r>
            <a:r>
              <a:rPr lang="zh-CN" altLang="en-US" sz="1200" dirty="0">
                <a:solidFill>
                  <a:srgbClr val="FF0000"/>
                </a:solidFill>
              </a:rPr>
              <a:t>递归操作</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83</a:t>
            </a:fld>
            <a:endParaRPr lang="zh-CN" altLang="en-US"/>
          </a:p>
        </p:txBody>
      </p:sp>
    </p:spTree>
    <p:extLst>
      <p:ext uri="{BB962C8B-B14F-4D97-AF65-F5344CB8AC3E}">
        <p14:creationId xmlns:p14="http://schemas.microsoft.com/office/powerpoint/2010/main" val="18643675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上面的内容给大家讲完之后，大家应该了解了我们如何对已经存在的文件和目录设置与修改权限，那么新建文件的权限默认值如何来设置呢？新创建一个文件或者目录之后其权限如何设置呢？</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84</a:t>
            </a:fld>
            <a:endParaRPr lang="zh-CN" altLang="en-US"/>
          </a:p>
        </p:txBody>
      </p:sp>
    </p:spTree>
    <p:extLst>
      <p:ext uri="{BB962C8B-B14F-4D97-AF65-F5344CB8AC3E}">
        <p14:creationId xmlns:p14="http://schemas.microsoft.com/office/powerpoint/2010/main" val="301661507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86</a:t>
            </a:fld>
            <a:endParaRPr lang="zh-CN" altLang="en-US"/>
          </a:p>
        </p:txBody>
      </p:sp>
    </p:spTree>
    <p:extLst>
      <p:ext uri="{BB962C8B-B14F-4D97-AF65-F5344CB8AC3E}">
        <p14:creationId xmlns:p14="http://schemas.microsoft.com/office/powerpoint/2010/main" val="21539654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P73 </a:t>
            </a:r>
            <a:r>
              <a:rPr lang="zh-CN" altLang="en-US" dirty="0"/>
              <a:t>表格</a:t>
            </a:r>
            <a:r>
              <a:rPr lang="en-US" altLang="zh-CN" dirty="0"/>
              <a:t>3-16 3-17 </a:t>
            </a:r>
            <a:r>
              <a:rPr lang="en-US" altLang="zh-CN" dirty="0" err="1"/>
              <a:t>suid</a:t>
            </a:r>
            <a:r>
              <a:rPr lang="zh-CN" altLang="en-US" dirty="0"/>
              <a:t>不能用在</a:t>
            </a:r>
            <a:r>
              <a:rPr lang="en-US" altLang="zh-CN" dirty="0"/>
              <a:t>shell</a:t>
            </a:r>
            <a:r>
              <a:rPr lang="zh-CN" altLang="en-US" dirty="0"/>
              <a:t>脚本上，只能用在二进制文件上</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90</a:t>
            </a:fld>
            <a:endParaRPr lang="zh-CN" altLang="en-US"/>
          </a:p>
        </p:txBody>
      </p:sp>
    </p:spTree>
    <p:extLst>
      <p:ext uri="{BB962C8B-B14F-4D97-AF65-F5344CB8AC3E}">
        <p14:creationId xmlns:p14="http://schemas.microsoft.com/office/powerpoint/2010/main" val="299473610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在带有粘滞位的目录中的文件只能被文件的</a:t>
            </a:r>
            <a:r>
              <a:rPr lang="zh-CN" altLang="en-US" dirty="0">
                <a:solidFill>
                  <a:srgbClr val="FF0000"/>
                </a:solidFill>
              </a:rPr>
              <a:t>所属用户和</a:t>
            </a:r>
            <a:r>
              <a:rPr lang="en-US" altLang="zh-CN" dirty="0">
                <a:solidFill>
                  <a:srgbClr val="FF0000"/>
                </a:solidFill>
              </a:rPr>
              <a:t>root</a:t>
            </a:r>
            <a:r>
              <a:rPr lang="zh-CN" altLang="en-US" dirty="0">
                <a:solidFill>
                  <a:srgbClr val="FF0000"/>
                </a:solidFill>
              </a:rPr>
              <a:t>用户删除</a:t>
            </a:r>
            <a:r>
              <a:rPr lang="zh-CN" altLang="en-US" dirty="0"/>
              <a:t>，不管该目录的写入权限是如何设置的</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93</a:t>
            </a:fld>
            <a:endParaRPr lang="zh-CN" altLang="en-US"/>
          </a:p>
        </p:txBody>
      </p:sp>
    </p:spTree>
    <p:extLst>
      <p:ext uri="{BB962C8B-B14F-4D97-AF65-F5344CB8AC3E}">
        <p14:creationId xmlns:p14="http://schemas.microsoft.com/office/powerpoint/2010/main" val="24378445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94</a:t>
            </a:fld>
            <a:endParaRPr lang="zh-CN" altLang="en-US"/>
          </a:p>
        </p:txBody>
      </p:sp>
    </p:spTree>
    <p:extLst>
      <p:ext uri="{BB962C8B-B14F-4D97-AF65-F5344CB8AC3E}">
        <p14:creationId xmlns:p14="http://schemas.microsoft.com/office/powerpoint/2010/main" val="153000135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文件的隐藏属性只能在</a:t>
            </a:r>
            <a:r>
              <a:rPr lang="en-US" altLang="zh-CN" dirty="0"/>
              <a:t>ext2/3/4 </a:t>
            </a:r>
            <a:r>
              <a:rPr lang="zh-CN" altLang="en-US" dirty="0"/>
              <a:t>文件系统上完全生效，</a:t>
            </a:r>
            <a:r>
              <a:rPr lang="en-US" altLang="zh-CN" dirty="0"/>
              <a:t>centos7</a:t>
            </a:r>
            <a:r>
              <a:rPr lang="zh-CN" altLang="en-US" dirty="0"/>
              <a:t>采用的是</a:t>
            </a:r>
            <a:r>
              <a:rPr lang="en-US" altLang="zh-CN" dirty="0" err="1"/>
              <a:t>xfs</a:t>
            </a:r>
            <a:r>
              <a:rPr lang="zh-CN" altLang="en-US" dirty="0"/>
              <a:t>文件系统。</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95</a:t>
            </a:fld>
            <a:endParaRPr lang="zh-CN" altLang="en-US"/>
          </a:p>
        </p:txBody>
      </p:sp>
    </p:spTree>
    <p:extLst>
      <p:ext uri="{BB962C8B-B14F-4D97-AF65-F5344CB8AC3E}">
        <p14:creationId xmlns:p14="http://schemas.microsoft.com/office/powerpoint/2010/main" val="345692462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77500" lnSpcReduction="20000"/>
          </a:bodyPr>
          <a:lstStyle/>
          <a:p>
            <a:pPr marL="0" algn="l" rtl="0" eaLnBrk="1" fontAlgn="t" latinLnBrk="0" hangingPunct="1">
              <a:spcBef>
                <a:spcPts val="0"/>
              </a:spcBef>
              <a:spcAft>
                <a:spcPts val="0"/>
              </a:spcAft>
            </a:pP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A</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800" b="1" i="0" u="none" strike="noStrike" kern="1200" dirty="0" err="1">
                <a:solidFill>
                  <a:srgbClr val="FFFFFF"/>
                </a:solidFill>
                <a:effectLst/>
                <a:latin typeface="Tahoma" panose="020B0604030504040204" pitchFamily="34" charset="0"/>
                <a:ea typeface="宋体" panose="02010600030101010101" pitchFamily="2" charset="-122"/>
              </a:rPr>
              <a:t>Atime</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告诉系统</a:t>
            </a:r>
            <a:r>
              <a:rPr lang="zh-CN" altLang="zh-CN" sz="1800" b="1" i="0" u="none" strike="noStrike" kern="1200" dirty="0">
                <a:solidFill>
                  <a:srgbClr val="FF0000"/>
                </a:solidFill>
                <a:effectLst/>
                <a:latin typeface="Tahoma" panose="020B0604030504040204" pitchFamily="34" charset="0"/>
                <a:ea typeface="宋体" panose="02010600030101010101" pitchFamily="2" charset="-122"/>
              </a:rPr>
              <a:t>不要修改</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对这个文件的</a:t>
            </a:r>
            <a:r>
              <a:rPr lang="zh-CN" altLang="zh-CN" sz="1800" b="1" i="0" u="none" strike="noStrike" kern="1200" dirty="0">
                <a:solidFill>
                  <a:srgbClr val="FF0000"/>
                </a:solidFill>
                <a:effectLst/>
                <a:latin typeface="Tahoma" panose="020B0604030504040204" pitchFamily="34" charset="0"/>
                <a:ea typeface="宋体" panose="02010600030101010101" pitchFamily="2" charset="-122"/>
              </a:rPr>
              <a:t>最后访问时间</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S</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Sync</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一旦应用程序对文件执行了写操作，系统立刻把修改结果</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写到磁盘</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a</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Append Only</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系统</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只允许</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在这个</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文件</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之后</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追加数据</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不允许</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任何进程</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覆盖或者截断</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这个文件；如果</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目录</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具有这个属性，系统将</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只允许在这个目录下建立和修改文件</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，而</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不允许删除</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任何文件</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0" i="0" u="none" strike="noStrike" kern="1200" dirty="0" err="1">
                <a:solidFill>
                  <a:srgbClr val="000000"/>
                </a:solidFill>
                <a:effectLst/>
                <a:latin typeface="Tahoma" panose="020B0604030504040204" pitchFamily="34" charset="0"/>
                <a:ea typeface="宋体" panose="02010600030101010101" pitchFamily="2" charset="-122"/>
              </a:rPr>
              <a:t>i</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Immutable</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系统</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不允许</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对这个</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文件</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进行任何的</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修改</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；如果</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目录</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具有这个属性，那么任何的进程</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只能修改目录之下的文件</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zh-CN" altLang="zh-CN" sz="1800" b="0" i="0" u="none" strike="noStrike" kern="1200" dirty="0">
                <a:solidFill>
                  <a:srgbClr val="FF0000"/>
                </a:solidFill>
                <a:effectLst/>
                <a:latin typeface="Tahoma" panose="020B0604030504040204" pitchFamily="34" charset="0"/>
                <a:ea typeface="宋体" panose="02010600030101010101" pitchFamily="2" charset="-122"/>
              </a:rPr>
              <a:t>不允许建立和删除文件</a:t>
            </a:r>
            <a:endParaRPr lang="zh-CN" altLang="zh-CN" sz="1800" b="0" i="0" u="none" strike="noStrike" dirty="0">
              <a:effectLst/>
              <a:latin typeface="Arial" panose="020B0604020202020204" pitchFamily="34" charset="0"/>
            </a:endParaRP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en-US" altLang="zh-CN" dirty="0"/>
              <a:t>http://zonghe.17xie.com/book/10134260/32620.html</a:t>
            </a:r>
          </a:p>
          <a:p>
            <a:r>
              <a:rPr lang="en-US" altLang="zh-CN" dirty="0"/>
              <a:t>http://hi.baidu.com/daidai141/blog/item/75b383448fb431358794739c.html</a:t>
            </a:r>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97</a:t>
            </a:fld>
            <a:endParaRPr lang="zh-CN" altLang="en-US"/>
          </a:p>
        </p:txBody>
      </p:sp>
    </p:spTree>
    <p:extLst>
      <p:ext uri="{BB962C8B-B14F-4D97-AF65-F5344CB8AC3E}">
        <p14:creationId xmlns:p14="http://schemas.microsoft.com/office/powerpoint/2010/main" val="336592763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lnSpcReduction="10000"/>
          </a:bodyPr>
          <a:lstStyle/>
          <a:p>
            <a:pPr marL="0" lvl="1" defTabSz="990478">
              <a:defRPr/>
            </a:pPr>
            <a:r>
              <a:rPr lang="en-US" altLang="zh-CN" sz="2200" dirty="0"/>
              <a:t>ACL</a:t>
            </a:r>
            <a:r>
              <a:rPr lang="zh-CN" altLang="en-US" sz="2200" dirty="0"/>
              <a:t>提供，属主、所属群组、其他人的读、写、执行权限之外的详细权限设置。</a:t>
            </a:r>
            <a:r>
              <a:rPr lang="en-US" altLang="zh-CN" sz="2200" dirty="0"/>
              <a:t>ACL</a:t>
            </a:r>
            <a:r>
              <a:rPr lang="zh-CN" altLang="en-US" sz="2200" dirty="0"/>
              <a:t>可以针对单一用户、单一文件或目录来进行</a:t>
            </a:r>
            <a:r>
              <a:rPr lang="en-US" altLang="zh-CN" sz="2200" dirty="0"/>
              <a:t>r w x</a:t>
            </a:r>
            <a:r>
              <a:rPr lang="zh-CN" altLang="en-US" sz="2200" dirty="0"/>
              <a:t>的权限设置。如果你有一个目录，需要给一堆人使用，每个人或每个用户组所需要的权限并不相同，利用我们前面给大家介绍的方法是无法实现的。前面我们讲过的权限设置都是针对一个用户、一个用户组及非此用户组的其他人设置权限，无法针对单一用户或个人来设置权限，那么</a:t>
            </a:r>
            <a:r>
              <a:rPr lang="en-US" altLang="zh-CN" sz="2200" dirty="0"/>
              <a:t>ACL</a:t>
            </a:r>
            <a:r>
              <a:rPr lang="zh-CN" altLang="en-US" sz="2200" dirty="0"/>
              <a:t>就是为了解决这个问题而出现的。如何让我们的文件系统能够支持</a:t>
            </a:r>
            <a:r>
              <a:rPr lang="en-US" altLang="zh-CN" sz="2200" dirty="0"/>
              <a:t>ACL</a:t>
            </a:r>
            <a:r>
              <a:rPr lang="zh-CN" altLang="en-US" sz="2200" dirty="0"/>
              <a:t>呢？事实上，以前是需要进行配置的，现在很多系统已经都自动支持了</a:t>
            </a:r>
            <a:r>
              <a:rPr lang="en-US" altLang="zh-CN" sz="2200" dirty="0"/>
              <a:t>ACL</a:t>
            </a:r>
            <a:r>
              <a:rPr lang="zh-CN" altLang="en-US" sz="2200" dirty="0"/>
              <a:t>，无需进行任何操作便可以使用。</a:t>
            </a:r>
            <a:endParaRPr lang="en-US" altLang="zh-CN" sz="2200" dirty="0"/>
          </a:p>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99</a:t>
            </a:fld>
            <a:endParaRPr lang="zh-CN" altLang="en-US"/>
          </a:p>
        </p:txBody>
      </p:sp>
    </p:spTree>
    <p:extLst>
      <p:ext uri="{BB962C8B-B14F-4D97-AF65-F5344CB8AC3E}">
        <p14:creationId xmlns:p14="http://schemas.microsoft.com/office/powerpoint/2010/main" val="231301683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lnSpcReduction="10000"/>
          </a:bodyPr>
          <a:lstStyle/>
          <a:p>
            <a:pPr marL="0" lvl="1" defTabSz="990478">
              <a:defRPr/>
            </a:pPr>
            <a:r>
              <a:rPr lang="en-US" altLang="zh-CN" sz="2200" dirty="0"/>
              <a:t>ACL</a:t>
            </a:r>
            <a:r>
              <a:rPr lang="zh-CN" altLang="en-US" sz="2200" dirty="0"/>
              <a:t>提供，属主、所属群组、其他人的读、写、执行权限之外的详细权限设置。</a:t>
            </a:r>
            <a:r>
              <a:rPr lang="en-US" altLang="zh-CN" sz="2200" dirty="0"/>
              <a:t>ACL</a:t>
            </a:r>
            <a:r>
              <a:rPr lang="zh-CN" altLang="en-US" sz="2200" dirty="0"/>
              <a:t>可以针对单一用户、单一文件或目录来进行</a:t>
            </a:r>
            <a:r>
              <a:rPr lang="en-US" altLang="zh-CN" sz="2200" dirty="0"/>
              <a:t>r w x</a:t>
            </a:r>
            <a:r>
              <a:rPr lang="zh-CN" altLang="en-US" sz="2200" dirty="0"/>
              <a:t>的权限设置。如果你有一个目录，需要给一堆人使用，每个人或每个用户组所需要的权限并不相同，利用我们前面给大家介绍的方法是无法实现的。前面我们讲过的权限设置都是针对一个用户、一个用户组及非此用户组的其他人设置权限，无法针对单一用户或个人来设置权限，那么</a:t>
            </a:r>
            <a:r>
              <a:rPr lang="en-US" altLang="zh-CN" sz="2200" dirty="0"/>
              <a:t>ACL</a:t>
            </a:r>
            <a:r>
              <a:rPr lang="zh-CN" altLang="en-US" sz="2200" dirty="0"/>
              <a:t>就是为了解决这个问题而出现的。如何让我们的文件系统能够支持</a:t>
            </a:r>
            <a:r>
              <a:rPr lang="en-US" altLang="zh-CN" sz="2200" dirty="0"/>
              <a:t>ACL</a:t>
            </a:r>
            <a:r>
              <a:rPr lang="zh-CN" altLang="en-US" sz="2200" dirty="0"/>
              <a:t>呢？事实上，以前是需要进行配置的，现在很多系统已经都自动支持了</a:t>
            </a:r>
            <a:r>
              <a:rPr lang="en-US" altLang="zh-CN" sz="2200" dirty="0"/>
              <a:t>ACL</a:t>
            </a:r>
            <a:r>
              <a:rPr lang="zh-CN" altLang="en-US" sz="2200" dirty="0"/>
              <a:t>，无需进行任何操作便可以使用。</a:t>
            </a:r>
            <a:endParaRPr lang="en-US" altLang="zh-CN" sz="2200" dirty="0"/>
          </a:p>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100</a:t>
            </a:fld>
            <a:endParaRPr lang="zh-CN" altLang="en-US"/>
          </a:p>
        </p:txBody>
      </p:sp>
    </p:spTree>
    <p:extLst>
      <p:ext uri="{BB962C8B-B14F-4D97-AF65-F5344CB8AC3E}">
        <p14:creationId xmlns:p14="http://schemas.microsoft.com/office/powerpoint/2010/main" val="317709550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options : -</a:t>
            </a:r>
            <a:r>
              <a:rPr lang="en-US" altLang="zh-CN" dirty="0" err="1"/>
              <a:t>i</a:t>
            </a:r>
            <a:r>
              <a:rPr lang="en-US" altLang="zh-CN" dirty="0"/>
              <a:t> </a:t>
            </a:r>
            <a:r>
              <a:rPr lang="en-US" altLang="zh-CN" dirty="0" err="1"/>
              <a:t>acl</a:t>
            </a:r>
            <a:r>
              <a:rPr lang="en-US" altLang="zh-CN" dirty="0"/>
              <a:t>   </a:t>
            </a:r>
            <a:r>
              <a:rPr lang="en-US" altLang="zh-CN" dirty="0" err="1">
                <a:solidFill>
                  <a:srgbClr val="FF0000"/>
                </a:solidFill>
              </a:rPr>
              <a:t>fstab</a:t>
            </a:r>
            <a:r>
              <a:rPr lang="en-US" altLang="zh-CN" dirty="0">
                <a:solidFill>
                  <a:srgbClr val="FF0000"/>
                </a:solidFill>
              </a:rPr>
              <a:t> </a:t>
            </a:r>
            <a:r>
              <a:rPr lang="en-US" altLang="zh-CN" dirty="0"/>
              <a:t>(file system table) </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101</a:t>
            </a:fld>
            <a:endParaRPr lang="zh-CN" altLang="en-US"/>
          </a:p>
        </p:txBody>
      </p:sp>
    </p:spTree>
    <p:extLst>
      <p:ext uri="{BB962C8B-B14F-4D97-AF65-F5344CB8AC3E}">
        <p14:creationId xmlns:p14="http://schemas.microsoft.com/office/powerpoint/2010/main" val="123310374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104</a:t>
            </a:fld>
            <a:endParaRPr lang="zh-CN" altLang="en-US"/>
          </a:p>
        </p:txBody>
      </p:sp>
    </p:spTree>
    <p:extLst>
      <p:ext uri="{BB962C8B-B14F-4D97-AF65-F5344CB8AC3E}">
        <p14:creationId xmlns:p14="http://schemas.microsoft.com/office/powerpoint/2010/main" val="59665775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endParaRPr lang="en-US" altLang="zh-CN" dirty="0"/>
          </a:p>
          <a:p>
            <a:pPr lvl="1"/>
            <a:r>
              <a:rPr lang="en-US" altLang="zh-CN" dirty="0"/>
              <a:t>-R</a:t>
            </a:r>
            <a:r>
              <a:rPr lang="zh-CN" altLang="en-US" dirty="0"/>
              <a:t>   于对目录进行递归操作</a:t>
            </a:r>
          </a:p>
          <a:p>
            <a:pPr lvl="1"/>
            <a:r>
              <a:rPr lang="en-US" altLang="zh-CN" dirty="0">
                <a:solidFill>
                  <a:srgbClr val="FF0000"/>
                </a:solidFill>
              </a:rPr>
              <a:t>-m</a:t>
            </a:r>
            <a:r>
              <a:rPr lang="zh-CN" altLang="en-US" dirty="0">
                <a:solidFill>
                  <a:srgbClr val="FF0000"/>
                </a:solidFill>
              </a:rPr>
              <a:t>  修改</a:t>
            </a:r>
            <a:r>
              <a:rPr lang="en-US" altLang="zh-CN" dirty="0"/>
              <a:t>ACL</a:t>
            </a:r>
            <a:r>
              <a:rPr lang="zh-CN" altLang="en-US" dirty="0"/>
              <a:t>权限 设置参数</a:t>
            </a:r>
            <a:endParaRPr lang="en-US" altLang="zh-CN" dirty="0"/>
          </a:p>
          <a:p>
            <a:pPr lvl="1"/>
            <a:r>
              <a:rPr lang="en-US" altLang="zh-CN" dirty="0">
                <a:solidFill>
                  <a:srgbClr val="FF0000"/>
                </a:solidFill>
              </a:rPr>
              <a:t>-x</a:t>
            </a:r>
            <a:r>
              <a:rPr lang="zh-CN" altLang="en-US" dirty="0"/>
              <a:t>   </a:t>
            </a:r>
            <a:r>
              <a:rPr lang="zh-CN" altLang="en-US" dirty="0">
                <a:solidFill>
                  <a:srgbClr val="FF0000"/>
                </a:solidFill>
              </a:rPr>
              <a:t>删除</a:t>
            </a:r>
            <a:r>
              <a:rPr lang="en-US" altLang="zh-CN" dirty="0"/>
              <a:t>ACL</a:t>
            </a:r>
            <a:r>
              <a:rPr lang="zh-CN" altLang="en-US" dirty="0"/>
              <a:t>权限  删除参数</a:t>
            </a:r>
            <a:endParaRPr lang="en-US" altLang="zh-CN" dirty="0"/>
          </a:p>
          <a:p>
            <a:r>
              <a:rPr lang="en-US" altLang="zh-CN" sz="1200" dirty="0">
                <a:solidFill>
                  <a:srgbClr val="FF0000"/>
                </a:solidFill>
              </a:rPr>
              <a:t>[d:]</a:t>
            </a:r>
            <a:r>
              <a:rPr lang="en-US" altLang="zh-CN" sz="1200" dirty="0" err="1">
                <a:solidFill>
                  <a:srgbClr val="FF0000"/>
                </a:solidFill>
              </a:rPr>
              <a:t>u:uid:perms</a:t>
            </a:r>
            <a:r>
              <a:rPr lang="en-US" altLang="zh-CN" sz="1200" dirty="0">
                <a:solidFill>
                  <a:srgbClr val="FF0000"/>
                </a:solidFill>
              </a:rPr>
              <a:t>   — </a:t>
            </a:r>
            <a:r>
              <a:rPr lang="zh-CN" altLang="en-US" sz="1200" dirty="0">
                <a:solidFill>
                  <a:srgbClr val="FF0000"/>
                </a:solidFill>
              </a:rPr>
              <a:t>为指定的用户（使用 </a:t>
            </a:r>
            <a:r>
              <a:rPr lang="en-US" altLang="zh-CN" sz="1200" dirty="0">
                <a:solidFill>
                  <a:srgbClr val="FF0000"/>
                </a:solidFill>
              </a:rPr>
              <a:t>UID </a:t>
            </a:r>
            <a:r>
              <a:rPr lang="zh-CN" altLang="en-US" sz="1200" dirty="0">
                <a:solidFill>
                  <a:srgbClr val="FF0000"/>
                </a:solidFill>
              </a:rPr>
              <a:t>或用户名）设置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a:t>
            </a:r>
            <a:r>
              <a:rPr lang="en-US" altLang="zh-CN" sz="1200" dirty="0" err="1">
                <a:solidFill>
                  <a:srgbClr val="FF0000"/>
                </a:solidFill>
              </a:rPr>
              <a:t>g:gid:perms</a:t>
            </a:r>
            <a:r>
              <a:rPr lang="en-US" altLang="zh-CN" sz="1200" dirty="0">
                <a:solidFill>
                  <a:srgbClr val="FF0000"/>
                </a:solidFill>
              </a:rPr>
              <a:t>	  — </a:t>
            </a:r>
            <a:r>
              <a:rPr lang="zh-CN" altLang="en-US" sz="1200" dirty="0">
                <a:solidFill>
                  <a:srgbClr val="FF0000"/>
                </a:solidFill>
              </a:rPr>
              <a:t>为指定的组（使用 </a:t>
            </a:r>
            <a:r>
              <a:rPr lang="en-US" altLang="zh-CN" sz="1200" dirty="0">
                <a:solidFill>
                  <a:srgbClr val="FF0000"/>
                </a:solidFill>
              </a:rPr>
              <a:t>GID </a:t>
            </a:r>
            <a:r>
              <a:rPr lang="zh-CN" altLang="en-US" sz="1200" dirty="0">
                <a:solidFill>
                  <a:srgbClr val="FF0000"/>
                </a:solidFill>
              </a:rPr>
              <a:t>或组名）设置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[d:]o:[:]perms	  — </a:t>
            </a:r>
            <a:r>
              <a:rPr lang="zh-CN" altLang="en-US" sz="1200" dirty="0">
                <a:solidFill>
                  <a:srgbClr val="FF0000"/>
                </a:solidFill>
              </a:rPr>
              <a:t>为其他用户设置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[d:]m:[:]perms	  — </a:t>
            </a:r>
            <a:r>
              <a:rPr lang="zh-CN" altLang="en-US" sz="1200" dirty="0">
                <a:solidFill>
                  <a:srgbClr val="FF0000"/>
                </a:solidFill>
              </a:rPr>
              <a:t>设置有效的访问掩码</a:t>
            </a:r>
          </a:p>
          <a:p>
            <a:r>
              <a:rPr lang="zh-CN" altLang="en-US" dirty="0"/>
              <a:t>当使用</a:t>
            </a:r>
            <a:r>
              <a:rPr lang="en-US" altLang="zh-CN" dirty="0">
                <a:solidFill>
                  <a:srgbClr val="FF0000"/>
                </a:solidFill>
              </a:rPr>
              <a:t>d:</a:t>
            </a:r>
            <a:r>
              <a:rPr lang="zh-CN" altLang="en-US" dirty="0"/>
              <a:t>前缀时</a:t>
            </a:r>
            <a:r>
              <a:rPr lang="zh-CN" altLang="en-US" dirty="0">
                <a:solidFill>
                  <a:srgbClr val="FF0000"/>
                </a:solidFill>
              </a:rPr>
              <a:t>只</a:t>
            </a:r>
            <a:r>
              <a:rPr lang="zh-CN" altLang="en-US" dirty="0"/>
              <a:t>能对</a:t>
            </a:r>
            <a:r>
              <a:rPr lang="zh-CN" altLang="en-US" dirty="0">
                <a:solidFill>
                  <a:srgbClr val="FF0000"/>
                </a:solidFill>
              </a:rPr>
              <a:t>目录设置</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106</a:t>
            </a:fld>
            <a:endParaRPr lang="zh-CN" altLang="en-US"/>
          </a:p>
        </p:txBody>
      </p:sp>
    </p:spTree>
    <p:extLst>
      <p:ext uri="{BB962C8B-B14F-4D97-AF65-F5344CB8AC3E}">
        <p14:creationId xmlns:p14="http://schemas.microsoft.com/office/powerpoint/2010/main" val="20357000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en-US" altLang="zh-CN" dirty="0"/>
              <a:t>-R</a:t>
            </a:r>
            <a:r>
              <a:rPr lang="zh-CN" altLang="en-US" dirty="0"/>
              <a:t>   于对目录进行递归操作   </a:t>
            </a:r>
          </a:p>
          <a:p>
            <a:pPr lvl="1"/>
            <a:r>
              <a:rPr lang="en-US" altLang="zh-CN" dirty="0">
                <a:solidFill>
                  <a:srgbClr val="FF0000"/>
                </a:solidFill>
              </a:rPr>
              <a:t>-m</a:t>
            </a:r>
            <a:r>
              <a:rPr lang="zh-CN" altLang="en-US" dirty="0">
                <a:solidFill>
                  <a:srgbClr val="FF0000"/>
                </a:solidFill>
              </a:rPr>
              <a:t>  修改</a:t>
            </a:r>
            <a:r>
              <a:rPr lang="en-US" altLang="zh-CN" dirty="0"/>
              <a:t>ACL</a:t>
            </a:r>
            <a:r>
              <a:rPr lang="zh-CN" altLang="en-US" dirty="0"/>
              <a:t>权限 设置参数</a:t>
            </a:r>
            <a:endParaRPr lang="en-US" altLang="zh-CN" dirty="0"/>
          </a:p>
          <a:p>
            <a:pPr lvl="1"/>
            <a:r>
              <a:rPr lang="en-US" altLang="zh-CN" dirty="0">
                <a:solidFill>
                  <a:srgbClr val="FF0000"/>
                </a:solidFill>
              </a:rPr>
              <a:t>-x</a:t>
            </a:r>
            <a:r>
              <a:rPr lang="zh-CN" altLang="en-US" dirty="0"/>
              <a:t>   </a:t>
            </a:r>
            <a:r>
              <a:rPr lang="zh-CN" altLang="en-US" dirty="0">
                <a:solidFill>
                  <a:srgbClr val="FF0000"/>
                </a:solidFill>
              </a:rPr>
              <a:t>删除</a:t>
            </a:r>
            <a:r>
              <a:rPr lang="en-US" altLang="zh-CN" dirty="0"/>
              <a:t>ACL</a:t>
            </a:r>
            <a:r>
              <a:rPr lang="zh-CN" altLang="en-US" dirty="0"/>
              <a:t>权限  删除参数</a:t>
            </a:r>
            <a:endParaRPr lang="en-US" altLang="zh-CN" dirty="0"/>
          </a:p>
          <a:p>
            <a:r>
              <a:rPr lang="en-US" altLang="zh-CN" sz="1200" dirty="0">
                <a:solidFill>
                  <a:srgbClr val="FF0000"/>
                </a:solidFill>
              </a:rPr>
              <a:t>[d:]</a:t>
            </a:r>
            <a:r>
              <a:rPr lang="en-US" altLang="zh-CN" sz="1200" dirty="0" err="1">
                <a:solidFill>
                  <a:srgbClr val="FF0000"/>
                </a:solidFill>
              </a:rPr>
              <a:t>u:uid:perms</a:t>
            </a:r>
            <a:r>
              <a:rPr lang="en-US" altLang="zh-CN" sz="1200" dirty="0">
                <a:solidFill>
                  <a:srgbClr val="FF0000"/>
                </a:solidFill>
              </a:rPr>
              <a:t>   — </a:t>
            </a:r>
            <a:r>
              <a:rPr lang="zh-CN" altLang="en-US" sz="1200" dirty="0">
                <a:solidFill>
                  <a:srgbClr val="FF0000"/>
                </a:solidFill>
              </a:rPr>
              <a:t>为指定的用户（使用 </a:t>
            </a:r>
            <a:r>
              <a:rPr lang="en-US" altLang="zh-CN" sz="1200" dirty="0">
                <a:solidFill>
                  <a:srgbClr val="FF0000"/>
                </a:solidFill>
              </a:rPr>
              <a:t>UID </a:t>
            </a:r>
            <a:r>
              <a:rPr lang="zh-CN" altLang="en-US" sz="1200" dirty="0">
                <a:solidFill>
                  <a:srgbClr val="FF0000"/>
                </a:solidFill>
              </a:rPr>
              <a:t>或用户名）设置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a:t>
            </a:r>
            <a:r>
              <a:rPr lang="en-US" altLang="zh-CN" sz="1200" dirty="0" err="1">
                <a:solidFill>
                  <a:srgbClr val="FF0000"/>
                </a:solidFill>
              </a:rPr>
              <a:t>g:gid:perms</a:t>
            </a:r>
            <a:r>
              <a:rPr lang="en-US" altLang="zh-CN" sz="1200" dirty="0">
                <a:solidFill>
                  <a:srgbClr val="FF0000"/>
                </a:solidFill>
              </a:rPr>
              <a:t>	  — </a:t>
            </a:r>
            <a:r>
              <a:rPr lang="zh-CN" altLang="en-US" sz="1200" dirty="0">
                <a:solidFill>
                  <a:srgbClr val="FF0000"/>
                </a:solidFill>
              </a:rPr>
              <a:t>为指定的组（使用 </a:t>
            </a:r>
            <a:r>
              <a:rPr lang="en-US" altLang="zh-CN" sz="1200" dirty="0">
                <a:solidFill>
                  <a:srgbClr val="FF0000"/>
                </a:solidFill>
              </a:rPr>
              <a:t>GID </a:t>
            </a:r>
            <a:r>
              <a:rPr lang="zh-CN" altLang="en-US" sz="1200" dirty="0">
                <a:solidFill>
                  <a:srgbClr val="FF0000"/>
                </a:solidFill>
              </a:rPr>
              <a:t>或组名）设置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[d:]o:[:]perms	  — </a:t>
            </a:r>
            <a:r>
              <a:rPr lang="zh-CN" altLang="en-US" sz="1200" dirty="0">
                <a:solidFill>
                  <a:srgbClr val="FF0000"/>
                </a:solidFill>
              </a:rPr>
              <a:t>为其他用户设置</a:t>
            </a:r>
            <a:r>
              <a:rPr lang="en-US" altLang="zh-CN" sz="1200" dirty="0">
                <a:solidFill>
                  <a:srgbClr val="FF0000"/>
                </a:solidFill>
              </a:rPr>
              <a:t>ACL</a:t>
            </a:r>
            <a:r>
              <a:rPr lang="zh-CN" altLang="en-US" sz="1200" dirty="0">
                <a:solidFill>
                  <a:srgbClr val="FF0000"/>
                </a:solidFill>
              </a:rPr>
              <a:t>权限</a:t>
            </a:r>
          </a:p>
          <a:p>
            <a:r>
              <a:rPr lang="en-US" altLang="zh-CN" sz="1200" dirty="0">
                <a:solidFill>
                  <a:srgbClr val="FF0000"/>
                </a:solidFill>
              </a:rPr>
              <a:t>[d:]m:[:]perms	  — </a:t>
            </a:r>
            <a:r>
              <a:rPr lang="zh-CN" altLang="en-US" sz="1200" dirty="0">
                <a:solidFill>
                  <a:srgbClr val="FF0000"/>
                </a:solidFill>
              </a:rPr>
              <a:t>设置有效的访问</a:t>
            </a:r>
            <a:r>
              <a:rPr lang="zh-CN" altLang="en-US" sz="1200" dirty="0" smtClean="0">
                <a:solidFill>
                  <a:srgbClr val="FF0000"/>
                </a:solidFill>
              </a:rPr>
              <a:t>掩码</a:t>
            </a:r>
            <a:endParaRPr lang="en-US" altLang="zh-CN" sz="1200" dirty="0" smtClean="0">
              <a:solidFill>
                <a:srgbClr val="FF0000"/>
              </a:solidFill>
            </a:endParaRPr>
          </a:p>
          <a:p>
            <a:endParaRPr lang="en-US" altLang="zh-CN" sz="1200" dirty="0" smtClean="0">
              <a:solidFill>
                <a:srgbClr val="FF0000"/>
              </a:solidFill>
            </a:endParaRPr>
          </a:p>
          <a:p>
            <a:r>
              <a:rPr lang="en-US" altLang="zh-CN" sz="1200" b="1" i="0" kern="1200" dirty="0" smtClean="0">
                <a:solidFill>
                  <a:schemeClr val="tx1"/>
                </a:solidFill>
                <a:effectLst/>
                <a:latin typeface="+mn-lt"/>
                <a:ea typeface="+mn-ea"/>
                <a:cs typeface="+mn-cs"/>
              </a:rPr>
              <a:t>mask </a:t>
            </a:r>
            <a:r>
              <a:rPr lang="zh-CN" altLang="en-US" sz="1200" b="1" i="0" kern="1200" dirty="0" smtClean="0">
                <a:solidFill>
                  <a:schemeClr val="tx1"/>
                </a:solidFill>
                <a:effectLst/>
                <a:latin typeface="+mn-lt"/>
                <a:ea typeface="+mn-ea"/>
                <a:cs typeface="+mn-cs"/>
              </a:rPr>
              <a:t>权限，指的是用户或群组能拥有的最大 </a:t>
            </a:r>
            <a:r>
              <a:rPr lang="en-US" altLang="zh-CN" sz="1200" b="1" i="0" kern="1200" dirty="0" smtClean="0">
                <a:solidFill>
                  <a:schemeClr val="tx1"/>
                </a:solidFill>
                <a:effectLst/>
                <a:latin typeface="+mn-lt"/>
                <a:ea typeface="+mn-ea"/>
                <a:cs typeface="+mn-cs"/>
              </a:rPr>
              <a:t>ACL </a:t>
            </a:r>
            <a:r>
              <a:rPr lang="zh-CN" altLang="en-US" sz="1200" b="1" i="0" kern="1200" dirty="0" smtClean="0">
                <a:solidFill>
                  <a:schemeClr val="tx1"/>
                </a:solidFill>
                <a:effectLst/>
                <a:latin typeface="+mn-lt"/>
                <a:ea typeface="+mn-ea"/>
                <a:cs typeface="+mn-cs"/>
              </a:rPr>
              <a:t>权限，也就是说，给用户或群组设定的 </a:t>
            </a:r>
            <a:r>
              <a:rPr lang="en-US" altLang="zh-CN" sz="1200" b="1" i="0" kern="1200" dirty="0" smtClean="0">
                <a:solidFill>
                  <a:schemeClr val="tx1"/>
                </a:solidFill>
                <a:effectLst/>
                <a:latin typeface="+mn-lt"/>
                <a:ea typeface="+mn-ea"/>
                <a:cs typeface="+mn-cs"/>
              </a:rPr>
              <a:t>ACL </a:t>
            </a:r>
            <a:r>
              <a:rPr lang="zh-CN" altLang="en-US" sz="1200" b="1" i="0" kern="1200" dirty="0" smtClean="0">
                <a:solidFill>
                  <a:schemeClr val="tx1"/>
                </a:solidFill>
                <a:effectLst/>
                <a:latin typeface="+mn-lt"/>
                <a:ea typeface="+mn-ea"/>
                <a:cs typeface="+mn-cs"/>
              </a:rPr>
              <a:t>权限不能超过 </a:t>
            </a:r>
            <a:r>
              <a:rPr lang="en-US" altLang="zh-CN" sz="1200" b="1" i="0" kern="1200" dirty="0" smtClean="0">
                <a:solidFill>
                  <a:schemeClr val="tx1"/>
                </a:solidFill>
                <a:effectLst/>
                <a:latin typeface="+mn-lt"/>
                <a:ea typeface="+mn-ea"/>
                <a:cs typeface="+mn-cs"/>
              </a:rPr>
              <a:t>mask </a:t>
            </a:r>
            <a:r>
              <a:rPr lang="zh-CN" altLang="en-US" sz="1200" b="1" i="0" kern="1200" dirty="0" smtClean="0">
                <a:solidFill>
                  <a:schemeClr val="tx1"/>
                </a:solidFill>
                <a:effectLst/>
                <a:latin typeface="+mn-lt"/>
                <a:ea typeface="+mn-ea"/>
                <a:cs typeface="+mn-cs"/>
              </a:rPr>
              <a:t>规定的权限范围，超出部分做无效处理</a:t>
            </a:r>
            <a:endParaRPr lang="zh-CN" altLang="en-US" sz="1200" dirty="0">
              <a:solidFill>
                <a:srgbClr val="FF0000"/>
              </a:solidFill>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107</a:t>
            </a:fld>
            <a:endParaRPr lang="zh-CN" altLang="en-US"/>
          </a:p>
        </p:txBody>
      </p:sp>
    </p:spTree>
    <p:extLst>
      <p:ext uri="{BB962C8B-B14F-4D97-AF65-F5344CB8AC3E}">
        <p14:creationId xmlns:p14="http://schemas.microsoft.com/office/powerpoint/2010/main" val="10839236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108</a:t>
            </a:fld>
            <a:endParaRPr lang="zh-CN" altLang="en-US"/>
          </a:p>
        </p:txBody>
      </p:sp>
    </p:spTree>
    <p:extLst>
      <p:ext uri="{BB962C8B-B14F-4D97-AF65-F5344CB8AC3E}">
        <p14:creationId xmlns:p14="http://schemas.microsoft.com/office/powerpoint/2010/main" val="9930920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111</a:t>
            </a:fld>
            <a:endParaRPr lang="zh-CN" altLang="en-US"/>
          </a:p>
        </p:txBody>
      </p:sp>
    </p:spTree>
    <p:extLst>
      <p:ext uri="{BB962C8B-B14F-4D97-AF65-F5344CB8AC3E}">
        <p14:creationId xmlns:p14="http://schemas.microsoft.com/office/powerpoint/2010/main" val="416266680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112</a:t>
            </a:fld>
            <a:endParaRPr lang="zh-CN" altLang="en-US"/>
          </a:p>
        </p:txBody>
      </p:sp>
    </p:spTree>
    <p:extLst>
      <p:ext uri="{BB962C8B-B14F-4D97-AF65-F5344CB8AC3E}">
        <p14:creationId xmlns:p14="http://schemas.microsoft.com/office/powerpoint/2010/main" val="2478479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实际用户识别号是识别正在运行此进程的用户和组，一个进程的实际用户识别号和实际组识别号是运行此进程的用户</a:t>
            </a:r>
            <a:r>
              <a:rPr lang="en-US" altLang="zh-CN" dirty="0"/>
              <a:t>ID</a:t>
            </a:r>
            <a:r>
              <a:rPr lang="zh-CN" altLang="en-US" dirty="0"/>
              <a:t>和组</a:t>
            </a:r>
            <a:r>
              <a:rPr lang="en-US" altLang="zh-CN" dirty="0"/>
              <a:t>ID</a:t>
            </a:r>
            <a:r>
              <a:rPr lang="zh-CN" altLang="en-US" dirty="0"/>
              <a:t>，有效用户识别号和有效组识别号是确定一个进程对其访问的文件的权限和优先级，</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119</a:t>
            </a:fld>
            <a:endParaRPr lang="zh-CN" altLang="en-US"/>
          </a:p>
        </p:txBody>
      </p:sp>
    </p:spTree>
    <p:extLst>
      <p:ext uri="{BB962C8B-B14F-4D97-AF65-F5344CB8AC3E}">
        <p14:creationId xmlns:p14="http://schemas.microsoft.com/office/powerpoint/2010/main" val="275342669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实际用户识别号是识别正在运行此进程的用户和组，一个进程的实际用户识别号和实际组识别号是运行此进程的用户</a:t>
            </a:r>
            <a:r>
              <a:rPr lang="en-US" altLang="zh-CN" dirty="0"/>
              <a:t>ID</a:t>
            </a:r>
            <a:r>
              <a:rPr lang="zh-CN" altLang="en-US" dirty="0"/>
              <a:t>和组</a:t>
            </a:r>
            <a:r>
              <a:rPr lang="en-US" altLang="zh-CN" dirty="0"/>
              <a:t>ID</a:t>
            </a:r>
            <a:r>
              <a:rPr lang="zh-CN" altLang="en-US" dirty="0"/>
              <a:t>，有效用户识别号和有效组识别号是确定一个进程对其访问的文件的权限和优先级，</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120</a:t>
            </a:fld>
            <a:endParaRPr lang="zh-CN" altLang="en-US"/>
          </a:p>
        </p:txBody>
      </p:sp>
    </p:spTree>
    <p:extLst>
      <p:ext uri="{BB962C8B-B14F-4D97-AF65-F5344CB8AC3E}">
        <p14:creationId xmlns:p14="http://schemas.microsoft.com/office/powerpoint/2010/main" val="24255844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solidFill>
                  <a:srgbClr val="FF0000"/>
                </a:solidFill>
              </a:rPr>
              <a:t>实际用户</a:t>
            </a:r>
            <a:r>
              <a:rPr lang="zh-CN" altLang="en-US" dirty="0"/>
              <a:t>识别号</a:t>
            </a:r>
            <a:r>
              <a:rPr lang="en-US" altLang="zh-CN" dirty="0"/>
              <a:t>RUID</a:t>
            </a:r>
            <a:r>
              <a:rPr lang="zh-CN" altLang="en-US" dirty="0"/>
              <a:t>，</a:t>
            </a:r>
            <a:r>
              <a:rPr lang="zh-CN" altLang="en-US" dirty="0">
                <a:solidFill>
                  <a:srgbClr val="FF0000"/>
                </a:solidFill>
              </a:rPr>
              <a:t>实际组</a:t>
            </a:r>
            <a:r>
              <a:rPr lang="zh-CN" altLang="en-US" dirty="0"/>
              <a:t>识别</a:t>
            </a:r>
            <a:r>
              <a:rPr lang="en-US" altLang="zh-CN" dirty="0"/>
              <a:t>RGID</a:t>
            </a:r>
            <a:r>
              <a:rPr lang="zh-CN" altLang="en-US" dirty="0"/>
              <a:t>；</a:t>
            </a:r>
            <a:r>
              <a:rPr lang="zh-CN" altLang="en-US" dirty="0">
                <a:solidFill>
                  <a:srgbClr val="FF0000"/>
                </a:solidFill>
              </a:rPr>
              <a:t>有效用户</a:t>
            </a:r>
            <a:r>
              <a:rPr lang="zh-CN" altLang="en-US" dirty="0"/>
              <a:t>识别号 </a:t>
            </a:r>
            <a:r>
              <a:rPr lang="en-US" altLang="zh-CN" dirty="0"/>
              <a:t>EUID</a:t>
            </a:r>
            <a:r>
              <a:rPr lang="zh-CN" altLang="en-US" dirty="0"/>
              <a:t>，</a:t>
            </a:r>
            <a:r>
              <a:rPr lang="zh-CN" altLang="en-US" dirty="0">
                <a:solidFill>
                  <a:srgbClr val="FF0000"/>
                </a:solidFill>
              </a:rPr>
              <a:t>有效组</a:t>
            </a:r>
            <a:r>
              <a:rPr lang="zh-CN" altLang="en-US" dirty="0"/>
              <a:t>识别号 </a:t>
            </a:r>
            <a:r>
              <a:rPr lang="en-US" altLang="zh-CN" dirty="0"/>
              <a:t>EGID</a:t>
            </a:r>
            <a:r>
              <a:rPr lang="zh-CN" altLang="en-US" dirty="0"/>
              <a:t>。</a:t>
            </a: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121</a:t>
            </a:fld>
            <a:endParaRPr lang="zh-CN" altLang="en-US"/>
          </a:p>
        </p:txBody>
      </p:sp>
    </p:spTree>
    <p:extLst>
      <p:ext uri="{BB962C8B-B14F-4D97-AF65-F5344CB8AC3E}">
        <p14:creationId xmlns:p14="http://schemas.microsoft.com/office/powerpoint/2010/main" val="92122534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三者的作用和使用场合不同</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122</a:t>
            </a:fld>
            <a:endParaRPr lang="zh-CN" altLang="en-US"/>
          </a:p>
        </p:txBody>
      </p:sp>
    </p:spTree>
    <p:extLst>
      <p:ext uri="{BB962C8B-B14F-4D97-AF65-F5344CB8AC3E}">
        <p14:creationId xmlns:p14="http://schemas.microsoft.com/office/powerpoint/2010/main" val="47714171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ps</a:t>
            </a:r>
            <a:r>
              <a:rPr lang="zh-CN" altLang="en-US" dirty="0"/>
              <a:t>查看的是某一个时间点的进程状态，而</a:t>
            </a:r>
            <a:r>
              <a:rPr lang="en-US" altLang="zh-CN" dirty="0"/>
              <a:t>top</a:t>
            </a:r>
            <a:r>
              <a:rPr lang="zh-CN" altLang="en-US" dirty="0"/>
              <a:t>可以动态持续监测进程的运行状态。</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125</a:t>
            </a:fld>
            <a:endParaRPr lang="zh-CN" altLang="en-US"/>
          </a:p>
        </p:txBody>
      </p:sp>
    </p:spTree>
    <p:extLst>
      <p:ext uri="{BB962C8B-B14F-4D97-AF65-F5344CB8AC3E}">
        <p14:creationId xmlns:p14="http://schemas.microsoft.com/office/powerpoint/2010/main" val="364783057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ps</a:t>
            </a:r>
            <a:r>
              <a:rPr lang="zh-CN" altLang="en-US" dirty="0"/>
              <a:t>查看的是某一个时间点的进程状态，而</a:t>
            </a:r>
            <a:r>
              <a:rPr lang="en-US" altLang="zh-CN" dirty="0"/>
              <a:t>top</a:t>
            </a:r>
            <a:r>
              <a:rPr lang="zh-CN" altLang="en-US" dirty="0"/>
              <a:t>可以动态持续监测进程的运行状态。</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126</a:t>
            </a:fld>
            <a:endParaRPr lang="zh-CN" altLang="en-US"/>
          </a:p>
        </p:txBody>
      </p:sp>
    </p:spTree>
    <p:extLst>
      <p:ext uri="{BB962C8B-B14F-4D97-AF65-F5344CB8AC3E}">
        <p14:creationId xmlns:p14="http://schemas.microsoft.com/office/powerpoint/2010/main" val="40832343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85000" lnSpcReduction="20000"/>
          </a:bodyPr>
          <a:lstStyle/>
          <a:p>
            <a:pPr marL="0" algn="l" rtl="0" eaLnBrk="1" fontAlgn="t"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-e</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显示所有进程，等价于 </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-A</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-f</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完全（</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FULL</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）显示，增加显示用户名、</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PPID</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、进程起始时间</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002060"/>
                </a:solidFill>
                <a:effectLst/>
                <a:latin typeface="Tahoma" panose="020B0604030504040204" pitchFamily="34" charset="0"/>
                <a:ea typeface="宋体" panose="02010600030101010101" pitchFamily="2" charset="-122"/>
              </a:rPr>
              <a:t> f/-H</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显示进程树，等价于 </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--forest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 a</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显示终端上的所有进程，包括其他用户的进程</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 x</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显示没有控制终端</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的</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进程</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baseline="0" dirty="0">
                <a:solidFill>
                  <a:srgbClr val="FF0000"/>
                </a:solidFill>
                <a:effectLst/>
                <a:latin typeface="Tahoma" panose="020B0604030504040204" pitchFamily="34" charset="0"/>
                <a:ea typeface="宋体" panose="02010600030101010101" pitchFamily="2" charset="-122"/>
              </a:rPr>
              <a:t> u</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面向用户的显示格式，增加显示用户名，进程起始时间，</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CPU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和内存占用百分比等信息</a:t>
            </a:r>
            <a:endParaRPr lang="zh-CN" altLang="zh-CN" sz="1800" b="0" i="0" u="none" strike="noStrike" dirty="0">
              <a:effectLst/>
              <a:latin typeface="Arial" panose="020B0604020202020204" pitchFamily="34" charset="0"/>
            </a:endParaRPr>
          </a:p>
          <a:p>
            <a:pPr marL="0" marR="0" indent="0" algn="l" rtl="0" eaLnBrk="1" fontAlgn="auto"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-u &lt;username&gt;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仅显示指定用户的进程</a:t>
            </a:r>
            <a:endParaRPr lang="zh-CN" altLang="zh-CN" sz="1800" b="0" i="0" u="none" strike="noStrike" dirty="0">
              <a:effectLst/>
              <a:latin typeface="Arial" panose="020B0604020202020204" pitchFamily="34" charset="0"/>
            </a:endParaRPr>
          </a:p>
          <a:p>
            <a:pPr marL="0" marR="0" indent="0" algn="l" rtl="0" eaLnBrk="1" fontAlgn="auto" latinLnBrk="0" hangingPunct="1">
              <a:spcBef>
                <a:spcPts val="0"/>
              </a:spcBef>
              <a:spcAft>
                <a:spcPts val="0"/>
              </a:spcAft>
            </a:pPr>
            <a:r>
              <a:rPr lang="en-US" altLang="zh-CN" sz="1800" b="1" i="0" u="none" strike="noStrike" kern="1200" dirty="0">
                <a:solidFill>
                  <a:srgbClr val="002060"/>
                </a:solidFill>
                <a:effectLst/>
                <a:latin typeface="Tahoma" panose="020B0604030504040204" pitchFamily="34" charset="0"/>
                <a:ea typeface="宋体" panose="02010600030101010101" pitchFamily="2" charset="-122"/>
              </a:rPr>
              <a:t>l/-l</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长格式显示，增加显示进程的</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UID</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PPID</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和优先权值</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en-US" altLang="zh-CN" sz="1800" b="1" i="0" u="none" strike="noStrike" kern="1200" dirty="0">
                <a:solidFill>
                  <a:srgbClr val="002060"/>
                </a:solidFill>
                <a:effectLst/>
                <a:latin typeface="Tahoma" panose="020B0604030504040204" pitchFamily="34" charset="0"/>
                <a:ea typeface="宋体" panose="02010600030101010101" pitchFamily="2" charset="-122"/>
              </a:rPr>
              <a:t>w[w]/-w[w]</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加宽显示，通常用于显示完整的命令行</a:t>
            </a:r>
            <a:endParaRPr lang="zh-CN" altLang="zh-CN" sz="1800" b="0" i="0" u="none" strike="noStrike" dirty="0">
              <a:effectLst/>
              <a:latin typeface="Arial" panose="020B0604020202020204" pitchFamily="34" charset="0"/>
            </a:endParaRPr>
          </a:p>
          <a:p>
            <a:pPr marL="0" marR="0" indent="0" algn="l" rtl="0" eaLnBrk="1" fontAlgn="auto"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o/-o &lt;format&gt;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由用户自定义输出列</a:t>
            </a:r>
            <a:endParaRPr lang="zh-CN" altLang="zh-CN" sz="1800" b="0" i="0" u="none" strike="noStrike" dirty="0">
              <a:effectLst/>
              <a:latin typeface="Arial" panose="020B0604020202020204" pitchFamily="34" charset="0"/>
            </a:endParaRPr>
          </a:p>
          <a:p>
            <a:pPr marL="0" marR="0" indent="0" algn="l" rtl="0" eaLnBrk="1" fontAlgn="auto" latinLnBrk="0" hangingPunct="1">
              <a:spcBef>
                <a:spcPts val="0"/>
              </a:spcBef>
              <a:spcAft>
                <a:spcPts val="0"/>
              </a:spcAft>
            </a:pP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--sort &lt;order&gt;</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指定按哪</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哪些列排序，</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order</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格式为：</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[+|-]key[,[+|-]key[,...]]</a:t>
            </a:r>
            <a:endParaRPr lang="zh-CN" altLang="zh-CN" sz="1800" b="0" i="0" u="none" strike="noStrike" dirty="0">
              <a:effectLst/>
              <a:latin typeface="Arial" panose="020B0604020202020204" pitchFamily="34" charset="0"/>
            </a:endParaRPr>
          </a:p>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128</a:t>
            </a:fld>
            <a:endParaRPr lang="zh-CN" altLang="en-US"/>
          </a:p>
        </p:txBody>
      </p:sp>
    </p:spTree>
    <p:extLst>
      <p:ext uri="{BB962C8B-B14F-4D97-AF65-F5344CB8AC3E}">
        <p14:creationId xmlns:p14="http://schemas.microsoft.com/office/powerpoint/2010/main" val="385721626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优先级的值越小，优先级越高。</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129</a:t>
            </a:fld>
            <a:endParaRPr lang="zh-CN" altLang="en-US"/>
          </a:p>
        </p:txBody>
      </p:sp>
    </p:spTree>
    <p:extLst>
      <p:ext uri="{BB962C8B-B14F-4D97-AF65-F5344CB8AC3E}">
        <p14:creationId xmlns:p14="http://schemas.microsoft.com/office/powerpoint/2010/main" val="35094084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zh-CN" altLang="en-US" dirty="0"/>
              <a:t>列表中的内容为</a:t>
            </a:r>
            <a:r>
              <a:rPr lang="en-US" altLang="zh-CN" dirty="0"/>
              <a:t>ps</a:t>
            </a:r>
            <a:r>
              <a:rPr lang="zh-CN" altLang="en-US" dirty="0"/>
              <a:t>命令输出的信息，可以从中任意组合。 </a:t>
            </a:r>
            <a:r>
              <a:rPr lang="en-US" altLang="zh-CN" dirty="0"/>
              <a:t>-o</a:t>
            </a:r>
            <a:r>
              <a:rPr lang="zh-CN" altLang="en-US" dirty="0"/>
              <a:t>用户自定义输出的列有哪些。</a:t>
            </a:r>
            <a:r>
              <a:rPr lang="en-US" altLang="zh-CN" dirty="0"/>
              <a:t>-e </a:t>
            </a:r>
            <a:r>
              <a:rPr lang="zh-CN" altLang="en-US" sz="1200" dirty="0"/>
              <a:t>显示所有进程，等价于 </a:t>
            </a:r>
            <a:r>
              <a:rPr lang="en-US" altLang="zh-CN" sz="1200" dirty="0"/>
              <a:t>–A </a:t>
            </a: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 </a:t>
            </a:r>
            <a:r>
              <a:rPr lang="en-US" altLang="zh-CN" sz="1800" b="1" i="0" u="none" strike="noStrike" kern="1200" dirty="0" err="1">
                <a:solidFill>
                  <a:srgbClr val="FF0000"/>
                </a:solidFill>
                <a:effectLst/>
                <a:latin typeface="Tahoma" panose="020B0604030504040204" pitchFamily="34" charset="0"/>
                <a:ea typeface="宋体" panose="02010600030101010101" pitchFamily="2" charset="-122"/>
              </a:rPr>
              <a:t>a</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显示终端上的所有进程，包括其他用户的进程</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a:t>
            </a:r>
            <a:r>
              <a:rPr lang="en-US" altLang="zh-CN" sz="1800" b="1" i="0" u="none" strike="noStrike" kern="1200" dirty="0">
                <a:solidFill>
                  <a:srgbClr val="FF0000"/>
                </a:solidFill>
                <a:effectLst/>
                <a:latin typeface="Tahoma" panose="020B0604030504040204" pitchFamily="34" charset="0"/>
                <a:ea typeface="宋体" panose="02010600030101010101" pitchFamily="2" charset="-122"/>
              </a:rPr>
              <a:t> x </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显示没有控制终端</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的</a:t>
            </a:r>
            <a:r>
              <a:rPr lang="zh-CN" altLang="zh-CN" sz="1800" b="0" i="0" u="none" strike="noStrike" kern="1200" dirty="0">
                <a:solidFill>
                  <a:srgbClr val="000000"/>
                </a:solidFill>
                <a:effectLst/>
                <a:latin typeface="Tahoma" panose="020B0604030504040204" pitchFamily="34" charset="0"/>
                <a:ea typeface="宋体" panose="02010600030101010101" pitchFamily="2" charset="-122"/>
              </a:rPr>
              <a:t>进程</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a:t>
            </a:r>
            <a:r>
              <a:rPr lang="en-US" altLang="zh-CN" sz="1800" b="0" i="0" u="none" strike="noStrike" kern="1200" dirty="0">
                <a:solidFill>
                  <a:srgbClr val="000000"/>
                </a:solidFill>
                <a:effectLst/>
                <a:latin typeface="Tahoma" panose="020B0604030504040204" pitchFamily="34" charset="0"/>
                <a:ea typeface="宋体" panose="02010600030101010101" pitchFamily="2" charset="-122"/>
              </a:rPr>
              <a:t>nice</a:t>
            </a:r>
            <a:r>
              <a:rPr lang="zh-CN" altLang="en-US" sz="1800" b="0" i="0" u="none" strike="noStrike" kern="1200" dirty="0">
                <a:solidFill>
                  <a:srgbClr val="000000"/>
                </a:solidFill>
                <a:effectLst/>
                <a:latin typeface="Tahoma" panose="020B0604030504040204" pitchFamily="34" charset="0"/>
                <a:ea typeface="宋体" panose="02010600030101010101" pitchFamily="2" charset="-122"/>
              </a:rPr>
              <a:t>优先级</a:t>
            </a:r>
            <a:endParaRPr lang="zh-CN" altLang="zh-CN" sz="1800" b="0" i="0" u="none" strike="noStrike" dirty="0">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200" dirty="0"/>
          </a:p>
          <a:p>
            <a:r>
              <a:rPr lang="zh-CN" altLang="en-US" dirty="0"/>
              <a:t> </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131</a:t>
            </a:fld>
            <a:endParaRPr lang="zh-CN" altLang="en-US"/>
          </a:p>
        </p:txBody>
      </p:sp>
    </p:spTree>
    <p:extLst>
      <p:ext uri="{BB962C8B-B14F-4D97-AF65-F5344CB8AC3E}">
        <p14:creationId xmlns:p14="http://schemas.microsoft.com/office/powerpoint/2010/main" val="58795953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spcBef>
                <a:spcPts val="0"/>
              </a:spcBef>
              <a:spcAft>
                <a:spcPts val="0"/>
              </a:spcAft>
            </a:pPr>
            <a:r>
              <a:rPr lang="en-US" altLang="zh-CN" sz="1200" dirty="0"/>
              <a:t>x </a:t>
            </a:r>
            <a:r>
              <a:rPr lang="zh-CN" altLang="en-US" sz="1200" dirty="0"/>
              <a:t>显示没有控制终端的进程 </a:t>
            </a:r>
            <a:r>
              <a:rPr lang="en-US" altLang="zh-CN" sz="1800" b="1" i="0" u="none" strike="noStrike" kern="1200" dirty="0">
                <a:solidFill>
                  <a:srgbClr val="002060"/>
                </a:solidFill>
                <a:effectLst/>
                <a:latin typeface="Tahoma" panose="020B0604030504040204" pitchFamily="34" charset="0"/>
                <a:ea typeface="宋体" panose="02010600030101010101" pitchFamily="2" charset="-122"/>
              </a:rPr>
              <a:t> f/-H </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显示进程树，等价于 </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–forest </a:t>
            </a:r>
            <a:r>
              <a:rPr lang="en-US" altLang="zh-CN" sz="1800" b="1" i="0" u="none" strike="noStrike" kern="1200" baseline="0" dirty="0">
                <a:solidFill>
                  <a:srgbClr val="FF0000"/>
                </a:solidFill>
                <a:effectLst/>
                <a:latin typeface="Tahoma" panose="020B0604030504040204" pitchFamily="34" charset="0"/>
                <a:ea typeface="宋体" panose="02010600030101010101" pitchFamily="2" charset="-122"/>
              </a:rPr>
              <a:t> u </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面向用户的显示格式，增加显示用户名，进程起始时间，</a:t>
            </a:r>
            <a:r>
              <a:rPr lang="en-US" altLang="zh-CN" sz="1800" b="1" i="0" u="none" strike="noStrike" kern="1200" dirty="0">
                <a:solidFill>
                  <a:srgbClr val="FFFFFF"/>
                </a:solidFill>
                <a:effectLst/>
                <a:latin typeface="Tahoma" panose="020B0604030504040204" pitchFamily="34" charset="0"/>
                <a:ea typeface="宋体" panose="02010600030101010101" pitchFamily="2" charset="-122"/>
              </a:rPr>
              <a:t>CPU </a:t>
            </a:r>
            <a:r>
              <a:rPr lang="zh-CN" altLang="zh-CN" sz="1800" b="1" i="0" u="none" strike="noStrike" kern="1200" dirty="0">
                <a:solidFill>
                  <a:srgbClr val="FFFFFF"/>
                </a:solidFill>
                <a:effectLst/>
                <a:latin typeface="Tahoma" panose="020B0604030504040204" pitchFamily="34" charset="0"/>
                <a:ea typeface="宋体" panose="02010600030101010101" pitchFamily="2" charset="-122"/>
              </a:rPr>
              <a:t>和内存占用百分比等信息</a:t>
            </a:r>
            <a:endParaRPr lang="zh-CN" altLang="zh-CN" sz="1800" b="0" i="0" u="none" strike="noStrike" dirty="0">
              <a:effectLst/>
              <a:latin typeface="Arial" panose="020B0604020202020204" pitchFamily="34" charset="0"/>
            </a:endParaRPr>
          </a:p>
          <a:p>
            <a:pPr marL="0" algn="l" rtl="0" eaLnBrk="1" fontAlgn="t" latinLnBrk="0" hangingPunct="1">
              <a:spcBef>
                <a:spcPts val="0"/>
              </a:spcBef>
              <a:spcAft>
                <a:spcPts val="0"/>
              </a:spcAft>
            </a:pPr>
            <a:endParaRPr lang="zh-CN" altLang="zh-CN" sz="1800" b="0" i="0" u="none" strike="noStrike" dirty="0">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200" dirty="0"/>
          </a:p>
          <a:p>
            <a:r>
              <a:rPr lang="en-US" altLang="zh-CN" dirty="0" err="1"/>
              <a:t>pgrep</a:t>
            </a:r>
            <a:r>
              <a:rPr lang="zh-CN" altLang="en-US" b="0" i="0" dirty="0">
                <a:solidFill>
                  <a:srgbClr val="4D4D4D"/>
                </a:solidFill>
                <a:effectLst/>
                <a:latin typeface="-apple-system"/>
              </a:rPr>
              <a:t>是一个根据名称查找进程</a:t>
            </a:r>
            <a:r>
              <a:rPr lang="en-US" altLang="zh-CN" dirty="0"/>
              <a:t>ID</a:t>
            </a:r>
            <a:r>
              <a:rPr lang="zh-CN" altLang="en-US" b="0" i="0" dirty="0">
                <a:solidFill>
                  <a:srgbClr val="4D4D4D"/>
                </a:solidFill>
                <a:effectLst/>
                <a:latin typeface="-apple-system"/>
              </a:rPr>
              <a:t>的命令，返回的是进程</a:t>
            </a:r>
            <a:r>
              <a:rPr lang="en-US" altLang="zh-CN" b="0" i="0" dirty="0">
                <a:solidFill>
                  <a:srgbClr val="4D4D4D"/>
                </a:solidFill>
                <a:effectLst/>
                <a:latin typeface="-apple-system"/>
              </a:rPr>
              <a:t>ID</a:t>
            </a:r>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132</a:t>
            </a:fld>
            <a:endParaRPr lang="zh-CN" altLang="en-US"/>
          </a:p>
        </p:txBody>
      </p:sp>
    </p:spTree>
    <p:extLst>
      <p:ext uri="{BB962C8B-B14F-4D97-AF65-F5344CB8AC3E}">
        <p14:creationId xmlns:p14="http://schemas.microsoft.com/office/powerpoint/2010/main" val="119088706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136</a:t>
            </a:fld>
            <a:endParaRPr lang="zh-CN" altLang="en-US"/>
          </a:p>
        </p:txBody>
      </p:sp>
    </p:spTree>
    <p:extLst>
      <p:ext uri="{BB962C8B-B14F-4D97-AF65-F5344CB8AC3E}">
        <p14:creationId xmlns:p14="http://schemas.microsoft.com/office/powerpoint/2010/main" val="34030463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5E67A7B-7D8A-4E03-B174-B3300045038D}" type="slidenum">
              <a:rPr lang="zh-CN" altLang="en-US" smtClean="0"/>
              <a:pPr/>
              <a:t>138</a:t>
            </a:fld>
            <a:endParaRPr lang="zh-CN" altLang="en-US"/>
          </a:p>
        </p:txBody>
      </p:sp>
    </p:spTree>
    <p:extLst>
      <p:ext uri="{BB962C8B-B14F-4D97-AF65-F5344CB8AC3E}">
        <p14:creationId xmlns:p14="http://schemas.microsoft.com/office/powerpoint/2010/main" val="140317580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名称，是指启动进程所使用的命令名称。</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141</a:t>
            </a:fld>
            <a:endParaRPr lang="zh-CN" altLang="en-US"/>
          </a:p>
        </p:txBody>
      </p:sp>
    </p:spTree>
    <p:extLst>
      <p:ext uri="{BB962C8B-B14F-4D97-AF65-F5344CB8AC3E}">
        <p14:creationId xmlns:p14="http://schemas.microsoft.com/office/powerpoint/2010/main" val="361389560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P83</a:t>
            </a:r>
            <a:r>
              <a:rPr lang="zh-CN" altLang="en-US" dirty="0"/>
              <a:t>也</a:t>
            </a:r>
            <a:r>
              <a:rPr lang="en-US" altLang="zh-CN" dirty="0"/>
              <a:t>vi</a:t>
            </a:r>
            <a:r>
              <a:rPr lang="zh-CN" altLang="en-US" dirty="0"/>
              <a:t>编辑器例子</a:t>
            </a:r>
          </a:p>
        </p:txBody>
      </p:sp>
      <p:sp>
        <p:nvSpPr>
          <p:cNvPr id="4" name="灯片编号占位符 3"/>
          <p:cNvSpPr>
            <a:spLocks noGrp="1"/>
          </p:cNvSpPr>
          <p:nvPr>
            <p:ph type="sldNum" sz="quarter" idx="5"/>
          </p:nvPr>
        </p:nvSpPr>
        <p:spPr/>
        <p:txBody>
          <a:bodyPr/>
          <a:lstStyle/>
          <a:p>
            <a:fld id="{A5E67A7B-7D8A-4E03-B174-B3300045038D}" type="slidenum">
              <a:rPr lang="zh-CN" altLang="en-US" smtClean="0"/>
              <a:pPr/>
              <a:t>143</a:t>
            </a:fld>
            <a:endParaRPr lang="zh-CN" altLang="en-US"/>
          </a:p>
        </p:txBody>
      </p:sp>
    </p:spTree>
    <p:extLst>
      <p:ext uri="{BB962C8B-B14F-4D97-AF65-F5344CB8AC3E}">
        <p14:creationId xmlns:p14="http://schemas.microsoft.com/office/powerpoint/2010/main" val="380557703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9E5D9F43-DF7E-45C4-8526-53CE0FAE1D4A}"/>
              </a:ext>
            </a:extLst>
          </p:cNvPr>
          <p:cNvGrpSpPr>
            <a:grpSpLocks/>
          </p:cNvGrpSpPr>
          <p:nvPr/>
        </p:nvGrpSpPr>
        <p:grpSpPr bwMode="auto">
          <a:xfrm>
            <a:off x="0" y="2348880"/>
            <a:ext cx="9009063" cy="1052513"/>
            <a:chOff x="0" y="0"/>
            <a:chExt cx="5675" cy="663"/>
          </a:xfrm>
        </p:grpSpPr>
        <p:grpSp>
          <p:nvGrpSpPr>
            <p:cNvPr id="5" name="Group 3">
              <a:extLst>
                <a:ext uri="{FF2B5EF4-FFF2-40B4-BE49-F238E27FC236}">
                  <a16:creationId xmlns:a16="http://schemas.microsoft.com/office/drawing/2014/main" id="{28D6124B-C8F5-43F5-B8AF-02DC451880EB}"/>
                </a:ext>
              </a:extLst>
            </p:cNvPr>
            <p:cNvGrpSpPr>
              <a:grpSpLocks/>
            </p:cNvGrpSpPr>
            <p:nvPr/>
          </p:nvGrpSpPr>
          <p:grpSpPr bwMode="auto">
            <a:xfrm>
              <a:off x="183" y="68"/>
              <a:ext cx="448" cy="299"/>
              <a:chOff x="0" y="0"/>
              <a:chExt cx="624" cy="432"/>
            </a:xfrm>
          </p:grpSpPr>
          <p:sp>
            <p:nvSpPr>
              <p:cNvPr id="12" name="Rectangle 4">
                <a:extLst>
                  <a:ext uri="{FF2B5EF4-FFF2-40B4-BE49-F238E27FC236}">
                    <a16:creationId xmlns:a16="http://schemas.microsoft.com/office/drawing/2014/main" id="{BFC6FC0B-4300-43ED-BD88-44C8FACBE3F2}"/>
                  </a:ext>
                </a:extLst>
              </p:cNvPr>
              <p:cNvSpPr>
                <a:spLocks noChangeArrowheads="1"/>
              </p:cNvSpPr>
              <p:nvPr/>
            </p:nvSpPr>
            <p:spPr bwMode="auto">
              <a:xfrm>
                <a:off x="0" y="0"/>
                <a:ext cx="384" cy="432"/>
              </a:xfrm>
              <a:prstGeom prst="rect">
                <a:avLst/>
              </a:prstGeom>
              <a:solidFill>
                <a:schemeClr val="folHlink"/>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13" name="Rectangle 5">
                <a:extLst>
                  <a:ext uri="{FF2B5EF4-FFF2-40B4-BE49-F238E27FC236}">
                    <a16:creationId xmlns:a16="http://schemas.microsoft.com/office/drawing/2014/main" id="{F2FBD9CD-18C4-4DDE-BF26-61D9AD951893}"/>
                  </a:ext>
                </a:extLst>
              </p:cNvPr>
              <p:cNvSpPr>
                <a:spLocks noChangeArrowheads="1"/>
              </p:cNvSpPr>
              <p:nvPr/>
            </p:nvSpPr>
            <p:spPr bwMode="auto">
              <a:xfrm>
                <a:off x="336" y="0"/>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grpSp>
        <p:grpSp>
          <p:nvGrpSpPr>
            <p:cNvPr id="6" name="Group 6">
              <a:extLst>
                <a:ext uri="{FF2B5EF4-FFF2-40B4-BE49-F238E27FC236}">
                  <a16:creationId xmlns:a16="http://schemas.microsoft.com/office/drawing/2014/main" id="{6FA1DA9F-5495-4E26-B63E-B4B4E39F590F}"/>
                </a:ext>
              </a:extLst>
            </p:cNvPr>
            <p:cNvGrpSpPr>
              <a:grpSpLocks/>
            </p:cNvGrpSpPr>
            <p:nvPr/>
          </p:nvGrpSpPr>
          <p:grpSpPr bwMode="auto">
            <a:xfrm>
              <a:off x="261" y="334"/>
              <a:ext cx="465" cy="299"/>
              <a:chOff x="0" y="0"/>
              <a:chExt cx="672" cy="432"/>
            </a:xfrm>
          </p:grpSpPr>
          <p:sp>
            <p:nvSpPr>
              <p:cNvPr id="10" name="Rectangle 7">
                <a:extLst>
                  <a:ext uri="{FF2B5EF4-FFF2-40B4-BE49-F238E27FC236}">
                    <a16:creationId xmlns:a16="http://schemas.microsoft.com/office/drawing/2014/main" id="{67C86019-5130-4E45-893E-F9EFE4FD3A9F}"/>
                  </a:ext>
                </a:extLst>
              </p:cNvPr>
              <p:cNvSpPr>
                <a:spLocks noChangeArrowheads="1"/>
              </p:cNvSpPr>
              <p:nvPr/>
            </p:nvSpPr>
            <p:spPr bwMode="auto">
              <a:xfrm>
                <a:off x="0" y="0"/>
                <a:ext cx="384" cy="432"/>
              </a:xfrm>
              <a:prstGeom prst="rect">
                <a:avLst/>
              </a:prstGeom>
              <a:solidFill>
                <a:schemeClr val="accent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11" name="Rectangle 8">
                <a:extLst>
                  <a:ext uri="{FF2B5EF4-FFF2-40B4-BE49-F238E27FC236}">
                    <a16:creationId xmlns:a16="http://schemas.microsoft.com/office/drawing/2014/main" id="{86D58052-571E-4997-BBB1-AAF56D725BE9}"/>
                  </a:ext>
                </a:extLst>
              </p:cNvPr>
              <p:cNvSpPr>
                <a:spLocks noChangeArrowheads="1"/>
              </p:cNvSpPr>
              <p:nvPr/>
            </p:nvSpPr>
            <p:spPr bwMode="auto">
              <a:xfrm>
                <a:off x="337" y="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grpSp>
        <p:sp>
          <p:nvSpPr>
            <p:cNvPr id="7" name="Rectangle 9">
              <a:extLst>
                <a:ext uri="{FF2B5EF4-FFF2-40B4-BE49-F238E27FC236}">
                  <a16:creationId xmlns:a16="http://schemas.microsoft.com/office/drawing/2014/main" id="{4CA959EB-FFBF-490C-836E-1272CF1BAA7F}"/>
                </a:ext>
              </a:extLst>
            </p:cNvPr>
            <p:cNvSpPr>
              <a:spLocks noChangeArrowheads="1"/>
            </p:cNvSpPr>
            <p:nvPr/>
          </p:nvSpPr>
          <p:spPr bwMode="auto">
            <a:xfrm>
              <a:off x="0" y="288"/>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8" name="Rectangle 10">
              <a:extLst>
                <a:ext uri="{FF2B5EF4-FFF2-40B4-BE49-F238E27FC236}">
                  <a16:creationId xmlns:a16="http://schemas.microsoft.com/office/drawing/2014/main" id="{27FCA811-5F92-4F55-A8FF-4C5C82273A32}"/>
                </a:ext>
              </a:extLst>
            </p:cNvPr>
            <p:cNvSpPr>
              <a:spLocks noChangeArrowheads="1"/>
            </p:cNvSpPr>
            <p:nvPr/>
          </p:nvSpPr>
          <p:spPr bwMode="auto">
            <a:xfrm>
              <a:off x="400" y="0"/>
              <a:ext cx="20" cy="663"/>
            </a:xfrm>
            <a:prstGeom prst="rect">
              <a:avLst/>
            </a:prstGeom>
            <a:solidFill>
              <a:schemeClr val="bg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sp>
          <p:nvSpPr>
            <p:cNvPr id="9" name="Rectangle 11">
              <a:extLst>
                <a:ext uri="{FF2B5EF4-FFF2-40B4-BE49-F238E27FC236}">
                  <a16:creationId xmlns:a16="http://schemas.microsoft.com/office/drawing/2014/main" id="{4D231D0D-BC89-4928-B160-3666F4F3CE3D}"/>
                </a:ext>
              </a:extLst>
            </p:cNvPr>
            <p:cNvSpPr>
              <a:spLocks noChangeArrowheads="1"/>
            </p:cNvSpPr>
            <p:nvPr/>
          </p:nvSpPr>
          <p:spPr bwMode="auto">
            <a:xfrm flipV="1">
              <a:off x="199" y="518"/>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eaLnBrk="1" hangingPunct="1">
                <a:defRPr/>
              </a:pPr>
              <a:endParaRPr lang="zh-CN" altLang="en-US"/>
            </a:p>
          </p:txBody>
        </p:sp>
      </p:grpSp>
      <p:pic>
        <p:nvPicPr>
          <p:cNvPr id="14" name="图片 23">
            <a:extLst>
              <a:ext uri="{FF2B5EF4-FFF2-40B4-BE49-F238E27FC236}">
                <a16:creationId xmlns:a16="http://schemas.microsoft.com/office/drawing/2014/main" id="{D5A3B365-2A81-401E-8C6C-CBB03DA602A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90500" y="114300"/>
            <a:ext cx="3235325" cy="198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0" descr="C:\Users\osmond\Desktop\centos5-fig\centos-logo.png">
            <a:extLst>
              <a:ext uri="{FF2B5EF4-FFF2-40B4-BE49-F238E27FC236}">
                <a16:creationId xmlns:a16="http://schemas.microsoft.com/office/drawing/2014/main" id="{CD076D5A-2FBA-4E69-AA3D-8AF6BEDDAE6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088188" y="754063"/>
            <a:ext cx="1584325"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33">
            <a:extLst>
              <a:ext uri="{FF2B5EF4-FFF2-40B4-BE49-F238E27FC236}">
                <a16:creationId xmlns:a16="http://schemas.microsoft.com/office/drawing/2014/main" id="{8D1B0D6A-BFD6-4234-AD9A-3614FE3D86C2}"/>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l="82329" t="2643" b="89954"/>
          <a:stretch>
            <a:fillRect/>
          </a:stretch>
        </p:blipFill>
        <p:spPr bwMode="auto">
          <a:xfrm>
            <a:off x="6729413" y="415925"/>
            <a:ext cx="239077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文本框 16">
            <a:extLst>
              <a:ext uri="{FF2B5EF4-FFF2-40B4-BE49-F238E27FC236}">
                <a16:creationId xmlns:a16="http://schemas.microsoft.com/office/drawing/2014/main" id="{9E0A2116-C459-4DE2-9EAF-104A5515AF32}"/>
              </a:ext>
            </a:extLst>
          </p:cNvPr>
          <p:cNvSpPr txBox="1">
            <a:spLocks noChangeArrowheads="1"/>
          </p:cNvSpPr>
          <p:nvPr userDrawn="1"/>
        </p:nvSpPr>
        <p:spPr bwMode="auto">
          <a:xfrm>
            <a:off x="6767513" y="341313"/>
            <a:ext cx="1949450" cy="369887"/>
          </a:xfrm>
          <a:prstGeom prst="rect">
            <a:avLst/>
          </a:prstGeom>
          <a:solidFill>
            <a:schemeClr val="bg1"/>
          </a:solidFill>
          <a:ln>
            <a:noFill/>
          </a:ln>
        </p:spPr>
        <p:txBody>
          <a:bodyPr>
            <a:spAutoFit/>
          </a:bodyP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defRPr/>
            </a:pPr>
            <a:r>
              <a:rPr lang="zh-CN" altLang="en-US">
                <a:latin typeface="华文行楷" panose="02010800040101010101" pitchFamily="2" charset="-122"/>
                <a:ea typeface="华文行楷" panose="02010800040101010101" pitchFamily="2" charset="-122"/>
              </a:rPr>
              <a:t>               大数据</a:t>
            </a:r>
            <a:r>
              <a:rPr lang="zh-CN" altLang="en-US" sz="900">
                <a:latin typeface="仿宋" panose="02010609060101010101" pitchFamily="49" charset="-122"/>
                <a:ea typeface="仿宋" panose="02010609060101010101" pitchFamily="49" charset="-122"/>
              </a:rPr>
              <a:t>学院</a:t>
            </a:r>
          </a:p>
        </p:txBody>
      </p:sp>
      <p:sp>
        <p:nvSpPr>
          <p:cNvPr id="18" name="Text Box 12">
            <a:extLst>
              <a:ext uri="{FF2B5EF4-FFF2-40B4-BE49-F238E27FC236}">
                <a16:creationId xmlns:a16="http://schemas.microsoft.com/office/drawing/2014/main" id="{58D2EFDF-B9F1-4C80-BD8F-71E748DF65C2}"/>
              </a:ext>
            </a:extLst>
          </p:cNvPr>
          <p:cNvSpPr txBox="1">
            <a:spLocks noChangeArrowheads="1"/>
          </p:cNvSpPr>
          <p:nvPr userDrawn="1"/>
        </p:nvSpPr>
        <p:spPr bwMode="auto">
          <a:xfrm>
            <a:off x="6659563" y="288925"/>
            <a:ext cx="1463675" cy="461963"/>
          </a:xfrm>
          <a:prstGeom prst="rect">
            <a:avLst/>
          </a:prstGeom>
          <a:noFill/>
          <a:ln>
            <a:noFill/>
          </a:ln>
        </p:spPr>
        <p:txBody>
          <a:bodyPr lIns="91433" tIns="45717" rIns="91433" bIns="45717">
            <a:spAutoFit/>
          </a:bodyP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spcBef>
                <a:spcPct val="50000"/>
              </a:spcBef>
              <a:defRPr/>
            </a:pPr>
            <a:r>
              <a:rPr lang="en-US" altLang="zh-CN" sz="2400" b="1">
                <a:solidFill>
                  <a:srgbClr val="CEC609"/>
                </a:solidFill>
                <a:latin typeface="Broadway" panose="04040905080002020502" pitchFamily="82" charset="0"/>
              </a:rPr>
              <a:t>TYUT</a:t>
            </a:r>
          </a:p>
        </p:txBody>
      </p:sp>
      <p:sp>
        <p:nvSpPr>
          <p:cNvPr id="19" name="矩形 18">
            <a:extLst>
              <a:ext uri="{FF2B5EF4-FFF2-40B4-BE49-F238E27FC236}">
                <a16:creationId xmlns:a16="http://schemas.microsoft.com/office/drawing/2014/main" id="{E4279E14-A276-48BF-959D-D142FEC4BC30}"/>
              </a:ext>
            </a:extLst>
          </p:cNvPr>
          <p:cNvSpPr>
            <a:spLocks noChangeArrowheads="1"/>
          </p:cNvSpPr>
          <p:nvPr userDrawn="1"/>
        </p:nvSpPr>
        <p:spPr bwMode="auto">
          <a:xfrm flipH="1">
            <a:off x="8672513" y="509588"/>
            <a:ext cx="46037" cy="53975"/>
          </a:xfrm>
          <a:prstGeom prst="rect">
            <a:avLst/>
          </a:prstGeom>
          <a:solidFill>
            <a:srgbClr val="FF0000"/>
          </a:solidFill>
          <a:ln w="9525" algn="ctr">
            <a:solidFill>
              <a:srgbClr val="FF0000"/>
            </a:solidFill>
            <a:round/>
            <a:headEnd/>
            <a:tailEnd/>
          </a:ln>
        </p:spPr>
        <p:txBody>
          <a:bodyP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eaLnBrk="1" hangingPunct="1">
              <a:buFont typeface="Arial" panose="020B0604020202020204" pitchFamily="34" charset="0"/>
              <a:buNone/>
              <a:defRPr/>
            </a:pPr>
            <a:endParaRPr lang="zh-CN" altLang="en-US"/>
          </a:p>
        </p:txBody>
      </p:sp>
      <p:sp>
        <p:nvSpPr>
          <p:cNvPr id="2060" name="Rectangle 12"/>
          <p:cNvSpPr>
            <a:spLocks noGrp="1" noChangeArrowheads="1"/>
          </p:cNvSpPr>
          <p:nvPr>
            <p:ph type="ctrTitle"/>
          </p:nvPr>
        </p:nvSpPr>
        <p:spPr>
          <a:xfrm>
            <a:off x="990600" y="1676400"/>
            <a:ext cx="7772400" cy="1462088"/>
          </a:xfrm>
        </p:spPr>
        <p:txBody>
          <a:bodyPr/>
          <a:lstStyle>
            <a:lvl1pPr>
              <a:defRPr/>
            </a:lvl1pPr>
          </a:lstStyle>
          <a:p>
            <a:pPr lvl="0"/>
            <a:r>
              <a:rPr lang="zh-CN" altLang="en-US" noProof="0"/>
              <a:t>单击此处编辑母版标题样式</a:t>
            </a:r>
          </a:p>
        </p:txBody>
      </p:sp>
      <p:sp>
        <p:nvSpPr>
          <p:cNvPr id="2061" name="Rectangle 13"/>
          <p:cNvSpPr>
            <a:spLocks noGrp="1" noChangeArrowheads="1"/>
          </p:cNvSpPr>
          <p:nvPr>
            <p:ph type="subTitle" idx="1"/>
          </p:nvPr>
        </p:nvSpPr>
        <p:spPr>
          <a:xfrm>
            <a:off x="1371600" y="3886200"/>
            <a:ext cx="6400800" cy="1752600"/>
          </a:xfrm>
        </p:spPr>
        <p:txBody>
          <a:bodyPr/>
          <a:lstStyle>
            <a:lvl1pPr marL="0" indent="0" algn="ctr">
              <a:buFont typeface="Wingdings" panose="05000000000000000000" pitchFamily="2" charset="2"/>
              <a:buNone/>
              <a:defRPr/>
            </a:lvl1pPr>
          </a:lstStyle>
          <a:p>
            <a:pPr lvl="0"/>
            <a:r>
              <a:rPr lang="zh-CN" altLang="en-US" noProof="0"/>
              <a:t>单击此处编辑母版副标题样式</a:t>
            </a:r>
          </a:p>
        </p:txBody>
      </p:sp>
      <p:sp>
        <p:nvSpPr>
          <p:cNvPr id="20" name="Rectangle 14">
            <a:extLst>
              <a:ext uri="{FF2B5EF4-FFF2-40B4-BE49-F238E27FC236}">
                <a16:creationId xmlns:a16="http://schemas.microsoft.com/office/drawing/2014/main" id="{4C0E3032-292D-4509-A7AE-CBA8C2E04CD3}"/>
              </a:ext>
            </a:extLst>
          </p:cNvPr>
          <p:cNvSpPr>
            <a:spLocks noGrp="1" noChangeArrowheads="1"/>
          </p:cNvSpPr>
          <p:nvPr>
            <p:ph type="dt" sz="half" idx="10"/>
          </p:nvPr>
        </p:nvSpPr>
        <p:spPr>
          <a:xfrm>
            <a:off x="990600" y="6248400"/>
            <a:ext cx="1905000" cy="457200"/>
          </a:xfrm>
          <a:prstGeom prst="rect">
            <a:avLst/>
          </a:prstGeom>
        </p:spPr>
        <p:txBody>
          <a:bodyPr/>
          <a:lstStyle>
            <a:lvl1pPr>
              <a:defRPr>
                <a:solidFill>
                  <a:schemeClr val="bg2"/>
                </a:solidFill>
              </a:defRPr>
            </a:lvl1pPr>
          </a:lstStyle>
          <a:p>
            <a:pPr>
              <a:defRPr/>
            </a:pPr>
            <a:fld id="{A9ACC8A9-F4FB-4D3E-9D3D-610D7285E4EB}" type="datetime2">
              <a:rPr lang="zh-CN" altLang="en-US" smtClean="0"/>
              <a:t>2025年5月7日</a:t>
            </a:fld>
            <a:endParaRPr lang="en-US" altLang="zh-CN"/>
          </a:p>
        </p:txBody>
      </p:sp>
      <p:sp>
        <p:nvSpPr>
          <p:cNvPr id="21" name="Rectangle 15">
            <a:extLst>
              <a:ext uri="{FF2B5EF4-FFF2-40B4-BE49-F238E27FC236}">
                <a16:creationId xmlns:a16="http://schemas.microsoft.com/office/drawing/2014/main" id="{4A0F8DC1-B1CE-4497-A7A7-F9EB6B9FCCB2}"/>
              </a:ext>
            </a:extLst>
          </p:cNvPr>
          <p:cNvSpPr>
            <a:spLocks noGrp="1" noChangeArrowheads="1"/>
          </p:cNvSpPr>
          <p:nvPr>
            <p:ph type="ftr" sz="quarter" idx="11"/>
          </p:nvPr>
        </p:nvSpPr>
        <p:spPr>
          <a:xfrm>
            <a:off x="3429000" y="6248400"/>
            <a:ext cx="2895600" cy="457200"/>
          </a:xfrm>
          <a:prstGeom prst="rect">
            <a:avLst/>
          </a:prstGeom>
        </p:spPr>
        <p:txBody>
          <a:bodyPr/>
          <a:lstStyle>
            <a:lvl1pPr>
              <a:defRPr>
                <a:solidFill>
                  <a:schemeClr val="bg2"/>
                </a:solidFill>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22" name="Rectangle 16">
            <a:extLst>
              <a:ext uri="{FF2B5EF4-FFF2-40B4-BE49-F238E27FC236}">
                <a16:creationId xmlns:a16="http://schemas.microsoft.com/office/drawing/2014/main" id="{EC997CE6-CB37-4F50-B1A9-763FFE446244}"/>
              </a:ext>
            </a:extLst>
          </p:cNvPr>
          <p:cNvSpPr>
            <a:spLocks noGrp="1" noChangeArrowheads="1"/>
          </p:cNvSpPr>
          <p:nvPr>
            <p:ph type="sldNum" sz="quarter" idx="12"/>
          </p:nvPr>
        </p:nvSpPr>
        <p:spPr>
          <a:xfrm>
            <a:off x="6858000" y="6248400"/>
            <a:ext cx="1905000" cy="457200"/>
          </a:xfrm>
          <a:prstGeom prst="rect">
            <a:avLst/>
          </a:prstGeom>
        </p:spPr>
        <p:txBody>
          <a:bodyPr/>
          <a:lstStyle>
            <a:lvl1pPr>
              <a:defRPr>
                <a:solidFill>
                  <a:schemeClr val="bg2"/>
                </a:solidFill>
              </a:defRPr>
            </a:lvl1pPr>
          </a:lstStyle>
          <a:p>
            <a:pPr>
              <a:defRPr/>
            </a:pPr>
            <a:fld id="{117B12D3-157F-4068-BE47-38BD3A8AF5D4}" type="slidenum">
              <a:rPr lang="zh-CN" altLang="en-US"/>
              <a:pPr>
                <a:defRPr/>
              </a:pPr>
              <a:t>‹#›</a:t>
            </a:fld>
            <a:endParaRPr lang="en-US" altLang="zh-CN"/>
          </a:p>
        </p:txBody>
      </p:sp>
    </p:spTree>
    <p:extLst>
      <p:ext uri="{BB962C8B-B14F-4D97-AF65-F5344CB8AC3E}">
        <p14:creationId xmlns:p14="http://schemas.microsoft.com/office/powerpoint/2010/main" val="24176563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baseline="0">
                <a:latin typeface="Times New Roman" panose="02020603050405020304" pitchFamily="18" charset="0"/>
                <a:ea typeface="宋体" panose="02010600030101010101" pitchFamily="2" charset="-122"/>
              </a:defRPr>
            </a:lvl1pPr>
          </a:lstStyle>
          <a:p>
            <a:r>
              <a:rPr lang="zh-CN" altLang="en-US" dirty="0"/>
              <a:t>单击此处编辑母版标题样式</a:t>
            </a:r>
          </a:p>
        </p:txBody>
      </p:sp>
      <p:sp>
        <p:nvSpPr>
          <p:cNvPr id="3" name="内容占位符 2"/>
          <p:cNvSpPr>
            <a:spLocks noGrp="1"/>
          </p:cNvSpPr>
          <p:nvPr>
            <p:ph idx="1"/>
          </p:nvPr>
        </p:nvSpPr>
        <p:spPr/>
        <p:txBody>
          <a:bodyPr/>
          <a:lstStyle>
            <a:lvl1pPr>
              <a:defRPr b="0" i="0" baseline="0">
                <a:latin typeface="Tahoma" panose="020B0604030504040204" pitchFamily="34" charset="0"/>
                <a:ea typeface="楷体_GB2312"/>
              </a:defRPr>
            </a:lvl1pPr>
            <a:lvl2pPr marL="742950" indent="-285750">
              <a:buFont typeface="Wingdings" panose="05000000000000000000" pitchFamily="2" charset="2"/>
              <a:buChar char="l"/>
              <a:defRPr b="1" i="0" baseline="0">
                <a:latin typeface="Tahoma" panose="020B0604030504040204" pitchFamily="34" charset="0"/>
                <a:ea typeface="楷体_GB2312"/>
              </a:defRPr>
            </a:lvl2pPr>
            <a:lvl3pPr marL="1143000" indent="-228600">
              <a:buFont typeface="Wingdings" panose="05000000000000000000" pitchFamily="2" charset="2"/>
              <a:buChar char="u"/>
              <a:defRPr b="1" baseline="0">
                <a:latin typeface="Tahoma" panose="020B0604030504040204" pitchFamily="34" charset="0"/>
                <a:ea typeface="楷体_GB2312"/>
              </a:defRPr>
            </a:lvl3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extLst>
      <p:ext uri="{BB962C8B-B14F-4D97-AF65-F5344CB8AC3E}">
        <p14:creationId xmlns:p14="http://schemas.microsoft.com/office/powerpoint/2010/main" val="41035967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zh-CN" altLang="en-US"/>
              <a:t>单击此处编辑母版文本样式</a:t>
            </a:r>
          </a:p>
        </p:txBody>
      </p:sp>
      <p:sp>
        <p:nvSpPr>
          <p:cNvPr id="4" name="Rectangle 11">
            <a:extLst>
              <a:ext uri="{FF2B5EF4-FFF2-40B4-BE49-F238E27FC236}">
                <a16:creationId xmlns:a16="http://schemas.microsoft.com/office/drawing/2014/main" id="{C232E806-323A-48EA-B3E9-86DEA0713E33}"/>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6C1839D4-A906-4B0F-BF62-40BC08955926}" type="datetime2">
              <a:rPr lang="zh-CN" altLang="en-US" smtClean="0"/>
              <a:t>2025年5月7日</a:t>
            </a:fld>
            <a:endParaRPr lang="en-US" altLang="zh-CN"/>
          </a:p>
        </p:txBody>
      </p:sp>
      <p:sp>
        <p:nvSpPr>
          <p:cNvPr id="5" name="Rectangle 12">
            <a:extLst>
              <a:ext uri="{FF2B5EF4-FFF2-40B4-BE49-F238E27FC236}">
                <a16:creationId xmlns:a16="http://schemas.microsoft.com/office/drawing/2014/main" id="{072050FD-51BC-41E0-977B-4A87F1A44A85}"/>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6" name="Rectangle 13">
            <a:extLst>
              <a:ext uri="{FF2B5EF4-FFF2-40B4-BE49-F238E27FC236}">
                <a16:creationId xmlns:a16="http://schemas.microsoft.com/office/drawing/2014/main" id="{EFC740F8-9C8E-48C7-9547-2CA4BE62FB02}"/>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815363AE-85D7-48F3-83E6-F38039B7DDA8}" type="slidenum">
              <a:rPr lang="zh-CN" altLang="en-US"/>
              <a:pPr>
                <a:defRPr/>
              </a:pPr>
              <a:t>‹#›</a:t>
            </a:fld>
            <a:endParaRPr lang="en-US" altLang="zh-CN"/>
          </a:p>
        </p:txBody>
      </p:sp>
    </p:spTree>
    <p:extLst>
      <p:ext uri="{BB962C8B-B14F-4D97-AF65-F5344CB8AC3E}">
        <p14:creationId xmlns:p14="http://schemas.microsoft.com/office/powerpoint/2010/main" val="28475297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11826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1450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1">
            <a:extLst>
              <a:ext uri="{FF2B5EF4-FFF2-40B4-BE49-F238E27FC236}">
                <a16:creationId xmlns:a16="http://schemas.microsoft.com/office/drawing/2014/main" id="{4C427C5E-963F-4603-B1E3-DF589D8080BD}"/>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A82B265B-C293-4BE6-8F81-174D773A3AC0}" type="datetime2">
              <a:rPr lang="zh-CN" altLang="en-US" smtClean="0"/>
              <a:t>2025年5月7日</a:t>
            </a:fld>
            <a:endParaRPr lang="en-US" altLang="zh-CN"/>
          </a:p>
        </p:txBody>
      </p:sp>
      <p:sp>
        <p:nvSpPr>
          <p:cNvPr id="6" name="Rectangle 12">
            <a:extLst>
              <a:ext uri="{FF2B5EF4-FFF2-40B4-BE49-F238E27FC236}">
                <a16:creationId xmlns:a16="http://schemas.microsoft.com/office/drawing/2014/main" id="{D08E827A-155D-4006-839B-B52CEC821779}"/>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A815AEEF-C21C-4BFD-8535-2BF334AE7641}"/>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1B30DE9E-9889-4936-BCB6-08152E4770EC}" type="slidenum">
              <a:rPr lang="zh-CN" altLang="en-US"/>
              <a:pPr>
                <a:defRPr/>
              </a:pPr>
              <a:t>‹#›</a:t>
            </a:fld>
            <a:endParaRPr lang="en-US" altLang="zh-CN"/>
          </a:p>
        </p:txBody>
      </p:sp>
    </p:spTree>
    <p:extLst>
      <p:ext uri="{BB962C8B-B14F-4D97-AF65-F5344CB8AC3E}">
        <p14:creationId xmlns:p14="http://schemas.microsoft.com/office/powerpoint/2010/main" val="2068895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30238" y="365125"/>
            <a:ext cx="7886700" cy="1325563"/>
          </a:xfrm>
        </p:spPr>
        <p:txBody>
          <a:bodyPr/>
          <a:lstStyle/>
          <a:p>
            <a:r>
              <a:rPr lang="zh-CN" altLang="en-US"/>
              <a:t>单击此处编辑母版标题样式</a:t>
            </a:r>
          </a:p>
        </p:txBody>
      </p:sp>
      <p:sp>
        <p:nvSpPr>
          <p:cNvPr id="3" name="文本占位符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30238" y="2505075"/>
            <a:ext cx="386873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29150" y="2505075"/>
            <a:ext cx="38877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11">
            <a:extLst>
              <a:ext uri="{FF2B5EF4-FFF2-40B4-BE49-F238E27FC236}">
                <a16:creationId xmlns:a16="http://schemas.microsoft.com/office/drawing/2014/main" id="{B737658E-66E6-48D6-87D0-2ACC7A3F545C}"/>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0E4C01C4-A439-48ED-BA1F-1A7AB7FC585D}" type="datetime2">
              <a:rPr lang="zh-CN" altLang="en-US" smtClean="0"/>
              <a:t>2025年5月7日</a:t>
            </a:fld>
            <a:endParaRPr lang="en-US" altLang="zh-CN"/>
          </a:p>
        </p:txBody>
      </p:sp>
      <p:sp>
        <p:nvSpPr>
          <p:cNvPr id="8" name="Rectangle 12">
            <a:extLst>
              <a:ext uri="{FF2B5EF4-FFF2-40B4-BE49-F238E27FC236}">
                <a16:creationId xmlns:a16="http://schemas.microsoft.com/office/drawing/2014/main" id="{396B486E-54B6-4E81-AC36-BC25DC002010}"/>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9" name="Rectangle 13">
            <a:extLst>
              <a:ext uri="{FF2B5EF4-FFF2-40B4-BE49-F238E27FC236}">
                <a16:creationId xmlns:a16="http://schemas.microsoft.com/office/drawing/2014/main" id="{91992F5D-A16B-485B-8A30-99D6740731C3}"/>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607D74F6-D682-47BE-A3C8-B2CA531BF0AD}" type="slidenum">
              <a:rPr lang="zh-CN" altLang="en-US"/>
              <a:pPr>
                <a:defRPr/>
              </a:pPr>
              <a:t>‹#›</a:t>
            </a:fld>
            <a:endParaRPr lang="en-US" altLang="zh-CN"/>
          </a:p>
        </p:txBody>
      </p:sp>
    </p:spTree>
    <p:extLst>
      <p:ext uri="{BB962C8B-B14F-4D97-AF65-F5344CB8AC3E}">
        <p14:creationId xmlns:p14="http://schemas.microsoft.com/office/powerpoint/2010/main" val="534215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11">
            <a:extLst>
              <a:ext uri="{FF2B5EF4-FFF2-40B4-BE49-F238E27FC236}">
                <a16:creationId xmlns:a16="http://schemas.microsoft.com/office/drawing/2014/main" id="{0D0C98E4-47A5-4437-B14C-BB896D4744D0}"/>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B5606F1B-8BF6-477D-AC87-B0907761C6F2}" type="datetime2">
              <a:rPr lang="zh-CN" altLang="en-US" smtClean="0"/>
              <a:t>2025年5月7日</a:t>
            </a:fld>
            <a:endParaRPr lang="en-US" altLang="zh-CN"/>
          </a:p>
        </p:txBody>
      </p:sp>
      <p:sp>
        <p:nvSpPr>
          <p:cNvPr id="4" name="Rectangle 12">
            <a:extLst>
              <a:ext uri="{FF2B5EF4-FFF2-40B4-BE49-F238E27FC236}">
                <a16:creationId xmlns:a16="http://schemas.microsoft.com/office/drawing/2014/main" id="{43CAC612-B701-4EC9-9932-F3D32E89D646}"/>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5" name="Rectangle 13">
            <a:extLst>
              <a:ext uri="{FF2B5EF4-FFF2-40B4-BE49-F238E27FC236}">
                <a16:creationId xmlns:a16="http://schemas.microsoft.com/office/drawing/2014/main" id="{12E05527-BF33-4928-9AE1-94906B548799}"/>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E8E51994-79C7-4610-A904-32FC7D243E99}" type="slidenum">
              <a:rPr lang="zh-CN" altLang="en-US"/>
              <a:pPr>
                <a:defRPr/>
              </a:pPr>
              <a:t>‹#›</a:t>
            </a:fld>
            <a:endParaRPr lang="en-US" altLang="zh-CN"/>
          </a:p>
        </p:txBody>
      </p:sp>
    </p:spTree>
    <p:extLst>
      <p:ext uri="{BB962C8B-B14F-4D97-AF65-F5344CB8AC3E}">
        <p14:creationId xmlns:p14="http://schemas.microsoft.com/office/powerpoint/2010/main" val="1665140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1">
            <a:extLst>
              <a:ext uri="{FF2B5EF4-FFF2-40B4-BE49-F238E27FC236}">
                <a16:creationId xmlns:a16="http://schemas.microsoft.com/office/drawing/2014/main" id="{3BF9C150-4D8B-43DB-919F-D881E72C06DF}"/>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5B6B6BF2-1552-41C3-AB98-13F2BD6E7187}" type="datetime2">
              <a:rPr lang="zh-CN" altLang="en-US" smtClean="0"/>
              <a:t>2025年5月7日</a:t>
            </a:fld>
            <a:endParaRPr lang="en-US" altLang="zh-CN"/>
          </a:p>
        </p:txBody>
      </p:sp>
      <p:sp>
        <p:nvSpPr>
          <p:cNvPr id="3" name="Rectangle 12">
            <a:extLst>
              <a:ext uri="{FF2B5EF4-FFF2-40B4-BE49-F238E27FC236}">
                <a16:creationId xmlns:a16="http://schemas.microsoft.com/office/drawing/2014/main" id="{568D3D9D-612E-40B7-875D-E44D434B0414}"/>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4" name="Rectangle 13">
            <a:extLst>
              <a:ext uri="{FF2B5EF4-FFF2-40B4-BE49-F238E27FC236}">
                <a16:creationId xmlns:a16="http://schemas.microsoft.com/office/drawing/2014/main" id="{177C39F5-2E08-4B9C-B44C-C5180EF50B85}"/>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06810C8D-C138-4C10-A071-32060A3012A7}" type="slidenum">
              <a:rPr lang="zh-CN" altLang="en-US"/>
              <a:pPr>
                <a:defRPr/>
              </a:pPr>
              <a:t>‹#›</a:t>
            </a:fld>
            <a:endParaRPr lang="en-US" altLang="zh-CN"/>
          </a:p>
        </p:txBody>
      </p:sp>
    </p:spTree>
    <p:extLst>
      <p:ext uri="{BB962C8B-B14F-4D97-AF65-F5344CB8AC3E}">
        <p14:creationId xmlns:p14="http://schemas.microsoft.com/office/powerpoint/2010/main" val="3462896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a:t>单击此处编辑母版标题样式</a:t>
            </a:r>
          </a:p>
        </p:txBody>
      </p:sp>
      <p:sp>
        <p:nvSpPr>
          <p:cNvPr id="3" name="内容占位符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Rectangle 11">
            <a:extLst>
              <a:ext uri="{FF2B5EF4-FFF2-40B4-BE49-F238E27FC236}">
                <a16:creationId xmlns:a16="http://schemas.microsoft.com/office/drawing/2014/main" id="{C168C279-3C1E-4CE7-B243-FB9ED7973170}"/>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AA295DE2-3068-465E-BFE0-87561C68A076}" type="datetime2">
              <a:rPr lang="zh-CN" altLang="en-US" smtClean="0"/>
              <a:t>2025年5月7日</a:t>
            </a:fld>
            <a:endParaRPr lang="en-US" altLang="zh-CN"/>
          </a:p>
        </p:txBody>
      </p:sp>
      <p:sp>
        <p:nvSpPr>
          <p:cNvPr id="6" name="Rectangle 12">
            <a:extLst>
              <a:ext uri="{FF2B5EF4-FFF2-40B4-BE49-F238E27FC236}">
                <a16:creationId xmlns:a16="http://schemas.microsoft.com/office/drawing/2014/main" id="{0A3CCC57-5CD6-431C-AFDA-1913CD36C5D9}"/>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55BF406D-F480-4C89-AE22-1A0AA45686BF}"/>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3A2E6F14-DBBC-4C7A-834C-B3F95216864E}" type="slidenum">
              <a:rPr lang="zh-CN" altLang="en-US"/>
              <a:pPr>
                <a:defRPr/>
              </a:pPr>
              <a:t>‹#›</a:t>
            </a:fld>
            <a:endParaRPr lang="en-US" altLang="zh-CN"/>
          </a:p>
        </p:txBody>
      </p:sp>
    </p:spTree>
    <p:extLst>
      <p:ext uri="{BB962C8B-B14F-4D97-AF65-F5344CB8AC3E}">
        <p14:creationId xmlns:p14="http://schemas.microsoft.com/office/powerpoint/2010/main" val="1065979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a:t>单击此处编辑母版标题样式</a:t>
            </a:r>
          </a:p>
        </p:txBody>
      </p:sp>
      <p:sp>
        <p:nvSpPr>
          <p:cNvPr id="3" name="图片占位符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Rectangle 11">
            <a:extLst>
              <a:ext uri="{FF2B5EF4-FFF2-40B4-BE49-F238E27FC236}">
                <a16:creationId xmlns:a16="http://schemas.microsoft.com/office/drawing/2014/main" id="{6C1F0967-0544-46A5-BD97-BDE829110356}"/>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0D781D9A-067E-4CE2-BB23-1E6937EE9584}" type="datetime2">
              <a:rPr lang="zh-CN" altLang="en-US" smtClean="0"/>
              <a:t>2025年5月7日</a:t>
            </a:fld>
            <a:endParaRPr lang="en-US" altLang="zh-CN"/>
          </a:p>
        </p:txBody>
      </p:sp>
      <p:sp>
        <p:nvSpPr>
          <p:cNvPr id="6" name="Rectangle 12">
            <a:extLst>
              <a:ext uri="{FF2B5EF4-FFF2-40B4-BE49-F238E27FC236}">
                <a16:creationId xmlns:a16="http://schemas.microsoft.com/office/drawing/2014/main" id="{0B930C38-8A79-4D28-B8E0-CA0F08C624EB}"/>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AC4FF2DF-FA04-4B16-8D43-EF4BAFB1FC5D}"/>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5E59C476-984E-473F-8388-E6864EFF0B33}" type="slidenum">
              <a:rPr lang="zh-CN" altLang="en-US"/>
              <a:pPr>
                <a:defRPr/>
              </a:pPr>
              <a:t>‹#›</a:t>
            </a:fld>
            <a:endParaRPr lang="en-US" altLang="zh-CN"/>
          </a:p>
        </p:txBody>
      </p:sp>
    </p:spTree>
    <p:extLst>
      <p:ext uri="{BB962C8B-B14F-4D97-AF65-F5344CB8AC3E}">
        <p14:creationId xmlns:p14="http://schemas.microsoft.com/office/powerpoint/2010/main" val="3139207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1">
            <a:extLst>
              <a:ext uri="{FF2B5EF4-FFF2-40B4-BE49-F238E27FC236}">
                <a16:creationId xmlns:a16="http://schemas.microsoft.com/office/drawing/2014/main" id="{F7E9C2AF-0E4C-4983-95ED-9904E0239D2B}"/>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D8C79F09-33F9-4C5C-9F8E-407D914ACE70}" type="datetime2">
              <a:rPr lang="zh-CN" altLang="en-US" smtClean="0"/>
              <a:t>2025年5月7日</a:t>
            </a:fld>
            <a:endParaRPr lang="en-US" altLang="zh-CN"/>
          </a:p>
        </p:txBody>
      </p:sp>
      <p:sp>
        <p:nvSpPr>
          <p:cNvPr id="5" name="Rectangle 12">
            <a:extLst>
              <a:ext uri="{FF2B5EF4-FFF2-40B4-BE49-F238E27FC236}">
                <a16:creationId xmlns:a16="http://schemas.microsoft.com/office/drawing/2014/main" id="{2D0D25F7-7FF6-475E-BF01-A1168FF74AAC}"/>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6" name="Rectangle 13">
            <a:extLst>
              <a:ext uri="{FF2B5EF4-FFF2-40B4-BE49-F238E27FC236}">
                <a16:creationId xmlns:a16="http://schemas.microsoft.com/office/drawing/2014/main" id="{DF199A99-FC37-4747-ACC1-1B08E83BAAB1}"/>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27CBB581-100E-4C34-B67E-7EEBA286973C}" type="slidenum">
              <a:rPr lang="zh-CN" altLang="en-US"/>
              <a:pPr>
                <a:defRPr/>
              </a:pPr>
              <a:t>‹#›</a:t>
            </a:fld>
            <a:endParaRPr lang="en-US" altLang="zh-CN"/>
          </a:p>
        </p:txBody>
      </p:sp>
    </p:spTree>
    <p:extLst>
      <p:ext uri="{BB962C8B-B14F-4D97-AF65-F5344CB8AC3E}">
        <p14:creationId xmlns:p14="http://schemas.microsoft.com/office/powerpoint/2010/main" val="3541420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7004050" y="214313"/>
            <a:ext cx="1951038" cy="5918200"/>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1150938" y="214313"/>
            <a:ext cx="5700712" cy="5918200"/>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1">
            <a:extLst>
              <a:ext uri="{FF2B5EF4-FFF2-40B4-BE49-F238E27FC236}">
                <a16:creationId xmlns:a16="http://schemas.microsoft.com/office/drawing/2014/main" id="{783A2B5D-E716-4576-B26B-6ED193254435}"/>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C731E038-7059-43C5-917A-04B2FF8C098E}" type="datetime2">
              <a:rPr lang="zh-CN" altLang="en-US" smtClean="0"/>
              <a:t>2025年5月7日</a:t>
            </a:fld>
            <a:endParaRPr lang="en-US" altLang="zh-CN"/>
          </a:p>
        </p:txBody>
      </p:sp>
      <p:sp>
        <p:nvSpPr>
          <p:cNvPr id="5" name="Rectangle 12">
            <a:extLst>
              <a:ext uri="{FF2B5EF4-FFF2-40B4-BE49-F238E27FC236}">
                <a16:creationId xmlns:a16="http://schemas.microsoft.com/office/drawing/2014/main" id="{A8FB3226-2686-40D2-BE07-4C6B5C7E8A77}"/>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6" name="Rectangle 13">
            <a:extLst>
              <a:ext uri="{FF2B5EF4-FFF2-40B4-BE49-F238E27FC236}">
                <a16:creationId xmlns:a16="http://schemas.microsoft.com/office/drawing/2014/main" id="{A615F989-5BE7-40F7-9868-E68E0998C1BD}"/>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97310F61-FAE0-4B69-BD09-48CC328586FB}" type="slidenum">
              <a:rPr lang="zh-CN" altLang="en-US"/>
              <a:pPr>
                <a:defRPr/>
              </a:pPr>
              <a:t>‹#›</a:t>
            </a:fld>
            <a:endParaRPr lang="en-US" altLang="zh-CN"/>
          </a:p>
        </p:txBody>
      </p:sp>
    </p:spTree>
    <p:extLst>
      <p:ext uri="{BB962C8B-B14F-4D97-AF65-F5344CB8AC3E}">
        <p14:creationId xmlns:p14="http://schemas.microsoft.com/office/powerpoint/2010/main" val="24146808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1150938" y="214313"/>
            <a:ext cx="7793037" cy="1462087"/>
          </a:xfrm>
        </p:spPr>
        <p:txBody>
          <a:bodyPr/>
          <a:lstStyle/>
          <a:p>
            <a:r>
              <a:rPr lang="zh-CN" altLang="en-US"/>
              <a:t>单击此处编辑母版标题样式</a:t>
            </a:r>
          </a:p>
        </p:txBody>
      </p:sp>
      <p:sp>
        <p:nvSpPr>
          <p:cNvPr id="3" name="文本占位符 2"/>
          <p:cNvSpPr>
            <a:spLocks noGrp="1"/>
          </p:cNvSpPr>
          <p:nvPr>
            <p:ph type="body" sz="half" idx="1"/>
          </p:nvPr>
        </p:nvSpPr>
        <p:spPr>
          <a:xfrm>
            <a:off x="11826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145088" y="2017713"/>
            <a:ext cx="3810000" cy="41148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1">
            <a:extLst>
              <a:ext uri="{FF2B5EF4-FFF2-40B4-BE49-F238E27FC236}">
                <a16:creationId xmlns:a16="http://schemas.microsoft.com/office/drawing/2014/main" id="{EA4365A7-4363-4929-A4E7-20BA396EFBC9}"/>
              </a:ext>
            </a:extLst>
          </p:cNvPr>
          <p:cNvSpPr>
            <a:spLocks noGrp="1" noChangeArrowheads="1"/>
          </p:cNvSpPr>
          <p:nvPr>
            <p:ph type="dt" sz="half" idx="10"/>
          </p:nvPr>
        </p:nvSpPr>
        <p:spPr>
          <a:xfrm>
            <a:off x="1162050" y="6243638"/>
            <a:ext cx="1905000" cy="457200"/>
          </a:xfrm>
          <a:prstGeom prst="rect">
            <a:avLst/>
          </a:prstGeom>
          <a:ln/>
        </p:spPr>
        <p:txBody>
          <a:bodyPr/>
          <a:lstStyle>
            <a:lvl1pPr>
              <a:defRPr/>
            </a:lvl1pPr>
          </a:lstStyle>
          <a:p>
            <a:pPr>
              <a:defRPr/>
            </a:pPr>
            <a:fld id="{720070F6-2B03-43E4-BE61-1C3CBB6001EE}" type="datetime2">
              <a:rPr lang="zh-CN" altLang="en-US" smtClean="0"/>
              <a:t>2025年5月7日</a:t>
            </a:fld>
            <a:endParaRPr lang="en-US" altLang="zh-CN"/>
          </a:p>
        </p:txBody>
      </p:sp>
      <p:sp>
        <p:nvSpPr>
          <p:cNvPr id="6" name="Rectangle 12">
            <a:extLst>
              <a:ext uri="{FF2B5EF4-FFF2-40B4-BE49-F238E27FC236}">
                <a16:creationId xmlns:a16="http://schemas.microsoft.com/office/drawing/2014/main" id="{5707A314-908D-4071-A745-2A247D433FAD}"/>
              </a:ext>
            </a:extLst>
          </p:cNvPr>
          <p:cNvSpPr>
            <a:spLocks noGrp="1" noChangeArrowheads="1"/>
          </p:cNvSpPr>
          <p:nvPr>
            <p:ph type="ftr" sz="quarter" idx="11"/>
          </p:nvPr>
        </p:nvSpPr>
        <p:spPr>
          <a:xfrm>
            <a:off x="3657600" y="6243638"/>
            <a:ext cx="2895600" cy="457200"/>
          </a:xfrm>
          <a:prstGeom prst="rect">
            <a:avLst/>
          </a:prstGeom>
          <a:ln/>
        </p:spPr>
        <p:txBody>
          <a:bodyPr/>
          <a:lstStyle>
            <a:lvl1pPr>
              <a:defRPr/>
            </a:lvl1pPr>
          </a:lstStyle>
          <a:p>
            <a:pPr>
              <a:defRPr/>
            </a:pPr>
            <a:r>
              <a:rPr lang="zh-CN" altLang="en-US"/>
              <a:t>梁如军（</a:t>
            </a:r>
            <a:r>
              <a:rPr lang="en-US" altLang="zh-CN"/>
              <a:t>linuxbooks@126.com</a:t>
            </a:r>
            <a:r>
              <a:rPr lang="zh-CN" altLang="en-US"/>
              <a:t>） </a:t>
            </a:r>
            <a:r>
              <a:rPr lang="en-US" altLang="zh-CN"/>
              <a:t>Creative Commons License</a:t>
            </a:r>
            <a:r>
              <a:rPr lang="zh-CN" altLang="en-US"/>
              <a:t>（</a:t>
            </a:r>
            <a:r>
              <a:rPr lang="en-US" altLang="zh-CN"/>
              <a:t>BY-NC-SA</a:t>
            </a:r>
            <a:r>
              <a:rPr lang="zh-CN" altLang="en-US"/>
              <a:t>）</a:t>
            </a:r>
            <a:endParaRPr lang="en-US" altLang="zh-CN"/>
          </a:p>
        </p:txBody>
      </p:sp>
      <p:sp>
        <p:nvSpPr>
          <p:cNvPr id="7" name="Rectangle 13">
            <a:extLst>
              <a:ext uri="{FF2B5EF4-FFF2-40B4-BE49-F238E27FC236}">
                <a16:creationId xmlns:a16="http://schemas.microsoft.com/office/drawing/2014/main" id="{9EBAD794-524B-4E4F-B2C0-ED7795B5B0CA}"/>
              </a:ext>
            </a:extLst>
          </p:cNvPr>
          <p:cNvSpPr>
            <a:spLocks noGrp="1" noChangeArrowheads="1"/>
          </p:cNvSpPr>
          <p:nvPr>
            <p:ph type="sldNum" sz="quarter" idx="12"/>
          </p:nvPr>
        </p:nvSpPr>
        <p:spPr>
          <a:xfrm>
            <a:off x="7042150" y="6243638"/>
            <a:ext cx="1905000" cy="457200"/>
          </a:xfrm>
          <a:prstGeom prst="rect">
            <a:avLst/>
          </a:prstGeom>
          <a:ln/>
        </p:spPr>
        <p:txBody>
          <a:bodyPr/>
          <a:lstStyle>
            <a:lvl1pPr>
              <a:defRPr/>
            </a:lvl1pPr>
          </a:lstStyle>
          <a:p>
            <a:pPr>
              <a:defRPr/>
            </a:pPr>
            <a:fld id="{EF69604F-D62F-4770-B8BA-DB8702C7ACC9}" type="slidenum">
              <a:rPr lang="zh-CN" altLang="en-US"/>
              <a:pPr>
                <a:defRPr/>
              </a:pPr>
              <a:t>‹#›</a:t>
            </a:fld>
            <a:endParaRPr lang="en-US" altLang="zh-CN"/>
          </a:p>
        </p:txBody>
      </p:sp>
    </p:spTree>
    <p:extLst>
      <p:ext uri="{BB962C8B-B14F-4D97-AF65-F5344CB8AC3E}">
        <p14:creationId xmlns:p14="http://schemas.microsoft.com/office/powerpoint/2010/main" val="3949503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142F7A86-4457-4C44-AA23-A188BF74BCAD}"/>
              </a:ext>
            </a:extLst>
          </p:cNvPr>
          <p:cNvSpPr>
            <a:spLocks noChangeArrowheads="1"/>
          </p:cNvSpPr>
          <p:nvPr/>
        </p:nvSpPr>
        <p:spPr bwMode="auto">
          <a:xfrm>
            <a:off x="417513" y="584622"/>
            <a:ext cx="438150" cy="474663"/>
          </a:xfrm>
          <a:prstGeom prst="rect">
            <a:avLst/>
          </a:prstGeom>
          <a:solidFill>
            <a:schemeClr val="accent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27" name="Rectangle 3">
            <a:extLst>
              <a:ext uri="{FF2B5EF4-FFF2-40B4-BE49-F238E27FC236}">
                <a16:creationId xmlns:a16="http://schemas.microsoft.com/office/drawing/2014/main" id="{02584698-5801-44B2-B7AD-FCC18561FC35}"/>
              </a:ext>
            </a:extLst>
          </p:cNvPr>
          <p:cNvSpPr>
            <a:spLocks noChangeArrowheads="1"/>
          </p:cNvSpPr>
          <p:nvPr/>
        </p:nvSpPr>
        <p:spPr bwMode="auto">
          <a:xfrm>
            <a:off x="800100" y="584622"/>
            <a:ext cx="328613" cy="474663"/>
          </a:xfrm>
          <a:prstGeom prst="rect">
            <a:avLst/>
          </a:prstGeom>
          <a:gradFill rotWithShape="0">
            <a:gsLst>
              <a:gs pos="0">
                <a:schemeClr val="accent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28" name="Rectangle 4">
            <a:extLst>
              <a:ext uri="{FF2B5EF4-FFF2-40B4-BE49-F238E27FC236}">
                <a16:creationId xmlns:a16="http://schemas.microsoft.com/office/drawing/2014/main" id="{2E0C6132-DC88-4BAF-A84D-7E2E7022A9C6}"/>
              </a:ext>
            </a:extLst>
          </p:cNvPr>
          <p:cNvSpPr>
            <a:spLocks noChangeArrowheads="1"/>
          </p:cNvSpPr>
          <p:nvPr/>
        </p:nvSpPr>
        <p:spPr bwMode="auto">
          <a:xfrm>
            <a:off x="541338" y="1006897"/>
            <a:ext cx="422275" cy="474663"/>
          </a:xfrm>
          <a:prstGeom prst="rect">
            <a:avLst/>
          </a:prstGeom>
          <a:solidFill>
            <a:schemeClr val="folHlink"/>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29" name="Rectangle 5">
            <a:extLst>
              <a:ext uri="{FF2B5EF4-FFF2-40B4-BE49-F238E27FC236}">
                <a16:creationId xmlns:a16="http://schemas.microsoft.com/office/drawing/2014/main" id="{4947C4E7-E9F1-4112-A381-FC9839854EED}"/>
              </a:ext>
            </a:extLst>
          </p:cNvPr>
          <p:cNvSpPr>
            <a:spLocks noChangeArrowheads="1"/>
          </p:cNvSpPr>
          <p:nvPr/>
        </p:nvSpPr>
        <p:spPr bwMode="auto">
          <a:xfrm>
            <a:off x="911225" y="1006897"/>
            <a:ext cx="368300" cy="474663"/>
          </a:xfrm>
          <a:prstGeom prst="rect">
            <a:avLst/>
          </a:prstGeom>
          <a:gradFill rotWithShape="0">
            <a:gsLst>
              <a:gs pos="0">
                <a:schemeClr val="folHlink"/>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0" name="Rectangle 6">
            <a:extLst>
              <a:ext uri="{FF2B5EF4-FFF2-40B4-BE49-F238E27FC236}">
                <a16:creationId xmlns:a16="http://schemas.microsoft.com/office/drawing/2014/main" id="{A847C857-1190-4296-B7AB-6BFFF81307D1}"/>
              </a:ext>
            </a:extLst>
          </p:cNvPr>
          <p:cNvSpPr>
            <a:spLocks noChangeArrowheads="1"/>
          </p:cNvSpPr>
          <p:nvPr/>
        </p:nvSpPr>
        <p:spPr bwMode="auto">
          <a:xfrm>
            <a:off x="127000" y="933872"/>
            <a:ext cx="560388" cy="422275"/>
          </a:xfrm>
          <a:prstGeom prst="rect">
            <a:avLst/>
          </a:prstGeom>
          <a:gradFill rotWithShape="0">
            <a:gsLst>
              <a:gs pos="0">
                <a:schemeClr val="bg1"/>
              </a:gs>
              <a:gs pos="100000">
                <a:schemeClr val="hlink"/>
              </a:gs>
            </a:gsLst>
            <a:lin ang="1890000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1" name="Rectangle 7">
            <a:extLst>
              <a:ext uri="{FF2B5EF4-FFF2-40B4-BE49-F238E27FC236}">
                <a16:creationId xmlns:a16="http://schemas.microsoft.com/office/drawing/2014/main" id="{49CAE5DD-3506-44A8-A213-ED4D6F21BA78}"/>
              </a:ext>
            </a:extLst>
          </p:cNvPr>
          <p:cNvSpPr>
            <a:spLocks noChangeArrowheads="1"/>
          </p:cNvSpPr>
          <p:nvPr/>
        </p:nvSpPr>
        <p:spPr bwMode="auto">
          <a:xfrm>
            <a:off x="762000" y="476672"/>
            <a:ext cx="31750" cy="1052513"/>
          </a:xfrm>
          <a:prstGeom prst="rect">
            <a:avLst/>
          </a:prstGeom>
          <a:solidFill>
            <a:schemeClr val="bg2"/>
          </a:soli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2" name="Rectangle 8">
            <a:extLst>
              <a:ext uri="{FF2B5EF4-FFF2-40B4-BE49-F238E27FC236}">
                <a16:creationId xmlns:a16="http://schemas.microsoft.com/office/drawing/2014/main" id="{4FEC8925-5AC3-44B6-AB60-3C07DF2B3BD4}"/>
              </a:ext>
            </a:extLst>
          </p:cNvPr>
          <p:cNvSpPr>
            <a:spLocks noChangeArrowheads="1"/>
          </p:cNvSpPr>
          <p:nvPr/>
        </p:nvSpPr>
        <p:spPr bwMode="auto">
          <a:xfrm>
            <a:off x="442913" y="1267247"/>
            <a:ext cx="8226425" cy="31750"/>
          </a:xfrm>
          <a:prstGeom prst="rect">
            <a:avLst/>
          </a:prstGeom>
          <a:gradFill rotWithShape="0">
            <a:gsLst>
              <a:gs pos="0">
                <a:schemeClr val="bg2"/>
              </a:gs>
              <a:gs pos="100000">
                <a:schemeClr val="bg1"/>
              </a:gs>
            </a:gsLst>
            <a:lin ang="0" scaled="1"/>
          </a:gradFill>
          <a:ln>
            <a:noFill/>
          </a:ln>
          <a:effectLst/>
        </p:spPr>
        <p:txBody>
          <a:bodyPr wrap="none" anchor="ctr"/>
          <a:lstStyle>
            <a:lvl1pPr>
              <a:buFont typeface="Arial" panose="020B0604020202020204" pitchFamily="34" charset="0"/>
              <a:defRPr>
                <a:solidFill>
                  <a:schemeClr val="tx1"/>
                </a:solidFill>
                <a:latin typeface="Tahoma" panose="020B0604030504040204" pitchFamily="34" charset="0"/>
                <a:ea typeface="宋体" panose="02010600030101010101" pitchFamily="2" charset="-122"/>
              </a:defRPr>
            </a:lvl1pPr>
            <a:lvl2pPr marL="742950" indent="-285750">
              <a:buFont typeface="Arial" panose="020B0604020202020204" pitchFamily="34" charset="0"/>
              <a:defRPr>
                <a:solidFill>
                  <a:schemeClr val="tx1"/>
                </a:solidFill>
                <a:latin typeface="Tahoma" panose="020B0604030504040204" pitchFamily="34" charset="0"/>
                <a:ea typeface="宋体" panose="02010600030101010101" pitchFamily="2" charset="-122"/>
              </a:defRPr>
            </a:lvl2pPr>
            <a:lvl3pPr marL="11430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3pPr>
            <a:lvl4pPr marL="16002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4pPr>
            <a:lvl5pPr marL="2057400" indent="-228600">
              <a:buFont typeface="Arial" panose="020B0604020202020204" pitchFamily="34" charset="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2400"/>
          </a:p>
        </p:txBody>
      </p:sp>
      <p:sp>
        <p:nvSpPr>
          <p:cNvPr id="1033" name="Rectangle 9">
            <a:extLst>
              <a:ext uri="{FF2B5EF4-FFF2-40B4-BE49-F238E27FC236}">
                <a16:creationId xmlns:a16="http://schemas.microsoft.com/office/drawing/2014/main" id="{57BBD128-274C-4EB1-8A54-1FF695FAF069}"/>
              </a:ext>
            </a:extLst>
          </p:cNvPr>
          <p:cNvSpPr>
            <a:spLocks noGrp="1" noChangeArrowheads="1"/>
          </p:cNvSpPr>
          <p:nvPr>
            <p:ph type="title"/>
          </p:nvPr>
        </p:nvSpPr>
        <p:spPr bwMode="auto">
          <a:xfrm>
            <a:off x="1154113" y="191715"/>
            <a:ext cx="7793037" cy="105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zh-CN" altLang="en-US"/>
              <a:t>单击此处编辑母版标题样式</a:t>
            </a:r>
          </a:p>
        </p:txBody>
      </p:sp>
      <p:sp>
        <p:nvSpPr>
          <p:cNvPr id="1034" name="Rectangle 10">
            <a:extLst>
              <a:ext uri="{FF2B5EF4-FFF2-40B4-BE49-F238E27FC236}">
                <a16:creationId xmlns:a16="http://schemas.microsoft.com/office/drawing/2014/main" id="{0ECAAF0A-6223-44A8-8A03-959C24719577}"/>
              </a:ext>
            </a:extLst>
          </p:cNvPr>
          <p:cNvSpPr>
            <a:spLocks noGrp="1" noChangeArrowheads="1"/>
          </p:cNvSpPr>
          <p:nvPr>
            <p:ph type="body" idx="1"/>
          </p:nvPr>
        </p:nvSpPr>
        <p:spPr bwMode="auto">
          <a:xfrm>
            <a:off x="963613" y="1736303"/>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811940084"/>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lvl1pPr algn="l" rtl="0" eaLnBrk="0" fontAlgn="base" hangingPunct="0">
        <a:spcBef>
          <a:spcPct val="0"/>
        </a:spcBef>
        <a:spcAft>
          <a:spcPct val="0"/>
        </a:spcAft>
        <a:defRPr sz="4400" kern="1200">
          <a:solidFill>
            <a:schemeClr val="tx2"/>
          </a:solidFill>
          <a:latin typeface="+mj-lt"/>
          <a:ea typeface="+mj-ea"/>
          <a:cs typeface="+mj-cs"/>
        </a:defRPr>
      </a:lvl1pPr>
      <a:lvl2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2pPr>
      <a:lvl3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3pPr>
      <a:lvl4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4pPr>
      <a:lvl5pPr algn="l" rtl="0" eaLnBrk="0" fontAlgn="base" hangingPunct="0">
        <a:spcBef>
          <a:spcPct val="0"/>
        </a:spcBef>
        <a:spcAft>
          <a:spcPct val="0"/>
        </a:spcAft>
        <a:defRPr sz="4400">
          <a:solidFill>
            <a:schemeClr val="tx2"/>
          </a:solidFill>
          <a:latin typeface="Tahoma" panose="020B0604030504040204" pitchFamily="34" charset="0"/>
          <a:ea typeface="宋体" panose="02010600030101010101" pitchFamily="2" charset="-122"/>
        </a:defRPr>
      </a:lvl5pPr>
      <a:lvl6pPr marL="4572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6pPr>
      <a:lvl7pPr marL="9144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7pPr>
      <a:lvl8pPr marL="13716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8pPr>
      <a:lvl9pPr marL="1828800" algn="l" rtl="0" fontAlgn="base">
        <a:spcBef>
          <a:spcPct val="0"/>
        </a:spcBef>
        <a:spcAft>
          <a:spcPct val="0"/>
        </a:spcAft>
        <a:defRPr sz="4400">
          <a:solidFill>
            <a:schemeClr val="tx2"/>
          </a:solidFill>
          <a:latin typeface="Tahoma" panose="020B0604030504040204" pitchFamily="34" charset="0"/>
          <a:ea typeface="宋体" panose="02010600030101010101"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microsoft.com/office/2007/relationships/hdphoto" Target="../media/hdphoto1.wdp"/></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microsoft.com/office/2007/relationships/hdphoto" Target="../media/hdphoto2.wdp"/></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3.xml"/><Relationship Id="rId4" Type="http://schemas.microsoft.com/office/2007/relationships/hdphoto" Target="../media/hdphoto4.wdp"/></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8" Type="http://schemas.openxmlformats.org/officeDocument/2006/relationships/image" Target="../media/image18.png"/><Relationship Id="rId3" Type="http://schemas.microsoft.com/office/2007/relationships/hdphoto" Target="../media/hdphoto5.wdp"/><Relationship Id="rId7" Type="http://schemas.openxmlformats.org/officeDocument/2006/relationships/image" Target="../media/image17.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6.png"/><Relationship Id="rId5" Type="http://schemas.microsoft.com/office/2007/relationships/hdphoto" Target="../media/hdphoto6.wdp"/><Relationship Id="rId4" Type="http://schemas.openxmlformats.org/officeDocument/2006/relationships/image" Target="../media/image15.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2568776B-74CF-4543-AE65-AB6ED29B5694}"/>
              </a:ext>
            </a:extLst>
          </p:cNvPr>
          <p:cNvSpPr>
            <a:spLocks noGrp="1" noChangeArrowheads="1"/>
          </p:cNvSpPr>
          <p:nvPr>
            <p:ph type="ctrTitle"/>
          </p:nvPr>
        </p:nvSpPr>
        <p:spPr>
          <a:xfrm>
            <a:off x="1259632" y="1651754"/>
            <a:ext cx="7215187" cy="1462088"/>
          </a:xfrm>
        </p:spPr>
        <p:txBody>
          <a:bodyPr/>
          <a:lstStyle/>
          <a:p>
            <a:pPr algn="ctr" eaLnBrk="1" hangingPunct="1"/>
            <a:r>
              <a:rPr lang="en-US" altLang="zh-CN" sz="4800" b="1" dirty="0">
                <a:solidFill>
                  <a:srgbClr val="0000FF"/>
                </a:solidFill>
                <a:latin typeface="Times New Roman" panose="02020603050405020304" pitchFamily="18" charset="0"/>
                <a:cs typeface="Times New Roman" panose="02020603050405020304" pitchFamily="18" charset="0"/>
              </a:rPr>
              <a:t>     </a:t>
            </a:r>
            <a:r>
              <a:rPr lang="en-US" altLang="zh-CN" sz="4800" b="1" dirty="0">
                <a:solidFill>
                  <a:srgbClr val="0070C0"/>
                </a:solidFill>
                <a:latin typeface="Times New Roman" panose="02020603050405020304" pitchFamily="18" charset="0"/>
                <a:cs typeface="Times New Roman" panose="02020603050405020304" pitchFamily="18" charset="0"/>
              </a:rPr>
              <a:t>Linux</a:t>
            </a:r>
            <a:r>
              <a:rPr lang="zh-CN" altLang="en-US" sz="4800" b="1" dirty="0">
                <a:solidFill>
                  <a:srgbClr val="0070C0"/>
                </a:solidFill>
                <a:latin typeface="Times New Roman" panose="02020603050405020304" pitchFamily="18" charset="0"/>
                <a:cs typeface="Times New Roman" panose="02020603050405020304" pitchFamily="18" charset="0"/>
              </a:rPr>
              <a:t>操作系统</a:t>
            </a:r>
            <a:endParaRPr lang="zh-CN" altLang="en-US" sz="4800" b="1" dirty="0">
              <a:solidFill>
                <a:srgbClr val="0070C0"/>
              </a:solidFill>
            </a:endParaRPr>
          </a:p>
        </p:txBody>
      </p:sp>
      <p:sp>
        <p:nvSpPr>
          <p:cNvPr id="6148" name="Text Box 9">
            <a:extLst>
              <a:ext uri="{FF2B5EF4-FFF2-40B4-BE49-F238E27FC236}">
                <a16:creationId xmlns:a16="http://schemas.microsoft.com/office/drawing/2014/main" id="{B2132117-E551-481D-83B1-81AEDF3EBA96}"/>
              </a:ext>
            </a:extLst>
          </p:cNvPr>
          <p:cNvSpPr txBox="1">
            <a:spLocks noChangeArrowheads="1"/>
          </p:cNvSpPr>
          <p:nvPr/>
        </p:nvSpPr>
        <p:spPr bwMode="auto">
          <a:xfrm>
            <a:off x="4572000" y="3622160"/>
            <a:ext cx="4320480" cy="11541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3" tIns="45717" rIns="91433" bIns="45717">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Tahoma" panose="020B0604030504040204" pitchFamily="34" charset="0"/>
                <a:ea typeface="宋体" panose="02010600030101010101" pitchFamily="2"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marL="0" marR="0" lvl="0" indent="0" algn="ctr" defTabSz="914400" rtl="0" eaLnBrk="1" fontAlgn="base" latinLnBrk="0" hangingPunct="1">
              <a:lnSpc>
                <a:spcPct val="100000"/>
              </a:lnSpc>
              <a:spcBef>
                <a:spcPts val="600"/>
              </a:spcBef>
              <a:spcAft>
                <a:spcPct val="0"/>
              </a:spcAft>
              <a:buClrTx/>
              <a:buSzTx/>
              <a:buFontTx/>
              <a:buNone/>
              <a:tabLst/>
              <a:defRPr/>
            </a:pPr>
            <a:r>
              <a:rPr kumimoji="0" lang="zh-CN" altLang="en-US"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rPr>
              <a:t>第三章 </a:t>
            </a:r>
            <a:r>
              <a:rPr lang="en-US" altLang="zh-CN"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rPr>
              <a:t> </a:t>
            </a:r>
          </a:p>
          <a:p>
            <a:pPr marL="0" marR="0" lvl="0" indent="0" algn="ctr" defTabSz="914400" rtl="0" eaLnBrk="1" fontAlgn="base" latinLnBrk="0" hangingPunct="1">
              <a:lnSpc>
                <a:spcPct val="100000"/>
              </a:lnSpc>
              <a:spcBef>
                <a:spcPts val="600"/>
              </a:spcBef>
              <a:spcAft>
                <a:spcPct val="0"/>
              </a:spcAft>
              <a:buClrTx/>
              <a:buSzTx/>
              <a:buFontTx/>
              <a:buNone/>
              <a:tabLst/>
              <a:defRPr/>
            </a:pPr>
            <a:r>
              <a:rPr kumimoji="0" lang="zh-CN" altLang="en-US"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rPr>
              <a:t>多用户与多任务管理</a:t>
            </a:r>
            <a:endParaRPr kumimoji="0" lang="en-US" altLang="zh-CN" sz="3200" b="0" i="0" u="none" strike="noStrike" kern="1200" cap="none" spc="0" normalizeH="0" baseline="0" noProof="0" dirty="0">
              <a:ln>
                <a:noFill/>
              </a:ln>
              <a:solidFill>
                <a:srgbClr val="000000"/>
              </a:solidFill>
              <a:effectLst/>
              <a:uLnTx/>
              <a:uFillTx/>
              <a:latin typeface="Times New Roman" panose="02020603050405020304" pitchFamily="18" charset="0"/>
              <a:ea typeface="黑体" panose="02010609060101010101" pitchFamily="49" charset="-122"/>
              <a:cs typeface="Times New Roman" panose="02020603050405020304" pitchFamily="18" charset="0"/>
            </a:endParaRPr>
          </a:p>
        </p:txBody>
      </p:sp>
      <p:pic>
        <p:nvPicPr>
          <p:cNvPr id="6149" name="Picture 27">
            <a:extLst>
              <a:ext uri="{FF2B5EF4-FFF2-40B4-BE49-F238E27FC236}">
                <a16:creationId xmlns:a16="http://schemas.microsoft.com/office/drawing/2014/main" id="{FB74E9E8-0D01-4AA2-8A4D-FC70EFC6D4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6886" r="43958"/>
          <a:stretch>
            <a:fillRect/>
          </a:stretch>
        </p:blipFill>
        <p:spPr bwMode="auto">
          <a:xfrm>
            <a:off x="-828600" y="3252888"/>
            <a:ext cx="5400600" cy="36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9">
            <a:extLst>
              <a:ext uri="{FF2B5EF4-FFF2-40B4-BE49-F238E27FC236}">
                <a16:creationId xmlns:a16="http://schemas.microsoft.com/office/drawing/2014/main" id="{366A8360-0009-48B3-8425-941E65EFDD0E}"/>
              </a:ext>
            </a:extLst>
          </p:cNvPr>
          <p:cNvSpPr txBox="1">
            <a:spLocks noChangeArrowheads="1"/>
          </p:cNvSpPr>
          <p:nvPr/>
        </p:nvSpPr>
        <p:spPr bwMode="auto">
          <a:xfrm>
            <a:off x="2450796" y="4310080"/>
            <a:ext cx="1823759" cy="707880"/>
          </a:xfrm>
          <a:prstGeom prst="rect">
            <a:avLst/>
          </a:prstGeom>
          <a:noFill/>
          <a:ln w="9525">
            <a:noFill/>
            <a:miter lim="800000"/>
            <a:headEnd/>
            <a:tailEnd/>
          </a:ln>
        </p:spPr>
        <p:txBody>
          <a:bodyPr wrap="square" lIns="91433" tIns="45717" rIns="91433" bIns="45717">
            <a:spAutoFit/>
          </a:bodyPr>
          <a:lstStyle/>
          <a:p>
            <a:pPr marL="0" marR="0" lvl="0" indent="0" algn="ctr" defTabSz="914400" rtl="0" eaLnBrk="0" fontAlgn="base" latinLnBrk="0" hangingPunct="0">
              <a:lnSpc>
                <a:spcPct val="100000"/>
              </a:lnSpc>
              <a:spcBef>
                <a:spcPts val="0"/>
              </a:spcBef>
              <a:spcAft>
                <a:spcPct val="0"/>
              </a:spcAft>
              <a:buClrTx/>
              <a:buSzTx/>
              <a:buFontTx/>
              <a:buNone/>
              <a:tabLst/>
              <a:defRPr/>
            </a:pPr>
            <a:r>
              <a:rPr kumimoji="0" lang="en-US" altLang="zh-CN" sz="2000" b="0" i="0" u="none" strike="noStrike" kern="1200" cap="none" spc="0" normalizeH="0" baseline="0" noProof="0" dirty="0">
                <a:ln>
                  <a:noFill/>
                </a:ln>
                <a:solidFill>
                  <a:srgbClr val="000000">
                    <a:lumMod val="75000"/>
                    <a:lumOff val="25000"/>
                  </a:srgbClr>
                </a:solidFill>
                <a:effectLst/>
                <a:uLnTx/>
                <a:uFillTx/>
                <a:latin typeface="Broadway" pitchFamily="82" charset="0"/>
                <a:ea typeface="方正粗倩简体" pitchFamily="65" charset="-122"/>
                <a:cs typeface="+mn-cs"/>
              </a:rPr>
              <a:t>NO.1 </a:t>
            </a:r>
          </a:p>
          <a:p>
            <a:pPr marL="0" marR="0" lvl="0" indent="0" algn="ctr" defTabSz="914400" rtl="0" eaLnBrk="0" fontAlgn="base" latinLnBrk="0" hangingPunct="0">
              <a:lnSpc>
                <a:spcPct val="100000"/>
              </a:lnSpc>
              <a:spcBef>
                <a:spcPts val="0"/>
              </a:spcBef>
              <a:spcAft>
                <a:spcPct val="0"/>
              </a:spcAft>
              <a:buClrTx/>
              <a:buSzTx/>
              <a:buFontTx/>
              <a:buNone/>
              <a:tabLst/>
              <a:defRPr/>
            </a:pPr>
            <a:r>
              <a:rPr kumimoji="0" lang="zh-CN" altLang="en-US" sz="2000" b="0" i="0" u="none" strike="noStrike" kern="1200" cap="none" spc="0" normalizeH="0" baseline="0" noProof="0" dirty="0">
                <a:ln>
                  <a:noFill/>
                </a:ln>
                <a:solidFill>
                  <a:srgbClr val="000000"/>
                </a:solidFill>
                <a:effectLst/>
                <a:uLnTx/>
                <a:uFillTx/>
                <a:latin typeface="Broadway" panose="04040905080B02020502" pitchFamily="82" charset="0"/>
                <a:ea typeface="微软雅黑" pitchFamily="34" charset="-122"/>
                <a:cs typeface="Times New Roman" panose="02020603050405020304" pitchFamily="18" charset="0"/>
              </a:rPr>
              <a:t>操作基础</a:t>
            </a:r>
          </a:p>
        </p:txBody>
      </p:sp>
      <p:sp>
        <p:nvSpPr>
          <p:cNvPr id="6151" name="Text Box 10">
            <a:extLst>
              <a:ext uri="{FF2B5EF4-FFF2-40B4-BE49-F238E27FC236}">
                <a16:creationId xmlns:a16="http://schemas.microsoft.com/office/drawing/2014/main" id="{FB12D547-C9F9-4BD3-A1D1-DD7AB5B72C05}"/>
              </a:ext>
            </a:extLst>
          </p:cNvPr>
          <p:cNvSpPr txBox="1">
            <a:spLocks noChangeArrowheads="1"/>
          </p:cNvSpPr>
          <p:nvPr/>
        </p:nvSpPr>
        <p:spPr bwMode="auto">
          <a:xfrm>
            <a:off x="-99833" y="4609555"/>
            <a:ext cx="1821795" cy="7848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3" tIns="45717" rIns="91433" bIns="45717">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Tahoma" panose="020B0604030504040204" pitchFamily="34" charset="0"/>
                <a:ea typeface="宋体" panose="02010600030101010101" pitchFamily="2"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marL="0" marR="0" lvl="0" indent="0" algn="ctr" defTabSz="914400" rtl="0" eaLnBrk="0" fontAlgn="base" latinLnBrk="0" hangingPunct="0">
              <a:lnSpc>
                <a:spcPct val="100000"/>
              </a:lnSpc>
              <a:spcBef>
                <a:spcPts val="600"/>
              </a:spcBef>
              <a:spcAft>
                <a:spcPct val="0"/>
              </a:spcAft>
              <a:buClrTx/>
              <a:buSzTx/>
              <a:buFontTx/>
              <a:buNone/>
              <a:tabLst/>
              <a:defRPr/>
            </a:pPr>
            <a:r>
              <a:rPr kumimoji="0" lang="en-US" altLang="zh-CN" sz="2000" b="0" i="0" u="none" strike="noStrike" kern="1200" cap="none" spc="0" normalizeH="0" baseline="0" noProof="0" dirty="0">
                <a:ln>
                  <a:noFill/>
                </a:ln>
                <a:solidFill>
                  <a:srgbClr val="0066FF"/>
                </a:solidFill>
                <a:effectLst/>
                <a:uLnTx/>
                <a:uFillTx/>
                <a:latin typeface="Broadway" panose="04040905080B02020502" pitchFamily="82" charset="0"/>
                <a:ea typeface="方正粗倩简体"/>
                <a:cs typeface="方正粗倩简体"/>
              </a:rPr>
              <a:t>NO.2</a:t>
            </a:r>
          </a:p>
          <a:p>
            <a:pPr marL="0" marR="0" lvl="0" indent="0" algn="ctr" defTabSz="914400" rtl="0" eaLnBrk="0" fontAlgn="base" latinLnBrk="0" hangingPunct="0">
              <a:lnSpc>
                <a:spcPct val="100000"/>
              </a:lnSpc>
              <a:spcBef>
                <a:spcPts val="600"/>
              </a:spcBef>
              <a:spcAft>
                <a:spcPct val="0"/>
              </a:spcAft>
              <a:buClrTx/>
              <a:buSzTx/>
              <a:buFontTx/>
              <a:buNone/>
              <a:tabLst/>
              <a:defRPr/>
            </a:pPr>
            <a:r>
              <a:rPr kumimoji="0" lang="zh-CN" altLang="en-US" sz="2000" b="0" i="0" u="none" strike="noStrike" kern="1200" cap="none" spc="0" normalizeH="0" baseline="0" noProof="0" dirty="0">
                <a:ln>
                  <a:noFill/>
                </a:ln>
                <a:solidFill>
                  <a:srgbClr val="0066FF"/>
                </a:solidFill>
                <a:effectLst/>
                <a:uLnTx/>
                <a:uFillTx/>
                <a:latin typeface="Broadway" panose="04040905080B02020502" pitchFamily="82" charset="0"/>
                <a:ea typeface="方正粗倩简体"/>
                <a:cs typeface="方正粗倩简体"/>
              </a:rPr>
              <a:t>系统与安全</a:t>
            </a:r>
            <a:endParaRPr kumimoji="0"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6152" name="Text Box 11">
            <a:extLst>
              <a:ext uri="{FF2B5EF4-FFF2-40B4-BE49-F238E27FC236}">
                <a16:creationId xmlns:a16="http://schemas.microsoft.com/office/drawing/2014/main" id="{C2F49B22-B429-49BC-8B4D-DD7FBD83805B}"/>
              </a:ext>
            </a:extLst>
          </p:cNvPr>
          <p:cNvSpPr txBox="1">
            <a:spLocks noChangeArrowheads="1"/>
          </p:cNvSpPr>
          <p:nvPr/>
        </p:nvSpPr>
        <p:spPr bwMode="auto">
          <a:xfrm>
            <a:off x="1331640" y="5948348"/>
            <a:ext cx="1823757" cy="707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3" tIns="45717" rIns="91433" bIns="45717">
            <a:spAutoFit/>
          </a:bodyPr>
          <a:lstStyle>
            <a:lvl1pPr>
              <a:spcBef>
                <a:spcPct val="20000"/>
              </a:spcBef>
              <a:buClr>
                <a:schemeClr val="folHlink"/>
              </a:buClr>
              <a:buSzPct val="60000"/>
              <a:buFont typeface="Wingdings" panose="05000000000000000000" pitchFamily="2" charset="2"/>
              <a:buChar char="n"/>
              <a:defRPr sz="3200">
                <a:solidFill>
                  <a:schemeClr val="tx1"/>
                </a:solidFill>
                <a:latin typeface="Tahoma" panose="020B0604030504040204" pitchFamily="34" charset="0"/>
                <a:ea typeface="宋体" panose="02010600030101010101" pitchFamily="2"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2000" b="0" i="0" u="none" strike="noStrike" kern="1200" cap="none" spc="0" normalizeH="0" baseline="0" noProof="0" dirty="0">
                <a:ln>
                  <a:noFill/>
                </a:ln>
                <a:solidFill>
                  <a:srgbClr val="006600"/>
                </a:solidFill>
                <a:effectLst/>
                <a:uLnTx/>
                <a:uFillTx/>
                <a:latin typeface="Broadway" panose="04040905080B02020502" pitchFamily="82" charset="0"/>
                <a:ea typeface="方正粗倩简体"/>
                <a:cs typeface="方正粗倩简体"/>
              </a:rPr>
              <a:t>NO.3</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0" i="0" u="none" strike="noStrike" kern="1200" cap="none" spc="0" normalizeH="0" baseline="0" noProof="0" dirty="0">
                <a:ln>
                  <a:noFill/>
                </a:ln>
                <a:solidFill>
                  <a:srgbClr val="006600"/>
                </a:solidFill>
                <a:effectLst/>
                <a:uLnTx/>
                <a:uFillTx/>
                <a:latin typeface="Broadway" panose="04040905080B02020502" pitchFamily="82" charset="0"/>
                <a:ea typeface="方正粗倩简体"/>
                <a:cs typeface="方正粗倩简体"/>
              </a:rPr>
              <a:t>网络服务</a:t>
            </a:r>
            <a:endParaRPr kumimoji="0" lang="zh-CN" altLang="en-US" sz="20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1" name="Rectangle 4">
            <a:extLst>
              <a:ext uri="{FF2B5EF4-FFF2-40B4-BE49-F238E27FC236}">
                <a16:creationId xmlns:a16="http://schemas.microsoft.com/office/drawing/2014/main" id="{28986AA3-AB86-40A6-B519-FC370F85CD07}"/>
              </a:ext>
            </a:extLst>
          </p:cNvPr>
          <p:cNvSpPr txBox="1">
            <a:spLocks noChangeArrowheads="1"/>
          </p:cNvSpPr>
          <p:nvPr/>
        </p:nvSpPr>
        <p:spPr bwMode="auto">
          <a:xfrm>
            <a:off x="5289936" y="5295916"/>
            <a:ext cx="3429000" cy="137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ct val="50000"/>
              </a:spcBef>
              <a:spcAft>
                <a:spcPct val="0"/>
              </a:spcAft>
              <a:buClrTx/>
              <a:buSzTx/>
              <a:buFont typeface="Wingdings" panose="05000000000000000000" pitchFamily="2" charset="2"/>
              <a:buNone/>
              <a:tabLst/>
              <a:defRPr/>
            </a:pPr>
            <a:r>
              <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主讲人</a:t>
            </a:r>
            <a:r>
              <a:rPr kumimoji="0" lang="zh-CN" altLang="en-US" sz="2400" b="0" i="0" u="none" strike="noStrike" kern="1200" cap="none" spc="0" normalizeH="0" baseline="0" noProof="0" dirty="0" smtClean="0">
                <a:ln>
                  <a:noFill/>
                </a:ln>
                <a:solidFill>
                  <a:srgbClr val="000000"/>
                </a:solidFill>
                <a:effectLst/>
                <a:uLnTx/>
                <a:uFillTx/>
                <a:latin typeface="微软雅黑" panose="020B0503020204020204" pitchFamily="34" charset="-122"/>
                <a:ea typeface="微软雅黑" panose="020B0503020204020204" pitchFamily="34" charset="-122"/>
                <a:cs typeface="+mn-cs"/>
              </a:rPr>
              <a:t>：</a:t>
            </a:r>
            <a:endPar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base" latinLnBrk="0" hangingPunct="1">
              <a:lnSpc>
                <a:spcPct val="100000"/>
              </a:lnSpc>
              <a:spcBef>
                <a:spcPct val="50000"/>
              </a:spcBef>
              <a:spcAft>
                <a:spcPct val="0"/>
              </a:spcAft>
              <a:buClrTx/>
              <a:buSzTx/>
              <a:buFont typeface="Wingdings" panose="05000000000000000000" pitchFamily="2" charset="2"/>
              <a:buNone/>
              <a:tabLst/>
              <a:defRPr/>
            </a:pPr>
            <a:fld id="{1F386AA7-D660-41A0-88D0-8B1466781745}" type="datetime2">
              <a:rPr kumimoji="0" lang="zh-CN" altLang="zh-CN" sz="2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pPr marL="0" marR="0" lvl="0" indent="0" algn="ctr" defTabSz="914400" rtl="0" eaLnBrk="1" fontAlgn="base" latinLnBrk="0" hangingPunct="1">
                <a:lnSpc>
                  <a:spcPct val="100000"/>
                </a:lnSpc>
                <a:spcBef>
                  <a:spcPct val="50000"/>
                </a:spcBef>
                <a:spcAft>
                  <a:spcPct val="0"/>
                </a:spcAft>
                <a:buClrTx/>
                <a:buSzTx/>
                <a:buFont typeface="Wingdings" panose="05000000000000000000" pitchFamily="2" charset="2"/>
                <a:buNone/>
                <a:tabLst/>
                <a:defRPr/>
              </a:pPr>
              <a:t>2025年5月7日</a:t>
            </a:fld>
            <a:endPar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引言</a:t>
            </a: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矩形 5"/>
          <p:cNvSpPr/>
          <p:nvPr/>
        </p:nvSpPr>
        <p:spPr>
          <a:xfrm>
            <a:off x="179512" y="1772816"/>
            <a:ext cx="8775794" cy="4154984"/>
          </a:xfrm>
          <a:prstGeom prst="rect">
            <a:avLst/>
          </a:prstGeom>
        </p:spPr>
        <p:txBody>
          <a:bodyPr wrap="square">
            <a:spAutoFit/>
          </a:bodyPr>
          <a:lstStyle/>
          <a:p>
            <a:pPr marL="342900" indent="-342900" algn="just">
              <a:buFont typeface="Arial" panose="020B0604020202020204" pitchFamily="34" charset="0"/>
              <a:buChar char="•"/>
            </a:pPr>
            <a:r>
              <a:rPr lang="en-US" altLang="zh-CN" sz="2400" dirty="0" smtClean="0">
                <a:solidFill>
                  <a:srgbClr val="333333"/>
                </a:solidFill>
                <a:latin typeface="arial" panose="020B0604020202020204" pitchFamily="34" charset="0"/>
              </a:rPr>
              <a:t>2025</a:t>
            </a:r>
            <a:r>
              <a:rPr lang="zh-CN" altLang="en-US" sz="2400" dirty="0" smtClean="0">
                <a:solidFill>
                  <a:srgbClr val="333333"/>
                </a:solidFill>
                <a:latin typeface="arial" panose="020B0604020202020204" pitchFamily="34" charset="0"/>
              </a:rPr>
              <a:t>年</a:t>
            </a:r>
            <a:r>
              <a:rPr lang="en-US" altLang="zh-CN" sz="2400" dirty="0">
                <a:solidFill>
                  <a:srgbClr val="333333"/>
                </a:solidFill>
                <a:latin typeface="arial" panose="020B0604020202020204" pitchFamily="34" charset="0"/>
              </a:rPr>
              <a:t>4</a:t>
            </a:r>
            <a:r>
              <a:rPr lang="zh-CN" altLang="en-US" sz="2400" dirty="0">
                <a:solidFill>
                  <a:srgbClr val="333333"/>
                </a:solidFill>
                <a:latin typeface="arial" panose="020B0604020202020204" pitchFamily="34" charset="0"/>
              </a:rPr>
              <a:t>月</a:t>
            </a:r>
            <a:r>
              <a:rPr lang="en-US" altLang="zh-CN" sz="2400" dirty="0">
                <a:solidFill>
                  <a:srgbClr val="333333"/>
                </a:solidFill>
                <a:latin typeface="arial" panose="020B0604020202020204" pitchFamily="34" charset="0"/>
              </a:rPr>
              <a:t>15</a:t>
            </a:r>
            <a:r>
              <a:rPr lang="zh-CN" altLang="en-US" sz="2400" dirty="0">
                <a:solidFill>
                  <a:srgbClr val="333333"/>
                </a:solidFill>
                <a:latin typeface="arial" panose="020B0604020202020204" pitchFamily="34" charset="0"/>
              </a:rPr>
              <a:t>日是</a:t>
            </a:r>
            <a:r>
              <a:rPr lang="zh-CN" altLang="en-US" sz="2400" dirty="0" smtClean="0">
                <a:solidFill>
                  <a:srgbClr val="333333"/>
                </a:solidFill>
                <a:latin typeface="arial" panose="020B0604020202020204" pitchFamily="34" charset="0"/>
              </a:rPr>
              <a:t>第十个</a:t>
            </a:r>
            <a:r>
              <a:rPr lang="zh-CN" altLang="en-US" sz="2400" dirty="0">
                <a:solidFill>
                  <a:srgbClr val="333333"/>
                </a:solidFill>
                <a:latin typeface="arial" panose="020B0604020202020204" pitchFamily="34" charset="0"/>
              </a:rPr>
              <a:t>全民国家安全教育日</a:t>
            </a:r>
            <a:endParaRPr lang="zh-CN" altLang="en-US" sz="2400" dirty="0"/>
          </a:p>
          <a:p>
            <a:pPr marL="342900" indent="-342900" algn="just">
              <a:buFont typeface="Arial" panose="020B0604020202020204" pitchFamily="34" charset="0"/>
              <a:buChar char="•"/>
            </a:pPr>
            <a:r>
              <a:rPr lang="zh-CN" altLang="en-US" sz="2400" dirty="0">
                <a:solidFill>
                  <a:srgbClr val="333333"/>
                </a:solidFill>
                <a:latin typeface="arial" panose="020B0604020202020204" pitchFamily="34" charset="0"/>
              </a:rPr>
              <a:t>全民国家安全教育日（</a:t>
            </a:r>
            <a:r>
              <a:rPr lang="en-US" altLang="zh-CN" sz="2400" dirty="0">
                <a:solidFill>
                  <a:srgbClr val="333333"/>
                </a:solidFill>
                <a:latin typeface="arial" panose="020B0604020202020204" pitchFamily="34" charset="0"/>
              </a:rPr>
              <a:t>National security education day</a:t>
            </a:r>
            <a:r>
              <a:rPr lang="zh-CN" altLang="en-US" sz="2400" dirty="0">
                <a:solidFill>
                  <a:srgbClr val="333333"/>
                </a:solidFill>
                <a:latin typeface="arial" panose="020B0604020202020204" pitchFamily="34" charset="0"/>
              </a:rPr>
              <a:t>），是</a:t>
            </a:r>
            <a:r>
              <a:rPr lang="zh-CN" altLang="en-US" sz="2400" b="1" dirty="0">
                <a:solidFill>
                  <a:srgbClr val="333333"/>
                </a:solidFill>
                <a:latin typeface="arial" panose="020B0604020202020204" pitchFamily="34" charset="0"/>
              </a:rPr>
              <a:t>为了增强全民国家安全意识，维护国家安全而设立的节日</a:t>
            </a:r>
            <a:r>
              <a:rPr lang="zh-CN" altLang="en-US" sz="2400" dirty="0">
                <a:solidFill>
                  <a:srgbClr val="333333"/>
                </a:solidFill>
                <a:latin typeface="arial" panose="020B0604020202020204" pitchFamily="34" charset="0"/>
              </a:rPr>
              <a:t>。</a:t>
            </a:r>
            <a:endParaRPr lang="zh-CN" altLang="en-US" sz="2400" dirty="0"/>
          </a:p>
          <a:p>
            <a:pPr marL="342900" indent="-342900" algn="just">
              <a:buFont typeface="Arial" panose="020B0604020202020204" pitchFamily="34" charset="0"/>
              <a:buChar char="•"/>
            </a:pPr>
            <a:r>
              <a:rPr lang="en-US" altLang="zh-CN" sz="2400" dirty="0" smtClean="0"/>
              <a:t>2024</a:t>
            </a:r>
            <a:r>
              <a:rPr lang="zh-CN" altLang="en-US" sz="2400" dirty="0" smtClean="0"/>
              <a:t>年主题是：总体</a:t>
            </a:r>
            <a:r>
              <a:rPr lang="zh-CN" altLang="en-US" sz="2400" dirty="0"/>
              <a:t>国家安全观 创新引领</a:t>
            </a:r>
            <a:r>
              <a:rPr lang="en-US" altLang="zh-CN" sz="2400" dirty="0"/>
              <a:t>10</a:t>
            </a:r>
            <a:r>
              <a:rPr lang="zh-CN" altLang="en-US" sz="2400" dirty="0" smtClean="0"/>
              <a:t>周年。</a:t>
            </a:r>
            <a:endParaRPr lang="en-US" altLang="zh-CN" sz="2400" dirty="0" smtClean="0"/>
          </a:p>
          <a:p>
            <a:pPr marL="342900" indent="-342900" algn="just">
              <a:buFont typeface="Arial" panose="020B0604020202020204" pitchFamily="34" charset="0"/>
              <a:buChar char="•"/>
            </a:pPr>
            <a:r>
              <a:rPr lang="en-US" altLang="zh-CN" sz="2400" dirty="0"/>
              <a:t>2025</a:t>
            </a:r>
            <a:r>
              <a:rPr lang="zh-CN" altLang="en-US" sz="2400" dirty="0" smtClean="0"/>
              <a:t>年主题是：全民</a:t>
            </a:r>
            <a:r>
              <a:rPr lang="zh-CN" altLang="en-US" sz="2400" dirty="0"/>
              <a:t>国家安全教育 走深走实十</a:t>
            </a:r>
            <a:r>
              <a:rPr lang="zh-CN" altLang="en-US" sz="2400" dirty="0" smtClean="0"/>
              <a:t>周年</a:t>
            </a:r>
            <a:endParaRPr lang="zh-CN" altLang="en-US" sz="2400" dirty="0"/>
          </a:p>
          <a:p>
            <a:pPr marL="342900" indent="-342900" algn="just">
              <a:buFont typeface="Arial" panose="020B0604020202020204" pitchFamily="34" charset="0"/>
              <a:buChar char="•"/>
            </a:pPr>
            <a:endParaRPr lang="en-US" altLang="zh-CN" sz="2400" dirty="0" smtClean="0"/>
          </a:p>
          <a:p>
            <a:pPr marL="342900" indent="-342900" algn="just">
              <a:buFont typeface="Arial" panose="020B0604020202020204" pitchFamily="34" charset="0"/>
              <a:buChar char="•"/>
            </a:pPr>
            <a:r>
              <a:rPr lang="zh-CN" altLang="en-US" sz="2400" dirty="0" smtClean="0"/>
              <a:t>国家</a:t>
            </a:r>
            <a:r>
              <a:rPr lang="zh-CN" altLang="en-US" sz="2400" dirty="0"/>
              <a:t>安全包括哪些方面？</a:t>
            </a:r>
          </a:p>
          <a:p>
            <a:pPr algn="just"/>
            <a:r>
              <a:rPr lang="zh-CN" altLang="en-US" sz="2400" dirty="0" smtClean="0"/>
              <a:t>当代</a:t>
            </a:r>
            <a:r>
              <a:rPr lang="zh-CN" altLang="en-US" sz="2400" dirty="0"/>
              <a:t>国家安全包括</a:t>
            </a:r>
            <a:r>
              <a:rPr lang="en-US" altLang="zh-CN" sz="2400" dirty="0"/>
              <a:t>16</a:t>
            </a:r>
            <a:r>
              <a:rPr lang="zh-CN" altLang="en-US" sz="2400" dirty="0"/>
              <a:t>个方面的基本内容：政治安全、国土安全、军事安全、经济安全、文化安全、社会安全、科技安全、网络安全、生态安全、资源安全、核安全、海外利益安全、生物安全、太空安全、极地安全、深海安全</a:t>
            </a:r>
            <a:r>
              <a:rPr lang="zh-CN" altLang="en-US" sz="2400" dirty="0" smtClean="0"/>
              <a:t>。</a:t>
            </a:r>
            <a:endParaRPr lang="en-US" altLang="zh-CN" sz="2400" dirty="0" smtClean="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引言</a:t>
            </a: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矩形 5"/>
          <p:cNvSpPr/>
          <p:nvPr/>
        </p:nvSpPr>
        <p:spPr>
          <a:xfrm>
            <a:off x="241230" y="1579177"/>
            <a:ext cx="8775794" cy="461665"/>
          </a:xfrm>
          <a:prstGeom prst="rect">
            <a:avLst/>
          </a:prstGeom>
        </p:spPr>
        <p:txBody>
          <a:bodyPr wrap="square">
            <a:spAutoFit/>
          </a:bodyPr>
          <a:lstStyle/>
          <a:p>
            <a:r>
              <a:rPr lang="zh-CN" altLang="en-US" sz="2400" b="1" dirty="0"/>
              <a:t>linux的安全 账户管理</a:t>
            </a:r>
          </a:p>
        </p:txBody>
      </p:sp>
      <p:sp>
        <p:nvSpPr>
          <p:cNvPr id="2" name="矩形 1"/>
          <p:cNvSpPr/>
          <p:nvPr/>
        </p:nvSpPr>
        <p:spPr>
          <a:xfrm>
            <a:off x="241230" y="2204864"/>
            <a:ext cx="8651250" cy="4154984"/>
          </a:xfrm>
          <a:prstGeom prst="rect">
            <a:avLst/>
          </a:prstGeom>
        </p:spPr>
        <p:txBody>
          <a:bodyPr wrap="square">
            <a:spAutoFit/>
          </a:bodyPr>
          <a:lstStyle/>
          <a:p>
            <a:pPr marL="342900" indent="-342900">
              <a:buFont typeface="Arial" panose="020B0604020202020204" pitchFamily="34" charset="0"/>
              <a:buChar char="•"/>
            </a:pPr>
            <a:r>
              <a:rPr lang="zh-CN" altLang="en-US" sz="2400" b="1" dirty="0">
                <a:solidFill>
                  <a:srgbClr val="FF0000"/>
                </a:solidFill>
              </a:rPr>
              <a:t>用户账户与登录安全。</a:t>
            </a:r>
            <a:r>
              <a:rPr lang="zh-CN" altLang="en-US" sz="2400" dirty="0"/>
              <a:t>定期删除未使用的用户和用户组，只保留必要的账号以减少安全风险，实施强密码策略，包括密码复杂度要求、定期更改密码，使用密钥和密码双重认证方式，如</a:t>
            </a:r>
            <a:r>
              <a:rPr lang="en-US" altLang="zh-CN" sz="2400" dirty="0" smtClean="0"/>
              <a:t>SSH</a:t>
            </a:r>
            <a:r>
              <a:rPr lang="zh-CN" altLang="en-US" sz="2400" dirty="0" smtClean="0"/>
              <a:t>，</a:t>
            </a:r>
            <a:r>
              <a:rPr lang="zh-CN" altLang="en-US" sz="2400" dirty="0"/>
              <a:t>确保远程登录的安全性，限制</a:t>
            </a:r>
            <a:r>
              <a:rPr lang="en-US" altLang="zh-CN" sz="2400" dirty="0" err="1"/>
              <a:t>su</a:t>
            </a:r>
            <a:r>
              <a:rPr lang="zh-CN" altLang="en-US" sz="2400" dirty="0"/>
              <a:t>命令的使用，更多使用</a:t>
            </a:r>
            <a:r>
              <a:rPr lang="en-US" altLang="zh-CN" sz="2400" dirty="0" err="1"/>
              <a:t>sudo</a:t>
            </a:r>
            <a:r>
              <a:rPr lang="zh-CN" altLang="en-US" sz="2400" dirty="0"/>
              <a:t>命令来赋予特定权限而非超级用户权限。</a:t>
            </a:r>
          </a:p>
          <a:p>
            <a:pPr marL="342900" indent="-342900">
              <a:buFont typeface="Arial" panose="020B0604020202020204" pitchFamily="34" charset="0"/>
              <a:buChar char="•"/>
            </a:pPr>
            <a:r>
              <a:rPr lang="zh-CN" altLang="en-US" sz="2400" dirty="0" smtClean="0">
                <a:solidFill>
                  <a:srgbClr val="FF0000"/>
                </a:solidFill>
              </a:rPr>
              <a:t>网络</a:t>
            </a:r>
            <a:r>
              <a:rPr lang="zh-CN" altLang="en-US" sz="2400" dirty="0">
                <a:solidFill>
                  <a:srgbClr val="FF0000"/>
                </a:solidFill>
              </a:rPr>
              <a:t>与通信安全。</a:t>
            </a:r>
            <a:r>
              <a:rPr lang="zh-CN" altLang="en-US" sz="2400" dirty="0"/>
              <a:t>使用</a:t>
            </a:r>
            <a:r>
              <a:rPr lang="en-US" altLang="zh-CN" sz="2400" dirty="0"/>
              <a:t>SSH</a:t>
            </a:r>
            <a:r>
              <a:rPr lang="zh-CN" altLang="en-US" sz="2400" dirty="0"/>
              <a:t>等加密协议进行远程登录，避免使用</a:t>
            </a:r>
            <a:r>
              <a:rPr lang="en-US" altLang="zh-CN" sz="2400" dirty="0"/>
              <a:t>telnet</a:t>
            </a:r>
            <a:r>
              <a:rPr lang="zh-CN" altLang="en-US" sz="2400" dirty="0"/>
              <a:t>等不安全协议，配置</a:t>
            </a:r>
            <a:r>
              <a:rPr lang="zh-CN" altLang="en-US" sz="2400" dirty="0" smtClean="0"/>
              <a:t>防火墙和</a:t>
            </a:r>
            <a:r>
              <a:rPr lang="en-US" altLang="zh-CN" sz="2400" dirty="0"/>
              <a:t>VPN</a:t>
            </a:r>
            <a:r>
              <a:rPr lang="zh-CN" altLang="en-US" sz="2400" dirty="0" smtClean="0"/>
              <a:t>服务，</a:t>
            </a:r>
            <a:r>
              <a:rPr lang="zh-CN" altLang="en-US" sz="2400" dirty="0"/>
              <a:t>确保网络通信的安全。</a:t>
            </a:r>
          </a:p>
          <a:p>
            <a:pPr marL="342900" indent="-342900">
              <a:buFont typeface="Arial" panose="020B0604020202020204" pitchFamily="34" charset="0"/>
              <a:buChar char="•"/>
            </a:pPr>
            <a:r>
              <a:rPr lang="zh-CN" altLang="en-US" sz="2400" dirty="0" smtClean="0">
                <a:solidFill>
                  <a:srgbClr val="FF0000"/>
                </a:solidFill>
              </a:rPr>
              <a:t>服务</a:t>
            </a:r>
            <a:r>
              <a:rPr lang="zh-CN" altLang="en-US" sz="2400" dirty="0">
                <a:solidFill>
                  <a:srgbClr val="FF0000"/>
                </a:solidFill>
              </a:rPr>
              <a:t>与软件安全。</a:t>
            </a:r>
            <a:r>
              <a:rPr lang="zh-CN" altLang="en-US" sz="2400" dirty="0"/>
              <a:t>限制不必要的服务运行，最小化安装软件以减少漏洞，及时更新系统和软件以修复已知的安全漏洞</a:t>
            </a:r>
            <a:r>
              <a:rPr lang="zh-CN" altLang="en-US" sz="2400" dirty="0" smtClean="0"/>
              <a:t>。</a:t>
            </a:r>
            <a:endParaRPr lang="en-US" altLang="zh-CN" sz="2400" dirty="0" smtClean="0"/>
          </a:p>
          <a:p>
            <a:pPr marL="342900" indent="-342900">
              <a:buFont typeface="Arial" panose="020B0604020202020204" pitchFamily="34" charset="0"/>
              <a:buChar char="•"/>
            </a:pPr>
            <a:r>
              <a:rPr lang="zh-CN" altLang="en-US" sz="2400" dirty="0" smtClean="0"/>
              <a:t>等等</a:t>
            </a:r>
            <a:endParaRPr lang="zh-CN" altLang="en-US" sz="2400" dirty="0"/>
          </a:p>
        </p:txBody>
      </p:sp>
    </p:spTree>
    <p:extLst>
      <p:ext uri="{BB962C8B-B14F-4D97-AF65-F5344CB8AC3E}">
        <p14:creationId xmlns:p14="http://schemas.microsoft.com/office/powerpoint/2010/main" val="383532502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本章内容要点</a:t>
            </a:r>
          </a:p>
        </p:txBody>
      </p:sp>
      <p:sp>
        <p:nvSpPr>
          <p:cNvPr id="2" name="圆角矩形 1">
            <a:extLst>
              <a:ext uri="{FF2B5EF4-FFF2-40B4-BE49-F238E27FC236}">
                <a16:creationId xmlns:a16="http://schemas.microsoft.com/office/drawing/2014/main" id="{24F68058-A272-4A0C-AC8E-6E614A1DCF7B}"/>
              </a:ext>
            </a:extLst>
          </p:cNvPr>
          <p:cNvSpPr/>
          <p:nvPr/>
        </p:nvSpPr>
        <p:spPr>
          <a:xfrm>
            <a:off x="723663" y="1582791"/>
            <a:ext cx="7808777" cy="1667871"/>
          </a:xfrm>
          <a:prstGeom prst="round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Tahoma"/>
              <a:ea typeface="宋体"/>
              <a:cs typeface="+mn-cs"/>
            </a:endParaRP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a:extLst>
              <a:ext uri="{FF2B5EF4-FFF2-40B4-BE49-F238E27FC236}">
                <a16:creationId xmlns:a16="http://schemas.microsoft.com/office/drawing/2014/main" id="{D35220A3-8319-42A1-BF3C-A9D0A093B9DF}"/>
              </a:ext>
            </a:extLst>
          </p:cNvPr>
          <p:cNvSpPr txBox="1">
            <a:spLocks noChangeArrowheads="1"/>
          </p:cNvSpPr>
          <p:nvPr/>
        </p:nvSpPr>
        <p:spPr>
          <a:xfrm>
            <a:off x="833406" y="1581667"/>
            <a:ext cx="7882441" cy="4709205"/>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2000" kern="1200">
                <a:solidFill>
                  <a:schemeClr val="tx1">
                    <a:tint val="75000"/>
                  </a:schemeClr>
                </a:solidFill>
                <a:latin typeface="Broadway" panose="04040905080B02020502" pitchFamily="82" charset="0"/>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账户管理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schemeClr val="tx1"/>
                </a:solidFill>
              </a:rPr>
              <a:t>账户实质，账户</a:t>
            </a:r>
            <a:r>
              <a:rPr lang="en-US" altLang="zh-CN" dirty="0">
                <a:solidFill>
                  <a:schemeClr val="tx1"/>
                </a:solidFill>
              </a:rPr>
              <a:t>id</a:t>
            </a:r>
            <a:r>
              <a:rPr lang="zh-CN" altLang="en-US" dirty="0">
                <a:solidFill>
                  <a:schemeClr val="tx1"/>
                </a:solidFill>
              </a:rPr>
              <a:t>，账户文件，账户设置，口令管理</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权限管理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基本操作权限，特殊权限，设置</a:t>
            </a:r>
            <a:r>
              <a:rPr lang="en-US" altLang="zh-CN" dirty="0">
                <a:solidFill>
                  <a:prstClr val="black"/>
                </a:solidFill>
              </a:rPr>
              <a:t>ext2/3/4 </a:t>
            </a:r>
            <a:r>
              <a:rPr lang="zh-CN" altLang="en-US" dirty="0">
                <a:solidFill>
                  <a:prstClr val="black"/>
                </a:solidFill>
              </a:rPr>
              <a:t>的文件扩展属性，设置</a:t>
            </a:r>
            <a:r>
              <a:rPr lang="en-US" altLang="zh-CN" dirty="0">
                <a:solidFill>
                  <a:prstClr val="black"/>
                </a:solidFill>
              </a:rPr>
              <a:t>FACL</a:t>
            </a:r>
            <a:r>
              <a:rPr lang="zh-CN" altLang="en-US" dirty="0">
                <a:solidFill>
                  <a:prstClr val="black"/>
                </a:solidFill>
              </a:rPr>
              <a:t>权限</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进程管理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进程概述，后台进程，进程管理，作业控制</a:t>
            </a:r>
          </a:p>
        </p:txBody>
      </p:sp>
    </p:spTree>
    <p:extLst>
      <p:ext uri="{BB962C8B-B14F-4D97-AF65-F5344CB8AC3E}">
        <p14:creationId xmlns:p14="http://schemas.microsoft.com/office/powerpoint/2010/main" val="24094975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账户</a:t>
            </a:r>
          </a:p>
        </p:txBody>
      </p:sp>
      <p:sp>
        <p:nvSpPr>
          <p:cNvPr id="3" name="内容占位符 2"/>
          <p:cNvSpPr>
            <a:spLocks noGrp="1"/>
          </p:cNvSpPr>
          <p:nvPr>
            <p:ph idx="1"/>
          </p:nvPr>
        </p:nvSpPr>
        <p:spPr>
          <a:xfrm>
            <a:off x="539552" y="1371600"/>
            <a:ext cx="8407598" cy="5297760"/>
          </a:xfrm>
        </p:spPr>
        <p:txBody>
          <a:bodyPr/>
          <a:lstStyle/>
          <a:p>
            <a:pPr>
              <a:lnSpc>
                <a:spcPct val="120000"/>
              </a:lnSpc>
            </a:pPr>
            <a:r>
              <a:rPr lang="zh-CN" altLang="en-US" dirty="0"/>
              <a:t>账户实质上是一个用户在系统上的标识</a:t>
            </a:r>
            <a:endParaRPr lang="en-US" altLang="zh-CN" dirty="0"/>
          </a:p>
          <a:p>
            <a:pPr lvl="1">
              <a:lnSpc>
                <a:spcPct val="120000"/>
              </a:lnSpc>
            </a:pPr>
            <a:r>
              <a:rPr lang="zh-CN" altLang="en-US" dirty="0"/>
              <a:t>系统依据账户来</a:t>
            </a:r>
            <a:r>
              <a:rPr lang="zh-CN" altLang="en-US" dirty="0">
                <a:solidFill>
                  <a:srgbClr val="FF0000"/>
                </a:solidFill>
              </a:rPr>
              <a:t>区分每个用户</a:t>
            </a:r>
            <a:r>
              <a:rPr lang="zh-CN" altLang="en-US" dirty="0"/>
              <a:t>的文件、进程、任务，给每个用户</a:t>
            </a:r>
            <a:r>
              <a:rPr lang="zh-CN" altLang="en-US" dirty="0">
                <a:solidFill>
                  <a:srgbClr val="FF0000"/>
                </a:solidFill>
              </a:rPr>
              <a:t>提供特定的工作环境</a:t>
            </a:r>
            <a:r>
              <a:rPr lang="zh-CN" altLang="en-US" dirty="0"/>
              <a:t>（如用户的工作目录、</a:t>
            </a:r>
            <a:r>
              <a:rPr lang="en-US" altLang="zh-CN" dirty="0"/>
              <a:t>shell</a:t>
            </a:r>
            <a:r>
              <a:rPr lang="zh-CN" altLang="en-US" dirty="0"/>
              <a:t>版本、以及</a:t>
            </a:r>
            <a:r>
              <a:rPr lang="en-US" altLang="zh-CN" dirty="0"/>
              <a:t>X-Window</a:t>
            </a:r>
            <a:r>
              <a:rPr lang="zh-CN" altLang="en-US" dirty="0"/>
              <a:t>环境的配置等），使每个用户的</a:t>
            </a:r>
            <a:r>
              <a:rPr lang="zh-CN" altLang="en-US" dirty="0">
                <a:solidFill>
                  <a:srgbClr val="FF0000"/>
                </a:solidFill>
              </a:rPr>
              <a:t>工作</a:t>
            </a:r>
            <a:r>
              <a:rPr lang="zh-CN" altLang="en-US" dirty="0"/>
              <a:t>都能</a:t>
            </a:r>
            <a:r>
              <a:rPr lang="zh-CN" altLang="en-US" dirty="0">
                <a:solidFill>
                  <a:srgbClr val="FF0000"/>
                </a:solidFill>
              </a:rPr>
              <a:t>独立</a:t>
            </a:r>
            <a:r>
              <a:rPr lang="zh-CN" altLang="en-US" dirty="0"/>
              <a:t>不受干扰地进行</a:t>
            </a:r>
          </a:p>
          <a:p>
            <a:pPr>
              <a:lnSpc>
                <a:spcPct val="120000"/>
              </a:lnSpc>
            </a:pPr>
            <a:r>
              <a:rPr lang="en-US" altLang="zh-CN" dirty="0"/>
              <a:t>Linux</a:t>
            </a:r>
            <a:r>
              <a:rPr lang="zh-CN" altLang="en-US" dirty="0"/>
              <a:t>中的账户包括</a:t>
            </a:r>
          </a:p>
          <a:p>
            <a:pPr lvl="1">
              <a:lnSpc>
                <a:spcPct val="120000"/>
              </a:lnSpc>
            </a:pPr>
            <a:r>
              <a:rPr lang="zh-CN" altLang="en-US" dirty="0">
                <a:solidFill>
                  <a:srgbClr val="FF0000"/>
                </a:solidFill>
              </a:rPr>
              <a:t>用户账户</a:t>
            </a:r>
          </a:p>
          <a:p>
            <a:pPr lvl="1">
              <a:lnSpc>
                <a:spcPct val="120000"/>
              </a:lnSpc>
            </a:pPr>
            <a:r>
              <a:rPr lang="zh-CN" altLang="en-US" dirty="0">
                <a:solidFill>
                  <a:srgbClr val="FF0000"/>
                </a:solidFill>
              </a:rPr>
              <a:t>组账户</a:t>
            </a:r>
          </a:p>
          <a:p>
            <a:endParaRPr lang="zh-CN" alt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用户账户</a:t>
            </a:r>
          </a:p>
        </p:txBody>
      </p:sp>
      <p:sp>
        <p:nvSpPr>
          <p:cNvPr id="3" name="内容占位符 2"/>
          <p:cNvSpPr>
            <a:spLocks noGrp="1"/>
          </p:cNvSpPr>
          <p:nvPr>
            <p:ph idx="1"/>
          </p:nvPr>
        </p:nvSpPr>
        <p:spPr>
          <a:xfrm>
            <a:off x="457200" y="1412776"/>
            <a:ext cx="8147248" cy="5256584"/>
          </a:xfrm>
        </p:spPr>
        <p:txBody>
          <a:bodyPr/>
          <a:lstStyle/>
          <a:p>
            <a:r>
              <a:rPr lang="en-US" altLang="zh-CN" dirty="0"/>
              <a:t>Linux</a:t>
            </a:r>
            <a:r>
              <a:rPr lang="zh-CN" altLang="en-US" dirty="0"/>
              <a:t>系统的用户账户（简称用户）有两种</a:t>
            </a:r>
          </a:p>
          <a:p>
            <a:pPr lvl="1"/>
            <a:r>
              <a:rPr lang="zh-CN" altLang="en-US" sz="2400" dirty="0">
                <a:solidFill>
                  <a:srgbClr val="FF0000"/>
                </a:solidFill>
              </a:rPr>
              <a:t>普通用户</a:t>
            </a:r>
            <a:r>
              <a:rPr lang="zh-CN" altLang="en-US" sz="2400" dirty="0"/>
              <a:t>账户：任务是进行</a:t>
            </a:r>
            <a:r>
              <a:rPr lang="zh-CN" altLang="en-US" sz="2400" dirty="0">
                <a:solidFill>
                  <a:srgbClr val="FF0000"/>
                </a:solidFill>
              </a:rPr>
              <a:t>普通工作</a:t>
            </a:r>
          </a:p>
          <a:p>
            <a:pPr lvl="1"/>
            <a:r>
              <a:rPr lang="zh-CN" altLang="en-US" sz="2400" dirty="0">
                <a:solidFill>
                  <a:srgbClr val="FF0000"/>
                </a:solidFill>
              </a:rPr>
              <a:t>超级用户</a:t>
            </a:r>
            <a:r>
              <a:rPr lang="zh-CN" altLang="en-US" sz="2400" dirty="0"/>
              <a:t>账户（或</a:t>
            </a:r>
            <a:r>
              <a:rPr lang="zh-CN" altLang="en-US" sz="2400" dirty="0">
                <a:solidFill>
                  <a:srgbClr val="FF0000"/>
                </a:solidFill>
              </a:rPr>
              <a:t>管理员</a:t>
            </a:r>
            <a:r>
              <a:rPr lang="zh-CN" altLang="en-US" sz="2400" dirty="0"/>
              <a:t>账户）：任务是</a:t>
            </a:r>
            <a:r>
              <a:rPr lang="zh-CN" altLang="en-US" sz="2400" dirty="0">
                <a:solidFill>
                  <a:srgbClr val="FF0000"/>
                </a:solidFill>
              </a:rPr>
              <a:t>管理普通用户</a:t>
            </a:r>
            <a:r>
              <a:rPr lang="zh-CN" altLang="en-US" sz="2400" dirty="0"/>
              <a:t>和</a:t>
            </a:r>
            <a:r>
              <a:rPr lang="zh-CN" altLang="en-US" sz="2400" dirty="0">
                <a:solidFill>
                  <a:srgbClr val="FF0000"/>
                </a:solidFill>
              </a:rPr>
              <a:t>整个系统</a:t>
            </a:r>
            <a:endParaRPr lang="en-US" altLang="zh-CN" sz="2400" dirty="0"/>
          </a:p>
          <a:p>
            <a:r>
              <a:rPr lang="zh-CN" altLang="en-US" dirty="0">
                <a:solidFill>
                  <a:srgbClr val="FF0000"/>
                </a:solidFill>
              </a:rPr>
              <a:t>每个用户</a:t>
            </a:r>
            <a:r>
              <a:rPr lang="zh-CN" altLang="en-US" dirty="0"/>
              <a:t>都被分配了一个</a:t>
            </a:r>
            <a:r>
              <a:rPr lang="zh-CN" altLang="en-US" dirty="0">
                <a:solidFill>
                  <a:srgbClr val="FF0000"/>
                </a:solidFill>
              </a:rPr>
              <a:t>唯一</a:t>
            </a:r>
            <a:r>
              <a:rPr lang="zh-CN" altLang="en-US" dirty="0"/>
              <a:t>的</a:t>
            </a:r>
            <a:r>
              <a:rPr lang="zh-CN" altLang="en-US" dirty="0">
                <a:solidFill>
                  <a:srgbClr val="FF0000"/>
                </a:solidFill>
              </a:rPr>
              <a:t>用户</a:t>
            </a:r>
            <a:r>
              <a:rPr lang="en-US" altLang="zh-CN" dirty="0">
                <a:solidFill>
                  <a:srgbClr val="FF0000"/>
                </a:solidFill>
              </a:rPr>
              <a:t>ID</a:t>
            </a:r>
            <a:r>
              <a:rPr lang="zh-CN" altLang="en-US" dirty="0">
                <a:solidFill>
                  <a:srgbClr val="FF0000"/>
                </a:solidFill>
              </a:rPr>
              <a:t>号</a:t>
            </a:r>
            <a:r>
              <a:rPr lang="zh-CN" altLang="en-US" dirty="0"/>
              <a:t>（</a:t>
            </a:r>
            <a:r>
              <a:rPr lang="en-US" altLang="zh-CN" dirty="0"/>
              <a:t>User ID</a:t>
            </a:r>
            <a:r>
              <a:rPr lang="zh-CN" altLang="en-US" dirty="0"/>
              <a:t>，</a:t>
            </a:r>
            <a:r>
              <a:rPr lang="en-US" altLang="zh-CN" dirty="0">
                <a:solidFill>
                  <a:srgbClr val="FF0000"/>
                </a:solidFill>
              </a:rPr>
              <a:t>UID</a:t>
            </a:r>
            <a:r>
              <a:rPr lang="zh-CN" altLang="en-US" dirty="0"/>
              <a:t>） </a:t>
            </a:r>
          </a:p>
          <a:p>
            <a:pPr lvl="1"/>
            <a:r>
              <a:rPr lang="zh-CN" altLang="en-US" sz="2400" dirty="0">
                <a:solidFill>
                  <a:srgbClr val="FF0000"/>
                </a:solidFill>
              </a:rPr>
              <a:t>超级</a:t>
            </a:r>
            <a:r>
              <a:rPr lang="zh-CN" altLang="en-US" sz="2400" dirty="0"/>
              <a:t>用户：</a:t>
            </a:r>
            <a:r>
              <a:rPr lang="en-US" altLang="zh-CN" sz="2400" dirty="0">
                <a:solidFill>
                  <a:srgbClr val="FF0000"/>
                </a:solidFill>
              </a:rPr>
              <a:t>UID=0</a:t>
            </a:r>
            <a:r>
              <a:rPr lang="zh-CN" altLang="en-US" sz="2400" dirty="0"/>
              <a:t>，</a:t>
            </a:r>
            <a:r>
              <a:rPr lang="en-US" altLang="zh-CN" sz="2400" dirty="0">
                <a:solidFill>
                  <a:srgbClr val="FF0000"/>
                </a:solidFill>
              </a:rPr>
              <a:t>GID=0</a:t>
            </a:r>
          </a:p>
          <a:p>
            <a:pPr lvl="1"/>
            <a:r>
              <a:rPr lang="zh-CN" altLang="en-US" sz="2400" dirty="0">
                <a:solidFill>
                  <a:srgbClr val="FF0000"/>
                </a:solidFill>
              </a:rPr>
              <a:t>普通</a:t>
            </a:r>
            <a:r>
              <a:rPr lang="zh-CN" altLang="en-US" sz="2400" dirty="0"/>
              <a:t>用户：</a:t>
            </a:r>
            <a:r>
              <a:rPr lang="en-US" altLang="zh-CN" sz="2400" dirty="0"/>
              <a:t>UID&gt;=1000</a:t>
            </a:r>
          </a:p>
          <a:p>
            <a:pPr lvl="1"/>
            <a:r>
              <a:rPr lang="zh-CN" altLang="en-US" sz="2400" dirty="0">
                <a:solidFill>
                  <a:srgbClr val="FF0000"/>
                </a:solidFill>
              </a:rPr>
              <a:t>系统</a:t>
            </a:r>
            <a:r>
              <a:rPr lang="zh-CN" altLang="en-US" sz="2400" dirty="0"/>
              <a:t>用户（伪用户，不可登录）： </a:t>
            </a:r>
            <a:r>
              <a:rPr lang="en-US" altLang="zh-CN" sz="2400" dirty="0">
                <a:solidFill>
                  <a:srgbClr val="FF0000"/>
                </a:solidFill>
              </a:rPr>
              <a:t>0&lt;UID&lt;1000</a:t>
            </a:r>
            <a:endParaRPr lang="zh-CN" altLang="en-US" sz="2400" dirty="0">
              <a:solidFill>
                <a:srgbClr val="FF0000"/>
              </a:solidFill>
            </a:endParaRPr>
          </a:p>
          <a:p>
            <a:pPr lvl="1"/>
            <a:endParaRPr lang="en-US" altLang="zh-CN" dirty="0"/>
          </a:p>
          <a:p>
            <a:pPr marL="457200" lvl="1" indent="0">
              <a:buNone/>
            </a:pPr>
            <a:r>
              <a:rPr lang="zh-CN" altLang="en-US" dirty="0"/>
              <a:t>                                           </a:t>
            </a:r>
            <a:endParaRPr lang="zh-CN" altLang="en-US" sz="2400" dirty="0">
              <a:solidFill>
                <a:srgbClr val="FF0000"/>
              </a:solidFill>
            </a:endParaRPr>
          </a:p>
        </p:txBody>
      </p:sp>
      <p:pic>
        <p:nvPicPr>
          <p:cNvPr id="4" name="图片 3"/>
          <p:cNvPicPr>
            <a:picLocks noChangeAspect="1"/>
          </p:cNvPicPr>
          <p:nvPr/>
        </p:nvPicPr>
        <p:blipFill rotWithShape="1">
          <a:blip r:embed="rId3"/>
          <a:srcRect r="6128"/>
          <a:stretch/>
        </p:blipFill>
        <p:spPr>
          <a:xfrm>
            <a:off x="228056" y="5702478"/>
            <a:ext cx="8605536" cy="936104"/>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用户账户</a:t>
            </a:r>
          </a:p>
        </p:txBody>
      </p:sp>
      <p:sp>
        <p:nvSpPr>
          <p:cNvPr id="3" name="内容占位符 2"/>
          <p:cNvSpPr>
            <a:spLocks noGrp="1"/>
          </p:cNvSpPr>
          <p:nvPr>
            <p:ph idx="1"/>
          </p:nvPr>
        </p:nvSpPr>
        <p:spPr>
          <a:xfrm>
            <a:off x="539552" y="1772816"/>
            <a:ext cx="8136904" cy="4114800"/>
          </a:xfrm>
        </p:spPr>
        <p:txBody>
          <a:bodyPr/>
          <a:lstStyle/>
          <a:p>
            <a:pPr>
              <a:lnSpc>
                <a:spcPct val="120000"/>
              </a:lnSpc>
            </a:pPr>
            <a:r>
              <a:rPr lang="zh-CN" altLang="en-US" dirty="0">
                <a:solidFill>
                  <a:srgbClr val="FF0000"/>
                </a:solidFill>
              </a:rPr>
              <a:t>用户名和 </a:t>
            </a:r>
            <a:r>
              <a:rPr lang="en-US" altLang="zh-CN" dirty="0">
                <a:solidFill>
                  <a:srgbClr val="FF0000"/>
                </a:solidFill>
              </a:rPr>
              <a:t>UID </a:t>
            </a:r>
            <a:r>
              <a:rPr lang="zh-CN" altLang="en-US" dirty="0"/>
              <a:t>被保存在 </a:t>
            </a:r>
            <a:r>
              <a:rPr lang="en-US" altLang="zh-CN" dirty="0">
                <a:solidFill>
                  <a:srgbClr val="FF0000"/>
                </a:solidFill>
              </a:rPr>
              <a:t>/etc/</a:t>
            </a:r>
            <a:r>
              <a:rPr lang="en-US" altLang="zh-CN" dirty="0" err="1">
                <a:solidFill>
                  <a:srgbClr val="FF0000"/>
                </a:solidFill>
              </a:rPr>
              <a:t>passwd</a:t>
            </a:r>
            <a:r>
              <a:rPr lang="en-US" altLang="zh-CN" dirty="0">
                <a:solidFill>
                  <a:srgbClr val="FF0000"/>
                </a:solidFill>
              </a:rPr>
              <a:t> </a:t>
            </a:r>
            <a:r>
              <a:rPr lang="zh-CN" altLang="en-US" dirty="0"/>
              <a:t>这个文件中 </a:t>
            </a:r>
          </a:p>
          <a:p>
            <a:pPr>
              <a:lnSpc>
                <a:spcPct val="120000"/>
              </a:lnSpc>
            </a:pPr>
            <a:r>
              <a:rPr lang="zh-CN" altLang="en-US" dirty="0"/>
              <a:t>当用户登录时，他们被分配了一个</a:t>
            </a:r>
            <a:r>
              <a:rPr lang="zh-CN" altLang="en-US" dirty="0">
                <a:solidFill>
                  <a:srgbClr val="FF0000"/>
                </a:solidFill>
              </a:rPr>
              <a:t>主目录</a:t>
            </a:r>
            <a:r>
              <a:rPr lang="zh-CN" altLang="en-US" dirty="0"/>
              <a:t>和一个</a:t>
            </a:r>
            <a:r>
              <a:rPr lang="zh-CN" altLang="en-US" dirty="0">
                <a:solidFill>
                  <a:srgbClr val="FF0000"/>
                </a:solidFill>
              </a:rPr>
              <a:t>运行的程序</a:t>
            </a:r>
            <a:r>
              <a:rPr lang="zh-CN" altLang="en-US" dirty="0"/>
              <a:t>（通常是 </a:t>
            </a:r>
            <a:r>
              <a:rPr lang="en-US" altLang="zh-CN" dirty="0"/>
              <a:t>shell</a:t>
            </a:r>
            <a:r>
              <a:rPr lang="zh-CN" altLang="en-US" dirty="0"/>
              <a:t>） </a:t>
            </a:r>
          </a:p>
          <a:p>
            <a:pPr>
              <a:lnSpc>
                <a:spcPct val="120000"/>
              </a:lnSpc>
            </a:pPr>
            <a:r>
              <a:rPr lang="zh-CN" altLang="en-US" dirty="0"/>
              <a:t>若无适当权限，</a:t>
            </a:r>
            <a:r>
              <a:rPr lang="zh-CN" altLang="en-US" dirty="0">
                <a:solidFill>
                  <a:srgbClr val="FF0000"/>
                </a:solidFill>
              </a:rPr>
              <a:t>用户无法读取、写入或执行彼此的文件</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用户组</a:t>
            </a:r>
          </a:p>
        </p:txBody>
      </p:sp>
      <p:sp>
        <p:nvSpPr>
          <p:cNvPr id="3" name="内容占位符 2"/>
          <p:cNvSpPr>
            <a:spLocks noGrp="1"/>
          </p:cNvSpPr>
          <p:nvPr>
            <p:ph idx="1"/>
          </p:nvPr>
        </p:nvSpPr>
        <p:spPr>
          <a:xfrm>
            <a:off x="971600" y="1412776"/>
            <a:ext cx="7416824" cy="5112568"/>
          </a:xfrm>
        </p:spPr>
        <p:txBody>
          <a:bodyPr/>
          <a:lstStyle/>
          <a:p>
            <a:r>
              <a:rPr lang="zh-CN" altLang="en-US" dirty="0"/>
              <a:t>组是用户的集合</a:t>
            </a:r>
            <a:endParaRPr lang="en-US" altLang="zh-CN" dirty="0"/>
          </a:p>
          <a:p>
            <a:r>
              <a:rPr lang="zh-CN" altLang="en-US" dirty="0">
                <a:solidFill>
                  <a:srgbClr val="FF0000"/>
                </a:solidFill>
              </a:rPr>
              <a:t>每个组</a:t>
            </a:r>
            <a:r>
              <a:rPr lang="zh-CN" altLang="en-US" dirty="0"/>
              <a:t>都被分配了一个</a:t>
            </a:r>
            <a:r>
              <a:rPr lang="zh-CN" altLang="en-US" dirty="0">
                <a:solidFill>
                  <a:srgbClr val="FF0000"/>
                </a:solidFill>
              </a:rPr>
              <a:t>唯一</a:t>
            </a:r>
            <a:r>
              <a:rPr lang="zh-CN" altLang="en-US" dirty="0"/>
              <a:t>的</a:t>
            </a:r>
            <a:r>
              <a:rPr lang="zh-CN" altLang="en-US" dirty="0">
                <a:solidFill>
                  <a:srgbClr val="FF0000"/>
                </a:solidFill>
              </a:rPr>
              <a:t>组</a:t>
            </a:r>
            <a:r>
              <a:rPr lang="en-US" altLang="zh-CN" dirty="0">
                <a:solidFill>
                  <a:srgbClr val="FF0000"/>
                </a:solidFill>
              </a:rPr>
              <a:t>ID</a:t>
            </a:r>
            <a:r>
              <a:rPr lang="zh-CN" altLang="en-US" dirty="0">
                <a:solidFill>
                  <a:srgbClr val="FF0000"/>
                </a:solidFill>
              </a:rPr>
              <a:t>号</a:t>
            </a:r>
            <a:r>
              <a:rPr lang="zh-CN" altLang="en-US" dirty="0"/>
              <a:t>（</a:t>
            </a:r>
            <a:r>
              <a:rPr lang="en-US" altLang="zh-CN" dirty="0"/>
              <a:t>Group ID</a:t>
            </a:r>
            <a:r>
              <a:rPr lang="zh-CN" altLang="en-US" dirty="0"/>
              <a:t>，</a:t>
            </a:r>
            <a:r>
              <a:rPr lang="en-US" altLang="zh-CN" dirty="0">
                <a:solidFill>
                  <a:srgbClr val="FF0000"/>
                </a:solidFill>
              </a:rPr>
              <a:t>GID</a:t>
            </a:r>
            <a:r>
              <a:rPr lang="zh-CN" altLang="en-US" dirty="0"/>
              <a:t>） </a:t>
            </a:r>
          </a:p>
          <a:p>
            <a:r>
              <a:rPr lang="zh-CN" altLang="en-US" dirty="0">
                <a:solidFill>
                  <a:srgbClr val="FF0000"/>
                </a:solidFill>
              </a:rPr>
              <a:t>组和</a:t>
            </a:r>
            <a:r>
              <a:rPr lang="en-US" altLang="zh-CN" dirty="0">
                <a:solidFill>
                  <a:srgbClr val="FF0000"/>
                </a:solidFill>
              </a:rPr>
              <a:t>GID </a:t>
            </a:r>
            <a:r>
              <a:rPr lang="zh-CN" altLang="en-US" dirty="0"/>
              <a:t>被保存在 </a:t>
            </a:r>
            <a:r>
              <a:rPr lang="en-US" altLang="zh-CN" dirty="0">
                <a:solidFill>
                  <a:srgbClr val="FF0000"/>
                </a:solidFill>
              </a:rPr>
              <a:t>/etc/group </a:t>
            </a:r>
            <a:r>
              <a:rPr lang="zh-CN" altLang="en-US" dirty="0"/>
              <a:t>文件中 </a:t>
            </a:r>
          </a:p>
          <a:p>
            <a:r>
              <a:rPr lang="zh-CN" altLang="en-US" dirty="0">
                <a:solidFill>
                  <a:srgbClr val="FF0000"/>
                </a:solidFill>
              </a:rPr>
              <a:t>每个用户</a:t>
            </a:r>
            <a:r>
              <a:rPr lang="zh-CN" altLang="en-US" dirty="0"/>
              <a:t>都有他们</a:t>
            </a:r>
            <a:r>
              <a:rPr lang="zh-CN" altLang="en-US" dirty="0">
                <a:solidFill>
                  <a:srgbClr val="FF0000"/>
                </a:solidFill>
              </a:rPr>
              <a:t>自己同名</a:t>
            </a:r>
            <a:r>
              <a:rPr lang="zh-CN" altLang="en-US" dirty="0"/>
              <a:t>的</a:t>
            </a:r>
            <a:r>
              <a:rPr lang="zh-CN" altLang="en-US" dirty="0">
                <a:solidFill>
                  <a:srgbClr val="FF0000"/>
                </a:solidFill>
              </a:rPr>
              <a:t>私有组</a:t>
            </a:r>
            <a:r>
              <a:rPr lang="zh-CN" altLang="en-US" dirty="0"/>
              <a:t> </a:t>
            </a:r>
          </a:p>
          <a:p>
            <a:r>
              <a:rPr lang="zh-CN" altLang="en-US" dirty="0"/>
              <a:t>每个用户都可以被添加到</a:t>
            </a:r>
            <a:r>
              <a:rPr lang="zh-CN" altLang="en-US" dirty="0">
                <a:solidFill>
                  <a:srgbClr val="FF0000"/>
                </a:solidFill>
              </a:rPr>
              <a:t>其他组</a:t>
            </a:r>
            <a:r>
              <a:rPr lang="zh-CN" altLang="en-US" dirty="0"/>
              <a:t>中来获得额外的存取权限 </a:t>
            </a:r>
          </a:p>
          <a:p>
            <a:r>
              <a:rPr lang="zh-CN" altLang="en-US" dirty="0"/>
              <a:t>组中的所有用户都可以</a:t>
            </a:r>
            <a:r>
              <a:rPr lang="zh-CN" altLang="en-US" dirty="0">
                <a:solidFill>
                  <a:srgbClr val="FF0000"/>
                </a:solidFill>
              </a:rPr>
              <a:t>共享</a:t>
            </a:r>
            <a:r>
              <a:rPr lang="zh-CN" altLang="en-US" dirty="0"/>
              <a:t>属于该</a:t>
            </a:r>
            <a:r>
              <a:rPr lang="zh-CN" altLang="en-US" dirty="0">
                <a:solidFill>
                  <a:srgbClr val="FF0000"/>
                </a:solidFill>
              </a:rPr>
              <a:t>组的文件</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用户组</a:t>
            </a:r>
            <a:endParaRPr lang="en-US" altLang="zh-CN" dirty="0"/>
          </a:p>
        </p:txBody>
      </p:sp>
      <p:sp>
        <p:nvSpPr>
          <p:cNvPr id="3" name="内容占位符 2"/>
          <p:cNvSpPr>
            <a:spLocks noGrp="1"/>
          </p:cNvSpPr>
          <p:nvPr>
            <p:ph idx="1"/>
          </p:nvPr>
        </p:nvSpPr>
        <p:spPr>
          <a:xfrm>
            <a:off x="251520" y="1340768"/>
            <a:ext cx="8680445" cy="5112568"/>
          </a:xfrm>
        </p:spPr>
        <p:txBody>
          <a:bodyPr/>
          <a:lstStyle/>
          <a:p>
            <a:r>
              <a:rPr lang="zh-CN" altLang="en-US" dirty="0">
                <a:solidFill>
                  <a:srgbClr val="FF0000"/>
                </a:solidFill>
              </a:rPr>
              <a:t>标准组</a:t>
            </a:r>
            <a:endParaRPr lang="en-US" altLang="zh-CN" dirty="0">
              <a:solidFill>
                <a:srgbClr val="FF0000"/>
              </a:solidFill>
            </a:endParaRPr>
          </a:p>
          <a:p>
            <a:pPr lvl="1">
              <a:lnSpc>
                <a:spcPct val="110000"/>
              </a:lnSpc>
            </a:pPr>
            <a:r>
              <a:rPr lang="zh-CN" altLang="en-US" sz="2400" dirty="0"/>
              <a:t>标准组可以容纳</a:t>
            </a:r>
            <a:r>
              <a:rPr lang="zh-CN" altLang="en-US" sz="2400" dirty="0">
                <a:solidFill>
                  <a:srgbClr val="FF0000"/>
                </a:solidFill>
              </a:rPr>
              <a:t>多个用户</a:t>
            </a:r>
            <a:endParaRPr lang="en-US" altLang="zh-CN" sz="2400" dirty="0">
              <a:solidFill>
                <a:srgbClr val="FF0000"/>
              </a:solidFill>
            </a:endParaRPr>
          </a:p>
          <a:p>
            <a:pPr lvl="1">
              <a:lnSpc>
                <a:spcPct val="110000"/>
              </a:lnSpc>
            </a:pPr>
            <a:r>
              <a:rPr lang="zh-CN" altLang="en-US" sz="2400" dirty="0"/>
              <a:t>若使用标准组，在创建一个新的用户时就应该</a:t>
            </a:r>
            <a:r>
              <a:rPr lang="zh-CN" altLang="en-US" sz="2400" dirty="0">
                <a:solidFill>
                  <a:srgbClr val="FF0000"/>
                </a:solidFill>
              </a:rPr>
              <a:t>指定</a:t>
            </a:r>
            <a:r>
              <a:rPr lang="zh-CN" altLang="en-US" sz="2400" dirty="0"/>
              <a:t>他所属于的组</a:t>
            </a:r>
            <a:endParaRPr lang="en-US" altLang="zh-CN" sz="2400" dirty="0"/>
          </a:p>
          <a:p>
            <a:r>
              <a:rPr lang="zh-CN" altLang="en-US" dirty="0">
                <a:solidFill>
                  <a:srgbClr val="FF0000"/>
                </a:solidFill>
              </a:rPr>
              <a:t>私有组</a:t>
            </a:r>
            <a:endParaRPr lang="en-US" altLang="zh-CN" dirty="0">
              <a:solidFill>
                <a:srgbClr val="FF0000"/>
              </a:solidFill>
            </a:endParaRPr>
          </a:p>
          <a:p>
            <a:pPr lvl="1">
              <a:lnSpc>
                <a:spcPct val="110000"/>
              </a:lnSpc>
            </a:pPr>
            <a:r>
              <a:rPr lang="zh-CN" altLang="en-US" sz="2400" dirty="0"/>
              <a:t>私有组中</a:t>
            </a:r>
            <a:r>
              <a:rPr lang="zh-CN" altLang="en-US" sz="2400" dirty="0">
                <a:solidFill>
                  <a:srgbClr val="FF0000"/>
                </a:solidFill>
              </a:rPr>
              <a:t>只有用户自己</a:t>
            </a:r>
            <a:endParaRPr lang="en-US" altLang="zh-CN" sz="2400" dirty="0">
              <a:solidFill>
                <a:srgbClr val="FF0000"/>
              </a:solidFill>
            </a:endParaRPr>
          </a:p>
          <a:p>
            <a:pPr lvl="1">
              <a:lnSpc>
                <a:spcPct val="110000"/>
              </a:lnSpc>
            </a:pPr>
            <a:r>
              <a:rPr lang="zh-CN" altLang="en-US" sz="2400" dirty="0"/>
              <a:t>创建一个新用户时， 若</a:t>
            </a:r>
            <a:r>
              <a:rPr lang="zh-CN" altLang="en-US" sz="2400" dirty="0">
                <a:solidFill>
                  <a:srgbClr val="FF0000"/>
                </a:solidFill>
              </a:rPr>
              <a:t>没</a:t>
            </a:r>
            <a:r>
              <a:rPr lang="zh-CN" altLang="en-US" sz="2400" dirty="0"/>
              <a:t>有</a:t>
            </a:r>
            <a:r>
              <a:rPr lang="zh-CN" altLang="en-US" sz="2400" dirty="0">
                <a:solidFill>
                  <a:srgbClr val="FF0000"/>
                </a:solidFill>
              </a:rPr>
              <a:t>指定</a:t>
            </a:r>
            <a:r>
              <a:rPr lang="zh-CN" altLang="en-US" sz="2400" dirty="0"/>
              <a:t>他所属于的</a:t>
            </a:r>
            <a:r>
              <a:rPr lang="zh-CN" altLang="en-US" sz="2400" dirty="0">
                <a:solidFill>
                  <a:srgbClr val="FF0000"/>
                </a:solidFill>
              </a:rPr>
              <a:t>组</a:t>
            </a:r>
            <a:r>
              <a:rPr lang="zh-CN" altLang="en-US" sz="2400" dirty="0"/>
              <a:t>，</a:t>
            </a:r>
            <a:r>
              <a:rPr lang="en-US" altLang="zh-CN" sz="2400" dirty="0"/>
              <a:t>RHEL/CentOS</a:t>
            </a:r>
            <a:r>
              <a:rPr lang="zh-CN" altLang="en-US" sz="2400" dirty="0"/>
              <a:t>就建立一个与该</a:t>
            </a:r>
            <a:r>
              <a:rPr lang="zh-CN" altLang="en-US" sz="2400" dirty="0">
                <a:solidFill>
                  <a:srgbClr val="FF0000"/>
                </a:solidFill>
              </a:rPr>
              <a:t>用户同名的私有组</a:t>
            </a:r>
            <a:r>
              <a:rPr lang="zh-CN" altLang="en-US" sz="2400" dirty="0"/>
              <a:t>，且用户被分配到该私有组中</a:t>
            </a:r>
            <a:endParaRPr lang="en-US" altLang="zh-CN" sz="2400" dirty="0"/>
          </a:p>
          <a:p>
            <a:pPr marL="1008000" lvl="2" indent="-342900" eaLnBrk="1" hangingPunct="1">
              <a:lnSpc>
                <a:spcPct val="110000"/>
              </a:lnSpc>
              <a:spcBef>
                <a:spcPct val="0"/>
              </a:spcBef>
              <a:buClr>
                <a:srgbClr val="0000FF"/>
              </a:buClr>
              <a:defRPr/>
            </a:pPr>
            <a:r>
              <a:rPr lang="zh-CN" altLang="en-US" dirty="0">
                <a:solidFill>
                  <a:srgbClr val="FF0000"/>
                </a:solidFill>
                <a:ea typeface="楷体_GB2312" pitchFamily="49" charset="-122"/>
              </a:rPr>
              <a:t>优点</a:t>
            </a:r>
            <a:r>
              <a:rPr lang="zh-CN" altLang="en-US" dirty="0">
                <a:solidFill>
                  <a:srgbClr val="000000"/>
                </a:solidFill>
                <a:ea typeface="楷体_GB2312" pitchFamily="49" charset="-122"/>
              </a:rPr>
              <a:t>：防止新文件归 “公共” 组所有 </a:t>
            </a:r>
          </a:p>
          <a:p>
            <a:pPr marL="1008000" lvl="2" indent="-342900" eaLnBrk="1" hangingPunct="1">
              <a:lnSpc>
                <a:spcPct val="110000"/>
              </a:lnSpc>
              <a:spcBef>
                <a:spcPct val="0"/>
              </a:spcBef>
              <a:buClr>
                <a:srgbClr val="0000FF"/>
              </a:buClr>
              <a:defRPr/>
            </a:pPr>
            <a:r>
              <a:rPr lang="zh-CN" altLang="en-US" dirty="0">
                <a:solidFill>
                  <a:srgbClr val="FF0000"/>
                </a:solidFill>
                <a:ea typeface="楷体_GB2312" pitchFamily="49" charset="-122"/>
              </a:rPr>
              <a:t>缺点</a:t>
            </a:r>
            <a:r>
              <a:rPr lang="zh-CN" altLang="en-US" dirty="0">
                <a:solidFill>
                  <a:srgbClr val="000000"/>
                </a:solidFill>
                <a:ea typeface="楷体_GB2312" pitchFamily="49" charset="-122"/>
              </a:rPr>
              <a:t>：可能会鼓励创建 “任何人都可以访问” 的文件</a:t>
            </a:r>
            <a:endParaRPr lang="en-US" altLang="zh-CN" dirty="0">
              <a:solidFill>
                <a:srgbClr val="000000"/>
              </a:solidFill>
              <a:ea typeface="楷体_GB2312" pitchFamily="49" charset="-122"/>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用户和组的关系</a:t>
            </a:r>
          </a:p>
        </p:txBody>
      </p:sp>
      <p:sp>
        <p:nvSpPr>
          <p:cNvPr id="3" name="内容占位符 2"/>
          <p:cNvSpPr>
            <a:spLocks noGrp="1"/>
          </p:cNvSpPr>
          <p:nvPr>
            <p:ph idx="1"/>
          </p:nvPr>
        </p:nvSpPr>
        <p:spPr>
          <a:xfrm>
            <a:off x="395536" y="1371600"/>
            <a:ext cx="8748464" cy="5225752"/>
          </a:xfrm>
        </p:spPr>
        <p:txBody>
          <a:bodyPr/>
          <a:lstStyle/>
          <a:p>
            <a:pPr>
              <a:lnSpc>
                <a:spcPct val="120000"/>
              </a:lnSpc>
            </a:pPr>
            <a:r>
              <a:rPr lang="zh-CN" altLang="en-US" dirty="0"/>
              <a:t>组是用户的集合</a:t>
            </a:r>
            <a:endParaRPr lang="en-US" altLang="zh-CN" dirty="0"/>
          </a:p>
          <a:p>
            <a:pPr>
              <a:lnSpc>
                <a:spcPct val="120000"/>
              </a:lnSpc>
            </a:pPr>
            <a:r>
              <a:rPr lang="zh-CN" altLang="en-US" dirty="0"/>
              <a:t>一个</a:t>
            </a:r>
            <a:r>
              <a:rPr lang="zh-CN" altLang="en-US" dirty="0">
                <a:solidFill>
                  <a:srgbClr val="FF0000"/>
                </a:solidFill>
              </a:rPr>
              <a:t>标准组</a:t>
            </a:r>
            <a:r>
              <a:rPr lang="zh-CN" altLang="en-US" dirty="0"/>
              <a:t>可以容纳</a:t>
            </a:r>
            <a:r>
              <a:rPr lang="zh-CN" altLang="en-US" dirty="0">
                <a:solidFill>
                  <a:srgbClr val="FF0000"/>
                </a:solidFill>
              </a:rPr>
              <a:t>多个用户</a:t>
            </a:r>
            <a:endParaRPr lang="zh-CN" altLang="en-US" dirty="0"/>
          </a:p>
          <a:p>
            <a:pPr>
              <a:lnSpc>
                <a:spcPct val="120000"/>
              </a:lnSpc>
            </a:pPr>
            <a:r>
              <a:rPr lang="zh-CN" altLang="en-US" dirty="0"/>
              <a:t>同</a:t>
            </a:r>
            <a:r>
              <a:rPr lang="zh-CN" altLang="en-US" dirty="0">
                <a:solidFill>
                  <a:srgbClr val="FF0000"/>
                </a:solidFill>
              </a:rPr>
              <a:t>一个用户</a:t>
            </a:r>
            <a:r>
              <a:rPr lang="zh-CN" altLang="en-US" dirty="0"/>
              <a:t>可以同属于</a:t>
            </a:r>
            <a:r>
              <a:rPr lang="zh-CN" altLang="en-US" dirty="0">
                <a:solidFill>
                  <a:srgbClr val="FF0000"/>
                </a:solidFill>
              </a:rPr>
              <a:t>多个组</a:t>
            </a:r>
            <a:r>
              <a:rPr lang="zh-CN" altLang="en-US" dirty="0"/>
              <a:t>，这些组可以是私有组，也可以是标准组</a:t>
            </a:r>
          </a:p>
          <a:p>
            <a:pPr>
              <a:lnSpc>
                <a:spcPct val="120000"/>
              </a:lnSpc>
            </a:pPr>
            <a:r>
              <a:rPr lang="zh-CN" altLang="en-US" dirty="0"/>
              <a:t>当一个用户同属于多个组时，将这些组分为：</a:t>
            </a:r>
          </a:p>
          <a:p>
            <a:pPr lvl="1">
              <a:lnSpc>
                <a:spcPct val="120000"/>
              </a:lnSpc>
            </a:pPr>
            <a:r>
              <a:rPr lang="zh-CN" altLang="en-US" dirty="0">
                <a:solidFill>
                  <a:srgbClr val="FF0000"/>
                </a:solidFill>
                <a:latin typeface="黑体" pitchFamily="49" charset="-122"/>
                <a:ea typeface="黑体" pitchFamily="49" charset="-122"/>
              </a:rPr>
              <a:t>主组（初始组）</a:t>
            </a:r>
            <a:r>
              <a:rPr lang="zh-CN" altLang="en-US" dirty="0"/>
              <a:t>：用户</a:t>
            </a:r>
            <a:r>
              <a:rPr lang="zh-CN" altLang="en-US" dirty="0">
                <a:solidFill>
                  <a:srgbClr val="FF0000"/>
                </a:solidFill>
              </a:rPr>
              <a:t>登录系统时的组</a:t>
            </a:r>
            <a:endParaRPr lang="zh-CN" altLang="en-US" dirty="0"/>
          </a:p>
          <a:p>
            <a:pPr lvl="1">
              <a:lnSpc>
                <a:spcPct val="120000"/>
              </a:lnSpc>
            </a:pPr>
            <a:r>
              <a:rPr lang="zh-CN" altLang="en-US" dirty="0">
                <a:solidFill>
                  <a:srgbClr val="FF0000"/>
                </a:solidFill>
                <a:latin typeface="黑体" pitchFamily="49" charset="-122"/>
                <a:ea typeface="黑体" pitchFamily="49" charset="-122"/>
              </a:rPr>
              <a:t>附加组</a:t>
            </a:r>
            <a:r>
              <a:rPr lang="zh-CN" altLang="en-US" dirty="0"/>
              <a:t>：</a:t>
            </a:r>
            <a:r>
              <a:rPr lang="zh-CN" altLang="en-US" dirty="0">
                <a:solidFill>
                  <a:srgbClr val="FF0000"/>
                </a:solidFill>
              </a:rPr>
              <a:t>登录后</a:t>
            </a:r>
            <a:r>
              <a:rPr lang="zh-CN" altLang="en-US" dirty="0"/>
              <a:t>可切换的</a:t>
            </a:r>
            <a:r>
              <a:rPr lang="zh-CN" altLang="en-US" dirty="0">
                <a:solidFill>
                  <a:srgbClr val="FF0000"/>
                </a:solidFill>
              </a:rPr>
              <a:t>其他组</a:t>
            </a:r>
          </a:p>
        </p:txBody>
      </p:sp>
      <p:sp>
        <p:nvSpPr>
          <p:cNvPr id="5" name="矩形 4"/>
          <p:cNvSpPr/>
          <p:nvPr/>
        </p:nvSpPr>
        <p:spPr>
          <a:xfrm>
            <a:off x="6732240" y="5445224"/>
            <a:ext cx="2016224" cy="461665"/>
          </a:xfrm>
          <a:prstGeom prst="rect">
            <a:avLst/>
          </a:prstGeom>
          <a:solidFill>
            <a:schemeClr val="accent2">
              <a:lumMod val="20000"/>
              <a:lumOff val="80000"/>
            </a:schemeClr>
          </a:solidFill>
        </p:spPr>
        <p:style>
          <a:lnRef idx="2">
            <a:schemeClr val="accent6"/>
          </a:lnRef>
          <a:fillRef idx="1">
            <a:schemeClr val="lt1"/>
          </a:fillRef>
          <a:effectRef idx="0">
            <a:schemeClr val="accent6"/>
          </a:effectRef>
          <a:fontRef idx="minor">
            <a:schemeClr val="dk1"/>
          </a:fontRef>
        </p:style>
        <p:txBody>
          <a:bodyPr wrap="square">
            <a:spAutoFit/>
          </a:bodyPr>
          <a:lstStyle/>
          <a:p>
            <a:r>
              <a:rPr lang="en-US" altLang="zh-CN" sz="2400" dirty="0" err="1"/>
              <a:t>newgrp</a:t>
            </a:r>
            <a:r>
              <a:rPr lang="en-US" altLang="zh-CN" sz="2400" dirty="0"/>
              <a:t> </a:t>
            </a:r>
            <a:r>
              <a:rPr lang="zh-CN" altLang="en-US" sz="2400" dirty="0" smtClean="0"/>
              <a:t>组名</a:t>
            </a:r>
            <a:endParaRPr lang="zh-CN" altLang="en-US" sz="24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 </a:t>
            </a:r>
            <a:r>
              <a:rPr lang="zh-CN" altLang="en-US" dirty="0" smtClean="0"/>
              <a:t>账户系统文件</a:t>
            </a:r>
            <a:endParaRPr lang="zh-CN" altLang="en-US" dirty="0"/>
          </a:p>
        </p:txBody>
      </p:sp>
      <p:sp>
        <p:nvSpPr>
          <p:cNvPr id="3" name="内容占位符 2"/>
          <p:cNvSpPr>
            <a:spLocks noGrp="1"/>
          </p:cNvSpPr>
          <p:nvPr>
            <p:ph idx="1"/>
          </p:nvPr>
        </p:nvSpPr>
        <p:spPr>
          <a:xfrm>
            <a:off x="683568" y="1484784"/>
            <a:ext cx="8263581" cy="5181501"/>
          </a:xfrm>
        </p:spPr>
        <p:txBody>
          <a:bodyPr/>
          <a:lstStyle/>
          <a:p>
            <a:pPr>
              <a:lnSpc>
                <a:spcPct val="120000"/>
              </a:lnSpc>
            </a:pPr>
            <a:r>
              <a:rPr lang="zh-CN" altLang="en-GB" dirty="0"/>
              <a:t>口令文件 </a:t>
            </a:r>
            <a:r>
              <a:rPr lang="zh-CN" altLang="en-GB" dirty="0">
                <a:solidFill>
                  <a:schemeClr val="accent6">
                    <a:lumMod val="75000"/>
                  </a:schemeClr>
                </a:solidFill>
              </a:rPr>
              <a:t>/</a:t>
            </a:r>
            <a:r>
              <a:rPr lang="en-GB" altLang="zh-CN" dirty="0">
                <a:solidFill>
                  <a:schemeClr val="accent6">
                    <a:lumMod val="75000"/>
                  </a:schemeClr>
                </a:solidFill>
              </a:rPr>
              <a:t>etc/</a:t>
            </a:r>
            <a:r>
              <a:rPr lang="en-GB" altLang="zh-CN" dirty="0" err="1">
                <a:solidFill>
                  <a:schemeClr val="accent6">
                    <a:lumMod val="75000"/>
                  </a:schemeClr>
                </a:solidFill>
              </a:rPr>
              <a:t>passwd</a:t>
            </a:r>
            <a:r>
              <a:rPr lang="en-GB" altLang="zh-CN" dirty="0">
                <a:solidFill>
                  <a:schemeClr val="accent6">
                    <a:lumMod val="75000"/>
                  </a:schemeClr>
                </a:solidFill>
              </a:rPr>
              <a:t> </a:t>
            </a:r>
          </a:p>
          <a:p>
            <a:pPr lvl="1">
              <a:lnSpc>
                <a:spcPct val="120000"/>
              </a:lnSpc>
            </a:pPr>
            <a:r>
              <a:rPr lang="zh-CN" altLang="en-GB" dirty="0"/>
              <a:t>文件权限 </a:t>
            </a:r>
            <a:r>
              <a:rPr lang="en-GB" altLang="zh-CN" dirty="0"/>
              <a:t>(-</a:t>
            </a:r>
            <a:r>
              <a:rPr lang="en-GB" altLang="zh-CN" dirty="0" err="1"/>
              <a:t>rw</a:t>
            </a:r>
            <a:r>
              <a:rPr lang="en-GB" altLang="zh-CN" dirty="0"/>
              <a:t>-r--r--)</a:t>
            </a:r>
          </a:p>
          <a:p>
            <a:pPr>
              <a:lnSpc>
                <a:spcPct val="120000"/>
              </a:lnSpc>
            </a:pPr>
            <a:r>
              <a:rPr lang="zh-CN" altLang="en-GB" dirty="0"/>
              <a:t>影子口令文件 </a:t>
            </a:r>
            <a:r>
              <a:rPr lang="zh-CN" altLang="en-GB" dirty="0">
                <a:solidFill>
                  <a:schemeClr val="accent6">
                    <a:lumMod val="75000"/>
                  </a:schemeClr>
                </a:solidFill>
              </a:rPr>
              <a:t>/</a:t>
            </a:r>
            <a:r>
              <a:rPr lang="en-GB" altLang="zh-CN" dirty="0">
                <a:solidFill>
                  <a:schemeClr val="accent6">
                    <a:lumMod val="75000"/>
                  </a:schemeClr>
                </a:solidFill>
              </a:rPr>
              <a:t>etc/shadow</a:t>
            </a:r>
          </a:p>
          <a:p>
            <a:pPr lvl="1">
              <a:lnSpc>
                <a:spcPct val="120000"/>
              </a:lnSpc>
            </a:pPr>
            <a:r>
              <a:rPr lang="zh-CN" altLang="en-GB" dirty="0"/>
              <a:t>文件权限</a:t>
            </a:r>
            <a:r>
              <a:rPr lang="en-GB" altLang="zh-CN" dirty="0"/>
              <a:t> (-r</a:t>
            </a:r>
            <a:r>
              <a:rPr lang="en-US" altLang="zh-CN" dirty="0"/>
              <a:t>w</a:t>
            </a:r>
            <a:r>
              <a:rPr lang="en-GB" altLang="zh-CN" dirty="0"/>
              <a:t>-------</a:t>
            </a:r>
            <a:r>
              <a:rPr lang="zh-CN" altLang="en-US" dirty="0"/>
              <a:t>或者</a:t>
            </a:r>
            <a:r>
              <a:rPr lang="en-US" altLang="zh-CN" dirty="0"/>
              <a:t>----------</a:t>
            </a:r>
            <a:r>
              <a:rPr lang="en-GB" altLang="zh-CN" dirty="0"/>
              <a:t>)</a:t>
            </a:r>
            <a:endParaRPr lang="zh-CN" altLang="en-GB" dirty="0"/>
          </a:p>
          <a:p>
            <a:pPr>
              <a:lnSpc>
                <a:spcPct val="120000"/>
              </a:lnSpc>
            </a:pPr>
            <a:r>
              <a:rPr lang="zh-CN" altLang="en-US" dirty="0"/>
              <a:t>组账号文件 </a:t>
            </a:r>
            <a:r>
              <a:rPr lang="zh-CN" altLang="en-GB" dirty="0">
                <a:solidFill>
                  <a:schemeClr val="accent6">
                    <a:lumMod val="75000"/>
                  </a:schemeClr>
                </a:solidFill>
              </a:rPr>
              <a:t>/</a:t>
            </a:r>
            <a:r>
              <a:rPr lang="en-GB" altLang="zh-CN" dirty="0">
                <a:solidFill>
                  <a:schemeClr val="accent6">
                    <a:lumMod val="75000"/>
                  </a:schemeClr>
                </a:solidFill>
              </a:rPr>
              <a:t>etc/</a:t>
            </a:r>
            <a:r>
              <a:rPr lang="en-US" altLang="zh-CN" dirty="0">
                <a:solidFill>
                  <a:schemeClr val="accent6">
                    <a:lumMod val="75000"/>
                  </a:schemeClr>
                </a:solidFill>
              </a:rPr>
              <a:t>group</a:t>
            </a:r>
            <a:endParaRPr lang="zh-CN" altLang="en-GB" dirty="0">
              <a:solidFill>
                <a:schemeClr val="accent6">
                  <a:lumMod val="75000"/>
                </a:schemeClr>
              </a:solidFill>
            </a:endParaRPr>
          </a:p>
          <a:p>
            <a:pPr lvl="1">
              <a:lnSpc>
                <a:spcPct val="120000"/>
              </a:lnSpc>
            </a:pPr>
            <a:r>
              <a:rPr lang="zh-CN" altLang="en-GB" dirty="0"/>
              <a:t>文件权限 </a:t>
            </a:r>
            <a:r>
              <a:rPr lang="en-US" altLang="zh-CN" dirty="0"/>
              <a:t>(-</a:t>
            </a:r>
            <a:r>
              <a:rPr lang="en-US" altLang="zh-CN" dirty="0" err="1"/>
              <a:t>rw</a:t>
            </a:r>
            <a:r>
              <a:rPr lang="en-US" altLang="zh-CN" dirty="0"/>
              <a:t>-r--r-- )</a:t>
            </a:r>
            <a:endParaRPr lang="en-GB" altLang="zh-CN" dirty="0"/>
          </a:p>
          <a:p>
            <a:pPr>
              <a:lnSpc>
                <a:spcPct val="120000"/>
              </a:lnSpc>
            </a:pPr>
            <a:r>
              <a:rPr lang="zh-CN" altLang="en-US" dirty="0"/>
              <a:t>组</a:t>
            </a:r>
            <a:r>
              <a:rPr lang="zh-CN" altLang="en-GB" dirty="0"/>
              <a:t>口令文件 </a:t>
            </a:r>
            <a:r>
              <a:rPr lang="zh-CN" altLang="en-GB" dirty="0">
                <a:solidFill>
                  <a:schemeClr val="accent6">
                    <a:lumMod val="75000"/>
                  </a:schemeClr>
                </a:solidFill>
              </a:rPr>
              <a:t>/</a:t>
            </a:r>
            <a:r>
              <a:rPr lang="en-GB" altLang="zh-CN" dirty="0">
                <a:solidFill>
                  <a:schemeClr val="accent6">
                    <a:lumMod val="75000"/>
                  </a:schemeClr>
                </a:solidFill>
              </a:rPr>
              <a:t>etc/</a:t>
            </a:r>
            <a:r>
              <a:rPr lang="en-US" altLang="zh-CN" dirty="0" err="1">
                <a:solidFill>
                  <a:schemeClr val="accent6">
                    <a:lumMod val="75000"/>
                  </a:schemeClr>
                </a:solidFill>
              </a:rPr>
              <a:t>gshadow</a:t>
            </a:r>
            <a:endParaRPr lang="zh-CN" altLang="en-GB" dirty="0">
              <a:solidFill>
                <a:schemeClr val="accent6">
                  <a:lumMod val="75000"/>
                </a:schemeClr>
              </a:solidFill>
            </a:endParaRPr>
          </a:p>
          <a:p>
            <a:pPr lvl="1">
              <a:lnSpc>
                <a:spcPct val="120000"/>
              </a:lnSpc>
            </a:pPr>
            <a:r>
              <a:rPr lang="zh-CN" altLang="en-GB" dirty="0"/>
              <a:t>文件权限 </a:t>
            </a:r>
            <a:r>
              <a:rPr lang="en-GB" altLang="zh-CN" dirty="0"/>
              <a:t>(-r--------)</a:t>
            </a:r>
            <a:endParaRPr lang="en-US" altLang="zh-CN" dirty="0"/>
          </a:p>
          <a:p>
            <a:endParaRPr lang="zh-CN" altLang="en-US"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smtClean="0"/>
              <a:t>三 账户</a:t>
            </a:r>
            <a:r>
              <a:rPr lang="zh-CN" altLang="en-US" sz="4000" dirty="0"/>
              <a:t>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GB" altLang="zh-CN" sz="4000" dirty="0" err="1">
                <a:solidFill>
                  <a:schemeClr val="accent6">
                    <a:lumMod val="75000"/>
                  </a:schemeClr>
                </a:solidFill>
              </a:rPr>
              <a:t>passwd</a:t>
            </a:r>
            <a:r>
              <a:rPr lang="en-GB" altLang="zh-CN" sz="4000" dirty="0">
                <a:solidFill>
                  <a:schemeClr val="accent6">
                    <a:lumMod val="75000"/>
                  </a:schemeClr>
                </a:solidFill>
              </a:rPr>
              <a:t> </a:t>
            </a:r>
            <a:endParaRPr lang="zh-CN" altLang="en-US" dirty="0"/>
          </a:p>
        </p:txBody>
      </p:sp>
      <p:sp>
        <p:nvSpPr>
          <p:cNvPr id="3" name="内容占位符 2"/>
          <p:cNvSpPr>
            <a:spLocks noGrp="1"/>
          </p:cNvSpPr>
          <p:nvPr>
            <p:ph idx="1"/>
          </p:nvPr>
        </p:nvSpPr>
        <p:spPr>
          <a:xfrm>
            <a:off x="251520" y="1320783"/>
            <a:ext cx="8229600" cy="964704"/>
          </a:xfrm>
        </p:spPr>
        <p:txBody>
          <a:bodyPr/>
          <a:lstStyle/>
          <a:p>
            <a:r>
              <a:rPr lang="zh-CN" altLang="en-US" dirty="0"/>
              <a:t>文件结构</a:t>
            </a:r>
            <a:endParaRPr lang="en-US" altLang="zh-CN" dirty="0"/>
          </a:p>
          <a:p>
            <a:pPr lvl="1"/>
            <a:r>
              <a:rPr lang="zh-CN" altLang="en-US" dirty="0">
                <a:solidFill>
                  <a:srgbClr val="FF0000"/>
                </a:solidFill>
              </a:rPr>
              <a:t>每行</a:t>
            </a:r>
            <a:r>
              <a:rPr lang="zh-CN" altLang="en-US" dirty="0"/>
              <a:t>（每条记录）代表一个</a:t>
            </a:r>
            <a:r>
              <a:rPr lang="zh-CN" altLang="en-US" dirty="0">
                <a:solidFill>
                  <a:srgbClr val="FF0000"/>
                </a:solidFill>
              </a:rPr>
              <a:t>用户账号</a:t>
            </a:r>
          </a:p>
          <a:p>
            <a:pPr lvl="1"/>
            <a:r>
              <a:rPr lang="zh-CN" altLang="en-US" dirty="0"/>
              <a:t>每条记录由用</a:t>
            </a:r>
            <a:r>
              <a:rPr lang="zh-CN" altLang="en-US" dirty="0">
                <a:solidFill>
                  <a:srgbClr val="FF0000"/>
                </a:solidFill>
              </a:rPr>
              <a:t>冒号：间隔</a:t>
            </a:r>
            <a:r>
              <a:rPr lang="zh-CN" altLang="en-US" dirty="0"/>
              <a:t>的</a:t>
            </a:r>
            <a:r>
              <a:rPr lang="zh-CN" altLang="en-US" dirty="0">
                <a:solidFill>
                  <a:srgbClr val="FF0000"/>
                </a:solidFill>
              </a:rPr>
              <a:t>七个字段</a:t>
            </a:r>
            <a:r>
              <a:rPr lang="zh-CN" altLang="en-US" dirty="0"/>
              <a:t>组成</a:t>
            </a:r>
          </a:p>
        </p:txBody>
      </p:sp>
      <p:graphicFrame>
        <p:nvGraphicFramePr>
          <p:cNvPr id="7" name="表格 6"/>
          <p:cNvGraphicFramePr>
            <a:graphicFrameLocks noGrp="1"/>
          </p:cNvGraphicFramePr>
          <p:nvPr>
            <p:extLst>
              <p:ext uri="{D42A27DB-BD31-4B8C-83A1-F6EECF244321}">
                <p14:modId xmlns:p14="http://schemas.microsoft.com/office/powerpoint/2010/main" val="3282310345"/>
              </p:ext>
            </p:extLst>
          </p:nvPr>
        </p:nvGraphicFramePr>
        <p:xfrm>
          <a:off x="179512" y="2996952"/>
          <a:ext cx="8793153" cy="3779520"/>
        </p:xfrm>
        <a:graphic>
          <a:graphicData uri="http://schemas.openxmlformats.org/drawingml/2006/table">
            <a:tbl>
              <a:tblPr firstRow="1" bandRow="1">
                <a:tableStyleId>{21E4AEA4-8DFA-4A89-87EB-49C32662AFE0}</a:tableStyleId>
              </a:tblPr>
              <a:tblGrid>
                <a:gridCol w="1556922">
                  <a:extLst>
                    <a:ext uri="{9D8B030D-6E8A-4147-A177-3AD203B41FA5}">
                      <a16:colId xmlns:a16="http://schemas.microsoft.com/office/drawing/2014/main" val="20000"/>
                    </a:ext>
                  </a:extLst>
                </a:gridCol>
                <a:gridCol w="7236231">
                  <a:extLst>
                    <a:ext uri="{9D8B030D-6E8A-4147-A177-3AD203B41FA5}">
                      <a16:colId xmlns:a16="http://schemas.microsoft.com/office/drawing/2014/main" val="20001"/>
                    </a:ext>
                  </a:extLst>
                </a:gridCol>
              </a:tblGrid>
              <a:tr h="358494">
                <a:tc>
                  <a:txBody>
                    <a:bodyPr/>
                    <a:lstStyle/>
                    <a:p>
                      <a:r>
                        <a:rPr lang="zh-CN" altLang="en-US" sz="2000" dirty="0">
                          <a:solidFill>
                            <a:srgbClr val="C00000"/>
                          </a:solidFill>
                        </a:rPr>
                        <a:t>字段</a:t>
                      </a:r>
                    </a:p>
                  </a:txBody>
                  <a:tcPr/>
                </a:tc>
                <a:tc>
                  <a:txBody>
                    <a:bodyPr/>
                    <a:lstStyle/>
                    <a:p>
                      <a:r>
                        <a:rPr lang="zh-CN" altLang="en-US" sz="2000" dirty="0">
                          <a:solidFill>
                            <a:srgbClr val="C00000"/>
                          </a:solidFill>
                        </a:rPr>
                        <a:t>说明</a:t>
                      </a:r>
                    </a:p>
                  </a:txBody>
                  <a:tcPr/>
                </a:tc>
                <a:extLst>
                  <a:ext uri="{0D108BD9-81ED-4DB2-BD59-A6C34878D82A}">
                    <a16:rowId xmlns:a16="http://schemas.microsoft.com/office/drawing/2014/main" val="10000"/>
                  </a:ext>
                </a:extLst>
              </a:tr>
              <a:tr h="358494">
                <a:tc>
                  <a:txBody>
                    <a:bodyPr/>
                    <a:lstStyle/>
                    <a:p>
                      <a:r>
                        <a:rPr lang="en-US" altLang="zh-CN" sz="2000" dirty="0"/>
                        <a:t>name</a:t>
                      </a:r>
                      <a:endParaRPr lang="zh-CN" altLang="en-US" sz="2000" dirty="0"/>
                    </a:p>
                  </a:txBody>
                  <a:tcPr/>
                </a:tc>
                <a:tc>
                  <a:txBody>
                    <a:bodyPr/>
                    <a:lstStyle/>
                    <a:p>
                      <a:r>
                        <a:rPr lang="zh-CN" altLang="en-US" sz="2000" dirty="0">
                          <a:solidFill>
                            <a:srgbClr val="FF0000"/>
                          </a:solidFill>
                        </a:rPr>
                        <a:t>用户名</a:t>
                      </a:r>
                    </a:p>
                  </a:txBody>
                  <a:tcPr/>
                </a:tc>
                <a:extLst>
                  <a:ext uri="{0D108BD9-81ED-4DB2-BD59-A6C34878D82A}">
                    <a16:rowId xmlns:a16="http://schemas.microsoft.com/office/drawing/2014/main" val="10001"/>
                  </a:ext>
                </a:extLst>
              </a:tr>
              <a:tr h="634258">
                <a:tc>
                  <a:txBody>
                    <a:bodyPr/>
                    <a:lstStyle/>
                    <a:p>
                      <a:r>
                        <a:rPr lang="en-US" altLang="zh-CN" sz="2000" dirty="0"/>
                        <a:t>password</a:t>
                      </a:r>
                      <a:endParaRPr lang="zh-CN" altLang="en-US" sz="2000" dirty="0"/>
                    </a:p>
                  </a:txBody>
                  <a:tcPr/>
                </a:tc>
                <a:tc>
                  <a:txBody>
                    <a:bodyPr/>
                    <a:lstStyle/>
                    <a:p>
                      <a:r>
                        <a:rPr lang="zh-CN" altLang="en-US" sz="2000" dirty="0"/>
                        <a:t>在此文件中的</a:t>
                      </a:r>
                      <a:r>
                        <a:rPr lang="zh-CN" altLang="en-US" sz="2000" dirty="0">
                          <a:solidFill>
                            <a:srgbClr val="FF0000"/>
                          </a:solidFill>
                        </a:rPr>
                        <a:t>口令是</a:t>
                      </a:r>
                      <a:r>
                        <a:rPr lang="en-US" altLang="zh-CN" sz="2000" dirty="0">
                          <a:solidFill>
                            <a:srgbClr val="FF0000"/>
                          </a:solidFill>
                        </a:rPr>
                        <a:t>X</a:t>
                      </a:r>
                      <a:r>
                        <a:rPr lang="zh-CN" altLang="en-US" sz="2000" dirty="0"/>
                        <a:t>，这表示用户的口令是被</a:t>
                      </a:r>
                      <a:r>
                        <a:rPr lang="en-US" altLang="zh-CN" sz="2000" dirty="0"/>
                        <a:t>/etc/shadow</a:t>
                      </a:r>
                      <a:r>
                        <a:rPr lang="zh-CN" altLang="en-US" sz="2000" dirty="0"/>
                        <a:t>文件保护的</a:t>
                      </a:r>
                    </a:p>
                  </a:txBody>
                  <a:tcPr/>
                </a:tc>
                <a:extLst>
                  <a:ext uri="{0D108BD9-81ED-4DB2-BD59-A6C34878D82A}">
                    <a16:rowId xmlns:a16="http://schemas.microsoft.com/office/drawing/2014/main" val="10002"/>
                  </a:ext>
                </a:extLst>
              </a:tr>
              <a:tr h="358494">
                <a:tc>
                  <a:txBody>
                    <a:bodyPr/>
                    <a:lstStyle/>
                    <a:p>
                      <a:r>
                        <a:rPr lang="en-US" altLang="zh-CN" sz="2000" dirty="0" err="1"/>
                        <a:t>uid</a:t>
                      </a:r>
                      <a:endParaRPr lang="zh-CN" altLang="en-US" sz="2000" dirty="0"/>
                    </a:p>
                  </a:txBody>
                  <a:tcPr/>
                </a:tc>
                <a:tc>
                  <a:txBody>
                    <a:bodyPr/>
                    <a:lstStyle/>
                    <a:p>
                      <a:r>
                        <a:rPr lang="zh-CN" altLang="en-US" sz="2000" dirty="0">
                          <a:solidFill>
                            <a:srgbClr val="FF0000"/>
                          </a:solidFill>
                        </a:rPr>
                        <a:t>用户的识别号</a:t>
                      </a:r>
                      <a:r>
                        <a:rPr lang="zh-CN" altLang="en-US" sz="2000" dirty="0"/>
                        <a:t>，是一个数字。每个用户的</a:t>
                      </a:r>
                      <a:r>
                        <a:rPr lang="en-US" altLang="zh-CN" sz="2000" dirty="0"/>
                        <a:t>UID</a:t>
                      </a:r>
                      <a:r>
                        <a:rPr lang="zh-CN" altLang="en-US" sz="2000" dirty="0"/>
                        <a:t>都是唯一的</a:t>
                      </a:r>
                    </a:p>
                  </a:txBody>
                  <a:tcPr/>
                </a:tc>
                <a:extLst>
                  <a:ext uri="{0D108BD9-81ED-4DB2-BD59-A6C34878D82A}">
                    <a16:rowId xmlns:a16="http://schemas.microsoft.com/office/drawing/2014/main" val="10003"/>
                  </a:ext>
                </a:extLst>
              </a:tr>
              <a:tr h="634258">
                <a:tc>
                  <a:txBody>
                    <a:bodyPr/>
                    <a:lstStyle/>
                    <a:p>
                      <a:r>
                        <a:rPr lang="en-US" altLang="zh-CN" sz="2000" dirty="0" err="1"/>
                        <a:t>gid</a:t>
                      </a:r>
                      <a:endParaRPr lang="zh-CN" altLang="en-US" sz="2000" dirty="0"/>
                    </a:p>
                  </a:txBody>
                  <a:tcPr/>
                </a:tc>
                <a:tc>
                  <a:txBody>
                    <a:bodyPr/>
                    <a:lstStyle/>
                    <a:p>
                      <a:r>
                        <a:rPr lang="zh-CN" altLang="en-US" sz="2000" dirty="0"/>
                        <a:t>用户的</a:t>
                      </a:r>
                      <a:r>
                        <a:rPr lang="zh-CN" altLang="en-US" sz="2000" dirty="0">
                          <a:solidFill>
                            <a:srgbClr val="FF0000"/>
                          </a:solidFill>
                        </a:rPr>
                        <a:t>组的识别号</a:t>
                      </a:r>
                      <a:r>
                        <a:rPr lang="zh-CN" altLang="en-US" sz="2000" dirty="0"/>
                        <a:t>，也是一个数字。每个用户账户在建立好后都会有一个主组。主组相同的账户其</a:t>
                      </a:r>
                      <a:r>
                        <a:rPr lang="en-US" altLang="zh-CN" sz="2000" dirty="0"/>
                        <a:t>GID</a:t>
                      </a:r>
                      <a:r>
                        <a:rPr lang="zh-CN" altLang="en-US" sz="2000" dirty="0"/>
                        <a:t>相同</a:t>
                      </a:r>
                    </a:p>
                  </a:txBody>
                  <a:tcPr/>
                </a:tc>
                <a:extLst>
                  <a:ext uri="{0D108BD9-81ED-4DB2-BD59-A6C34878D82A}">
                    <a16:rowId xmlns:a16="http://schemas.microsoft.com/office/drawing/2014/main" val="10004"/>
                  </a:ext>
                </a:extLst>
              </a:tr>
              <a:tr h="358494">
                <a:tc>
                  <a:txBody>
                    <a:bodyPr/>
                    <a:lstStyle/>
                    <a:p>
                      <a:r>
                        <a:rPr lang="en-US" altLang="zh-CN" sz="2000" dirty="0"/>
                        <a:t>description</a:t>
                      </a:r>
                      <a:endParaRPr lang="zh-CN" altLang="en-US" sz="2000" dirty="0"/>
                    </a:p>
                  </a:txBody>
                  <a:tcPr/>
                </a:tc>
                <a:tc>
                  <a:txBody>
                    <a:bodyPr/>
                    <a:lstStyle/>
                    <a:p>
                      <a:r>
                        <a:rPr lang="zh-CN" altLang="en-US" sz="2000" dirty="0">
                          <a:solidFill>
                            <a:srgbClr val="FF0000"/>
                          </a:solidFill>
                        </a:rPr>
                        <a:t>用户信息说明</a:t>
                      </a:r>
                      <a:r>
                        <a:rPr lang="zh-CN" altLang="en-US" sz="2000" dirty="0"/>
                        <a:t>栏，包括地址、电话等</a:t>
                      </a:r>
                      <a:r>
                        <a:rPr lang="zh-CN" altLang="en-US" sz="2000" dirty="0" smtClean="0"/>
                        <a:t>信息；</a:t>
                      </a:r>
                      <a:endParaRPr lang="zh-CN" altLang="en-US" sz="2000" dirty="0"/>
                    </a:p>
                  </a:txBody>
                  <a:tcPr/>
                </a:tc>
                <a:extLst>
                  <a:ext uri="{0D108BD9-81ED-4DB2-BD59-A6C34878D82A}">
                    <a16:rowId xmlns:a16="http://schemas.microsoft.com/office/drawing/2014/main" val="10005"/>
                  </a:ext>
                </a:extLst>
              </a:tr>
              <a:tr h="358494">
                <a:tc>
                  <a:txBody>
                    <a:bodyPr/>
                    <a:lstStyle/>
                    <a:p>
                      <a:r>
                        <a:rPr lang="en-US" altLang="zh-CN" sz="2000" dirty="0"/>
                        <a:t>home</a:t>
                      </a:r>
                      <a:endParaRPr lang="zh-CN" altLang="en-US" sz="2000" dirty="0"/>
                    </a:p>
                  </a:txBody>
                  <a:tcPr/>
                </a:tc>
                <a:tc>
                  <a:txBody>
                    <a:bodyPr/>
                    <a:lstStyle/>
                    <a:p>
                      <a:r>
                        <a:rPr lang="zh-CN" altLang="en-US" sz="2000" dirty="0">
                          <a:solidFill>
                            <a:srgbClr val="FF0000"/>
                          </a:solidFill>
                        </a:rPr>
                        <a:t>用户的主</a:t>
                      </a:r>
                      <a:r>
                        <a:rPr lang="en-US" altLang="zh-CN" sz="2000" dirty="0">
                          <a:solidFill>
                            <a:srgbClr val="FF0000"/>
                          </a:solidFill>
                        </a:rPr>
                        <a:t>/</a:t>
                      </a:r>
                      <a:r>
                        <a:rPr lang="zh-CN" altLang="en-US" sz="2000" dirty="0">
                          <a:solidFill>
                            <a:srgbClr val="FF0000"/>
                          </a:solidFill>
                        </a:rPr>
                        <a:t>家目录</a:t>
                      </a:r>
                      <a:r>
                        <a:rPr lang="zh-CN" altLang="en-US" sz="2000" dirty="0"/>
                        <a:t>，通常在</a:t>
                      </a:r>
                      <a:r>
                        <a:rPr lang="en-US" altLang="zh-CN" sz="2000" dirty="0"/>
                        <a:t>/home</a:t>
                      </a:r>
                      <a:r>
                        <a:rPr lang="zh-CN" altLang="en-US" sz="2000" dirty="0"/>
                        <a:t>下，目录名和账户名相同</a:t>
                      </a:r>
                    </a:p>
                  </a:txBody>
                  <a:tcPr/>
                </a:tc>
                <a:extLst>
                  <a:ext uri="{0D108BD9-81ED-4DB2-BD59-A6C34878D82A}">
                    <a16:rowId xmlns:a16="http://schemas.microsoft.com/office/drawing/2014/main" val="10006"/>
                  </a:ext>
                </a:extLst>
              </a:tr>
              <a:tr h="358494">
                <a:tc>
                  <a:txBody>
                    <a:bodyPr/>
                    <a:lstStyle/>
                    <a:p>
                      <a:r>
                        <a:rPr lang="en-US" altLang="zh-CN" sz="2000" dirty="0"/>
                        <a:t>shell</a:t>
                      </a:r>
                      <a:endParaRPr lang="zh-CN" altLang="en-US" sz="2000" dirty="0"/>
                    </a:p>
                  </a:txBody>
                  <a:tcPr/>
                </a:tc>
                <a:tc>
                  <a:txBody>
                    <a:bodyPr/>
                    <a:lstStyle/>
                    <a:p>
                      <a:r>
                        <a:rPr lang="zh-CN" altLang="en-US" sz="2000" dirty="0"/>
                        <a:t>用户</a:t>
                      </a:r>
                      <a:r>
                        <a:rPr lang="zh-CN" altLang="en-US" sz="2000" dirty="0">
                          <a:solidFill>
                            <a:srgbClr val="FF0000"/>
                          </a:solidFill>
                        </a:rPr>
                        <a:t>登录后启动的</a:t>
                      </a:r>
                      <a:r>
                        <a:rPr lang="en-US" altLang="zh-CN" sz="2000" dirty="0">
                          <a:solidFill>
                            <a:srgbClr val="FF0000"/>
                          </a:solidFill>
                        </a:rPr>
                        <a:t>shell</a:t>
                      </a:r>
                      <a:r>
                        <a:rPr lang="zh-CN" altLang="en-US" sz="2000" dirty="0"/>
                        <a:t>，默认是</a:t>
                      </a:r>
                      <a:r>
                        <a:rPr lang="en-US" altLang="zh-CN" sz="2000" dirty="0"/>
                        <a:t>/bin/bash </a:t>
                      </a:r>
                      <a:endParaRPr lang="zh-CN" altLang="en-US" sz="2000" dirty="0"/>
                    </a:p>
                  </a:txBody>
                  <a:tcPr/>
                </a:tc>
                <a:extLst>
                  <a:ext uri="{0D108BD9-81ED-4DB2-BD59-A6C34878D82A}">
                    <a16:rowId xmlns:a16="http://schemas.microsoft.com/office/drawing/2014/main" val="10007"/>
                  </a:ext>
                </a:extLst>
              </a:tr>
            </a:tbl>
          </a:graphicData>
        </a:graphic>
      </p:graphicFrame>
      <p:sp>
        <p:nvSpPr>
          <p:cNvPr id="4" name="矩形 3"/>
          <p:cNvSpPr/>
          <p:nvPr/>
        </p:nvSpPr>
        <p:spPr>
          <a:xfrm>
            <a:off x="2462337" y="1124744"/>
            <a:ext cx="6681663" cy="830997"/>
          </a:xfrm>
          <a:prstGeom prst="rect">
            <a:avLst/>
          </a:prstGeom>
          <a:solidFill>
            <a:schemeClr val="accent1">
              <a:lumMod val="20000"/>
              <a:lumOff val="80000"/>
            </a:schemeClr>
          </a:solidFill>
        </p:spPr>
        <p:txBody>
          <a:bodyPr wrap="square">
            <a:spAutoFit/>
          </a:bodyPr>
          <a:lstStyle/>
          <a:p>
            <a:r>
              <a:rPr lang="en-US" altLang="zh-CN" sz="2400" dirty="0"/>
              <a:t>[</a:t>
            </a:r>
            <a:r>
              <a:rPr lang="en-US" altLang="zh-CN" sz="2400" dirty="0" err="1"/>
              <a:t>xl@localhost</a:t>
            </a:r>
            <a:r>
              <a:rPr lang="en-US" altLang="zh-CN" sz="2400" dirty="0"/>
              <a:t> ~]$ tail -1 /</a:t>
            </a:r>
            <a:r>
              <a:rPr lang="en-US" altLang="zh-CN" sz="2400" dirty="0" err="1"/>
              <a:t>etc</a:t>
            </a:r>
            <a:r>
              <a:rPr lang="en-US" altLang="zh-CN" sz="2400" dirty="0"/>
              <a:t>/</a:t>
            </a:r>
            <a:r>
              <a:rPr lang="en-US" altLang="zh-CN" sz="2400" dirty="0" err="1"/>
              <a:t>passwd</a:t>
            </a:r>
            <a:endParaRPr lang="en-US" altLang="zh-CN" sz="2400" dirty="0"/>
          </a:p>
          <a:p>
            <a:r>
              <a:rPr lang="en-US" altLang="zh-CN" sz="2400" dirty="0"/>
              <a:t>student5:x:2011:2011::/home/student5:/bin/bash</a:t>
            </a:r>
          </a:p>
        </p:txBody>
      </p:sp>
      <p:sp>
        <p:nvSpPr>
          <p:cNvPr id="5" name="矩形 4"/>
          <p:cNvSpPr/>
          <p:nvPr/>
        </p:nvSpPr>
        <p:spPr>
          <a:xfrm>
            <a:off x="6516215" y="5589240"/>
            <a:ext cx="2456449" cy="369332"/>
          </a:xfrm>
          <a:prstGeom prst="rect">
            <a:avLst/>
          </a:prstGeom>
          <a:solidFill>
            <a:schemeClr val="accent1">
              <a:lumMod val="40000"/>
              <a:lumOff val="60000"/>
            </a:schemeClr>
          </a:solidFill>
        </p:spPr>
        <p:txBody>
          <a:bodyPr wrap="square">
            <a:spAutoFit/>
          </a:bodyPr>
          <a:lstStyle/>
          <a:p>
            <a:r>
              <a:rPr lang="en-US" altLang="zh-CN" dirty="0"/>
              <a:t>$ </a:t>
            </a:r>
            <a:r>
              <a:rPr lang="en-US" altLang="zh-CN" dirty="0" err="1" smtClean="0"/>
              <a:t>chfn</a:t>
            </a:r>
            <a:r>
              <a:rPr lang="en-US" altLang="zh-CN" dirty="0" smtClean="0"/>
              <a:t> </a:t>
            </a:r>
            <a:r>
              <a:rPr lang="zh-CN" altLang="en-US" dirty="0" smtClean="0"/>
              <a:t>命令来修改；</a:t>
            </a:r>
            <a:endParaRPr lang="en-US" altLang="zh-CN" dirty="0"/>
          </a:p>
        </p:txBody>
      </p:sp>
      <p:pic>
        <p:nvPicPr>
          <p:cNvPr id="6" name="图片 5"/>
          <p:cNvPicPr>
            <a:picLocks noChangeAspect="1"/>
          </p:cNvPicPr>
          <p:nvPr/>
        </p:nvPicPr>
        <p:blipFill>
          <a:blip r:embed="rId3"/>
          <a:stretch>
            <a:fillRect/>
          </a:stretch>
        </p:blipFill>
        <p:spPr>
          <a:xfrm>
            <a:off x="943824" y="2362042"/>
            <a:ext cx="8178241" cy="322719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nodeType="clickEffect">
                                  <p:stCondLst>
                                    <p:cond delay="0"/>
                                  </p:stCondLst>
                                  <p:childTnLst>
                                    <p:anim calcmode="lin" valueType="num">
                                      <p:cBhvr additive="base">
                                        <p:cTn id="12" dur="500"/>
                                        <p:tgtEl>
                                          <p:spTgt spid="6"/>
                                        </p:tgtEl>
                                        <p:attrNameLst>
                                          <p:attrName>ppt_x</p:attrName>
                                        </p:attrNameLst>
                                      </p:cBhvr>
                                      <p:tavLst>
                                        <p:tav tm="0">
                                          <p:val>
                                            <p:strVal val="ppt_x"/>
                                          </p:val>
                                        </p:tav>
                                        <p:tav tm="100000">
                                          <p:val>
                                            <p:strVal val="ppt_x"/>
                                          </p:val>
                                        </p:tav>
                                      </p:tavLst>
                                    </p:anim>
                                    <p:anim calcmode="lin" valueType="num">
                                      <p:cBhvr additive="base">
                                        <p:cTn id="13" dur="500"/>
                                        <p:tgtEl>
                                          <p:spTgt spid="6"/>
                                        </p:tgtEl>
                                        <p:attrNameLst>
                                          <p:attrName>ppt_y</p:attrName>
                                        </p:attrNameLst>
                                      </p:cBhvr>
                                      <p:tavLst>
                                        <p:tav tm="0">
                                          <p:val>
                                            <p:strVal val="ppt_y"/>
                                          </p:val>
                                        </p:tav>
                                        <p:tav tm="100000">
                                          <p:val>
                                            <p:strVal val="1+ppt_h/2"/>
                                          </p:val>
                                        </p:tav>
                                      </p:tavLst>
                                    </p:anim>
                                    <p:set>
                                      <p:cBhvr>
                                        <p:cTn id="14"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GB" altLang="zh-CN" sz="4000" dirty="0" err="1">
                <a:solidFill>
                  <a:schemeClr val="accent6">
                    <a:lumMod val="75000"/>
                  </a:schemeClr>
                </a:solidFill>
              </a:rPr>
              <a:t>passwd</a:t>
            </a:r>
            <a:r>
              <a:rPr lang="en-GB" altLang="zh-CN" sz="4000" dirty="0">
                <a:solidFill>
                  <a:schemeClr val="accent6">
                    <a:lumMod val="75000"/>
                  </a:schemeClr>
                </a:solidFill>
              </a:rPr>
              <a:t> </a:t>
            </a:r>
            <a:endParaRPr lang="zh-CN" altLang="en-US" dirty="0"/>
          </a:p>
        </p:txBody>
      </p:sp>
      <p:sp>
        <p:nvSpPr>
          <p:cNvPr id="6" name="文本框 5">
            <a:extLst>
              <a:ext uri="{FF2B5EF4-FFF2-40B4-BE49-F238E27FC236}">
                <a16:creationId xmlns:a16="http://schemas.microsoft.com/office/drawing/2014/main" id="{0B90D5C6-0E5B-4DC8-86E4-DF1B1436446F}"/>
              </a:ext>
            </a:extLst>
          </p:cNvPr>
          <p:cNvSpPr txBox="1"/>
          <p:nvPr/>
        </p:nvSpPr>
        <p:spPr>
          <a:xfrm>
            <a:off x="611560" y="1495639"/>
            <a:ext cx="8335590" cy="4893647"/>
          </a:xfrm>
          <a:prstGeom prst="rect">
            <a:avLst/>
          </a:prstGeom>
          <a:solidFill>
            <a:schemeClr val="accent2">
              <a:lumMod val="60000"/>
              <a:lumOff val="40000"/>
            </a:schemeClr>
          </a:solidFill>
        </p:spPr>
        <p:txBody>
          <a:bodyPr wrap="square" rtlCol="0">
            <a:spAutoFit/>
          </a:bodyPr>
          <a:lstStyle/>
          <a:p>
            <a:r>
              <a:rPr lang="en-US" altLang="zh-CN" sz="2400" dirty="0">
                <a:solidFill>
                  <a:srgbClr val="FF0000"/>
                </a:solidFill>
              </a:rPr>
              <a:t>root</a:t>
            </a:r>
            <a:r>
              <a:rPr lang="en-US" altLang="zh-CN" sz="2400" dirty="0"/>
              <a:t>:x:</a:t>
            </a:r>
            <a:r>
              <a:rPr lang="en-US" altLang="zh-CN" sz="2400" dirty="0">
                <a:solidFill>
                  <a:srgbClr val="FF0000"/>
                </a:solidFill>
              </a:rPr>
              <a:t>0</a:t>
            </a:r>
            <a:r>
              <a:rPr lang="en-US" altLang="zh-CN" sz="2400" dirty="0"/>
              <a:t>:</a:t>
            </a:r>
            <a:r>
              <a:rPr lang="en-US" altLang="zh-CN" sz="2400" dirty="0">
                <a:solidFill>
                  <a:srgbClr val="FF0000"/>
                </a:solidFill>
              </a:rPr>
              <a:t>0</a:t>
            </a:r>
            <a:r>
              <a:rPr lang="en-US" altLang="zh-CN" sz="2400" dirty="0"/>
              <a:t>:root:/root:</a:t>
            </a:r>
            <a:r>
              <a:rPr lang="en-US" altLang="zh-CN" sz="2400" dirty="0">
                <a:solidFill>
                  <a:srgbClr val="FF0000"/>
                </a:solidFill>
              </a:rPr>
              <a:t>/bin/bash</a:t>
            </a:r>
          </a:p>
          <a:p>
            <a:r>
              <a:rPr lang="en-US" altLang="zh-CN" sz="2400" dirty="0"/>
              <a:t>bin:x:1:1:bin:/bin:</a:t>
            </a:r>
            <a:r>
              <a:rPr lang="en-US" altLang="zh-CN" sz="2400" dirty="0">
                <a:solidFill>
                  <a:srgbClr val="FF0000"/>
                </a:solidFill>
              </a:rPr>
              <a:t>/</a:t>
            </a:r>
            <a:r>
              <a:rPr lang="en-US" altLang="zh-CN" sz="2400" dirty="0" err="1">
                <a:solidFill>
                  <a:srgbClr val="FF0000"/>
                </a:solidFill>
              </a:rPr>
              <a:t>sbin</a:t>
            </a:r>
            <a:r>
              <a:rPr lang="en-US" altLang="zh-CN" sz="2400" dirty="0">
                <a:solidFill>
                  <a:srgbClr val="FF0000"/>
                </a:solidFill>
              </a:rPr>
              <a:t>/</a:t>
            </a:r>
            <a:r>
              <a:rPr lang="en-US" altLang="zh-CN" sz="2400" dirty="0" err="1">
                <a:solidFill>
                  <a:srgbClr val="FF0000"/>
                </a:solidFill>
              </a:rPr>
              <a:t>nologin</a:t>
            </a:r>
            <a:endParaRPr lang="en-US" altLang="zh-CN" sz="2400" dirty="0">
              <a:solidFill>
                <a:srgbClr val="FF0000"/>
              </a:solidFill>
            </a:endParaRPr>
          </a:p>
          <a:p>
            <a:r>
              <a:rPr lang="en-US" altLang="zh-CN" sz="2400" dirty="0"/>
              <a:t>daemon:x:2:2:daemon:/</a:t>
            </a:r>
            <a:r>
              <a:rPr lang="en-US" altLang="zh-CN" sz="2400" dirty="0" err="1"/>
              <a:t>sbin</a:t>
            </a:r>
            <a:r>
              <a:rPr lang="en-US" altLang="zh-CN" sz="2400" dirty="0"/>
              <a:t>:/</a:t>
            </a:r>
            <a:r>
              <a:rPr lang="en-US" altLang="zh-CN" sz="2400" dirty="0" err="1"/>
              <a:t>sbin</a:t>
            </a:r>
            <a:r>
              <a:rPr lang="en-US" altLang="zh-CN" sz="2400" dirty="0"/>
              <a:t>/</a:t>
            </a:r>
            <a:r>
              <a:rPr lang="en-US" altLang="zh-CN" sz="2400" dirty="0" err="1"/>
              <a:t>nologin</a:t>
            </a:r>
            <a:endParaRPr lang="en-US" altLang="zh-CN" sz="2400" dirty="0"/>
          </a:p>
          <a:p>
            <a:r>
              <a:rPr lang="en-US" altLang="zh-CN" sz="2400" dirty="0"/>
              <a:t>adm:x:3:4:adm:/var/</a:t>
            </a:r>
            <a:r>
              <a:rPr lang="en-US" altLang="zh-CN" sz="2400" dirty="0" err="1"/>
              <a:t>adm</a:t>
            </a:r>
            <a:r>
              <a:rPr lang="en-US" altLang="zh-CN" sz="2400" dirty="0"/>
              <a:t>:/</a:t>
            </a:r>
            <a:r>
              <a:rPr lang="en-US" altLang="zh-CN" sz="2400" dirty="0" err="1"/>
              <a:t>sbin</a:t>
            </a:r>
            <a:r>
              <a:rPr lang="en-US" altLang="zh-CN" sz="2400" dirty="0"/>
              <a:t>/</a:t>
            </a:r>
            <a:r>
              <a:rPr lang="en-US" altLang="zh-CN" sz="2400" dirty="0" err="1"/>
              <a:t>nologin</a:t>
            </a:r>
            <a:endParaRPr lang="en-US" altLang="zh-CN" sz="2400" dirty="0"/>
          </a:p>
          <a:p>
            <a:r>
              <a:rPr lang="en-US" altLang="zh-CN" sz="2400" dirty="0"/>
              <a:t>······</a:t>
            </a:r>
          </a:p>
          <a:p>
            <a:r>
              <a:rPr lang="en-US" altLang="zh-CN" sz="2400" dirty="0"/>
              <a:t>shutdown:x:6:0:shutdown:/</a:t>
            </a:r>
            <a:r>
              <a:rPr lang="en-US" altLang="zh-CN" sz="2400" dirty="0" err="1"/>
              <a:t>sbin</a:t>
            </a:r>
            <a:r>
              <a:rPr lang="en-US" altLang="zh-CN" sz="2400" dirty="0"/>
              <a:t>:/</a:t>
            </a:r>
            <a:r>
              <a:rPr lang="en-US" altLang="zh-CN" sz="2400" dirty="0" err="1"/>
              <a:t>sbin</a:t>
            </a:r>
            <a:r>
              <a:rPr lang="en-US" altLang="zh-CN" sz="2400" dirty="0"/>
              <a:t>/shutdown</a:t>
            </a:r>
          </a:p>
          <a:p>
            <a:r>
              <a:rPr lang="en-US" altLang="zh-CN" sz="2400" dirty="0"/>
              <a:t>halt:x:7:0:halt:/</a:t>
            </a:r>
            <a:r>
              <a:rPr lang="en-US" altLang="zh-CN" sz="2400" dirty="0" err="1"/>
              <a:t>sbin</a:t>
            </a:r>
            <a:r>
              <a:rPr lang="en-US" altLang="zh-CN" sz="2400" dirty="0"/>
              <a:t>:/</a:t>
            </a:r>
            <a:r>
              <a:rPr lang="en-US" altLang="zh-CN" sz="2400" dirty="0" err="1"/>
              <a:t>sbin</a:t>
            </a:r>
            <a:r>
              <a:rPr lang="en-US" altLang="zh-CN" sz="2400" dirty="0"/>
              <a:t>/halt</a:t>
            </a:r>
          </a:p>
          <a:p>
            <a:r>
              <a:rPr lang="en-US" altLang="zh-CN" sz="2400" dirty="0"/>
              <a:t>mail:x:8:12:mail:/var/spool/mail:/</a:t>
            </a:r>
            <a:r>
              <a:rPr lang="en-US" altLang="zh-CN" sz="2400" dirty="0" err="1"/>
              <a:t>sbin</a:t>
            </a:r>
            <a:r>
              <a:rPr lang="en-US" altLang="zh-CN" sz="2400" dirty="0"/>
              <a:t>/</a:t>
            </a:r>
            <a:r>
              <a:rPr lang="en-US" altLang="zh-CN" sz="2400" dirty="0" err="1"/>
              <a:t>nologin</a:t>
            </a:r>
            <a:endParaRPr lang="en-US" altLang="zh-CN" sz="2400" dirty="0"/>
          </a:p>
          <a:p>
            <a:r>
              <a:rPr lang="en-US" altLang="zh-CN" sz="2400" dirty="0"/>
              <a:t>······</a:t>
            </a:r>
          </a:p>
          <a:p>
            <a:r>
              <a:rPr lang="en-US" altLang="zh-CN" sz="2400" dirty="0"/>
              <a:t>ftp:x:14:50:FTP User:/var/ftp:/</a:t>
            </a:r>
            <a:r>
              <a:rPr lang="en-US" altLang="zh-CN" sz="2400" dirty="0" err="1"/>
              <a:t>sbin</a:t>
            </a:r>
            <a:r>
              <a:rPr lang="en-US" altLang="zh-CN" sz="2400" dirty="0"/>
              <a:t>/</a:t>
            </a:r>
            <a:r>
              <a:rPr lang="en-US" altLang="zh-CN" sz="2400" dirty="0" err="1"/>
              <a:t>nologin</a:t>
            </a:r>
            <a:endParaRPr lang="en-US" altLang="zh-CN" sz="2400" dirty="0"/>
          </a:p>
          <a:p>
            <a:r>
              <a:rPr lang="en-US" altLang="zh-CN" sz="2400" dirty="0"/>
              <a:t>······</a:t>
            </a:r>
          </a:p>
          <a:p>
            <a:r>
              <a:rPr lang="en-US" altLang="zh-CN" sz="2400" dirty="0"/>
              <a:t>tcpdump:x:72:72::/:/</a:t>
            </a:r>
            <a:r>
              <a:rPr lang="en-US" altLang="zh-CN" sz="2400" dirty="0" err="1"/>
              <a:t>sbin</a:t>
            </a:r>
            <a:r>
              <a:rPr lang="en-US" altLang="zh-CN" sz="2400" dirty="0"/>
              <a:t>/</a:t>
            </a:r>
            <a:r>
              <a:rPr lang="en-US" altLang="zh-CN" sz="2400" dirty="0" err="1"/>
              <a:t>nologin</a:t>
            </a:r>
            <a:endParaRPr lang="en-US" altLang="zh-CN" sz="2400" dirty="0"/>
          </a:p>
          <a:p>
            <a:r>
              <a:rPr lang="en-US" altLang="zh-CN" sz="2400" dirty="0">
                <a:solidFill>
                  <a:srgbClr val="FF0000"/>
                </a:solidFill>
              </a:rPr>
              <a:t>lily</a:t>
            </a:r>
            <a:r>
              <a:rPr lang="en-US" altLang="zh-CN" sz="2400" dirty="0"/>
              <a:t>:x:</a:t>
            </a:r>
            <a:r>
              <a:rPr lang="en-US" altLang="zh-CN" sz="2400" dirty="0">
                <a:solidFill>
                  <a:srgbClr val="FF0000"/>
                </a:solidFill>
              </a:rPr>
              <a:t>1000</a:t>
            </a:r>
            <a:r>
              <a:rPr lang="en-US" altLang="zh-CN" sz="2400" dirty="0"/>
              <a:t>:</a:t>
            </a:r>
            <a:r>
              <a:rPr lang="en-US" altLang="zh-CN" sz="2400" dirty="0">
                <a:solidFill>
                  <a:srgbClr val="FF0000"/>
                </a:solidFill>
              </a:rPr>
              <a:t>1000</a:t>
            </a:r>
            <a:r>
              <a:rPr lang="en-US" altLang="zh-CN" sz="2400" dirty="0"/>
              <a:t>:lily:</a:t>
            </a:r>
            <a:r>
              <a:rPr lang="en-US" altLang="zh-CN" sz="2400" dirty="0">
                <a:solidFill>
                  <a:srgbClr val="FF0000"/>
                </a:solidFill>
              </a:rPr>
              <a:t>/home/lily</a:t>
            </a:r>
            <a:r>
              <a:rPr lang="en-US" altLang="zh-CN" sz="2400" dirty="0"/>
              <a:t>:</a:t>
            </a:r>
            <a:r>
              <a:rPr lang="en-US" altLang="zh-CN" sz="2400" dirty="0">
                <a:solidFill>
                  <a:srgbClr val="FF0000"/>
                </a:solidFill>
              </a:rPr>
              <a:t>/bin/bash</a:t>
            </a:r>
            <a:endParaRPr lang="zh-CN" altLang="en-US" dirty="0">
              <a:solidFill>
                <a:srgbClr val="FF0000"/>
              </a:solidFill>
            </a:endParaRPr>
          </a:p>
        </p:txBody>
      </p:sp>
      <p:cxnSp>
        <p:nvCxnSpPr>
          <p:cNvPr id="4" name="直接箭头连接符 3">
            <a:extLst>
              <a:ext uri="{FF2B5EF4-FFF2-40B4-BE49-F238E27FC236}">
                <a16:creationId xmlns:a16="http://schemas.microsoft.com/office/drawing/2014/main" id="{E91462F4-0829-428F-B89E-AD2C0233064E}"/>
              </a:ext>
            </a:extLst>
          </p:cNvPr>
          <p:cNvCxnSpPr/>
          <p:nvPr/>
        </p:nvCxnSpPr>
        <p:spPr bwMode="auto">
          <a:xfrm flipV="1">
            <a:off x="5364088" y="1844824"/>
            <a:ext cx="576064" cy="288032"/>
          </a:xfrm>
          <a:prstGeom prst="straightConnector1">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 name="文本框 4">
            <a:extLst>
              <a:ext uri="{FF2B5EF4-FFF2-40B4-BE49-F238E27FC236}">
                <a16:creationId xmlns:a16="http://schemas.microsoft.com/office/drawing/2014/main" id="{48E0AE1A-8193-4CC5-9308-B13B96BA7F01}"/>
              </a:ext>
            </a:extLst>
          </p:cNvPr>
          <p:cNvSpPr txBox="1"/>
          <p:nvPr/>
        </p:nvSpPr>
        <p:spPr>
          <a:xfrm>
            <a:off x="5952780" y="1556792"/>
            <a:ext cx="2711048" cy="707886"/>
          </a:xfrm>
          <a:prstGeom prst="rect">
            <a:avLst/>
          </a:prstGeom>
          <a:solidFill>
            <a:schemeClr val="bg1">
              <a:lumMod val="85000"/>
            </a:schemeClr>
          </a:solidFill>
        </p:spPr>
        <p:txBody>
          <a:bodyPr wrap="square" rtlCol="0">
            <a:spAutoFit/>
          </a:bodyPr>
          <a:lstStyle/>
          <a:p>
            <a:r>
              <a:rPr lang="zh-CN" altLang="en-US" sz="2000" b="1" dirty="0">
                <a:solidFill>
                  <a:srgbClr val="0000CC"/>
                </a:solidFill>
              </a:rPr>
              <a:t>使账号在登录时无法获得</a:t>
            </a:r>
            <a:r>
              <a:rPr lang="en-US" altLang="zh-CN" sz="2000" b="1" dirty="0">
                <a:solidFill>
                  <a:srgbClr val="0000CC"/>
                </a:solidFill>
              </a:rPr>
              <a:t>shell</a:t>
            </a:r>
            <a:r>
              <a:rPr lang="zh-CN" altLang="en-US" sz="2000" b="1" dirty="0">
                <a:solidFill>
                  <a:srgbClr val="0000CC"/>
                </a:solidFill>
              </a:rPr>
              <a:t>环境</a:t>
            </a:r>
          </a:p>
        </p:txBody>
      </p:sp>
    </p:spTree>
    <p:extLst>
      <p:ext uri="{BB962C8B-B14F-4D97-AF65-F5344CB8AC3E}">
        <p14:creationId xmlns:p14="http://schemas.microsoft.com/office/powerpoint/2010/main" val="348992020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8" y="241598"/>
            <a:ext cx="8386439" cy="1052513"/>
          </a:xfrm>
        </p:spPr>
        <p:txBody>
          <a:bodyPr/>
          <a:lstStyle/>
          <a:p>
            <a:r>
              <a:rPr lang="zh-CN" altLang="en-US" sz="4000" dirty="0"/>
              <a:t>三 账户系统文件</a:t>
            </a:r>
            <a:r>
              <a:rPr lang="en-US" altLang="zh-CN" sz="44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etc/shadow</a:t>
            </a:r>
            <a:endParaRPr lang="zh-CN" altLang="en-US" dirty="0"/>
          </a:p>
        </p:txBody>
      </p:sp>
      <p:graphicFrame>
        <p:nvGraphicFramePr>
          <p:cNvPr id="7" name="表格 6"/>
          <p:cNvGraphicFramePr>
            <a:graphicFrameLocks noGrp="1"/>
          </p:cNvGraphicFramePr>
          <p:nvPr>
            <p:extLst>
              <p:ext uri="{D42A27DB-BD31-4B8C-83A1-F6EECF244321}">
                <p14:modId xmlns:p14="http://schemas.microsoft.com/office/powerpoint/2010/main" val="3797068405"/>
              </p:ext>
            </p:extLst>
          </p:nvPr>
        </p:nvGraphicFramePr>
        <p:xfrm>
          <a:off x="827584" y="2924944"/>
          <a:ext cx="8172400" cy="3810000"/>
        </p:xfrm>
        <a:graphic>
          <a:graphicData uri="http://schemas.openxmlformats.org/drawingml/2006/table">
            <a:tbl>
              <a:tblPr firstRow="1" bandRow="1">
                <a:tableStyleId>{21E4AEA4-8DFA-4A89-87EB-49C32662AFE0}</a:tableStyleId>
              </a:tblPr>
              <a:tblGrid>
                <a:gridCol w="2354835">
                  <a:extLst>
                    <a:ext uri="{9D8B030D-6E8A-4147-A177-3AD203B41FA5}">
                      <a16:colId xmlns:a16="http://schemas.microsoft.com/office/drawing/2014/main" val="20000"/>
                    </a:ext>
                  </a:extLst>
                </a:gridCol>
                <a:gridCol w="5817565">
                  <a:extLst>
                    <a:ext uri="{9D8B030D-6E8A-4147-A177-3AD203B41FA5}">
                      <a16:colId xmlns:a16="http://schemas.microsoft.com/office/drawing/2014/main" val="20001"/>
                    </a:ext>
                  </a:extLst>
                </a:gridCol>
              </a:tblGrid>
              <a:tr h="234950">
                <a:tc>
                  <a:txBody>
                    <a:bodyPr/>
                    <a:lstStyle/>
                    <a:p>
                      <a:r>
                        <a:rPr lang="zh-CN" altLang="en-US" sz="1900" dirty="0">
                          <a:solidFill>
                            <a:srgbClr val="C00000"/>
                          </a:solidFill>
                        </a:rPr>
                        <a:t>字段</a:t>
                      </a:r>
                    </a:p>
                  </a:txBody>
                  <a:tcPr/>
                </a:tc>
                <a:tc>
                  <a:txBody>
                    <a:bodyPr/>
                    <a:lstStyle/>
                    <a:p>
                      <a:r>
                        <a:rPr lang="zh-CN" altLang="en-US" sz="1900" dirty="0">
                          <a:solidFill>
                            <a:srgbClr val="C00000"/>
                          </a:solidFill>
                        </a:rPr>
                        <a:t>说明</a:t>
                      </a:r>
                    </a:p>
                  </a:txBody>
                  <a:tcPr/>
                </a:tc>
                <a:extLst>
                  <a:ext uri="{0D108BD9-81ED-4DB2-BD59-A6C34878D82A}">
                    <a16:rowId xmlns:a16="http://schemas.microsoft.com/office/drawing/2014/main" val="10000"/>
                  </a:ext>
                </a:extLst>
              </a:tr>
              <a:tr h="270758">
                <a:tc>
                  <a:txBody>
                    <a:bodyPr/>
                    <a:lstStyle/>
                    <a:p>
                      <a:r>
                        <a:rPr lang="zh-CN" altLang="en-US" sz="1900" dirty="0"/>
                        <a:t>用户名</a:t>
                      </a:r>
                    </a:p>
                  </a:txBody>
                  <a:tcPr/>
                </a:tc>
                <a:tc>
                  <a:txBody>
                    <a:bodyPr/>
                    <a:lstStyle/>
                    <a:p>
                      <a:r>
                        <a:rPr lang="zh-CN" altLang="en-US" sz="1900" dirty="0"/>
                        <a:t>用户</a:t>
                      </a:r>
                      <a:r>
                        <a:rPr lang="zh-CN" altLang="en-US" sz="1900" dirty="0">
                          <a:solidFill>
                            <a:srgbClr val="FF0000"/>
                          </a:solidFill>
                        </a:rPr>
                        <a:t>登录名</a:t>
                      </a:r>
                    </a:p>
                  </a:txBody>
                  <a:tcPr/>
                </a:tc>
                <a:extLst>
                  <a:ext uri="{0D108BD9-81ED-4DB2-BD59-A6C34878D82A}">
                    <a16:rowId xmlns:a16="http://schemas.microsoft.com/office/drawing/2014/main" val="10001"/>
                  </a:ext>
                </a:extLst>
              </a:tr>
              <a:tr h="234558">
                <a:tc>
                  <a:txBody>
                    <a:bodyPr/>
                    <a:lstStyle/>
                    <a:p>
                      <a:r>
                        <a:rPr lang="zh-CN" altLang="en-US" sz="1900" dirty="0"/>
                        <a:t>口令</a:t>
                      </a:r>
                    </a:p>
                  </a:txBody>
                  <a:tcPr/>
                </a:tc>
                <a:tc>
                  <a:txBody>
                    <a:bodyPr/>
                    <a:lstStyle/>
                    <a:p>
                      <a:r>
                        <a:rPr lang="zh-CN" altLang="en-US" sz="1900" dirty="0"/>
                        <a:t>用户的</a:t>
                      </a:r>
                      <a:r>
                        <a:rPr lang="zh-CN" altLang="en-US" sz="1900" dirty="0">
                          <a:solidFill>
                            <a:srgbClr val="FF0000"/>
                          </a:solidFill>
                        </a:rPr>
                        <a:t>密码</a:t>
                      </a:r>
                      <a:r>
                        <a:rPr lang="zh-CN" altLang="en-US" sz="1900" dirty="0"/>
                        <a:t>，是加密过的（</a:t>
                      </a:r>
                      <a:r>
                        <a:rPr lang="en-US" altLang="zh-CN" sz="1900" dirty="0"/>
                        <a:t>MD5</a:t>
                      </a:r>
                      <a:r>
                        <a:rPr lang="zh-CN" altLang="en-US" sz="1900" dirty="0"/>
                        <a:t>）</a:t>
                      </a:r>
                    </a:p>
                  </a:txBody>
                  <a:tcPr/>
                </a:tc>
                <a:extLst>
                  <a:ext uri="{0D108BD9-81ED-4DB2-BD59-A6C34878D82A}">
                    <a16:rowId xmlns:a16="http://schemas.microsoft.com/office/drawing/2014/main" val="10002"/>
                  </a:ext>
                </a:extLst>
              </a:tr>
              <a:tr h="370840">
                <a:tc>
                  <a:txBody>
                    <a:bodyPr/>
                    <a:lstStyle/>
                    <a:p>
                      <a:r>
                        <a:rPr lang="zh-CN" altLang="en-US" sz="1900" dirty="0"/>
                        <a:t>最后一次修改的时间</a:t>
                      </a:r>
                    </a:p>
                  </a:txBody>
                  <a:tcPr/>
                </a:tc>
                <a:tc>
                  <a:txBody>
                    <a:bodyPr/>
                    <a:lstStyle/>
                    <a:p>
                      <a:r>
                        <a:rPr lang="zh-CN" altLang="en-US" sz="1900" dirty="0"/>
                        <a:t>从</a:t>
                      </a:r>
                      <a:r>
                        <a:rPr lang="en-US" altLang="zh-CN" sz="1900" dirty="0"/>
                        <a:t>1970</a:t>
                      </a:r>
                      <a:r>
                        <a:rPr lang="zh-CN" altLang="en-US" sz="1900" dirty="0"/>
                        <a:t>年</a:t>
                      </a:r>
                      <a:r>
                        <a:rPr lang="en-US" altLang="zh-CN" sz="1900" dirty="0"/>
                        <a:t>1</a:t>
                      </a:r>
                      <a:r>
                        <a:rPr lang="zh-CN" altLang="en-US" sz="1900" dirty="0"/>
                        <a:t>月</a:t>
                      </a:r>
                      <a:r>
                        <a:rPr lang="en-US" altLang="zh-CN" sz="1900" dirty="0"/>
                        <a:t>1</a:t>
                      </a:r>
                      <a:r>
                        <a:rPr lang="zh-CN" altLang="en-US" sz="1900" dirty="0"/>
                        <a:t>日起，到用户</a:t>
                      </a:r>
                      <a:r>
                        <a:rPr lang="zh-CN" altLang="en-US" sz="1900" dirty="0">
                          <a:solidFill>
                            <a:srgbClr val="FF0000"/>
                          </a:solidFill>
                        </a:rPr>
                        <a:t>最后一次更改密码的天数</a:t>
                      </a:r>
                    </a:p>
                  </a:txBody>
                  <a:tcPr/>
                </a:tc>
                <a:extLst>
                  <a:ext uri="{0D108BD9-81ED-4DB2-BD59-A6C34878D82A}">
                    <a16:rowId xmlns:a16="http://schemas.microsoft.com/office/drawing/2014/main" val="10003"/>
                  </a:ext>
                </a:extLst>
              </a:tr>
              <a:tr h="370840">
                <a:tc>
                  <a:txBody>
                    <a:bodyPr/>
                    <a:lstStyle/>
                    <a:p>
                      <a:r>
                        <a:rPr lang="zh-CN" altLang="en-US" sz="1900" dirty="0"/>
                        <a:t>最小时间间隔</a:t>
                      </a:r>
                    </a:p>
                  </a:txBody>
                  <a:tcPr/>
                </a:tc>
                <a:tc>
                  <a:txBody>
                    <a:bodyPr/>
                    <a:lstStyle/>
                    <a:p>
                      <a:r>
                        <a:rPr lang="zh-CN" altLang="en-US" sz="1900" dirty="0"/>
                        <a:t>从</a:t>
                      </a:r>
                      <a:r>
                        <a:rPr lang="en-US" altLang="zh-CN" sz="1900" dirty="0"/>
                        <a:t>1970</a:t>
                      </a:r>
                      <a:r>
                        <a:rPr lang="zh-CN" altLang="en-US" sz="1900" dirty="0"/>
                        <a:t>年</a:t>
                      </a:r>
                      <a:r>
                        <a:rPr lang="en-US" altLang="zh-CN" sz="1900" dirty="0"/>
                        <a:t>1</a:t>
                      </a:r>
                      <a:r>
                        <a:rPr lang="zh-CN" altLang="en-US" sz="1900" dirty="0"/>
                        <a:t>月</a:t>
                      </a:r>
                      <a:r>
                        <a:rPr lang="en-US" altLang="zh-CN" sz="1900" dirty="0"/>
                        <a:t>1</a:t>
                      </a:r>
                      <a:r>
                        <a:rPr lang="zh-CN" altLang="en-US" sz="1900" dirty="0"/>
                        <a:t>日起，到用户</a:t>
                      </a:r>
                      <a:r>
                        <a:rPr lang="zh-CN" altLang="en-US" sz="1900" dirty="0">
                          <a:solidFill>
                            <a:srgbClr val="FF0000"/>
                          </a:solidFill>
                        </a:rPr>
                        <a:t>应该更改密码的天数</a:t>
                      </a:r>
                    </a:p>
                  </a:txBody>
                  <a:tcPr/>
                </a:tc>
                <a:extLst>
                  <a:ext uri="{0D108BD9-81ED-4DB2-BD59-A6C34878D82A}">
                    <a16:rowId xmlns:a16="http://schemas.microsoft.com/office/drawing/2014/main" val="10004"/>
                  </a:ext>
                </a:extLst>
              </a:tr>
              <a:tr h="370840">
                <a:tc>
                  <a:txBody>
                    <a:bodyPr/>
                    <a:lstStyle/>
                    <a:p>
                      <a:r>
                        <a:rPr lang="zh-CN" altLang="en-US" sz="1900" dirty="0"/>
                        <a:t>最大时间间隔</a:t>
                      </a:r>
                    </a:p>
                  </a:txBody>
                  <a:tcPr/>
                </a:tc>
                <a:tc>
                  <a:txBody>
                    <a:bodyPr/>
                    <a:lstStyle/>
                    <a:p>
                      <a:r>
                        <a:rPr lang="zh-CN" altLang="en-US" sz="1900" dirty="0"/>
                        <a:t>从</a:t>
                      </a:r>
                      <a:r>
                        <a:rPr lang="en-US" altLang="zh-CN" sz="1900" dirty="0"/>
                        <a:t>1970</a:t>
                      </a:r>
                      <a:r>
                        <a:rPr lang="zh-CN" altLang="en-US" sz="1900" dirty="0"/>
                        <a:t>年</a:t>
                      </a:r>
                      <a:r>
                        <a:rPr lang="en-US" altLang="zh-CN" sz="1900" dirty="0"/>
                        <a:t>1</a:t>
                      </a:r>
                      <a:r>
                        <a:rPr lang="zh-CN" altLang="en-US" sz="1900" dirty="0"/>
                        <a:t>月</a:t>
                      </a:r>
                      <a:r>
                        <a:rPr lang="en-US" altLang="zh-CN" sz="1900" dirty="0"/>
                        <a:t>1</a:t>
                      </a:r>
                      <a:r>
                        <a:rPr lang="zh-CN" altLang="en-US" sz="1900" dirty="0"/>
                        <a:t>日起，到用户</a:t>
                      </a:r>
                      <a:r>
                        <a:rPr lang="zh-CN" altLang="en-US" sz="1900" dirty="0">
                          <a:solidFill>
                            <a:srgbClr val="FF0000"/>
                          </a:solidFill>
                        </a:rPr>
                        <a:t>必须更改密码的天数</a:t>
                      </a:r>
                    </a:p>
                  </a:txBody>
                  <a:tcPr/>
                </a:tc>
                <a:extLst>
                  <a:ext uri="{0D108BD9-81ED-4DB2-BD59-A6C34878D82A}">
                    <a16:rowId xmlns:a16="http://schemas.microsoft.com/office/drawing/2014/main" val="10005"/>
                  </a:ext>
                </a:extLst>
              </a:tr>
              <a:tr h="370840">
                <a:tc>
                  <a:txBody>
                    <a:bodyPr/>
                    <a:lstStyle/>
                    <a:p>
                      <a:r>
                        <a:rPr lang="zh-CN" altLang="en-US" sz="1900" dirty="0"/>
                        <a:t>警告时间</a:t>
                      </a:r>
                    </a:p>
                  </a:txBody>
                  <a:tcPr/>
                </a:tc>
                <a:tc>
                  <a:txBody>
                    <a:bodyPr/>
                    <a:lstStyle/>
                    <a:p>
                      <a:r>
                        <a:rPr lang="zh-CN" altLang="en-US" sz="1900" dirty="0"/>
                        <a:t>在用户密码过期之前多少天</a:t>
                      </a:r>
                      <a:r>
                        <a:rPr lang="zh-CN" altLang="en-US" sz="1900" dirty="0">
                          <a:solidFill>
                            <a:srgbClr val="FF0000"/>
                          </a:solidFill>
                        </a:rPr>
                        <a:t>提醒用户更新</a:t>
                      </a:r>
                    </a:p>
                  </a:txBody>
                  <a:tcPr/>
                </a:tc>
                <a:extLst>
                  <a:ext uri="{0D108BD9-81ED-4DB2-BD59-A6C34878D82A}">
                    <a16:rowId xmlns:a16="http://schemas.microsoft.com/office/drawing/2014/main" val="10006"/>
                  </a:ext>
                </a:extLst>
              </a:tr>
              <a:tr h="123613">
                <a:tc>
                  <a:txBody>
                    <a:bodyPr/>
                    <a:lstStyle/>
                    <a:p>
                      <a:r>
                        <a:rPr lang="zh-CN" altLang="en-US" sz="1900" dirty="0"/>
                        <a:t>不活动时间</a:t>
                      </a:r>
                    </a:p>
                  </a:txBody>
                  <a:tcPr/>
                </a:tc>
                <a:tc>
                  <a:txBody>
                    <a:bodyPr/>
                    <a:lstStyle/>
                    <a:p>
                      <a:r>
                        <a:rPr lang="zh-CN" altLang="en-US" sz="1900" dirty="0"/>
                        <a:t>在用户密码过期之后到禁用账户的天数（</a:t>
                      </a:r>
                      <a:r>
                        <a:rPr lang="zh-CN" altLang="en-US" sz="1900" dirty="0">
                          <a:solidFill>
                            <a:srgbClr val="FF0000"/>
                          </a:solidFill>
                        </a:rPr>
                        <a:t>宽限时间</a:t>
                      </a:r>
                      <a:r>
                        <a:rPr lang="zh-CN" altLang="en-US" sz="1900" dirty="0"/>
                        <a:t>）</a:t>
                      </a:r>
                    </a:p>
                  </a:txBody>
                  <a:tcPr/>
                </a:tc>
                <a:extLst>
                  <a:ext uri="{0D108BD9-81ED-4DB2-BD59-A6C34878D82A}">
                    <a16:rowId xmlns:a16="http://schemas.microsoft.com/office/drawing/2014/main" val="10007"/>
                  </a:ext>
                </a:extLst>
              </a:tr>
              <a:tr h="242147">
                <a:tc>
                  <a:txBody>
                    <a:bodyPr/>
                    <a:lstStyle/>
                    <a:p>
                      <a:r>
                        <a:rPr lang="zh-CN" altLang="en-US" sz="1900" dirty="0">
                          <a:solidFill>
                            <a:schemeClr val="tx1"/>
                          </a:solidFill>
                        </a:rPr>
                        <a:t>失效时间</a:t>
                      </a:r>
                    </a:p>
                  </a:txBody>
                  <a:tcPr/>
                </a:tc>
                <a:tc>
                  <a:txBody>
                    <a:bodyPr/>
                    <a:lstStyle/>
                    <a:p>
                      <a:r>
                        <a:rPr lang="zh-CN" altLang="en-US" sz="1900" dirty="0"/>
                        <a:t>从</a:t>
                      </a:r>
                      <a:r>
                        <a:rPr lang="en-US" altLang="zh-CN" sz="1900" dirty="0"/>
                        <a:t>1970</a:t>
                      </a:r>
                      <a:r>
                        <a:rPr lang="zh-CN" altLang="en-US" sz="1900" dirty="0"/>
                        <a:t>年</a:t>
                      </a:r>
                      <a:r>
                        <a:rPr lang="en-US" altLang="zh-CN" sz="1900" dirty="0"/>
                        <a:t>1</a:t>
                      </a:r>
                      <a:r>
                        <a:rPr lang="zh-CN" altLang="en-US" sz="1900" dirty="0"/>
                        <a:t>月</a:t>
                      </a:r>
                      <a:r>
                        <a:rPr lang="en-US" altLang="zh-CN" sz="1900" dirty="0"/>
                        <a:t>1</a:t>
                      </a:r>
                      <a:r>
                        <a:rPr lang="zh-CN" altLang="en-US" sz="1900" dirty="0"/>
                        <a:t>日起，到</a:t>
                      </a:r>
                      <a:r>
                        <a:rPr lang="zh-CN" altLang="en-US" sz="1900" dirty="0">
                          <a:solidFill>
                            <a:srgbClr val="FF0000"/>
                          </a:solidFill>
                        </a:rPr>
                        <a:t>账户被禁用（失效）的天数</a:t>
                      </a:r>
                    </a:p>
                  </a:txBody>
                  <a:tcPr/>
                </a:tc>
                <a:extLst>
                  <a:ext uri="{0D108BD9-81ED-4DB2-BD59-A6C34878D82A}">
                    <a16:rowId xmlns:a16="http://schemas.microsoft.com/office/drawing/2014/main" val="10008"/>
                  </a:ext>
                </a:extLst>
              </a:tr>
              <a:tr h="123613">
                <a:tc>
                  <a:txBody>
                    <a:bodyPr/>
                    <a:lstStyle/>
                    <a:p>
                      <a:r>
                        <a:rPr lang="zh-CN" altLang="en-US" sz="1900" dirty="0"/>
                        <a:t>标志</a:t>
                      </a:r>
                    </a:p>
                  </a:txBody>
                  <a:tcPr/>
                </a:tc>
                <a:tc>
                  <a:txBody>
                    <a:bodyPr/>
                    <a:lstStyle/>
                    <a:p>
                      <a:r>
                        <a:rPr lang="zh-CN" altLang="en-US" sz="1900" dirty="0"/>
                        <a:t>保留位</a:t>
                      </a:r>
                    </a:p>
                  </a:txBody>
                  <a:tcPr/>
                </a:tc>
                <a:extLst>
                  <a:ext uri="{0D108BD9-81ED-4DB2-BD59-A6C34878D82A}">
                    <a16:rowId xmlns:a16="http://schemas.microsoft.com/office/drawing/2014/main" val="10009"/>
                  </a:ext>
                </a:extLst>
              </a:tr>
            </a:tbl>
          </a:graphicData>
        </a:graphic>
      </p:graphicFrame>
      <p:sp>
        <p:nvSpPr>
          <p:cNvPr id="5" name="内容占位符 2">
            <a:extLst>
              <a:ext uri="{FF2B5EF4-FFF2-40B4-BE49-F238E27FC236}">
                <a16:creationId xmlns:a16="http://schemas.microsoft.com/office/drawing/2014/main" id="{8A85EA58-F7BD-4D88-8818-A8472A04CDE9}"/>
              </a:ext>
            </a:extLst>
          </p:cNvPr>
          <p:cNvSpPr txBox="1">
            <a:spLocks/>
          </p:cNvSpPr>
          <p:nvPr/>
        </p:nvSpPr>
        <p:spPr bwMode="auto">
          <a:xfrm>
            <a:off x="914400" y="1272804"/>
            <a:ext cx="8229600" cy="16521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b="0" i="0" kern="1200" baseline="0">
                <a:solidFill>
                  <a:schemeClr val="tx1"/>
                </a:solidFill>
                <a:latin typeface="Tahoma" panose="020B0604030504040204" pitchFamily="34" charset="0"/>
                <a:ea typeface="楷体_GB2312"/>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l"/>
              <a:defRPr sz="2800" b="1" i="0" kern="1200" baseline="0">
                <a:solidFill>
                  <a:schemeClr val="tx1"/>
                </a:solidFill>
                <a:latin typeface="Tahoma" panose="020B0604030504040204" pitchFamily="34" charset="0"/>
                <a:ea typeface="楷体_GB2312"/>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u"/>
              <a:defRPr sz="2400" b="1" kern="1200" baseline="0">
                <a:solidFill>
                  <a:schemeClr val="tx1"/>
                </a:solidFill>
                <a:latin typeface="Tahoma" panose="020B0604030504040204" pitchFamily="34" charset="0"/>
                <a:ea typeface="楷体_GB2312"/>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文件结构</a:t>
            </a:r>
            <a:endParaRPr lang="en-US" altLang="zh-CN" dirty="0"/>
          </a:p>
          <a:p>
            <a:pPr lvl="1"/>
            <a:r>
              <a:rPr lang="zh-CN" altLang="en-US" dirty="0">
                <a:solidFill>
                  <a:srgbClr val="FF0000"/>
                </a:solidFill>
              </a:rPr>
              <a:t>每行</a:t>
            </a:r>
            <a:r>
              <a:rPr lang="zh-CN" altLang="en-US" dirty="0"/>
              <a:t>（每条记录）代表一个</a:t>
            </a:r>
            <a:r>
              <a:rPr lang="zh-CN" altLang="en-US" dirty="0">
                <a:solidFill>
                  <a:srgbClr val="FF0000"/>
                </a:solidFill>
              </a:rPr>
              <a:t>用户账号</a:t>
            </a:r>
          </a:p>
          <a:p>
            <a:pPr lvl="1"/>
            <a:r>
              <a:rPr lang="zh-CN" altLang="en-US" dirty="0"/>
              <a:t>每条记录由用</a:t>
            </a:r>
            <a:r>
              <a:rPr lang="zh-CN" altLang="en-US" dirty="0">
                <a:solidFill>
                  <a:srgbClr val="FF0000"/>
                </a:solidFill>
              </a:rPr>
              <a:t>冒号：间隔</a:t>
            </a:r>
            <a:r>
              <a:rPr lang="zh-CN" altLang="en-US" dirty="0"/>
              <a:t>的</a:t>
            </a:r>
            <a:r>
              <a:rPr lang="zh-CN" altLang="en-US" dirty="0">
                <a:solidFill>
                  <a:srgbClr val="FF0000"/>
                </a:solidFill>
              </a:rPr>
              <a:t>九个字段</a:t>
            </a:r>
            <a:r>
              <a:rPr lang="zh-CN" altLang="en-US" dirty="0"/>
              <a:t>组成</a:t>
            </a:r>
          </a:p>
        </p:txBody>
      </p:sp>
      <p:sp>
        <p:nvSpPr>
          <p:cNvPr id="3" name="矩形 2"/>
          <p:cNvSpPr/>
          <p:nvPr/>
        </p:nvSpPr>
        <p:spPr>
          <a:xfrm>
            <a:off x="3122531" y="1270261"/>
            <a:ext cx="5912822" cy="707886"/>
          </a:xfrm>
          <a:prstGeom prst="rect">
            <a:avLst/>
          </a:prstGeom>
          <a:solidFill>
            <a:schemeClr val="accent1">
              <a:lumMod val="20000"/>
              <a:lumOff val="80000"/>
            </a:schemeClr>
          </a:solidFill>
        </p:spPr>
        <p:txBody>
          <a:bodyPr wrap="square">
            <a:spAutoFit/>
          </a:bodyPr>
          <a:lstStyle/>
          <a:p>
            <a:r>
              <a:rPr lang="en-US" altLang="zh-CN" sz="2000" dirty="0"/>
              <a:t>[</a:t>
            </a:r>
            <a:r>
              <a:rPr lang="en-US" altLang="zh-CN" sz="2000" dirty="0" err="1"/>
              <a:t>root@localhost</a:t>
            </a:r>
            <a:r>
              <a:rPr lang="en-US" altLang="zh-CN" sz="2000" dirty="0"/>
              <a:t> ~]# tail -1 /</a:t>
            </a:r>
            <a:r>
              <a:rPr lang="en-US" altLang="zh-CN" sz="2000" dirty="0" err="1"/>
              <a:t>etc</a:t>
            </a:r>
            <a:r>
              <a:rPr lang="en-US" altLang="zh-CN" sz="2000" dirty="0"/>
              <a:t>/shadow</a:t>
            </a:r>
          </a:p>
          <a:p>
            <a:r>
              <a:rPr lang="en-US" altLang="zh-CN" sz="2000" dirty="0"/>
              <a:t>student5:$</a:t>
            </a:r>
            <a:r>
              <a:rPr lang="en-US" altLang="zh-CN" sz="2000" dirty="0" smtClean="0"/>
              <a:t>6$uTmCe0Mj$mjMA</a:t>
            </a:r>
            <a:r>
              <a:rPr lang="en-US" altLang="zh-CN" sz="2000" dirty="0"/>
              <a:t>/:18136:0:99999:7:::</a:t>
            </a: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8098407" cy="1052513"/>
          </a:xfrm>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a:solidFill>
                  <a:schemeClr val="accent6">
                    <a:lumMod val="75000"/>
                  </a:schemeClr>
                </a:solidFill>
              </a:rPr>
              <a:t>shadow</a:t>
            </a:r>
            <a:r>
              <a:rPr lang="en-GB" altLang="zh-CN" sz="4000" dirty="0">
                <a:solidFill>
                  <a:schemeClr val="accent6">
                    <a:lumMod val="75000"/>
                  </a:schemeClr>
                </a:solidFill>
              </a:rPr>
              <a:t> </a:t>
            </a:r>
            <a:endParaRPr lang="zh-CN" altLang="en-US" dirty="0"/>
          </a:p>
        </p:txBody>
      </p:sp>
      <p:sp>
        <p:nvSpPr>
          <p:cNvPr id="6" name="文本框 5">
            <a:extLst>
              <a:ext uri="{FF2B5EF4-FFF2-40B4-BE49-F238E27FC236}">
                <a16:creationId xmlns:a16="http://schemas.microsoft.com/office/drawing/2014/main" id="{0B90D5C6-0E5B-4DC8-86E4-DF1B1436446F}"/>
              </a:ext>
            </a:extLst>
          </p:cNvPr>
          <p:cNvSpPr txBox="1"/>
          <p:nvPr/>
        </p:nvSpPr>
        <p:spPr>
          <a:xfrm>
            <a:off x="323528" y="1628800"/>
            <a:ext cx="8640960" cy="4154984"/>
          </a:xfrm>
          <a:prstGeom prst="rect">
            <a:avLst/>
          </a:prstGeom>
          <a:solidFill>
            <a:schemeClr val="accent2">
              <a:lumMod val="60000"/>
              <a:lumOff val="40000"/>
            </a:schemeClr>
          </a:solidFill>
        </p:spPr>
        <p:txBody>
          <a:bodyPr wrap="square" rtlCol="0">
            <a:spAutoFit/>
          </a:bodyPr>
          <a:lstStyle/>
          <a:p>
            <a:r>
              <a:rPr lang="en-US" altLang="zh-CN" sz="2400" dirty="0"/>
              <a:t>root:$6$/BYZPzsZWwEq8.6Z$51lK67lWwuYJFkXLm9nNDZ0JAQmkZ09dpOCyBB/hTrFPoOE11mHnZLE/GLQRDRLNSZT7cv9058Wn6WHcKM7S80::</a:t>
            </a:r>
            <a:r>
              <a:rPr lang="en-US" altLang="zh-CN" sz="2400" dirty="0">
                <a:solidFill>
                  <a:srgbClr val="FF0000"/>
                </a:solidFill>
              </a:rPr>
              <a:t>0</a:t>
            </a:r>
            <a:r>
              <a:rPr lang="en-US" altLang="zh-CN" sz="2400" dirty="0"/>
              <a:t>:</a:t>
            </a:r>
            <a:r>
              <a:rPr lang="en-US" altLang="zh-CN" sz="2400" dirty="0">
                <a:solidFill>
                  <a:srgbClr val="FF0000"/>
                </a:solidFill>
              </a:rPr>
              <a:t>99999</a:t>
            </a:r>
            <a:r>
              <a:rPr lang="en-US" altLang="zh-CN" sz="2400" dirty="0"/>
              <a:t>:</a:t>
            </a:r>
            <a:r>
              <a:rPr lang="en-US" altLang="zh-CN" sz="2400" dirty="0">
                <a:solidFill>
                  <a:srgbClr val="FF0000"/>
                </a:solidFill>
              </a:rPr>
              <a:t>7</a:t>
            </a:r>
            <a:r>
              <a:rPr lang="en-US" altLang="zh-CN" sz="2400" dirty="0"/>
              <a:t>:::</a:t>
            </a:r>
          </a:p>
          <a:p>
            <a:r>
              <a:rPr lang="en-US" altLang="zh-CN" sz="2400" dirty="0"/>
              <a:t>bin:*:18353:0:99999:7:::</a:t>
            </a:r>
          </a:p>
          <a:p>
            <a:r>
              <a:rPr lang="en-US" altLang="zh-CN" sz="2400" dirty="0"/>
              <a:t>daemon:*:18353:0:99999:7:::</a:t>
            </a:r>
          </a:p>
          <a:p>
            <a:endParaRPr lang="en-US" altLang="zh-CN" sz="2400" dirty="0"/>
          </a:p>
          <a:p>
            <a:r>
              <a:rPr lang="en-US" altLang="zh-CN" sz="2400" dirty="0"/>
              <a:t>········</a:t>
            </a:r>
          </a:p>
          <a:p>
            <a:endParaRPr lang="en-US" altLang="zh-CN" sz="2400" dirty="0"/>
          </a:p>
          <a:p>
            <a:r>
              <a:rPr lang="en-US" altLang="zh-CN" sz="2400" dirty="0"/>
              <a:t>lily:$6$QTl86QfJSB..q57r$8hCU77NI45I4bwyWclbHDH6ebRM/JNeBXSXcZY567ieF3/ejh3f.78Mit/OWEywKw2E8p5lH5Yu3WEJvtaRZr1::0:99999:7:::</a:t>
            </a:r>
          </a:p>
        </p:txBody>
      </p:sp>
      <p:sp>
        <p:nvSpPr>
          <p:cNvPr id="5" name="文本框 4">
            <a:extLst>
              <a:ext uri="{FF2B5EF4-FFF2-40B4-BE49-F238E27FC236}">
                <a16:creationId xmlns:a16="http://schemas.microsoft.com/office/drawing/2014/main" id="{F25DD9D0-93F5-4CD1-9E1E-8DD5B90AA909}"/>
              </a:ext>
            </a:extLst>
          </p:cNvPr>
          <p:cNvSpPr txBox="1"/>
          <p:nvPr/>
        </p:nvSpPr>
        <p:spPr>
          <a:xfrm>
            <a:off x="2952328" y="3429000"/>
            <a:ext cx="5508104" cy="1200329"/>
          </a:xfrm>
          <a:prstGeom prst="rect">
            <a:avLst/>
          </a:prstGeom>
          <a:noFill/>
        </p:spPr>
        <p:txBody>
          <a:bodyPr wrap="square">
            <a:spAutoFit/>
          </a:bodyPr>
          <a:lstStyle/>
          <a:p>
            <a:r>
              <a:rPr lang="zh-CN" altLang="en-US" sz="2400" dirty="0">
                <a:solidFill>
                  <a:srgbClr val="FF0000"/>
                </a:solidFill>
              </a:rPr>
              <a:t>最小间隔时间为</a:t>
            </a:r>
            <a:r>
              <a:rPr lang="en-US" altLang="zh-CN" sz="2400" dirty="0">
                <a:solidFill>
                  <a:srgbClr val="FF0000"/>
                </a:solidFill>
              </a:rPr>
              <a:t>0</a:t>
            </a:r>
            <a:r>
              <a:rPr lang="zh-CN" altLang="en-US" sz="2400" dirty="0">
                <a:solidFill>
                  <a:srgbClr val="FF0000"/>
                </a:solidFill>
              </a:rPr>
              <a:t>，随时都可以修改</a:t>
            </a:r>
            <a:r>
              <a:rPr lang="en-US" altLang="zh-CN" sz="2400" dirty="0">
                <a:solidFill>
                  <a:srgbClr val="FF0000"/>
                </a:solidFill>
              </a:rPr>
              <a:t>99999=273</a:t>
            </a:r>
            <a:r>
              <a:rPr lang="zh-CN" altLang="en-US" sz="2400" dirty="0">
                <a:solidFill>
                  <a:srgbClr val="FF0000"/>
                </a:solidFill>
              </a:rPr>
              <a:t>年，密码基本不会过期了</a:t>
            </a:r>
            <a:endParaRPr lang="en-US" altLang="zh-CN" sz="2400" dirty="0">
              <a:solidFill>
                <a:srgbClr val="FF0000"/>
              </a:solidFill>
            </a:endParaRPr>
          </a:p>
          <a:p>
            <a:r>
              <a:rPr lang="zh-CN" altLang="en-US" sz="2400" dirty="0">
                <a:solidFill>
                  <a:srgbClr val="FF0000"/>
                </a:solidFill>
              </a:rPr>
              <a:t>需要修改期限前</a:t>
            </a:r>
            <a:r>
              <a:rPr lang="en-US" altLang="zh-CN" sz="2400" dirty="0">
                <a:solidFill>
                  <a:srgbClr val="FF0000"/>
                </a:solidFill>
              </a:rPr>
              <a:t>7</a:t>
            </a:r>
            <a:r>
              <a:rPr lang="zh-CN" altLang="en-US" sz="2400" dirty="0">
                <a:solidFill>
                  <a:srgbClr val="FF0000"/>
                </a:solidFill>
              </a:rPr>
              <a:t>天提醒</a:t>
            </a:r>
          </a:p>
        </p:txBody>
      </p:sp>
      <p:cxnSp>
        <p:nvCxnSpPr>
          <p:cNvPr id="7" name="连接符: 曲线 6">
            <a:extLst>
              <a:ext uri="{FF2B5EF4-FFF2-40B4-BE49-F238E27FC236}">
                <a16:creationId xmlns:a16="http://schemas.microsoft.com/office/drawing/2014/main" id="{4863AC07-E8F2-4FFD-9A45-0AD765F8689E}"/>
              </a:ext>
            </a:extLst>
          </p:cNvPr>
          <p:cNvCxnSpPr/>
          <p:nvPr/>
        </p:nvCxnSpPr>
        <p:spPr bwMode="auto">
          <a:xfrm rot="5400000" flipH="1" flipV="1">
            <a:off x="6465258" y="2831887"/>
            <a:ext cx="1182036" cy="936104"/>
          </a:xfrm>
          <a:prstGeom prst="curvedConnector3">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247970675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8098407" cy="1052513"/>
          </a:xfrm>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a:solidFill>
                  <a:schemeClr val="accent6">
                    <a:lumMod val="75000"/>
                  </a:schemeClr>
                </a:solidFill>
              </a:rPr>
              <a:t>shadow</a:t>
            </a:r>
            <a:r>
              <a:rPr lang="en-GB" altLang="zh-CN" sz="4000" dirty="0">
                <a:solidFill>
                  <a:schemeClr val="accent6">
                    <a:lumMod val="75000"/>
                  </a:schemeClr>
                </a:solidFill>
              </a:rPr>
              <a:t> </a:t>
            </a:r>
            <a:endParaRPr lang="zh-CN" altLang="en-US" dirty="0"/>
          </a:p>
        </p:txBody>
      </p:sp>
      <p:sp>
        <p:nvSpPr>
          <p:cNvPr id="3" name="矩形 2"/>
          <p:cNvSpPr/>
          <p:nvPr/>
        </p:nvSpPr>
        <p:spPr>
          <a:xfrm>
            <a:off x="539552" y="1484784"/>
            <a:ext cx="8496944" cy="5278368"/>
          </a:xfrm>
          <a:prstGeom prst="rect">
            <a:avLst/>
          </a:prstGeom>
        </p:spPr>
        <p:txBody>
          <a:bodyPr wrap="square">
            <a:spAutoFit/>
          </a:bodyPr>
          <a:lstStyle/>
          <a:p>
            <a:pPr>
              <a:spcAft>
                <a:spcPts val="600"/>
              </a:spcAft>
            </a:pPr>
            <a:r>
              <a:rPr lang="zh-CN" altLang="en-US" sz="2400" b="1" dirty="0" smtClean="0"/>
              <a:t>科普小知识：为什么是</a:t>
            </a:r>
            <a:r>
              <a:rPr lang="en-US" altLang="zh-CN" sz="2400" b="1" dirty="0" smtClean="0"/>
              <a:t>1970</a:t>
            </a:r>
            <a:r>
              <a:rPr lang="zh-CN" altLang="en-US" sz="2400" b="1" dirty="0" smtClean="0"/>
              <a:t>年</a:t>
            </a:r>
            <a:r>
              <a:rPr lang="en-US" altLang="zh-CN" sz="2400" b="1" dirty="0" smtClean="0"/>
              <a:t>1</a:t>
            </a:r>
            <a:r>
              <a:rPr lang="zh-CN" altLang="en-US" sz="2400" b="1" dirty="0" smtClean="0"/>
              <a:t>月</a:t>
            </a:r>
            <a:r>
              <a:rPr lang="en-US" altLang="zh-CN" sz="2400" b="1" dirty="0" smtClean="0"/>
              <a:t>1</a:t>
            </a:r>
            <a:r>
              <a:rPr lang="zh-CN" altLang="en-US" sz="2400" b="1" dirty="0" smtClean="0"/>
              <a:t>日开始计时？</a:t>
            </a:r>
            <a:endParaRPr lang="en-US" altLang="zh-CN" sz="2400" b="1" dirty="0" smtClean="0"/>
          </a:p>
          <a:p>
            <a:pPr>
              <a:spcAft>
                <a:spcPts val="600"/>
              </a:spcAft>
            </a:pPr>
            <a:endParaRPr lang="en-US" altLang="zh-CN" sz="2400" dirty="0" smtClean="0"/>
          </a:p>
          <a:p>
            <a:pPr marL="342900" indent="-342900" algn="just">
              <a:spcAft>
                <a:spcPts val="600"/>
              </a:spcAft>
              <a:buFont typeface="Arial" panose="020B0604020202020204" pitchFamily="34" charset="0"/>
              <a:buChar char="•"/>
            </a:pPr>
            <a:r>
              <a:rPr lang="en-US" altLang="zh-CN" sz="2400" dirty="0"/>
              <a:t>Unix</a:t>
            </a:r>
            <a:r>
              <a:rPr lang="zh-CN" altLang="en-US" sz="2400" dirty="0"/>
              <a:t>是</a:t>
            </a:r>
            <a:r>
              <a:rPr lang="en-US" altLang="zh-CN" sz="2400" dirty="0"/>
              <a:t>1969</a:t>
            </a:r>
            <a:r>
              <a:rPr lang="zh-CN" altLang="en-US" sz="2400" dirty="0"/>
              <a:t>年发布的雏形，最早是基于硬件</a:t>
            </a:r>
            <a:r>
              <a:rPr lang="en-US" altLang="zh-CN" sz="2400" dirty="0"/>
              <a:t>60Hz</a:t>
            </a:r>
            <a:r>
              <a:rPr lang="zh-CN" altLang="en-US" sz="2400" dirty="0"/>
              <a:t>的时间计数。新版于</a:t>
            </a:r>
            <a:r>
              <a:rPr lang="en-US" altLang="zh-CN" sz="2400" dirty="0"/>
              <a:t>1971</a:t>
            </a:r>
            <a:r>
              <a:rPr lang="zh-CN" altLang="en-US" sz="2400" dirty="0"/>
              <a:t>年</a:t>
            </a:r>
            <a:r>
              <a:rPr lang="zh-CN" altLang="en-US" sz="2400" dirty="0" smtClean="0"/>
              <a:t>发布，渐渐地惯例以</a:t>
            </a:r>
            <a:r>
              <a:rPr lang="en-US" altLang="zh-CN" sz="2400" dirty="0" smtClean="0"/>
              <a:t>1970</a:t>
            </a:r>
            <a:r>
              <a:rPr lang="zh-CN" altLang="en-US" sz="2400" dirty="0"/>
              <a:t>年</a:t>
            </a:r>
            <a:r>
              <a:rPr lang="en-US" altLang="zh-CN" sz="2400" dirty="0"/>
              <a:t>1</a:t>
            </a:r>
            <a:r>
              <a:rPr lang="zh-CN" altLang="en-US" sz="2400" dirty="0"/>
              <a:t>月</a:t>
            </a:r>
            <a:r>
              <a:rPr lang="en-US" altLang="zh-CN" sz="2400" dirty="0"/>
              <a:t>1</a:t>
            </a:r>
            <a:r>
              <a:rPr lang="zh-CN" altLang="en-US" sz="2400" dirty="0"/>
              <a:t>日 算 </a:t>
            </a:r>
            <a:r>
              <a:rPr lang="en-US" altLang="zh-CN" sz="2400" dirty="0"/>
              <a:t>UNIX </a:t>
            </a:r>
            <a:r>
              <a:rPr lang="zh-CN" altLang="en-US" sz="2400" dirty="0" smtClean="0"/>
              <a:t>的生日。</a:t>
            </a:r>
            <a:endParaRPr lang="en-US" altLang="zh-CN" sz="2400" dirty="0" smtClean="0"/>
          </a:p>
          <a:p>
            <a:pPr marL="342900" indent="-342900" algn="just">
              <a:spcAft>
                <a:spcPts val="600"/>
              </a:spcAft>
              <a:buFont typeface="Arial" panose="020B0604020202020204" pitchFamily="34" charset="0"/>
              <a:buChar char="•"/>
            </a:pPr>
            <a:r>
              <a:rPr lang="zh-CN" altLang="en-US" sz="2400" dirty="0" smtClean="0"/>
              <a:t>时间</a:t>
            </a:r>
            <a:r>
              <a:rPr lang="zh-CN" altLang="en-US" sz="2400" dirty="0"/>
              <a:t>是以一个</a:t>
            </a:r>
            <a:r>
              <a:rPr lang="en-US" altLang="zh-CN" sz="2400" dirty="0"/>
              <a:t>32</a:t>
            </a:r>
            <a:r>
              <a:rPr lang="zh-CN" altLang="en-US" sz="2400" dirty="0"/>
              <a:t>位整型的形式存储的</a:t>
            </a:r>
            <a:r>
              <a:rPr lang="zh-CN" altLang="en-US" sz="2400" dirty="0" smtClean="0"/>
              <a:t>，</a:t>
            </a:r>
            <a:r>
              <a:rPr lang="en-US" altLang="zh-CN" sz="2400" dirty="0" smtClean="0"/>
              <a:t>32</a:t>
            </a:r>
            <a:r>
              <a:rPr lang="zh-CN" altLang="en-US" sz="2400" dirty="0"/>
              <a:t>位</a:t>
            </a:r>
            <a:r>
              <a:rPr lang="zh-CN" altLang="en-US" sz="2400" dirty="0" smtClean="0"/>
              <a:t>整型最大</a:t>
            </a:r>
            <a:r>
              <a:rPr lang="zh-CN" altLang="en-US" sz="2400" dirty="0"/>
              <a:t>能表示</a:t>
            </a:r>
            <a:r>
              <a:rPr lang="en-US" altLang="zh-CN" sz="2400" dirty="0"/>
              <a:t>2147483647</a:t>
            </a:r>
            <a:r>
              <a:rPr lang="zh-CN" altLang="en-US" sz="2400" dirty="0" smtClean="0"/>
              <a:t>秒；</a:t>
            </a:r>
            <a:r>
              <a:rPr lang="en-US" altLang="zh-CN" sz="2400" dirty="0" smtClean="0"/>
              <a:t>2147483647/365/24/60/60=68.1</a:t>
            </a:r>
            <a:r>
              <a:rPr lang="zh-CN" altLang="en-US" sz="2400" dirty="0" smtClean="0"/>
              <a:t>年</a:t>
            </a:r>
            <a:endParaRPr lang="en-US" altLang="zh-CN" sz="2400" dirty="0" smtClean="0"/>
          </a:p>
          <a:p>
            <a:pPr marL="342900" indent="-342900" algn="just">
              <a:spcAft>
                <a:spcPts val="600"/>
              </a:spcAft>
              <a:buFont typeface="Arial" panose="020B0604020202020204" pitchFamily="34" charset="0"/>
              <a:buChar char="•"/>
            </a:pPr>
            <a:r>
              <a:rPr lang="en-US" altLang="zh-CN" sz="2400" dirty="0"/>
              <a:t>2038</a:t>
            </a:r>
            <a:r>
              <a:rPr lang="zh-CN" altLang="en-US" sz="2400" dirty="0"/>
              <a:t>年</a:t>
            </a:r>
            <a:r>
              <a:rPr lang="en-US" altLang="zh-CN" sz="2400" dirty="0"/>
              <a:t>1</a:t>
            </a:r>
            <a:r>
              <a:rPr lang="zh-CN" altLang="en-US" sz="2400" dirty="0"/>
              <a:t>月</a:t>
            </a:r>
            <a:r>
              <a:rPr lang="en-US" altLang="zh-CN" sz="2400" dirty="0"/>
              <a:t>19</a:t>
            </a:r>
            <a:r>
              <a:rPr lang="zh-CN" altLang="en-US" sz="2400" dirty="0"/>
              <a:t>日</a:t>
            </a:r>
            <a:r>
              <a:rPr lang="en-US" altLang="zh-CN" sz="2400" dirty="0"/>
              <a:t>03</a:t>
            </a:r>
            <a:r>
              <a:rPr lang="zh-CN" altLang="en-US" sz="2400" dirty="0"/>
              <a:t>时</a:t>
            </a:r>
            <a:r>
              <a:rPr lang="en-US" altLang="zh-CN" sz="2400" dirty="0"/>
              <a:t>14</a:t>
            </a:r>
            <a:r>
              <a:rPr lang="zh-CN" altLang="en-US" sz="2400" dirty="0"/>
              <a:t>分</a:t>
            </a:r>
            <a:r>
              <a:rPr lang="en-US" altLang="zh-CN" sz="2400" dirty="0"/>
              <a:t>07</a:t>
            </a:r>
            <a:r>
              <a:rPr lang="zh-CN" altLang="en-US" sz="2400" dirty="0"/>
              <a:t>秒就是计算机时间的终点</a:t>
            </a:r>
            <a:r>
              <a:rPr lang="zh-CN" altLang="en-US" sz="2400" dirty="0" smtClean="0"/>
              <a:t>。在</a:t>
            </a:r>
            <a:r>
              <a:rPr lang="zh-CN" altLang="en-US" sz="2400" dirty="0"/>
              <a:t>这时间之后</a:t>
            </a:r>
            <a:r>
              <a:rPr lang="zh-CN" altLang="en-US" sz="2400" dirty="0" smtClean="0"/>
              <a:t>，系统时间就</a:t>
            </a:r>
            <a:r>
              <a:rPr lang="zh-CN" altLang="en-US" sz="2400" dirty="0"/>
              <a:t>会回归到</a:t>
            </a:r>
            <a:r>
              <a:rPr lang="en-US" altLang="zh-CN" sz="2400" dirty="0"/>
              <a:t>1901</a:t>
            </a:r>
            <a:r>
              <a:rPr lang="zh-CN" altLang="en-US" sz="2400" dirty="0"/>
              <a:t>年</a:t>
            </a:r>
            <a:r>
              <a:rPr lang="en-US" altLang="zh-CN" sz="2400" dirty="0"/>
              <a:t>12</a:t>
            </a:r>
            <a:r>
              <a:rPr lang="zh-CN" altLang="en-US" sz="2400" dirty="0"/>
              <a:t>月</a:t>
            </a:r>
            <a:r>
              <a:rPr lang="en-US" altLang="zh-CN" sz="2400" dirty="0"/>
              <a:t>13</a:t>
            </a:r>
            <a:r>
              <a:rPr lang="zh-CN" altLang="en-US" sz="2400" dirty="0"/>
              <a:t>日</a:t>
            </a:r>
            <a:r>
              <a:rPr lang="en-US" altLang="zh-CN" sz="2400" dirty="0"/>
              <a:t>20</a:t>
            </a:r>
            <a:r>
              <a:rPr lang="zh-CN" altLang="en-US" sz="2400" dirty="0"/>
              <a:t>时</a:t>
            </a:r>
            <a:r>
              <a:rPr lang="en-US" altLang="zh-CN" sz="2400" dirty="0"/>
              <a:t>45</a:t>
            </a:r>
            <a:r>
              <a:rPr lang="zh-CN" altLang="en-US" sz="2400" dirty="0"/>
              <a:t>分</a:t>
            </a:r>
            <a:r>
              <a:rPr lang="en-US" altLang="zh-CN" sz="2400" dirty="0"/>
              <a:t>52</a:t>
            </a:r>
            <a:r>
              <a:rPr lang="zh-CN" altLang="en-US" sz="2400" dirty="0"/>
              <a:t>秒，很多软件就会发生时间</a:t>
            </a:r>
            <a:r>
              <a:rPr lang="zh-CN" altLang="en-US" sz="2400" dirty="0" smtClean="0"/>
              <a:t>异常。</a:t>
            </a:r>
            <a:endParaRPr lang="en-US" altLang="zh-CN" sz="2400" dirty="0" smtClean="0"/>
          </a:p>
          <a:p>
            <a:pPr marL="342900" indent="-342900" algn="just">
              <a:spcAft>
                <a:spcPts val="600"/>
              </a:spcAft>
              <a:buFont typeface="Arial" panose="020B0604020202020204" pitchFamily="34" charset="0"/>
              <a:buChar char="•"/>
            </a:pPr>
            <a:r>
              <a:rPr lang="zh-CN" altLang="en-US" sz="2400" dirty="0"/>
              <a:t>使用</a:t>
            </a:r>
            <a:r>
              <a:rPr lang="en-US" altLang="zh-CN" sz="2400" dirty="0"/>
              <a:t>64</a:t>
            </a:r>
            <a:r>
              <a:rPr lang="zh-CN" altLang="en-US" sz="2400" dirty="0"/>
              <a:t>为二进制数字表示时间的系统最多可</a:t>
            </a:r>
            <a:r>
              <a:rPr lang="zh-CN" altLang="en-US" sz="2400" dirty="0" smtClean="0"/>
              <a:t>使用</a:t>
            </a:r>
            <a:r>
              <a:rPr lang="en-US" altLang="zh-CN" sz="2400" dirty="0" smtClean="0"/>
              <a:t>292,27,026,596</a:t>
            </a:r>
            <a:r>
              <a:rPr lang="zh-CN" altLang="en-US" sz="2400" dirty="0"/>
              <a:t>年</a:t>
            </a:r>
            <a:r>
              <a:rPr lang="en-US" altLang="zh-CN" sz="2400" dirty="0"/>
              <a:t>12</a:t>
            </a:r>
            <a:r>
              <a:rPr lang="zh-CN" altLang="en-US" sz="2400" dirty="0"/>
              <a:t>月</a:t>
            </a:r>
            <a:r>
              <a:rPr lang="en-US" altLang="zh-CN" sz="2400" dirty="0"/>
              <a:t>04</a:t>
            </a:r>
            <a:r>
              <a:rPr lang="zh-CN" altLang="en-US" sz="2400" dirty="0"/>
              <a:t>日</a:t>
            </a:r>
            <a:r>
              <a:rPr lang="en-US" altLang="zh-CN" sz="2400" dirty="0"/>
              <a:t>15</a:t>
            </a:r>
            <a:r>
              <a:rPr lang="zh-CN" altLang="en-US" sz="2400" dirty="0"/>
              <a:t>时</a:t>
            </a:r>
            <a:r>
              <a:rPr lang="en-US" altLang="zh-CN" sz="2400" dirty="0"/>
              <a:t>30</a:t>
            </a:r>
            <a:r>
              <a:rPr lang="zh-CN" altLang="en-US" sz="2400" dirty="0"/>
              <a:t>分</a:t>
            </a:r>
            <a:r>
              <a:rPr lang="en-US" altLang="zh-CN" sz="2400" dirty="0"/>
              <a:t>08</a:t>
            </a:r>
            <a:r>
              <a:rPr lang="zh-CN" altLang="en-US" sz="2400" dirty="0"/>
              <a:t>秒，则不会发生这类溢出</a:t>
            </a:r>
            <a:r>
              <a:rPr lang="zh-CN" altLang="en-US" sz="2400" dirty="0" smtClean="0"/>
              <a:t>问题。</a:t>
            </a:r>
            <a:endParaRPr lang="zh-CN" altLang="en-US" sz="2400" dirty="0"/>
          </a:p>
        </p:txBody>
      </p:sp>
    </p:spTree>
    <p:extLst>
      <p:ext uri="{BB962C8B-B14F-4D97-AF65-F5344CB8AC3E}">
        <p14:creationId xmlns:p14="http://schemas.microsoft.com/office/powerpoint/2010/main" val="32590788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9" y="260648"/>
            <a:ext cx="7920880" cy="1052513"/>
          </a:xfrm>
        </p:spPr>
        <p:txBody>
          <a:bodyPr/>
          <a:lstStyle/>
          <a:p>
            <a:r>
              <a:rPr lang="zh-CN" altLang="en-US" dirty="0"/>
              <a:t>三 账户系统文件</a:t>
            </a:r>
            <a:r>
              <a:rPr lang="en-US" altLang="zh-CN" sz="4400" dirty="0" smtClean="0"/>
              <a:t>— </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a:solidFill>
                  <a:schemeClr val="accent6">
                    <a:lumMod val="75000"/>
                  </a:schemeClr>
                </a:solidFill>
              </a:rPr>
              <a:t>group</a:t>
            </a:r>
            <a:endParaRPr lang="zh-CN" altLang="en-US" dirty="0"/>
          </a:p>
        </p:txBody>
      </p:sp>
      <p:graphicFrame>
        <p:nvGraphicFramePr>
          <p:cNvPr id="7" name="表格 6"/>
          <p:cNvGraphicFramePr>
            <a:graphicFrameLocks noGrp="1"/>
          </p:cNvGraphicFramePr>
          <p:nvPr>
            <p:extLst>
              <p:ext uri="{D42A27DB-BD31-4B8C-83A1-F6EECF244321}">
                <p14:modId xmlns:p14="http://schemas.microsoft.com/office/powerpoint/2010/main" val="2366857123"/>
              </p:ext>
            </p:extLst>
          </p:nvPr>
        </p:nvGraphicFramePr>
        <p:xfrm>
          <a:off x="914400" y="3068960"/>
          <a:ext cx="7848872" cy="3383280"/>
        </p:xfrm>
        <a:graphic>
          <a:graphicData uri="http://schemas.openxmlformats.org/drawingml/2006/table">
            <a:tbl>
              <a:tblPr firstRow="1" bandRow="1">
                <a:tableStyleId>{21E4AEA4-8DFA-4A89-87EB-49C32662AFE0}</a:tableStyleId>
              </a:tblPr>
              <a:tblGrid>
                <a:gridCol w="2052228">
                  <a:extLst>
                    <a:ext uri="{9D8B030D-6E8A-4147-A177-3AD203B41FA5}">
                      <a16:colId xmlns:a16="http://schemas.microsoft.com/office/drawing/2014/main" val="20000"/>
                    </a:ext>
                  </a:extLst>
                </a:gridCol>
                <a:gridCol w="5796644">
                  <a:extLst>
                    <a:ext uri="{9D8B030D-6E8A-4147-A177-3AD203B41FA5}">
                      <a16:colId xmlns:a16="http://schemas.microsoft.com/office/drawing/2014/main" val="20001"/>
                    </a:ext>
                  </a:extLst>
                </a:gridCol>
              </a:tblGrid>
              <a:tr h="370840">
                <a:tc>
                  <a:txBody>
                    <a:bodyPr/>
                    <a:lstStyle/>
                    <a:p>
                      <a:r>
                        <a:rPr lang="zh-CN" altLang="en-US" sz="2400" dirty="0">
                          <a:solidFill>
                            <a:srgbClr val="C00000"/>
                          </a:solidFill>
                        </a:rPr>
                        <a:t>字段</a:t>
                      </a:r>
                    </a:p>
                  </a:txBody>
                  <a:tcPr/>
                </a:tc>
                <a:tc>
                  <a:txBody>
                    <a:bodyPr/>
                    <a:lstStyle/>
                    <a:p>
                      <a:r>
                        <a:rPr lang="zh-CN" altLang="en-US" sz="2400"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zh-CN" altLang="en-US" sz="2400" dirty="0"/>
                        <a:t>组名</a:t>
                      </a:r>
                    </a:p>
                  </a:txBody>
                  <a:tcPr/>
                </a:tc>
                <a:tc>
                  <a:txBody>
                    <a:bodyPr/>
                    <a:lstStyle/>
                    <a:p>
                      <a:r>
                        <a:rPr lang="zh-CN" altLang="en-US" sz="2400" dirty="0"/>
                        <a:t>这是用户登录系统时的默认组名，它在系统中是</a:t>
                      </a:r>
                      <a:r>
                        <a:rPr lang="zh-CN" altLang="en-US" sz="2400" dirty="0">
                          <a:solidFill>
                            <a:srgbClr val="FF0000"/>
                          </a:solidFill>
                        </a:rPr>
                        <a:t>唯一</a:t>
                      </a:r>
                      <a:r>
                        <a:rPr lang="zh-CN" altLang="en-US" sz="2400" dirty="0"/>
                        <a:t>的</a:t>
                      </a:r>
                    </a:p>
                  </a:txBody>
                  <a:tcPr/>
                </a:tc>
                <a:extLst>
                  <a:ext uri="{0D108BD9-81ED-4DB2-BD59-A6C34878D82A}">
                    <a16:rowId xmlns:a16="http://schemas.microsoft.com/office/drawing/2014/main" val="10001"/>
                  </a:ext>
                </a:extLst>
              </a:tr>
              <a:tr h="370840">
                <a:tc>
                  <a:txBody>
                    <a:bodyPr/>
                    <a:lstStyle/>
                    <a:p>
                      <a:r>
                        <a:rPr lang="zh-CN" altLang="en-US" sz="2400" dirty="0"/>
                        <a:t>口令</a:t>
                      </a:r>
                    </a:p>
                  </a:txBody>
                  <a:tcPr/>
                </a:tc>
                <a:tc>
                  <a:txBody>
                    <a:bodyPr/>
                    <a:lstStyle/>
                    <a:p>
                      <a:r>
                        <a:rPr lang="zh-CN" altLang="en-US" sz="2400" dirty="0">
                          <a:solidFill>
                            <a:srgbClr val="FF0000"/>
                          </a:solidFill>
                        </a:rPr>
                        <a:t>组口令</a:t>
                      </a:r>
                      <a:r>
                        <a:rPr lang="zh-CN" altLang="en-US" sz="2400" dirty="0"/>
                        <a:t>，由于安全性原因，已不使用该字段保存口令，用“</a:t>
                      </a:r>
                      <a:r>
                        <a:rPr lang="en-US" altLang="zh-CN" sz="2400" dirty="0">
                          <a:solidFill>
                            <a:srgbClr val="FF0000"/>
                          </a:solidFill>
                        </a:rPr>
                        <a:t>x</a:t>
                      </a:r>
                      <a:r>
                        <a:rPr lang="zh-CN" altLang="en-US" sz="2400" dirty="0"/>
                        <a:t>”占位，管理员使用</a:t>
                      </a:r>
                    </a:p>
                  </a:txBody>
                  <a:tcPr/>
                </a:tc>
                <a:extLst>
                  <a:ext uri="{0D108BD9-81ED-4DB2-BD59-A6C34878D82A}">
                    <a16:rowId xmlns:a16="http://schemas.microsoft.com/office/drawing/2014/main" val="10002"/>
                  </a:ext>
                </a:extLst>
              </a:tr>
              <a:tr h="370840">
                <a:tc>
                  <a:txBody>
                    <a:bodyPr/>
                    <a:lstStyle/>
                    <a:p>
                      <a:r>
                        <a:rPr lang="en-US" altLang="zh-CN" sz="2400" dirty="0"/>
                        <a:t>GID</a:t>
                      </a:r>
                      <a:endParaRPr lang="zh-CN" altLang="en-US" sz="2400" dirty="0"/>
                    </a:p>
                  </a:txBody>
                  <a:tcPr/>
                </a:tc>
                <a:tc>
                  <a:txBody>
                    <a:bodyPr/>
                    <a:lstStyle/>
                    <a:p>
                      <a:r>
                        <a:rPr lang="zh-CN" altLang="en-US" sz="2400" dirty="0"/>
                        <a:t>是一个整数，系统内部用它来</a:t>
                      </a:r>
                      <a:r>
                        <a:rPr lang="zh-CN" altLang="en-US" sz="2400" dirty="0">
                          <a:solidFill>
                            <a:srgbClr val="FF0000"/>
                          </a:solidFill>
                        </a:rPr>
                        <a:t>标识组</a:t>
                      </a:r>
                    </a:p>
                  </a:txBody>
                  <a:tcPr/>
                </a:tc>
                <a:extLst>
                  <a:ext uri="{0D108BD9-81ED-4DB2-BD59-A6C34878D82A}">
                    <a16:rowId xmlns:a16="http://schemas.microsoft.com/office/drawing/2014/main" val="10003"/>
                  </a:ext>
                </a:extLst>
              </a:tr>
              <a:tr h="370840">
                <a:tc>
                  <a:txBody>
                    <a:bodyPr/>
                    <a:lstStyle/>
                    <a:p>
                      <a:r>
                        <a:rPr lang="zh-CN" altLang="en-US" sz="2400" dirty="0"/>
                        <a:t>组内用户列表</a:t>
                      </a:r>
                    </a:p>
                  </a:txBody>
                  <a:tcPr/>
                </a:tc>
                <a:tc>
                  <a:txBody>
                    <a:bodyPr/>
                    <a:lstStyle/>
                    <a:p>
                      <a:r>
                        <a:rPr lang="zh-CN" altLang="en-US" sz="2400" dirty="0"/>
                        <a:t>属于该组的所有</a:t>
                      </a:r>
                      <a:r>
                        <a:rPr lang="zh-CN" altLang="en-US" sz="2400" dirty="0">
                          <a:solidFill>
                            <a:srgbClr val="FF0000"/>
                          </a:solidFill>
                        </a:rPr>
                        <a:t>用户名表</a:t>
                      </a:r>
                      <a:r>
                        <a:rPr lang="zh-CN" altLang="en-US" sz="2400" dirty="0"/>
                        <a:t>，列表中多个用户间用</a:t>
                      </a:r>
                      <a:r>
                        <a:rPr lang="zh-CN" altLang="en-US" sz="2400" dirty="0">
                          <a:solidFill>
                            <a:srgbClr val="FF0000"/>
                          </a:solidFill>
                        </a:rPr>
                        <a:t>“</a:t>
                      </a:r>
                      <a:r>
                        <a:rPr lang="en-US" altLang="zh-CN" sz="2400" dirty="0">
                          <a:solidFill>
                            <a:srgbClr val="FF0000"/>
                          </a:solidFill>
                        </a:rPr>
                        <a:t>,</a:t>
                      </a:r>
                      <a:r>
                        <a:rPr lang="zh-CN" altLang="en-US" sz="2400" dirty="0">
                          <a:solidFill>
                            <a:srgbClr val="FF0000"/>
                          </a:solidFill>
                        </a:rPr>
                        <a:t>”分隔</a:t>
                      </a:r>
                    </a:p>
                  </a:txBody>
                  <a:tcPr/>
                </a:tc>
                <a:extLst>
                  <a:ext uri="{0D108BD9-81ED-4DB2-BD59-A6C34878D82A}">
                    <a16:rowId xmlns:a16="http://schemas.microsoft.com/office/drawing/2014/main" val="10004"/>
                  </a:ext>
                </a:extLst>
              </a:tr>
            </a:tbl>
          </a:graphicData>
        </a:graphic>
      </p:graphicFrame>
      <p:sp>
        <p:nvSpPr>
          <p:cNvPr id="5" name="内容占位符 2">
            <a:extLst>
              <a:ext uri="{FF2B5EF4-FFF2-40B4-BE49-F238E27FC236}">
                <a16:creationId xmlns:a16="http://schemas.microsoft.com/office/drawing/2014/main" id="{778A937E-F2D7-429A-B4E3-7B36CB31109D}"/>
              </a:ext>
            </a:extLst>
          </p:cNvPr>
          <p:cNvSpPr txBox="1">
            <a:spLocks/>
          </p:cNvSpPr>
          <p:nvPr/>
        </p:nvSpPr>
        <p:spPr bwMode="auto">
          <a:xfrm>
            <a:off x="827584" y="1400424"/>
            <a:ext cx="7762056" cy="1581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b="0" i="0" kern="1200" baseline="0">
                <a:solidFill>
                  <a:schemeClr val="tx1"/>
                </a:solidFill>
                <a:latin typeface="Tahoma" panose="020B0604030504040204" pitchFamily="34" charset="0"/>
                <a:ea typeface="楷体_GB2312"/>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l"/>
              <a:defRPr sz="2800" b="1" i="0" kern="1200" baseline="0">
                <a:solidFill>
                  <a:schemeClr val="tx1"/>
                </a:solidFill>
                <a:latin typeface="Tahoma" panose="020B0604030504040204" pitchFamily="34" charset="0"/>
                <a:ea typeface="楷体_GB2312"/>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u"/>
              <a:defRPr sz="2400" b="1" kern="1200" baseline="0">
                <a:solidFill>
                  <a:schemeClr val="tx1"/>
                </a:solidFill>
                <a:latin typeface="Tahoma" panose="020B0604030504040204" pitchFamily="34" charset="0"/>
                <a:ea typeface="楷体_GB2312"/>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文件结构</a:t>
            </a:r>
            <a:endParaRPr lang="en-US" altLang="zh-CN" dirty="0"/>
          </a:p>
          <a:p>
            <a:pPr lvl="1"/>
            <a:r>
              <a:rPr lang="zh-CN" altLang="en-US" dirty="0">
                <a:solidFill>
                  <a:srgbClr val="FF0000"/>
                </a:solidFill>
              </a:rPr>
              <a:t>每行</a:t>
            </a:r>
            <a:r>
              <a:rPr lang="zh-CN" altLang="en-US" dirty="0"/>
              <a:t>（每条记录）代表一个</a:t>
            </a:r>
            <a:r>
              <a:rPr lang="zh-CN" altLang="en-US" dirty="0">
                <a:solidFill>
                  <a:srgbClr val="FF0000"/>
                </a:solidFill>
              </a:rPr>
              <a:t>用户组</a:t>
            </a:r>
          </a:p>
          <a:p>
            <a:pPr lvl="1"/>
            <a:r>
              <a:rPr lang="zh-CN" altLang="en-US" dirty="0"/>
              <a:t>每条记录由用</a:t>
            </a:r>
            <a:r>
              <a:rPr lang="zh-CN" altLang="en-US" dirty="0">
                <a:solidFill>
                  <a:srgbClr val="FF0000"/>
                </a:solidFill>
              </a:rPr>
              <a:t>冒号：间隔</a:t>
            </a:r>
            <a:r>
              <a:rPr lang="zh-CN" altLang="en-US" dirty="0"/>
              <a:t>的</a:t>
            </a:r>
            <a:r>
              <a:rPr lang="zh-CN" altLang="en-US" dirty="0">
                <a:solidFill>
                  <a:srgbClr val="FF0000"/>
                </a:solidFill>
              </a:rPr>
              <a:t>四个字段</a:t>
            </a:r>
            <a:r>
              <a:rPr lang="zh-CN" altLang="en-US" dirty="0"/>
              <a:t>组成</a:t>
            </a:r>
          </a:p>
        </p:txBody>
      </p:sp>
      <p:sp>
        <p:nvSpPr>
          <p:cNvPr id="3" name="矩形 2"/>
          <p:cNvSpPr/>
          <p:nvPr/>
        </p:nvSpPr>
        <p:spPr>
          <a:xfrm>
            <a:off x="3851920" y="1268760"/>
            <a:ext cx="4911352" cy="830997"/>
          </a:xfrm>
          <a:prstGeom prst="rect">
            <a:avLst/>
          </a:prstGeom>
          <a:solidFill>
            <a:schemeClr val="accent1">
              <a:lumMod val="20000"/>
              <a:lumOff val="80000"/>
            </a:schemeClr>
          </a:solidFill>
        </p:spPr>
        <p:txBody>
          <a:bodyPr wrap="square">
            <a:spAutoFit/>
          </a:bodyPr>
          <a:lstStyle/>
          <a:p>
            <a:r>
              <a:rPr lang="en-US" altLang="zh-CN" sz="2000" dirty="0"/>
              <a:t>[</a:t>
            </a:r>
            <a:r>
              <a:rPr lang="en-US" altLang="zh-CN" sz="2400" dirty="0" err="1"/>
              <a:t>xl@localhost</a:t>
            </a:r>
            <a:r>
              <a:rPr lang="en-US" altLang="zh-CN" sz="2400" dirty="0"/>
              <a:t> ~]$ tail -1 /</a:t>
            </a:r>
            <a:r>
              <a:rPr lang="en-US" altLang="zh-CN" sz="2400" dirty="0" err="1"/>
              <a:t>etc</a:t>
            </a:r>
            <a:r>
              <a:rPr lang="en-US" altLang="zh-CN" sz="2400" dirty="0"/>
              <a:t>/group</a:t>
            </a:r>
          </a:p>
          <a:p>
            <a:r>
              <a:rPr lang="en-US" altLang="zh-CN" sz="2400" dirty="0"/>
              <a:t>student5:x:2011:</a:t>
            </a: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a:solidFill>
                  <a:schemeClr val="accent6">
                    <a:lumMod val="75000"/>
                  </a:schemeClr>
                </a:solidFill>
              </a:rPr>
              <a:t>group</a:t>
            </a:r>
            <a:r>
              <a:rPr lang="en-GB" altLang="zh-CN" sz="4000" dirty="0">
                <a:solidFill>
                  <a:schemeClr val="accent6">
                    <a:lumMod val="75000"/>
                  </a:schemeClr>
                </a:solidFill>
              </a:rPr>
              <a:t> </a:t>
            </a:r>
            <a:endParaRPr lang="zh-CN" altLang="en-US" dirty="0"/>
          </a:p>
        </p:txBody>
      </p:sp>
      <p:sp>
        <p:nvSpPr>
          <p:cNvPr id="6" name="文本框 5">
            <a:extLst>
              <a:ext uri="{FF2B5EF4-FFF2-40B4-BE49-F238E27FC236}">
                <a16:creationId xmlns:a16="http://schemas.microsoft.com/office/drawing/2014/main" id="{0B90D5C6-0E5B-4DC8-86E4-DF1B1436446F}"/>
              </a:ext>
            </a:extLst>
          </p:cNvPr>
          <p:cNvSpPr txBox="1"/>
          <p:nvPr/>
        </p:nvSpPr>
        <p:spPr>
          <a:xfrm>
            <a:off x="1154113" y="1369343"/>
            <a:ext cx="7416824" cy="3108543"/>
          </a:xfrm>
          <a:prstGeom prst="rect">
            <a:avLst/>
          </a:prstGeom>
          <a:solidFill>
            <a:schemeClr val="accent2">
              <a:lumMod val="60000"/>
              <a:lumOff val="40000"/>
            </a:schemeClr>
          </a:solidFill>
        </p:spPr>
        <p:txBody>
          <a:bodyPr wrap="square" rtlCol="0">
            <a:spAutoFit/>
          </a:bodyPr>
          <a:lstStyle/>
          <a:p>
            <a:r>
              <a:rPr lang="nl-NL" altLang="zh-CN" sz="2800" dirty="0"/>
              <a:t>root:x:0:root</a:t>
            </a:r>
          </a:p>
          <a:p>
            <a:r>
              <a:rPr lang="nl-NL" altLang="zh-CN" sz="2800" dirty="0"/>
              <a:t>bin:x:1:</a:t>
            </a:r>
            <a:r>
              <a:rPr lang="nl-NL" altLang="zh-CN" sz="2800" dirty="0">
                <a:solidFill>
                  <a:srgbClr val="FF0000"/>
                </a:solidFill>
              </a:rPr>
              <a:t>root,bin,daemon</a:t>
            </a:r>
          </a:p>
          <a:p>
            <a:r>
              <a:rPr lang="nl-NL" altLang="zh-CN" sz="2800" dirty="0"/>
              <a:t>daemon:x:2:root,bin,daemon</a:t>
            </a:r>
          </a:p>
          <a:p>
            <a:r>
              <a:rPr lang="nl-NL" altLang="zh-CN" sz="2800" dirty="0"/>
              <a:t>sys:x:3:root,bin,adm</a:t>
            </a:r>
          </a:p>
          <a:p>
            <a:endParaRPr lang="nl-NL" altLang="zh-CN" sz="2800" dirty="0"/>
          </a:p>
          <a:p>
            <a:r>
              <a:rPr lang="en-US" altLang="zh-CN" sz="2800" dirty="0"/>
              <a:t>······</a:t>
            </a:r>
            <a:r>
              <a:rPr lang="zh-CN" altLang="en-US" sz="2800" dirty="0"/>
              <a:t>（略）</a:t>
            </a:r>
            <a:endParaRPr lang="en-US" altLang="zh-CN" sz="2800" dirty="0"/>
          </a:p>
          <a:p>
            <a:endParaRPr lang="en-US" altLang="zh-CN" sz="2800" dirty="0"/>
          </a:p>
        </p:txBody>
      </p:sp>
      <p:sp>
        <p:nvSpPr>
          <p:cNvPr id="4" name="文本框 3">
            <a:extLst>
              <a:ext uri="{FF2B5EF4-FFF2-40B4-BE49-F238E27FC236}">
                <a16:creationId xmlns:a16="http://schemas.microsoft.com/office/drawing/2014/main" id="{9FF61AF4-C257-4062-A72A-5CE1C89B0DF3}"/>
              </a:ext>
            </a:extLst>
          </p:cNvPr>
          <p:cNvSpPr txBox="1"/>
          <p:nvPr/>
        </p:nvSpPr>
        <p:spPr>
          <a:xfrm>
            <a:off x="1154113" y="4546982"/>
            <a:ext cx="7416824" cy="2246769"/>
          </a:xfrm>
          <a:prstGeom prst="rect">
            <a:avLst/>
          </a:prstGeom>
          <a:solidFill>
            <a:schemeClr val="accent1">
              <a:lumMod val="20000"/>
              <a:lumOff val="80000"/>
            </a:schemeClr>
          </a:solidFill>
        </p:spPr>
        <p:txBody>
          <a:bodyPr wrap="square" rtlCol="0">
            <a:spAutoFit/>
          </a:bodyPr>
          <a:lstStyle/>
          <a:p>
            <a:r>
              <a:rPr lang="nl-NL" altLang="zh-CN" sz="2800" dirty="0"/>
              <a:t>root:x:0:</a:t>
            </a:r>
          </a:p>
          <a:p>
            <a:r>
              <a:rPr lang="nl-NL" altLang="zh-CN" sz="2800" dirty="0"/>
              <a:t>bin:x:1:</a:t>
            </a:r>
          </a:p>
          <a:p>
            <a:r>
              <a:rPr lang="nl-NL" altLang="zh-CN" sz="2800" dirty="0"/>
              <a:t>daemon:x:2:</a:t>
            </a:r>
          </a:p>
          <a:p>
            <a:r>
              <a:rPr lang="nl-NL" altLang="zh-CN" sz="2800" dirty="0"/>
              <a:t>sys:x:3:</a:t>
            </a:r>
          </a:p>
          <a:p>
            <a:r>
              <a:rPr lang="nl-NL" altLang="zh-CN" sz="2800" dirty="0"/>
              <a:t>adm:x:4:</a:t>
            </a:r>
          </a:p>
        </p:txBody>
      </p:sp>
      <p:sp>
        <p:nvSpPr>
          <p:cNvPr id="3" name="文本框 2">
            <a:extLst>
              <a:ext uri="{FF2B5EF4-FFF2-40B4-BE49-F238E27FC236}">
                <a16:creationId xmlns:a16="http://schemas.microsoft.com/office/drawing/2014/main" id="{C0FCDB4D-3A72-4BD8-9B6A-1F69033B585B}"/>
              </a:ext>
            </a:extLst>
          </p:cNvPr>
          <p:cNvSpPr txBox="1"/>
          <p:nvPr/>
        </p:nvSpPr>
        <p:spPr>
          <a:xfrm>
            <a:off x="4860032" y="4614834"/>
            <a:ext cx="3096344" cy="830997"/>
          </a:xfrm>
          <a:prstGeom prst="rect">
            <a:avLst/>
          </a:prstGeom>
          <a:solidFill>
            <a:schemeClr val="tx2">
              <a:lumMod val="20000"/>
              <a:lumOff val="80000"/>
            </a:schemeClr>
          </a:solidFill>
        </p:spPr>
        <p:txBody>
          <a:bodyPr wrap="square" rtlCol="0">
            <a:spAutoFit/>
          </a:bodyPr>
          <a:lstStyle/>
          <a:p>
            <a:r>
              <a:rPr lang="zh-CN" altLang="en-US" sz="2400" dirty="0"/>
              <a:t>新版</a:t>
            </a:r>
            <a:r>
              <a:rPr lang="en-US" altLang="zh-CN" sz="2400" dirty="0" err="1"/>
              <a:t>linux</a:t>
            </a:r>
            <a:r>
              <a:rPr lang="zh-CN" altLang="en-US" sz="2400" dirty="0"/>
              <a:t>主组已经不再加入第四个字段</a:t>
            </a:r>
          </a:p>
        </p:txBody>
      </p:sp>
    </p:spTree>
    <p:extLst>
      <p:ext uri="{BB962C8B-B14F-4D97-AF65-F5344CB8AC3E}">
        <p14:creationId xmlns:p14="http://schemas.microsoft.com/office/powerpoint/2010/main" val="175835193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8" y="263143"/>
            <a:ext cx="8818487" cy="1052513"/>
          </a:xfrm>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err="1">
                <a:solidFill>
                  <a:schemeClr val="accent6">
                    <a:lumMod val="75000"/>
                  </a:schemeClr>
                </a:solidFill>
              </a:rPr>
              <a:t>gshadow</a:t>
            </a:r>
            <a:endParaRPr lang="zh-CN" altLang="en-US" dirty="0"/>
          </a:p>
        </p:txBody>
      </p:sp>
      <p:graphicFrame>
        <p:nvGraphicFramePr>
          <p:cNvPr id="7" name="表格 6"/>
          <p:cNvGraphicFramePr>
            <a:graphicFrameLocks noGrp="1"/>
          </p:cNvGraphicFramePr>
          <p:nvPr>
            <p:extLst>
              <p:ext uri="{D42A27DB-BD31-4B8C-83A1-F6EECF244321}">
                <p14:modId xmlns:p14="http://schemas.microsoft.com/office/powerpoint/2010/main" val="1970602727"/>
              </p:ext>
            </p:extLst>
          </p:nvPr>
        </p:nvGraphicFramePr>
        <p:xfrm>
          <a:off x="899592" y="3573016"/>
          <a:ext cx="7704856" cy="2804160"/>
        </p:xfrm>
        <a:graphic>
          <a:graphicData uri="http://schemas.openxmlformats.org/drawingml/2006/table">
            <a:tbl>
              <a:tblPr firstRow="1" bandRow="1">
                <a:tableStyleId>{21E4AEA4-8DFA-4A89-87EB-49C32662AFE0}</a:tableStyleId>
              </a:tblPr>
              <a:tblGrid>
                <a:gridCol w="2332663">
                  <a:extLst>
                    <a:ext uri="{9D8B030D-6E8A-4147-A177-3AD203B41FA5}">
                      <a16:colId xmlns:a16="http://schemas.microsoft.com/office/drawing/2014/main" val="20000"/>
                    </a:ext>
                  </a:extLst>
                </a:gridCol>
                <a:gridCol w="5372193">
                  <a:extLst>
                    <a:ext uri="{9D8B030D-6E8A-4147-A177-3AD203B41FA5}">
                      <a16:colId xmlns:a16="http://schemas.microsoft.com/office/drawing/2014/main" val="20001"/>
                    </a:ext>
                  </a:extLst>
                </a:gridCol>
              </a:tblGrid>
              <a:tr h="370840">
                <a:tc>
                  <a:txBody>
                    <a:bodyPr/>
                    <a:lstStyle/>
                    <a:p>
                      <a:r>
                        <a:rPr lang="zh-CN" altLang="en-US" sz="2200" dirty="0">
                          <a:solidFill>
                            <a:srgbClr val="C00000"/>
                          </a:solidFill>
                        </a:rPr>
                        <a:t>字段</a:t>
                      </a:r>
                    </a:p>
                  </a:txBody>
                  <a:tcPr/>
                </a:tc>
                <a:tc>
                  <a:txBody>
                    <a:bodyPr/>
                    <a:lstStyle/>
                    <a:p>
                      <a:r>
                        <a:rPr lang="zh-CN" altLang="en-US" sz="2200"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zh-CN" altLang="en-US" sz="2200" dirty="0"/>
                        <a:t>组名</a:t>
                      </a:r>
                    </a:p>
                  </a:txBody>
                  <a:tcPr/>
                </a:tc>
                <a:tc>
                  <a:txBody>
                    <a:bodyPr/>
                    <a:lstStyle/>
                    <a:p>
                      <a:r>
                        <a:rPr lang="zh-CN" altLang="en-US" sz="2200" dirty="0">
                          <a:solidFill>
                            <a:srgbClr val="FF0000"/>
                          </a:solidFill>
                        </a:rPr>
                        <a:t>组名称</a:t>
                      </a:r>
                      <a:r>
                        <a:rPr lang="zh-CN" altLang="en-US" sz="2200" dirty="0"/>
                        <a:t>，该字段与</a:t>
                      </a:r>
                      <a:r>
                        <a:rPr lang="en-US" altLang="zh-CN" sz="2200" dirty="0"/>
                        <a:t>group</a:t>
                      </a:r>
                      <a:r>
                        <a:rPr lang="zh-CN" altLang="en-US" sz="2200" dirty="0"/>
                        <a:t>文件中的组名称对应 </a:t>
                      </a:r>
                    </a:p>
                  </a:txBody>
                  <a:tcPr/>
                </a:tc>
                <a:extLst>
                  <a:ext uri="{0D108BD9-81ED-4DB2-BD59-A6C34878D82A}">
                    <a16:rowId xmlns:a16="http://schemas.microsoft.com/office/drawing/2014/main" val="10001"/>
                  </a:ext>
                </a:extLst>
              </a:tr>
              <a:tr h="370840">
                <a:tc>
                  <a:txBody>
                    <a:bodyPr/>
                    <a:lstStyle/>
                    <a:p>
                      <a:r>
                        <a:rPr lang="zh-CN" altLang="en-US" sz="2200" dirty="0"/>
                        <a:t>加密的组口令</a:t>
                      </a:r>
                    </a:p>
                  </a:txBody>
                  <a:tcPr/>
                </a:tc>
                <a:tc>
                  <a:txBody>
                    <a:bodyPr/>
                    <a:lstStyle/>
                    <a:p>
                      <a:r>
                        <a:rPr lang="zh-CN" altLang="en-US" sz="2200" dirty="0"/>
                        <a:t>用于保存已</a:t>
                      </a:r>
                      <a:r>
                        <a:rPr lang="zh-CN" altLang="en-US" sz="2200" dirty="0">
                          <a:solidFill>
                            <a:srgbClr val="FF0000"/>
                          </a:solidFill>
                        </a:rPr>
                        <a:t>加密的口令</a:t>
                      </a:r>
                    </a:p>
                  </a:txBody>
                  <a:tcPr/>
                </a:tc>
                <a:extLst>
                  <a:ext uri="{0D108BD9-81ED-4DB2-BD59-A6C34878D82A}">
                    <a16:rowId xmlns:a16="http://schemas.microsoft.com/office/drawing/2014/main" val="10002"/>
                  </a:ext>
                </a:extLst>
              </a:tr>
              <a:tr h="370840">
                <a:tc>
                  <a:txBody>
                    <a:bodyPr/>
                    <a:lstStyle/>
                    <a:p>
                      <a:r>
                        <a:rPr lang="zh-CN" altLang="en-US" sz="2200" dirty="0"/>
                        <a:t>组的管理员账号</a:t>
                      </a:r>
                    </a:p>
                  </a:txBody>
                  <a:tcPr/>
                </a:tc>
                <a:tc>
                  <a:txBody>
                    <a:bodyPr/>
                    <a:lstStyle/>
                    <a:p>
                      <a:r>
                        <a:rPr lang="zh-CN" altLang="en-US" sz="2200" dirty="0">
                          <a:solidFill>
                            <a:srgbClr val="FF0000"/>
                          </a:solidFill>
                        </a:rPr>
                        <a:t>管理员</a:t>
                      </a:r>
                      <a:r>
                        <a:rPr lang="zh-CN" altLang="en-US" sz="2200" dirty="0"/>
                        <a:t>有权对该组添加删除账号</a:t>
                      </a:r>
                    </a:p>
                  </a:txBody>
                  <a:tcPr/>
                </a:tc>
                <a:extLst>
                  <a:ext uri="{0D108BD9-81ED-4DB2-BD59-A6C34878D82A}">
                    <a16:rowId xmlns:a16="http://schemas.microsoft.com/office/drawing/2014/main" val="10003"/>
                  </a:ext>
                </a:extLst>
              </a:tr>
              <a:tr h="370840">
                <a:tc>
                  <a:txBody>
                    <a:bodyPr/>
                    <a:lstStyle/>
                    <a:p>
                      <a:r>
                        <a:rPr lang="zh-CN" altLang="en-US" sz="2200" dirty="0"/>
                        <a:t>组内用户列表</a:t>
                      </a:r>
                    </a:p>
                  </a:txBody>
                  <a:tcPr/>
                </a:tc>
                <a:tc>
                  <a:txBody>
                    <a:bodyPr/>
                    <a:lstStyle/>
                    <a:p>
                      <a:r>
                        <a:rPr lang="zh-CN" altLang="en-US" sz="2200" dirty="0"/>
                        <a:t>属于该组的</a:t>
                      </a:r>
                      <a:r>
                        <a:rPr lang="zh-CN" altLang="en-US" sz="2200" dirty="0">
                          <a:solidFill>
                            <a:srgbClr val="FF0000"/>
                          </a:solidFill>
                        </a:rPr>
                        <a:t>用户成员列表</a:t>
                      </a:r>
                      <a:r>
                        <a:rPr lang="zh-CN" altLang="en-US" sz="2200" dirty="0"/>
                        <a:t>，列表中多个</a:t>
                      </a:r>
                      <a:r>
                        <a:rPr lang="zh-CN" altLang="en-US" sz="2200" dirty="0">
                          <a:solidFill>
                            <a:srgbClr val="FF0000"/>
                          </a:solidFill>
                        </a:rPr>
                        <a:t>用户间用“</a:t>
                      </a:r>
                      <a:r>
                        <a:rPr lang="en-US" altLang="zh-CN" sz="2200" dirty="0">
                          <a:solidFill>
                            <a:srgbClr val="FF0000"/>
                          </a:solidFill>
                        </a:rPr>
                        <a:t>,”</a:t>
                      </a:r>
                      <a:r>
                        <a:rPr lang="zh-CN" altLang="en-US" sz="2200" dirty="0">
                          <a:solidFill>
                            <a:srgbClr val="FF0000"/>
                          </a:solidFill>
                        </a:rPr>
                        <a:t>分隔</a:t>
                      </a:r>
                    </a:p>
                  </a:txBody>
                  <a:tcPr/>
                </a:tc>
                <a:extLst>
                  <a:ext uri="{0D108BD9-81ED-4DB2-BD59-A6C34878D82A}">
                    <a16:rowId xmlns:a16="http://schemas.microsoft.com/office/drawing/2014/main" val="10004"/>
                  </a:ext>
                </a:extLst>
              </a:tr>
            </a:tbl>
          </a:graphicData>
        </a:graphic>
      </p:graphicFrame>
      <p:sp>
        <p:nvSpPr>
          <p:cNvPr id="5" name="内容占位符 2">
            <a:extLst>
              <a:ext uri="{FF2B5EF4-FFF2-40B4-BE49-F238E27FC236}">
                <a16:creationId xmlns:a16="http://schemas.microsoft.com/office/drawing/2014/main" id="{05F17133-67D7-4CC1-BD54-DB23B375B5B0}"/>
              </a:ext>
            </a:extLst>
          </p:cNvPr>
          <p:cNvSpPr txBox="1">
            <a:spLocks/>
          </p:cNvSpPr>
          <p:nvPr/>
        </p:nvSpPr>
        <p:spPr bwMode="auto">
          <a:xfrm>
            <a:off x="899592" y="1315657"/>
            <a:ext cx="7704856" cy="16478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b="0" i="0" kern="1200" baseline="0">
                <a:solidFill>
                  <a:schemeClr val="tx1"/>
                </a:solidFill>
                <a:latin typeface="Tahoma" panose="020B0604030504040204" pitchFamily="34" charset="0"/>
                <a:ea typeface="楷体_GB2312"/>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l"/>
              <a:defRPr sz="2800" b="1" i="0" kern="1200" baseline="0">
                <a:solidFill>
                  <a:schemeClr val="tx1"/>
                </a:solidFill>
                <a:latin typeface="Tahoma" panose="020B0604030504040204" pitchFamily="34" charset="0"/>
                <a:ea typeface="楷体_GB2312"/>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u"/>
              <a:defRPr sz="2400" b="1" kern="1200" baseline="0">
                <a:solidFill>
                  <a:schemeClr val="tx1"/>
                </a:solidFill>
                <a:latin typeface="Tahoma" panose="020B0604030504040204" pitchFamily="34" charset="0"/>
                <a:ea typeface="楷体_GB2312"/>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文件结构</a:t>
            </a:r>
            <a:endParaRPr lang="en-US" altLang="zh-CN" dirty="0"/>
          </a:p>
          <a:p>
            <a:pPr lvl="1"/>
            <a:r>
              <a:rPr lang="zh-CN" altLang="en-US" dirty="0">
                <a:solidFill>
                  <a:srgbClr val="FF0000"/>
                </a:solidFill>
              </a:rPr>
              <a:t>每行</a:t>
            </a:r>
            <a:r>
              <a:rPr lang="zh-CN" altLang="en-US" dirty="0"/>
              <a:t>（每条记录）代表一个</a:t>
            </a:r>
            <a:r>
              <a:rPr lang="zh-CN" altLang="en-US" dirty="0">
                <a:solidFill>
                  <a:srgbClr val="FF0000"/>
                </a:solidFill>
              </a:rPr>
              <a:t>用户组</a:t>
            </a:r>
          </a:p>
          <a:p>
            <a:pPr lvl="1"/>
            <a:r>
              <a:rPr lang="zh-CN" altLang="en-US" dirty="0"/>
              <a:t>每条记录由用</a:t>
            </a:r>
            <a:r>
              <a:rPr lang="zh-CN" altLang="en-US" dirty="0">
                <a:solidFill>
                  <a:srgbClr val="FF0000"/>
                </a:solidFill>
              </a:rPr>
              <a:t>冒号：间隔</a:t>
            </a:r>
            <a:r>
              <a:rPr lang="zh-CN" altLang="en-US" dirty="0"/>
              <a:t>的</a:t>
            </a:r>
            <a:r>
              <a:rPr lang="zh-CN" altLang="en-US" dirty="0">
                <a:solidFill>
                  <a:srgbClr val="FF0000"/>
                </a:solidFill>
              </a:rPr>
              <a:t>四个字段</a:t>
            </a:r>
            <a:r>
              <a:rPr lang="zh-CN" altLang="en-US" dirty="0"/>
              <a:t>组成</a:t>
            </a:r>
            <a:endParaRPr lang="en-US" altLang="zh-CN" dirty="0"/>
          </a:p>
          <a:p>
            <a:pPr marL="342900" lvl="1" indent="-342900">
              <a:buFont typeface="Wingdings" panose="05000000000000000000" pitchFamily="2" charset="2"/>
              <a:buChar char="n"/>
            </a:pPr>
            <a:r>
              <a:rPr lang="zh-CN" altLang="en-US" sz="3200" b="0" dirty="0"/>
              <a:t>最大的功能：建立用户组管理员</a:t>
            </a:r>
          </a:p>
        </p:txBody>
      </p:sp>
      <p:sp>
        <p:nvSpPr>
          <p:cNvPr id="3" name="矩形 2"/>
          <p:cNvSpPr/>
          <p:nvPr/>
        </p:nvSpPr>
        <p:spPr>
          <a:xfrm>
            <a:off x="3275856" y="1197840"/>
            <a:ext cx="5688632" cy="830997"/>
          </a:xfrm>
          <a:prstGeom prst="rect">
            <a:avLst/>
          </a:prstGeom>
          <a:solidFill>
            <a:schemeClr val="accent1">
              <a:lumMod val="20000"/>
              <a:lumOff val="80000"/>
            </a:schemeClr>
          </a:solidFill>
        </p:spPr>
        <p:txBody>
          <a:bodyPr wrap="square">
            <a:spAutoFit/>
          </a:bodyPr>
          <a:lstStyle/>
          <a:p>
            <a:r>
              <a:rPr lang="fr-FR" altLang="zh-CN" sz="2400" dirty="0"/>
              <a:t>[root@localhost ~]# tail -1 /etc/gshadow</a:t>
            </a:r>
          </a:p>
          <a:p>
            <a:r>
              <a:rPr lang="fr-FR" altLang="zh-CN" sz="2400" dirty="0"/>
              <a:t>student5:!::</a:t>
            </a:r>
            <a:endParaRPr lang="zh-CN" altLang="en-US" sz="2400"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8" y="263143"/>
            <a:ext cx="8818487" cy="1052513"/>
          </a:xfrm>
        </p:spPr>
        <p:txBody>
          <a:bodyPr/>
          <a:lstStyle/>
          <a:p>
            <a:r>
              <a:rPr lang="zh-CN" altLang="en-US" sz="4000" dirty="0"/>
              <a:t>三 账户系统文件</a:t>
            </a:r>
            <a:r>
              <a:rPr lang="en-US" altLang="zh-CN" sz="4000" dirty="0" smtClean="0"/>
              <a:t>—</a:t>
            </a:r>
            <a:r>
              <a:rPr lang="zh-CN" altLang="en-GB" sz="4000" dirty="0">
                <a:solidFill>
                  <a:schemeClr val="accent6">
                    <a:lumMod val="75000"/>
                  </a:schemeClr>
                </a:solidFill>
              </a:rPr>
              <a:t>/</a:t>
            </a:r>
            <a:r>
              <a:rPr lang="en-GB" altLang="zh-CN" sz="4000" dirty="0">
                <a:solidFill>
                  <a:schemeClr val="accent6">
                    <a:lumMod val="75000"/>
                  </a:schemeClr>
                </a:solidFill>
              </a:rPr>
              <a:t>etc/</a:t>
            </a:r>
            <a:r>
              <a:rPr lang="en-US" altLang="zh-CN" sz="4000" dirty="0" err="1">
                <a:solidFill>
                  <a:schemeClr val="accent6">
                    <a:lumMod val="75000"/>
                  </a:schemeClr>
                </a:solidFill>
              </a:rPr>
              <a:t>gshadow</a:t>
            </a:r>
            <a:endParaRPr lang="zh-CN" altLang="en-US" dirty="0"/>
          </a:p>
        </p:txBody>
      </p:sp>
      <p:sp>
        <p:nvSpPr>
          <p:cNvPr id="6" name="文本框 5">
            <a:extLst>
              <a:ext uri="{FF2B5EF4-FFF2-40B4-BE49-F238E27FC236}">
                <a16:creationId xmlns:a16="http://schemas.microsoft.com/office/drawing/2014/main" id="{A952C30C-9EA2-4CC5-8ED2-DA2C261A1C1E}"/>
              </a:ext>
            </a:extLst>
          </p:cNvPr>
          <p:cNvSpPr txBox="1"/>
          <p:nvPr/>
        </p:nvSpPr>
        <p:spPr>
          <a:xfrm>
            <a:off x="1187624" y="1484784"/>
            <a:ext cx="7416824" cy="5262979"/>
          </a:xfrm>
          <a:prstGeom prst="rect">
            <a:avLst/>
          </a:prstGeom>
          <a:solidFill>
            <a:schemeClr val="accent2">
              <a:lumMod val="60000"/>
              <a:lumOff val="40000"/>
            </a:schemeClr>
          </a:solidFill>
        </p:spPr>
        <p:txBody>
          <a:bodyPr wrap="square" rtlCol="0">
            <a:spAutoFit/>
          </a:bodyPr>
          <a:lstStyle/>
          <a:p>
            <a:r>
              <a:rPr lang="nl-NL" altLang="zh-CN" sz="2800" dirty="0"/>
              <a:t>root:::</a:t>
            </a:r>
          </a:p>
          <a:p>
            <a:r>
              <a:rPr lang="nl-NL" altLang="zh-CN" sz="2800" dirty="0"/>
              <a:t>bin:::</a:t>
            </a:r>
          </a:p>
          <a:p>
            <a:r>
              <a:rPr lang="nl-NL" altLang="zh-CN" sz="2800" dirty="0"/>
              <a:t>daemon:::</a:t>
            </a:r>
          </a:p>
          <a:p>
            <a:endParaRPr lang="nl-NL" altLang="zh-CN" sz="2800" dirty="0"/>
          </a:p>
          <a:p>
            <a:r>
              <a:rPr lang="en-US" altLang="zh-CN" sz="2800" dirty="0"/>
              <a:t>······</a:t>
            </a:r>
            <a:r>
              <a:rPr lang="zh-CN" altLang="en-US" sz="2800" dirty="0"/>
              <a:t>（略）</a:t>
            </a:r>
            <a:endParaRPr lang="en-US" altLang="zh-CN" sz="2800" dirty="0"/>
          </a:p>
          <a:p>
            <a:endParaRPr lang="nl-NL" altLang="zh-CN" sz="2800" dirty="0"/>
          </a:p>
          <a:p>
            <a:r>
              <a:rPr lang="nl-NL" altLang="zh-CN" sz="2800" dirty="0"/>
              <a:t>postdrop:</a:t>
            </a:r>
            <a:r>
              <a:rPr lang="nl-NL" altLang="zh-CN" sz="2800" dirty="0">
                <a:solidFill>
                  <a:srgbClr val="FF0000"/>
                </a:solidFill>
              </a:rPr>
              <a:t>!</a:t>
            </a:r>
            <a:r>
              <a:rPr lang="nl-NL" altLang="zh-CN" sz="2800" dirty="0"/>
              <a:t>::</a:t>
            </a:r>
          </a:p>
          <a:p>
            <a:r>
              <a:rPr lang="nl-NL" altLang="zh-CN" sz="2800" dirty="0"/>
              <a:t>postfix:!::</a:t>
            </a:r>
          </a:p>
          <a:p>
            <a:r>
              <a:rPr lang="nl-NL" altLang="zh-CN" sz="2800" dirty="0"/>
              <a:t>tcpdump:!::</a:t>
            </a:r>
          </a:p>
          <a:p>
            <a:r>
              <a:rPr lang="nl-NL" altLang="zh-CN" sz="2800" dirty="0"/>
              <a:t>lily:!!::lily</a:t>
            </a:r>
          </a:p>
          <a:p>
            <a:endParaRPr lang="nl-NL" altLang="zh-CN" sz="2800" dirty="0"/>
          </a:p>
          <a:p>
            <a:r>
              <a:rPr lang="en-US" altLang="zh-CN" sz="2800" dirty="0"/>
              <a:t>······</a:t>
            </a:r>
            <a:r>
              <a:rPr lang="zh-CN" altLang="en-US" sz="2800" dirty="0"/>
              <a:t>（略）</a:t>
            </a:r>
            <a:endParaRPr lang="nl-NL" altLang="zh-CN" sz="2800" dirty="0"/>
          </a:p>
        </p:txBody>
      </p:sp>
      <p:sp>
        <p:nvSpPr>
          <p:cNvPr id="8" name="文本框 7">
            <a:extLst>
              <a:ext uri="{FF2B5EF4-FFF2-40B4-BE49-F238E27FC236}">
                <a16:creationId xmlns:a16="http://schemas.microsoft.com/office/drawing/2014/main" id="{11580745-8EE2-46D4-9B9C-A203344BF40E}"/>
              </a:ext>
            </a:extLst>
          </p:cNvPr>
          <p:cNvSpPr txBox="1"/>
          <p:nvPr/>
        </p:nvSpPr>
        <p:spPr>
          <a:xfrm>
            <a:off x="4283968" y="3409950"/>
            <a:ext cx="3960440" cy="461665"/>
          </a:xfrm>
          <a:prstGeom prst="rect">
            <a:avLst/>
          </a:prstGeom>
          <a:solidFill>
            <a:schemeClr val="accent1">
              <a:lumMod val="20000"/>
              <a:lumOff val="80000"/>
            </a:schemeClr>
          </a:solidFill>
        </p:spPr>
        <p:txBody>
          <a:bodyPr wrap="square">
            <a:spAutoFit/>
          </a:bodyPr>
          <a:lstStyle/>
          <a:p>
            <a:r>
              <a:rPr lang="zh-CN" altLang="en-US" sz="2400" dirty="0">
                <a:solidFill>
                  <a:srgbClr val="FF0000"/>
                </a:solidFill>
              </a:rPr>
              <a:t>！或空表示无用户组管理员</a:t>
            </a:r>
            <a:endParaRPr lang="zh-CN" altLang="en-US" sz="2400" dirty="0"/>
          </a:p>
        </p:txBody>
      </p:sp>
      <p:cxnSp>
        <p:nvCxnSpPr>
          <p:cNvPr id="12" name="直接箭头连接符 11">
            <a:extLst>
              <a:ext uri="{FF2B5EF4-FFF2-40B4-BE49-F238E27FC236}">
                <a16:creationId xmlns:a16="http://schemas.microsoft.com/office/drawing/2014/main" id="{54C4B9A6-0498-4109-82A3-C7538A237DD9}"/>
              </a:ext>
            </a:extLst>
          </p:cNvPr>
          <p:cNvCxnSpPr/>
          <p:nvPr/>
        </p:nvCxnSpPr>
        <p:spPr bwMode="auto">
          <a:xfrm flipV="1">
            <a:off x="2771800" y="3645024"/>
            <a:ext cx="1440160" cy="471249"/>
          </a:xfrm>
          <a:prstGeom prst="straightConnector1">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箭头连接符 13">
            <a:extLst>
              <a:ext uri="{FF2B5EF4-FFF2-40B4-BE49-F238E27FC236}">
                <a16:creationId xmlns:a16="http://schemas.microsoft.com/office/drawing/2014/main" id="{93D39FAE-3087-42FD-96C5-7107DE7849E0}"/>
              </a:ext>
            </a:extLst>
          </p:cNvPr>
          <p:cNvCxnSpPr/>
          <p:nvPr/>
        </p:nvCxnSpPr>
        <p:spPr bwMode="auto">
          <a:xfrm>
            <a:off x="2627784" y="2708920"/>
            <a:ext cx="1512168" cy="864096"/>
          </a:xfrm>
          <a:prstGeom prst="straightConnector1">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19757473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043609" y="263143"/>
            <a:ext cx="7488832" cy="1052513"/>
          </a:xfrm>
        </p:spPr>
        <p:txBody>
          <a:bodyPr/>
          <a:lstStyle/>
          <a:p>
            <a:r>
              <a:rPr lang="zh-CN" altLang="en-US" sz="4000" dirty="0"/>
              <a:t>三 账户系统文件</a:t>
            </a:r>
            <a:r>
              <a:rPr lang="en-US" altLang="zh-CN" sz="4000" dirty="0" smtClean="0"/>
              <a:t>—</a:t>
            </a:r>
            <a:r>
              <a:rPr lang="zh-CN" altLang="en-US" sz="4000" dirty="0">
                <a:solidFill>
                  <a:schemeClr val="accent6">
                    <a:lumMod val="75000"/>
                  </a:schemeClr>
                </a:solidFill>
              </a:rPr>
              <a:t>相关性</a:t>
            </a:r>
            <a:endParaRPr lang="zh-CN" altLang="en-US" dirty="0"/>
          </a:p>
        </p:txBody>
      </p:sp>
      <p:pic>
        <p:nvPicPr>
          <p:cNvPr id="7" name="Picture 2" descr="账号相关文件之间的 UID/GID 与口令相关性示意图">
            <a:extLst>
              <a:ext uri="{FF2B5EF4-FFF2-40B4-BE49-F238E27FC236}">
                <a16:creationId xmlns:a16="http://schemas.microsoft.com/office/drawing/2014/main" id="{78186D3D-D0A9-4FD4-A146-4D825BAD55AB}"/>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rcRect/>
          <a:stretch>
            <a:fillRect/>
          </a:stretch>
        </p:blipFill>
        <p:spPr bwMode="auto">
          <a:xfrm>
            <a:off x="178442" y="1628800"/>
            <a:ext cx="878711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527447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验证账号文件的一致性</a:t>
            </a:r>
          </a:p>
        </p:txBody>
      </p:sp>
      <p:sp>
        <p:nvSpPr>
          <p:cNvPr id="3" name="内容占位符 2"/>
          <p:cNvSpPr>
            <a:spLocks noGrp="1"/>
          </p:cNvSpPr>
          <p:nvPr>
            <p:ph idx="1"/>
          </p:nvPr>
        </p:nvSpPr>
        <p:spPr>
          <a:xfrm>
            <a:off x="762993" y="1484784"/>
            <a:ext cx="8208912" cy="4114800"/>
          </a:xfrm>
        </p:spPr>
        <p:txBody>
          <a:bodyPr/>
          <a:lstStyle/>
          <a:p>
            <a:r>
              <a:rPr lang="zh-CN" altLang="en-US" sz="2400" dirty="0">
                <a:solidFill>
                  <a:srgbClr val="000000"/>
                </a:solidFill>
              </a:rPr>
              <a:t>不建议管理员直接编辑修改账户系统文件来维护账户</a:t>
            </a:r>
          </a:p>
          <a:p>
            <a:r>
              <a:rPr lang="zh-CN" altLang="en-US" sz="2400" dirty="0">
                <a:solidFill>
                  <a:srgbClr val="000000"/>
                </a:solidFill>
              </a:rPr>
              <a:t>若用户直接编辑了账户文件， 建议使用账号文件的一致性检测命令</a:t>
            </a:r>
          </a:p>
          <a:p>
            <a:r>
              <a:rPr lang="en-US" altLang="zh-CN" dirty="0">
                <a:solidFill>
                  <a:srgbClr val="FF0000"/>
                </a:solidFill>
              </a:rPr>
              <a:t>pwck </a:t>
            </a:r>
          </a:p>
          <a:p>
            <a:pPr lvl="1"/>
            <a:r>
              <a:rPr lang="zh-CN" altLang="en-US" sz="2400" dirty="0"/>
              <a:t>验证用户账号文件，认证信息的完整性 </a:t>
            </a:r>
          </a:p>
          <a:p>
            <a:pPr lvl="1"/>
            <a:r>
              <a:rPr lang="zh-CN" altLang="en-US" sz="2400" dirty="0"/>
              <a:t>该命令检测文件“</a:t>
            </a:r>
            <a:r>
              <a:rPr lang="en-US" altLang="zh-CN" sz="2400" dirty="0"/>
              <a:t>/etc/</a:t>
            </a:r>
            <a:r>
              <a:rPr lang="en-US" altLang="zh-CN" sz="2400" dirty="0" err="1"/>
              <a:t>passwd</a:t>
            </a:r>
            <a:r>
              <a:rPr lang="en-US" altLang="zh-CN" sz="2400" dirty="0"/>
              <a:t>”</a:t>
            </a:r>
            <a:r>
              <a:rPr lang="zh-CN" altLang="en-US" sz="2400" dirty="0"/>
              <a:t>和“</a:t>
            </a:r>
            <a:r>
              <a:rPr lang="en-US" altLang="zh-CN" sz="2400" dirty="0"/>
              <a:t>/etc/shadow” </a:t>
            </a:r>
            <a:r>
              <a:rPr lang="zh-CN" altLang="en-US" sz="2400" dirty="0"/>
              <a:t>的每行中字段的格式和值是否</a:t>
            </a:r>
            <a:r>
              <a:rPr lang="zh-CN" altLang="en-US" sz="2400" dirty="0" smtClean="0"/>
              <a:t>正确</a:t>
            </a:r>
            <a:endParaRPr lang="zh-CN" altLang="en-US" sz="2400" dirty="0"/>
          </a:p>
        </p:txBody>
      </p:sp>
      <p:sp>
        <p:nvSpPr>
          <p:cNvPr id="4" name="矩形 3"/>
          <p:cNvSpPr/>
          <p:nvPr/>
        </p:nvSpPr>
        <p:spPr>
          <a:xfrm>
            <a:off x="408497" y="4630088"/>
            <a:ext cx="8267960" cy="1569660"/>
          </a:xfrm>
          <a:prstGeom prst="rect">
            <a:avLst/>
          </a:prstGeom>
          <a:solidFill>
            <a:schemeClr val="accent2">
              <a:lumMod val="20000"/>
              <a:lumOff val="80000"/>
            </a:schemeClr>
          </a:solidFill>
        </p:spPr>
        <p:txBody>
          <a:bodyPr wrap="square">
            <a:spAutoFit/>
          </a:bodyPr>
          <a:lstStyle/>
          <a:p>
            <a:r>
              <a:rPr lang="en-US" altLang="zh-CN" sz="2400" dirty="0"/>
              <a:t>[</a:t>
            </a:r>
            <a:r>
              <a:rPr lang="en-US" altLang="zh-CN" sz="2400" dirty="0" err="1"/>
              <a:t>root@localhost</a:t>
            </a:r>
            <a:r>
              <a:rPr lang="en-US" altLang="zh-CN" sz="2400" dirty="0"/>
              <a:t> ~]# </a:t>
            </a:r>
            <a:r>
              <a:rPr lang="en-US" altLang="zh-CN" sz="2400" dirty="0" smtClean="0"/>
              <a:t>pwck </a:t>
            </a:r>
            <a:endParaRPr lang="en-US" altLang="zh-CN" sz="2400" dirty="0"/>
          </a:p>
          <a:p>
            <a:r>
              <a:rPr lang="en-US" altLang="zh-CN" sz="2400" dirty="0"/>
              <a:t>user '</a:t>
            </a:r>
            <a:r>
              <a:rPr lang="en-US" altLang="zh-CN" sz="2400" dirty="0" err="1"/>
              <a:t>gluster</a:t>
            </a:r>
            <a:r>
              <a:rPr lang="en-US" altLang="zh-CN" sz="2400" dirty="0"/>
              <a:t>': directory '/</a:t>
            </a:r>
            <a:r>
              <a:rPr lang="en-US" altLang="zh-CN" sz="2400" dirty="0" err="1"/>
              <a:t>var</a:t>
            </a:r>
            <a:r>
              <a:rPr lang="en-US" altLang="zh-CN" sz="2400" dirty="0"/>
              <a:t>/run/</a:t>
            </a:r>
            <a:r>
              <a:rPr lang="en-US" altLang="zh-CN" sz="2400" dirty="0" err="1"/>
              <a:t>gluster</a:t>
            </a:r>
            <a:r>
              <a:rPr lang="en-US" altLang="zh-CN" sz="2400" dirty="0"/>
              <a:t>' does not exist</a:t>
            </a:r>
          </a:p>
          <a:p>
            <a:r>
              <a:rPr lang="en-US" altLang="zh-CN" sz="2400" dirty="0"/>
              <a:t>user 'pulse': directory '/</a:t>
            </a:r>
            <a:r>
              <a:rPr lang="en-US" altLang="zh-CN" sz="2400" dirty="0" err="1"/>
              <a:t>var</a:t>
            </a:r>
            <a:r>
              <a:rPr lang="en-US" altLang="zh-CN" sz="2400" dirty="0"/>
              <a:t>/run/pulse' does not exist</a:t>
            </a:r>
          </a:p>
          <a:p>
            <a:r>
              <a:rPr lang="en-US" altLang="zh-CN" sz="2400" dirty="0"/>
              <a:t>user 'test': directory '/home/test' does not exist</a:t>
            </a: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验证账号文件的一致性</a:t>
            </a:r>
          </a:p>
        </p:txBody>
      </p:sp>
      <p:sp>
        <p:nvSpPr>
          <p:cNvPr id="3" name="内容占位符 2"/>
          <p:cNvSpPr>
            <a:spLocks noGrp="1"/>
          </p:cNvSpPr>
          <p:nvPr>
            <p:ph idx="1"/>
          </p:nvPr>
        </p:nvSpPr>
        <p:spPr>
          <a:xfrm>
            <a:off x="762993" y="1484784"/>
            <a:ext cx="8208912" cy="4114800"/>
          </a:xfrm>
        </p:spPr>
        <p:txBody>
          <a:bodyPr/>
          <a:lstStyle/>
          <a:p>
            <a:r>
              <a:rPr lang="en-US" altLang="zh-CN" dirty="0" err="1" smtClean="0">
                <a:solidFill>
                  <a:srgbClr val="FF0000"/>
                </a:solidFill>
              </a:rPr>
              <a:t>grpck</a:t>
            </a:r>
            <a:r>
              <a:rPr lang="en-US" altLang="zh-CN" dirty="0" smtClean="0">
                <a:solidFill>
                  <a:srgbClr val="FF0000"/>
                </a:solidFill>
              </a:rPr>
              <a:t> </a:t>
            </a:r>
            <a:endParaRPr lang="en-US" altLang="zh-CN" dirty="0">
              <a:solidFill>
                <a:srgbClr val="FF0000"/>
              </a:solidFill>
            </a:endParaRPr>
          </a:p>
          <a:p>
            <a:pPr lvl="1"/>
            <a:r>
              <a:rPr lang="zh-CN" altLang="en-US" sz="2400" dirty="0"/>
              <a:t>验证组账号文件，认证信息的完整性 </a:t>
            </a:r>
          </a:p>
          <a:p>
            <a:pPr lvl="1"/>
            <a:r>
              <a:rPr lang="zh-CN" altLang="en-US" sz="2400" dirty="0"/>
              <a:t>该命令检测文件“</a:t>
            </a:r>
            <a:r>
              <a:rPr lang="en-US" altLang="zh-CN" sz="2400" dirty="0"/>
              <a:t>/etc/group”</a:t>
            </a:r>
            <a:r>
              <a:rPr lang="zh-CN" altLang="en-US" sz="2400" dirty="0"/>
              <a:t>和“</a:t>
            </a:r>
            <a:r>
              <a:rPr lang="en-US" altLang="zh-CN" sz="2400" dirty="0"/>
              <a:t>/etc/</a:t>
            </a:r>
            <a:r>
              <a:rPr lang="en-US" altLang="zh-CN" sz="2400" dirty="0" err="1"/>
              <a:t>gshadow</a:t>
            </a:r>
            <a:r>
              <a:rPr lang="en-US" altLang="zh-CN" sz="2400" dirty="0"/>
              <a:t>”</a:t>
            </a:r>
            <a:r>
              <a:rPr lang="zh-CN" altLang="en-US" sz="2400" dirty="0"/>
              <a:t>的每行中字段的格式和值是否正确</a:t>
            </a:r>
          </a:p>
        </p:txBody>
      </p:sp>
      <p:sp>
        <p:nvSpPr>
          <p:cNvPr id="4" name="矩形 3"/>
          <p:cNvSpPr/>
          <p:nvPr/>
        </p:nvSpPr>
        <p:spPr>
          <a:xfrm>
            <a:off x="762993" y="4221088"/>
            <a:ext cx="7920880" cy="830997"/>
          </a:xfrm>
          <a:prstGeom prst="rect">
            <a:avLst/>
          </a:prstGeom>
          <a:solidFill>
            <a:schemeClr val="accent2">
              <a:lumMod val="20000"/>
              <a:lumOff val="80000"/>
            </a:schemeClr>
          </a:solidFill>
        </p:spPr>
        <p:txBody>
          <a:bodyPr wrap="square">
            <a:spAutoFit/>
          </a:bodyPr>
          <a:lstStyle/>
          <a:p>
            <a:r>
              <a:rPr lang="en-US" altLang="zh-CN" sz="2400" dirty="0"/>
              <a:t>[</a:t>
            </a:r>
            <a:r>
              <a:rPr lang="en-US" altLang="zh-CN" sz="2400" dirty="0" err="1"/>
              <a:t>root@localhost</a:t>
            </a:r>
            <a:r>
              <a:rPr lang="en-US" altLang="zh-CN" sz="2400" dirty="0"/>
              <a:t> ~]# </a:t>
            </a:r>
            <a:r>
              <a:rPr lang="en-US" altLang="zh-CN" sz="2400" dirty="0" err="1"/>
              <a:t>grpck</a:t>
            </a:r>
            <a:r>
              <a:rPr lang="en-US" altLang="zh-CN" sz="2400" dirty="0"/>
              <a:t> /</a:t>
            </a:r>
            <a:r>
              <a:rPr lang="en-US" altLang="zh-CN" sz="2400" dirty="0" err="1"/>
              <a:t>etc</a:t>
            </a:r>
            <a:r>
              <a:rPr lang="en-US" altLang="zh-CN" sz="2400" dirty="0"/>
              <a:t>/group</a:t>
            </a:r>
          </a:p>
          <a:p>
            <a:r>
              <a:rPr lang="en-US" altLang="zh-CN" sz="2400" dirty="0"/>
              <a:t>[</a:t>
            </a:r>
            <a:r>
              <a:rPr lang="en-US" altLang="zh-CN" sz="2400" dirty="0" err="1"/>
              <a:t>root@localhost</a:t>
            </a:r>
            <a:r>
              <a:rPr lang="en-US" altLang="zh-CN" sz="2400" dirty="0"/>
              <a:t> ~]# </a:t>
            </a:r>
            <a:r>
              <a:rPr lang="en-US" altLang="zh-CN" sz="2400" dirty="0" err="1"/>
              <a:t>grpck</a:t>
            </a:r>
            <a:r>
              <a:rPr lang="en-US" altLang="zh-CN" sz="2400" dirty="0"/>
              <a:t> /</a:t>
            </a:r>
            <a:r>
              <a:rPr lang="en-US" altLang="zh-CN" sz="2400" dirty="0" err="1"/>
              <a:t>etc</a:t>
            </a:r>
            <a:r>
              <a:rPr lang="en-US" altLang="zh-CN" sz="2400" dirty="0"/>
              <a:t>/</a:t>
            </a:r>
            <a:r>
              <a:rPr lang="en-US" altLang="zh-CN" sz="2400" dirty="0" err="1"/>
              <a:t>gshadow</a:t>
            </a:r>
            <a:endParaRPr lang="en-US" altLang="zh-CN" sz="2400" dirty="0"/>
          </a:p>
        </p:txBody>
      </p:sp>
    </p:spTree>
    <p:extLst>
      <p:ext uri="{BB962C8B-B14F-4D97-AF65-F5344CB8AC3E}">
        <p14:creationId xmlns:p14="http://schemas.microsoft.com/office/powerpoint/2010/main" val="402829741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四 用户和组管理工具</a:t>
            </a:r>
          </a:p>
        </p:txBody>
      </p:sp>
      <p:sp>
        <p:nvSpPr>
          <p:cNvPr id="3" name="内容占位符 2"/>
          <p:cNvSpPr>
            <a:spLocks noGrp="1"/>
          </p:cNvSpPr>
          <p:nvPr>
            <p:ph idx="1"/>
          </p:nvPr>
        </p:nvSpPr>
        <p:spPr>
          <a:xfrm>
            <a:off x="971600" y="1556792"/>
            <a:ext cx="7772400" cy="4114800"/>
          </a:xfrm>
        </p:spPr>
        <p:txBody>
          <a:bodyPr/>
          <a:lstStyle/>
          <a:p>
            <a:r>
              <a:rPr lang="zh-CN" altLang="en-US" dirty="0">
                <a:solidFill>
                  <a:srgbClr val="FF0000"/>
                </a:solidFill>
              </a:rPr>
              <a:t>用户管理 </a:t>
            </a:r>
          </a:p>
          <a:p>
            <a:pPr lvl="1"/>
            <a:r>
              <a:rPr lang="en-US" altLang="zh-CN" dirty="0">
                <a:solidFill>
                  <a:schemeClr val="accent6">
                    <a:lumMod val="75000"/>
                  </a:schemeClr>
                </a:solidFill>
              </a:rPr>
              <a:t>useradd</a:t>
            </a:r>
            <a:r>
              <a:rPr lang="en-US" altLang="zh-CN" dirty="0"/>
              <a:t> </a:t>
            </a:r>
            <a:r>
              <a:rPr lang="zh-CN" altLang="en-US" dirty="0"/>
              <a:t>添加</a:t>
            </a:r>
            <a:r>
              <a:rPr lang="en-US" altLang="zh-CN" dirty="0"/>
              <a:t> </a:t>
            </a:r>
          </a:p>
          <a:p>
            <a:pPr lvl="1"/>
            <a:r>
              <a:rPr lang="en-US" altLang="zh-CN" dirty="0">
                <a:solidFill>
                  <a:schemeClr val="accent6">
                    <a:lumMod val="75000"/>
                  </a:schemeClr>
                </a:solidFill>
              </a:rPr>
              <a:t>usermod</a:t>
            </a:r>
            <a:r>
              <a:rPr lang="en-US" altLang="zh-CN" dirty="0"/>
              <a:t> </a:t>
            </a:r>
            <a:r>
              <a:rPr lang="zh-CN" altLang="en-US" dirty="0"/>
              <a:t>修改</a:t>
            </a:r>
            <a:endParaRPr lang="en-US" altLang="zh-CN" dirty="0"/>
          </a:p>
          <a:p>
            <a:pPr lvl="1"/>
            <a:r>
              <a:rPr lang="en-US" altLang="zh-CN" dirty="0" err="1">
                <a:solidFill>
                  <a:schemeClr val="accent6">
                    <a:lumMod val="75000"/>
                  </a:schemeClr>
                </a:solidFill>
              </a:rPr>
              <a:t>userdel</a:t>
            </a:r>
            <a:r>
              <a:rPr lang="en-US" altLang="zh-CN" dirty="0"/>
              <a:t> </a:t>
            </a:r>
            <a:r>
              <a:rPr lang="zh-CN" altLang="en-US" dirty="0"/>
              <a:t>删除</a:t>
            </a:r>
            <a:endParaRPr lang="en-US" altLang="zh-CN" dirty="0"/>
          </a:p>
          <a:p>
            <a:r>
              <a:rPr lang="zh-CN" altLang="en-US" dirty="0">
                <a:solidFill>
                  <a:srgbClr val="FF0000"/>
                </a:solidFill>
              </a:rPr>
              <a:t>组管理 </a:t>
            </a:r>
          </a:p>
          <a:p>
            <a:pPr lvl="1"/>
            <a:r>
              <a:rPr lang="en-US" altLang="zh-CN" dirty="0" err="1">
                <a:solidFill>
                  <a:schemeClr val="accent6">
                    <a:lumMod val="75000"/>
                  </a:schemeClr>
                </a:solidFill>
              </a:rPr>
              <a:t>groupadd</a:t>
            </a:r>
            <a:r>
              <a:rPr lang="en-US" altLang="zh-CN" dirty="0"/>
              <a:t> </a:t>
            </a:r>
            <a:r>
              <a:rPr lang="zh-CN" altLang="en-US" dirty="0"/>
              <a:t>添加</a:t>
            </a:r>
            <a:endParaRPr lang="en-US" altLang="zh-CN" dirty="0"/>
          </a:p>
          <a:p>
            <a:pPr lvl="1"/>
            <a:r>
              <a:rPr lang="en-US" altLang="zh-CN" dirty="0" err="1">
                <a:solidFill>
                  <a:schemeClr val="accent6">
                    <a:lumMod val="75000"/>
                  </a:schemeClr>
                </a:solidFill>
              </a:rPr>
              <a:t>groupmod</a:t>
            </a:r>
            <a:r>
              <a:rPr lang="en-US" altLang="zh-CN" dirty="0"/>
              <a:t> </a:t>
            </a:r>
            <a:r>
              <a:rPr lang="zh-CN" altLang="en-US" dirty="0"/>
              <a:t>修改</a:t>
            </a:r>
            <a:endParaRPr lang="en-US" altLang="zh-CN" dirty="0"/>
          </a:p>
          <a:p>
            <a:pPr lvl="1"/>
            <a:r>
              <a:rPr lang="en-US" altLang="zh-CN" dirty="0" err="1">
                <a:solidFill>
                  <a:schemeClr val="accent6">
                    <a:lumMod val="75000"/>
                  </a:schemeClr>
                </a:solidFill>
              </a:rPr>
              <a:t>groupdel</a:t>
            </a:r>
            <a:r>
              <a:rPr lang="en-US" altLang="zh-CN" dirty="0"/>
              <a:t> </a:t>
            </a:r>
            <a:r>
              <a:rPr lang="zh-CN" altLang="en-US" dirty="0"/>
              <a:t>删除</a:t>
            </a: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添加用户账号</a:t>
            </a:r>
            <a:r>
              <a:rPr lang="en-US" altLang="zh-CN" dirty="0"/>
              <a:t>—</a:t>
            </a:r>
            <a:r>
              <a:rPr lang="en-US" altLang="zh-CN" sz="4400" dirty="0"/>
              <a:t>useradd</a:t>
            </a:r>
            <a:endParaRPr lang="zh-CN" altLang="en-US" dirty="0"/>
          </a:p>
        </p:txBody>
      </p:sp>
      <p:sp>
        <p:nvSpPr>
          <p:cNvPr id="3" name="内容占位符 2"/>
          <p:cNvSpPr>
            <a:spLocks noGrp="1"/>
          </p:cNvSpPr>
          <p:nvPr>
            <p:ph idx="1"/>
          </p:nvPr>
        </p:nvSpPr>
        <p:spPr>
          <a:xfrm>
            <a:off x="884709" y="1469864"/>
            <a:ext cx="7586191" cy="1468760"/>
          </a:xfrm>
        </p:spPr>
        <p:txBody>
          <a:bodyPr/>
          <a:lstStyle/>
          <a:p>
            <a:r>
              <a:rPr lang="zh-CN" altLang="en-US" dirty="0"/>
              <a:t>格式：</a:t>
            </a:r>
          </a:p>
          <a:p>
            <a:pPr lvl="1">
              <a:buNone/>
            </a:pPr>
            <a:r>
              <a:rPr lang="en-US" altLang="zh-CN" sz="2400" dirty="0">
                <a:solidFill>
                  <a:schemeClr val="accent6">
                    <a:lumMod val="75000"/>
                  </a:schemeClr>
                </a:solidFill>
              </a:rPr>
              <a:t># useradd [&lt;</a:t>
            </a:r>
            <a:r>
              <a:rPr lang="zh-CN" altLang="en-US" sz="2400" dirty="0">
                <a:solidFill>
                  <a:schemeClr val="accent6">
                    <a:lumMod val="75000"/>
                  </a:schemeClr>
                </a:solidFill>
              </a:rPr>
              <a:t>选项</a:t>
            </a:r>
            <a:r>
              <a:rPr lang="en-US" altLang="zh-CN" sz="2400" dirty="0">
                <a:solidFill>
                  <a:schemeClr val="accent6">
                    <a:lumMod val="75000"/>
                  </a:schemeClr>
                </a:solidFill>
              </a:rPr>
              <a:t>&gt;] &lt;</a:t>
            </a:r>
            <a:r>
              <a:rPr lang="zh-CN" altLang="en-US" sz="2400" dirty="0">
                <a:solidFill>
                  <a:schemeClr val="accent6">
                    <a:lumMod val="75000"/>
                  </a:schemeClr>
                </a:solidFill>
              </a:rPr>
              <a:t>用户名</a:t>
            </a:r>
            <a:r>
              <a:rPr lang="en-US" altLang="zh-CN" sz="2400" dirty="0">
                <a:solidFill>
                  <a:schemeClr val="accent6">
                    <a:lumMod val="75000"/>
                  </a:schemeClr>
                </a:solidFill>
              </a:rPr>
              <a:t>&gt;</a:t>
            </a:r>
          </a:p>
          <a:p>
            <a:r>
              <a:rPr lang="zh-CN" altLang="en-US" dirty="0"/>
              <a:t>常用选项</a:t>
            </a:r>
            <a:endParaRPr lang="zh-CN" altLang="en-US" sz="3600" dirty="0"/>
          </a:p>
        </p:txBody>
      </p:sp>
      <p:graphicFrame>
        <p:nvGraphicFramePr>
          <p:cNvPr id="7" name="Group 27"/>
          <p:cNvGraphicFramePr>
            <a:graphicFrameLocks/>
          </p:cNvGraphicFramePr>
          <p:nvPr>
            <p:extLst>
              <p:ext uri="{D42A27DB-BD31-4B8C-83A1-F6EECF244321}">
                <p14:modId xmlns:p14="http://schemas.microsoft.com/office/powerpoint/2010/main" val="116501063"/>
              </p:ext>
            </p:extLst>
          </p:nvPr>
        </p:nvGraphicFramePr>
        <p:xfrm>
          <a:off x="971600" y="3214235"/>
          <a:ext cx="7859712" cy="3450909"/>
        </p:xfrm>
        <a:graphic>
          <a:graphicData uri="http://schemas.openxmlformats.org/drawingml/2006/table">
            <a:tbl>
              <a:tblPr>
                <a:tableStyleId>{284E427A-3D55-4303-BF80-6455036E1DE7}</a:tableStyleId>
              </a:tblPr>
              <a:tblGrid>
                <a:gridCol w="2014537">
                  <a:extLst>
                    <a:ext uri="{9D8B030D-6E8A-4147-A177-3AD203B41FA5}">
                      <a16:colId xmlns:a16="http://schemas.microsoft.com/office/drawing/2014/main" val="20000"/>
                    </a:ext>
                  </a:extLst>
                </a:gridCol>
                <a:gridCol w="5845175">
                  <a:extLst>
                    <a:ext uri="{9D8B030D-6E8A-4147-A177-3AD203B41FA5}">
                      <a16:colId xmlns:a16="http://schemas.microsoft.com/office/drawing/2014/main" val="20001"/>
                    </a:ext>
                  </a:extLst>
                </a:gridCol>
              </a:tblGrid>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dirty="0">
                          <a:ln>
                            <a:noFill/>
                          </a:ln>
                          <a:effectLst/>
                        </a:rPr>
                        <a:t>-g group</a:t>
                      </a:r>
                      <a:endParaRPr kumimoji="0" lang="en-US" altLang="zh-CN" sz="20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effectLst/>
                        </a:rPr>
                        <a:t>指定新用户的</a:t>
                      </a:r>
                      <a:r>
                        <a:rPr kumimoji="0" lang="zh-CN" altLang="en-US" sz="2000" u="none" strike="noStrike" cap="none" normalizeH="0" baseline="0" dirty="0">
                          <a:ln>
                            <a:noFill/>
                          </a:ln>
                          <a:solidFill>
                            <a:srgbClr val="FF0000"/>
                          </a:solidFill>
                          <a:effectLst/>
                        </a:rPr>
                        <a:t>主（私有）组</a:t>
                      </a:r>
                      <a:r>
                        <a:rPr kumimoji="0" lang="zh-CN" altLang="en-US" sz="2000" u="none" strike="noStrike" cap="none" normalizeH="0" baseline="0" dirty="0">
                          <a:ln>
                            <a:noFill/>
                          </a:ln>
                          <a:effectLst/>
                        </a:rPr>
                        <a:t>，该用户组</a:t>
                      </a:r>
                      <a:r>
                        <a:rPr kumimoji="0" lang="en-US" altLang="zh-CN" sz="2000" u="none" strike="noStrike" cap="none" normalizeH="0" baseline="0" dirty="0">
                          <a:ln>
                            <a:noFill/>
                          </a:ln>
                          <a:effectLst/>
                        </a:rPr>
                        <a:t>GID</a:t>
                      </a:r>
                      <a:r>
                        <a:rPr kumimoji="0" lang="zh-CN" altLang="en-US" sz="2000" u="none" strike="noStrike" cap="none" normalizeH="0" baseline="0" dirty="0">
                          <a:ln>
                            <a:noFill/>
                          </a:ln>
                          <a:effectLst/>
                        </a:rPr>
                        <a:t>会被放到</a:t>
                      </a:r>
                      <a:r>
                        <a:rPr kumimoji="0" lang="en-US" altLang="zh-CN" sz="2000" u="none" strike="noStrike" cap="none" normalizeH="0" baseline="0" dirty="0">
                          <a:ln>
                            <a:noFill/>
                          </a:ln>
                          <a:solidFill>
                            <a:srgbClr val="FF0000"/>
                          </a:solidFill>
                          <a:effectLst/>
                        </a:rPr>
                        <a:t>/</a:t>
                      </a:r>
                      <a:r>
                        <a:rPr kumimoji="0" lang="en-US" altLang="zh-CN" sz="2000" u="none" strike="noStrike" cap="none" normalizeH="0" baseline="0" dirty="0" err="1">
                          <a:ln>
                            <a:noFill/>
                          </a:ln>
                          <a:solidFill>
                            <a:srgbClr val="FF0000"/>
                          </a:solidFill>
                          <a:effectLst/>
                        </a:rPr>
                        <a:t>etc</a:t>
                      </a:r>
                      <a:r>
                        <a:rPr kumimoji="0" lang="en-US" altLang="zh-CN" sz="2000" u="none" strike="noStrike" cap="none" normalizeH="0" baseline="0" dirty="0">
                          <a:ln>
                            <a:noFill/>
                          </a:ln>
                          <a:solidFill>
                            <a:srgbClr val="FF0000"/>
                          </a:solidFill>
                          <a:effectLst/>
                        </a:rPr>
                        <a:t>/passwd</a:t>
                      </a:r>
                      <a:r>
                        <a:rPr kumimoji="0" lang="zh-CN" altLang="en-US" sz="2000" u="none" strike="noStrike" cap="none" normalizeH="0" baseline="0" dirty="0">
                          <a:ln>
                            <a:noFill/>
                          </a:ln>
                          <a:effectLst/>
                        </a:rPr>
                        <a:t>的第四栏，初始组</a:t>
                      </a:r>
                      <a:endParaRPr kumimoji="0" lang="zh-CN" altLang="en-US" sz="20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0"/>
                  </a:ext>
                </a:extLst>
              </a:tr>
              <a:tr h="450850">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dirty="0">
                          <a:ln>
                            <a:noFill/>
                          </a:ln>
                          <a:effectLst/>
                        </a:rPr>
                        <a:t>-G group</a:t>
                      </a:r>
                      <a:endParaRPr kumimoji="0" lang="en-US" altLang="zh-CN" sz="20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effectLst/>
                        </a:rPr>
                        <a:t>指定新用户可加入的</a:t>
                      </a:r>
                      <a:r>
                        <a:rPr kumimoji="0" lang="zh-CN" altLang="en-US" sz="2000" u="none" strike="noStrike" cap="none" normalizeH="0" baseline="0" dirty="0">
                          <a:ln>
                            <a:noFill/>
                          </a:ln>
                          <a:solidFill>
                            <a:srgbClr val="FF0000"/>
                          </a:solidFill>
                          <a:effectLst/>
                        </a:rPr>
                        <a:t>附加组</a:t>
                      </a:r>
                      <a:r>
                        <a:rPr kumimoji="0" lang="zh-CN" altLang="en-US" sz="2000" u="none" strike="noStrike" cap="none" normalizeH="0" baseline="0" dirty="0">
                          <a:ln>
                            <a:noFill/>
                          </a:ln>
                          <a:effectLst/>
                        </a:rPr>
                        <a:t>，该选项参数会修改</a:t>
                      </a:r>
                      <a:r>
                        <a:rPr kumimoji="0" lang="en-US" altLang="zh-CN" sz="2000" u="none" strike="noStrike" cap="none" normalizeH="0" baseline="0" dirty="0">
                          <a:ln>
                            <a:noFill/>
                          </a:ln>
                          <a:solidFill>
                            <a:srgbClr val="FF0000"/>
                          </a:solidFill>
                          <a:effectLst/>
                        </a:rPr>
                        <a:t>/</a:t>
                      </a:r>
                      <a:r>
                        <a:rPr kumimoji="0" lang="en-US" altLang="zh-CN" sz="2000" u="none" strike="noStrike" cap="none" normalizeH="0" baseline="0" dirty="0" err="1">
                          <a:ln>
                            <a:noFill/>
                          </a:ln>
                          <a:solidFill>
                            <a:srgbClr val="FF0000"/>
                          </a:solidFill>
                          <a:effectLst/>
                        </a:rPr>
                        <a:t>etc</a:t>
                      </a:r>
                      <a:r>
                        <a:rPr kumimoji="0" lang="en-US" altLang="zh-CN" sz="2000" u="none" strike="noStrike" cap="none" normalizeH="0" baseline="0" dirty="0">
                          <a:ln>
                            <a:noFill/>
                          </a:ln>
                          <a:solidFill>
                            <a:srgbClr val="FF0000"/>
                          </a:solidFill>
                          <a:effectLst/>
                        </a:rPr>
                        <a:t>/group</a:t>
                      </a:r>
                      <a:r>
                        <a:rPr kumimoji="0" lang="zh-CN" altLang="en-US" sz="2000" u="none" strike="noStrike" cap="none" normalizeH="0" baseline="0" dirty="0">
                          <a:ln>
                            <a:noFill/>
                          </a:ln>
                          <a:effectLst/>
                        </a:rPr>
                        <a:t>内的相关内容</a:t>
                      </a:r>
                      <a:endParaRPr kumimoji="0" lang="zh-CN" altLang="en-US" sz="20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1"/>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a:ln>
                            <a:noFill/>
                          </a:ln>
                          <a:effectLst/>
                        </a:rPr>
                        <a:t>-d directory</a:t>
                      </a:r>
                      <a:endParaRPr kumimoji="0" lang="en-US" altLang="zh-CN" sz="20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solidFill>
                            <a:srgbClr val="FF0000"/>
                          </a:solidFill>
                          <a:effectLst/>
                        </a:rPr>
                        <a:t>指定</a:t>
                      </a:r>
                      <a:r>
                        <a:rPr kumimoji="0" lang="zh-CN" altLang="en-US" sz="2000" u="none" strike="noStrike" cap="none" normalizeH="0" baseline="0" dirty="0">
                          <a:ln>
                            <a:noFill/>
                          </a:ln>
                          <a:effectLst/>
                        </a:rPr>
                        <a:t>新用户的自</a:t>
                      </a:r>
                      <a:r>
                        <a:rPr kumimoji="0" lang="zh-CN" altLang="en-US" sz="2000" u="none" strike="noStrike" cap="none" normalizeH="0" baseline="0" dirty="0">
                          <a:ln>
                            <a:noFill/>
                          </a:ln>
                          <a:solidFill>
                            <a:srgbClr val="FF0000"/>
                          </a:solidFill>
                          <a:effectLst/>
                        </a:rPr>
                        <a:t>家目录</a:t>
                      </a:r>
                      <a:r>
                        <a:rPr kumimoji="0" lang="zh-CN" altLang="en-US" sz="2000" u="none" strike="noStrike" cap="none" normalizeH="0" baseline="0" dirty="0">
                          <a:ln>
                            <a:noFill/>
                          </a:ln>
                          <a:effectLst/>
                        </a:rPr>
                        <a:t>，路径必须使用</a:t>
                      </a:r>
                      <a:r>
                        <a:rPr kumimoji="0" lang="zh-CN" altLang="en-US" sz="2000" u="none" strike="noStrike" cap="none" normalizeH="0" baseline="0" dirty="0">
                          <a:ln>
                            <a:noFill/>
                          </a:ln>
                          <a:solidFill>
                            <a:srgbClr val="FF0000"/>
                          </a:solidFill>
                          <a:effectLst/>
                        </a:rPr>
                        <a:t>绝对路径</a:t>
                      </a:r>
                      <a:endParaRPr kumimoji="0" lang="zh-CN" altLang="en-US" sz="2000" b="0" i="0" u="none" strike="noStrike" cap="none" normalizeH="0" baseline="0" dirty="0">
                        <a:ln>
                          <a:noFill/>
                        </a:ln>
                        <a:solidFill>
                          <a:srgbClr val="FF0000"/>
                        </a:solidFill>
                        <a:effectLst/>
                        <a:latin typeface="Arial" charset="0"/>
                        <a:ea typeface="宋体" charset="-122"/>
                      </a:endParaRPr>
                    </a:p>
                  </a:txBody>
                  <a:tcPr anchor="ctr" horzOverflow="overflow"/>
                </a:tc>
                <a:extLst>
                  <a:ext uri="{0D108BD9-81ED-4DB2-BD59-A6C34878D82A}">
                    <a16:rowId xmlns:a16="http://schemas.microsoft.com/office/drawing/2014/main" val="10002"/>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a:ln>
                            <a:noFill/>
                          </a:ln>
                          <a:effectLst/>
                        </a:rPr>
                        <a:t>-s shell</a:t>
                      </a:r>
                      <a:endParaRPr kumimoji="0" lang="en-US" altLang="zh-CN" sz="20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solidFill>
                            <a:srgbClr val="FF0000"/>
                          </a:solidFill>
                          <a:effectLst/>
                        </a:rPr>
                        <a:t>指定</a:t>
                      </a:r>
                      <a:r>
                        <a:rPr kumimoji="0" lang="zh-CN" altLang="en-US" sz="2000" u="none" strike="noStrike" cap="none" normalizeH="0" baseline="0" dirty="0">
                          <a:ln>
                            <a:noFill/>
                          </a:ln>
                          <a:effectLst/>
                        </a:rPr>
                        <a:t>新用户使用的</a:t>
                      </a:r>
                      <a:r>
                        <a:rPr kumimoji="0" lang="en-US" altLang="zh-CN" sz="2000" u="none" strike="noStrike" cap="none" normalizeH="0" baseline="0" dirty="0">
                          <a:ln>
                            <a:noFill/>
                          </a:ln>
                          <a:solidFill>
                            <a:srgbClr val="FF0000"/>
                          </a:solidFill>
                          <a:effectLst/>
                        </a:rPr>
                        <a:t>Shell</a:t>
                      </a:r>
                      <a:r>
                        <a:rPr kumimoji="0" lang="zh-CN" altLang="en-US" sz="2000" u="none" strike="noStrike" cap="none" normalizeH="0" baseline="0" dirty="0">
                          <a:ln>
                            <a:noFill/>
                          </a:ln>
                          <a:effectLst/>
                        </a:rPr>
                        <a:t>，默认为</a:t>
                      </a:r>
                      <a:r>
                        <a:rPr kumimoji="0" lang="en-US" altLang="zh-CN" sz="2000" u="none" strike="noStrike" cap="none" normalizeH="0" baseline="0" dirty="0">
                          <a:ln>
                            <a:noFill/>
                          </a:ln>
                          <a:effectLst/>
                        </a:rPr>
                        <a:t>bash</a:t>
                      </a:r>
                      <a:endParaRPr kumimoji="0" lang="zh-CN" altLang="en-US" sz="20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3"/>
                  </a:ext>
                </a:extLst>
              </a:tr>
              <a:tr h="450850">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dirty="0">
                          <a:ln>
                            <a:noFill/>
                          </a:ln>
                          <a:effectLst/>
                        </a:rPr>
                        <a:t>-e expire</a:t>
                      </a:r>
                      <a:endParaRPr kumimoji="0" lang="en-US" altLang="zh-CN" sz="20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effectLst/>
                        </a:rPr>
                        <a:t>指定用户的登录</a:t>
                      </a:r>
                      <a:r>
                        <a:rPr kumimoji="0" lang="zh-CN" altLang="en-US" sz="2000" u="none" strike="noStrike" cap="none" normalizeH="0" baseline="0" dirty="0">
                          <a:ln>
                            <a:noFill/>
                          </a:ln>
                          <a:solidFill>
                            <a:srgbClr val="FF0000"/>
                          </a:solidFill>
                          <a:effectLst/>
                        </a:rPr>
                        <a:t>失效时间</a:t>
                      </a:r>
                      <a:r>
                        <a:rPr kumimoji="0" lang="zh-CN" altLang="en-US" sz="2000" u="none" strike="noStrike" cap="none" normalizeH="0" baseline="0" dirty="0">
                          <a:ln>
                            <a:noFill/>
                          </a:ln>
                          <a:effectLst/>
                        </a:rPr>
                        <a:t>，例如：</a:t>
                      </a:r>
                      <a:r>
                        <a:rPr kumimoji="0" lang="en-US" altLang="zh-CN" sz="2000" u="none" strike="noStrike" cap="none" normalizeH="0" baseline="0" dirty="0">
                          <a:ln>
                            <a:noFill/>
                          </a:ln>
                          <a:effectLst/>
                        </a:rPr>
                        <a:t>08/10/2001</a:t>
                      </a:r>
                      <a:r>
                        <a:rPr kumimoji="0" lang="zh-CN" altLang="en-US" sz="2000" u="none" strike="noStrike" cap="none" normalizeH="0" baseline="0" dirty="0">
                          <a:ln>
                            <a:noFill/>
                          </a:ln>
                          <a:effectLst/>
                        </a:rPr>
                        <a:t>，会写入到</a:t>
                      </a:r>
                      <a:r>
                        <a:rPr kumimoji="0" lang="en-US" altLang="zh-CN" sz="2000" u="none" strike="noStrike" cap="none" normalizeH="0" baseline="0" dirty="0">
                          <a:ln>
                            <a:noFill/>
                          </a:ln>
                          <a:solidFill>
                            <a:srgbClr val="FF0000"/>
                          </a:solidFill>
                          <a:effectLst/>
                        </a:rPr>
                        <a:t>/</a:t>
                      </a:r>
                      <a:r>
                        <a:rPr kumimoji="0" lang="en-US" altLang="zh-CN" sz="2000" u="none" strike="noStrike" cap="none" normalizeH="0" baseline="0" dirty="0" err="1">
                          <a:ln>
                            <a:noFill/>
                          </a:ln>
                          <a:solidFill>
                            <a:srgbClr val="FF0000"/>
                          </a:solidFill>
                          <a:effectLst/>
                        </a:rPr>
                        <a:t>etc</a:t>
                      </a:r>
                      <a:r>
                        <a:rPr kumimoji="0" lang="en-US" altLang="zh-CN" sz="2000" u="none" strike="noStrike" cap="none" normalizeH="0" baseline="0" dirty="0">
                          <a:ln>
                            <a:noFill/>
                          </a:ln>
                          <a:solidFill>
                            <a:srgbClr val="FF0000"/>
                          </a:solidFill>
                          <a:effectLst/>
                        </a:rPr>
                        <a:t>/shadow</a:t>
                      </a:r>
                      <a:r>
                        <a:rPr kumimoji="0" lang="zh-CN" altLang="en-US" sz="2000" u="none" strike="noStrike" cap="none" normalizeH="0" baseline="0" dirty="0">
                          <a:ln>
                            <a:noFill/>
                          </a:ln>
                          <a:solidFill>
                            <a:srgbClr val="FF0000"/>
                          </a:solidFill>
                          <a:effectLst/>
                        </a:rPr>
                        <a:t>第八栏</a:t>
                      </a:r>
                      <a:endParaRPr kumimoji="0" lang="en-US" altLang="zh-CN" sz="2000" b="0" i="0" u="none" strike="noStrike" cap="none" normalizeH="0" baseline="0" dirty="0">
                        <a:ln>
                          <a:noFill/>
                        </a:ln>
                        <a:solidFill>
                          <a:srgbClr val="FF0000"/>
                        </a:solidFill>
                        <a:effectLst/>
                        <a:latin typeface="Arial" charset="0"/>
                        <a:ea typeface="宋体" charset="-122"/>
                      </a:endParaRPr>
                    </a:p>
                  </a:txBody>
                  <a:tcPr anchor="ctr" horzOverflow="overflow"/>
                </a:tc>
                <a:extLst>
                  <a:ext uri="{0D108BD9-81ED-4DB2-BD59-A6C34878D82A}">
                    <a16:rowId xmlns:a16="http://schemas.microsoft.com/office/drawing/2014/main" val="10004"/>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u="none" strike="noStrike" cap="none" normalizeH="0" baseline="0" dirty="0">
                          <a:ln>
                            <a:noFill/>
                          </a:ln>
                          <a:effectLst/>
                        </a:rPr>
                        <a:t>-M</a:t>
                      </a:r>
                      <a:endParaRPr kumimoji="0" lang="en-US" altLang="zh-CN" sz="20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000" u="none" strike="noStrike" cap="none" normalizeH="0" baseline="0" dirty="0">
                          <a:ln>
                            <a:noFill/>
                          </a:ln>
                          <a:solidFill>
                            <a:srgbClr val="FF0000"/>
                          </a:solidFill>
                          <a:effectLst/>
                        </a:rPr>
                        <a:t>不建立</a:t>
                      </a:r>
                      <a:r>
                        <a:rPr kumimoji="0" lang="zh-CN" altLang="en-US" sz="2000" u="none" strike="noStrike" cap="none" normalizeH="0" baseline="0" dirty="0">
                          <a:ln>
                            <a:noFill/>
                          </a:ln>
                          <a:effectLst/>
                        </a:rPr>
                        <a:t>新用户的自</a:t>
                      </a:r>
                      <a:r>
                        <a:rPr kumimoji="0" lang="zh-CN" altLang="en-US" sz="2000" u="none" strike="noStrike" cap="none" normalizeH="0" baseline="0" dirty="0">
                          <a:ln>
                            <a:noFill/>
                          </a:ln>
                          <a:solidFill>
                            <a:srgbClr val="FF0000"/>
                          </a:solidFill>
                          <a:effectLst/>
                        </a:rPr>
                        <a:t>家目录</a:t>
                      </a:r>
                      <a:endParaRPr kumimoji="0" lang="zh-CN" altLang="en-US" sz="2000" b="0" i="0" u="none" strike="noStrike" cap="none" normalizeH="0" baseline="0" dirty="0">
                        <a:ln>
                          <a:noFill/>
                        </a:ln>
                        <a:solidFill>
                          <a:srgbClr val="FF0000"/>
                        </a:solidFill>
                        <a:effectLst/>
                        <a:latin typeface="Arial" charset="0"/>
                        <a:ea typeface="宋体" charset="-122"/>
                      </a:endParaRPr>
                    </a:p>
                  </a:txBody>
                  <a:tcPr anchor="ctr" horzOverflow="overflow"/>
                </a:tc>
                <a:extLst>
                  <a:ext uri="{0D108BD9-81ED-4DB2-BD59-A6C34878D82A}">
                    <a16:rowId xmlns:a16="http://schemas.microsoft.com/office/drawing/2014/main" val="10005"/>
                  </a:ext>
                </a:extLst>
              </a:tr>
            </a:tbl>
          </a:graphicData>
        </a:graphic>
      </p:graphicFrame>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添加用户账号举例</a:t>
            </a:r>
            <a:endParaRPr lang="zh-CN" altLang="en-US" dirty="0"/>
          </a:p>
        </p:txBody>
      </p:sp>
      <p:sp>
        <p:nvSpPr>
          <p:cNvPr id="3" name="内容占位符 2"/>
          <p:cNvSpPr>
            <a:spLocks noGrp="1"/>
          </p:cNvSpPr>
          <p:nvPr>
            <p:ph idx="1"/>
          </p:nvPr>
        </p:nvSpPr>
        <p:spPr>
          <a:xfrm>
            <a:off x="395536" y="1628800"/>
            <a:ext cx="8424936" cy="4536504"/>
          </a:xfrm>
        </p:spPr>
        <p:txBody>
          <a:bodyPr/>
          <a:lstStyle/>
          <a:p>
            <a:pPr>
              <a:lnSpc>
                <a:spcPct val="93000"/>
              </a:lnSpc>
              <a:spcBef>
                <a:spcPts val="688"/>
              </a:spcBef>
              <a:buSzPct val="87000"/>
            </a:pPr>
            <a:r>
              <a:rPr lang="zh-CN" altLang="en-GB" sz="2800" dirty="0"/>
              <a:t>例一：</a:t>
            </a:r>
          </a:p>
          <a:p>
            <a:pPr lvl="1">
              <a:lnSpc>
                <a:spcPct val="93000"/>
              </a:lnSpc>
              <a:spcBef>
                <a:spcPts val="688"/>
              </a:spcBef>
              <a:buSzPct val="87000"/>
            </a:pPr>
            <a:r>
              <a:rPr lang="en-GB" altLang="zh-CN" sz="2400" dirty="0">
                <a:solidFill>
                  <a:schemeClr val="accent2">
                    <a:lumMod val="75000"/>
                  </a:schemeClr>
                </a:solidFill>
              </a:rPr>
              <a:t># </a:t>
            </a:r>
            <a:r>
              <a:rPr lang="en-GB" altLang="zh-CN" sz="2400" dirty="0" err="1">
                <a:solidFill>
                  <a:schemeClr val="accent2">
                    <a:lumMod val="75000"/>
                  </a:schemeClr>
                </a:solidFill>
              </a:rPr>
              <a:t>useradd</a:t>
            </a:r>
            <a:r>
              <a:rPr lang="en-GB" altLang="zh-CN" sz="2400" dirty="0">
                <a:solidFill>
                  <a:schemeClr val="accent2">
                    <a:lumMod val="75000"/>
                  </a:schemeClr>
                </a:solidFill>
              </a:rPr>
              <a:t> </a:t>
            </a:r>
            <a:r>
              <a:rPr lang="en-US" altLang="zh-CN" sz="2400" dirty="0">
                <a:solidFill>
                  <a:schemeClr val="accent2">
                    <a:lumMod val="75000"/>
                  </a:schemeClr>
                </a:solidFill>
              </a:rPr>
              <a:t>-</a:t>
            </a:r>
            <a:r>
              <a:rPr lang="en-GB" altLang="zh-CN" sz="2400" dirty="0">
                <a:solidFill>
                  <a:schemeClr val="accent2">
                    <a:lumMod val="75000"/>
                  </a:schemeClr>
                </a:solidFill>
              </a:rPr>
              <a:t>g group1 </a:t>
            </a:r>
            <a:r>
              <a:rPr lang="en-US" altLang="zh-CN" sz="2400" dirty="0">
                <a:solidFill>
                  <a:schemeClr val="accent2">
                    <a:lumMod val="75000"/>
                  </a:schemeClr>
                </a:solidFill>
              </a:rPr>
              <a:t>-</a:t>
            </a:r>
            <a:r>
              <a:rPr lang="en-GB" altLang="zh-CN" sz="2400" dirty="0">
                <a:solidFill>
                  <a:schemeClr val="accent2">
                    <a:lumMod val="75000"/>
                  </a:schemeClr>
                </a:solidFill>
              </a:rPr>
              <a:t>e 12/31/2011 user1</a:t>
            </a:r>
          </a:p>
          <a:p>
            <a:pPr lvl="1">
              <a:spcBef>
                <a:spcPts val="688"/>
              </a:spcBef>
              <a:buSzPct val="87000"/>
            </a:pPr>
            <a:r>
              <a:rPr lang="en-GB" altLang="zh-CN" sz="2400" dirty="0">
                <a:solidFill>
                  <a:schemeClr val="accent2">
                    <a:lumMod val="75000"/>
                  </a:schemeClr>
                </a:solidFill>
              </a:rPr>
              <a:t># </a:t>
            </a:r>
            <a:r>
              <a:rPr lang="en-GB" altLang="zh-CN" sz="2400" dirty="0" err="1">
                <a:solidFill>
                  <a:schemeClr val="accent2">
                    <a:lumMod val="75000"/>
                  </a:schemeClr>
                </a:solidFill>
              </a:rPr>
              <a:t>passwd</a:t>
            </a:r>
            <a:r>
              <a:rPr lang="en-GB" altLang="zh-CN" sz="2400" dirty="0">
                <a:solidFill>
                  <a:schemeClr val="accent2">
                    <a:lumMod val="75000"/>
                  </a:schemeClr>
                </a:solidFill>
              </a:rPr>
              <a:t> user1</a:t>
            </a:r>
          </a:p>
          <a:p>
            <a:pPr>
              <a:spcBef>
                <a:spcPts val="688"/>
              </a:spcBef>
              <a:buSzPct val="87000"/>
            </a:pPr>
            <a:r>
              <a:rPr lang="zh-CN" altLang="en-US" sz="2800" dirty="0"/>
              <a:t>例二：</a:t>
            </a:r>
          </a:p>
          <a:p>
            <a:pPr lvl="1">
              <a:spcBef>
                <a:spcPts val="688"/>
              </a:spcBef>
              <a:buSzPct val="87000"/>
            </a:pPr>
            <a:r>
              <a:rPr lang="en-US" altLang="zh-CN" sz="2400" dirty="0">
                <a:solidFill>
                  <a:schemeClr val="accent2">
                    <a:lumMod val="75000"/>
                  </a:schemeClr>
                </a:solidFill>
              </a:rPr>
              <a:t># useradd -G staff tom </a:t>
            </a:r>
          </a:p>
          <a:p>
            <a:pPr lvl="1">
              <a:spcBef>
                <a:spcPts val="688"/>
              </a:spcBef>
              <a:buSzPct val="87000"/>
            </a:pPr>
            <a:r>
              <a:rPr lang="en-GB" altLang="zh-CN" sz="2400" dirty="0">
                <a:solidFill>
                  <a:schemeClr val="accent2">
                    <a:lumMod val="75000"/>
                  </a:schemeClr>
                </a:solidFill>
              </a:rPr>
              <a:t># </a:t>
            </a:r>
            <a:r>
              <a:rPr lang="en-GB" altLang="zh-CN" sz="2400" dirty="0" err="1">
                <a:solidFill>
                  <a:schemeClr val="accent2">
                    <a:lumMod val="75000"/>
                  </a:schemeClr>
                </a:solidFill>
              </a:rPr>
              <a:t>passwd</a:t>
            </a:r>
            <a:r>
              <a:rPr lang="en-GB" altLang="zh-CN" sz="2400" dirty="0">
                <a:solidFill>
                  <a:schemeClr val="accent2">
                    <a:lumMod val="75000"/>
                  </a:schemeClr>
                </a:solidFill>
              </a:rPr>
              <a:t> </a:t>
            </a:r>
            <a:r>
              <a:rPr lang="en-US" altLang="zh-CN" sz="2400" dirty="0">
                <a:solidFill>
                  <a:schemeClr val="accent2">
                    <a:lumMod val="75000"/>
                  </a:schemeClr>
                </a:solidFill>
              </a:rPr>
              <a:t>tom</a:t>
            </a:r>
          </a:p>
          <a:p>
            <a:pPr>
              <a:spcBef>
                <a:spcPts val="688"/>
              </a:spcBef>
              <a:buSzPct val="87000"/>
            </a:pPr>
            <a:r>
              <a:rPr lang="zh-CN" altLang="en-US" sz="2800" dirty="0"/>
              <a:t>例三：</a:t>
            </a:r>
          </a:p>
          <a:p>
            <a:pPr lvl="1">
              <a:spcBef>
                <a:spcPts val="688"/>
              </a:spcBef>
              <a:buSzPct val="87000"/>
            </a:pPr>
            <a:r>
              <a:rPr lang="en-US" altLang="zh-CN" sz="2400" dirty="0">
                <a:solidFill>
                  <a:schemeClr val="accent2">
                    <a:lumMod val="75000"/>
                  </a:schemeClr>
                </a:solidFill>
              </a:rPr>
              <a:t># useradd -G </a:t>
            </a:r>
            <a:r>
              <a:rPr lang="en-US" altLang="zh-CN" sz="2400" dirty="0" err="1">
                <a:solidFill>
                  <a:schemeClr val="accent2">
                    <a:lumMod val="75000"/>
                  </a:schemeClr>
                </a:solidFill>
              </a:rPr>
              <a:t>ftpgrp</a:t>
            </a:r>
            <a:r>
              <a:rPr lang="en-US" altLang="zh-CN" sz="2400" dirty="0">
                <a:solidFill>
                  <a:schemeClr val="accent2">
                    <a:lumMod val="75000"/>
                  </a:schemeClr>
                </a:solidFill>
              </a:rPr>
              <a:t> -</a:t>
            </a:r>
            <a:r>
              <a:rPr lang="en-US" altLang="zh-CN" sz="2400" dirty="0">
                <a:solidFill>
                  <a:schemeClr val="accent2">
                    <a:lumMod val="75000"/>
                  </a:schemeClr>
                </a:solidFill>
                <a:cs typeface="Times New Roman" pitchFamily="18" charset="0"/>
              </a:rPr>
              <a:t>d /</a:t>
            </a:r>
            <a:r>
              <a:rPr lang="en-US" altLang="zh-CN" sz="2400" dirty="0" err="1">
                <a:solidFill>
                  <a:schemeClr val="accent2">
                    <a:lumMod val="75000"/>
                  </a:schemeClr>
                </a:solidFill>
                <a:cs typeface="Times New Roman" pitchFamily="18" charset="0"/>
              </a:rPr>
              <a:t>var</a:t>
            </a:r>
            <a:r>
              <a:rPr lang="en-US" altLang="zh-CN" sz="2400" dirty="0">
                <a:solidFill>
                  <a:schemeClr val="accent2">
                    <a:lumMod val="75000"/>
                  </a:schemeClr>
                </a:solidFill>
                <a:cs typeface="Times New Roman" pitchFamily="18" charset="0"/>
              </a:rPr>
              <a:t>/ftp2 -s /</a:t>
            </a:r>
            <a:r>
              <a:rPr lang="en-US" altLang="zh-CN" sz="2400" dirty="0" err="1">
                <a:solidFill>
                  <a:schemeClr val="accent2">
                    <a:lumMod val="75000"/>
                  </a:schemeClr>
                </a:solidFill>
                <a:cs typeface="Times New Roman" pitchFamily="18" charset="0"/>
              </a:rPr>
              <a:t>sbin</a:t>
            </a:r>
            <a:r>
              <a:rPr lang="en-US" altLang="zh-CN" sz="2400" dirty="0">
                <a:solidFill>
                  <a:schemeClr val="accent2">
                    <a:lumMod val="75000"/>
                  </a:schemeClr>
                </a:solidFill>
                <a:cs typeface="Times New Roman" pitchFamily="18" charset="0"/>
              </a:rPr>
              <a:t>/</a:t>
            </a:r>
            <a:r>
              <a:rPr lang="en-US" altLang="zh-CN" sz="2400" dirty="0" err="1">
                <a:solidFill>
                  <a:schemeClr val="accent2">
                    <a:lumMod val="75000"/>
                  </a:schemeClr>
                </a:solidFill>
                <a:cs typeface="Times New Roman" pitchFamily="18" charset="0"/>
              </a:rPr>
              <a:t>nologin</a:t>
            </a:r>
            <a:r>
              <a:rPr lang="en-US" altLang="zh-CN" sz="2400" dirty="0">
                <a:solidFill>
                  <a:schemeClr val="accent2">
                    <a:lumMod val="75000"/>
                  </a:schemeClr>
                </a:solidFill>
                <a:cs typeface="Times New Roman" pitchFamily="18" charset="0"/>
              </a:rPr>
              <a:t> -M ftp1</a:t>
            </a:r>
          </a:p>
          <a:p>
            <a:pPr lvl="1">
              <a:spcBef>
                <a:spcPts val="688"/>
              </a:spcBef>
              <a:buSzPct val="87000"/>
            </a:pPr>
            <a:r>
              <a:rPr lang="en-US" altLang="zh-CN" sz="2400" dirty="0">
                <a:solidFill>
                  <a:schemeClr val="accent2">
                    <a:lumMod val="75000"/>
                  </a:schemeClr>
                </a:solidFill>
                <a:cs typeface="Times New Roman" pitchFamily="18" charset="0"/>
              </a:rPr>
              <a:t># </a:t>
            </a:r>
            <a:r>
              <a:rPr lang="en-GB" altLang="zh-CN" sz="2400" dirty="0" err="1">
                <a:solidFill>
                  <a:schemeClr val="accent2">
                    <a:lumMod val="75000"/>
                  </a:schemeClr>
                </a:solidFill>
              </a:rPr>
              <a:t>passwd</a:t>
            </a:r>
            <a:r>
              <a:rPr lang="en-GB" altLang="zh-CN" sz="2400" dirty="0">
                <a:solidFill>
                  <a:schemeClr val="accent2">
                    <a:lumMod val="75000"/>
                  </a:schemeClr>
                </a:solidFill>
              </a:rPr>
              <a:t> </a:t>
            </a:r>
            <a:r>
              <a:rPr lang="en-US" altLang="zh-CN" sz="2400" dirty="0">
                <a:solidFill>
                  <a:schemeClr val="accent2">
                    <a:lumMod val="75000"/>
                  </a:schemeClr>
                </a:solidFill>
              </a:rPr>
              <a:t>ftp1</a:t>
            </a:r>
            <a:endParaRPr lang="zh-CN" altLang="en-US" dirty="0">
              <a:solidFill>
                <a:schemeClr val="accent2">
                  <a:lumMod val="75000"/>
                </a:schemeClr>
              </a:solidFill>
            </a:endParaRPr>
          </a:p>
        </p:txBody>
      </p:sp>
    </p:spTree>
    <p:extLst>
      <p:ext uri="{BB962C8B-B14F-4D97-AF65-F5344CB8AC3E}">
        <p14:creationId xmlns:p14="http://schemas.microsoft.com/office/powerpoint/2010/main" val="244487745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添加用户的过程</a:t>
            </a:r>
            <a:r>
              <a:rPr lang="en-US" altLang="zh-CN" dirty="0"/>
              <a:t>—useradd</a:t>
            </a:r>
            <a:endParaRPr lang="zh-CN" altLang="en-US" dirty="0"/>
          </a:p>
        </p:txBody>
      </p:sp>
      <p:sp>
        <p:nvSpPr>
          <p:cNvPr id="3" name="内容占位符 2"/>
          <p:cNvSpPr>
            <a:spLocks noGrp="1"/>
          </p:cNvSpPr>
          <p:nvPr>
            <p:ph idx="1"/>
          </p:nvPr>
        </p:nvSpPr>
        <p:spPr>
          <a:xfrm>
            <a:off x="395536" y="1556792"/>
            <a:ext cx="8348464" cy="4114800"/>
          </a:xfrm>
        </p:spPr>
        <p:txBody>
          <a:bodyPr/>
          <a:lstStyle/>
          <a:p>
            <a:r>
              <a:rPr lang="zh-CN" altLang="en-US" dirty="0"/>
              <a:t>编辑账户</a:t>
            </a:r>
            <a:r>
              <a:rPr lang="zh-CN" altLang="en-US" dirty="0">
                <a:solidFill>
                  <a:srgbClr val="FF0000"/>
                </a:solidFill>
              </a:rPr>
              <a:t>验证信息文件</a:t>
            </a:r>
          </a:p>
          <a:p>
            <a:pPr lvl="1"/>
            <a:r>
              <a:rPr lang="en-US" altLang="zh-CN" dirty="0"/>
              <a:t>/etc/</a:t>
            </a:r>
            <a:r>
              <a:rPr lang="en-US" altLang="zh-CN" dirty="0" err="1"/>
              <a:t>passwd</a:t>
            </a:r>
            <a:r>
              <a:rPr lang="en-US" altLang="zh-CN" dirty="0"/>
              <a:t>, /etc/shadow</a:t>
            </a:r>
          </a:p>
          <a:p>
            <a:pPr lvl="1"/>
            <a:r>
              <a:rPr lang="en-US" altLang="zh-CN" dirty="0"/>
              <a:t>/etc/group, /etc/</a:t>
            </a:r>
            <a:r>
              <a:rPr lang="en-US" altLang="zh-CN" dirty="0" err="1"/>
              <a:t>gshadow</a:t>
            </a:r>
            <a:r>
              <a:rPr lang="en-US" altLang="zh-CN" dirty="0"/>
              <a:t> </a:t>
            </a:r>
          </a:p>
          <a:p>
            <a:r>
              <a:rPr lang="zh-CN" altLang="en-US" dirty="0"/>
              <a:t>创建</a:t>
            </a:r>
            <a:r>
              <a:rPr lang="zh-CN" altLang="en-US" dirty="0">
                <a:solidFill>
                  <a:srgbClr val="FF0000"/>
                </a:solidFill>
              </a:rPr>
              <a:t>主目录</a:t>
            </a:r>
            <a:r>
              <a:rPr lang="zh-CN" altLang="en-US" dirty="0"/>
              <a:t> </a:t>
            </a:r>
            <a:r>
              <a:rPr lang="en-US" altLang="zh-CN" dirty="0">
                <a:solidFill>
                  <a:schemeClr val="accent6">
                    <a:lumMod val="75000"/>
                  </a:schemeClr>
                </a:solidFill>
              </a:rPr>
              <a:t>/home/&lt;username&gt;</a:t>
            </a:r>
            <a:r>
              <a:rPr lang="zh-CN" altLang="en-US" dirty="0"/>
              <a:t>和</a:t>
            </a:r>
            <a:r>
              <a:rPr lang="zh-CN" altLang="en-US" dirty="0">
                <a:solidFill>
                  <a:srgbClr val="FF0000"/>
                </a:solidFill>
              </a:rPr>
              <a:t>邮箱</a:t>
            </a:r>
            <a:endParaRPr lang="en-US" altLang="zh-CN" dirty="0">
              <a:solidFill>
                <a:srgbClr val="FF0000"/>
              </a:solidFill>
            </a:endParaRPr>
          </a:p>
          <a:p>
            <a:pPr lvl="1"/>
            <a:r>
              <a:rPr lang="zh-CN" altLang="en-US" dirty="0"/>
              <a:t>将骨架目录（</a:t>
            </a:r>
            <a:r>
              <a:rPr lang="en-US" altLang="zh-CN" dirty="0"/>
              <a:t>Skeleton Directory</a:t>
            </a:r>
            <a:r>
              <a:rPr lang="zh-CN" altLang="en-US" dirty="0"/>
              <a:t>） </a:t>
            </a:r>
            <a:r>
              <a:rPr lang="en-US" altLang="zh-CN" dirty="0"/>
              <a:t>/etc/</a:t>
            </a:r>
            <a:r>
              <a:rPr lang="en-US" altLang="zh-CN" dirty="0" err="1"/>
              <a:t>skel</a:t>
            </a:r>
            <a:r>
              <a:rPr lang="en-US" altLang="zh-CN" dirty="0"/>
              <a:t>/ </a:t>
            </a:r>
            <a:r>
              <a:rPr lang="zh-CN" altLang="en-US" dirty="0"/>
              <a:t>的内容复制到用户主目录</a:t>
            </a:r>
            <a:endParaRPr lang="en-US" altLang="zh-CN" dirty="0"/>
          </a:p>
        </p:txBody>
      </p:sp>
      <p:sp>
        <p:nvSpPr>
          <p:cNvPr id="4" name="矩形 3"/>
          <p:cNvSpPr/>
          <p:nvPr/>
        </p:nvSpPr>
        <p:spPr>
          <a:xfrm>
            <a:off x="370436" y="2564904"/>
            <a:ext cx="8373564" cy="3293209"/>
          </a:xfrm>
          <a:prstGeom prst="rect">
            <a:avLst/>
          </a:prstGeom>
          <a:solidFill>
            <a:schemeClr val="accent2">
              <a:lumMod val="20000"/>
              <a:lumOff val="80000"/>
            </a:schemeClr>
          </a:solidFill>
        </p:spPr>
        <p:txBody>
          <a:bodyPr wrap="square">
            <a:spAutoFit/>
          </a:bodyPr>
          <a:lstStyle/>
          <a:p>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xl@localhost</a:t>
            </a:r>
            <a:r>
              <a:rPr lang="en-US" altLang="zh-CN" sz="2600" dirty="0">
                <a:ln w="0"/>
                <a:effectLst>
                  <a:outerShdw blurRad="38100" dist="19050" dir="2700000" algn="tl" rotWithShape="0">
                    <a:schemeClr val="dk1">
                      <a:alpha val="40000"/>
                    </a:schemeClr>
                  </a:outerShdw>
                </a:effectLst>
              </a:rPr>
              <a:t> ~]$ ls -al /</a:t>
            </a:r>
            <a:r>
              <a:rPr lang="en-US" altLang="zh-CN" sz="2600" dirty="0" err="1">
                <a:ln w="0"/>
                <a:effectLst>
                  <a:outerShdw blurRad="38100" dist="19050" dir="2700000" algn="tl" rotWithShape="0">
                    <a:schemeClr val="dk1">
                      <a:alpha val="40000"/>
                    </a:schemeClr>
                  </a:outerShdw>
                </a:effectLst>
              </a:rPr>
              <a:t>etc</a:t>
            </a:r>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skel</a:t>
            </a:r>
            <a:endParaRPr lang="en-US" altLang="zh-CN" sz="2600" dirty="0">
              <a:ln w="0"/>
              <a:effectLst>
                <a:outerShdw blurRad="38100" dist="19050" dir="2700000" algn="tl" rotWithShape="0">
                  <a:schemeClr val="dk1">
                    <a:alpha val="40000"/>
                  </a:schemeClr>
                </a:outerShdw>
              </a:effectLst>
            </a:endParaRPr>
          </a:p>
          <a:p>
            <a:r>
              <a:rPr lang="en-US" altLang="zh-CN" sz="2600" dirty="0">
                <a:ln w="0"/>
                <a:effectLst>
                  <a:outerShdw blurRad="38100" dist="19050" dir="2700000" algn="tl" rotWithShape="0">
                    <a:schemeClr val="dk1">
                      <a:alpha val="40000"/>
                    </a:schemeClr>
                  </a:outerShdw>
                </a:effectLst>
              </a:rPr>
              <a:t>total 32</a:t>
            </a:r>
          </a:p>
          <a:p>
            <a:r>
              <a:rPr lang="en-US" altLang="zh-CN" sz="2600" dirty="0" err="1">
                <a:ln w="0"/>
                <a:effectLst>
                  <a:outerShdw blurRad="38100" dist="19050" dir="2700000" algn="tl" rotWithShape="0">
                    <a:schemeClr val="dk1">
                      <a:alpha val="40000"/>
                    </a:schemeClr>
                  </a:outerShdw>
                </a:effectLst>
              </a:rPr>
              <a:t>drwxr</a:t>
            </a:r>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xr</a:t>
            </a:r>
            <a:r>
              <a:rPr lang="en-US" altLang="zh-CN" sz="2600" dirty="0">
                <a:ln w="0"/>
                <a:effectLst>
                  <a:outerShdw blurRad="38100" dist="19050" dir="2700000" algn="tl" rotWithShape="0">
                    <a:schemeClr val="dk1">
                      <a:alpha val="40000"/>
                    </a:schemeClr>
                  </a:outerShdw>
                </a:effectLst>
              </a:rPr>
              <a:t>-x.   3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4096 Apr 11  2018 .</a:t>
            </a:r>
          </a:p>
          <a:p>
            <a:r>
              <a:rPr lang="en-US" altLang="zh-CN" sz="2600" dirty="0" err="1">
                <a:ln w="0"/>
                <a:effectLst>
                  <a:outerShdw blurRad="38100" dist="19050" dir="2700000" algn="tl" rotWithShape="0">
                    <a:schemeClr val="dk1">
                      <a:alpha val="40000"/>
                    </a:schemeClr>
                  </a:outerShdw>
                </a:effectLst>
              </a:rPr>
              <a:t>drwxr</a:t>
            </a:r>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xr</a:t>
            </a:r>
            <a:r>
              <a:rPr lang="en-US" altLang="zh-CN" sz="2600" dirty="0">
                <a:ln w="0"/>
                <a:effectLst>
                  <a:outerShdw blurRad="38100" dist="19050" dir="2700000" algn="tl" rotWithShape="0">
                    <a:schemeClr val="dk1">
                      <a:alpha val="40000"/>
                    </a:schemeClr>
                  </a:outerShdw>
                </a:effectLst>
              </a:rPr>
              <a:t>-x. 133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12288 Apr 24 03:55 ..</a:t>
            </a:r>
          </a:p>
          <a:p>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rw</a:t>
            </a:r>
            <a:r>
              <a:rPr lang="en-US" altLang="zh-CN" sz="2600" dirty="0">
                <a:ln w="0"/>
                <a:effectLst>
                  <a:outerShdw blurRad="38100" dist="19050" dir="2700000" algn="tl" rotWithShape="0">
                    <a:schemeClr val="dk1">
                      <a:alpha val="40000"/>
                    </a:schemeClr>
                  </a:outerShdw>
                </a:effectLst>
              </a:rPr>
              <a:t>-r--r--.   1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18 Apr 10  2018 .</a:t>
            </a:r>
            <a:r>
              <a:rPr lang="en-US" altLang="zh-CN" sz="2600" dirty="0" err="1">
                <a:ln w="0"/>
                <a:effectLst>
                  <a:outerShdw blurRad="38100" dist="19050" dir="2700000" algn="tl" rotWithShape="0">
                    <a:schemeClr val="dk1">
                      <a:alpha val="40000"/>
                    </a:schemeClr>
                  </a:outerShdw>
                </a:effectLst>
              </a:rPr>
              <a:t>bash_logout</a:t>
            </a:r>
            <a:endParaRPr lang="en-US" altLang="zh-CN" sz="2600" dirty="0">
              <a:ln w="0"/>
              <a:effectLst>
                <a:outerShdw blurRad="38100" dist="19050" dir="2700000" algn="tl" rotWithShape="0">
                  <a:schemeClr val="dk1">
                    <a:alpha val="40000"/>
                  </a:schemeClr>
                </a:outerShdw>
              </a:effectLst>
            </a:endParaRPr>
          </a:p>
          <a:p>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rw</a:t>
            </a:r>
            <a:r>
              <a:rPr lang="en-US" altLang="zh-CN" sz="2600" dirty="0">
                <a:ln w="0"/>
                <a:effectLst>
                  <a:outerShdw blurRad="38100" dist="19050" dir="2700000" algn="tl" rotWithShape="0">
                    <a:schemeClr val="dk1">
                      <a:alpha val="40000"/>
                    </a:schemeClr>
                  </a:outerShdw>
                </a:effectLst>
              </a:rPr>
              <a:t>-r--r--.   1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193 Apr 10  2018 .</a:t>
            </a:r>
            <a:r>
              <a:rPr lang="en-US" altLang="zh-CN" sz="2600" dirty="0" err="1">
                <a:ln w="0"/>
                <a:effectLst>
                  <a:outerShdw blurRad="38100" dist="19050" dir="2700000" algn="tl" rotWithShape="0">
                    <a:schemeClr val="dk1">
                      <a:alpha val="40000"/>
                    </a:schemeClr>
                  </a:outerShdw>
                </a:effectLst>
              </a:rPr>
              <a:t>bash_profile</a:t>
            </a:r>
            <a:endParaRPr lang="en-US" altLang="zh-CN" sz="2600" dirty="0">
              <a:ln w="0"/>
              <a:effectLst>
                <a:outerShdw blurRad="38100" dist="19050" dir="2700000" algn="tl" rotWithShape="0">
                  <a:schemeClr val="dk1">
                    <a:alpha val="40000"/>
                  </a:schemeClr>
                </a:outerShdw>
              </a:effectLst>
            </a:endParaRPr>
          </a:p>
          <a:p>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rw</a:t>
            </a:r>
            <a:r>
              <a:rPr lang="en-US" altLang="zh-CN" sz="2600" dirty="0">
                <a:ln w="0"/>
                <a:effectLst>
                  <a:outerShdw blurRad="38100" dist="19050" dir="2700000" algn="tl" rotWithShape="0">
                    <a:schemeClr val="dk1">
                      <a:alpha val="40000"/>
                    </a:schemeClr>
                  </a:outerShdw>
                </a:effectLst>
              </a:rPr>
              <a:t>-r--r--.   1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231 Apr 10  2018 .</a:t>
            </a:r>
            <a:r>
              <a:rPr lang="en-US" altLang="zh-CN" sz="2600" dirty="0" err="1">
                <a:ln w="0"/>
                <a:effectLst>
                  <a:outerShdw blurRad="38100" dist="19050" dir="2700000" algn="tl" rotWithShape="0">
                    <a:schemeClr val="dk1">
                      <a:alpha val="40000"/>
                    </a:schemeClr>
                  </a:outerShdw>
                </a:effectLst>
              </a:rPr>
              <a:t>bashrc</a:t>
            </a:r>
            <a:endParaRPr lang="en-US" altLang="zh-CN" sz="2600" dirty="0">
              <a:ln w="0"/>
              <a:effectLst>
                <a:outerShdw blurRad="38100" dist="19050" dir="2700000" algn="tl" rotWithShape="0">
                  <a:schemeClr val="dk1">
                    <a:alpha val="40000"/>
                  </a:schemeClr>
                </a:outerShdw>
              </a:effectLst>
            </a:endParaRPr>
          </a:p>
          <a:p>
            <a:r>
              <a:rPr lang="en-US" altLang="zh-CN" sz="2600" dirty="0" err="1">
                <a:ln w="0"/>
                <a:effectLst>
                  <a:outerShdw blurRad="38100" dist="19050" dir="2700000" algn="tl" rotWithShape="0">
                    <a:schemeClr val="dk1">
                      <a:alpha val="40000"/>
                    </a:schemeClr>
                  </a:outerShdw>
                </a:effectLst>
              </a:rPr>
              <a:t>drwxr</a:t>
            </a:r>
            <a:r>
              <a:rPr lang="en-US" altLang="zh-CN" sz="2600" dirty="0">
                <a:ln w="0"/>
                <a:effectLst>
                  <a:outerShdw blurRad="38100" dist="19050" dir="2700000" algn="tl" rotWithShape="0">
                    <a:schemeClr val="dk1">
                      <a:alpha val="40000"/>
                    </a:schemeClr>
                  </a:outerShdw>
                </a:effectLst>
              </a:rPr>
              <a:t>-</a:t>
            </a:r>
            <a:r>
              <a:rPr lang="en-US" altLang="zh-CN" sz="2600" dirty="0" err="1">
                <a:ln w="0"/>
                <a:effectLst>
                  <a:outerShdw blurRad="38100" dist="19050" dir="2700000" algn="tl" rotWithShape="0">
                    <a:schemeClr val="dk1">
                      <a:alpha val="40000"/>
                    </a:schemeClr>
                  </a:outerShdw>
                </a:effectLst>
              </a:rPr>
              <a:t>xr</a:t>
            </a:r>
            <a:r>
              <a:rPr lang="en-US" altLang="zh-CN" sz="2600" dirty="0">
                <a:ln w="0"/>
                <a:effectLst>
                  <a:outerShdw blurRad="38100" dist="19050" dir="2700000" algn="tl" rotWithShape="0">
                    <a:schemeClr val="dk1">
                      <a:alpha val="40000"/>
                    </a:schemeClr>
                  </a:outerShdw>
                </a:effectLst>
              </a:rPr>
              <a:t>-x.   4 root </a:t>
            </a:r>
            <a:r>
              <a:rPr lang="en-US" altLang="zh-CN" sz="2600" dirty="0" err="1">
                <a:ln w="0"/>
                <a:effectLst>
                  <a:outerShdw blurRad="38100" dist="19050" dir="2700000" algn="tl" rotWithShape="0">
                    <a:schemeClr val="dk1">
                      <a:alpha val="40000"/>
                    </a:schemeClr>
                  </a:outerShdw>
                </a:effectLst>
              </a:rPr>
              <a:t>root</a:t>
            </a:r>
            <a:r>
              <a:rPr lang="en-US" altLang="zh-CN" sz="2600" dirty="0">
                <a:ln w="0"/>
                <a:effectLst>
                  <a:outerShdw blurRad="38100" dist="19050" dir="2700000" algn="tl" rotWithShape="0">
                    <a:schemeClr val="dk1">
                      <a:alpha val="40000"/>
                    </a:schemeClr>
                  </a:outerShdw>
                </a:effectLst>
              </a:rPr>
              <a:t>  4096 Aug 23  2019 .</a:t>
            </a:r>
            <a:r>
              <a:rPr lang="en-US" altLang="zh-CN" sz="2600" dirty="0" err="1">
                <a:ln w="0"/>
                <a:effectLst>
                  <a:outerShdw blurRad="38100" dist="19050" dir="2700000" algn="tl" rotWithShape="0">
                    <a:schemeClr val="dk1">
                      <a:alpha val="40000"/>
                    </a:schemeClr>
                  </a:outerShdw>
                </a:effectLst>
              </a:rPr>
              <a:t>mozilla</a:t>
            </a:r>
            <a:endParaRPr lang="en-US" altLang="zh-CN" sz="2600" dirty="0">
              <a:ln w="0"/>
              <a:effectLst>
                <a:outerShdw blurRad="38100" dist="19050" dir="2700000" algn="tl" rotWithShape="0">
                  <a:schemeClr val="dk1">
                    <a:alpha val="40000"/>
                  </a:schemeClr>
                </a:outerShdw>
              </a:effectLs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grpId="1" nodeType="clickEffect">
                                  <p:stCondLst>
                                    <p:cond delay="0"/>
                                  </p:stCondLst>
                                  <p:childTnLst>
                                    <p:anim calcmode="lin" valueType="num">
                                      <p:cBhvr additive="base">
                                        <p:cTn id="12" dur="500"/>
                                        <p:tgtEl>
                                          <p:spTgt spid="4"/>
                                        </p:tgtEl>
                                        <p:attrNameLst>
                                          <p:attrName>ppt_x</p:attrName>
                                        </p:attrNameLst>
                                      </p:cBhvr>
                                      <p:tavLst>
                                        <p:tav tm="0">
                                          <p:val>
                                            <p:strVal val="ppt_x"/>
                                          </p:val>
                                        </p:tav>
                                        <p:tav tm="100000">
                                          <p:val>
                                            <p:strVal val="ppt_x"/>
                                          </p:val>
                                        </p:tav>
                                      </p:tavLst>
                                    </p:anim>
                                    <p:anim calcmode="lin" valueType="num">
                                      <p:cBhvr additive="base">
                                        <p:cTn id="13" dur="500"/>
                                        <p:tgtEl>
                                          <p:spTgt spid="4"/>
                                        </p:tgtEl>
                                        <p:attrNameLst>
                                          <p:attrName>ppt_y</p:attrName>
                                        </p:attrNameLst>
                                      </p:cBhvr>
                                      <p:tavLst>
                                        <p:tav tm="0">
                                          <p:val>
                                            <p:strVal val="ppt_y"/>
                                          </p:val>
                                        </p:tav>
                                        <p:tav tm="100000">
                                          <p:val>
                                            <p:strVal val="1+ppt_h/2"/>
                                          </p:val>
                                        </p:tav>
                                      </p:tavLst>
                                    </p:anim>
                                    <p:set>
                                      <p:cBhvr>
                                        <p:cTn id="14"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useradd</a:t>
            </a:r>
            <a:r>
              <a:rPr lang="zh-CN" altLang="en-US" dirty="0"/>
              <a:t>默认环境配置及模板</a:t>
            </a:r>
          </a:p>
        </p:txBody>
      </p:sp>
      <p:sp>
        <p:nvSpPr>
          <p:cNvPr id="3" name="内容占位符 2"/>
          <p:cNvSpPr>
            <a:spLocks noGrp="1"/>
          </p:cNvSpPr>
          <p:nvPr>
            <p:ph idx="1"/>
          </p:nvPr>
        </p:nvSpPr>
        <p:spPr>
          <a:xfrm>
            <a:off x="963612" y="1736302"/>
            <a:ext cx="7983537" cy="4645025"/>
          </a:xfrm>
        </p:spPr>
        <p:txBody>
          <a:bodyPr/>
          <a:lstStyle/>
          <a:p>
            <a:r>
              <a:rPr lang="zh-CN" altLang="en-US" dirty="0"/>
              <a:t>用户默认配置文件 </a:t>
            </a:r>
          </a:p>
          <a:p>
            <a:pPr lvl="1"/>
            <a:r>
              <a:rPr lang="en-US" altLang="zh-CN" dirty="0">
                <a:solidFill>
                  <a:srgbClr val="FF0000"/>
                </a:solidFill>
              </a:rPr>
              <a:t>/etc/</a:t>
            </a:r>
            <a:r>
              <a:rPr lang="en-US" altLang="zh-CN" dirty="0" err="1">
                <a:solidFill>
                  <a:srgbClr val="FF0000"/>
                </a:solidFill>
              </a:rPr>
              <a:t>login.defs</a:t>
            </a:r>
            <a:r>
              <a:rPr lang="en-US" altLang="zh-CN" dirty="0">
                <a:solidFill>
                  <a:srgbClr val="FF0000"/>
                </a:solidFill>
              </a:rPr>
              <a:t> </a:t>
            </a:r>
          </a:p>
          <a:p>
            <a:pPr lvl="2"/>
            <a:r>
              <a:rPr lang="en-US" altLang="zh-CN" sz="2000" dirty="0"/>
              <a:t>MAIL_DIR</a:t>
            </a:r>
            <a:r>
              <a:rPr lang="zh-CN" altLang="en-US" sz="2000" dirty="0"/>
              <a:t>、</a:t>
            </a:r>
            <a:r>
              <a:rPr lang="en-US" altLang="zh-CN" sz="2000" dirty="0"/>
              <a:t>PASS_MAX_DAYS</a:t>
            </a:r>
            <a:r>
              <a:rPr lang="zh-CN" altLang="en-US" sz="2000" dirty="0"/>
              <a:t>、</a:t>
            </a:r>
            <a:r>
              <a:rPr lang="en-US" altLang="zh-CN" sz="2000" dirty="0"/>
              <a:t>PASS_MIN_DAYS</a:t>
            </a:r>
            <a:r>
              <a:rPr lang="zh-CN" altLang="en-US" sz="2000" dirty="0"/>
              <a:t>、</a:t>
            </a:r>
            <a:r>
              <a:rPr lang="en-US" altLang="zh-CN" sz="2000" dirty="0"/>
              <a:t>PASS_MIN_LEN </a:t>
            </a:r>
            <a:r>
              <a:rPr lang="zh-CN" altLang="en-US" sz="2000" dirty="0"/>
              <a:t>等</a:t>
            </a:r>
            <a:endParaRPr lang="en-US" altLang="zh-CN" dirty="0"/>
          </a:p>
          <a:p>
            <a:pPr lvl="1"/>
            <a:r>
              <a:rPr lang="en-US" altLang="zh-CN" dirty="0">
                <a:solidFill>
                  <a:srgbClr val="FF0000"/>
                </a:solidFill>
              </a:rPr>
              <a:t>/etc/default/useradd </a:t>
            </a:r>
          </a:p>
          <a:p>
            <a:pPr lvl="2"/>
            <a:r>
              <a:rPr lang="en-US" altLang="zh-CN" sz="2000" dirty="0"/>
              <a:t>HOME</a:t>
            </a:r>
            <a:r>
              <a:rPr lang="zh-CN" altLang="en-US" sz="2000" dirty="0"/>
              <a:t>、</a:t>
            </a:r>
            <a:r>
              <a:rPr lang="en-US" altLang="zh-CN" sz="2000" dirty="0"/>
              <a:t>SHELL</a:t>
            </a:r>
            <a:r>
              <a:rPr lang="zh-CN" altLang="en-US" sz="2000" dirty="0"/>
              <a:t>、</a:t>
            </a:r>
            <a:r>
              <a:rPr lang="en-US" altLang="zh-CN" sz="2000" dirty="0"/>
              <a:t>SKEL</a:t>
            </a:r>
            <a:r>
              <a:rPr lang="zh-CN" altLang="en-US" sz="2000" dirty="0" smtClean="0"/>
              <a:t>等</a:t>
            </a:r>
            <a:endParaRPr lang="en-US" altLang="zh-CN" sz="2000" dirty="0"/>
          </a:p>
        </p:txBody>
      </p:sp>
    </p:spTree>
    <p:extLst>
      <p:ext uri="{BB962C8B-B14F-4D97-AF65-F5344CB8AC3E}">
        <p14:creationId xmlns:p14="http://schemas.microsoft.com/office/powerpoint/2010/main" val="171167123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用户默认环境配置及模板</a:t>
            </a:r>
          </a:p>
        </p:txBody>
      </p:sp>
      <p:sp>
        <p:nvSpPr>
          <p:cNvPr id="3" name="内容占位符 2"/>
          <p:cNvSpPr>
            <a:spLocks noGrp="1"/>
          </p:cNvSpPr>
          <p:nvPr>
            <p:ph idx="1"/>
          </p:nvPr>
        </p:nvSpPr>
        <p:spPr>
          <a:xfrm>
            <a:off x="944545" y="1484784"/>
            <a:ext cx="7983537" cy="4114800"/>
          </a:xfrm>
        </p:spPr>
        <p:txBody>
          <a:bodyPr/>
          <a:lstStyle/>
          <a:p>
            <a:pPr marL="342900" lvl="1" indent="-342900">
              <a:buFont typeface="Wingdings" panose="05000000000000000000" pitchFamily="2" charset="2"/>
              <a:buChar char="n"/>
            </a:pPr>
            <a:r>
              <a:rPr lang="zh-CN" altLang="en-US" sz="3200" b="0" dirty="0"/>
              <a:t>用户默认配置文件 </a:t>
            </a:r>
            <a:endParaRPr lang="en-US" altLang="zh-CN" sz="3200" b="0" dirty="0"/>
          </a:p>
          <a:p>
            <a:pPr lvl="1"/>
            <a:r>
              <a:rPr lang="en-US" altLang="zh-CN" dirty="0"/>
              <a:t>/etc/</a:t>
            </a:r>
            <a:r>
              <a:rPr lang="en-US" altLang="zh-CN" dirty="0" err="1"/>
              <a:t>login.defs</a:t>
            </a:r>
            <a:endParaRPr lang="en-US" altLang="zh-CN" dirty="0"/>
          </a:p>
        </p:txBody>
      </p:sp>
      <p:sp>
        <p:nvSpPr>
          <p:cNvPr id="5" name="文本框 4">
            <a:extLst>
              <a:ext uri="{FF2B5EF4-FFF2-40B4-BE49-F238E27FC236}">
                <a16:creationId xmlns:a16="http://schemas.microsoft.com/office/drawing/2014/main" id="{7ED99757-F3A7-4154-A8D9-1E782FDC3D7C}"/>
              </a:ext>
            </a:extLst>
          </p:cNvPr>
          <p:cNvSpPr txBox="1"/>
          <p:nvPr/>
        </p:nvSpPr>
        <p:spPr>
          <a:xfrm>
            <a:off x="107959" y="2636912"/>
            <a:ext cx="8928082" cy="3693319"/>
          </a:xfrm>
          <a:prstGeom prst="rect">
            <a:avLst/>
          </a:prstGeom>
          <a:solidFill>
            <a:schemeClr val="accent2">
              <a:lumMod val="40000"/>
              <a:lumOff val="60000"/>
            </a:schemeClr>
          </a:solidFill>
        </p:spPr>
        <p:txBody>
          <a:bodyPr wrap="square" rtlCol="0">
            <a:spAutoFit/>
          </a:bodyPr>
          <a:lstStyle/>
          <a:p>
            <a:r>
              <a:rPr lang="en-US" altLang="zh-CN" dirty="0"/>
              <a:t>MAIL_DIR        /var/spool/mail    &lt;==</a:t>
            </a:r>
            <a:r>
              <a:rPr lang="zh-CN" altLang="en-US" dirty="0"/>
              <a:t>用户默认邮件信箱放置目录</a:t>
            </a:r>
          </a:p>
          <a:p>
            <a:r>
              <a:rPr lang="en-US" altLang="zh-CN" dirty="0">
                <a:solidFill>
                  <a:srgbClr val="FF0000"/>
                </a:solidFill>
              </a:rPr>
              <a:t>PASS_MAX_DAYS   </a:t>
            </a:r>
            <a:r>
              <a:rPr lang="en-US" altLang="zh-CN" dirty="0"/>
              <a:t>99999        &lt;==/</a:t>
            </a:r>
            <a:r>
              <a:rPr lang="en-US" altLang="zh-CN" dirty="0" err="1"/>
              <a:t>etc</a:t>
            </a:r>
            <a:r>
              <a:rPr lang="en-US" altLang="zh-CN" dirty="0"/>
              <a:t>/shadow </a:t>
            </a:r>
            <a:r>
              <a:rPr lang="zh-CN" altLang="en-US" dirty="0"/>
              <a:t>内的第 </a:t>
            </a:r>
            <a:r>
              <a:rPr lang="en-US" altLang="zh-CN" dirty="0"/>
              <a:t>5 </a:t>
            </a:r>
            <a:r>
              <a:rPr lang="zh-CN" altLang="en-US" dirty="0"/>
              <a:t>栏，</a:t>
            </a:r>
            <a:r>
              <a:rPr lang="zh-CN" altLang="en-US" dirty="0">
                <a:solidFill>
                  <a:srgbClr val="FF0000"/>
                </a:solidFill>
              </a:rPr>
              <a:t>多久需变更</a:t>
            </a:r>
            <a:r>
              <a:rPr lang="zh-CN" altLang="en-US" dirty="0"/>
              <a:t>口令日数</a:t>
            </a:r>
          </a:p>
          <a:p>
            <a:r>
              <a:rPr lang="en-US" altLang="zh-CN" dirty="0">
                <a:solidFill>
                  <a:srgbClr val="FF0000"/>
                </a:solidFill>
              </a:rPr>
              <a:t>PASS_MIN_DAYS   </a:t>
            </a:r>
            <a:r>
              <a:rPr lang="en-US" altLang="zh-CN" dirty="0"/>
              <a:t>0	&lt;==/</a:t>
            </a:r>
            <a:r>
              <a:rPr lang="en-US" altLang="zh-CN" dirty="0" err="1"/>
              <a:t>etc</a:t>
            </a:r>
            <a:r>
              <a:rPr lang="en-US" altLang="zh-CN" dirty="0"/>
              <a:t>/shadow </a:t>
            </a:r>
            <a:r>
              <a:rPr lang="zh-CN" altLang="en-US" dirty="0"/>
              <a:t>内的第 </a:t>
            </a:r>
            <a:r>
              <a:rPr lang="en-US" altLang="zh-CN" dirty="0"/>
              <a:t>4 </a:t>
            </a:r>
            <a:r>
              <a:rPr lang="zh-CN" altLang="en-US" dirty="0"/>
              <a:t>栏，</a:t>
            </a:r>
            <a:r>
              <a:rPr lang="zh-CN" altLang="en-US" dirty="0">
                <a:solidFill>
                  <a:srgbClr val="FF0000"/>
                </a:solidFill>
              </a:rPr>
              <a:t>多久不可重新配置</a:t>
            </a:r>
            <a:r>
              <a:rPr lang="zh-CN" altLang="en-US" dirty="0"/>
              <a:t>口令日数</a:t>
            </a:r>
          </a:p>
          <a:p>
            <a:r>
              <a:rPr lang="en-US" altLang="zh-CN" dirty="0"/>
              <a:t>PASS_MIN_LEN    5	&lt;==</a:t>
            </a:r>
            <a:r>
              <a:rPr lang="zh-CN" altLang="en-US" dirty="0"/>
              <a:t>口令最短的字符长度，已被 </a:t>
            </a:r>
            <a:r>
              <a:rPr lang="en-US" altLang="zh-CN" dirty="0"/>
              <a:t>pam </a:t>
            </a:r>
            <a:r>
              <a:rPr lang="zh-CN" altLang="en-US" dirty="0"/>
              <a:t>模块取代，失去效用！</a:t>
            </a:r>
          </a:p>
          <a:p>
            <a:r>
              <a:rPr lang="en-US" altLang="zh-CN" dirty="0">
                <a:solidFill>
                  <a:srgbClr val="FF0000"/>
                </a:solidFill>
              </a:rPr>
              <a:t>PASS_WARN_AGE</a:t>
            </a:r>
            <a:r>
              <a:rPr lang="en-US" altLang="zh-CN" dirty="0"/>
              <a:t>   7	&lt;==/</a:t>
            </a:r>
            <a:r>
              <a:rPr lang="en-US" altLang="zh-CN" dirty="0" err="1"/>
              <a:t>etc</a:t>
            </a:r>
            <a:r>
              <a:rPr lang="en-US" altLang="zh-CN" dirty="0"/>
              <a:t>/shadow </a:t>
            </a:r>
            <a:r>
              <a:rPr lang="zh-CN" altLang="en-US" dirty="0"/>
              <a:t>内的第 </a:t>
            </a:r>
            <a:r>
              <a:rPr lang="en-US" altLang="zh-CN" dirty="0"/>
              <a:t>6 </a:t>
            </a:r>
            <a:r>
              <a:rPr lang="zh-CN" altLang="en-US" dirty="0"/>
              <a:t>栏，过期前会</a:t>
            </a:r>
            <a:r>
              <a:rPr lang="zh-CN" altLang="en-US" dirty="0">
                <a:solidFill>
                  <a:srgbClr val="FF0000"/>
                </a:solidFill>
              </a:rPr>
              <a:t>警告的日数</a:t>
            </a:r>
          </a:p>
          <a:p>
            <a:r>
              <a:rPr lang="en-US" altLang="zh-CN" dirty="0"/>
              <a:t>UID_MIN         500	&lt;==</a:t>
            </a:r>
            <a:r>
              <a:rPr lang="zh-CN" altLang="en-US" dirty="0"/>
              <a:t>使用者最小的 </a:t>
            </a:r>
            <a:r>
              <a:rPr lang="en-US" altLang="zh-CN" dirty="0"/>
              <a:t>UID</a:t>
            </a:r>
            <a:r>
              <a:rPr lang="zh-CN" altLang="en-US" dirty="0"/>
              <a:t>，意即小于 </a:t>
            </a:r>
            <a:r>
              <a:rPr lang="en-US" altLang="zh-CN" dirty="0"/>
              <a:t>500 </a:t>
            </a:r>
            <a:r>
              <a:rPr lang="zh-CN" altLang="en-US" dirty="0"/>
              <a:t>的 </a:t>
            </a:r>
            <a:r>
              <a:rPr lang="en-US" altLang="zh-CN" dirty="0"/>
              <a:t>UID </a:t>
            </a:r>
            <a:r>
              <a:rPr lang="zh-CN" altLang="en-US" dirty="0"/>
              <a:t>为系统保留</a:t>
            </a:r>
          </a:p>
          <a:p>
            <a:r>
              <a:rPr lang="en-US" altLang="zh-CN" dirty="0"/>
              <a:t>UID_MAX       60000	&lt;==</a:t>
            </a:r>
            <a:r>
              <a:rPr lang="zh-CN" altLang="en-US" dirty="0"/>
              <a:t>使用者能够用的最大 </a:t>
            </a:r>
            <a:r>
              <a:rPr lang="en-US" altLang="zh-CN" dirty="0"/>
              <a:t>UID</a:t>
            </a:r>
          </a:p>
          <a:p>
            <a:r>
              <a:rPr lang="en-US" altLang="zh-CN" dirty="0"/>
              <a:t>GID_MIN         500	&lt;==</a:t>
            </a:r>
            <a:r>
              <a:rPr lang="zh-CN" altLang="en-US" dirty="0"/>
              <a:t>使用者自定义组的最小 </a:t>
            </a:r>
            <a:r>
              <a:rPr lang="en-US" altLang="zh-CN" dirty="0"/>
              <a:t>GID</a:t>
            </a:r>
            <a:r>
              <a:rPr lang="zh-CN" altLang="en-US" dirty="0"/>
              <a:t>，小于 </a:t>
            </a:r>
            <a:r>
              <a:rPr lang="en-US" altLang="zh-CN" dirty="0"/>
              <a:t>500 </a:t>
            </a:r>
            <a:r>
              <a:rPr lang="zh-CN" altLang="en-US" dirty="0"/>
              <a:t>为系统保留</a:t>
            </a:r>
          </a:p>
          <a:p>
            <a:r>
              <a:rPr lang="en-US" altLang="zh-CN" dirty="0"/>
              <a:t>GID_MAX       60000	&lt;==</a:t>
            </a:r>
            <a:r>
              <a:rPr lang="zh-CN" altLang="en-US" dirty="0"/>
              <a:t>使用者自定义组的最大 </a:t>
            </a:r>
            <a:r>
              <a:rPr lang="en-US" altLang="zh-CN" dirty="0"/>
              <a:t>GID</a:t>
            </a:r>
          </a:p>
          <a:p>
            <a:r>
              <a:rPr lang="en-US" altLang="zh-CN" dirty="0"/>
              <a:t>CREATE_HOME     yes	&lt;==</a:t>
            </a:r>
            <a:r>
              <a:rPr lang="zh-CN" altLang="en-US" dirty="0"/>
              <a:t>在不加 </a:t>
            </a:r>
            <a:r>
              <a:rPr lang="en-US" altLang="zh-CN" dirty="0"/>
              <a:t>-M </a:t>
            </a:r>
            <a:r>
              <a:rPr lang="zh-CN" altLang="en-US" dirty="0"/>
              <a:t>及 </a:t>
            </a:r>
            <a:r>
              <a:rPr lang="en-US" altLang="zh-CN" dirty="0"/>
              <a:t>-m </a:t>
            </a:r>
            <a:r>
              <a:rPr lang="zh-CN" altLang="en-US" dirty="0"/>
              <a:t>时，是否主动创建用户家目录？</a:t>
            </a:r>
          </a:p>
          <a:p>
            <a:r>
              <a:rPr lang="en-US" altLang="zh-CN" dirty="0">
                <a:solidFill>
                  <a:srgbClr val="FF0000"/>
                </a:solidFill>
              </a:rPr>
              <a:t>UMASK</a:t>
            </a:r>
            <a:r>
              <a:rPr lang="en-US" altLang="zh-CN" dirty="0"/>
              <a:t>           077     &lt;==</a:t>
            </a:r>
            <a:r>
              <a:rPr lang="zh-CN" altLang="en-US" dirty="0">
                <a:solidFill>
                  <a:srgbClr val="FF0000"/>
                </a:solidFill>
              </a:rPr>
              <a:t>用户家目录</a:t>
            </a:r>
            <a:r>
              <a:rPr lang="zh-CN" altLang="en-US" dirty="0"/>
              <a:t>创建的 </a:t>
            </a:r>
            <a:r>
              <a:rPr lang="en-US" altLang="zh-CN" dirty="0" err="1"/>
              <a:t>umask</a:t>
            </a:r>
            <a:r>
              <a:rPr lang="en-US" altLang="zh-CN" dirty="0"/>
              <a:t> </a:t>
            </a:r>
            <a:r>
              <a:rPr lang="zh-CN" altLang="en-US" dirty="0"/>
              <a:t>，因此</a:t>
            </a:r>
            <a:r>
              <a:rPr lang="zh-CN" altLang="en-US" dirty="0">
                <a:solidFill>
                  <a:srgbClr val="FF0000"/>
                </a:solidFill>
              </a:rPr>
              <a:t>权限</a:t>
            </a:r>
            <a:r>
              <a:rPr lang="zh-CN" altLang="en-US" dirty="0"/>
              <a:t>会是 </a:t>
            </a:r>
            <a:r>
              <a:rPr lang="en-US" altLang="zh-CN" dirty="0"/>
              <a:t>700</a:t>
            </a:r>
          </a:p>
          <a:p>
            <a:r>
              <a:rPr lang="en-US" altLang="zh-CN" dirty="0"/>
              <a:t>USERGROUPS_ENAB yes     &lt;==</a:t>
            </a:r>
            <a:r>
              <a:rPr lang="zh-CN" altLang="en-US" dirty="0"/>
              <a:t>使用 </a:t>
            </a:r>
            <a:r>
              <a:rPr lang="en-US" altLang="zh-CN" dirty="0" err="1"/>
              <a:t>userdel</a:t>
            </a:r>
            <a:r>
              <a:rPr lang="en-US" altLang="zh-CN" dirty="0"/>
              <a:t> </a:t>
            </a:r>
            <a:r>
              <a:rPr lang="zh-CN" altLang="en-US" dirty="0"/>
              <a:t>删除时，是否会删除初始群组</a:t>
            </a:r>
          </a:p>
          <a:p>
            <a:r>
              <a:rPr lang="en-US" altLang="zh-CN" dirty="0"/>
              <a:t>MD5_CRYPT_ENAB yes      &lt;==</a:t>
            </a:r>
            <a:r>
              <a:rPr lang="zh-CN" altLang="en-US" dirty="0"/>
              <a:t>口令是否经过 </a:t>
            </a:r>
            <a:r>
              <a:rPr lang="en-US" altLang="zh-CN" dirty="0"/>
              <a:t>MD5 </a:t>
            </a:r>
            <a:r>
              <a:rPr lang="zh-CN" altLang="en-US" dirty="0"/>
              <a:t>的加密机制处理</a:t>
            </a:r>
          </a:p>
        </p:txBody>
      </p:sp>
    </p:spTree>
    <p:extLst>
      <p:ext uri="{BB962C8B-B14F-4D97-AF65-F5344CB8AC3E}">
        <p14:creationId xmlns:p14="http://schemas.microsoft.com/office/powerpoint/2010/main" val="296766518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用户默认环境配置及模板</a:t>
            </a:r>
          </a:p>
        </p:txBody>
      </p:sp>
      <p:sp>
        <p:nvSpPr>
          <p:cNvPr id="7" name="内容占位符 2">
            <a:extLst>
              <a:ext uri="{FF2B5EF4-FFF2-40B4-BE49-F238E27FC236}">
                <a16:creationId xmlns:a16="http://schemas.microsoft.com/office/drawing/2014/main" id="{31F00458-9CD5-46A0-A17B-6EFFD234E4C0}"/>
              </a:ext>
            </a:extLst>
          </p:cNvPr>
          <p:cNvSpPr>
            <a:spLocks noGrp="1"/>
          </p:cNvSpPr>
          <p:nvPr>
            <p:ph idx="1"/>
          </p:nvPr>
        </p:nvSpPr>
        <p:spPr>
          <a:xfrm>
            <a:off x="951806" y="1556792"/>
            <a:ext cx="7983537" cy="4114800"/>
          </a:xfrm>
        </p:spPr>
        <p:txBody>
          <a:bodyPr/>
          <a:lstStyle/>
          <a:p>
            <a:r>
              <a:rPr lang="zh-CN" altLang="en-US" dirty="0"/>
              <a:t>用户默认配置文件 </a:t>
            </a:r>
          </a:p>
          <a:p>
            <a:pPr lvl="1"/>
            <a:r>
              <a:rPr lang="en-US" altLang="zh-CN" dirty="0"/>
              <a:t>/etc/default/useradd</a:t>
            </a:r>
          </a:p>
          <a:p>
            <a:pPr marL="457200" lvl="1" indent="0">
              <a:buNone/>
            </a:pPr>
            <a:r>
              <a:rPr lang="en-US" altLang="zh-CN" dirty="0"/>
              <a:t> </a:t>
            </a:r>
          </a:p>
          <a:p>
            <a:pPr lvl="1"/>
            <a:endParaRPr lang="en-US" altLang="zh-CN" dirty="0"/>
          </a:p>
          <a:p>
            <a:pPr lvl="1"/>
            <a:endParaRPr lang="en-US" altLang="zh-CN" dirty="0"/>
          </a:p>
          <a:p>
            <a:pPr lvl="1"/>
            <a:endParaRPr lang="en-US" altLang="zh-CN" dirty="0"/>
          </a:p>
          <a:p>
            <a:pPr marL="457200" lvl="1" indent="0">
              <a:buNone/>
            </a:pPr>
            <a:endParaRPr lang="en-US" altLang="zh-CN" dirty="0"/>
          </a:p>
        </p:txBody>
      </p:sp>
      <p:sp>
        <p:nvSpPr>
          <p:cNvPr id="4" name="文本框 3">
            <a:extLst>
              <a:ext uri="{FF2B5EF4-FFF2-40B4-BE49-F238E27FC236}">
                <a16:creationId xmlns:a16="http://schemas.microsoft.com/office/drawing/2014/main" id="{79262A48-E8F2-4254-807C-4622EB25E81A}"/>
              </a:ext>
            </a:extLst>
          </p:cNvPr>
          <p:cNvSpPr txBox="1"/>
          <p:nvPr/>
        </p:nvSpPr>
        <p:spPr>
          <a:xfrm>
            <a:off x="323528" y="2780928"/>
            <a:ext cx="8760619" cy="2246769"/>
          </a:xfrm>
          <a:prstGeom prst="rect">
            <a:avLst/>
          </a:prstGeom>
          <a:solidFill>
            <a:schemeClr val="accent2">
              <a:lumMod val="40000"/>
              <a:lumOff val="60000"/>
            </a:schemeClr>
          </a:solidFill>
        </p:spPr>
        <p:txBody>
          <a:bodyPr wrap="square" rtlCol="0">
            <a:spAutoFit/>
          </a:bodyPr>
          <a:lstStyle/>
          <a:p>
            <a:r>
              <a:rPr lang="en-US" altLang="zh-CN" sz="2000" dirty="0"/>
              <a:t>GROUP=100		&lt;==</a:t>
            </a:r>
            <a:r>
              <a:rPr lang="zh-CN" altLang="en-US" sz="2000" dirty="0"/>
              <a:t>默认的群组</a:t>
            </a:r>
          </a:p>
          <a:p>
            <a:r>
              <a:rPr lang="en-US" altLang="zh-CN" sz="2000" dirty="0">
                <a:solidFill>
                  <a:srgbClr val="FF0000"/>
                </a:solidFill>
              </a:rPr>
              <a:t>HOME=/home</a:t>
            </a:r>
            <a:r>
              <a:rPr lang="en-US" altLang="zh-CN" sz="2000" dirty="0"/>
              <a:t>		&lt;==</a:t>
            </a:r>
            <a:r>
              <a:rPr lang="zh-CN" altLang="en-US" sz="2000" dirty="0"/>
              <a:t>默认的</a:t>
            </a:r>
            <a:r>
              <a:rPr lang="zh-CN" altLang="en-US" sz="2000" dirty="0">
                <a:solidFill>
                  <a:srgbClr val="FF0000"/>
                </a:solidFill>
              </a:rPr>
              <a:t>家目录</a:t>
            </a:r>
            <a:r>
              <a:rPr lang="zh-CN" altLang="en-US" sz="2000" dirty="0"/>
              <a:t>所在目录</a:t>
            </a:r>
          </a:p>
          <a:p>
            <a:r>
              <a:rPr lang="en-US" altLang="zh-CN" sz="2000" dirty="0"/>
              <a:t>INACTIVE=-1		&lt;==</a:t>
            </a:r>
            <a:r>
              <a:rPr lang="zh-CN" altLang="en-US" sz="2000" dirty="0"/>
              <a:t>口令失效日，在 </a:t>
            </a:r>
            <a:r>
              <a:rPr lang="en-US" altLang="zh-CN" sz="2000" dirty="0"/>
              <a:t>shadow </a:t>
            </a:r>
            <a:r>
              <a:rPr lang="zh-CN" altLang="en-US" sz="2000" dirty="0"/>
              <a:t>内的第 </a:t>
            </a:r>
            <a:r>
              <a:rPr lang="en-US" altLang="zh-CN" sz="2000" dirty="0"/>
              <a:t>7 </a:t>
            </a:r>
            <a:r>
              <a:rPr lang="zh-CN" altLang="en-US" sz="2000" dirty="0"/>
              <a:t>栏</a:t>
            </a:r>
          </a:p>
          <a:p>
            <a:r>
              <a:rPr lang="en-US" altLang="zh-CN" sz="2000" dirty="0"/>
              <a:t>EXPIRE=			&lt;==</a:t>
            </a:r>
            <a:r>
              <a:rPr lang="zh-CN" altLang="en-US" sz="2000" dirty="0"/>
              <a:t>账号失效日，在 </a:t>
            </a:r>
            <a:r>
              <a:rPr lang="en-US" altLang="zh-CN" sz="2000" dirty="0"/>
              <a:t>shadow </a:t>
            </a:r>
            <a:r>
              <a:rPr lang="zh-CN" altLang="en-US" sz="2000" dirty="0"/>
              <a:t>内的第 </a:t>
            </a:r>
            <a:r>
              <a:rPr lang="en-US" altLang="zh-CN" sz="2000" dirty="0"/>
              <a:t>8 </a:t>
            </a:r>
            <a:r>
              <a:rPr lang="zh-CN" altLang="en-US" sz="2000" dirty="0"/>
              <a:t>栏</a:t>
            </a:r>
          </a:p>
          <a:p>
            <a:r>
              <a:rPr lang="en-US" altLang="zh-CN" sz="2000" dirty="0">
                <a:solidFill>
                  <a:srgbClr val="FF0000"/>
                </a:solidFill>
              </a:rPr>
              <a:t>SHELL=/bin/bash</a:t>
            </a:r>
            <a:r>
              <a:rPr lang="en-US" altLang="zh-CN" sz="2000" dirty="0"/>
              <a:t>		&lt;==</a:t>
            </a:r>
            <a:r>
              <a:rPr lang="zh-CN" altLang="en-US" sz="2000" dirty="0"/>
              <a:t>默认的 </a:t>
            </a:r>
            <a:r>
              <a:rPr lang="en-US" altLang="zh-CN" sz="2000" dirty="0"/>
              <a:t>shell</a:t>
            </a:r>
          </a:p>
          <a:p>
            <a:r>
              <a:rPr lang="en-US" altLang="zh-CN" sz="2000" dirty="0">
                <a:solidFill>
                  <a:srgbClr val="FF0000"/>
                </a:solidFill>
              </a:rPr>
              <a:t>SKEL=/</a:t>
            </a:r>
            <a:r>
              <a:rPr lang="en-US" altLang="zh-CN" sz="2000" dirty="0" err="1">
                <a:solidFill>
                  <a:srgbClr val="FF0000"/>
                </a:solidFill>
              </a:rPr>
              <a:t>etc</a:t>
            </a:r>
            <a:r>
              <a:rPr lang="en-US" altLang="zh-CN" sz="2000" dirty="0">
                <a:solidFill>
                  <a:srgbClr val="FF0000"/>
                </a:solidFill>
              </a:rPr>
              <a:t>/</a:t>
            </a:r>
            <a:r>
              <a:rPr lang="en-US" altLang="zh-CN" sz="2000" dirty="0" err="1">
                <a:solidFill>
                  <a:srgbClr val="FF0000"/>
                </a:solidFill>
              </a:rPr>
              <a:t>skel</a:t>
            </a:r>
            <a:r>
              <a:rPr lang="en-US" altLang="zh-CN" sz="2000" dirty="0"/>
              <a:t>		&lt;==</a:t>
            </a:r>
            <a:r>
              <a:rPr lang="zh-CN" altLang="en-US" sz="2000" dirty="0"/>
              <a:t>用户家目录的内容数据参考目录</a:t>
            </a:r>
          </a:p>
          <a:p>
            <a:r>
              <a:rPr lang="en-US" altLang="zh-CN" sz="2000" dirty="0"/>
              <a:t>CREATE_MAIL_SPOOL=yes   &lt;==</a:t>
            </a:r>
            <a:r>
              <a:rPr lang="zh-CN" altLang="en-US" sz="2000" dirty="0"/>
              <a:t>是否主动帮使用者创建邮件信箱</a:t>
            </a:r>
            <a:r>
              <a:rPr lang="en-US" altLang="zh-CN" sz="2000" dirty="0"/>
              <a:t>(mailbox)</a:t>
            </a:r>
            <a:endParaRPr lang="zh-CN" altLang="en-US" sz="2000" dirty="0"/>
          </a:p>
        </p:txBody>
      </p:sp>
    </p:spTree>
    <p:extLst>
      <p:ext uri="{BB962C8B-B14F-4D97-AF65-F5344CB8AC3E}">
        <p14:creationId xmlns:p14="http://schemas.microsoft.com/office/powerpoint/2010/main" val="131364412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useradd</a:t>
            </a:r>
            <a:r>
              <a:rPr lang="zh-CN" altLang="en-US" dirty="0"/>
              <a:t>默认环境配置及模板</a:t>
            </a:r>
          </a:p>
        </p:txBody>
      </p:sp>
      <p:sp>
        <p:nvSpPr>
          <p:cNvPr id="3" name="内容占位符 2"/>
          <p:cNvSpPr>
            <a:spLocks noGrp="1"/>
          </p:cNvSpPr>
          <p:nvPr>
            <p:ph idx="1"/>
          </p:nvPr>
        </p:nvSpPr>
        <p:spPr>
          <a:xfrm>
            <a:off x="963611" y="1260433"/>
            <a:ext cx="7983537" cy="4645025"/>
          </a:xfrm>
        </p:spPr>
        <p:txBody>
          <a:bodyPr/>
          <a:lstStyle/>
          <a:p>
            <a:r>
              <a:rPr lang="zh-CN" altLang="en-US" dirty="0" smtClean="0"/>
              <a:t>新</a:t>
            </a:r>
            <a:r>
              <a:rPr lang="zh-CN" altLang="en-US" dirty="0"/>
              <a:t>用户基本信息 </a:t>
            </a:r>
          </a:p>
          <a:p>
            <a:pPr lvl="1"/>
            <a:r>
              <a:rPr lang="en-US" altLang="zh-CN" dirty="0">
                <a:solidFill>
                  <a:srgbClr val="FF0000"/>
                </a:solidFill>
              </a:rPr>
              <a:t>/etc/</a:t>
            </a:r>
            <a:r>
              <a:rPr lang="en-US" altLang="zh-CN" dirty="0" err="1">
                <a:solidFill>
                  <a:srgbClr val="FF0000"/>
                </a:solidFill>
              </a:rPr>
              <a:t>skel</a:t>
            </a:r>
            <a:r>
              <a:rPr lang="en-US" altLang="zh-CN" dirty="0">
                <a:solidFill>
                  <a:srgbClr val="FF0000"/>
                </a:solidFill>
              </a:rPr>
              <a:t> </a:t>
            </a:r>
          </a:p>
          <a:p>
            <a:pPr lvl="1"/>
            <a:r>
              <a:rPr lang="zh-CN" altLang="en-US" dirty="0"/>
              <a:t>如果手工创建用户，则需复制该目录到用户主目录</a:t>
            </a:r>
          </a:p>
        </p:txBody>
      </p:sp>
      <p:sp>
        <p:nvSpPr>
          <p:cNvPr id="4" name="矩形 3"/>
          <p:cNvSpPr/>
          <p:nvPr/>
        </p:nvSpPr>
        <p:spPr>
          <a:xfrm>
            <a:off x="539551" y="3284984"/>
            <a:ext cx="8407597"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zh-CN" altLang="en-US" sz="2000" dirty="0">
                <a:solidFill>
                  <a:srgbClr val="0000CC"/>
                </a:solidFill>
              </a:rPr>
              <a:t>[</a:t>
            </a:r>
            <a:r>
              <a:rPr lang="zh-CN" altLang="en-US" sz="2400" dirty="0">
                <a:solidFill>
                  <a:srgbClr val="0000CC"/>
                </a:solidFill>
              </a:rPr>
              <a:t>xl@localhost ~]$ cd /etc/skel</a:t>
            </a:r>
          </a:p>
          <a:p>
            <a:r>
              <a:rPr lang="zh-CN" altLang="en-US" sz="2400" dirty="0">
                <a:solidFill>
                  <a:srgbClr val="0000CC"/>
                </a:solidFill>
              </a:rPr>
              <a:t>[xl@localhost skel]$ ls -al</a:t>
            </a:r>
          </a:p>
          <a:p>
            <a:r>
              <a:rPr lang="zh-CN" altLang="en-US" sz="2400" dirty="0"/>
              <a:t>total 32</a:t>
            </a:r>
          </a:p>
          <a:p>
            <a:r>
              <a:rPr lang="zh-CN" altLang="en-US" sz="2400" dirty="0"/>
              <a:t>drwxr-xr-x.   3 root root  4096 Apr 11  2018 .</a:t>
            </a:r>
          </a:p>
          <a:p>
            <a:r>
              <a:rPr lang="zh-CN" altLang="en-US" sz="2400" dirty="0"/>
              <a:t>drwxr-xr-x. 133 root root 12288 Apr 17 06:30 ..</a:t>
            </a:r>
          </a:p>
          <a:p>
            <a:r>
              <a:rPr lang="zh-CN" altLang="en-US" sz="2400" dirty="0"/>
              <a:t>-rw-r--r--.   1 root root    18 Apr 10  2018 .bash_logout</a:t>
            </a:r>
          </a:p>
          <a:p>
            <a:r>
              <a:rPr lang="zh-CN" altLang="en-US" sz="2400" dirty="0"/>
              <a:t>-rw-r--r--.   1 root root   193 Apr 10  2018 .bash_profile</a:t>
            </a:r>
          </a:p>
          <a:p>
            <a:r>
              <a:rPr lang="zh-CN" altLang="en-US" sz="2400" dirty="0"/>
              <a:t>-rw-r--r--.   1 root root   231 Apr 10  2018 .bashrc</a:t>
            </a:r>
          </a:p>
          <a:p>
            <a:r>
              <a:rPr lang="zh-CN" altLang="en-US" sz="2400" dirty="0"/>
              <a:t>drwxr-xr-x.   4 root root  4096 Aug 23  2019 .mozilla</a:t>
            </a:r>
          </a:p>
        </p:txBody>
      </p:sp>
    </p:spTree>
    <p:extLst>
      <p:ext uri="{BB962C8B-B14F-4D97-AF65-F5344CB8AC3E}">
        <p14:creationId xmlns:p14="http://schemas.microsoft.com/office/powerpoint/2010/main" val="127865276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useradd </a:t>
            </a:r>
            <a:r>
              <a:rPr lang="zh-CN" altLang="en-US" dirty="0"/>
              <a:t>命令参数的默认值</a:t>
            </a:r>
          </a:p>
        </p:txBody>
      </p:sp>
      <p:sp>
        <p:nvSpPr>
          <p:cNvPr id="3" name="内容占位符 2"/>
          <p:cNvSpPr>
            <a:spLocks noGrp="1"/>
          </p:cNvSpPr>
          <p:nvPr>
            <p:ph idx="1"/>
          </p:nvPr>
        </p:nvSpPr>
        <p:spPr>
          <a:xfrm>
            <a:off x="683568" y="1628800"/>
            <a:ext cx="7938218" cy="4530725"/>
          </a:xfrm>
        </p:spPr>
        <p:txBody>
          <a:bodyPr/>
          <a:lstStyle/>
          <a:p>
            <a:r>
              <a:rPr lang="zh-CN" altLang="en-US" dirty="0"/>
              <a:t>显示 </a:t>
            </a:r>
            <a:r>
              <a:rPr lang="en-US" altLang="zh-CN" dirty="0"/>
              <a:t>useradd </a:t>
            </a:r>
            <a:r>
              <a:rPr lang="zh-CN" altLang="en-US" dirty="0"/>
              <a:t>命令参数的默认值 </a:t>
            </a:r>
          </a:p>
          <a:p>
            <a:pPr lvl="1"/>
            <a:r>
              <a:rPr lang="en-US" altLang="zh-CN" b="1" dirty="0">
                <a:solidFill>
                  <a:schemeClr val="accent6">
                    <a:lumMod val="75000"/>
                  </a:schemeClr>
                </a:solidFill>
              </a:rPr>
              <a:t>useradd -D </a:t>
            </a:r>
          </a:p>
          <a:p>
            <a:pPr lvl="1"/>
            <a:r>
              <a:rPr lang="zh-CN" altLang="en-US" dirty="0"/>
              <a:t>从文件 </a:t>
            </a:r>
            <a:r>
              <a:rPr lang="en-US" altLang="zh-CN" dirty="0"/>
              <a:t>/etc/default/useradd </a:t>
            </a:r>
            <a:r>
              <a:rPr lang="zh-CN" altLang="en-US" dirty="0"/>
              <a:t>中读取 </a:t>
            </a:r>
          </a:p>
          <a:p>
            <a:r>
              <a:rPr lang="zh-CN" altLang="en-US" dirty="0">
                <a:solidFill>
                  <a:srgbClr val="FF0000"/>
                </a:solidFill>
              </a:rPr>
              <a:t>更改</a:t>
            </a:r>
            <a:r>
              <a:rPr lang="zh-CN" altLang="en-US" dirty="0"/>
              <a:t> </a:t>
            </a:r>
            <a:r>
              <a:rPr lang="en-US" altLang="zh-CN" dirty="0"/>
              <a:t>useradd </a:t>
            </a:r>
            <a:r>
              <a:rPr lang="zh-CN" altLang="en-US" dirty="0"/>
              <a:t>命令参数的</a:t>
            </a:r>
            <a:r>
              <a:rPr lang="zh-CN" altLang="en-US" dirty="0">
                <a:solidFill>
                  <a:srgbClr val="FF0000"/>
                </a:solidFill>
              </a:rPr>
              <a:t>默认值 </a:t>
            </a:r>
          </a:p>
          <a:p>
            <a:pPr lvl="1"/>
            <a:r>
              <a:rPr lang="zh-CN" altLang="en-US" dirty="0"/>
              <a:t>格式 </a:t>
            </a:r>
          </a:p>
          <a:p>
            <a:pPr lvl="1">
              <a:buNone/>
            </a:pPr>
            <a:r>
              <a:rPr lang="en-US" altLang="zh-CN" sz="2400" dirty="0"/>
              <a:t># useradd -D [-g group] [-b base] [-s shell]  [-e expire ] </a:t>
            </a:r>
          </a:p>
          <a:p>
            <a:pPr lvl="1"/>
            <a:r>
              <a:rPr lang="zh-CN" altLang="en-US" dirty="0"/>
              <a:t>举例 </a:t>
            </a:r>
          </a:p>
          <a:p>
            <a:pPr lvl="1">
              <a:buNone/>
            </a:pPr>
            <a:r>
              <a:rPr lang="en-US" altLang="zh-CN" dirty="0">
                <a:solidFill>
                  <a:schemeClr val="accent6">
                    <a:lumMod val="75000"/>
                  </a:schemeClr>
                </a:solidFill>
              </a:rPr>
              <a:t># useradd -D -s /bin/</a:t>
            </a:r>
            <a:r>
              <a:rPr lang="en-US" altLang="zh-CN" dirty="0" err="1">
                <a:solidFill>
                  <a:schemeClr val="accent6">
                    <a:lumMod val="75000"/>
                  </a:schemeClr>
                </a:solidFill>
              </a:rPr>
              <a:t>ksh</a:t>
            </a:r>
            <a:endParaRPr lang="zh-CN" altLang="en-US" dirty="0">
              <a:solidFill>
                <a:schemeClr val="accent6">
                  <a:lumMod val="75000"/>
                </a:schemeClr>
              </a:solidFill>
            </a:endParaRPr>
          </a:p>
        </p:txBody>
      </p:sp>
      <p:sp>
        <p:nvSpPr>
          <p:cNvPr id="4" name="矩形 3"/>
          <p:cNvSpPr/>
          <p:nvPr/>
        </p:nvSpPr>
        <p:spPr>
          <a:xfrm>
            <a:off x="1763688" y="2276872"/>
            <a:ext cx="6120680" cy="3046988"/>
          </a:xfrm>
          <a:prstGeom prst="rect">
            <a:avLst/>
          </a:prstGeom>
          <a:solidFill>
            <a:schemeClr val="accent2">
              <a:lumMod val="40000"/>
              <a:lumOff val="60000"/>
            </a:schemeClr>
          </a:solidFill>
        </p:spPr>
        <p:txBody>
          <a:bodyPr wrap="square">
            <a:spAutoFit/>
          </a:bodyPr>
          <a:lstStyle/>
          <a:p>
            <a:r>
              <a:rPr lang="en-US" altLang="zh-CN" sz="2400" dirty="0"/>
              <a:t>[</a:t>
            </a:r>
            <a:r>
              <a:rPr lang="en-US" altLang="zh-CN" sz="2400" dirty="0" err="1"/>
              <a:t>root@localhost</a:t>
            </a:r>
            <a:r>
              <a:rPr lang="en-US" altLang="zh-CN" sz="2400" dirty="0"/>
              <a:t> ~]# </a:t>
            </a:r>
            <a:r>
              <a:rPr lang="en-US" altLang="zh-CN" sz="2400" dirty="0" err="1"/>
              <a:t>useradd</a:t>
            </a:r>
            <a:r>
              <a:rPr lang="en-US" altLang="zh-CN" sz="2400" dirty="0"/>
              <a:t> -D</a:t>
            </a:r>
          </a:p>
          <a:p>
            <a:r>
              <a:rPr lang="en-US" altLang="zh-CN" sz="2400" dirty="0"/>
              <a:t>GROUP=100</a:t>
            </a:r>
          </a:p>
          <a:p>
            <a:r>
              <a:rPr lang="en-US" altLang="zh-CN" sz="2400" dirty="0"/>
              <a:t>HOME=/home</a:t>
            </a:r>
          </a:p>
          <a:p>
            <a:r>
              <a:rPr lang="en-US" altLang="zh-CN" sz="2400" dirty="0"/>
              <a:t>INACTIVE=-1</a:t>
            </a:r>
          </a:p>
          <a:p>
            <a:r>
              <a:rPr lang="en-US" altLang="zh-CN" sz="2400" dirty="0"/>
              <a:t>EXPIRE=</a:t>
            </a:r>
          </a:p>
          <a:p>
            <a:r>
              <a:rPr lang="en-US" altLang="zh-CN" sz="2400" dirty="0"/>
              <a:t>SHELL=/bin/bash</a:t>
            </a:r>
          </a:p>
          <a:p>
            <a:r>
              <a:rPr lang="en-US" altLang="zh-CN" sz="2400" dirty="0"/>
              <a:t>SKEL=/</a:t>
            </a:r>
            <a:r>
              <a:rPr lang="en-US" altLang="zh-CN" sz="2400" dirty="0" err="1"/>
              <a:t>etc</a:t>
            </a:r>
            <a:r>
              <a:rPr lang="en-US" altLang="zh-CN" sz="2400" dirty="0"/>
              <a:t>/</a:t>
            </a:r>
            <a:r>
              <a:rPr lang="en-US" altLang="zh-CN" sz="2400" dirty="0" err="1"/>
              <a:t>skel</a:t>
            </a:r>
            <a:endParaRPr lang="en-US" altLang="zh-CN" sz="2400" dirty="0"/>
          </a:p>
          <a:p>
            <a:r>
              <a:rPr lang="en-US" altLang="zh-CN" sz="2400" dirty="0"/>
              <a:t>CREATE_MAIL_SPOOL=yes</a:t>
            </a:r>
          </a:p>
        </p:txBody>
      </p:sp>
    </p:spTree>
    <p:extLst>
      <p:ext uri="{BB962C8B-B14F-4D97-AF65-F5344CB8AC3E}">
        <p14:creationId xmlns:p14="http://schemas.microsoft.com/office/powerpoint/2010/main" val="3507535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grpId="1" nodeType="clickEffect">
                                  <p:stCondLst>
                                    <p:cond delay="0"/>
                                  </p:stCondLst>
                                  <p:childTnLst>
                                    <p:anim calcmode="lin" valueType="num">
                                      <p:cBhvr additive="base">
                                        <p:cTn id="12" dur="500"/>
                                        <p:tgtEl>
                                          <p:spTgt spid="4"/>
                                        </p:tgtEl>
                                        <p:attrNameLst>
                                          <p:attrName>ppt_x</p:attrName>
                                        </p:attrNameLst>
                                      </p:cBhvr>
                                      <p:tavLst>
                                        <p:tav tm="0">
                                          <p:val>
                                            <p:strVal val="ppt_x"/>
                                          </p:val>
                                        </p:tav>
                                        <p:tav tm="100000">
                                          <p:val>
                                            <p:strVal val="ppt_x"/>
                                          </p:val>
                                        </p:tav>
                                      </p:tavLst>
                                    </p:anim>
                                    <p:anim calcmode="lin" valueType="num">
                                      <p:cBhvr additive="base">
                                        <p:cTn id="13" dur="500"/>
                                        <p:tgtEl>
                                          <p:spTgt spid="4"/>
                                        </p:tgtEl>
                                        <p:attrNameLst>
                                          <p:attrName>ppt_y</p:attrName>
                                        </p:attrNameLst>
                                      </p:cBhvr>
                                      <p:tavLst>
                                        <p:tav tm="0">
                                          <p:val>
                                            <p:strVal val="ppt_y"/>
                                          </p:val>
                                        </p:tav>
                                        <p:tav tm="100000">
                                          <p:val>
                                            <p:strVal val="1+ppt_h/2"/>
                                          </p:val>
                                        </p:tav>
                                      </p:tavLst>
                                    </p:anim>
                                    <p:set>
                                      <p:cBhvr>
                                        <p:cTn id="14"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口令管理</a:t>
            </a:r>
            <a:r>
              <a:rPr lang="en-US" altLang="zh-CN" dirty="0" smtClean="0"/>
              <a:t>-</a:t>
            </a:r>
            <a:r>
              <a:rPr lang="zh-CN" altLang="en-US" sz="4400" dirty="0" smtClean="0"/>
              <a:t>设置</a:t>
            </a:r>
            <a:r>
              <a:rPr lang="zh-CN" altLang="en-US" sz="4400" dirty="0"/>
              <a:t>用户</a:t>
            </a:r>
            <a:r>
              <a:rPr lang="zh-CN" altLang="en-US" sz="4400" dirty="0" smtClean="0"/>
              <a:t>口令</a:t>
            </a:r>
            <a:r>
              <a:rPr lang="en-US" altLang="zh-CN" sz="4400" dirty="0" err="1" smtClean="0"/>
              <a:t>passwd</a:t>
            </a:r>
            <a:endParaRPr lang="zh-CN" altLang="en-US" dirty="0"/>
          </a:p>
        </p:txBody>
      </p:sp>
      <p:sp>
        <p:nvSpPr>
          <p:cNvPr id="3" name="内容占位符 2"/>
          <p:cNvSpPr>
            <a:spLocks noGrp="1"/>
          </p:cNvSpPr>
          <p:nvPr>
            <p:ph idx="1"/>
          </p:nvPr>
        </p:nvSpPr>
        <p:spPr>
          <a:xfrm>
            <a:off x="539552" y="1556792"/>
            <a:ext cx="8276456" cy="4392488"/>
          </a:xfrm>
        </p:spPr>
        <p:txBody>
          <a:bodyPr/>
          <a:lstStyle/>
          <a:p>
            <a:r>
              <a:rPr lang="zh-CN" altLang="en-US" dirty="0"/>
              <a:t>命令格式</a:t>
            </a:r>
          </a:p>
          <a:p>
            <a:pPr lvl="1"/>
            <a:r>
              <a:rPr lang="en-US" altLang="zh-CN" b="1" dirty="0">
                <a:solidFill>
                  <a:schemeClr val="accent6">
                    <a:lumMod val="75000"/>
                  </a:schemeClr>
                </a:solidFill>
              </a:rPr>
              <a:t>passwd </a:t>
            </a:r>
            <a:r>
              <a:rPr lang="en-US" altLang="zh-CN" dirty="0">
                <a:solidFill>
                  <a:schemeClr val="accent6">
                    <a:lumMod val="75000"/>
                  </a:schemeClr>
                </a:solidFill>
              </a:rPr>
              <a:t>[</a:t>
            </a:r>
            <a:r>
              <a:rPr lang="zh-CN" altLang="en-US" dirty="0">
                <a:solidFill>
                  <a:schemeClr val="accent6">
                    <a:lumMod val="75000"/>
                  </a:schemeClr>
                </a:solidFill>
              </a:rPr>
              <a:t>可选项</a:t>
            </a:r>
            <a:r>
              <a:rPr lang="en-US" altLang="zh-CN" dirty="0">
                <a:solidFill>
                  <a:schemeClr val="accent6">
                    <a:lumMod val="75000"/>
                  </a:schemeClr>
                </a:solidFill>
              </a:rPr>
              <a:t>] </a:t>
            </a:r>
            <a:r>
              <a:rPr lang="en-US" altLang="zh-CN" b="1" dirty="0">
                <a:solidFill>
                  <a:schemeClr val="accent6">
                    <a:lumMod val="75000"/>
                  </a:schemeClr>
                </a:solidFill>
              </a:rPr>
              <a:t>[&lt;</a:t>
            </a:r>
            <a:r>
              <a:rPr lang="zh-CN" altLang="en-US" b="1" dirty="0">
                <a:solidFill>
                  <a:schemeClr val="accent6">
                    <a:lumMod val="75000"/>
                  </a:schemeClr>
                </a:solidFill>
              </a:rPr>
              <a:t>用户账号名</a:t>
            </a:r>
            <a:r>
              <a:rPr lang="en-US" altLang="zh-CN" b="1" dirty="0">
                <a:solidFill>
                  <a:schemeClr val="accent6">
                    <a:lumMod val="75000"/>
                  </a:schemeClr>
                </a:solidFill>
              </a:rPr>
              <a:t>&gt;]</a:t>
            </a:r>
          </a:p>
          <a:p>
            <a:r>
              <a:rPr lang="zh-CN" altLang="en-US" dirty="0"/>
              <a:t>使用举例</a:t>
            </a:r>
          </a:p>
          <a:p>
            <a:pPr lvl="1"/>
            <a:r>
              <a:rPr lang="zh-CN" altLang="en-US" dirty="0">
                <a:solidFill>
                  <a:srgbClr val="FF0000"/>
                </a:solidFill>
              </a:rPr>
              <a:t>设置用户自己</a:t>
            </a:r>
            <a:r>
              <a:rPr lang="zh-CN" altLang="en-US" dirty="0"/>
              <a:t>的口令</a:t>
            </a:r>
          </a:p>
          <a:p>
            <a:pPr lvl="2">
              <a:buNone/>
            </a:pPr>
            <a:r>
              <a:rPr lang="en-US" altLang="zh-CN" dirty="0">
                <a:solidFill>
                  <a:schemeClr val="accent6">
                    <a:lumMod val="75000"/>
                  </a:schemeClr>
                </a:solidFill>
              </a:rPr>
              <a:t>$ </a:t>
            </a:r>
            <a:r>
              <a:rPr lang="en-US" altLang="zh-CN" dirty="0" err="1">
                <a:solidFill>
                  <a:schemeClr val="accent6">
                    <a:lumMod val="75000"/>
                  </a:schemeClr>
                </a:solidFill>
              </a:rPr>
              <a:t>passwd</a:t>
            </a:r>
            <a:endParaRPr lang="en-US" altLang="zh-CN" dirty="0">
              <a:solidFill>
                <a:schemeClr val="accent6">
                  <a:lumMod val="75000"/>
                </a:schemeClr>
              </a:solidFill>
            </a:endParaRPr>
          </a:p>
          <a:p>
            <a:pPr lvl="1"/>
            <a:r>
              <a:rPr lang="en-US" altLang="zh-CN" dirty="0" smtClean="0">
                <a:solidFill>
                  <a:srgbClr val="FF0000"/>
                </a:solidFill>
              </a:rPr>
              <a:t>root </a:t>
            </a:r>
            <a:r>
              <a:rPr lang="zh-CN" altLang="en-US" dirty="0"/>
              <a:t>用户</a:t>
            </a:r>
            <a:r>
              <a:rPr lang="zh-CN" altLang="en-US" dirty="0">
                <a:solidFill>
                  <a:srgbClr val="FF0000"/>
                </a:solidFill>
              </a:rPr>
              <a:t>设置他人</a:t>
            </a:r>
            <a:r>
              <a:rPr lang="zh-CN" altLang="en-US" dirty="0"/>
              <a:t>的口令</a:t>
            </a:r>
          </a:p>
          <a:p>
            <a:pPr lvl="2">
              <a:buNone/>
            </a:pPr>
            <a:r>
              <a:rPr lang="en-US" altLang="zh-CN" dirty="0">
                <a:solidFill>
                  <a:schemeClr val="accent6">
                    <a:lumMod val="75000"/>
                  </a:schemeClr>
                </a:solidFill>
              </a:rPr>
              <a:t># </a:t>
            </a:r>
            <a:r>
              <a:rPr lang="en-US" altLang="zh-CN" dirty="0" err="1">
                <a:solidFill>
                  <a:schemeClr val="accent6">
                    <a:lumMod val="75000"/>
                  </a:schemeClr>
                </a:solidFill>
              </a:rPr>
              <a:t>passwd</a:t>
            </a:r>
            <a:r>
              <a:rPr lang="en-US" altLang="zh-CN" dirty="0">
                <a:solidFill>
                  <a:schemeClr val="accent6">
                    <a:lumMod val="75000"/>
                  </a:schemeClr>
                </a:solidFill>
              </a:rPr>
              <a:t> user1</a:t>
            </a:r>
          </a:p>
          <a:p>
            <a:endParaRPr lang="zh-CN" altLang="en-US" dirty="0"/>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6253BC-1993-4C86-ABCC-47435E09B35E}"/>
              </a:ext>
            </a:extLst>
          </p:cNvPr>
          <p:cNvSpPr>
            <a:spLocks noGrp="1"/>
          </p:cNvSpPr>
          <p:nvPr>
            <p:ph type="title"/>
          </p:nvPr>
        </p:nvSpPr>
        <p:spPr/>
        <p:txBody>
          <a:bodyPr/>
          <a:lstStyle/>
          <a:p>
            <a:r>
              <a:rPr lang="zh-CN" altLang="en-US" sz="4400" dirty="0"/>
              <a:t>设置用户口令举例</a:t>
            </a:r>
            <a:endParaRPr lang="zh-CN" altLang="en-US" dirty="0"/>
          </a:p>
        </p:txBody>
      </p:sp>
      <p:sp>
        <p:nvSpPr>
          <p:cNvPr id="4" name="文本框 3">
            <a:extLst>
              <a:ext uri="{FF2B5EF4-FFF2-40B4-BE49-F238E27FC236}">
                <a16:creationId xmlns:a16="http://schemas.microsoft.com/office/drawing/2014/main" id="{43ADE072-9891-47C4-8975-34E5578AB6B6}"/>
              </a:ext>
            </a:extLst>
          </p:cNvPr>
          <p:cNvSpPr txBox="1"/>
          <p:nvPr/>
        </p:nvSpPr>
        <p:spPr>
          <a:xfrm>
            <a:off x="470000" y="1300480"/>
            <a:ext cx="8462689" cy="2308324"/>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a:spAutoFit/>
          </a:bodyPr>
          <a:lstStyle/>
          <a:p>
            <a:r>
              <a:rPr lang="en-US" altLang="zh-CN" sz="2400" dirty="0">
                <a:solidFill>
                  <a:srgbClr val="0000CC"/>
                </a:solidFill>
              </a:rPr>
              <a:t>root </a:t>
            </a:r>
            <a:r>
              <a:rPr lang="zh-CN" altLang="en-US" sz="2400" dirty="0">
                <a:solidFill>
                  <a:srgbClr val="0000CC"/>
                </a:solidFill>
              </a:rPr>
              <a:t>给予 </a:t>
            </a:r>
            <a:r>
              <a:rPr lang="en-US" altLang="zh-CN" sz="2400" dirty="0">
                <a:solidFill>
                  <a:srgbClr val="0000CC"/>
                </a:solidFill>
              </a:rPr>
              <a:t>lily2 </a:t>
            </a:r>
            <a:r>
              <a:rPr lang="zh-CN" altLang="en-US" sz="2400" dirty="0">
                <a:solidFill>
                  <a:srgbClr val="0000CC"/>
                </a:solidFill>
              </a:rPr>
              <a:t>口令</a:t>
            </a:r>
            <a:endParaRPr lang="en-US" altLang="zh-CN" sz="2400" dirty="0">
              <a:solidFill>
                <a:srgbClr val="0000CC"/>
              </a:solidFill>
            </a:endParaRPr>
          </a:p>
          <a:p>
            <a:r>
              <a:rPr lang="en-US" altLang="zh-CN" dirty="0"/>
              <a:t>[</a:t>
            </a:r>
            <a:r>
              <a:rPr lang="en-US" altLang="zh-CN" sz="2000" dirty="0" err="1"/>
              <a:t>root@www</a:t>
            </a:r>
            <a:r>
              <a:rPr lang="en-US" altLang="zh-CN" sz="2000" dirty="0"/>
              <a:t> </a:t>
            </a:r>
            <a:r>
              <a:rPr lang="en-US" altLang="zh-CN" sz="2000" dirty="0">
                <a:solidFill>
                  <a:srgbClr val="FF0000"/>
                </a:solidFill>
              </a:rPr>
              <a:t>~]# passwd lily2</a:t>
            </a:r>
          </a:p>
          <a:p>
            <a:r>
              <a:rPr lang="en-US" altLang="zh-CN" sz="2000" dirty="0"/>
              <a:t>Changing password for user lily2.</a:t>
            </a:r>
          </a:p>
          <a:p>
            <a:r>
              <a:rPr lang="en-US" altLang="zh-CN" sz="2000" dirty="0">
                <a:solidFill>
                  <a:srgbClr val="FF0000"/>
                </a:solidFill>
              </a:rPr>
              <a:t>New UNIX password: </a:t>
            </a:r>
            <a:r>
              <a:rPr lang="en-US" altLang="zh-CN" sz="2000" dirty="0"/>
              <a:t>&lt;==</a:t>
            </a:r>
            <a:r>
              <a:rPr lang="zh-CN" altLang="en-US" sz="2000" dirty="0"/>
              <a:t>这里</a:t>
            </a:r>
            <a:r>
              <a:rPr lang="zh-CN" altLang="en-US" sz="2000" dirty="0">
                <a:solidFill>
                  <a:srgbClr val="FF0000"/>
                </a:solidFill>
              </a:rPr>
              <a:t>直接输入新的口令</a:t>
            </a:r>
            <a:r>
              <a:rPr lang="zh-CN" altLang="en-US" sz="2000" dirty="0"/>
              <a:t>，屏幕不会有任何反应</a:t>
            </a:r>
          </a:p>
          <a:p>
            <a:r>
              <a:rPr lang="en-US" altLang="zh-CN" sz="2000" dirty="0"/>
              <a:t>BAD PASSWORD: it is WAY too short &lt;==</a:t>
            </a:r>
            <a:r>
              <a:rPr lang="zh-CN" altLang="en-US" sz="2000" dirty="0"/>
              <a:t>口令太简单或过短的错误</a:t>
            </a:r>
          </a:p>
          <a:p>
            <a:r>
              <a:rPr lang="en-US" altLang="zh-CN" sz="2000" dirty="0"/>
              <a:t>Retype new UNIX password:  &lt;==</a:t>
            </a:r>
            <a:r>
              <a:rPr lang="zh-CN" altLang="en-US" sz="2000" dirty="0"/>
              <a:t>再输入一次同样的口令</a:t>
            </a:r>
          </a:p>
          <a:p>
            <a:r>
              <a:rPr lang="en-US" altLang="zh-CN" sz="2000" dirty="0"/>
              <a:t>passwd: all authentication tokens updated successfully.  &lt;==</a:t>
            </a:r>
            <a:r>
              <a:rPr lang="zh-CN" altLang="en-US" sz="2000" dirty="0"/>
              <a:t>成功修改</a:t>
            </a:r>
          </a:p>
        </p:txBody>
      </p:sp>
      <p:sp>
        <p:nvSpPr>
          <p:cNvPr id="7" name="文本框 6">
            <a:extLst>
              <a:ext uri="{FF2B5EF4-FFF2-40B4-BE49-F238E27FC236}">
                <a16:creationId xmlns:a16="http://schemas.microsoft.com/office/drawing/2014/main" id="{F3C9D207-6137-4CA4-9BF6-D4AC1AF5A406}"/>
              </a:ext>
            </a:extLst>
          </p:cNvPr>
          <p:cNvSpPr txBox="1"/>
          <p:nvPr/>
        </p:nvSpPr>
        <p:spPr>
          <a:xfrm>
            <a:off x="470000" y="3648630"/>
            <a:ext cx="8477150" cy="3170099"/>
          </a:xfrm>
          <a:prstGeom prst="rect">
            <a:avLst/>
          </a:prstGeom>
          <a:gradFill flip="none" rotWithShape="1">
            <a:gsLst>
              <a:gs pos="0">
                <a:schemeClr val="tx2">
                  <a:lumMod val="60000"/>
                  <a:lumOff val="40000"/>
                  <a:tint val="66000"/>
                  <a:satMod val="160000"/>
                </a:schemeClr>
              </a:gs>
              <a:gs pos="50000">
                <a:schemeClr val="tx2">
                  <a:lumMod val="60000"/>
                  <a:lumOff val="40000"/>
                  <a:tint val="44500"/>
                  <a:satMod val="160000"/>
                </a:schemeClr>
              </a:gs>
              <a:gs pos="100000">
                <a:schemeClr val="tx2">
                  <a:lumMod val="60000"/>
                  <a:lumOff val="40000"/>
                  <a:tint val="23500"/>
                  <a:satMod val="160000"/>
                </a:schemeClr>
              </a:gs>
            </a:gsLst>
            <a:path path="circle">
              <a:fillToRect l="100000" t="100000"/>
            </a:path>
            <a:tileRect r="-100000" b="-100000"/>
          </a:gradFill>
        </p:spPr>
        <p:txBody>
          <a:bodyPr wrap="square">
            <a:spAutoFit/>
          </a:bodyPr>
          <a:lstStyle/>
          <a:p>
            <a:r>
              <a:rPr lang="zh-CN" altLang="en-US" sz="2400" dirty="0">
                <a:solidFill>
                  <a:srgbClr val="0000CC"/>
                </a:solidFill>
              </a:rPr>
              <a:t>用 </a:t>
            </a:r>
            <a:r>
              <a:rPr lang="en-US" altLang="zh-CN" sz="2400" dirty="0">
                <a:solidFill>
                  <a:srgbClr val="0000CC"/>
                </a:solidFill>
              </a:rPr>
              <a:t>lily2 </a:t>
            </a:r>
            <a:r>
              <a:rPr lang="zh-CN" altLang="en-US" sz="2400" dirty="0">
                <a:solidFill>
                  <a:srgbClr val="0000CC"/>
                </a:solidFill>
              </a:rPr>
              <a:t>登陆后，修改 </a:t>
            </a:r>
            <a:r>
              <a:rPr lang="en-US" altLang="zh-CN" sz="2400" dirty="0">
                <a:solidFill>
                  <a:srgbClr val="0000CC"/>
                </a:solidFill>
              </a:rPr>
              <a:t>lily2 </a:t>
            </a:r>
            <a:r>
              <a:rPr lang="zh-CN" altLang="en-US" sz="2400" dirty="0">
                <a:solidFill>
                  <a:srgbClr val="0000CC"/>
                </a:solidFill>
              </a:rPr>
              <a:t>自己的口令</a:t>
            </a:r>
          </a:p>
          <a:p>
            <a:r>
              <a:rPr lang="en-US" altLang="zh-CN" sz="2000" dirty="0"/>
              <a:t>[lily2@www </a:t>
            </a:r>
            <a:r>
              <a:rPr lang="en-US" altLang="zh-CN" sz="2000" dirty="0">
                <a:solidFill>
                  <a:srgbClr val="FF0000"/>
                </a:solidFill>
              </a:rPr>
              <a:t>~]$ passwd   </a:t>
            </a:r>
            <a:r>
              <a:rPr lang="en-US" altLang="zh-CN" sz="2000" dirty="0"/>
              <a:t>&lt;==</a:t>
            </a:r>
            <a:r>
              <a:rPr lang="zh-CN" altLang="en-US" sz="2000" dirty="0"/>
              <a:t>后面没有加账号，修改改自己的口令</a:t>
            </a:r>
          </a:p>
          <a:p>
            <a:r>
              <a:rPr lang="en-US" altLang="zh-CN" dirty="0"/>
              <a:t>Changing password for user lily2.</a:t>
            </a:r>
          </a:p>
          <a:p>
            <a:r>
              <a:rPr lang="en-US" altLang="zh-CN" dirty="0"/>
              <a:t>Changing password for lily2</a:t>
            </a:r>
          </a:p>
          <a:p>
            <a:r>
              <a:rPr lang="en-US" altLang="zh-CN" sz="2000" dirty="0">
                <a:solidFill>
                  <a:srgbClr val="FF0000"/>
                </a:solidFill>
              </a:rPr>
              <a:t>(current) UNIX password</a:t>
            </a:r>
            <a:r>
              <a:rPr lang="en-US" altLang="zh-CN" sz="2000" dirty="0"/>
              <a:t>: &lt;==</a:t>
            </a:r>
            <a:r>
              <a:rPr lang="zh-CN" altLang="en-US" sz="2000" dirty="0"/>
              <a:t>这里</a:t>
            </a:r>
            <a:r>
              <a:rPr lang="zh-CN" altLang="en-US" sz="2000" dirty="0">
                <a:solidFill>
                  <a:srgbClr val="FF0000"/>
                </a:solidFill>
              </a:rPr>
              <a:t>输入</a:t>
            </a:r>
            <a:r>
              <a:rPr lang="en-US" altLang="zh-CN" sz="2000" dirty="0">
                <a:solidFill>
                  <a:srgbClr val="FF0000"/>
                </a:solidFill>
              </a:rPr>
              <a:t>『</a:t>
            </a:r>
            <a:r>
              <a:rPr lang="zh-CN" altLang="en-US" sz="2000" dirty="0">
                <a:solidFill>
                  <a:srgbClr val="FF0000"/>
                </a:solidFill>
              </a:rPr>
              <a:t>原有的旧口令</a:t>
            </a:r>
            <a:r>
              <a:rPr lang="en-US" altLang="zh-CN" sz="2000" dirty="0">
                <a:solidFill>
                  <a:srgbClr val="FF0000"/>
                </a:solidFill>
              </a:rPr>
              <a:t>』</a:t>
            </a:r>
          </a:p>
          <a:p>
            <a:r>
              <a:rPr lang="en-US" altLang="zh-CN" sz="2000" dirty="0">
                <a:solidFill>
                  <a:srgbClr val="FF0000"/>
                </a:solidFill>
              </a:rPr>
              <a:t>New UNIX password</a:t>
            </a:r>
            <a:r>
              <a:rPr lang="en-US" altLang="zh-CN" sz="2000" dirty="0"/>
              <a:t>: &lt;==</a:t>
            </a:r>
            <a:r>
              <a:rPr lang="zh-CN" altLang="en-US" sz="2000" dirty="0"/>
              <a:t>这里</a:t>
            </a:r>
            <a:r>
              <a:rPr lang="zh-CN" altLang="en-US" sz="2000" dirty="0">
                <a:solidFill>
                  <a:srgbClr val="FF0000"/>
                </a:solidFill>
              </a:rPr>
              <a:t>输入新口令</a:t>
            </a:r>
          </a:p>
          <a:p>
            <a:r>
              <a:rPr lang="en-US" altLang="zh-CN" sz="2000" dirty="0"/>
              <a:t>BAD PASSWORD: it is based on a dictionary word &lt;==</a:t>
            </a:r>
            <a:r>
              <a:rPr lang="zh-CN" altLang="en-US" sz="2000" dirty="0"/>
              <a:t>口令检验不通过</a:t>
            </a:r>
            <a:r>
              <a:rPr lang="en-US" altLang="zh-CN" sz="2000" dirty="0"/>
              <a:t>New UNIX password: &lt;==</a:t>
            </a:r>
            <a:r>
              <a:rPr lang="zh-CN" altLang="en-US" sz="2000" dirty="0"/>
              <a:t>输入另一个新口令</a:t>
            </a:r>
          </a:p>
          <a:p>
            <a:r>
              <a:rPr lang="en-US" altLang="zh-CN" sz="2000" dirty="0"/>
              <a:t>Retype new UNIX password: &lt;==</a:t>
            </a:r>
            <a:r>
              <a:rPr lang="zh-CN" altLang="en-US" sz="2000" dirty="0"/>
              <a:t>通过口令验证，重复这个口令的输入</a:t>
            </a:r>
          </a:p>
          <a:p>
            <a:r>
              <a:rPr lang="en-US" altLang="zh-CN" sz="2000" dirty="0"/>
              <a:t>passwd: all authentication tokens updated successfully. &lt;==</a:t>
            </a:r>
            <a:r>
              <a:rPr lang="zh-CN" altLang="en-US" sz="2000" dirty="0"/>
              <a:t>成功修改</a:t>
            </a:r>
          </a:p>
        </p:txBody>
      </p:sp>
      <p:cxnSp>
        <p:nvCxnSpPr>
          <p:cNvPr id="10" name="直接箭头连接符 9">
            <a:extLst>
              <a:ext uri="{FF2B5EF4-FFF2-40B4-BE49-F238E27FC236}">
                <a16:creationId xmlns:a16="http://schemas.microsoft.com/office/drawing/2014/main" id="{CA063DEA-9E36-42E7-9F3A-6ACCCE79723A}"/>
              </a:ext>
            </a:extLst>
          </p:cNvPr>
          <p:cNvCxnSpPr>
            <a:stCxn id="12" idx="2"/>
          </p:cNvCxnSpPr>
          <p:nvPr/>
        </p:nvCxnSpPr>
        <p:spPr bwMode="auto">
          <a:xfrm flipH="1">
            <a:off x="6936554" y="4941600"/>
            <a:ext cx="722059" cy="648290"/>
          </a:xfrm>
          <a:prstGeom prst="straightConnector1">
            <a:avLst/>
          </a:prstGeom>
          <a:solidFill>
            <a:schemeClr val="accent1"/>
          </a:solidFill>
          <a:ln w="38100" cap="flat" cmpd="sng" algn="ctr">
            <a:solidFill>
              <a:srgbClr val="FF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文本框 11">
            <a:extLst>
              <a:ext uri="{FF2B5EF4-FFF2-40B4-BE49-F238E27FC236}">
                <a16:creationId xmlns:a16="http://schemas.microsoft.com/office/drawing/2014/main" id="{9E222981-18CC-435C-9866-BC881662E81A}"/>
              </a:ext>
            </a:extLst>
          </p:cNvPr>
          <p:cNvSpPr txBox="1"/>
          <p:nvPr/>
        </p:nvSpPr>
        <p:spPr>
          <a:xfrm>
            <a:off x="6516216" y="4541490"/>
            <a:ext cx="2284793" cy="400110"/>
          </a:xfrm>
          <a:prstGeom prst="rect">
            <a:avLst/>
          </a:prstGeom>
          <a:solidFill>
            <a:schemeClr val="bg1">
              <a:lumMod val="95000"/>
            </a:schemeClr>
          </a:solidFill>
        </p:spPr>
        <p:txBody>
          <a:bodyPr wrap="none" rtlCol="0">
            <a:spAutoFit/>
          </a:bodyPr>
          <a:lstStyle/>
          <a:p>
            <a:r>
              <a:rPr lang="en-US" altLang="zh-CN" sz="2000" b="1" dirty="0">
                <a:solidFill>
                  <a:srgbClr val="FF0000"/>
                </a:solidFill>
              </a:rPr>
              <a:t>PAM</a:t>
            </a:r>
            <a:r>
              <a:rPr lang="zh-CN" altLang="en-US" sz="2000" b="1" dirty="0">
                <a:solidFill>
                  <a:srgbClr val="FF0000"/>
                </a:solidFill>
              </a:rPr>
              <a:t>模块管理密码</a:t>
            </a:r>
          </a:p>
        </p:txBody>
      </p:sp>
    </p:spTree>
    <p:extLst>
      <p:ext uri="{BB962C8B-B14F-4D97-AF65-F5344CB8AC3E}">
        <p14:creationId xmlns:p14="http://schemas.microsoft.com/office/powerpoint/2010/main" val="243790449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用户口令维护 </a:t>
            </a:r>
            <a:r>
              <a:rPr lang="en-US" altLang="zh-CN" dirty="0"/>
              <a:t>—passwd</a:t>
            </a:r>
            <a:endParaRPr lang="zh-CN" altLang="en-US" dirty="0"/>
          </a:p>
        </p:txBody>
      </p:sp>
      <p:sp>
        <p:nvSpPr>
          <p:cNvPr id="3" name="内容占位符 2"/>
          <p:cNvSpPr>
            <a:spLocks noGrp="1"/>
          </p:cNvSpPr>
          <p:nvPr>
            <p:ph idx="1"/>
          </p:nvPr>
        </p:nvSpPr>
        <p:spPr>
          <a:xfrm>
            <a:off x="1144613" y="1556792"/>
            <a:ext cx="8229600" cy="4358109"/>
          </a:xfrm>
        </p:spPr>
        <p:txBody>
          <a:bodyPr/>
          <a:lstStyle/>
          <a:p>
            <a:r>
              <a:rPr lang="zh-CN" altLang="en-US" dirty="0">
                <a:solidFill>
                  <a:srgbClr val="FF0000"/>
                </a:solidFill>
              </a:rPr>
              <a:t>禁用</a:t>
            </a:r>
            <a:r>
              <a:rPr lang="zh-CN" altLang="en-US" dirty="0"/>
              <a:t>用户账户口令 </a:t>
            </a:r>
          </a:p>
          <a:p>
            <a:pPr lvl="1"/>
            <a:r>
              <a:rPr lang="en-US" altLang="zh-CN" dirty="0">
                <a:solidFill>
                  <a:schemeClr val="accent2">
                    <a:lumMod val="75000"/>
                  </a:schemeClr>
                </a:solidFill>
              </a:rPr>
              <a:t># </a:t>
            </a:r>
            <a:r>
              <a:rPr lang="en-US" altLang="zh-CN" dirty="0" err="1">
                <a:solidFill>
                  <a:schemeClr val="accent2">
                    <a:lumMod val="75000"/>
                  </a:schemeClr>
                </a:solidFill>
              </a:rPr>
              <a:t>passwd</a:t>
            </a:r>
            <a:r>
              <a:rPr lang="en-US" altLang="zh-CN" dirty="0">
                <a:solidFill>
                  <a:schemeClr val="accent2">
                    <a:lumMod val="75000"/>
                  </a:schemeClr>
                </a:solidFill>
              </a:rPr>
              <a:t> </a:t>
            </a:r>
            <a:r>
              <a:rPr lang="en-US" altLang="zh-CN" dirty="0">
                <a:solidFill>
                  <a:srgbClr val="FF0000"/>
                </a:solidFill>
              </a:rPr>
              <a:t>-l </a:t>
            </a:r>
            <a:r>
              <a:rPr lang="en-US" altLang="zh-CN" dirty="0">
                <a:solidFill>
                  <a:schemeClr val="accent2">
                    <a:lumMod val="75000"/>
                  </a:schemeClr>
                </a:solidFill>
              </a:rPr>
              <a:t>&lt;</a:t>
            </a:r>
            <a:r>
              <a:rPr lang="zh-CN" altLang="en-US" dirty="0">
                <a:solidFill>
                  <a:schemeClr val="accent2">
                    <a:lumMod val="75000"/>
                  </a:schemeClr>
                </a:solidFill>
              </a:rPr>
              <a:t>用户账号名</a:t>
            </a:r>
            <a:r>
              <a:rPr lang="en-US" altLang="zh-CN" dirty="0">
                <a:solidFill>
                  <a:schemeClr val="accent2">
                    <a:lumMod val="75000"/>
                  </a:schemeClr>
                </a:solidFill>
              </a:rPr>
              <a:t>&gt; </a:t>
            </a:r>
          </a:p>
          <a:p>
            <a:r>
              <a:rPr lang="zh-CN" altLang="en-US" dirty="0">
                <a:solidFill>
                  <a:srgbClr val="FF0000"/>
                </a:solidFill>
              </a:rPr>
              <a:t>恢复</a:t>
            </a:r>
            <a:r>
              <a:rPr lang="zh-CN" altLang="en-US" dirty="0"/>
              <a:t>用户账户口令 </a:t>
            </a:r>
          </a:p>
          <a:p>
            <a:pPr lvl="1"/>
            <a:r>
              <a:rPr lang="en-US" altLang="zh-CN" dirty="0">
                <a:solidFill>
                  <a:schemeClr val="accent2">
                    <a:lumMod val="75000"/>
                  </a:schemeClr>
                </a:solidFill>
              </a:rPr>
              <a:t># passwd </a:t>
            </a:r>
            <a:r>
              <a:rPr lang="en-US" altLang="zh-CN" dirty="0">
                <a:solidFill>
                  <a:srgbClr val="FF0000"/>
                </a:solidFill>
              </a:rPr>
              <a:t>-u </a:t>
            </a:r>
            <a:r>
              <a:rPr lang="en-US" altLang="zh-CN" dirty="0">
                <a:solidFill>
                  <a:schemeClr val="accent2">
                    <a:lumMod val="75000"/>
                  </a:schemeClr>
                </a:solidFill>
              </a:rPr>
              <a:t>&lt;</a:t>
            </a:r>
            <a:r>
              <a:rPr lang="zh-CN" altLang="en-US" dirty="0">
                <a:solidFill>
                  <a:schemeClr val="accent2">
                    <a:lumMod val="75000"/>
                  </a:schemeClr>
                </a:solidFill>
              </a:rPr>
              <a:t>用户账号名</a:t>
            </a:r>
            <a:r>
              <a:rPr lang="en-US" altLang="zh-CN" dirty="0">
                <a:solidFill>
                  <a:schemeClr val="accent2">
                    <a:lumMod val="75000"/>
                  </a:schemeClr>
                </a:solidFill>
              </a:rPr>
              <a:t>&gt;</a:t>
            </a:r>
            <a:endParaRPr lang="en-US" altLang="zh-CN" dirty="0"/>
          </a:p>
          <a:p>
            <a:r>
              <a:rPr lang="zh-CN" altLang="en-US" dirty="0">
                <a:solidFill>
                  <a:srgbClr val="FF0000"/>
                </a:solidFill>
              </a:rPr>
              <a:t>查看</a:t>
            </a:r>
            <a:r>
              <a:rPr lang="zh-CN" altLang="en-US" dirty="0"/>
              <a:t>用户账户</a:t>
            </a:r>
            <a:r>
              <a:rPr lang="zh-CN" altLang="en-US" dirty="0">
                <a:solidFill>
                  <a:srgbClr val="FF0000"/>
                </a:solidFill>
              </a:rPr>
              <a:t>口令状态 </a:t>
            </a:r>
          </a:p>
          <a:p>
            <a:pPr lvl="1"/>
            <a:r>
              <a:rPr lang="en-US" altLang="zh-CN" dirty="0">
                <a:solidFill>
                  <a:schemeClr val="accent2">
                    <a:lumMod val="75000"/>
                  </a:schemeClr>
                </a:solidFill>
              </a:rPr>
              <a:t># </a:t>
            </a:r>
            <a:r>
              <a:rPr lang="en-US" altLang="zh-CN" dirty="0" err="1">
                <a:solidFill>
                  <a:schemeClr val="accent2">
                    <a:lumMod val="75000"/>
                  </a:schemeClr>
                </a:solidFill>
              </a:rPr>
              <a:t>passwd</a:t>
            </a:r>
            <a:r>
              <a:rPr lang="en-US" altLang="zh-CN" dirty="0">
                <a:solidFill>
                  <a:schemeClr val="accent2">
                    <a:lumMod val="75000"/>
                  </a:schemeClr>
                </a:solidFill>
              </a:rPr>
              <a:t> -S &lt;</a:t>
            </a:r>
            <a:r>
              <a:rPr lang="zh-CN" altLang="en-US" dirty="0">
                <a:solidFill>
                  <a:schemeClr val="accent2">
                    <a:lumMod val="75000"/>
                  </a:schemeClr>
                </a:solidFill>
              </a:rPr>
              <a:t>用户账号名</a:t>
            </a:r>
            <a:r>
              <a:rPr lang="en-US" altLang="zh-CN" dirty="0">
                <a:solidFill>
                  <a:schemeClr val="accent2">
                    <a:lumMod val="75000"/>
                  </a:schemeClr>
                </a:solidFill>
              </a:rPr>
              <a:t>&gt;</a:t>
            </a:r>
          </a:p>
          <a:p>
            <a:r>
              <a:rPr lang="zh-CN" altLang="en-US" dirty="0">
                <a:solidFill>
                  <a:srgbClr val="FF0000"/>
                </a:solidFill>
              </a:rPr>
              <a:t>清除</a:t>
            </a:r>
            <a:r>
              <a:rPr lang="zh-CN" altLang="en-US" dirty="0"/>
              <a:t>用户账户口令 </a:t>
            </a:r>
          </a:p>
          <a:p>
            <a:pPr lvl="1"/>
            <a:r>
              <a:rPr lang="en-US" altLang="zh-CN" dirty="0">
                <a:solidFill>
                  <a:schemeClr val="accent2">
                    <a:lumMod val="75000"/>
                  </a:schemeClr>
                </a:solidFill>
              </a:rPr>
              <a:t># </a:t>
            </a:r>
            <a:r>
              <a:rPr lang="en-US" altLang="zh-CN" dirty="0" err="1">
                <a:solidFill>
                  <a:schemeClr val="accent2">
                    <a:lumMod val="75000"/>
                  </a:schemeClr>
                </a:solidFill>
              </a:rPr>
              <a:t>passwd</a:t>
            </a:r>
            <a:r>
              <a:rPr lang="en-US" altLang="zh-CN" dirty="0">
                <a:solidFill>
                  <a:schemeClr val="accent2">
                    <a:lumMod val="75000"/>
                  </a:schemeClr>
                </a:solidFill>
              </a:rPr>
              <a:t> -d &lt;</a:t>
            </a:r>
            <a:r>
              <a:rPr lang="zh-CN" altLang="en-US" dirty="0">
                <a:solidFill>
                  <a:schemeClr val="accent2">
                    <a:lumMod val="75000"/>
                  </a:schemeClr>
                </a:solidFill>
              </a:rPr>
              <a:t>用户账号名</a:t>
            </a:r>
            <a:r>
              <a:rPr lang="en-US" altLang="zh-CN" dirty="0">
                <a:solidFill>
                  <a:schemeClr val="accent2">
                    <a:lumMod val="75000"/>
                  </a:schemeClr>
                </a:solidFill>
              </a:rPr>
              <a:t>&gt;</a:t>
            </a:r>
            <a:endParaRPr lang="zh-CN" altLang="en-US" dirty="0">
              <a:solidFill>
                <a:schemeClr val="accent2">
                  <a:lumMod val="75000"/>
                </a:schemeClr>
              </a:solidFill>
            </a:endParaRPr>
          </a:p>
        </p:txBody>
      </p:sp>
    </p:spTree>
    <p:extLst>
      <p:ext uri="{BB962C8B-B14F-4D97-AF65-F5344CB8AC3E}">
        <p14:creationId xmlns:p14="http://schemas.microsoft.com/office/powerpoint/2010/main" val="43277258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口令时效</a:t>
            </a:r>
          </a:p>
        </p:txBody>
      </p:sp>
      <p:sp>
        <p:nvSpPr>
          <p:cNvPr id="3" name="内容占位符 2"/>
          <p:cNvSpPr>
            <a:spLocks noGrp="1"/>
          </p:cNvSpPr>
          <p:nvPr>
            <p:ph idx="1"/>
          </p:nvPr>
        </p:nvSpPr>
        <p:spPr>
          <a:xfrm>
            <a:off x="755576" y="1736302"/>
            <a:ext cx="7980437" cy="4501009"/>
          </a:xfrm>
        </p:spPr>
        <p:txBody>
          <a:bodyPr/>
          <a:lstStyle/>
          <a:p>
            <a:r>
              <a:rPr lang="zh-CN" altLang="en-US" dirty="0">
                <a:solidFill>
                  <a:srgbClr val="FF0000"/>
                </a:solidFill>
              </a:rPr>
              <a:t>口令时效：</a:t>
            </a:r>
            <a:r>
              <a:rPr lang="zh-CN" altLang="en-US" dirty="0"/>
              <a:t>强制用户在一段时间之后更改口令的</a:t>
            </a:r>
            <a:r>
              <a:rPr lang="zh-CN" altLang="en-US" dirty="0" smtClean="0"/>
              <a:t>机制，是</a:t>
            </a:r>
            <a:r>
              <a:rPr lang="zh-CN" altLang="en-US" dirty="0"/>
              <a:t>系统管理员用来防止机构内不良口令的一种技术</a:t>
            </a:r>
          </a:p>
          <a:p>
            <a:r>
              <a:rPr lang="zh-CN" altLang="en-US" dirty="0">
                <a:solidFill>
                  <a:srgbClr val="FF0000"/>
                </a:solidFill>
              </a:rPr>
              <a:t>防止口令被攻击</a:t>
            </a:r>
            <a:r>
              <a:rPr lang="zh-CN" altLang="en-US" dirty="0"/>
              <a:t>的方法就是要</a:t>
            </a:r>
            <a:r>
              <a:rPr lang="zh-CN" altLang="en-US" dirty="0">
                <a:solidFill>
                  <a:srgbClr val="FF0000"/>
                </a:solidFill>
              </a:rPr>
              <a:t>经常地改变口令</a:t>
            </a:r>
          </a:p>
          <a:p>
            <a:r>
              <a:rPr lang="zh-CN" altLang="en-US" dirty="0"/>
              <a:t>在默认状况下，口令不会过期 </a:t>
            </a:r>
          </a:p>
          <a:p>
            <a:r>
              <a:rPr lang="zh-CN" altLang="en-US" dirty="0">
                <a:solidFill>
                  <a:srgbClr val="FF0000"/>
                </a:solidFill>
              </a:rPr>
              <a:t>强制口令失效</a:t>
            </a:r>
            <a:r>
              <a:rPr lang="zh-CN" altLang="en-US" dirty="0"/>
              <a:t>是强大安全策略的一部分</a:t>
            </a:r>
          </a:p>
        </p:txBody>
      </p:sp>
    </p:spTree>
    <p:extLst>
      <p:ext uri="{BB962C8B-B14F-4D97-AF65-F5344CB8AC3E}">
        <p14:creationId xmlns:p14="http://schemas.microsoft.com/office/powerpoint/2010/main" val="1032296818"/>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设置</a:t>
            </a:r>
            <a:r>
              <a:rPr lang="zh-CN" altLang="en-US" dirty="0">
                <a:solidFill>
                  <a:srgbClr val="FF0000"/>
                </a:solidFill>
              </a:rPr>
              <a:t>新添用户</a:t>
            </a:r>
            <a:r>
              <a:rPr lang="zh-CN" altLang="en-US" dirty="0"/>
              <a:t>的口令时效</a:t>
            </a:r>
          </a:p>
        </p:txBody>
      </p:sp>
      <p:sp>
        <p:nvSpPr>
          <p:cNvPr id="3" name="内容占位符 2"/>
          <p:cNvSpPr>
            <a:spLocks noGrp="1"/>
          </p:cNvSpPr>
          <p:nvPr>
            <p:ph idx="1"/>
          </p:nvPr>
        </p:nvSpPr>
        <p:spPr>
          <a:xfrm>
            <a:off x="832048" y="1556792"/>
            <a:ext cx="7772400" cy="4114800"/>
          </a:xfrm>
        </p:spPr>
        <p:txBody>
          <a:bodyPr/>
          <a:lstStyle/>
          <a:p>
            <a:r>
              <a:rPr lang="zh-CN" altLang="en-US" dirty="0"/>
              <a:t>修改 </a:t>
            </a:r>
            <a:r>
              <a:rPr lang="en-US" altLang="zh-CN" dirty="0"/>
              <a:t>/etc/</a:t>
            </a:r>
            <a:r>
              <a:rPr lang="en-US" altLang="zh-CN" dirty="0" err="1"/>
              <a:t>login.defs</a:t>
            </a:r>
            <a:r>
              <a:rPr lang="en-US" altLang="zh-CN" dirty="0"/>
              <a:t> </a:t>
            </a:r>
            <a:r>
              <a:rPr lang="zh-CN" altLang="en-US" dirty="0"/>
              <a:t>的相关配置参数</a:t>
            </a:r>
          </a:p>
        </p:txBody>
      </p:sp>
      <p:graphicFrame>
        <p:nvGraphicFramePr>
          <p:cNvPr id="7" name="Group 27"/>
          <p:cNvGraphicFramePr>
            <a:graphicFrameLocks/>
          </p:cNvGraphicFramePr>
          <p:nvPr>
            <p:extLst>
              <p:ext uri="{D42A27DB-BD31-4B8C-83A1-F6EECF244321}">
                <p14:modId xmlns:p14="http://schemas.microsoft.com/office/powerpoint/2010/main" val="1838502036"/>
              </p:ext>
            </p:extLst>
          </p:nvPr>
        </p:nvGraphicFramePr>
        <p:xfrm>
          <a:off x="642143" y="2420888"/>
          <a:ext cx="7859713" cy="4023360"/>
        </p:xfrm>
        <a:graphic>
          <a:graphicData uri="http://schemas.openxmlformats.org/drawingml/2006/table">
            <a:tbl>
              <a:tblPr>
                <a:tableStyleId>{284E427A-3D55-4303-BF80-6455036E1DE7}</a:tableStyleId>
              </a:tblPr>
              <a:tblGrid>
                <a:gridCol w="2664668">
                  <a:extLst>
                    <a:ext uri="{9D8B030D-6E8A-4147-A177-3AD203B41FA5}">
                      <a16:colId xmlns:a16="http://schemas.microsoft.com/office/drawing/2014/main" val="20000"/>
                    </a:ext>
                  </a:extLst>
                </a:gridCol>
                <a:gridCol w="5195045">
                  <a:extLst>
                    <a:ext uri="{9D8B030D-6E8A-4147-A177-3AD203B41FA5}">
                      <a16:colId xmlns:a16="http://schemas.microsoft.com/office/drawing/2014/main" val="20001"/>
                    </a:ext>
                  </a:extLst>
                </a:gridCol>
              </a:tblGrid>
              <a:tr h="377255">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b="0" i="0" u="none" strike="noStrike" cap="none" normalizeH="0" baseline="0" dirty="0">
                          <a:ln>
                            <a:noFill/>
                          </a:ln>
                          <a:solidFill>
                            <a:schemeClr val="tx1"/>
                          </a:solidFill>
                          <a:effectLst/>
                          <a:latin typeface="Arial" charset="0"/>
                          <a:ea typeface="宋体" charset="-122"/>
                        </a:rPr>
                        <a:t>PASS_MAX_DAYS</a:t>
                      </a:r>
                    </a:p>
                  </a:txBody>
                  <a:tcPr anchor="ctr" horzOverflow="overflow"/>
                </a:tc>
                <a:tc>
                  <a:txBody>
                    <a:bodyPr/>
                    <a:lstStyle/>
                    <a:p>
                      <a:pPr marL="0" marR="0" lvl="0" indent="-342900" algn="just" defTabSz="914400" rtl="0" eaLnBrk="1" fontAlgn="ctr" latinLnBrk="0" hangingPunct="1">
                        <a:lnSpc>
                          <a:spcPct val="120000"/>
                        </a:lnSpc>
                        <a:spcBef>
                          <a:spcPct val="0"/>
                        </a:spcBef>
                        <a:spcAft>
                          <a:spcPct val="0"/>
                        </a:spcAft>
                        <a:buClr>
                          <a:schemeClr val="bg2"/>
                        </a:buClr>
                        <a:buSzPct val="75000"/>
                        <a:buFont typeface="Wingdings" pitchFamily="2" charset="2"/>
                        <a:buNone/>
                        <a:tabLst/>
                      </a:pPr>
                      <a:r>
                        <a:rPr kumimoji="0" lang="zh-CN" altLang="en-US" sz="2000" b="0" i="0" u="none" strike="noStrike" cap="none" normalizeH="0" baseline="0" dirty="0">
                          <a:ln>
                            <a:noFill/>
                          </a:ln>
                          <a:solidFill>
                            <a:srgbClr val="FF0000"/>
                          </a:solidFill>
                          <a:effectLst/>
                          <a:latin typeface="Arial" charset="0"/>
                          <a:ea typeface="宋体" charset="-122"/>
                        </a:rPr>
                        <a:t>设定在多少天后要求用户修改口令</a:t>
                      </a:r>
                      <a:r>
                        <a:rPr kumimoji="0" lang="zh-CN" altLang="en-US" sz="2000" b="0" i="0" u="none" strike="noStrike" cap="none" normalizeH="0" baseline="0" dirty="0">
                          <a:ln>
                            <a:noFill/>
                          </a:ln>
                          <a:solidFill>
                            <a:schemeClr val="tx1"/>
                          </a:solidFill>
                          <a:effectLst/>
                          <a:latin typeface="Arial" charset="0"/>
                          <a:ea typeface="宋体" charset="-122"/>
                        </a:rPr>
                        <a:t>。</a:t>
                      </a:r>
                      <a:r>
                        <a:rPr kumimoji="0" lang="zh-CN" altLang="en-US" sz="2000" b="0" i="0" u="none" strike="noStrike" cap="none" normalizeH="0" baseline="0" dirty="0">
                          <a:ln>
                            <a:noFill/>
                          </a:ln>
                          <a:solidFill>
                            <a:srgbClr val="FF0000"/>
                          </a:solidFill>
                          <a:effectLst/>
                          <a:latin typeface="Arial" charset="0"/>
                          <a:ea typeface="宋体" charset="-122"/>
                        </a:rPr>
                        <a:t>默认口令时效的天数为</a:t>
                      </a:r>
                      <a:r>
                        <a:rPr kumimoji="0" lang="en-US" altLang="zh-CN" sz="2000" b="0" i="0" u="none" strike="noStrike" cap="none" normalizeH="0" baseline="0" dirty="0">
                          <a:ln>
                            <a:noFill/>
                          </a:ln>
                          <a:solidFill>
                            <a:srgbClr val="FF0000"/>
                          </a:solidFill>
                          <a:effectLst/>
                          <a:latin typeface="Arial" charset="0"/>
                          <a:ea typeface="宋体" charset="-122"/>
                        </a:rPr>
                        <a:t>99999</a:t>
                      </a:r>
                      <a:r>
                        <a:rPr kumimoji="0" lang="zh-CN" altLang="en-US" sz="2000" b="0" i="0" u="none" strike="noStrike" cap="none" normalizeH="0" baseline="0" dirty="0">
                          <a:ln>
                            <a:noFill/>
                          </a:ln>
                          <a:solidFill>
                            <a:schemeClr val="tx1"/>
                          </a:solidFill>
                          <a:effectLst/>
                          <a:latin typeface="Arial" charset="0"/>
                          <a:ea typeface="宋体" charset="-122"/>
                        </a:rPr>
                        <a:t>，即关闭了口令时效。明智的设定一般是</a:t>
                      </a:r>
                      <a:r>
                        <a:rPr kumimoji="0" lang="en-US" altLang="zh-CN" sz="2000" b="0" i="0" u="none" strike="noStrike" cap="none" normalizeH="0" baseline="0" dirty="0">
                          <a:ln>
                            <a:noFill/>
                          </a:ln>
                          <a:solidFill>
                            <a:schemeClr val="tx1"/>
                          </a:solidFill>
                          <a:effectLst/>
                          <a:latin typeface="Arial" charset="0"/>
                          <a:ea typeface="宋体" charset="-122"/>
                        </a:rPr>
                        <a:t>60</a:t>
                      </a:r>
                      <a:r>
                        <a:rPr kumimoji="0" lang="zh-CN" altLang="en-US" sz="2000" b="0" i="0" u="none" strike="noStrike" cap="none" normalizeH="0" baseline="0" dirty="0">
                          <a:ln>
                            <a:noFill/>
                          </a:ln>
                          <a:solidFill>
                            <a:schemeClr val="tx1"/>
                          </a:solidFill>
                          <a:effectLst/>
                          <a:latin typeface="Arial" charset="0"/>
                          <a:ea typeface="宋体" charset="-122"/>
                        </a:rPr>
                        <a:t>天（</a:t>
                      </a:r>
                      <a:r>
                        <a:rPr kumimoji="0" lang="en-US" altLang="zh-CN" sz="2000" b="0" i="0" u="none" strike="noStrike" cap="none" normalizeH="0" baseline="0" dirty="0">
                          <a:ln>
                            <a:noFill/>
                          </a:ln>
                          <a:solidFill>
                            <a:schemeClr val="tx1"/>
                          </a:solidFill>
                          <a:effectLst/>
                          <a:latin typeface="Arial" charset="0"/>
                          <a:ea typeface="宋体" charset="-122"/>
                        </a:rPr>
                        <a:t>2</a:t>
                      </a:r>
                      <a:r>
                        <a:rPr kumimoji="0" lang="zh-CN" altLang="en-US" sz="2000" b="0" i="0" u="none" strike="noStrike" cap="none" normalizeH="0" baseline="0" dirty="0">
                          <a:ln>
                            <a:noFill/>
                          </a:ln>
                          <a:solidFill>
                            <a:schemeClr val="tx1"/>
                          </a:solidFill>
                          <a:effectLst/>
                          <a:latin typeface="Arial" charset="0"/>
                          <a:ea typeface="宋体" charset="-122"/>
                        </a:rPr>
                        <a:t>个月）强制更改一次口令</a:t>
                      </a:r>
                    </a:p>
                  </a:txBody>
                  <a:tcPr anchor="ctr" horzOverflow="overflow"/>
                </a:tc>
                <a:extLst>
                  <a:ext uri="{0D108BD9-81ED-4DB2-BD59-A6C34878D82A}">
                    <a16:rowId xmlns:a16="http://schemas.microsoft.com/office/drawing/2014/main" val="10000"/>
                  </a:ext>
                </a:extLst>
              </a:tr>
              <a:tr h="450850">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b="0" i="0" u="none" strike="noStrike" cap="none" normalizeH="0" baseline="0" dirty="0">
                          <a:ln>
                            <a:noFill/>
                          </a:ln>
                          <a:solidFill>
                            <a:schemeClr val="tx1"/>
                          </a:solidFill>
                          <a:effectLst/>
                          <a:latin typeface="Arial" charset="0"/>
                          <a:ea typeface="宋体" charset="-122"/>
                        </a:rPr>
                        <a:t>PASS_MIN_DAYS</a:t>
                      </a:r>
                    </a:p>
                  </a:txBody>
                  <a:tcPr anchor="ctr" horzOverflow="overflow"/>
                </a:tc>
                <a:tc>
                  <a:txBody>
                    <a:bodyPr/>
                    <a:lstStyle/>
                    <a:p>
                      <a:pPr marL="0" marR="0" lvl="0" indent="-342900" algn="just" defTabSz="914400" rtl="0" eaLnBrk="1" fontAlgn="ctr" latinLnBrk="0" hangingPunct="1">
                        <a:lnSpc>
                          <a:spcPct val="120000"/>
                        </a:lnSpc>
                        <a:spcBef>
                          <a:spcPct val="0"/>
                        </a:spcBef>
                        <a:spcAft>
                          <a:spcPct val="0"/>
                        </a:spcAft>
                        <a:buClr>
                          <a:schemeClr val="bg2"/>
                        </a:buClr>
                        <a:buSzPct val="75000"/>
                        <a:buFont typeface="Wingdings" pitchFamily="2" charset="2"/>
                        <a:buNone/>
                        <a:tabLst/>
                      </a:pPr>
                      <a:r>
                        <a:rPr kumimoji="0" lang="zh-CN" altLang="en-US" sz="2000" b="0" i="0" u="none" strike="noStrike" cap="none" normalizeH="0" baseline="0" dirty="0">
                          <a:ln>
                            <a:noFill/>
                          </a:ln>
                          <a:solidFill>
                            <a:schemeClr val="tx1"/>
                          </a:solidFill>
                          <a:effectLst/>
                          <a:latin typeface="Arial" charset="0"/>
                          <a:ea typeface="宋体" charset="-122"/>
                        </a:rPr>
                        <a:t>设定在本次口令修改后，</a:t>
                      </a:r>
                      <a:r>
                        <a:rPr kumimoji="0" lang="zh-CN" altLang="en-US" sz="2000" b="0" i="0" u="none" strike="noStrike" cap="none" normalizeH="0" baseline="0" dirty="0">
                          <a:ln>
                            <a:noFill/>
                          </a:ln>
                          <a:solidFill>
                            <a:srgbClr val="FF0000"/>
                          </a:solidFill>
                          <a:effectLst/>
                          <a:latin typeface="Arial" charset="0"/>
                          <a:ea typeface="宋体" charset="-122"/>
                        </a:rPr>
                        <a:t>至少要经过多少天后才允许更改口令</a:t>
                      </a:r>
                      <a:endParaRPr kumimoji="0" lang="zh-CN" altLang="en-US" sz="20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1"/>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b="0" i="0" u="none" strike="noStrike" cap="none" normalizeH="0" baseline="0" dirty="0">
                          <a:ln>
                            <a:noFill/>
                          </a:ln>
                          <a:solidFill>
                            <a:schemeClr val="tx1"/>
                          </a:solidFill>
                          <a:effectLst/>
                          <a:latin typeface="Arial" charset="0"/>
                          <a:ea typeface="宋体" charset="-122"/>
                        </a:rPr>
                        <a:t>PASS_MIN_LEN</a:t>
                      </a:r>
                    </a:p>
                  </a:txBody>
                  <a:tcPr anchor="ctr" horzOverflow="overflow"/>
                </a:tc>
                <a:tc>
                  <a:txBody>
                    <a:bodyPr/>
                    <a:lstStyle/>
                    <a:p>
                      <a:pPr marL="0" marR="0" lvl="0" indent="-342900" algn="just" defTabSz="914400" rtl="0" eaLnBrk="1" fontAlgn="ctr" latinLnBrk="0" hangingPunct="1">
                        <a:lnSpc>
                          <a:spcPct val="120000"/>
                        </a:lnSpc>
                        <a:spcBef>
                          <a:spcPct val="0"/>
                        </a:spcBef>
                        <a:spcAft>
                          <a:spcPct val="0"/>
                        </a:spcAft>
                        <a:buClr>
                          <a:schemeClr val="bg2"/>
                        </a:buClr>
                        <a:buSzPct val="75000"/>
                        <a:buFont typeface="Wingdings" pitchFamily="2" charset="2"/>
                        <a:buNone/>
                        <a:tabLst/>
                      </a:pPr>
                      <a:r>
                        <a:rPr kumimoji="0" lang="zh-CN" altLang="en-US" sz="2000" b="0" i="0" u="none" strike="noStrike" cap="none" normalizeH="0" baseline="0" dirty="0">
                          <a:ln>
                            <a:noFill/>
                          </a:ln>
                          <a:solidFill>
                            <a:schemeClr val="tx1"/>
                          </a:solidFill>
                          <a:effectLst/>
                          <a:latin typeface="Arial" charset="0"/>
                          <a:ea typeface="宋体" charset="-122"/>
                        </a:rPr>
                        <a:t>设定口令的</a:t>
                      </a:r>
                      <a:r>
                        <a:rPr kumimoji="0" lang="zh-CN" altLang="en-US" sz="2000" b="0" i="0" u="none" strike="noStrike" cap="none" normalizeH="0" baseline="0" dirty="0">
                          <a:ln>
                            <a:noFill/>
                          </a:ln>
                          <a:solidFill>
                            <a:srgbClr val="FF0000"/>
                          </a:solidFill>
                          <a:effectLst/>
                          <a:latin typeface="Arial" charset="0"/>
                          <a:ea typeface="宋体" charset="-122"/>
                        </a:rPr>
                        <a:t>最小字符数</a:t>
                      </a:r>
                    </a:p>
                  </a:txBody>
                  <a:tcPr anchor="ctr" horzOverflow="overflow"/>
                </a:tc>
                <a:extLst>
                  <a:ext uri="{0D108BD9-81ED-4DB2-BD59-A6C34878D82A}">
                    <a16:rowId xmlns:a16="http://schemas.microsoft.com/office/drawing/2014/main" val="10002"/>
                  </a:ext>
                </a:extLst>
              </a:tr>
              <a:tr h="449263">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000" b="0" i="0" u="none" strike="noStrike" cap="none" normalizeH="0" baseline="0" dirty="0">
                          <a:ln>
                            <a:noFill/>
                          </a:ln>
                          <a:solidFill>
                            <a:schemeClr val="tx1"/>
                          </a:solidFill>
                          <a:effectLst/>
                          <a:latin typeface="Arial" charset="0"/>
                          <a:ea typeface="宋体" charset="-122"/>
                        </a:rPr>
                        <a:t>PASS_WARN_AGE</a:t>
                      </a:r>
                    </a:p>
                  </a:txBody>
                  <a:tcPr anchor="ctr" horzOverflow="overflow"/>
                </a:tc>
                <a:tc>
                  <a:txBody>
                    <a:bodyPr/>
                    <a:lstStyle/>
                    <a:p>
                      <a:pPr marL="0" marR="0" lvl="0" indent="-342900" algn="just" defTabSz="914400" rtl="0" eaLnBrk="1" fontAlgn="ctr" latinLnBrk="0" hangingPunct="1">
                        <a:lnSpc>
                          <a:spcPct val="120000"/>
                        </a:lnSpc>
                        <a:spcBef>
                          <a:spcPct val="0"/>
                        </a:spcBef>
                        <a:spcAft>
                          <a:spcPct val="0"/>
                        </a:spcAft>
                        <a:buClr>
                          <a:schemeClr val="bg2"/>
                        </a:buClr>
                        <a:buSzPct val="75000"/>
                        <a:buFont typeface="Wingdings" pitchFamily="2" charset="2"/>
                        <a:buNone/>
                        <a:tabLst/>
                      </a:pPr>
                      <a:r>
                        <a:rPr kumimoji="0" lang="zh-CN" altLang="en-US" sz="2000" b="0" i="0" u="none" strike="noStrike" cap="none" normalizeH="0" baseline="0" dirty="0">
                          <a:ln>
                            <a:noFill/>
                          </a:ln>
                          <a:solidFill>
                            <a:schemeClr val="tx1"/>
                          </a:solidFill>
                          <a:effectLst/>
                          <a:latin typeface="Arial" charset="0"/>
                          <a:ea typeface="宋体" charset="-122"/>
                        </a:rPr>
                        <a:t>设定在</a:t>
                      </a:r>
                      <a:r>
                        <a:rPr kumimoji="0" lang="zh-CN" altLang="en-US" sz="2000" b="0" i="0" u="none" strike="noStrike" cap="none" normalizeH="0" baseline="0" dirty="0">
                          <a:ln>
                            <a:noFill/>
                          </a:ln>
                          <a:solidFill>
                            <a:srgbClr val="FF0000"/>
                          </a:solidFill>
                          <a:effectLst/>
                          <a:latin typeface="Arial" charset="0"/>
                          <a:ea typeface="宋体" charset="-122"/>
                        </a:rPr>
                        <a:t>口令失效前</a:t>
                      </a:r>
                      <a:r>
                        <a:rPr kumimoji="0" lang="zh-CN" altLang="en-US" sz="2000" b="0" i="0" u="none" strike="noStrike" cap="none" normalizeH="0" baseline="0" dirty="0">
                          <a:ln>
                            <a:noFill/>
                          </a:ln>
                          <a:solidFill>
                            <a:schemeClr val="tx1"/>
                          </a:solidFill>
                          <a:effectLst/>
                          <a:latin typeface="Arial" charset="0"/>
                          <a:ea typeface="宋体" charset="-122"/>
                        </a:rPr>
                        <a:t>多少天开始通知用户更改口令（一般在用户刚刚登录系统时就会收到</a:t>
                      </a:r>
                      <a:r>
                        <a:rPr kumimoji="0" lang="zh-CN" altLang="en-US" sz="2000" b="0" i="0" u="none" strike="noStrike" cap="none" normalizeH="0" baseline="0" dirty="0">
                          <a:ln>
                            <a:noFill/>
                          </a:ln>
                          <a:solidFill>
                            <a:srgbClr val="FF0000"/>
                          </a:solidFill>
                          <a:effectLst/>
                          <a:latin typeface="Arial" charset="0"/>
                          <a:ea typeface="宋体" charset="-122"/>
                        </a:rPr>
                        <a:t>警告通知</a:t>
                      </a:r>
                      <a:r>
                        <a:rPr kumimoji="0" lang="zh-CN" altLang="en-US" sz="2000" b="0" i="0" u="none" strike="noStrike" cap="none" normalizeH="0" baseline="0" dirty="0">
                          <a:ln>
                            <a:noFill/>
                          </a:ln>
                          <a:solidFill>
                            <a:schemeClr val="tx1"/>
                          </a:solidFill>
                          <a:effectLst/>
                          <a:latin typeface="Arial" charset="0"/>
                          <a:ea typeface="宋体" charset="-122"/>
                        </a:rPr>
                        <a:t>）</a:t>
                      </a:r>
                    </a:p>
                  </a:txBody>
                  <a:tcPr anchor="ctr" horzOverflow="overflow"/>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71874189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a:t>设置</a:t>
            </a:r>
            <a:r>
              <a:rPr lang="zh-CN" altLang="en-US" sz="4000" dirty="0">
                <a:solidFill>
                  <a:srgbClr val="FF0000"/>
                </a:solidFill>
              </a:rPr>
              <a:t>已存在用户</a:t>
            </a:r>
            <a:r>
              <a:rPr lang="zh-CN" altLang="en-US" sz="4000" dirty="0"/>
              <a:t>口令时效</a:t>
            </a:r>
            <a:r>
              <a:rPr lang="en-US" altLang="zh-CN" sz="4000" dirty="0"/>
              <a:t>—</a:t>
            </a:r>
            <a:r>
              <a:rPr lang="en-US" altLang="zh-CN" sz="4000" dirty="0" err="1"/>
              <a:t>chage</a:t>
            </a:r>
            <a:endParaRPr lang="zh-CN" altLang="en-US" dirty="0"/>
          </a:p>
        </p:txBody>
      </p:sp>
      <p:sp>
        <p:nvSpPr>
          <p:cNvPr id="3" name="内容占位符 2"/>
          <p:cNvSpPr>
            <a:spLocks noGrp="1"/>
          </p:cNvSpPr>
          <p:nvPr>
            <p:ph idx="1"/>
          </p:nvPr>
        </p:nvSpPr>
        <p:spPr>
          <a:xfrm>
            <a:off x="610170" y="1412776"/>
            <a:ext cx="8360915" cy="5256584"/>
          </a:xfrm>
        </p:spPr>
        <p:txBody>
          <a:bodyPr/>
          <a:lstStyle/>
          <a:p>
            <a:r>
              <a:rPr lang="en-US" altLang="zh-CN" dirty="0" err="1"/>
              <a:t>chage</a:t>
            </a:r>
            <a:r>
              <a:rPr lang="zh-CN" altLang="en-US" dirty="0"/>
              <a:t>命令格式：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chage</a:t>
            </a:r>
            <a:r>
              <a:rPr lang="en-US" altLang="zh-CN" b="1" dirty="0">
                <a:solidFill>
                  <a:schemeClr val="accent6">
                    <a:lumMod val="75000"/>
                  </a:schemeClr>
                </a:solidFill>
              </a:rPr>
              <a:t> [&lt;</a:t>
            </a:r>
            <a:r>
              <a:rPr lang="zh-CN" altLang="en-US" b="1" dirty="0">
                <a:solidFill>
                  <a:schemeClr val="accent6">
                    <a:lumMod val="75000"/>
                  </a:schemeClr>
                </a:solidFill>
              </a:rPr>
              <a:t>选项</a:t>
            </a:r>
            <a:r>
              <a:rPr lang="en-US" altLang="zh-CN" b="1" dirty="0">
                <a:solidFill>
                  <a:schemeClr val="accent6">
                    <a:lumMod val="75000"/>
                  </a:schemeClr>
                </a:solidFill>
              </a:rPr>
              <a:t>&gt;] &lt;</a:t>
            </a:r>
            <a:r>
              <a:rPr lang="zh-CN" altLang="en-US" b="1" dirty="0">
                <a:solidFill>
                  <a:schemeClr val="accent6">
                    <a:lumMod val="75000"/>
                  </a:schemeClr>
                </a:solidFill>
              </a:rPr>
              <a:t>用户名</a:t>
            </a:r>
            <a:r>
              <a:rPr lang="en-US" altLang="zh-CN" b="1" dirty="0">
                <a:solidFill>
                  <a:schemeClr val="accent6">
                    <a:lumMod val="75000"/>
                  </a:schemeClr>
                </a:solidFill>
              </a:rPr>
              <a:t>&gt;</a:t>
            </a:r>
          </a:p>
          <a:p>
            <a:r>
              <a:rPr lang="zh-CN" altLang="en-US" dirty="0"/>
              <a:t>选项与参数：</a:t>
            </a:r>
          </a:p>
          <a:p>
            <a:pPr lvl="1">
              <a:lnSpc>
                <a:spcPct val="110000"/>
              </a:lnSpc>
            </a:pPr>
            <a:r>
              <a:rPr lang="en-US" altLang="zh-CN" sz="2200" dirty="0"/>
              <a:t>-l </a:t>
            </a:r>
            <a:r>
              <a:rPr lang="zh-CN" altLang="en-US" sz="2200" dirty="0"/>
              <a:t>：列出该账号的详细口令参数；</a:t>
            </a:r>
            <a:endParaRPr lang="en-US" altLang="zh-CN" sz="2200" dirty="0"/>
          </a:p>
          <a:p>
            <a:pPr lvl="1">
              <a:lnSpc>
                <a:spcPct val="110000"/>
              </a:lnSpc>
            </a:pPr>
            <a:r>
              <a:rPr lang="en-US" altLang="zh-CN" sz="2200" dirty="0"/>
              <a:t>-d </a:t>
            </a:r>
            <a:r>
              <a:rPr lang="zh-CN" altLang="en-US" sz="2200" dirty="0"/>
              <a:t>：接日期，修改最近一次更改口令的日期，格式 </a:t>
            </a:r>
            <a:r>
              <a:rPr lang="en-US" altLang="zh-CN" sz="2200" dirty="0"/>
              <a:t>YYYY-MM-DD</a:t>
            </a:r>
          </a:p>
          <a:p>
            <a:pPr lvl="1">
              <a:lnSpc>
                <a:spcPct val="110000"/>
              </a:lnSpc>
            </a:pPr>
            <a:r>
              <a:rPr lang="en-US" altLang="zh-CN" sz="2200" dirty="0"/>
              <a:t>-E </a:t>
            </a:r>
            <a:r>
              <a:rPr lang="zh-CN" altLang="en-US" sz="2200" dirty="0"/>
              <a:t>：接日期，修改账号失效日，格式 </a:t>
            </a:r>
            <a:r>
              <a:rPr lang="en-US" altLang="zh-CN" sz="2200" dirty="0"/>
              <a:t>YYYY-MM-DD </a:t>
            </a:r>
          </a:p>
          <a:p>
            <a:pPr lvl="1">
              <a:lnSpc>
                <a:spcPct val="110000"/>
              </a:lnSpc>
            </a:pPr>
            <a:r>
              <a:rPr lang="en-US" altLang="zh-CN" sz="2200" dirty="0"/>
              <a:t>-I </a:t>
            </a:r>
            <a:r>
              <a:rPr lang="zh-CN" altLang="en-US" sz="2200" dirty="0"/>
              <a:t>：接天数，修改口令失效日期</a:t>
            </a:r>
            <a:endParaRPr lang="en-US" altLang="zh-CN" sz="2200" dirty="0"/>
          </a:p>
          <a:p>
            <a:pPr lvl="1">
              <a:lnSpc>
                <a:spcPct val="110000"/>
              </a:lnSpc>
            </a:pPr>
            <a:r>
              <a:rPr lang="en-US" altLang="zh-CN" sz="2200" dirty="0"/>
              <a:t>-m </a:t>
            </a:r>
            <a:r>
              <a:rPr lang="zh-CN" altLang="en-US" sz="2200" dirty="0"/>
              <a:t>：接天数，修改口令最短保留天数</a:t>
            </a:r>
            <a:endParaRPr lang="en-US" altLang="zh-CN" sz="2200" dirty="0"/>
          </a:p>
          <a:p>
            <a:pPr lvl="1">
              <a:lnSpc>
                <a:spcPct val="110000"/>
              </a:lnSpc>
            </a:pPr>
            <a:r>
              <a:rPr lang="en-US" altLang="zh-CN" sz="2200" dirty="0"/>
              <a:t>-M </a:t>
            </a:r>
            <a:r>
              <a:rPr lang="zh-CN" altLang="en-US" sz="2200" dirty="0"/>
              <a:t>：接天数，修改口令多久需要进行变更</a:t>
            </a:r>
            <a:endParaRPr lang="en-US" altLang="zh-CN" sz="2200" dirty="0"/>
          </a:p>
          <a:p>
            <a:pPr lvl="1">
              <a:lnSpc>
                <a:spcPct val="110000"/>
              </a:lnSpc>
            </a:pPr>
            <a:r>
              <a:rPr lang="en-US" altLang="zh-CN" sz="2200" dirty="0"/>
              <a:t>-W </a:t>
            </a:r>
            <a:r>
              <a:rPr lang="zh-CN" altLang="en-US" sz="2200" dirty="0"/>
              <a:t>：接天数，口令过期前警告日期</a:t>
            </a:r>
          </a:p>
        </p:txBody>
      </p:sp>
    </p:spTree>
    <p:extLst>
      <p:ext uri="{BB962C8B-B14F-4D97-AF65-F5344CB8AC3E}">
        <p14:creationId xmlns:p14="http://schemas.microsoft.com/office/powerpoint/2010/main" val="114086109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000" dirty="0"/>
              <a:t>设置</a:t>
            </a:r>
            <a:r>
              <a:rPr lang="zh-CN" altLang="en-US" sz="4000" dirty="0">
                <a:solidFill>
                  <a:srgbClr val="FF0000"/>
                </a:solidFill>
              </a:rPr>
              <a:t>已存在用户</a:t>
            </a:r>
            <a:r>
              <a:rPr lang="zh-CN" altLang="en-US" sz="4000" dirty="0"/>
              <a:t>口令时效</a:t>
            </a:r>
            <a:r>
              <a:rPr lang="en-US" altLang="zh-CN" sz="4000" dirty="0"/>
              <a:t>—</a:t>
            </a:r>
            <a:r>
              <a:rPr lang="en-US" altLang="zh-CN" sz="4000" dirty="0" err="1"/>
              <a:t>chage</a:t>
            </a:r>
            <a:endParaRPr lang="zh-CN" altLang="en-US" dirty="0"/>
          </a:p>
        </p:txBody>
      </p:sp>
      <p:sp>
        <p:nvSpPr>
          <p:cNvPr id="3" name="内容占位符 2"/>
          <p:cNvSpPr>
            <a:spLocks noGrp="1"/>
          </p:cNvSpPr>
          <p:nvPr>
            <p:ph idx="1"/>
          </p:nvPr>
        </p:nvSpPr>
        <p:spPr>
          <a:xfrm>
            <a:off x="1043608" y="1484784"/>
            <a:ext cx="7856859" cy="4114800"/>
          </a:xfrm>
        </p:spPr>
        <p:txBody>
          <a:bodyPr/>
          <a:lstStyle/>
          <a:p>
            <a:endParaRPr lang="zh-CN" altLang="en-US" sz="2200" dirty="0"/>
          </a:p>
        </p:txBody>
      </p:sp>
      <p:sp>
        <p:nvSpPr>
          <p:cNvPr id="4" name="矩形 3"/>
          <p:cNvSpPr/>
          <p:nvPr/>
        </p:nvSpPr>
        <p:spPr>
          <a:xfrm>
            <a:off x="24062" y="2132856"/>
            <a:ext cx="9119937" cy="2923877"/>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r>
              <a:rPr lang="zh-CN" altLang="en-US" sz="2300" dirty="0">
                <a:solidFill>
                  <a:srgbClr val="0000FF"/>
                </a:solidFill>
              </a:rPr>
              <a:t>[xl@localhost ~]$ chage -l xl</a:t>
            </a:r>
          </a:p>
          <a:p>
            <a:r>
              <a:rPr lang="zh-CN" altLang="en-US" sz="2300" dirty="0"/>
              <a:t>Last password change                                    : Aug 27, 2019</a:t>
            </a:r>
          </a:p>
          <a:p>
            <a:r>
              <a:rPr lang="zh-CN" altLang="en-US" sz="2300" dirty="0"/>
              <a:t>Password expires                                        : never</a:t>
            </a:r>
          </a:p>
          <a:p>
            <a:r>
              <a:rPr lang="zh-CN" altLang="en-US" sz="2300" dirty="0"/>
              <a:t>Password inactive                                       : never</a:t>
            </a:r>
          </a:p>
          <a:p>
            <a:r>
              <a:rPr lang="zh-CN" altLang="en-US" sz="2300" dirty="0"/>
              <a:t>Account expires                                         : never</a:t>
            </a:r>
          </a:p>
          <a:p>
            <a:r>
              <a:rPr lang="zh-CN" altLang="en-US" sz="2300" dirty="0"/>
              <a:t>Minimum number of days between password change          : 0</a:t>
            </a:r>
          </a:p>
          <a:p>
            <a:r>
              <a:rPr lang="zh-CN" altLang="en-US" sz="2300" dirty="0"/>
              <a:t>Maximum number of days between password change          : 99999</a:t>
            </a:r>
          </a:p>
          <a:p>
            <a:r>
              <a:rPr lang="zh-CN" altLang="en-US" sz="2300" dirty="0"/>
              <a:t>Number of days of warning before password expires       : 7</a:t>
            </a:r>
          </a:p>
        </p:txBody>
      </p:sp>
    </p:spTree>
    <p:extLst>
      <p:ext uri="{BB962C8B-B14F-4D97-AF65-F5344CB8AC3E}">
        <p14:creationId xmlns:p14="http://schemas.microsoft.com/office/powerpoint/2010/main" val="289538106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41884" y="191715"/>
            <a:ext cx="8229600" cy="1052513"/>
          </a:xfrm>
        </p:spPr>
        <p:txBody>
          <a:bodyPr/>
          <a:lstStyle/>
          <a:p>
            <a:r>
              <a:rPr lang="zh-CN" altLang="en-US" dirty="0"/>
              <a:t>设置</a:t>
            </a:r>
            <a:r>
              <a:rPr lang="zh-CN" altLang="en-US" dirty="0">
                <a:solidFill>
                  <a:srgbClr val="FF0000"/>
                </a:solidFill>
              </a:rPr>
              <a:t>已存在用户</a:t>
            </a:r>
            <a:r>
              <a:rPr lang="zh-CN" altLang="en-US" dirty="0"/>
              <a:t>口令时效</a:t>
            </a:r>
            <a:r>
              <a:rPr lang="en-US" altLang="zh-CN" dirty="0"/>
              <a:t>-</a:t>
            </a:r>
            <a:r>
              <a:rPr lang="zh-CN" altLang="en-US" dirty="0"/>
              <a:t>举例</a:t>
            </a:r>
          </a:p>
        </p:txBody>
      </p:sp>
      <p:sp>
        <p:nvSpPr>
          <p:cNvPr id="3" name="内容占位符 2"/>
          <p:cNvSpPr>
            <a:spLocks noGrp="1"/>
          </p:cNvSpPr>
          <p:nvPr>
            <p:ph idx="1"/>
          </p:nvPr>
        </p:nvSpPr>
        <p:spPr>
          <a:xfrm>
            <a:off x="914400" y="1244228"/>
            <a:ext cx="8229600" cy="4718149"/>
          </a:xfrm>
        </p:spPr>
        <p:txBody>
          <a:bodyPr/>
          <a:lstStyle/>
          <a:p>
            <a:pPr marL="0" indent="0">
              <a:buNone/>
            </a:pPr>
            <a:endParaRPr lang="en-US" altLang="zh-CN" dirty="0"/>
          </a:p>
          <a:p>
            <a:r>
              <a:rPr lang="zh-CN" altLang="en-US" dirty="0"/>
              <a:t>举例</a:t>
            </a:r>
            <a:endParaRPr lang="en-US" altLang="zh-CN" dirty="0"/>
          </a:p>
          <a:p>
            <a:pPr lvl="1"/>
            <a:r>
              <a:rPr lang="zh-CN" altLang="en-US" dirty="0"/>
              <a:t>查看用户</a:t>
            </a:r>
            <a:r>
              <a:rPr lang="en-US" altLang="zh-CN" dirty="0" err="1"/>
              <a:t>jason</a:t>
            </a:r>
            <a:r>
              <a:rPr lang="zh-CN" altLang="en-US" dirty="0"/>
              <a:t>当前的口令时效信息</a:t>
            </a:r>
          </a:p>
          <a:p>
            <a:pPr lvl="2">
              <a:buNone/>
            </a:pPr>
            <a:r>
              <a:rPr lang="en-US" altLang="zh-CN" b="1" dirty="0">
                <a:solidFill>
                  <a:schemeClr val="accent6">
                    <a:lumMod val="75000"/>
                  </a:schemeClr>
                </a:solidFill>
              </a:rPr>
              <a:t># </a:t>
            </a:r>
            <a:r>
              <a:rPr lang="en-US" altLang="zh-CN" b="1" dirty="0" err="1">
                <a:solidFill>
                  <a:schemeClr val="accent6">
                    <a:lumMod val="75000"/>
                  </a:schemeClr>
                </a:solidFill>
              </a:rPr>
              <a:t>chage</a:t>
            </a:r>
            <a:r>
              <a:rPr lang="en-US" altLang="zh-CN" b="1" dirty="0">
                <a:solidFill>
                  <a:schemeClr val="accent6">
                    <a:lumMod val="75000"/>
                  </a:schemeClr>
                </a:solidFill>
              </a:rPr>
              <a:t> -l </a:t>
            </a:r>
            <a:r>
              <a:rPr lang="en-US" altLang="zh-CN" b="1" dirty="0" err="1">
                <a:solidFill>
                  <a:schemeClr val="accent6">
                    <a:lumMod val="75000"/>
                  </a:schemeClr>
                </a:solidFill>
              </a:rPr>
              <a:t>jason</a:t>
            </a:r>
            <a:endParaRPr lang="en-US" altLang="zh-CN" b="1" dirty="0">
              <a:solidFill>
                <a:schemeClr val="accent6">
                  <a:lumMod val="75000"/>
                </a:schemeClr>
              </a:solidFill>
            </a:endParaRPr>
          </a:p>
          <a:p>
            <a:pPr lvl="1"/>
            <a:r>
              <a:rPr lang="zh-CN" altLang="en-US" dirty="0">
                <a:highlight>
                  <a:srgbClr val="FFFF00"/>
                </a:highlight>
              </a:rPr>
              <a:t>使用户</a:t>
            </a:r>
            <a:r>
              <a:rPr lang="en-US" altLang="zh-CN" dirty="0" err="1">
                <a:highlight>
                  <a:srgbClr val="FFFF00"/>
                </a:highlight>
              </a:rPr>
              <a:t>jason</a:t>
            </a:r>
            <a:r>
              <a:rPr lang="zh-CN" altLang="en-US" dirty="0">
                <a:highlight>
                  <a:srgbClr val="FFFF00"/>
                </a:highlight>
              </a:rPr>
              <a:t>下次登录之后修改口令</a:t>
            </a:r>
          </a:p>
          <a:p>
            <a:pPr lvl="2">
              <a:buNone/>
            </a:pPr>
            <a:r>
              <a:rPr lang="en-US" altLang="zh-CN" b="1" dirty="0">
                <a:solidFill>
                  <a:schemeClr val="accent6">
                    <a:lumMod val="75000"/>
                  </a:schemeClr>
                </a:solidFill>
                <a:highlight>
                  <a:srgbClr val="FFFF00"/>
                </a:highlight>
              </a:rPr>
              <a:t># </a:t>
            </a:r>
            <a:r>
              <a:rPr lang="en-US" altLang="zh-CN" b="1" dirty="0" err="1">
                <a:solidFill>
                  <a:schemeClr val="accent6">
                    <a:lumMod val="75000"/>
                  </a:schemeClr>
                </a:solidFill>
                <a:highlight>
                  <a:srgbClr val="FFFF00"/>
                </a:highlight>
              </a:rPr>
              <a:t>chage</a:t>
            </a:r>
            <a:r>
              <a:rPr lang="en-US" altLang="zh-CN" b="1" dirty="0">
                <a:solidFill>
                  <a:schemeClr val="accent6">
                    <a:lumMod val="75000"/>
                  </a:schemeClr>
                </a:solidFill>
                <a:highlight>
                  <a:srgbClr val="FFFF00"/>
                </a:highlight>
              </a:rPr>
              <a:t> -d 0 </a:t>
            </a:r>
            <a:r>
              <a:rPr lang="en-US" altLang="zh-CN" b="1" dirty="0" err="1">
                <a:solidFill>
                  <a:schemeClr val="accent6">
                    <a:lumMod val="75000"/>
                  </a:schemeClr>
                </a:solidFill>
                <a:highlight>
                  <a:srgbClr val="FFFF00"/>
                </a:highlight>
              </a:rPr>
              <a:t>jason</a:t>
            </a:r>
            <a:endParaRPr lang="en-US" altLang="zh-CN" b="1" dirty="0">
              <a:solidFill>
                <a:schemeClr val="accent6">
                  <a:lumMod val="75000"/>
                </a:schemeClr>
              </a:solidFill>
              <a:highlight>
                <a:srgbClr val="FFFF00"/>
              </a:highlight>
            </a:endParaRPr>
          </a:p>
          <a:p>
            <a:pPr lvl="1"/>
            <a:r>
              <a:rPr lang="zh-CN" altLang="en-US" dirty="0"/>
              <a:t>用户 </a:t>
            </a:r>
            <a:r>
              <a:rPr lang="en-US" altLang="zh-CN" dirty="0" err="1"/>
              <a:t>jason</a:t>
            </a:r>
            <a:r>
              <a:rPr lang="en-US" altLang="zh-CN" dirty="0"/>
              <a:t> </a:t>
            </a:r>
            <a:r>
              <a:rPr lang="zh-CN" altLang="en-US" dirty="0"/>
              <a:t>两天内不能更改口令，且口令最长的存活期为 </a:t>
            </a:r>
            <a:r>
              <a:rPr lang="en-US" altLang="zh-CN" dirty="0"/>
              <a:t>30 </a:t>
            </a:r>
            <a:r>
              <a:rPr lang="zh-CN" altLang="en-US" dirty="0"/>
              <a:t>天，并在口令过期前 </a:t>
            </a:r>
            <a:r>
              <a:rPr lang="en-US" altLang="zh-CN" dirty="0"/>
              <a:t>5 </a:t>
            </a:r>
            <a:r>
              <a:rPr lang="zh-CN" altLang="en-US" dirty="0"/>
              <a:t>天通知用户</a:t>
            </a:r>
          </a:p>
          <a:p>
            <a:pPr lvl="2">
              <a:buNone/>
            </a:pPr>
            <a:r>
              <a:rPr lang="en-US" altLang="zh-CN" b="1" dirty="0">
                <a:solidFill>
                  <a:schemeClr val="accent6">
                    <a:lumMod val="75000"/>
                  </a:schemeClr>
                </a:solidFill>
              </a:rPr>
              <a:t># </a:t>
            </a:r>
            <a:r>
              <a:rPr lang="en-US" altLang="zh-CN" b="1" dirty="0" err="1">
                <a:solidFill>
                  <a:schemeClr val="accent6">
                    <a:lumMod val="75000"/>
                  </a:schemeClr>
                </a:solidFill>
              </a:rPr>
              <a:t>chage</a:t>
            </a:r>
            <a:r>
              <a:rPr lang="en-US" altLang="zh-CN" b="1" dirty="0">
                <a:solidFill>
                  <a:schemeClr val="accent6">
                    <a:lumMod val="75000"/>
                  </a:schemeClr>
                </a:solidFill>
              </a:rPr>
              <a:t> -m 2 -M 30 -W 5 </a:t>
            </a:r>
            <a:r>
              <a:rPr lang="en-US" altLang="zh-CN" b="1" dirty="0" err="1">
                <a:solidFill>
                  <a:schemeClr val="accent6">
                    <a:lumMod val="75000"/>
                  </a:schemeClr>
                </a:solidFill>
              </a:rPr>
              <a:t>jason</a:t>
            </a:r>
            <a:endParaRPr lang="zh-CN" altLang="en-US" b="1" dirty="0">
              <a:solidFill>
                <a:schemeClr val="accent6">
                  <a:lumMod val="75000"/>
                </a:schemeClr>
              </a:solidFill>
            </a:endParaRPr>
          </a:p>
        </p:txBody>
      </p:sp>
    </p:spTree>
    <p:extLst>
      <p:ext uri="{BB962C8B-B14F-4D97-AF65-F5344CB8AC3E}">
        <p14:creationId xmlns:p14="http://schemas.microsoft.com/office/powerpoint/2010/main" val="3113599451"/>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smtClean="0"/>
              <a:t>修改已存在用户信息</a:t>
            </a:r>
            <a:r>
              <a:rPr lang="en-US" altLang="zh-CN" sz="4400" dirty="0" smtClean="0"/>
              <a:t>—</a:t>
            </a:r>
            <a:r>
              <a:rPr lang="en-US" altLang="zh-CN" sz="4400" dirty="0"/>
              <a:t>usermod</a:t>
            </a:r>
            <a:endParaRPr lang="zh-CN" altLang="en-US" dirty="0"/>
          </a:p>
        </p:txBody>
      </p:sp>
      <p:sp>
        <p:nvSpPr>
          <p:cNvPr id="3" name="内容占位符 2"/>
          <p:cNvSpPr>
            <a:spLocks noGrp="1"/>
          </p:cNvSpPr>
          <p:nvPr>
            <p:ph idx="1"/>
          </p:nvPr>
        </p:nvSpPr>
        <p:spPr>
          <a:xfrm>
            <a:off x="1043608" y="1244228"/>
            <a:ext cx="7772400" cy="5497140"/>
          </a:xfrm>
        </p:spPr>
        <p:txBody>
          <a:bodyPr/>
          <a:lstStyle/>
          <a:p>
            <a:r>
              <a:rPr lang="zh-CN" altLang="en-US" dirty="0"/>
              <a:t>格式：</a:t>
            </a:r>
          </a:p>
          <a:p>
            <a:pPr lvl="1">
              <a:buNone/>
            </a:pPr>
            <a:r>
              <a:rPr lang="en-US" altLang="zh-CN" b="1" dirty="0">
                <a:solidFill>
                  <a:schemeClr val="accent6">
                    <a:lumMod val="75000"/>
                  </a:schemeClr>
                </a:solidFill>
              </a:rPr>
              <a:t># usermod [&lt;</a:t>
            </a:r>
            <a:r>
              <a:rPr lang="zh-CN" altLang="en-US" b="1" dirty="0">
                <a:solidFill>
                  <a:schemeClr val="accent6">
                    <a:lumMod val="75000"/>
                  </a:schemeClr>
                </a:solidFill>
              </a:rPr>
              <a:t>选项</a:t>
            </a:r>
            <a:r>
              <a:rPr lang="en-US" altLang="zh-CN" b="1" dirty="0">
                <a:solidFill>
                  <a:schemeClr val="accent6">
                    <a:lumMod val="75000"/>
                  </a:schemeClr>
                </a:solidFill>
              </a:rPr>
              <a:t>&gt;] &lt;</a:t>
            </a:r>
            <a:r>
              <a:rPr lang="zh-CN" altLang="en-US" b="1" dirty="0">
                <a:solidFill>
                  <a:schemeClr val="accent6">
                    <a:lumMod val="75000"/>
                  </a:schemeClr>
                </a:solidFill>
              </a:rPr>
              <a:t>用户名</a:t>
            </a:r>
            <a:r>
              <a:rPr lang="en-US" altLang="zh-CN" b="1" dirty="0">
                <a:solidFill>
                  <a:schemeClr val="accent6">
                    <a:lumMod val="75000"/>
                  </a:schemeClr>
                </a:solidFill>
              </a:rPr>
              <a:t>&gt;</a:t>
            </a:r>
          </a:p>
          <a:p>
            <a:pPr lvl="1"/>
            <a:r>
              <a:rPr lang="zh-CN" altLang="en-US" dirty="0"/>
              <a:t>选项与</a:t>
            </a:r>
            <a:r>
              <a:rPr lang="en-US" altLang="zh-CN" dirty="0">
                <a:solidFill>
                  <a:srgbClr val="FF0000"/>
                </a:solidFill>
              </a:rPr>
              <a:t>useradd</a:t>
            </a:r>
            <a:r>
              <a:rPr lang="zh-CN" altLang="en-US" dirty="0"/>
              <a:t>命令</a:t>
            </a:r>
            <a:r>
              <a:rPr lang="zh-CN" altLang="en-US" dirty="0">
                <a:solidFill>
                  <a:srgbClr val="FF0000"/>
                </a:solidFill>
              </a:rPr>
              <a:t>基本相同</a:t>
            </a:r>
          </a:p>
          <a:p>
            <a:r>
              <a:rPr lang="zh-CN" altLang="en-US" dirty="0"/>
              <a:t>举例：</a:t>
            </a:r>
          </a:p>
          <a:p>
            <a:pPr lvl="1">
              <a:spcBef>
                <a:spcPts val="0"/>
              </a:spcBef>
            </a:pPr>
            <a:r>
              <a:rPr lang="en-US" altLang="zh-CN" dirty="0">
                <a:solidFill>
                  <a:schemeClr val="accent2">
                    <a:lumMod val="75000"/>
                  </a:schemeClr>
                </a:solidFill>
              </a:rPr>
              <a:t># usermod -l user2 user1 </a:t>
            </a:r>
          </a:p>
          <a:p>
            <a:pPr marL="457200" lvl="1" indent="0">
              <a:spcBef>
                <a:spcPts val="0"/>
              </a:spcBef>
              <a:buNone/>
            </a:pPr>
            <a:r>
              <a:rPr lang="en-US" altLang="zh-CN" dirty="0"/>
              <a:t>    </a:t>
            </a:r>
            <a:r>
              <a:rPr kumimoji="0" lang="en-US" altLang="zh-CN" sz="2800" b="1" i="0" u="none" strike="noStrike" kern="1200" cap="none" spc="0" normalizeH="0" baseline="0" noProof="0" dirty="0">
                <a:ln>
                  <a:noFill/>
                </a:ln>
                <a:solidFill>
                  <a:srgbClr val="000000"/>
                </a:solidFill>
                <a:effectLst/>
                <a:uLnTx/>
                <a:uFillTx/>
                <a:latin typeface="Tahoma" panose="020B0604030504040204" pitchFamily="34" charset="0"/>
                <a:cs typeface="+mn-cs"/>
              </a:rPr>
              <a:t> </a:t>
            </a:r>
            <a:r>
              <a:rPr kumimoji="0" lang="en-US" altLang="zh-CN" sz="2000" b="1" i="0" u="none" strike="noStrike" kern="1200" cap="none" spc="0" normalizeH="0" baseline="0" noProof="0" dirty="0">
                <a:ln>
                  <a:noFill/>
                </a:ln>
                <a:solidFill>
                  <a:srgbClr val="000000"/>
                </a:solidFill>
                <a:effectLst/>
                <a:uLnTx/>
                <a:uFillTx/>
                <a:latin typeface="Tahoma" panose="020B0604030504040204" pitchFamily="34" charset="0"/>
                <a:cs typeface="+mn-cs"/>
              </a:rPr>
              <a:t>-l </a:t>
            </a:r>
            <a:r>
              <a:rPr kumimoji="0" lang="zh-CN" altLang="en-US" sz="2000" b="1" i="0" u="none" strike="noStrike" kern="1200" cap="none" spc="0" normalizeH="0" baseline="0" noProof="0" dirty="0">
                <a:ln>
                  <a:noFill/>
                </a:ln>
                <a:solidFill>
                  <a:srgbClr val="000000"/>
                </a:solidFill>
                <a:effectLst/>
                <a:uLnTx/>
                <a:uFillTx/>
                <a:latin typeface="Tahoma" panose="020B0604030504040204" pitchFamily="34" charset="0"/>
                <a:cs typeface="+mn-cs"/>
              </a:rPr>
              <a:t>修改账号</a:t>
            </a:r>
            <a:r>
              <a:rPr kumimoji="0" lang="zh-CN" altLang="en-US" sz="2000" b="1" i="0" u="none" strike="noStrike" kern="1200" cap="none" spc="0" normalizeH="0" baseline="0" noProof="0" dirty="0" smtClean="0">
                <a:ln>
                  <a:noFill/>
                </a:ln>
                <a:solidFill>
                  <a:srgbClr val="000000"/>
                </a:solidFill>
                <a:effectLst/>
                <a:uLnTx/>
                <a:uFillTx/>
                <a:latin typeface="Tahoma" panose="020B0604030504040204" pitchFamily="34" charset="0"/>
                <a:cs typeface="+mn-cs"/>
              </a:rPr>
              <a:t>名称，把</a:t>
            </a:r>
            <a:r>
              <a:rPr kumimoji="0" lang="en-US" altLang="zh-CN" sz="2000" b="1" i="0" u="none" strike="noStrike" kern="1200" cap="none" spc="0" normalizeH="0" baseline="0" noProof="0" dirty="0" smtClean="0">
                <a:ln>
                  <a:noFill/>
                </a:ln>
                <a:solidFill>
                  <a:srgbClr val="000000"/>
                </a:solidFill>
                <a:effectLst/>
                <a:uLnTx/>
                <a:uFillTx/>
                <a:latin typeface="Tahoma" panose="020B0604030504040204" pitchFamily="34" charset="0"/>
                <a:cs typeface="+mn-cs"/>
              </a:rPr>
              <a:t>user1</a:t>
            </a:r>
            <a:r>
              <a:rPr kumimoji="0" lang="zh-CN" altLang="en-US" sz="2000" b="1" i="0" u="none" strike="noStrike" kern="1200" cap="none" spc="0" normalizeH="0" baseline="0" noProof="0" dirty="0" smtClean="0">
                <a:ln>
                  <a:noFill/>
                </a:ln>
                <a:solidFill>
                  <a:srgbClr val="000000"/>
                </a:solidFill>
                <a:effectLst/>
                <a:uLnTx/>
                <a:uFillTx/>
                <a:latin typeface="Tahoma" panose="020B0604030504040204" pitchFamily="34" charset="0"/>
                <a:cs typeface="+mn-cs"/>
              </a:rPr>
              <a:t>修改成</a:t>
            </a:r>
            <a:r>
              <a:rPr kumimoji="0" lang="en-US" altLang="zh-CN" sz="2000" b="1" i="0" u="none" strike="noStrike" kern="1200" cap="none" spc="0" normalizeH="0" baseline="0" noProof="0" dirty="0" smtClean="0">
                <a:ln>
                  <a:noFill/>
                </a:ln>
                <a:solidFill>
                  <a:srgbClr val="000000"/>
                </a:solidFill>
                <a:effectLst/>
                <a:uLnTx/>
                <a:uFillTx/>
                <a:latin typeface="Tahoma" panose="020B0604030504040204" pitchFamily="34" charset="0"/>
                <a:cs typeface="+mn-cs"/>
              </a:rPr>
              <a:t>user2</a:t>
            </a:r>
            <a:endParaRPr lang="en-GB" altLang="zh-CN" dirty="0"/>
          </a:p>
          <a:p>
            <a:pPr lvl="1">
              <a:spcBef>
                <a:spcPts val="0"/>
              </a:spcBef>
            </a:pPr>
            <a:r>
              <a:rPr lang="en-GB" altLang="zh-CN" dirty="0">
                <a:solidFill>
                  <a:schemeClr val="accent2">
                    <a:lumMod val="75000"/>
                  </a:schemeClr>
                </a:solidFill>
              </a:rPr>
              <a:t># </a:t>
            </a:r>
            <a:r>
              <a:rPr lang="en-GB" altLang="zh-CN" dirty="0" err="1">
                <a:solidFill>
                  <a:schemeClr val="accent2">
                    <a:lumMod val="75000"/>
                  </a:schemeClr>
                </a:solidFill>
              </a:rPr>
              <a:t>usermod</a:t>
            </a:r>
            <a:r>
              <a:rPr lang="en-GB" altLang="zh-CN" dirty="0">
                <a:solidFill>
                  <a:schemeClr val="accent2">
                    <a:lumMod val="75000"/>
                  </a:schemeClr>
                </a:solidFill>
              </a:rPr>
              <a:t> -G </a:t>
            </a:r>
            <a:r>
              <a:rPr lang="en-GB" altLang="zh-CN" dirty="0" err="1">
                <a:solidFill>
                  <a:schemeClr val="accent2">
                    <a:lumMod val="75000"/>
                  </a:schemeClr>
                </a:solidFill>
              </a:rPr>
              <a:t>softgroup</a:t>
            </a:r>
            <a:r>
              <a:rPr lang="en-GB" altLang="zh-CN" dirty="0">
                <a:solidFill>
                  <a:schemeClr val="accent2">
                    <a:lumMod val="75000"/>
                  </a:schemeClr>
                </a:solidFill>
              </a:rPr>
              <a:t> </a:t>
            </a:r>
            <a:r>
              <a:rPr lang="en-GB" altLang="zh-CN" dirty="0" err="1">
                <a:solidFill>
                  <a:schemeClr val="accent2">
                    <a:lumMod val="75000"/>
                  </a:schemeClr>
                </a:solidFill>
              </a:rPr>
              <a:t>jjh</a:t>
            </a:r>
            <a:endParaRPr lang="en-GB" altLang="zh-CN" dirty="0">
              <a:solidFill>
                <a:schemeClr val="accent2">
                  <a:lumMod val="75000"/>
                </a:schemeClr>
              </a:solidFill>
            </a:endParaRPr>
          </a:p>
          <a:p>
            <a:pPr marL="457200" lvl="1" indent="0">
              <a:spcBef>
                <a:spcPts val="0"/>
              </a:spcBef>
              <a:buNone/>
            </a:pPr>
            <a:r>
              <a:rPr lang="en-US" altLang="zh-CN" dirty="0"/>
              <a:t>     </a:t>
            </a:r>
            <a:r>
              <a:rPr lang="en-US" altLang="zh-CN" sz="2000" dirty="0"/>
              <a:t>-G </a:t>
            </a:r>
            <a:r>
              <a:rPr lang="zh-CN" altLang="en-US" sz="2000" dirty="0"/>
              <a:t>修改用户附加组</a:t>
            </a:r>
            <a:endParaRPr lang="en-GB" altLang="zh-CN" sz="2000" dirty="0"/>
          </a:p>
          <a:p>
            <a:pPr lvl="1">
              <a:spcBef>
                <a:spcPts val="0"/>
              </a:spcBef>
            </a:pPr>
            <a:r>
              <a:rPr lang="en-GB" altLang="zh-CN" dirty="0">
                <a:solidFill>
                  <a:schemeClr val="accent2">
                    <a:lumMod val="75000"/>
                  </a:schemeClr>
                </a:solidFill>
              </a:rPr>
              <a:t># </a:t>
            </a:r>
            <a:r>
              <a:rPr lang="en-US" altLang="zh-CN" dirty="0">
                <a:solidFill>
                  <a:schemeClr val="accent2">
                    <a:lumMod val="75000"/>
                  </a:schemeClr>
                </a:solidFill>
              </a:rPr>
              <a:t>usermod -L user1</a:t>
            </a:r>
          </a:p>
          <a:p>
            <a:pPr marL="457200" lvl="1" indent="0">
              <a:spcBef>
                <a:spcPts val="0"/>
              </a:spcBef>
              <a:buNone/>
            </a:pPr>
            <a:r>
              <a:rPr lang="en-US" altLang="zh-CN" dirty="0"/>
              <a:t>     </a:t>
            </a:r>
            <a:r>
              <a:rPr lang="en-US" altLang="zh-CN" sz="2000" dirty="0"/>
              <a:t>-L </a:t>
            </a:r>
            <a:r>
              <a:rPr lang="zh-CN" altLang="en-US" sz="2000" dirty="0"/>
              <a:t>冻结使用者密码，使其无法登陆</a:t>
            </a:r>
            <a:r>
              <a:rPr lang="en-US" altLang="zh-CN" sz="2000" dirty="0"/>
              <a:t> </a:t>
            </a:r>
            <a:endParaRPr lang="en-GB" altLang="zh-CN" dirty="0"/>
          </a:p>
          <a:p>
            <a:pPr lvl="1">
              <a:spcBef>
                <a:spcPts val="0"/>
              </a:spcBef>
            </a:pPr>
            <a:r>
              <a:rPr lang="en-GB" altLang="zh-CN" dirty="0">
                <a:solidFill>
                  <a:schemeClr val="accent2">
                    <a:lumMod val="75000"/>
                  </a:schemeClr>
                </a:solidFill>
              </a:rPr>
              <a:t># </a:t>
            </a:r>
            <a:r>
              <a:rPr lang="en-US" altLang="zh-CN" dirty="0">
                <a:solidFill>
                  <a:schemeClr val="accent2">
                    <a:lumMod val="75000"/>
                  </a:schemeClr>
                </a:solidFill>
              </a:rPr>
              <a:t>usermod -U user1 </a:t>
            </a:r>
          </a:p>
          <a:p>
            <a:pPr marL="457200" lvl="1" indent="0">
              <a:spcBef>
                <a:spcPts val="0"/>
              </a:spcBef>
              <a:buNone/>
            </a:pPr>
            <a:r>
              <a:rPr lang="en-US" altLang="zh-CN" sz="2000" dirty="0"/>
              <a:t>       -U </a:t>
            </a:r>
            <a:r>
              <a:rPr lang="zh-CN" altLang="en-US" sz="2000" dirty="0"/>
              <a:t>解锁用户，去掉</a:t>
            </a:r>
            <a:r>
              <a:rPr lang="en-US" altLang="zh-CN" sz="2000" dirty="0"/>
              <a:t>/</a:t>
            </a:r>
            <a:r>
              <a:rPr lang="en-US" altLang="zh-CN" sz="2000" dirty="0" err="1"/>
              <a:t>etc</a:t>
            </a:r>
            <a:r>
              <a:rPr lang="en-US" altLang="zh-CN" sz="2000" dirty="0"/>
              <a:t>/shadow</a:t>
            </a:r>
            <a:r>
              <a:rPr lang="zh-CN" altLang="en-US" sz="2000" dirty="0"/>
              <a:t>密码栏的感叹号</a:t>
            </a:r>
            <a:endParaRPr lang="en-US" altLang="zh-CN" sz="2000" dirty="0"/>
          </a:p>
          <a:p>
            <a:endParaRPr lang="zh-CN" altLang="en-US" dirty="0"/>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smtClean="0"/>
              <a:t>修改已存在用户信息</a:t>
            </a:r>
            <a:r>
              <a:rPr lang="en-US" altLang="zh-CN" sz="4400" dirty="0" smtClean="0"/>
              <a:t>—</a:t>
            </a:r>
            <a:r>
              <a:rPr lang="en-US" altLang="zh-CN" sz="4400" dirty="0"/>
              <a:t>usermod</a:t>
            </a:r>
            <a:endParaRPr lang="zh-CN" altLang="en-US" dirty="0"/>
          </a:p>
        </p:txBody>
      </p:sp>
      <p:sp>
        <p:nvSpPr>
          <p:cNvPr id="3" name="内容占位符 2"/>
          <p:cNvSpPr>
            <a:spLocks noGrp="1"/>
          </p:cNvSpPr>
          <p:nvPr>
            <p:ph idx="1"/>
          </p:nvPr>
        </p:nvSpPr>
        <p:spPr>
          <a:xfrm>
            <a:off x="323528" y="1556792"/>
            <a:ext cx="8636379" cy="5112568"/>
          </a:xfrm>
        </p:spPr>
        <p:txBody>
          <a:bodyPr/>
          <a:lstStyle/>
          <a:p>
            <a:pPr marL="0" indent="0">
              <a:buNone/>
            </a:pPr>
            <a:r>
              <a:rPr lang="en-US" altLang="zh-CN" sz="2400" dirty="0" smtClean="0">
                <a:solidFill>
                  <a:srgbClr val="0000FF"/>
                </a:solidFill>
              </a:rPr>
              <a:t>[</a:t>
            </a:r>
            <a:r>
              <a:rPr lang="en-US" altLang="zh-CN" sz="2400" dirty="0" err="1" smtClean="0">
                <a:solidFill>
                  <a:srgbClr val="0000FF"/>
                </a:solidFill>
              </a:rPr>
              <a:t>root@localhost</a:t>
            </a:r>
            <a:r>
              <a:rPr lang="en-US" altLang="zh-CN" sz="2400" dirty="0" smtClean="0">
                <a:solidFill>
                  <a:srgbClr val="0000FF"/>
                </a:solidFill>
              </a:rPr>
              <a:t> </a:t>
            </a:r>
            <a:r>
              <a:rPr lang="en-US" altLang="zh-CN" sz="2400" dirty="0">
                <a:solidFill>
                  <a:srgbClr val="0000FF"/>
                </a:solidFill>
              </a:rPr>
              <a:t>~]$ cat /</a:t>
            </a:r>
            <a:r>
              <a:rPr lang="en-US" altLang="zh-CN" sz="2400" dirty="0" err="1">
                <a:solidFill>
                  <a:srgbClr val="0000FF"/>
                </a:solidFill>
              </a:rPr>
              <a:t>etc</a:t>
            </a:r>
            <a:r>
              <a:rPr lang="en-US" altLang="zh-CN" sz="2400" dirty="0">
                <a:solidFill>
                  <a:srgbClr val="0000FF"/>
                </a:solidFill>
              </a:rPr>
              <a:t>/</a:t>
            </a:r>
            <a:r>
              <a:rPr lang="en-US" altLang="zh-CN" sz="2400" dirty="0" err="1">
                <a:solidFill>
                  <a:srgbClr val="0000FF"/>
                </a:solidFill>
              </a:rPr>
              <a:t>passwd</a:t>
            </a:r>
            <a:r>
              <a:rPr lang="en-US" altLang="zh-CN" sz="2400" dirty="0">
                <a:solidFill>
                  <a:srgbClr val="0000FF"/>
                </a:solidFill>
              </a:rPr>
              <a:t> | </a:t>
            </a:r>
            <a:r>
              <a:rPr lang="en-US" altLang="zh-CN" sz="2400" dirty="0" err="1">
                <a:solidFill>
                  <a:srgbClr val="0000FF"/>
                </a:solidFill>
              </a:rPr>
              <a:t>grep</a:t>
            </a:r>
            <a:r>
              <a:rPr lang="en-US" altLang="zh-CN" sz="2400" dirty="0">
                <a:solidFill>
                  <a:srgbClr val="0000FF"/>
                </a:solidFill>
              </a:rPr>
              <a:t> '^xl'</a:t>
            </a:r>
          </a:p>
          <a:p>
            <a:pPr marL="0" indent="0">
              <a:buNone/>
            </a:pPr>
            <a:r>
              <a:rPr lang="en-US" altLang="zh-CN" sz="2400" dirty="0"/>
              <a:t>xl:x:1000:1000:xilin:/home/xl:/bin/bash</a:t>
            </a:r>
          </a:p>
          <a:p>
            <a:pPr marL="0" indent="0">
              <a:buNone/>
            </a:pPr>
            <a:r>
              <a:rPr lang="en-US" altLang="zh-CN" sz="2400" dirty="0">
                <a:solidFill>
                  <a:srgbClr val="0000FF"/>
                </a:solidFill>
              </a:rPr>
              <a:t>[</a:t>
            </a:r>
            <a:r>
              <a:rPr lang="en-US" altLang="zh-CN" sz="2400" dirty="0" err="1">
                <a:solidFill>
                  <a:srgbClr val="0000FF"/>
                </a:solidFill>
              </a:rPr>
              <a:t>root@localhost</a:t>
            </a:r>
            <a:r>
              <a:rPr lang="en-US" altLang="zh-CN" sz="2400" dirty="0">
                <a:solidFill>
                  <a:srgbClr val="0000FF"/>
                </a:solidFill>
              </a:rPr>
              <a:t> ~]# usermod -c 'I am xl' xl</a:t>
            </a:r>
          </a:p>
          <a:p>
            <a:pPr marL="0" indent="0">
              <a:buNone/>
            </a:pPr>
            <a:r>
              <a:rPr lang="en-US" altLang="zh-CN" sz="2400" dirty="0">
                <a:solidFill>
                  <a:srgbClr val="0000FF"/>
                </a:solidFill>
              </a:rPr>
              <a:t>[</a:t>
            </a:r>
            <a:r>
              <a:rPr lang="en-US" altLang="zh-CN" sz="2400" dirty="0" err="1">
                <a:solidFill>
                  <a:srgbClr val="0000FF"/>
                </a:solidFill>
              </a:rPr>
              <a:t>root@localhost</a:t>
            </a:r>
            <a:r>
              <a:rPr lang="en-US" altLang="zh-CN" sz="2400" dirty="0">
                <a:solidFill>
                  <a:srgbClr val="0000FF"/>
                </a:solidFill>
              </a:rPr>
              <a:t> ~]# cat /</a:t>
            </a:r>
            <a:r>
              <a:rPr lang="en-US" altLang="zh-CN" sz="2400" dirty="0" err="1">
                <a:solidFill>
                  <a:srgbClr val="0000FF"/>
                </a:solidFill>
              </a:rPr>
              <a:t>etc</a:t>
            </a:r>
            <a:r>
              <a:rPr lang="en-US" altLang="zh-CN" sz="2400" dirty="0">
                <a:solidFill>
                  <a:srgbClr val="0000FF"/>
                </a:solidFill>
              </a:rPr>
              <a:t>/</a:t>
            </a:r>
            <a:r>
              <a:rPr lang="en-US" altLang="zh-CN" sz="2400" dirty="0" err="1">
                <a:solidFill>
                  <a:srgbClr val="0000FF"/>
                </a:solidFill>
              </a:rPr>
              <a:t>passwd</a:t>
            </a:r>
            <a:r>
              <a:rPr lang="en-US" altLang="zh-CN" sz="2400" dirty="0">
                <a:solidFill>
                  <a:srgbClr val="0000FF"/>
                </a:solidFill>
              </a:rPr>
              <a:t> | </a:t>
            </a:r>
            <a:r>
              <a:rPr lang="en-US" altLang="zh-CN" sz="2400" dirty="0" err="1">
                <a:solidFill>
                  <a:srgbClr val="0000FF"/>
                </a:solidFill>
              </a:rPr>
              <a:t>grep</a:t>
            </a:r>
            <a:r>
              <a:rPr lang="en-US" altLang="zh-CN" sz="2400" dirty="0">
                <a:solidFill>
                  <a:srgbClr val="0000FF"/>
                </a:solidFill>
              </a:rPr>
              <a:t> '^xl'</a:t>
            </a:r>
          </a:p>
          <a:p>
            <a:pPr marL="0" indent="0">
              <a:buNone/>
            </a:pPr>
            <a:r>
              <a:rPr lang="en-US" altLang="zh-CN" sz="2400" dirty="0"/>
              <a:t>xl:x:1000:1000:I am xl:/home/xl:/</a:t>
            </a:r>
            <a:r>
              <a:rPr lang="en-US" altLang="zh-CN" sz="2400" dirty="0" smtClean="0"/>
              <a:t>bin/bash</a:t>
            </a:r>
          </a:p>
          <a:p>
            <a:pPr marL="0" indent="0">
              <a:buNone/>
            </a:pPr>
            <a:endParaRPr lang="en-US" altLang="zh-CN" sz="2400" dirty="0"/>
          </a:p>
          <a:p>
            <a:pPr marL="0" indent="0">
              <a:buNone/>
            </a:pPr>
            <a:r>
              <a:rPr lang="en-US" altLang="zh-CN" sz="2400" dirty="0">
                <a:solidFill>
                  <a:srgbClr val="0000FF"/>
                </a:solidFill>
              </a:rPr>
              <a:t>[</a:t>
            </a:r>
            <a:r>
              <a:rPr lang="en-US" altLang="zh-CN" sz="2400" dirty="0" err="1">
                <a:solidFill>
                  <a:srgbClr val="0000FF"/>
                </a:solidFill>
              </a:rPr>
              <a:t>root@localhost</a:t>
            </a:r>
            <a:r>
              <a:rPr lang="en-US" altLang="zh-CN" sz="2400" dirty="0">
                <a:solidFill>
                  <a:srgbClr val="0000FF"/>
                </a:solidFill>
              </a:rPr>
              <a:t> ~]# usermod -l li_new -d /home/li_new -m </a:t>
            </a:r>
            <a:r>
              <a:rPr lang="en-US" altLang="zh-CN" sz="2400" dirty="0" smtClean="0">
                <a:solidFill>
                  <a:srgbClr val="0000FF"/>
                </a:solidFill>
              </a:rPr>
              <a:t>li2</a:t>
            </a:r>
          </a:p>
          <a:p>
            <a:pPr marL="0" indent="0">
              <a:buNone/>
            </a:pPr>
            <a:r>
              <a:rPr lang="en-US" altLang="zh-CN" sz="2400" dirty="0">
                <a:solidFill>
                  <a:srgbClr val="0000FF"/>
                </a:solidFill>
              </a:rPr>
              <a:t>[</a:t>
            </a:r>
            <a:r>
              <a:rPr lang="en-US" altLang="zh-CN" sz="2400" dirty="0" err="1">
                <a:solidFill>
                  <a:srgbClr val="0000FF"/>
                </a:solidFill>
              </a:rPr>
              <a:t>root@localhost</a:t>
            </a:r>
            <a:r>
              <a:rPr lang="en-US" altLang="zh-CN" sz="2400" dirty="0">
                <a:solidFill>
                  <a:srgbClr val="0000FF"/>
                </a:solidFill>
              </a:rPr>
              <a:t> ~]# cat /</a:t>
            </a:r>
            <a:r>
              <a:rPr lang="en-US" altLang="zh-CN" sz="2400" dirty="0" err="1">
                <a:solidFill>
                  <a:srgbClr val="0000FF"/>
                </a:solidFill>
              </a:rPr>
              <a:t>etc</a:t>
            </a:r>
            <a:r>
              <a:rPr lang="en-US" altLang="zh-CN" sz="2400" dirty="0">
                <a:solidFill>
                  <a:srgbClr val="0000FF"/>
                </a:solidFill>
              </a:rPr>
              <a:t>/</a:t>
            </a:r>
            <a:r>
              <a:rPr lang="en-US" altLang="zh-CN" sz="2400" dirty="0" err="1">
                <a:solidFill>
                  <a:srgbClr val="0000FF"/>
                </a:solidFill>
              </a:rPr>
              <a:t>passwd</a:t>
            </a:r>
            <a:r>
              <a:rPr lang="en-US" altLang="zh-CN" sz="2400" dirty="0">
                <a:solidFill>
                  <a:srgbClr val="0000FF"/>
                </a:solidFill>
              </a:rPr>
              <a:t> | </a:t>
            </a:r>
            <a:r>
              <a:rPr lang="en-US" altLang="zh-CN" sz="2400" dirty="0" err="1">
                <a:solidFill>
                  <a:srgbClr val="0000FF"/>
                </a:solidFill>
              </a:rPr>
              <a:t>grep</a:t>
            </a:r>
            <a:r>
              <a:rPr lang="en-US" altLang="zh-CN" sz="2400" dirty="0">
                <a:solidFill>
                  <a:srgbClr val="0000FF"/>
                </a:solidFill>
              </a:rPr>
              <a:t> '^li_new'</a:t>
            </a:r>
          </a:p>
          <a:p>
            <a:pPr marL="0" indent="0">
              <a:buNone/>
            </a:pPr>
            <a:r>
              <a:rPr lang="en-US" altLang="zh-CN" sz="2400" dirty="0"/>
              <a:t>li_new:x:2012:2012::/home/li_new:/bin/bash</a:t>
            </a:r>
          </a:p>
          <a:p>
            <a:pPr marL="0" indent="0">
              <a:buNone/>
            </a:pPr>
            <a:endParaRPr lang="en-US" altLang="zh-CN" sz="2400" dirty="0">
              <a:solidFill>
                <a:srgbClr val="0000FF"/>
              </a:solidFill>
            </a:endParaRPr>
          </a:p>
          <a:p>
            <a:pPr marL="0" indent="0">
              <a:buNone/>
            </a:pPr>
            <a:endParaRPr lang="zh-CN" altLang="en-US" dirty="0"/>
          </a:p>
        </p:txBody>
      </p:sp>
    </p:spTree>
    <p:extLst>
      <p:ext uri="{BB962C8B-B14F-4D97-AF65-F5344CB8AC3E}">
        <p14:creationId xmlns:p14="http://schemas.microsoft.com/office/powerpoint/2010/main" val="1031843959"/>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删除用户账号</a:t>
            </a:r>
            <a:r>
              <a:rPr lang="en-US" altLang="zh-CN" sz="4400" dirty="0"/>
              <a:t>—</a:t>
            </a:r>
            <a:r>
              <a:rPr lang="en-US" altLang="zh-CN" sz="4400" dirty="0" err="1"/>
              <a:t>userdel</a:t>
            </a:r>
            <a:endParaRPr lang="zh-CN" altLang="en-US" dirty="0"/>
          </a:p>
        </p:txBody>
      </p:sp>
      <p:sp>
        <p:nvSpPr>
          <p:cNvPr id="3" name="内容占位符 2"/>
          <p:cNvSpPr>
            <a:spLocks noGrp="1"/>
          </p:cNvSpPr>
          <p:nvPr>
            <p:ph idx="1"/>
          </p:nvPr>
        </p:nvSpPr>
        <p:spPr>
          <a:xfrm>
            <a:off x="971600" y="1275878"/>
            <a:ext cx="7975550" cy="4457377"/>
          </a:xfrm>
        </p:spPr>
        <p:txBody>
          <a:bodyPr/>
          <a:lstStyle/>
          <a:p>
            <a:r>
              <a:rPr lang="zh-CN" altLang="en-US" dirty="0"/>
              <a:t>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userdel</a:t>
            </a:r>
            <a:r>
              <a:rPr lang="en-US" altLang="zh-CN" b="1" dirty="0">
                <a:solidFill>
                  <a:schemeClr val="accent6">
                    <a:lumMod val="75000"/>
                  </a:schemeClr>
                </a:solidFill>
              </a:rPr>
              <a:t> [&lt;-r&gt;] &lt;</a:t>
            </a:r>
            <a:r>
              <a:rPr lang="zh-CN" altLang="en-US" b="1" dirty="0">
                <a:solidFill>
                  <a:schemeClr val="accent6">
                    <a:lumMod val="75000"/>
                  </a:schemeClr>
                </a:solidFill>
              </a:rPr>
              <a:t>用户名</a:t>
            </a:r>
            <a:r>
              <a:rPr lang="en-US" altLang="zh-CN" b="1" dirty="0">
                <a:solidFill>
                  <a:schemeClr val="accent6">
                    <a:lumMod val="75000"/>
                  </a:schemeClr>
                </a:solidFill>
              </a:rPr>
              <a:t>&gt;</a:t>
            </a:r>
          </a:p>
          <a:p>
            <a:pPr lvl="1"/>
            <a:r>
              <a:rPr lang="en-US" altLang="zh-CN" dirty="0">
                <a:solidFill>
                  <a:srgbClr val="FF0000"/>
                </a:solidFill>
              </a:rPr>
              <a:t>-r</a:t>
            </a:r>
            <a:r>
              <a:rPr lang="en-US" altLang="zh-CN" dirty="0"/>
              <a:t> </a:t>
            </a:r>
            <a:r>
              <a:rPr lang="zh-CN" altLang="en-US" dirty="0"/>
              <a:t>用于删除用户的宿主目录</a:t>
            </a:r>
          </a:p>
          <a:p>
            <a:pPr lvl="1"/>
            <a:r>
              <a:rPr lang="zh-CN" altLang="en-US" dirty="0"/>
              <a:t>删除用户相关数据</a:t>
            </a:r>
            <a:endParaRPr lang="en-US" altLang="zh-CN" dirty="0"/>
          </a:p>
          <a:p>
            <a:pPr lvl="2"/>
            <a:r>
              <a:rPr lang="zh-CN" altLang="en-US" dirty="0"/>
              <a:t>用户账号</a:t>
            </a:r>
            <a:r>
              <a:rPr lang="en-US" altLang="zh-CN" dirty="0"/>
              <a:t>/</a:t>
            </a:r>
            <a:r>
              <a:rPr lang="zh-CN" altLang="en-US" dirty="0"/>
              <a:t>口令相关参数：</a:t>
            </a:r>
            <a:r>
              <a:rPr lang="en-US" altLang="zh-CN" dirty="0">
                <a:solidFill>
                  <a:srgbClr val="FF0000"/>
                </a:solidFill>
              </a:rPr>
              <a:t>/</a:t>
            </a:r>
            <a:r>
              <a:rPr lang="en-US" altLang="zh-CN" dirty="0" err="1">
                <a:solidFill>
                  <a:srgbClr val="FF0000"/>
                </a:solidFill>
              </a:rPr>
              <a:t>etc</a:t>
            </a:r>
            <a:r>
              <a:rPr lang="en-US" altLang="zh-CN" dirty="0">
                <a:solidFill>
                  <a:srgbClr val="FF0000"/>
                </a:solidFill>
              </a:rPr>
              <a:t>/passwd, /</a:t>
            </a:r>
            <a:r>
              <a:rPr lang="en-US" altLang="zh-CN" dirty="0" err="1">
                <a:solidFill>
                  <a:srgbClr val="FF0000"/>
                </a:solidFill>
              </a:rPr>
              <a:t>etc</a:t>
            </a:r>
            <a:r>
              <a:rPr lang="en-US" altLang="zh-CN" dirty="0">
                <a:solidFill>
                  <a:srgbClr val="FF0000"/>
                </a:solidFill>
              </a:rPr>
              <a:t>/shadow</a:t>
            </a:r>
          </a:p>
          <a:p>
            <a:pPr lvl="2"/>
            <a:r>
              <a:rPr lang="zh-CN" altLang="en-US" dirty="0"/>
              <a:t>使用者群组相关参数：</a:t>
            </a:r>
            <a:r>
              <a:rPr lang="en-US" altLang="zh-CN" dirty="0">
                <a:solidFill>
                  <a:srgbClr val="FF0000"/>
                </a:solidFill>
              </a:rPr>
              <a:t>/</a:t>
            </a:r>
            <a:r>
              <a:rPr lang="en-US" altLang="zh-CN" dirty="0" err="1">
                <a:solidFill>
                  <a:srgbClr val="FF0000"/>
                </a:solidFill>
              </a:rPr>
              <a:t>etc</a:t>
            </a:r>
            <a:r>
              <a:rPr lang="en-US" altLang="zh-CN" dirty="0">
                <a:solidFill>
                  <a:srgbClr val="FF0000"/>
                </a:solidFill>
              </a:rPr>
              <a:t>/group, /</a:t>
            </a:r>
            <a:r>
              <a:rPr lang="en-US" altLang="zh-CN" dirty="0" err="1">
                <a:solidFill>
                  <a:srgbClr val="FF0000"/>
                </a:solidFill>
              </a:rPr>
              <a:t>etc</a:t>
            </a:r>
            <a:r>
              <a:rPr lang="en-US" altLang="zh-CN" dirty="0">
                <a:solidFill>
                  <a:srgbClr val="FF0000"/>
                </a:solidFill>
              </a:rPr>
              <a:t>/</a:t>
            </a:r>
            <a:r>
              <a:rPr lang="en-US" altLang="zh-CN" dirty="0" err="1">
                <a:solidFill>
                  <a:srgbClr val="FF0000"/>
                </a:solidFill>
              </a:rPr>
              <a:t>gshadow</a:t>
            </a:r>
            <a:endParaRPr lang="en-US" altLang="zh-CN" dirty="0">
              <a:solidFill>
                <a:srgbClr val="FF0000"/>
              </a:solidFill>
            </a:endParaRPr>
          </a:p>
          <a:p>
            <a:pPr lvl="2"/>
            <a:r>
              <a:rPr lang="zh-CN" altLang="en-US" dirty="0"/>
              <a:t>用户个人文件数据： </a:t>
            </a:r>
            <a:r>
              <a:rPr lang="en-US" altLang="zh-CN" dirty="0"/>
              <a:t>/home/username, /var/spool/mail/username..</a:t>
            </a:r>
          </a:p>
          <a:p>
            <a:r>
              <a:rPr lang="zh-CN" altLang="en-US" dirty="0"/>
              <a:t>举例：</a:t>
            </a:r>
          </a:p>
          <a:p>
            <a:pPr lvl="1">
              <a:spcBef>
                <a:spcPts val="0"/>
              </a:spcBef>
            </a:pPr>
            <a:r>
              <a:rPr lang="en-GB" altLang="zh-CN" dirty="0">
                <a:solidFill>
                  <a:schemeClr val="accent2">
                    <a:lumMod val="75000"/>
                  </a:schemeClr>
                </a:solidFill>
              </a:rPr>
              <a:t># </a:t>
            </a:r>
            <a:r>
              <a:rPr lang="en-GB" altLang="zh-CN" dirty="0" err="1">
                <a:solidFill>
                  <a:schemeClr val="accent2">
                    <a:lumMod val="75000"/>
                  </a:schemeClr>
                </a:solidFill>
              </a:rPr>
              <a:t>userdel</a:t>
            </a:r>
            <a:r>
              <a:rPr lang="en-GB" altLang="zh-CN" dirty="0">
                <a:solidFill>
                  <a:schemeClr val="accent2">
                    <a:lumMod val="75000"/>
                  </a:schemeClr>
                </a:solidFill>
              </a:rPr>
              <a:t> </a:t>
            </a:r>
            <a:r>
              <a:rPr lang="en-GB" altLang="zh-CN" dirty="0">
                <a:solidFill>
                  <a:schemeClr val="accent2">
                    <a:lumMod val="75000"/>
                  </a:schemeClr>
                </a:solidFill>
                <a:latin typeface="helvetica"/>
              </a:rPr>
              <a:t>–</a:t>
            </a:r>
            <a:r>
              <a:rPr lang="en-GB" altLang="zh-CN" dirty="0">
                <a:solidFill>
                  <a:schemeClr val="accent2">
                    <a:lumMod val="75000"/>
                  </a:schemeClr>
                </a:solidFill>
              </a:rPr>
              <a:t>r user1</a:t>
            </a:r>
          </a:p>
          <a:p>
            <a:endParaRPr lang="zh-CN" altLang="en-US" dirty="0"/>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添加组账号</a:t>
            </a:r>
            <a:r>
              <a:rPr lang="en-US" altLang="zh-CN" sz="4400" dirty="0"/>
              <a:t>—</a:t>
            </a:r>
            <a:r>
              <a:rPr lang="zh-CN" altLang="en-US" sz="4400" dirty="0"/>
              <a:t> </a:t>
            </a:r>
            <a:r>
              <a:rPr lang="en-US" altLang="zh-CN" sz="4400" dirty="0" err="1"/>
              <a:t>groupadd</a:t>
            </a:r>
            <a:endParaRPr lang="zh-CN" altLang="en-US" dirty="0"/>
          </a:p>
        </p:txBody>
      </p:sp>
      <p:sp>
        <p:nvSpPr>
          <p:cNvPr id="3" name="内容占位符 2"/>
          <p:cNvSpPr>
            <a:spLocks noGrp="1"/>
          </p:cNvSpPr>
          <p:nvPr>
            <p:ph idx="1"/>
          </p:nvPr>
        </p:nvSpPr>
        <p:spPr>
          <a:xfrm>
            <a:off x="685800" y="1484784"/>
            <a:ext cx="8134672" cy="4896544"/>
          </a:xfrm>
        </p:spPr>
        <p:txBody>
          <a:bodyPr/>
          <a:lstStyle/>
          <a:p>
            <a:r>
              <a:rPr lang="zh-CN" altLang="en-US" dirty="0"/>
              <a:t>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groupadd</a:t>
            </a:r>
            <a:r>
              <a:rPr lang="en-US" altLang="zh-CN" b="1" dirty="0">
                <a:solidFill>
                  <a:schemeClr val="accent6">
                    <a:lumMod val="75000"/>
                  </a:schemeClr>
                </a:solidFill>
              </a:rPr>
              <a:t> [&lt;</a:t>
            </a:r>
            <a:r>
              <a:rPr lang="zh-CN" altLang="en-US" b="1" dirty="0">
                <a:solidFill>
                  <a:schemeClr val="accent6">
                    <a:lumMod val="75000"/>
                  </a:schemeClr>
                </a:solidFill>
              </a:rPr>
              <a:t>参数</a:t>
            </a:r>
            <a:r>
              <a:rPr lang="en-US" altLang="zh-CN" b="1" dirty="0">
                <a:solidFill>
                  <a:schemeClr val="accent6">
                    <a:lumMod val="75000"/>
                  </a:schemeClr>
                </a:solidFill>
              </a:rPr>
              <a:t>&gt;] &lt;</a:t>
            </a:r>
            <a:r>
              <a:rPr lang="zh-CN" altLang="en-US" b="1" i="1" dirty="0">
                <a:solidFill>
                  <a:schemeClr val="accent6">
                    <a:lumMod val="75000"/>
                  </a:schemeClr>
                </a:solidFill>
              </a:rPr>
              <a:t>组账号名</a:t>
            </a:r>
            <a:r>
              <a:rPr lang="en-US" altLang="zh-CN" b="1" i="1" dirty="0">
                <a:solidFill>
                  <a:schemeClr val="accent6">
                    <a:lumMod val="75000"/>
                  </a:schemeClr>
                </a:solidFill>
              </a:rPr>
              <a:t>&gt;</a:t>
            </a:r>
          </a:p>
          <a:p>
            <a:r>
              <a:rPr lang="zh-CN" altLang="en-US" dirty="0"/>
              <a:t>常用参数</a:t>
            </a:r>
          </a:p>
          <a:p>
            <a:pPr lvl="1"/>
            <a:r>
              <a:rPr lang="en-US" altLang="zh-CN" dirty="0"/>
              <a:t>-r   </a:t>
            </a:r>
            <a:r>
              <a:rPr lang="zh-CN" altLang="en-US" dirty="0"/>
              <a:t>用于创建</a:t>
            </a:r>
            <a:r>
              <a:rPr lang="zh-CN" altLang="en-US" dirty="0">
                <a:solidFill>
                  <a:srgbClr val="FF0000"/>
                </a:solidFill>
              </a:rPr>
              <a:t>系统组账号</a:t>
            </a:r>
            <a:r>
              <a:rPr lang="zh-CN" altLang="en-US" dirty="0"/>
              <a:t>（</a:t>
            </a:r>
            <a:r>
              <a:rPr lang="en-US" altLang="zh-CN" dirty="0"/>
              <a:t>GID</a:t>
            </a:r>
            <a:r>
              <a:rPr lang="zh-CN" altLang="en-US" dirty="0"/>
              <a:t>小于</a:t>
            </a:r>
            <a:r>
              <a:rPr lang="en-US" altLang="zh-CN" dirty="0"/>
              <a:t>500 </a:t>
            </a:r>
            <a:r>
              <a:rPr lang="zh-CN" altLang="en-US" dirty="0"/>
              <a:t>）</a:t>
            </a:r>
          </a:p>
          <a:p>
            <a:pPr lvl="1"/>
            <a:r>
              <a:rPr lang="en-US" altLang="zh-CN" dirty="0"/>
              <a:t>-g  </a:t>
            </a:r>
            <a:r>
              <a:rPr lang="zh-CN" altLang="en-US" dirty="0"/>
              <a:t>用于指定</a:t>
            </a:r>
            <a:r>
              <a:rPr lang="en-US" altLang="zh-CN" dirty="0">
                <a:solidFill>
                  <a:srgbClr val="FF0000"/>
                </a:solidFill>
              </a:rPr>
              <a:t>GID</a:t>
            </a:r>
          </a:p>
          <a:p>
            <a:r>
              <a:rPr lang="zh-CN" altLang="en-US" dirty="0"/>
              <a:t>举例</a:t>
            </a:r>
          </a:p>
          <a:p>
            <a:pPr lvl="1"/>
            <a:r>
              <a:rPr lang="en-US" altLang="zh-CN" dirty="0">
                <a:solidFill>
                  <a:schemeClr val="accent2">
                    <a:lumMod val="75000"/>
                  </a:schemeClr>
                </a:solidFill>
              </a:rPr>
              <a:t># </a:t>
            </a:r>
            <a:r>
              <a:rPr lang="en-US" altLang="zh-CN" dirty="0" err="1">
                <a:solidFill>
                  <a:schemeClr val="accent2">
                    <a:lumMod val="75000"/>
                  </a:schemeClr>
                </a:solidFill>
              </a:rPr>
              <a:t>groupadd</a:t>
            </a:r>
            <a:r>
              <a:rPr lang="en-US" altLang="zh-CN" dirty="0">
                <a:solidFill>
                  <a:schemeClr val="accent2">
                    <a:lumMod val="75000"/>
                  </a:schemeClr>
                </a:solidFill>
              </a:rPr>
              <a:t> </a:t>
            </a:r>
            <a:r>
              <a:rPr lang="en-US" altLang="zh-CN" dirty="0" err="1">
                <a:solidFill>
                  <a:schemeClr val="accent2">
                    <a:lumMod val="75000"/>
                  </a:schemeClr>
                </a:solidFill>
              </a:rPr>
              <a:t>mygroup</a:t>
            </a:r>
            <a:r>
              <a:rPr lang="en-US" altLang="zh-CN" dirty="0">
                <a:solidFill>
                  <a:schemeClr val="accent2">
                    <a:lumMod val="75000"/>
                  </a:schemeClr>
                </a:solidFill>
              </a:rPr>
              <a:t> </a:t>
            </a:r>
          </a:p>
          <a:p>
            <a:pPr lvl="1"/>
            <a:r>
              <a:rPr lang="en-US" altLang="zh-CN" dirty="0">
                <a:solidFill>
                  <a:schemeClr val="accent2">
                    <a:lumMod val="75000"/>
                  </a:schemeClr>
                </a:solidFill>
              </a:rPr>
              <a:t># </a:t>
            </a:r>
            <a:r>
              <a:rPr lang="en-US" altLang="zh-CN" dirty="0" err="1">
                <a:solidFill>
                  <a:schemeClr val="accent2">
                    <a:lumMod val="75000"/>
                  </a:schemeClr>
                </a:solidFill>
              </a:rPr>
              <a:t>groupadd</a:t>
            </a:r>
            <a:r>
              <a:rPr lang="en-US" altLang="zh-CN" dirty="0">
                <a:solidFill>
                  <a:schemeClr val="accent2">
                    <a:lumMod val="75000"/>
                  </a:schemeClr>
                </a:solidFill>
              </a:rPr>
              <a:t> -r </a:t>
            </a:r>
            <a:r>
              <a:rPr lang="en-US" altLang="zh-CN" dirty="0" err="1">
                <a:solidFill>
                  <a:schemeClr val="accent2">
                    <a:lumMod val="75000"/>
                  </a:schemeClr>
                </a:solidFill>
              </a:rPr>
              <a:t>sysgroup</a:t>
            </a:r>
            <a:endParaRPr lang="en-US" altLang="zh-CN" dirty="0">
              <a:solidFill>
                <a:schemeClr val="accent2">
                  <a:lumMod val="75000"/>
                </a:schemeClr>
              </a:solidFill>
            </a:endParaRPr>
          </a:p>
          <a:p>
            <a:pPr lvl="1">
              <a:lnSpc>
                <a:spcPct val="93000"/>
              </a:lnSpc>
            </a:pPr>
            <a:r>
              <a:rPr lang="en-GB" altLang="zh-CN" dirty="0">
                <a:solidFill>
                  <a:schemeClr val="accent2">
                    <a:lumMod val="75000"/>
                  </a:schemeClr>
                </a:solidFill>
              </a:rPr>
              <a:t># </a:t>
            </a:r>
            <a:r>
              <a:rPr lang="en-GB" altLang="zh-CN" dirty="0" err="1">
                <a:solidFill>
                  <a:schemeClr val="accent2">
                    <a:lumMod val="75000"/>
                  </a:schemeClr>
                </a:solidFill>
              </a:rPr>
              <a:t>groupadd</a:t>
            </a:r>
            <a:r>
              <a:rPr lang="en-GB" altLang="zh-CN" dirty="0">
                <a:solidFill>
                  <a:schemeClr val="accent2">
                    <a:lumMod val="75000"/>
                  </a:schemeClr>
                </a:solidFill>
              </a:rPr>
              <a:t> </a:t>
            </a:r>
            <a:r>
              <a:rPr lang="en-US" altLang="zh-CN" dirty="0">
                <a:solidFill>
                  <a:schemeClr val="accent2">
                    <a:lumMod val="75000"/>
                  </a:schemeClr>
                </a:solidFill>
              </a:rPr>
              <a:t>-</a:t>
            </a:r>
            <a:r>
              <a:rPr lang="en-GB" altLang="zh-CN" dirty="0">
                <a:solidFill>
                  <a:schemeClr val="accent2">
                    <a:lumMod val="75000"/>
                  </a:schemeClr>
                </a:solidFill>
              </a:rPr>
              <a:t>g 888 group2</a:t>
            </a:r>
            <a:endParaRPr lang="zh-CN" altLang="en-US" dirty="0">
              <a:solidFill>
                <a:schemeClr val="accent2">
                  <a:lumMod val="75000"/>
                </a:schemeClr>
              </a:solidFill>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修改组账号</a:t>
            </a:r>
            <a:r>
              <a:rPr lang="en-US" altLang="zh-CN" sz="4400" dirty="0"/>
              <a:t>—</a:t>
            </a:r>
            <a:r>
              <a:rPr lang="zh-CN" altLang="en-US" sz="4400" dirty="0"/>
              <a:t> </a:t>
            </a:r>
            <a:r>
              <a:rPr lang="en-US" altLang="zh-CN" sz="4400" dirty="0" err="1"/>
              <a:t>groupmod</a:t>
            </a:r>
            <a:endParaRPr lang="zh-CN" altLang="en-US" dirty="0"/>
          </a:p>
        </p:txBody>
      </p:sp>
      <p:sp>
        <p:nvSpPr>
          <p:cNvPr id="3" name="内容占位符 2"/>
          <p:cNvSpPr>
            <a:spLocks noGrp="1"/>
          </p:cNvSpPr>
          <p:nvPr>
            <p:ph idx="1"/>
          </p:nvPr>
        </p:nvSpPr>
        <p:spPr/>
        <p:txBody>
          <a:bodyPr/>
          <a:lstStyle/>
          <a:p>
            <a:r>
              <a:rPr lang="zh-CN" altLang="en-US" dirty="0"/>
              <a:t>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groupmod</a:t>
            </a:r>
            <a:r>
              <a:rPr lang="en-US" altLang="zh-CN" b="1" dirty="0">
                <a:solidFill>
                  <a:schemeClr val="accent6">
                    <a:lumMod val="75000"/>
                  </a:schemeClr>
                </a:solidFill>
              </a:rPr>
              <a:t> [&lt;</a:t>
            </a:r>
            <a:r>
              <a:rPr lang="zh-CN" altLang="en-US" b="1" dirty="0">
                <a:solidFill>
                  <a:schemeClr val="accent6">
                    <a:lumMod val="75000"/>
                  </a:schemeClr>
                </a:solidFill>
              </a:rPr>
              <a:t>参数</a:t>
            </a:r>
            <a:r>
              <a:rPr lang="en-US" altLang="zh-CN" b="1" dirty="0">
                <a:solidFill>
                  <a:schemeClr val="accent6">
                    <a:lumMod val="75000"/>
                  </a:schemeClr>
                </a:solidFill>
              </a:rPr>
              <a:t>&gt;] &lt;</a:t>
            </a:r>
            <a:r>
              <a:rPr lang="zh-CN" altLang="en-US" b="1" i="1" dirty="0">
                <a:solidFill>
                  <a:schemeClr val="accent6">
                    <a:lumMod val="75000"/>
                  </a:schemeClr>
                </a:solidFill>
              </a:rPr>
              <a:t>组账号名</a:t>
            </a:r>
            <a:r>
              <a:rPr lang="en-US" altLang="zh-CN" b="1" i="1" dirty="0">
                <a:solidFill>
                  <a:schemeClr val="accent6">
                    <a:lumMod val="75000"/>
                  </a:schemeClr>
                </a:solidFill>
              </a:rPr>
              <a:t>&gt;</a:t>
            </a:r>
          </a:p>
          <a:p>
            <a:r>
              <a:rPr lang="zh-CN" altLang="en-US" dirty="0"/>
              <a:t>常用参数</a:t>
            </a:r>
          </a:p>
          <a:p>
            <a:pPr lvl="1"/>
            <a:r>
              <a:rPr lang="en-US" altLang="zh-CN" dirty="0">
                <a:solidFill>
                  <a:srgbClr val="FF0000"/>
                </a:solidFill>
              </a:rPr>
              <a:t>-g</a:t>
            </a:r>
            <a:r>
              <a:rPr lang="en-US" altLang="zh-CN" dirty="0"/>
              <a:t>  </a:t>
            </a:r>
            <a:r>
              <a:rPr lang="zh-CN" altLang="en-US" dirty="0"/>
              <a:t>改变</a:t>
            </a:r>
            <a:r>
              <a:rPr lang="zh-CN" altLang="en-US" dirty="0">
                <a:solidFill>
                  <a:srgbClr val="FF0000"/>
                </a:solidFill>
              </a:rPr>
              <a:t>组账号的</a:t>
            </a:r>
            <a:r>
              <a:rPr lang="en-US" altLang="zh-CN" dirty="0">
                <a:solidFill>
                  <a:srgbClr val="FF0000"/>
                </a:solidFill>
              </a:rPr>
              <a:t>GID </a:t>
            </a:r>
            <a:r>
              <a:rPr lang="zh-CN" altLang="en-US" dirty="0"/>
              <a:t>，组账号名保持不变 </a:t>
            </a:r>
          </a:p>
          <a:p>
            <a:pPr lvl="1"/>
            <a:r>
              <a:rPr lang="en-US" altLang="zh-CN" dirty="0">
                <a:solidFill>
                  <a:srgbClr val="FF0000"/>
                </a:solidFill>
              </a:rPr>
              <a:t>-n  </a:t>
            </a:r>
            <a:r>
              <a:rPr lang="zh-CN" altLang="en-US" dirty="0"/>
              <a:t>改变</a:t>
            </a:r>
            <a:r>
              <a:rPr lang="zh-CN" altLang="en-US" dirty="0">
                <a:solidFill>
                  <a:srgbClr val="FF0000"/>
                </a:solidFill>
              </a:rPr>
              <a:t>组账号名 </a:t>
            </a:r>
          </a:p>
          <a:p>
            <a:r>
              <a:rPr lang="zh-CN" altLang="en-US" dirty="0"/>
              <a:t>举例</a:t>
            </a:r>
          </a:p>
          <a:p>
            <a:pPr lvl="1"/>
            <a:r>
              <a:rPr lang="en-US" altLang="zh-CN" dirty="0">
                <a:solidFill>
                  <a:schemeClr val="accent2">
                    <a:lumMod val="75000"/>
                  </a:schemeClr>
                </a:solidFill>
              </a:rPr>
              <a:t>#</a:t>
            </a:r>
            <a:r>
              <a:rPr lang="en-US" altLang="zh-CN" dirty="0">
                <a:solidFill>
                  <a:schemeClr val="accent2">
                    <a:lumMod val="75000"/>
                  </a:schemeClr>
                </a:solidFill>
                <a:latin typeface="helvetica"/>
              </a:rPr>
              <a:t> </a:t>
            </a:r>
            <a:r>
              <a:rPr lang="en-US" altLang="zh-CN" dirty="0" err="1">
                <a:solidFill>
                  <a:schemeClr val="accent2">
                    <a:lumMod val="75000"/>
                  </a:schemeClr>
                </a:solidFill>
              </a:rPr>
              <a:t>groupmod</a:t>
            </a:r>
            <a:r>
              <a:rPr lang="en-US" altLang="zh-CN" dirty="0">
                <a:solidFill>
                  <a:schemeClr val="accent2">
                    <a:lumMod val="75000"/>
                  </a:schemeClr>
                </a:solidFill>
                <a:latin typeface="helvetica"/>
              </a:rPr>
              <a:t> </a:t>
            </a:r>
            <a:r>
              <a:rPr lang="en-US" altLang="zh-CN" dirty="0">
                <a:solidFill>
                  <a:schemeClr val="accent2">
                    <a:lumMod val="75000"/>
                  </a:schemeClr>
                </a:solidFill>
              </a:rPr>
              <a:t>-g</a:t>
            </a:r>
            <a:r>
              <a:rPr lang="en-US" altLang="zh-CN" dirty="0">
                <a:solidFill>
                  <a:schemeClr val="accent2">
                    <a:lumMod val="75000"/>
                  </a:schemeClr>
                </a:solidFill>
                <a:latin typeface="helvetica"/>
              </a:rPr>
              <a:t> </a:t>
            </a:r>
            <a:r>
              <a:rPr lang="en-US" altLang="zh-CN" dirty="0">
                <a:solidFill>
                  <a:schemeClr val="accent2">
                    <a:lumMod val="75000"/>
                  </a:schemeClr>
                </a:solidFill>
              </a:rPr>
              <a:t>503</a:t>
            </a:r>
            <a:r>
              <a:rPr lang="en-US" altLang="zh-CN" dirty="0">
                <a:solidFill>
                  <a:schemeClr val="accent2">
                    <a:lumMod val="75000"/>
                  </a:schemeClr>
                </a:solidFill>
                <a:latin typeface="helvetica"/>
              </a:rPr>
              <a:t> </a:t>
            </a:r>
            <a:r>
              <a:rPr lang="en-US" altLang="zh-CN" dirty="0" err="1">
                <a:solidFill>
                  <a:schemeClr val="accent2">
                    <a:lumMod val="75000"/>
                  </a:schemeClr>
                </a:solidFill>
              </a:rPr>
              <a:t>mygroup</a:t>
            </a:r>
            <a:r>
              <a:rPr lang="en-US" altLang="zh-CN" dirty="0">
                <a:solidFill>
                  <a:schemeClr val="accent2">
                    <a:lumMod val="75000"/>
                  </a:schemeClr>
                </a:solidFill>
              </a:rPr>
              <a:t> </a:t>
            </a:r>
          </a:p>
          <a:p>
            <a:pPr lvl="1"/>
            <a:r>
              <a:rPr lang="en-GB" altLang="zh-CN" dirty="0">
                <a:solidFill>
                  <a:schemeClr val="accent2">
                    <a:lumMod val="75000"/>
                  </a:schemeClr>
                </a:solidFill>
              </a:rPr>
              <a:t># </a:t>
            </a:r>
            <a:r>
              <a:rPr lang="en-GB" altLang="zh-CN" dirty="0" err="1">
                <a:solidFill>
                  <a:schemeClr val="accent2">
                    <a:lumMod val="75000"/>
                  </a:schemeClr>
                </a:solidFill>
              </a:rPr>
              <a:t>groupmod</a:t>
            </a:r>
            <a:r>
              <a:rPr lang="en-GB" altLang="zh-CN" dirty="0">
                <a:solidFill>
                  <a:schemeClr val="accent2">
                    <a:lumMod val="75000"/>
                  </a:schemeClr>
                </a:solidFill>
              </a:rPr>
              <a:t> </a:t>
            </a:r>
            <a:r>
              <a:rPr lang="en-GB" altLang="zh-CN" dirty="0">
                <a:solidFill>
                  <a:schemeClr val="accent2">
                    <a:lumMod val="75000"/>
                  </a:schemeClr>
                </a:solidFill>
                <a:latin typeface="helvetica"/>
              </a:rPr>
              <a:t>–</a:t>
            </a:r>
            <a:r>
              <a:rPr lang="en-GB" altLang="zh-CN" dirty="0">
                <a:solidFill>
                  <a:schemeClr val="accent2">
                    <a:lumMod val="75000"/>
                  </a:schemeClr>
                </a:solidFill>
              </a:rPr>
              <a:t>n </a:t>
            </a:r>
            <a:r>
              <a:rPr lang="en-US" altLang="zh-CN" b="1" dirty="0" err="1">
                <a:solidFill>
                  <a:schemeClr val="accent2">
                    <a:lumMod val="75000"/>
                  </a:schemeClr>
                </a:solidFill>
              </a:rPr>
              <a:t>newgroup</a:t>
            </a:r>
            <a:r>
              <a:rPr lang="en-US" altLang="zh-CN" b="1" dirty="0">
                <a:solidFill>
                  <a:schemeClr val="accent2">
                    <a:lumMod val="75000"/>
                  </a:schemeClr>
                </a:solidFill>
              </a:rPr>
              <a:t> </a:t>
            </a:r>
            <a:r>
              <a:rPr lang="en-US" altLang="zh-CN" b="1" dirty="0" err="1">
                <a:solidFill>
                  <a:schemeClr val="accent2">
                    <a:lumMod val="75000"/>
                  </a:schemeClr>
                </a:solidFill>
              </a:rPr>
              <a:t>mygroup</a:t>
            </a:r>
            <a:r>
              <a:rPr lang="en-US" altLang="zh-CN" dirty="0">
                <a:solidFill>
                  <a:schemeClr val="accent2">
                    <a:lumMod val="75000"/>
                  </a:schemeClr>
                </a:solidFill>
              </a:rPr>
              <a:t> </a:t>
            </a:r>
          </a:p>
          <a:p>
            <a:endParaRPr lang="zh-CN" altLang="en-US" dirty="0"/>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删除组账号</a:t>
            </a:r>
            <a:r>
              <a:rPr lang="en-US" altLang="zh-CN" sz="4400" dirty="0"/>
              <a:t>—</a:t>
            </a:r>
            <a:r>
              <a:rPr lang="zh-CN" altLang="en-US" sz="4400" dirty="0"/>
              <a:t> </a:t>
            </a:r>
            <a:r>
              <a:rPr lang="en-US" altLang="zh-CN" sz="4400" dirty="0" err="1"/>
              <a:t>groupdel</a:t>
            </a:r>
            <a:endParaRPr lang="zh-CN" altLang="en-US" dirty="0"/>
          </a:p>
        </p:txBody>
      </p:sp>
      <p:sp>
        <p:nvSpPr>
          <p:cNvPr id="3" name="内容占位符 2"/>
          <p:cNvSpPr>
            <a:spLocks noGrp="1"/>
          </p:cNvSpPr>
          <p:nvPr>
            <p:ph idx="1"/>
          </p:nvPr>
        </p:nvSpPr>
        <p:spPr>
          <a:xfrm>
            <a:off x="827584" y="1340768"/>
            <a:ext cx="7772400" cy="5081736"/>
          </a:xfrm>
        </p:spPr>
        <p:txBody>
          <a:bodyPr/>
          <a:lstStyle/>
          <a:p>
            <a:r>
              <a:rPr lang="zh-CN" altLang="en-US" dirty="0"/>
              <a:t>格式</a:t>
            </a:r>
          </a:p>
          <a:p>
            <a:pPr lvl="1">
              <a:buNone/>
            </a:pPr>
            <a:r>
              <a:rPr lang="en-US" altLang="zh-CN" b="1" dirty="0">
                <a:solidFill>
                  <a:schemeClr val="accent6">
                    <a:lumMod val="75000"/>
                  </a:schemeClr>
                </a:solidFill>
              </a:rPr>
              <a:t># </a:t>
            </a:r>
            <a:r>
              <a:rPr lang="en-US" altLang="zh-CN" b="1" dirty="0" err="1">
                <a:solidFill>
                  <a:schemeClr val="accent6">
                    <a:lumMod val="75000"/>
                  </a:schemeClr>
                </a:solidFill>
              </a:rPr>
              <a:t>groupdel</a:t>
            </a:r>
            <a:r>
              <a:rPr lang="en-US" altLang="zh-CN" b="1" dirty="0">
                <a:solidFill>
                  <a:schemeClr val="accent6">
                    <a:lumMod val="75000"/>
                  </a:schemeClr>
                </a:solidFill>
              </a:rPr>
              <a:t> &lt;</a:t>
            </a:r>
            <a:r>
              <a:rPr lang="zh-CN" altLang="en-US" b="1" i="1" dirty="0">
                <a:solidFill>
                  <a:schemeClr val="accent6">
                    <a:lumMod val="75000"/>
                  </a:schemeClr>
                </a:solidFill>
              </a:rPr>
              <a:t>组账号名</a:t>
            </a:r>
            <a:r>
              <a:rPr lang="en-US" altLang="zh-CN" b="1" i="1" dirty="0">
                <a:solidFill>
                  <a:schemeClr val="accent6">
                    <a:lumMod val="75000"/>
                  </a:schemeClr>
                </a:solidFill>
              </a:rPr>
              <a:t>&gt;</a:t>
            </a:r>
          </a:p>
          <a:p>
            <a:r>
              <a:rPr lang="zh-CN" altLang="en-US" dirty="0"/>
              <a:t>举例</a:t>
            </a:r>
          </a:p>
          <a:p>
            <a:pPr lvl="1">
              <a:buNone/>
            </a:pPr>
            <a:r>
              <a:rPr lang="en-US" altLang="zh-CN" dirty="0">
                <a:solidFill>
                  <a:schemeClr val="accent2">
                    <a:lumMod val="75000"/>
                  </a:schemeClr>
                </a:solidFill>
              </a:rPr>
              <a:t>#</a:t>
            </a:r>
            <a:r>
              <a:rPr lang="en-US" altLang="zh-CN" dirty="0">
                <a:solidFill>
                  <a:schemeClr val="accent2">
                    <a:lumMod val="75000"/>
                  </a:schemeClr>
                </a:solidFill>
                <a:latin typeface="helvetica"/>
              </a:rPr>
              <a:t> </a:t>
            </a:r>
            <a:r>
              <a:rPr lang="en-US" altLang="zh-CN" dirty="0" err="1">
                <a:solidFill>
                  <a:schemeClr val="accent2">
                    <a:lumMod val="75000"/>
                  </a:schemeClr>
                </a:solidFill>
              </a:rPr>
              <a:t>groupdel</a:t>
            </a:r>
            <a:r>
              <a:rPr lang="en-US" altLang="zh-CN" dirty="0">
                <a:solidFill>
                  <a:schemeClr val="accent2">
                    <a:lumMod val="75000"/>
                  </a:schemeClr>
                </a:solidFill>
                <a:latin typeface="helvetica"/>
              </a:rPr>
              <a:t>  </a:t>
            </a:r>
            <a:r>
              <a:rPr lang="en-US" altLang="zh-CN" dirty="0" err="1">
                <a:solidFill>
                  <a:schemeClr val="accent2">
                    <a:lumMod val="75000"/>
                  </a:schemeClr>
                </a:solidFill>
              </a:rPr>
              <a:t>mygroup</a:t>
            </a:r>
            <a:r>
              <a:rPr lang="en-US" altLang="zh-CN" dirty="0">
                <a:solidFill>
                  <a:schemeClr val="accent2">
                    <a:lumMod val="75000"/>
                  </a:schemeClr>
                </a:solidFill>
              </a:rPr>
              <a:t> </a:t>
            </a:r>
          </a:p>
          <a:p>
            <a:r>
              <a:rPr lang="zh-CN" altLang="en-US" dirty="0"/>
              <a:t>注意</a:t>
            </a:r>
          </a:p>
          <a:p>
            <a:pPr lvl="1"/>
            <a:r>
              <a:rPr lang="zh-CN" altLang="en-US" dirty="0"/>
              <a:t>被删除的</a:t>
            </a:r>
            <a:r>
              <a:rPr lang="zh-CN" altLang="en-US" dirty="0">
                <a:solidFill>
                  <a:srgbClr val="FF0000"/>
                </a:solidFill>
              </a:rPr>
              <a:t>组账号</a:t>
            </a:r>
            <a:r>
              <a:rPr lang="zh-CN" altLang="en-US" dirty="0"/>
              <a:t>必须</a:t>
            </a:r>
            <a:r>
              <a:rPr lang="zh-CN" altLang="en-US" dirty="0">
                <a:solidFill>
                  <a:srgbClr val="FF0000"/>
                </a:solidFill>
              </a:rPr>
              <a:t>存在</a:t>
            </a:r>
            <a:r>
              <a:rPr lang="zh-CN" altLang="en-US" dirty="0"/>
              <a:t> </a:t>
            </a:r>
          </a:p>
          <a:p>
            <a:pPr lvl="1"/>
            <a:r>
              <a:rPr lang="zh-CN" altLang="en-US" dirty="0"/>
              <a:t>当有用户使用</a:t>
            </a:r>
            <a:r>
              <a:rPr lang="zh-CN" altLang="en-US" dirty="0">
                <a:solidFill>
                  <a:srgbClr val="FF0000"/>
                </a:solidFill>
              </a:rPr>
              <a:t>组账号作为私有组</a:t>
            </a:r>
            <a:r>
              <a:rPr lang="zh-CN" altLang="en-US" dirty="0"/>
              <a:t>时</a:t>
            </a:r>
            <a:r>
              <a:rPr lang="zh-CN" altLang="en-US" dirty="0">
                <a:solidFill>
                  <a:srgbClr val="FF0000"/>
                </a:solidFill>
              </a:rPr>
              <a:t>不能删除</a:t>
            </a:r>
          </a:p>
          <a:p>
            <a:pPr lvl="1"/>
            <a:r>
              <a:rPr lang="zh-CN" altLang="en-US" dirty="0"/>
              <a:t>与</a:t>
            </a:r>
            <a:r>
              <a:rPr lang="zh-CN" altLang="en-US" dirty="0">
                <a:solidFill>
                  <a:srgbClr val="FF0000"/>
                </a:solidFill>
              </a:rPr>
              <a:t>用户名同名的私有组账号</a:t>
            </a:r>
            <a:r>
              <a:rPr lang="zh-CN" altLang="en-US" dirty="0"/>
              <a:t>在使用</a:t>
            </a:r>
            <a:r>
              <a:rPr lang="en-US" altLang="zh-CN" dirty="0" err="1">
                <a:solidFill>
                  <a:srgbClr val="FF0000"/>
                </a:solidFill>
              </a:rPr>
              <a:t>userdel</a:t>
            </a:r>
            <a:r>
              <a:rPr lang="zh-CN" altLang="en-US" dirty="0"/>
              <a:t>命令删除用户时被</a:t>
            </a:r>
            <a:r>
              <a:rPr lang="zh-CN" altLang="en-US" dirty="0">
                <a:solidFill>
                  <a:srgbClr val="FF0000"/>
                </a:solidFill>
              </a:rPr>
              <a:t>同时删除</a:t>
            </a:r>
            <a:r>
              <a:rPr lang="zh-CN" altLang="en-US" dirty="0"/>
              <a:t>，无需使用</a:t>
            </a:r>
            <a:r>
              <a:rPr lang="en-US" altLang="zh-CN" dirty="0" err="1"/>
              <a:t>groupdel</a:t>
            </a:r>
            <a:r>
              <a:rPr lang="zh-CN" altLang="en-US" dirty="0"/>
              <a:t>命令 </a:t>
            </a: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组成员管理</a:t>
            </a:r>
            <a:r>
              <a:rPr lang="en-US" altLang="zh-CN" dirty="0"/>
              <a:t>—gpasswd</a:t>
            </a:r>
            <a:endParaRPr lang="zh-CN" altLang="en-US" dirty="0"/>
          </a:p>
        </p:txBody>
      </p:sp>
      <p:sp>
        <p:nvSpPr>
          <p:cNvPr id="3" name="内容占位符 2"/>
          <p:cNvSpPr>
            <a:spLocks noGrp="1"/>
          </p:cNvSpPr>
          <p:nvPr>
            <p:ph idx="1"/>
          </p:nvPr>
        </p:nvSpPr>
        <p:spPr>
          <a:xfrm>
            <a:off x="611560" y="1272802"/>
            <a:ext cx="8204448" cy="5585197"/>
          </a:xfrm>
        </p:spPr>
        <p:txBody>
          <a:bodyPr/>
          <a:lstStyle/>
          <a:p>
            <a:r>
              <a:rPr lang="zh-CN" altLang="en-US" dirty="0"/>
              <a:t>为标准组</a:t>
            </a:r>
            <a:r>
              <a:rPr lang="zh-CN" altLang="en-US" dirty="0">
                <a:solidFill>
                  <a:srgbClr val="FF0000"/>
                </a:solidFill>
              </a:rPr>
              <a:t>添加组管理员 </a:t>
            </a:r>
          </a:p>
          <a:p>
            <a:pPr lvl="1">
              <a:spcBef>
                <a:spcPts val="300"/>
              </a:spcBef>
            </a:pPr>
            <a:r>
              <a:rPr lang="en-US" altLang="zh-CN" dirty="0"/>
              <a:t>gpasswd -A &lt;</a:t>
            </a:r>
            <a:r>
              <a:rPr lang="zh-CN" altLang="en-US" dirty="0"/>
              <a:t>管理员账号</a:t>
            </a:r>
            <a:r>
              <a:rPr lang="en-US" altLang="zh-CN" dirty="0"/>
              <a:t>&gt; &lt;</a:t>
            </a:r>
            <a:r>
              <a:rPr lang="zh-CN" altLang="en-US" dirty="0"/>
              <a:t>组账号名</a:t>
            </a:r>
            <a:r>
              <a:rPr lang="en-US" altLang="zh-CN" dirty="0"/>
              <a:t>&gt; </a:t>
            </a:r>
          </a:p>
          <a:p>
            <a:pPr lvl="1">
              <a:spcBef>
                <a:spcPts val="300"/>
              </a:spcBef>
              <a:buNone/>
            </a:pPr>
            <a:r>
              <a:rPr lang="en-US" altLang="zh-CN" dirty="0">
                <a:solidFill>
                  <a:schemeClr val="accent6">
                    <a:lumMod val="75000"/>
                  </a:schemeClr>
                </a:solidFill>
              </a:rPr>
              <a:t># gpasswd -A user1 staff </a:t>
            </a:r>
          </a:p>
          <a:p>
            <a:r>
              <a:rPr lang="zh-CN" altLang="en-US" dirty="0"/>
              <a:t>向标准组中</a:t>
            </a:r>
            <a:r>
              <a:rPr lang="zh-CN" altLang="en-US" dirty="0">
                <a:solidFill>
                  <a:srgbClr val="FF0000"/>
                </a:solidFill>
              </a:rPr>
              <a:t>添加用户 </a:t>
            </a:r>
          </a:p>
          <a:p>
            <a:pPr lvl="1">
              <a:spcBef>
                <a:spcPts val="300"/>
              </a:spcBef>
            </a:pPr>
            <a:r>
              <a:rPr lang="en-US" altLang="zh-CN" dirty="0"/>
              <a:t>gpasswd -a &lt;</a:t>
            </a:r>
            <a:r>
              <a:rPr lang="zh-CN" altLang="en-US" dirty="0"/>
              <a:t>用户账号名</a:t>
            </a:r>
            <a:r>
              <a:rPr lang="en-US" altLang="zh-CN" dirty="0"/>
              <a:t>&gt; &lt;</a:t>
            </a:r>
            <a:r>
              <a:rPr lang="zh-CN" altLang="en-US" dirty="0"/>
              <a:t>组账号名</a:t>
            </a:r>
            <a:r>
              <a:rPr lang="en-US" altLang="zh-CN" dirty="0"/>
              <a:t>&gt; </a:t>
            </a:r>
          </a:p>
          <a:p>
            <a:pPr lvl="1">
              <a:spcBef>
                <a:spcPts val="300"/>
              </a:spcBef>
              <a:buNone/>
            </a:pPr>
            <a:r>
              <a:rPr lang="en-US" altLang="zh-CN" dirty="0">
                <a:solidFill>
                  <a:schemeClr val="accent6">
                    <a:lumMod val="75000"/>
                  </a:schemeClr>
                </a:solidFill>
              </a:rPr>
              <a:t># gpasswd -a user1 staff </a:t>
            </a:r>
          </a:p>
          <a:p>
            <a:pPr lvl="1">
              <a:spcBef>
                <a:spcPts val="300"/>
              </a:spcBef>
            </a:pPr>
            <a:r>
              <a:rPr lang="en-US" altLang="zh-CN" dirty="0"/>
              <a:t>usermod -G &lt;</a:t>
            </a:r>
            <a:r>
              <a:rPr lang="zh-CN" altLang="en-US" dirty="0"/>
              <a:t>组账号名</a:t>
            </a:r>
            <a:r>
              <a:rPr lang="en-US" altLang="zh-CN" dirty="0"/>
              <a:t>&gt; &lt;</a:t>
            </a:r>
            <a:r>
              <a:rPr lang="zh-CN" altLang="en-US" dirty="0"/>
              <a:t>用户账号名</a:t>
            </a:r>
            <a:r>
              <a:rPr lang="en-US" altLang="zh-CN" dirty="0"/>
              <a:t>&gt; </a:t>
            </a:r>
          </a:p>
          <a:p>
            <a:pPr lvl="1">
              <a:spcBef>
                <a:spcPts val="300"/>
              </a:spcBef>
              <a:buNone/>
            </a:pPr>
            <a:r>
              <a:rPr lang="en-US" altLang="zh-CN" dirty="0">
                <a:solidFill>
                  <a:schemeClr val="accent6">
                    <a:lumMod val="75000"/>
                  </a:schemeClr>
                </a:solidFill>
              </a:rPr>
              <a:t># usermod -G  staff  user1</a:t>
            </a:r>
          </a:p>
          <a:p>
            <a:r>
              <a:rPr lang="zh-CN" altLang="en-US" dirty="0"/>
              <a:t>从标准组中</a:t>
            </a:r>
            <a:r>
              <a:rPr lang="zh-CN" altLang="en-US" dirty="0">
                <a:solidFill>
                  <a:srgbClr val="FF0000"/>
                </a:solidFill>
              </a:rPr>
              <a:t>删除用户 </a:t>
            </a:r>
          </a:p>
          <a:p>
            <a:pPr lvl="1">
              <a:spcBef>
                <a:spcPts val="300"/>
              </a:spcBef>
            </a:pPr>
            <a:r>
              <a:rPr lang="en-US" altLang="zh-CN" dirty="0"/>
              <a:t>gpasswd -d &lt;</a:t>
            </a:r>
            <a:r>
              <a:rPr lang="zh-CN" altLang="en-US" dirty="0"/>
              <a:t>用户账号名</a:t>
            </a:r>
            <a:r>
              <a:rPr lang="en-US" altLang="zh-CN" dirty="0"/>
              <a:t>&gt; &lt;</a:t>
            </a:r>
            <a:r>
              <a:rPr lang="zh-CN" altLang="en-US" dirty="0"/>
              <a:t>组账号名</a:t>
            </a:r>
            <a:r>
              <a:rPr lang="en-US" altLang="zh-CN" dirty="0"/>
              <a:t>&gt; </a:t>
            </a:r>
          </a:p>
          <a:p>
            <a:pPr lvl="1">
              <a:spcBef>
                <a:spcPts val="300"/>
              </a:spcBef>
              <a:buNone/>
            </a:pPr>
            <a:r>
              <a:rPr lang="en-US" altLang="zh-CN" dirty="0">
                <a:solidFill>
                  <a:schemeClr val="accent6">
                    <a:lumMod val="75000"/>
                  </a:schemeClr>
                </a:solidFill>
              </a:rPr>
              <a:t># gpasswd -d user1 staff</a:t>
            </a:r>
            <a:endParaRPr lang="zh-CN" altLang="en-US"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p>
        </p:txBody>
      </p:sp>
      <p:sp>
        <p:nvSpPr>
          <p:cNvPr id="3" name="内容占位符 2"/>
          <p:cNvSpPr>
            <a:spLocks noGrp="1"/>
          </p:cNvSpPr>
          <p:nvPr>
            <p:ph idx="1"/>
          </p:nvPr>
        </p:nvSpPr>
        <p:spPr>
          <a:xfrm>
            <a:off x="899592" y="1272802"/>
            <a:ext cx="7772400" cy="5396557"/>
          </a:xfrm>
        </p:spPr>
        <p:txBody>
          <a:bodyPr/>
          <a:lstStyle/>
          <a:p>
            <a:pPr>
              <a:lnSpc>
                <a:spcPct val="80000"/>
              </a:lnSpc>
            </a:pPr>
            <a:r>
              <a:rPr lang="en-US" altLang="zh-CN" dirty="0" err="1"/>
              <a:t>su</a:t>
            </a:r>
            <a:endParaRPr lang="en-US" altLang="zh-CN" dirty="0"/>
          </a:p>
          <a:p>
            <a:pPr lvl="1">
              <a:lnSpc>
                <a:spcPct val="110000"/>
              </a:lnSpc>
            </a:pPr>
            <a:r>
              <a:rPr lang="zh-CN" altLang="en-US" sz="2400" dirty="0"/>
              <a:t>直接切换为超级用户</a:t>
            </a:r>
          </a:p>
          <a:p>
            <a:pPr lvl="1">
              <a:lnSpc>
                <a:spcPct val="110000"/>
              </a:lnSpc>
            </a:pPr>
            <a:r>
              <a:rPr lang="zh-CN" altLang="en-US" sz="2400" dirty="0"/>
              <a:t>普通用户切换为超级用户</a:t>
            </a:r>
            <a:r>
              <a:rPr lang="zh-CN" altLang="en-US" sz="2400" dirty="0">
                <a:solidFill>
                  <a:srgbClr val="FF0000"/>
                </a:solidFill>
              </a:rPr>
              <a:t>必须知道超级用户的口令</a:t>
            </a:r>
          </a:p>
          <a:p>
            <a:pPr lvl="1">
              <a:lnSpc>
                <a:spcPct val="110000"/>
              </a:lnSpc>
            </a:pPr>
            <a:r>
              <a:rPr lang="zh-CN" altLang="en-US" sz="2400" dirty="0">
                <a:solidFill>
                  <a:srgbClr val="FF0000"/>
                </a:solidFill>
              </a:rPr>
              <a:t>适用于</a:t>
            </a:r>
            <a:r>
              <a:rPr lang="zh-CN" altLang="en-US" sz="2400" dirty="0"/>
              <a:t>系统中只有</a:t>
            </a:r>
            <a:r>
              <a:rPr lang="zh-CN" altLang="en-US" sz="2400" dirty="0">
                <a:solidFill>
                  <a:srgbClr val="FF0000"/>
                </a:solidFill>
              </a:rPr>
              <a:t>单个系统管理员</a:t>
            </a:r>
            <a:r>
              <a:rPr lang="zh-CN" altLang="en-US" sz="2400" dirty="0"/>
              <a:t>的情况</a:t>
            </a:r>
          </a:p>
          <a:p>
            <a:pPr>
              <a:lnSpc>
                <a:spcPct val="80000"/>
              </a:lnSpc>
            </a:pPr>
            <a:r>
              <a:rPr lang="en-US" altLang="zh-CN" dirty="0" err="1"/>
              <a:t>sudo</a:t>
            </a:r>
            <a:endParaRPr lang="en-US" altLang="zh-CN" dirty="0"/>
          </a:p>
          <a:p>
            <a:pPr lvl="1">
              <a:lnSpc>
                <a:spcPct val="110000"/>
              </a:lnSpc>
            </a:pPr>
            <a:r>
              <a:rPr lang="zh-CN" altLang="en-US" sz="2400" dirty="0"/>
              <a:t>直接使用 </a:t>
            </a:r>
            <a:r>
              <a:rPr lang="en-US" altLang="zh-CN" sz="2400" dirty="0" err="1"/>
              <a:t>sudo</a:t>
            </a:r>
            <a:r>
              <a:rPr lang="en-US" altLang="zh-CN" sz="2400" dirty="0"/>
              <a:t> </a:t>
            </a:r>
            <a:r>
              <a:rPr lang="zh-CN" altLang="en-US" sz="2400" dirty="0"/>
              <a:t>命令前缀</a:t>
            </a:r>
            <a:r>
              <a:rPr lang="zh-CN" altLang="en-US" sz="2400" dirty="0">
                <a:solidFill>
                  <a:srgbClr val="FF0000"/>
                </a:solidFill>
              </a:rPr>
              <a:t>执行系统管理命令</a:t>
            </a:r>
          </a:p>
          <a:p>
            <a:pPr lvl="1">
              <a:lnSpc>
                <a:spcPct val="110000"/>
              </a:lnSpc>
            </a:pPr>
            <a:r>
              <a:rPr lang="zh-CN" altLang="en-US" sz="2400" dirty="0"/>
              <a:t>执行系统管理命令时</a:t>
            </a:r>
            <a:r>
              <a:rPr lang="zh-CN" altLang="en-US" sz="2400" dirty="0">
                <a:solidFill>
                  <a:srgbClr val="FF0000"/>
                </a:solidFill>
              </a:rPr>
              <a:t>无需知道超级用户的口令</a:t>
            </a:r>
            <a:r>
              <a:rPr lang="zh-CN" altLang="en-US" sz="2400" dirty="0"/>
              <a:t>，使用</a:t>
            </a:r>
            <a:r>
              <a:rPr lang="zh-CN" altLang="en-US" sz="2400" dirty="0">
                <a:solidFill>
                  <a:srgbClr val="FF0000"/>
                </a:solidFill>
              </a:rPr>
              <a:t>普通用户自己的口令</a:t>
            </a:r>
            <a:r>
              <a:rPr lang="zh-CN" altLang="en-US" sz="2400" dirty="0"/>
              <a:t>即可</a:t>
            </a:r>
          </a:p>
          <a:p>
            <a:pPr lvl="1">
              <a:lnSpc>
                <a:spcPct val="110000"/>
              </a:lnSpc>
            </a:pPr>
            <a:r>
              <a:rPr lang="zh-CN" altLang="en-US" sz="2400" dirty="0"/>
              <a:t>由于执行系统管理命令时无需知晓超级用户口令，所以</a:t>
            </a:r>
            <a:r>
              <a:rPr lang="zh-CN" altLang="en-US" sz="2400" dirty="0">
                <a:solidFill>
                  <a:srgbClr val="FF0000"/>
                </a:solidFill>
              </a:rPr>
              <a:t>适用于系统中有多个系统管理员</a:t>
            </a:r>
            <a:r>
              <a:rPr lang="zh-CN" altLang="en-US" sz="2400" dirty="0"/>
              <a:t>的情况，因为这样不会泄露超级用户口令</a:t>
            </a:r>
            <a:endParaRPr lang="en-US" altLang="zh-CN" sz="2400" dirty="0"/>
          </a:p>
          <a:p>
            <a:pPr lvl="1">
              <a:lnSpc>
                <a:spcPct val="110000"/>
              </a:lnSpc>
            </a:pPr>
            <a:r>
              <a:rPr lang="zh-CN" altLang="en-US" sz="2400" dirty="0"/>
              <a:t>当然系统只有单个系统管理员时也可以使用</a:t>
            </a:r>
          </a:p>
          <a:p>
            <a:endParaRPr lang="zh-CN" altLang="en-US" dirty="0"/>
          </a:p>
        </p:txBody>
      </p:sp>
    </p:spTree>
    <p:extLst>
      <p:ext uri="{BB962C8B-B14F-4D97-AF65-F5344CB8AC3E}">
        <p14:creationId xmlns:p14="http://schemas.microsoft.com/office/powerpoint/2010/main" val="3649588250"/>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zh-CN" altLang="en-US" dirty="0"/>
              <a:t>举例</a:t>
            </a:r>
            <a:r>
              <a:rPr lang="en-US" altLang="zh-CN" dirty="0"/>
              <a:t>1</a:t>
            </a:r>
            <a:endParaRPr lang="zh-CN" altLang="en-US" dirty="0"/>
          </a:p>
        </p:txBody>
      </p:sp>
      <p:sp>
        <p:nvSpPr>
          <p:cNvPr id="6" name="文本框 5">
            <a:extLst>
              <a:ext uri="{FF2B5EF4-FFF2-40B4-BE49-F238E27FC236}">
                <a16:creationId xmlns:a16="http://schemas.microsoft.com/office/drawing/2014/main" id="{1E8D39DE-95D4-4BFA-9965-31450EC80C10}"/>
              </a:ext>
            </a:extLst>
          </p:cNvPr>
          <p:cNvSpPr txBox="1"/>
          <p:nvPr/>
        </p:nvSpPr>
        <p:spPr>
          <a:xfrm>
            <a:off x="395536" y="1628800"/>
            <a:ext cx="8551614" cy="4401205"/>
          </a:xfrm>
          <a:prstGeom prst="rect">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t="100000" r="100000"/>
            </a:path>
            <a:tileRect l="-100000" b="-100000"/>
          </a:gradFill>
        </p:spPr>
        <p:txBody>
          <a:bodyPr wrap="square">
            <a:spAutoFit/>
          </a:bodyPr>
          <a:lstStyle/>
          <a:p>
            <a:r>
              <a:rPr lang="zh-CN" altLang="en-US" sz="2000" dirty="0"/>
              <a:t>原本是 </a:t>
            </a:r>
            <a:r>
              <a:rPr lang="en-US" altLang="zh-CN" sz="2000" dirty="0"/>
              <a:t>vbird1 </a:t>
            </a:r>
            <a:r>
              <a:rPr lang="zh-CN" altLang="en-US" sz="2000" dirty="0"/>
              <a:t>的身份，想</a:t>
            </a:r>
            <a:r>
              <a:rPr lang="zh-CN" altLang="en-US" sz="2000" dirty="0" smtClean="0"/>
              <a:t>要</a:t>
            </a:r>
            <a:r>
              <a:rPr lang="zh-CN" altLang="en-US" sz="2000" b="1" dirty="0" smtClean="0">
                <a:solidFill>
                  <a:srgbClr val="FF0000"/>
                </a:solidFill>
              </a:rPr>
              <a:t>不改变工作环境，登录到</a:t>
            </a:r>
            <a:r>
              <a:rPr lang="en-US" altLang="zh-CN" sz="2000" b="1" dirty="0" smtClean="0">
                <a:solidFill>
                  <a:srgbClr val="FF0000"/>
                </a:solidFill>
              </a:rPr>
              <a:t>root</a:t>
            </a:r>
            <a:endParaRPr lang="en-US" altLang="zh-CN" sz="2000" b="1" dirty="0">
              <a:solidFill>
                <a:srgbClr val="FF0000"/>
              </a:solidFill>
            </a:endParaRPr>
          </a:p>
          <a:p>
            <a:r>
              <a:rPr lang="en-US" altLang="zh-CN" sz="2000" dirty="0"/>
              <a:t>[</a:t>
            </a:r>
            <a:r>
              <a:rPr lang="en-US" altLang="zh-CN" sz="2000" dirty="0">
                <a:solidFill>
                  <a:srgbClr val="FF0000"/>
                </a:solidFill>
              </a:rPr>
              <a:t>vbird1</a:t>
            </a:r>
            <a:r>
              <a:rPr lang="en-US" altLang="zh-CN" sz="2000" dirty="0"/>
              <a:t>@www ~]$ </a:t>
            </a:r>
            <a:r>
              <a:rPr lang="en-US" altLang="zh-CN" sz="2000" b="1" dirty="0" err="1">
                <a:solidFill>
                  <a:srgbClr val="0000CC"/>
                </a:solidFill>
              </a:rPr>
              <a:t>su</a:t>
            </a:r>
            <a:r>
              <a:rPr lang="en-US" altLang="zh-CN" sz="2000" dirty="0"/>
              <a:t>       &lt;==</a:t>
            </a:r>
            <a:r>
              <a:rPr lang="zh-CN" altLang="en-US" sz="2000" dirty="0"/>
              <a:t>注意提示字符，是 </a:t>
            </a:r>
            <a:r>
              <a:rPr lang="en-US" altLang="zh-CN" sz="2000" dirty="0"/>
              <a:t>vbird1 </a:t>
            </a:r>
            <a:r>
              <a:rPr lang="zh-CN" altLang="en-US" sz="2000" dirty="0"/>
              <a:t>的身份</a:t>
            </a:r>
            <a:endParaRPr lang="en-US" altLang="zh-CN" sz="2000" dirty="0"/>
          </a:p>
          <a:p>
            <a:r>
              <a:rPr lang="en-US" altLang="zh-CN" sz="2000" dirty="0"/>
              <a:t>Password:                &lt;==</a:t>
            </a:r>
            <a:r>
              <a:rPr lang="zh-CN" altLang="en-US" sz="2000" dirty="0"/>
              <a:t>这里输入 </a:t>
            </a:r>
            <a:r>
              <a:rPr lang="en-US" altLang="zh-CN" sz="2000" dirty="0">
                <a:solidFill>
                  <a:srgbClr val="FF0000"/>
                </a:solidFill>
              </a:rPr>
              <a:t>root </a:t>
            </a:r>
            <a:r>
              <a:rPr lang="zh-CN" altLang="en-US" sz="2000" dirty="0">
                <a:solidFill>
                  <a:srgbClr val="FF0000"/>
                </a:solidFill>
              </a:rPr>
              <a:t>的口令</a:t>
            </a:r>
          </a:p>
          <a:p>
            <a:r>
              <a:rPr lang="en-US" altLang="zh-CN" sz="2000" dirty="0"/>
              <a:t>[</a:t>
            </a:r>
            <a:r>
              <a:rPr lang="en-US" altLang="zh-CN" sz="2000" dirty="0" err="1"/>
              <a:t>root@www</a:t>
            </a:r>
            <a:r>
              <a:rPr lang="en-US" altLang="zh-CN" sz="2000" dirty="0"/>
              <a:t> </a:t>
            </a:r>
            <a:r>
              <a:rPr lang="en-US" altLang="zh-CN" sz="2000" dirty="0">
                <a:solidFill>
                  <a:srgbClr val="FF0000"/>
                </a:solidFill>
              </a:rPr>
              <a:t>vbird1</a:t>
            </a:r>
            <a:r>
              <a:rPr lang="en-US" altLang="zh-CN" sz="2000" dirty="0"/>
              <a:t>]# id    &lt;==</a:t>
            </a:r>
            <a:r>
              <a:rPr lang="zh-CN" altLang="en-US" sz="2000" dirty="0"/>
              <a:t>提示字符的目录是 </a:t>
            </a:r>
            <a:r>
              <a:rPr lang="en-US" altLang="zh-CN" sz="2000" dirty="0"/>
              <a:t>vbird1</a:t>
            </a:r>
          </a:p>
          <a:p>
            <a:r>
              <a:rPr lang="en-US" altLang="zh-CN" sz="2000" dirty="0" err="1">
                <a:solidFill>
                  <a:srgbClr val="FF0000"/>
                </a:solidFill>
              </a:rPr>
              <a:t>uid</a:t>
            </a:r>
            <a:r>
              <a:rPr lang="en-US" altLang="zh-CN" sz="2000" dirty="0">
                <a:solidFill>
                  <a:srgbClr val="FF0000"/>
                </a:solidFill>
              </a:rPr>
              <a:t>=0(root) gid=0(root) groups=0(root),</a:t>
            </a:r>
            <a:r>
              <a:rPr lang="en-US" altLang="zh-CN" sz="2000" dirty="0"/>
              <a:t>1(bin),...   &lt;==</a:t>
            </a:r>
            <a:r>
              <a:rPr lang="zh-CN" altLang="en-US" sz="2000" dirty="0"/>
              <a:t>确实是 </a:t>
            </a:r>
            <a:r>
              <a:rPr lang="en-US" altLang="zh-CN" sz="2000" dirty="0"/>
              <a:t>root </a:t>
            </a:r>
            <a:r>
              <a:rPr lang="zh-CN" altLang="en-US" sz="2000" dirty="0"/>
              <a:t>的身份 </a:t>
            </a:r>
            <a:r>
              <a:rPr lang="en-US" altLang="zh-CN" sz="2000" dirty="0"/>
              <a:t>[</a:t>
            </a:r>
            <a:r>
              <a:rPr lang="en-US" altLang="zh-CN" sz="2000" dirty="0" err="1"/>
              <a:t>root@www</a:t>
            </a:r>
            <a:r>
              <a:rPr lang="en-US" altLang="zh-CN" sz="2000" dirty="0"/>
              <a:t> vbird1]# env | </a:t>
            </a:r>
            <a:r>
              <a:rPr lang="en-US" altLang="zh-CN" sz="2000" dirty="0" err="1"/>
              <a:t>grep</a:t>
            </a:r>
            <a:r>
              <a:rPr lang="en-US" altLang="zh-CN" sz="2000" dirty="0"/>
              <a:t> 'vbird1'</a:t>
            </a:r>
          </a:p>
          <a:p>
            <a:r>
              <a:rPr lang="en-US" altLang="zh-CN" sz="2000" dirty="0">
                <a:solidFill>
                  <a:srgbClr val="FF0000"/>
                </a:solidFill>
              </a:rPr>
              <a:t>USER=vbird1</a:t>
            </a:r>
          </a:p>
          <a:p>
            <a:r>
              <a:rPr lang="en-US" altLang="zh-CN" sz="2000" dirty="0">
                <a:solidFill>
                  <a:srgbClr val="FF0000"/>
                </a:solidFill>
              </a:rPr>
              <a:t>PATH=/</a:t>
            </a:r>
            <a:r>
              <a:rPr lang="en-US" altLang="zh-CN" sz="2000" dirty="0" err="1">
                <a:solidFill>
                  <a:srgbClr val="FF0000"/>
                </a:solidFill>
              </a:rPr>
              <a:t>usr</a:t>
            </a:r>
            <a:r>
              <a:rPr lang="en-US" altLang="zh-CN" sz="2000" dirty="0">
                <a:solidFill>
                  <a:srgbClr val="FF0000"/>
                </a:solidFill>
              </a:rPr>
              <a:t>/local/bin:/bin:/</a:t>
            </a:r>
            <a:r>
              <a:rPr lang="en-US" altLang="zh-CN" sz="2000" dirty="0" err="1">
                <a:solidFill>
                  <a:srgbClr val="FF0000"/>
                </a:solidFill>
              </a:rPr>
              <a:t>usr</a:t>
            </a:r>
            <a:r>
              <a:rPr lang="en-US" altLang="zh-CN" sz="2000" dirty="0">
                <a:solidFill>
                  <a:srgbClr val="FF0000"/>
                </a:solidFill>
              </a:rPr>
              <a:t>/bin:/home/vbird1/bin  </a:t>
            </a:r>
            <a:r>
              <a:rPr lang="en-US" altLang="zh-CN" sz="2000" dirty="0"/>
              <a:t>&lt;==</a:t>
            </a:r>
            <a:r>
              <a:rPr lang="zh-CN" altLang="en-US" sz="2000" dirty="0"/>
              <a:t>这个影响最大</a:t>
            </a:r>
          </a:p>
          <a:p>
            <a:r>
              <a:rPr lang="en-US" altLang="zh-CN" sz="2000" dirty="0">
                <a:solidFill>
                  <a:srgbClr val="FF0000"/>
                </a:solidFill>
              </a:rPr>
              <a:t>MAIL=/var/spool/mail/vbird1                         </a:t>
            </a:r>
            <a:r>
              <a:rPr lang="en-US" altLang="zh-CN" sz="2000" dirty="0"/>
              <a:t>&lt;==</a:t>
            </a:r>
            <a:r>
              <a:rPr lang="zh-CN" altLang="en-US" sz="2000" dirty="0"/>
              <a:t>收到的 </a:t>
            </a:r>
            <a:r>
              <a:rPr lang="en-US" altLang="zh-CN" sz="2000" dirty="0"/>
              <a:t>mailbox </a:t>
            </a:r>
            <a:r>
              <a:rPr lang="zh-CN" altLang="en-US" sz="2000" dirty="0"/>
              <a:t>是 </a:t>
            </a:r>
            <a:r>
              <a:rPr lang="en-US" altLang="zh-CN" sz="2000" dirty="0"/>
              <a:t>vbird1</a:t>
            </a:r>
          </a:p>
          <a:p>
            <a:r>
              <a:rPr lang="en-US" altLang="zh-CN" sz="2000" dirty="0">
                <a:solidFill>
                  <a:srgbClr val="FF0000"/>
                </a:solidFill>
              </a:rPr>
              <a:t>PWD=/home/vbird1                                    </a:t>
            </a:r>
            <a:r>
              <a:rPr lang="en-US" altLang="zh-CN" sz="2000" dirty="0"/>
              <a:t>&lt;==</a:t>
            </a:r>
            <a:r>
              <a:rPr lang="zh-CN" altLang="en-US" sz="2000" dirty="0"/>
              <a:t>并非 </a:t>
            </a:r>
            <a:r>
              <a:rPr lang="en-US" altLang="zh-CN" sz="2000" dirty="0"/>
              <a:t>root </a:t>
            </a:r>
            <a:r>
              <a:rPr lang="zh-CN" altLang="en-US" sz="2000" dirty="0"/>
              <a:t>的家目录</a:t>
            </a:r>
          </a:p>
          <a:p>
            <a:r>
              <a:rPr lang="en-US" altLang="zh-CN" sz="2000" dirty="0">
                <a:solidFill>
                  <a:srgbClr val="FF0000"/>
                </a:solidFill>
              </a:rPr>
              <a:t>LOGNAME=vbird1</a:t>
            </a:r>
          </a:p>
          <a:p>
            <a:r>
              <a:rPr lang="en-US" altLang="zh-CN" sz="2000" dirty="0"/>
              <a:t># </a:t>
            </a:r>
            <a:r>
              <a:rPr lang="zh-CN" altLang="en-US" sz="2000" dirty="0"/>
              <a:t>虽然你的 </a:t>
            </a:r>
            <a:r>
              <a:rPr lang="en-US" altLang="zh-CN" sz="2000" dirty="0"/>
              <a:t>UID </a:t>
            </a:r>
            <a:r>
              <a:rPr lang="zh-CN" altLang="en-US" sz="2000" dirty="0"/>
              <a:t>已经是具有 </a:t>
            </a:r>
            <a:r>
              <a:rPr lang="en-US" altLang="zh-CN" sz="2000" dirty="0"/>
              <a:t>root </a:t>
            </a:r>
            <a:r>
              <a:rPr lang="zh-CN" altLang="en-US" sz="2000" dirty="0"/>
              <a:t>的身份，但是还是</a:t>
            </a:r>
            <a:r>
              <a:rPr lang="zh-CN" altLang="en-US" sz="2000" dirty="0">
                <a:solidFill>
                  <a:srgbClr val="FF0000"/>
                </a:solidFill>
              </a:rPr>
              <a:t>有一堆变量为原本</a:t>
            </a:r>
            <a:r>
              <a:rPr lang="en-US" altLang="zh-CN" sz="2000" dirty="0">
                <a:solidFill>
                  <a:srgbClr val="FF0000"/>
                </a:solidFill>
              </a:rPr>
              <a:t>vbird1</a:t>
            </a:r>
            <a:r>
              <a:rPr lang="zh-CN" altLang="en-US" sz="2000" dirty="0">
                <a:solidFill>
                  <a:srgbClr val="FF0000"/>
                </a:solidFill>
              </a:rPr>
              <a:t>的身份</a:t>
            </a:r>
            <a:r>
              <a:rPr lang="zh-CN" altLang="en-US" sz="2000" dirty="0"/>
              <a:t>，所以很多数据还是无法直接利用。</a:t>
            </a:r>
          </a:p>
          <a:p>
            <a:r>
              <a:rPr lang="en-US" altLang="zh-CN" sz="2000" dirty="0"/>
              <a:t>[</a:t>
            </a:r>
            <a:r>
              <a:rPr lang="en-US" altLang="zh-CN" sz="2000" dirty="0" err="1"/>
              <a:t>root@www</a:t>
            </a:r>
            <a:r>
              <a:rPr lang="en-US" altLang="zh-CN" sz="2000" dirty="0"/>
              <a:t> vbird1]# </a:t>
            </a:r>
            <a:r>
              <a:rPr lang="en-US" altLang="zh-CN" sz="2000" dirty="0">
                <a:solidFill>
                  <a:srgbClr val="0000CC"/>
                </a:solidFill>
              </a:rPr>
              <a:t>exit </a:t>
            </a:r>
            <a:r>
              <a:rPr lang="en-US" altLang="zh-CN" sz="2000" dirty="0"/>
              <a:t>  &lt;==</a:t>
            </a:r>
            <a:r>
              <a:rPr lang="zh-CN" altLang="en-US" sz="2000" dirty="0"/>
              <a:t>这样可以</a:t>
            </a:r>
            <a:r>
              <a:rPr lang="zh-CN" altLang="en-US" sz="2000" dirty="0">
                <a:solidFill>
                  <a:srgbClr val="FF0000"/>
                </a:solidFill>
              </a:rPr>
              <a:t>离开 </a:t>
            </a:r>
            <a:r>
              <a:rPr lang="en-US" altLang="zh-CN" sz="2000" dirty="0" err="1">
                <a:solidFill>
                  <a:srgbClr val="FF0000"/>
                </a:solidFill>
              </a:rPr>
              <a:t>su</a:t>
            </a:r>
            <a:r>
              <a:rPr lang="en-US" altLang="zh-CN" sz="2000" dirty="0">
                <a:solidFill>
                  <a:srgbClr val="FF0000"/>
                </a:solidFill>
              </a:rPr>
              <a:t> </a:t>
            </a:r>
            <a:r>
              <a:rPr lang="zh-CN" altLang="en-US" sz="2000" dirty="0">
                <a:solidFill>
                  <a:srgbClr val="FF0000"/>
                </a:solidFill>
              </a:rPr>
              <a:t>的环境</a:t>
            </a:r>
            <a:endParaRPr lang="zh-CN" altLang="en-US" dirty="0"/>
          </a:p>
        </p:txBody>
      </p:sp>
    </p:spTree>
    <p:extLst>
      <p:ext uri="{BB962C8B-B14F-4D97-AF65-F5344CB8AC3E}">
        <p14:creationId xmlns:p14="http://schemas.microsoft.com/office/powerpoint/2010/main" val="1917585831"/>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zh-CN" altLang="en-US" dirty="0"/>
              <a:t>举例</a:t>
            </a:r>
            <a:r>
              <a:rPr lang="en-US" altLang="zh-CN" dirty="0"/>
              <a:t>2</a:t>
            </a:r>
            <a:endParaRPr lang="zh-CN" altLang="en-US" dirty="0"/>
          </a:p>
        </p:txBody>
      </p:sp>
      <p:sp>
        <p:nvSpPr>
          <p:cNvPr id="6" name="文本框 5">
            <a:extLst>
              <a:ext uri="{FF2B5EF4-FFF2-40B4-BE49-F238E27FC236}">
                <a16:creationId xmlns:a16="http://schemas.microsoft.com/office/drawing/2014/main" id="{1E8D39DE-95D4-4BFA-9965-31450EC80C10}"/>
              </a:ext>
            </a:extLst>
          </p:cNvPr>
          <p:cNvSpPr txBox="1"/>
          <p:nvPr/>
        </p:nvSpPr>
        <p:spPr>
          <a:xfrm>
            <a:off x="611560" y="1844824"/>
            <a:ext cx="8280920" cy="3785652"/>
          </a:xfrm>
          <a:prstGeom prst="rect">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t="100000" r="100000"/>
            </a:path>
            <a:tileRect l="-100000" b="-100000"/>
          </a:gradFill>
        </p:spPr>
        <p:txBody>
          <a:bodyPr wrap="square">
            <a:spAutoFit/>
          </a:bodyPr>
          <a:lstStyle/>
          <a:p>
            <a:r>
              <a:rPr lang="zh-CN" altLang="en-US" sz="2000" b="1" dirty="0">
                <a:solidFill>
                  <a:srgbClr val="FF0000"/>
                </a:solidFill>
              </a:rPr>
              <a:t>使用 </a:t>
            </a:r>
            <a:r>
              <a:rPr lang="en-US" altLang="zh-CN" sz="2000" b="1" dirty="0">
                <a:solidFill>
                  <a:srgbClr val="FF0000"/>
                </a:solidFill>
              </a:rPr>
              <a:t>login shell </a:t>
            </a:r>
            <a:r>
              <a:rPr lang="zh-CN" altLang="en-US" sz="2000" b="1" dirty="0">
                <a:solidFill>
                  <a:srgbClr val="FF0000"/>
                </a:solidFill>
              </a:rPr>
              <a:t>的方式切换为 </a:t>
            </a:r>
            <a:r>
              <a:rPr lang="en-US" altLang="zh-CN" sz="2000" b="1" dirty="0">
                <a:solidFill>
                  <a:srgbClr val="FF0000"/>
                </a:solidFill>
              </a:rPr>
              <a:t>root </a:t>
            </a:r>
            <a:r>
              <a:rPr lang="zh-CN" altLang="en-US" sz="2000" b="1" dirty="0">
                <a:solidFill>
                  <a:srgbClr val="FF0000"/>
                </a:solidFill>
              </a:rPr>
              <a:t>的身份</a:t>
            </a:r>
            <a:endParaRPr lang="zh-CN" altLang="en-US" sz="2000" dirty="0"/>
          </a:p>
          <a:p>
            <a:r>
              <a:rPr lang="en-US" altLang="zh-CN" sz="2000" dirty="0"/>
              <a:t>[vbird1@www ~]$ </a:t>
            </a:r>
            <a:r>
              <a:rPr lang="en-US" altLang="zh-CN" sz="2000" b="1" dirty="0" err="1">
                <a:solidFill>
                  <a:srgbClr val="0000CC"/>
                </a:solidFill>
              </a:rPr>
              <a:t>su</a:t>
            </a:r>
            <a:r>
              <a:rPr lang="en-US" altLang="zh-CN" sz="2000" b="1" dirty="0">
                <a:solidFill>
                  <a:srgbClr val="0000CC"/>
                </a:solidFill>
              </a:rPr>
              <a:t> -</a:t>
            </a:r>
          </a:p>
          <a:p>
            <a:r>
              <a:rPr lang="en-US" altLang="zh-CN" sz="2000" dirty="0"/>
              <a:t>Password:   &lt;==</a:t>
            </a:r>
            <a:r>
              <a:rPr lang="zh-CN" altLang="en-US" sz="2000" dirty="0"/>
              <a:t>这里输入 </a:t>
            </a:r>
            <a:r>
              <a:rPr lang="en-US" altLang="zh-CN" sz="2000" dirty="0"/>
              <a:t>root </a:t>
            </a:r>
            <a:r>
              <a:rPr lang="zh-CN" altLang="en-US" sz="2000" dirty="0"/>
              <a:t>的口令</a:t>
            </a:r>
          </a:p>
          <a:p>
            <a:r>
              <a:rPr lang="en-US" altLang="zh-CN" sz="2000" dirty="0"/>
              <a:t>[</a:t>
            </a:r>
            <a:r>
              <a:rPr lang="en-US" altLang="zh-CN" sz="2000" dirty="0" err="1"/>
              <a:t>root@www</a:t>
            </a:r>
            <a:r>
              <a:rPr lang="en-US" altLang="zh-CN" sz="2000" dirty="0"/>
              <a:t> ~]# env | </a:t>
            </a:r>
            <a:r>
              <a:rPr lang="en-US" altLang="zh-CN" sz="2000" dirty="0" err="1"/>
              <a:t>grep</a:t>
            </a:r>
            <a:r>
              <a:rPr lang="en-US" altLang="zh-CN" sz="2000" dirty="0"/>
              <a:t> root</a:t>
            </a:r>
          </a:p>
          <a:p>
            <a:r>
              <a:rPr lang="en-US" altLang="zh-CN" sz="2000" dirty="0">
                <a:solidFill>
                  <a:srgbClr val="FF0000"/>
                </a:solidFill>
              </a:rPr>
              <a:t>USER=root</a:t>
            </a:r>
          </a:p>
          <a:p>
            <a:r>
              <a:rPr lang="en-US" altLang="zh-CN" sz="2000" dirty="0">
                <a:solidFill>
                  <a:srgbClr val="FF0000"/>
                </a:solidFill>
              </a:rPr>
              <a:t>MAIL=/var/spool/mail/root</a:t>
            </a:r>
          </a:p>
          <a:p>
            <a:r>
              <a:rPr lang="en-US" altLang="zh-CN" sz="2000" dirty="0">
                <a:solidFill>
                  <a:srgbClr val="FF0000"/>
                </a:solidFill>
              </a:rPr>
              <a:t>PATH=/</a:t>
            </a:r>
            <a:r>
              <a:rPr lang="en-US" altLang="zh-CN" sz="2000" dirty="0" err="1">
                <a:solidFill>
                  <a:srgbClr val="FF0000"/>
                </a:solidFill>
              </a:rPr>
              <a:t>usr</a:t>
            </a:r>
            <a:r>
              <a:rPr lang="en-US" altLang="zh-CN" sz="2000" dirty="0">
                <a:solidFill>
                  <a:srgbClr val="FF0000"/>
                </a:solidFill>
              </a:rPr>
              <a:t>/local/</a:t>
            </a:r>
            <a:r>
              <a:rPr lang="en-US" altLang="zh-CN" sz="2000" dirty="0" err="1">
                <a:solidFill>
                  <a:srgbClr val="FF0000"/>
                </a:solidFill>
              </a:rPr>
              <a:t>sbin</a:t>
            </a:r>
            <a:r>
              <a:rPr lang="en-US" altLang="zh-CN" sz="2000" dirty="0">
                <a:solidFill>
                  <a:srgbClr val="FF0000"/>
                </a:solidFill>
              </a:rPr>
              <a:t>:/</a:t>
            </a:r>
            <a:r>
              <a:rPr lang="en-US" altLang="zh-CN" sz="2000" dirty="0" err="1">
                <a:solidFill>
                  <a:srgbClr val="FF0000"/>
                </a:solidFill>
              </a:rPr>
              <a:t>usr</a:t>
            </a:r>
            <a:r>
              <a:rPr lang="en-US" altLang="zh-CN" sz="2000" dirty="0">
                <a:solidFill>
                  <a:srgbClr val="FF0000"/>
                </a:solidFill>
              </a:rPr>
              <a:t>/local/bin:/</a:t>
            </a:r>
            <a:r>
              <a:rPr lang="en-US" altLang="zh-CN" sz="2000" dirty="0" err="1">
                <a:solidFill>
                  <a:srgbClr val="FF0000"/>
                </a:solidFill>
              </a:rPr>
              <a:t>sbin</a:t>
            </a:r>
            <a:r>
              <a:rPr lang="en-US" altLang="zh-CN" sz="2000" dirty="0">
                <a:solidFill>
                  <a:srgbClr val="FF0000"/>
                </a:solidFill>
              </a:rPr>
              <a:t>:/bin:/</a:t>
            </a:r>
            <a:r>
              <a:rPr lang="en-US" altLang="zh-CN" sz="2000" dirty="0" err="1">
                <a:solidFill>
                  <a:srgbClr val="FF0000"/>
                </a:solidFill>
              </a:rPr>
              <a:t>usr</a:t>
            </a:r>
            <a:r>
              <a:rPr lang="en-US" altLang="zh-CN" sz="2000" dirty="0">
                <a:solidFill>
                  <a:srgbClr val="FF0000"/>
                </a:solidFill>
              </a:rPr>
              <a:t>/</a:t>
            </a:r>
            <a:r>
              <a:rPr lang="en-US" altLang="zh-CN" sz="2000" dirty="0" err="1">
                <a:solidFill>
                  <a:srgbClr val="FF0000"/>
                </a:solidFill>
              </a:rPr>
              <a:t>sbin</a:t>
            </a:r>
            <a:r>
              <a:rPr lang="en-US" altLang="zh-CN" sz="2000" dirty="0">
                <a:solidFill>
                  <a:srgbClr val="FF0000"/>
                </a:solidFill>
              </a:rPr>
              <a:t>:/</a:t>
            </a:r>
            <a:r>
              <a:rPr lang="en-US" altLang="zh-CN" sz="2000" dirty="0" err="1">
                <a:solidFill>
                  <a:srgbClr val="FF0000"/>
                </a:solidFill>
              </a:rPr>
              <a:t>usr</a:t>
            </a:r>
            <a:r>
              <a:rPr lang="en-US" altLang="zh-CN" sz="2000" dirty="0">
                <a:solidFill>
                  <a:srgbClr val="FF0000"/>
                </a:solidFill>
              </a:rPr>
              <a:t>/bin:/root/bin</a:t>
            </a:r>
          </a:p>
          <a:p>
            <a:r>
              <a:rPr lang="en-US" altLang="zh-CN" sz="2000" dirty="0">
                <a:solidFill>
                  <a:srgbClr val="FF0000"/>
                </a:solidFill>
              </a:rPr>
              <a:t>PWD=/root</a:t>
            </a:r>
          </a:p>
          <a:p>
            <a:r>
              <a:rPr lang="en-US" altLang="zh-CN" sz="2000" dirty="0">
                <a:solidFill>
                  <a:srgbClr val="FF0000"/>
                </a:solidFill>
              </a:rPr>
              <a:t>HOME=/root</a:t>
            </a:r>
          </a:p>
          <a:p>
            <a:r>
              <a:rPr lang="en-US" altLang="zh-CN" sz="2000" dirty="0">
                <a:solidFill>
                  <a:srgbClr val="FF0000"/>
                </a:solidFill>
              </a:rPr>
              <a:t>LOGNAME=root</a:t>
            </a:r>
          </a:p>
          <a:p>
            <a:r>
              <a:rPr lang="en-US" altLang="zh-CN" sz="2000" dirty="0"/>
              <a:t># </a:t>
            </a:r>
            <a:r>
              <a:rPr lang="zh-CN" altLang="en-US" sz="2000" dirty="0"/>
              <a:t>变换成为 </a:t>
            </a:r>
            <a:r>
              <a:rPr lang="en-US" altLang="zh-CN" sz="2000" dirty="0"/>
              <a:t>root </a:t>
            </a:r>
            <a:r>
              <a:rPr lang="zh-CN" altLang="en-US" sz="2000" dirty="0"/>
              <a:t>时，记得最好使用 </a:t>
            </a:r>
            <a:r>
              <a:rPr lang="en-US" altLang="zh-CN" sz="2000" dirty="0" err="1"/>
              <a:t>su</a:t>
            </a:r>
            <a:r>
              <a:rPr lang="en-US" altLang="zh-CN" sz="2000" dirty="0"/>
              <a:t> - </a:t>
            </a:r>
            <a:r>
              <a:rPr lang="zh-CN" altLang="en-US" sz="2000" dirty="0"/>
              <a:t>喔！</a:t>
            </a:r>
          </a:p>
          <a:p>
            <a:r>
              <a:rPr lang="en-US" altLang="zh-CN" sz="2000" dirty="0"/>
              <a:t>[</a:t>
            </a:r>
            <a:r>
              <a:rPr lang="en-US" altLang="zh-CN" sz="2000" dirty="0" err="1"/>
              <a:t>root@www</a:t>
            </a:r>
            <a:r>
              <a:rPr lang="en-US" altLang="zh-CN" sz="2000" dirty="0"/>
              <a:t> ~]# </a:t>
            </a:r>
            <a:r>
              <a:rPr lang="en-US" altLang="zh-CN" sz="2000" dirty="0">
                <a:solidFill>
                  <a:srgbClr val="0000CC"/>
                </a:solidFill>
              </a:rPr>
              <a:t>exit </a:t>
            </a:r>
            <a:r>
              <a:rPr lang="en-US" altLang="zh-CN" sz="2000" dirty="0"/>
              <a:t>  &lt;==</a:t>
            </a:r>
            <a:r>
              <a:rPr lang="zh-CN" altLang="en-US" sz="2000" dirty="0"/>
              <a:t>这样可以离开 </a:t>
            </a:r>
            <a:r>
              <a:rPr lang="en-US" altLang="zh-CN" sz="2000" dirty="0" err="1"/>
              <a:t>su</a:t>
            </a:r>
            <a:r>
              <a:rPr lang="en-US" altLang="zh-CN" sz="2000" dirty="0"/>
              <a:t> </a:t>
            </a:r>
            <a:r>
              <a:rPr lang="zh-CN" altLang="en-US" sz="2000" dirty="0"/>
              <a:t>的环境！</a:t>
            </a:r>
            <a:endParaRPr lang="zh-CN" altLang="en-US" dirty="0"/>
          </a:p>
        </p:txBody>
      </p:sp>
    </p:spTree>
    <p:extLst>
      <p:ext uri="{BB962C8B-B14F-4D97-AF65-F5344CB8AC3E}">
        <p14:creationId xmlns:p14="http://schemas.microsoft.com/office/powerpoint/2010/main" val="1216907150"/>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en-US" altLang="zh-CN" dirty="0" err="1"/>
              <a:t>su</a:t>
            </a:r>
            <a:r>
              <a:rPr lang="zh-CN" altLang="en-US" dirty="0"/>
              <a:t>总结</a:t>
            </a:r>
          </a:p>
        </p:txBody>
      </p:sp>
      <p:sp>
        <p:nvSpPr>
          <p:cNvPr id="7" name="文本框 6">
            <a:extLst>
              <a:ext uri="{FF2B5EF4-FFF2-40B4-BE49-F238E27FC236}">
                <a16:creationId xmlns:a16="http://schemas.microsoft.com/office/drawing/2014/main" id="{C5AB92A8-3F7A-43B0-9CC3-2EAB2ECB9B8F}"/>
              </a:ext>
            </a:extLst>
          </p:cNvPr>
          <p:cNvSpPr txBox="1"/>
          <p:nvPr/>
        </p:nvSpPr>
        <p:spPr>
          <a:xfrm>
            <a:off x="1331640" y="2228633"/>
            <a:ext cx="7104831" cy="3859518"/>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path path="circle">
              <a:fillToRect l="50000" t="50000" r="50000" b="50000"/>
            </a:path>
            <a:tileRect/>
          </a:gradFill>
        </p:spPr>
        <p:txBody>
          <a:bodyPr wrap="square">
            <a:spAutoFit/>
          </a:bodyPr>
          <a:lstStyle/>
          <a:p>
            <a:pPr marL="57150" lvl="1" indent="-342900" eaLnBrk="0" hangingPunct="0">
              <a:lnSpc>
                <a:spcPct val="120000"/>
              </a:lnSpc>
              <a:spcBef>
                <a:spcPct val="20000"/>
              </a:spcBef>
              <a:buClr>
                <a:schemeClr val="folHlink"/>
              </a:buClr>
              <a:buSzPct val="60000"/>
              <a:buFont typeface="Wingdings" panose="05000000000000000000" pitchFamily="2" charset="2"/>
              <a:buChar char="u"/>
            </a:pPr>
            <a:r>
              <a:rPr lang="zh-CN" altLang="en-US" sz="2400" b="1" dirty="0">
                <a:latin typeface="Tahoma" panose="020B0604030504040204" pitchFamily="34" charset="0"/>
              </a:rPr>
              <a:t>若要完整的</a:t>
            </a:r>
            <a:r>
              <a:rPr lang="zh-CN" altLang="en-US" sz="2400" b="1" dirty="0">
                <a:solidFill>
                  <a:srgbClr val="FF0000"/>
                </a:solidFill>
                <a:latin typeface="Tahoma" panose="020B0604030504040204" pitchFamily="34" charset="0"/>
              </a:rPr>
              <a:t>切换到新使用者的环境</a:t>
            </a:r>
            <a:r>
              <a:rPr lang="zh-CN" altLang="en-US" sz="2400" b="1" dirty="0">
                <a:latin typeface="Tahoma" panose="020B0604030504040204" pitchFamily="34" charset="0"/>
              </a:rPr>
              <a:t>，必须要使用</a:t>
            </a:r>
            <a:r>
              <a:rPr lang="en-US" altLang="zh-CN" sz="2400" b="1" dirty="0">
                <a:solidFill>
                  <a:srgbClr val="FF0000"/>
                </a:solidFill>
                <a:latin typeface="Tahoma" panose="020B0604030504040204" pitchFamily="34" charset="0"/>
              </a:rPr>
              <a:t>『 </a:t>
            </a:r>
            <a:r>
              <a:rPr lang="en-US" altLang="zh-CN" sz="2400" b="1" dirty="0" err="1">
                <a:solidFill>
                  <a:srgbClr val="FF0000"/>
                </a:solidFill>
                <a:latin typeface="Tahoma" panose="020B0604030504040204" pitchFamily="34" charset="0"/>
              </a:rPr>
              <a:t>su</a:t>
            </a:r>
            <a:r>
              <a:rPr lang="en-US" altLang="zh-CN" sz="2400" b="1" dirty="0">
                <a:solidFill>
                  <a:srgbClr val="FF0000"/>
                </a:solidFill>
                <a:latin typeface="Tahoma" panose="020B0604030504040204" pitchFamily="34" charset="0"/>
              </a:rPr>
              <a:t> - username 』</a:t>
            </a:r>
            <a:r>
              <a:rPr lang="zh-CN" altLang="en-US" sz="2400" b="1" dirty="0">
                <a:solidFill>
                  <a:srgbClr val="FF0000"/>
                </a:solidFill>
                <a:latin typeface="Tahoma" panose="020B0604030504040204" pitchFamily="34" charset="0"/>
              </a:rPr>
              <a:t>或</a:t>
            </a:r>
            <a:r>
              <a:rPr lang="en-US" altLang="zh-CN" sz="2400" b="1" dirty="0">
                <a:solidFill>
                  <a:srgbClr val="FF0000"/>
                </a:solidFill>
                <a:latin typeface="Tahoma" panose="020B0604030504040204" pitchFamily="34" charset="0"/>
              </a:rPr>
              <a:t>『 </a:t>
            </a:r>
            <a:r>
              <a:rPr lang="en-US" altLang="zh-CN" sz="2400" b="1" dirty="0" err="1">
                <a:solidFill>
                  <a:srgbClr val="FF0000"/>
                </a:solidFill>
                <a:latin typeface="Tahoma" panose="020B0604030504040204" pitchFamily="34" charset="0"/>
              </a:rPr>
              <a:t>su</a:t>
            </a:r>
            <a:r>
              <a:rPr lang="en-US" altLang="zh-CN" sz="2400" b="1" dirty="0">
                <a:solidFill>
                  <a:srgbClr val="FF0000"/>
                </a:solidFill>
                <a:latin typeface="Tahoma" panose="020B0604030504040204" pitchFamily="34" charset="0"/>
              </a:rPr>
              <a:t> -l username 』</a:t>
            </a:r>
            <a:r>
              <a:rPr lang="zh-CN" altLang="en-US" sz="2400" b="1" dirty="0">
                <a:latin typeface="Tahoma" panose="020B0604030504040204" pitchFamily="34" charset="0"/>
              </a:rPr>
              <a:t>， 才会连同 </a:t>
            </a:r>
            <a:r>
              <a:rPr lang="en-US" altLang="zh-CN" sz="2400" b="1" dirty="0">
                <a:latin typeface="Tahoma" panose="020B0604030504040204" pitchFamily="34" charset="0"/>
              </a:rPr>
              <a:t>PATH/USER/MAIL </a:t>
            </a:r>
            <a:r>
              <a:rPr lang="zh-CN" altLang="en-US" sz="2400" b="1" dirty="0">
                <a:latin typeface="Tahoma" panose="020B0604030504040204" pitchFamily="34" charset="0"/>
              </a:rPr>
              <a:t>等变量都转成新用户的环境</a:t>
            </a:r>
          </a:p>
          <a:p>
            <a:pPr marL="57150" lvl="1" indent="-342900" eaLnBrk="0" hangingPunct="0">
              <a:lnSpc>
                <a:spcPct val="120000"/>
              </a:lnSpc>
              <a:spcBef>
                <a:spcPct val="20000"/>
              </a:spcBef>
              <a:buClr>
                <a:schemeClr val="folHlink"/>
              </a:buClr>
              <a:buSzPct val="60000"/>
              <a:buFont typeface="Wingdings" panose="05000000000000000000" pitchFamily="2" charset="2"/>
              <a:buChar char="u"/>
            </a:pPr>
            <a:r>
              <a:rPr lang="zh-CN" altLang="en-US" sz="2400" b="1" dirty="0">
                <a:latin typeface="Tahoma" panose="020B0604030504040204" pitchFamily="34" charset="0"/>
              </a:rPr>
              <a:t>如果仅想要</a:t>
            </a:r>
            <a:r>
              <a:rPr lang="zh-CN" altLang="en-US" sz="2400" b="1" dirty="0">
                <a:solidFill>
                  <a:srgbClr val="FF0000"/>
                </a:solidFill>
                <a:latin typeface="Tahoma" panose="020B0604030504040204" pitchFamily="34" charset="0"/>
              </a:rPr>
              <a:t>运行一次 </a:t>
            </a:r>
            <a:r>
              <a:rPr lang="en-US" altLang="zh-CN" sz="2400" b="1" dirty="0">
                <a:solidFill>
                  <a:srgbClr val="FF0000"/>
                </a:solidFill>
                <a:latin typeface="Tahoma" panose="020B0604030504040204" pitchFamily="34" charset="0"/>
              </a:rPr>
              <a:t>root </a:t>
            </a:r>
            <a:r>
              <a:rPr lang="zh-CN" altLang="en-US" sz="2400" b="1" dirty="0">
                <a:solidFill>
                  <a:srgbClr val="FF0000"/>
                </a:solidFill>
                <a:latin typeface="Tahoma" panose="020B0604030504040204" pitchFamily="34" charset="0"/>
              </a:rPr>
              <a:t>的命令</a:t>
            </a:r>
            <a:r>
              <a:rPr lang="zh-CN" altLang="en-US" sz="2400" b="1" dirty="0">
                <a:latin typeface="Tahoma" panose="020B0604030504040204" pitchFamily="34" charset="0"/>
              </a:rPr>
              <a:t>，可以</a:t>
            </a:r>
            <a:r>
              <a:rPr lang="zh-CN" altLang="en-US" sz="2400" b="1" dirty="0" smtClean="0">
                <a:latin typeface="Tahoma" panose="020B0604030504040204" pitchFamily="34" charset="0"/>
              </a:rPr>
              <a:t>利用</a:t>
            </a:r>
            <a:endParaRPr lang="en-US" altLang="zh-CN" sz="2400" b="1" dirty="0" smtClean="0">
              <a:latin typeface="Tahoma" panose="020B0604030504040204" pitchFamily="34" charset="0"/>
            </a:endParaRPr>
          </a:p>
          <a:p>
            <a:pPr marL="0" lvl="1" eaLnBrk="0" hangingPunct="0">
              <a:lnSpc>
                <a:spcPct val="120000"/>
              </a:lnSpc>
              <a:spcBef>
                <a:spcPct val="20000"/>
              </a:spcBef>
              <a:buClr>
                <a:schemeClr val="folHlink"/>
              </a:buClr>
              <a:buSzPct val="60000"/>
            </a:pPr>
            <a:r>
              <a:rPr lang="en-US" altLang="zh-CN" sz="2400" b="1" dirty="0">
                <a:solidFill>
                  <a:srgbClr val="FF0000"/>
                </a:solidFill>
                <a:latin typeface="Tahoma" panose="020B0604030504040204" pitchFamily="34" charset="0"/>
              </a:rPr>
              <a:t> </a:t>
            </a:r>
            <a:r>
              <a:rPr lang="en-US" altLang="zh-CN" sz="2400" b="1" dirty="0" smtClean="0">
                <a:solidFill>
                  <a:srgbClr val="FF0000"/>
                </a:solidFill>
                <a:latin typeface="Tahoma" panose="020B0604030504040204" pitchFamily="34" charset="0"/>
              </a:rPr>
              <a:t> 『 </a:t>
            </a:r>
            <a:r>
              <a:rPr lang="en-US" altLang="zh-CN" sz="2400" b="1" dirty="0" err="1">
                <a:solidFill>
                  <a:srgbClr val="FF0000"/>
                </a:solidFill>
                <a:latin typeface="Tahoma" panose="020B0604030504040204" pitchFamily="34" charset="0"/>
              </a:rPr>
              <a:t>su</a:t>
            </a:r>
            <a:r>
              <a:rPr lang="en-US" altLang="zh-CN" sz="2400" b="1" dirty="0">
                <a:solidFill>
                  <a:srgbClr val="FF0000"/>
                </a:solidFill>
                <a:latin typeface="Tahoma" panose="020B0604030504040204" pitchFamily="34" charset="0"/>
              </a:rPr>
              <a:t> </a:t>
            </a:r>
            <a:r>
              <a:rPr lang="en-US" altLang="zh-CN" sz="2400" b="1" dirty="0" smtClean="0">
                <a:solidFill>
                  <a:srgbClr val="FF0000"/>
                </a:solidFill>
                <a:latin typeface="Tahoma" panose="020B0604030504040204" pitchFamily="34" charset="0"/>
              </a:rPr>
              <a:t>-</a:t>
            </a:r>
            <a:r>
              <a:rPr lang="en-US" altLang="zh-CN" sz="2400" b="1" dirty="0">
                <a:solidFill>
                  <a:srgbClr val="FF0000"/>
                </a:solidFill>
                <a:latin typeface="Tahoma" panose="020B0604030504040204" pitchFamily="34" charset="0"/>
              </a:rPr>
              <a:t>c "</a:t>
            </a:r>
            <a:r>
              <a:rPr lang="zh-CN" altLang="en-US" sz="2400" b="1" dirty="0">
                <a:solidFill>
                  <a:srgbClr val="FF0000"/>
                </a:solidFill>
                <a:latin typeface="Tahoma" panose="020B0604030504040204" pitchFamily="34" charset="0"/>
              </a:rPr>
              <a:t>命令串</a:t>
            </a:r>
            <a:r>
              <a:rPr lang="en-US" altLang="zh-CN" sz="2400" b="1" dirty="0">
                <a:solidFill>
                  <a:srgbClr val="FF0000"/>
                </a:solidFill>
                <a:latin typeface="Tahoma" panose="020B0604030504040204" pitchFamily="34" charset="0"/>
              </a:rPr>
              <a:t>" 』</a:t>
            </a:r>
            <a:r>
              <a:rPr lang="zh-CN" altLang="en-US" sz="2400" b="1" dirty="0">
                <a:latin typeface="Tahoma" panose="020B0604030504040204" pitchFamily="34" charset="0"/>
              </a:rPr>
              <a:t>的方式来处理</a:t>
            </a:r>
          </a:p>
          <a:p>
            <a:pPr marL="57150" lvl="1" indent="-342900" eaLnBrk="0" hangingPunct="0">
              <a:lnSpc>
                <a:spcPct val="120000"/>
              </a:lnSpc>
              <a:spcBef>
                <a:spcPct val="20000"/>
              </a:spcBef>
              <a:buClr>
                <a:schemeClr val="folHlink"/>
              </a:buClr>
              <a:buSzPct val="60000"/>
              <a:buFont typeface="Wingdings" panose="05000000000000000000" pitchFamily="2" charset="2"/>
              <a:buChar char="u"/>
            </a:pPr>
            <a:r>
              <a:rPr lang="zh-CN" altLang="en-US" sz="2400" b="1" dirty="0">
                <a:latin typeface="Tahoma" panose="020B0604030504040204" pitchFamily="34" charset="0"/>
              </a:rPr>
              <a:t>使用 </a:t>
            </a:r>
            <a:r>
              <a:rPr lang="en-US" altLang="zh-CN" sz="2400" b="1" dirty="0">
                <a:latin typeface="Tahoma" panose="020B0604030504040204" pitchFamily="34" charset="0"/>
              </a:rPr>
              <a:t>root </a:t>
            </a:r>
            <a:r>
              <a:rPr lang="zh-CN" altLang="en-US" sz="2400" b="1" dirty="0">
                <a:latin typeface="Tahoma" panose="020B0604030504040204" pitchFamily="34" charset="0"/>
              </a:rPr>
              <a:t>切换成为任何使用者时，并不需要输入新用户的口令</a:t>
            </a:r>
          </a:p>
        </p:txBody>
      </p:sp>
      <p:sp>
        <p:nvSpPr>
          <p:cNvPr id="8" name="文本框 7">
            <a:extLst>
              <a:ext uri="{FF2B5EF4-FFF2-40B4-BE49-F238E27FC236}">
                <a16:creationId xmlns:a16="http://schemas.microsoft.com/office/drawing/2014/main" id="{FDE45531-B212-459B-8C31-D31DCDA9D7BD}"/>
              </a:ext>
            </a:extLst>
          </p:cNvPr>
          <p:cNvSpPr txBox="1"/>
          <p:nvPr/>
        </p:nvSpPr>
        <p:spPr>
          <a:xfrm>
            <a:off x="1043608" y="1468665"/>
            <a:ext cx="4572000" cy="535531"/>
          </a:xfrm>
          <a:prstGeom prst="rect">
            <a:avLst/>
          </a:prstGeom>
          <a:noFill/>
        </p:spPr>
        <p:txBody>
          <a:bodyPr wrap="square">
            <a:spAutoFit/>
          </a:bodyPr>
          <a:lstStyle/>
          <a:p>
            <a:pPr>
              <a:lnSpc>
                <a:spcPct val="80000"/>
              </a:lnSpc>
            </a:pPr>
            <a:r>
              <a:rPr lang="en-US" altLang="zh-CN" sz="3600" dirty="0" err="1">
                <a:solidFill>
                  <a:srgbClr val="FF0000"/>
                </a:solidFill>
              </a:rPr>
              <a:t>su</a:t>
            </a:r>
            <a:r>
              <a:rPr lang="zh-CN" altLang="en-US" sz="3600" dirty="0">
                <a:solidFill>
                  <a:srgbClr val="FF0000"/>
                </a:solidFill>
              </a:rPr>
              <a:t>使用方法总结：</a:t>
            </a:r>
            <a:endParaRPr lang="en-US" altLang="zh-CN" sz="3600" dirty="0">
              <a:solidFill>
                <a:srgbClr val="FF0000"/>
              </a:solidFill>
            </a:endParaRPr>
          </a:p>
        </p:txBody>
      </p:sp>
    </p:spTree>
    <p:extLst>
      <p:ext uri="{BB962C8B-B14F-4D97-AF65-F5344CB8AC3E}">
        <p14:creationId xmlns:p14="http://schemas.microsoft.com/office/powerpoint/2010/main" val="2151642081"/>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en-US" altLang="zh-CN" dirty="0" err="1"/>
              <a:t>sudo</a:t>
            </a:r>
            <a:endParaRPr lang="zh-CN" altLang="en-US" dirty="0"/>
          </a:p>
        </p:txBody>
      </p:sp>
      <p:sp>
        <p:nvSpPr>
          <p:cNvPr id="3" name="内容占位符 2"/>
          <p:cNvSpPr>
            <a:spLocks noGrp="1"/>
          </p:cNvSpPr>
          <p:nvPr>
            <p:ph idx="1"/>
          </p:nvPr>
        </p:nvSpPr>
        <p:spPr>
          <a:xfrm>
            <a:off x="899592" y="1371600"/>
            <a:ext cx="7920880" cy="5225752"/>
          </a:xfrm>
        </p:spPr>
        <p:txBody>
          <a:bodyPr/>
          <a:lstStyle/>
          <a:p>
            <a:pPr>
              <a:lnSpc>
                <a:spcPct val="80000"/>
              </a:lnSpc>
            </a:pPr>
            <a:r>
              <a:rPr lang="en-US" altLang="zh-CN" dirty="0"/>
              <a:t>visudo</a:t>
            </a:r>
            <a:r>
              <a:rPr lang="zh-CN" altLang="en-US" dirty="0"/>
              <a:t>与</a:t>
            </a:r>
            <a:r>
              <a:rPr lang="en-US" altLang="zh-CN" dirty="0"/>
              <a:t>/</a:t>
            </a:r>
            <a:r>
              <a:rPr lang="en-US" altLang="zh-CN" dirty="0" err="1"/>
              <a:t>etc</a:t>
            </a:r>
            <a:r>
              <a:rPr lang="en-US" altLang="zh-CN" dirty="0"/>
              <a:t>/</a:t>
            </a:r>
            <a:r>
              <a:rPr lang="en-US" altLang="zh-CN" dirty="0" err="1"/>
              <a:t>sudoers</a:t>
            </a:r>
            <a:endParaRPr lang="en-US" altLang="zh-CN" dirty="0"/>
          </a:p>
          <a:p>
            <a:pPr lvl="1">
              <a:lnSpc>
                <a:spcPct val="110000"/>
              </a:lnSpc>
            </a:pPr>
            <a:r>
              <a:rPr lang="zh-CN" altLang="en-US" sz="2400" dirty="0"/>
              <a:t>系统默认仅有 </a:t>
            </a:r>
            <a:r>
              <a:rPr lang="en-US" altLang="zh-CN" sz="2400" dirty="0"/>
              <a:t>root </a:t>
            </a:r>
            <a:r>
              <a:rPr lang="zh-CN" altLang="en-US" sz="2400" dirty="0"/>
              <a:t>可以运行 </a:t>
            </a:r>
            <a:r>
              <a:rPr lang="en-US" altLang="zh-CN" sz="2400" dirty="0" err="1"/>
              <a:t>sudo</a:t>
            </a:r>
            <a:r>
              <a:rPr lang="en-US" altLang="zh-CN" sz="2400" dirty="0"/>
              <a:t> </a:t>
            </a:r>
            <a:endParaRPr lang="zh-CN" altLang="en-US" sz="2400" dirty="0"/>
          </a:p>
          <a:p>
            <a:pPr lvl="1">
              <a:lnSpc>
                <a:spcPct val="110000"/>
              </a:lnSpc>
            </a:pPr>
            <a:r>
              <a:rPr lang="zh-CN" altLang="en-US" sz="2400" dirty="0">
                <a:solidFill>
                  <a:srgbClr val="FF0000"/>
                </a:solidFill>
              </a:rPr>
              <a:t>仅有规范到 </a:t>
            </a:r>
            <a:r>
              <a:rPr lang="en-US" altLang="zh-CN" sz="2400" dirty="0">
                <a:solidFill>
                  <a:srgbClr val="FF0000"/>
                </a:solidFill>
              </a:rPr>
              <a:t>/</a:t>
            </a:r>
            <a:r>
              <a:rPr lang="en-US" altLang="zh-CN" sz="2400" dirty="0" err="1">
                <a:solidFill>
                  <a:srgbClr val="FF0000"/>
                </a:solidFill>
              </a:rPr>
              <a:t>etc</a:t>
            </a:r>
            <a:r>
              <a:rPr lang="en-US" altLang="zh-CN" sz="2400" dirty="0">
                <a:solidFill>
                  <a:srgbClr val="FF0000"/>
                </a:solidFill>
              </a:rPr>
              <a:t>/</a:t>
            </a:r>
            <a:r>
              <a:rPr lang="en-US" altLang="zh-CN" sz="2400" dirty="0" err="1">
                <a:solidFill>
                  <a:srgbClr val="FF0000"/>
                </a:solidFill>
              </a:rPr>
              <a:t>sudoers</a:t>
            </a:r>
            <a:r>
              <a:rPr lang="en-US" altLang="zh-CN" sz="2400" dirty="0">
                <a:solidFill>
                  <a:srgbClr val="FF0000"/>
                </a:solidFill>
              </a:rPr>
              <a:t> </a:t>
            </a:r>
            <a:r>
              <a:rPr lang="zh-CN" altLang="en-US" sz="2400" dirty="0">
                <a:solidFill>
                  <a:srgbClr val="FF0000"/>
                </a:solidFill>
              </a:rPr>
              <a:t>内的用户才能够运行 </a:t>
            </a:r>
            <a:r>
              <a:rPr lang="en-US" altLang="zh-CN" sz="2400" dirty="0" err="1">
                <a:solidFill>
                  <a:srgbClr val="FF0000"/>
                </a:solidFill>
              </a:rPr>
              <a:t>sudo</a:t>
            </a:r>
            <a:r>
              <a:rPr lang="en-US" altLang="zh-CN" sz="2400" dirty="0">
                <a:solidFill>
                  <a:srgbClr val="FF0000"/>
                </a:solidFill>
              </a:rPr>
              <a:t> </a:t>
            </a:r>
            <a:r>
              <a:rPr lang="zh-CN" altLang="en-US" sz="2400" dirty="0">
                <a:solidFill>
                  <a:srgbClr val="FF0000"/>
                </a:solidFill>
              </a:rPr>
              <a:t>这个命令</a:t>
            </a:r>
            <a:endParaRPr lang="en-US" altLang="zh-CN" sz="2400" dirty="0">
              <a:solidFill>
                <a:srgbClr val="FF0000"/>
              </a:solidFill>
            </a:endParaRPr>
          </a:p>
          <a:p>
            <a:pPr lvl="1">
              <a:lnSpc>
                <a:spcPct val="110000"/>
              </a:lnSpc>
            </a:pPr>
            <a:r>
              <a:rPr lang="en-US" altLang="zh-CN" sz="2400" dirty="0" err="1"/>
              <a:t>sudo</a:t>
            </a:r>
            <a:r>
              <a:rPr lang="en-US" altLang="zh-CN" sz="2400" dirty="0"/>
              <a:t> </a:t>
            </a:r>
            <a:r>
              <a:rPr lang="zh-CN" altLang="en-US" sz="2400" dirty="0">
                <a:solidFill>
                  <a:srgbClr val="FF0000"/>
                </a:solidFill>
              </a:rPr>
              <a:t>运行的重点</a:t>
            </a:r>
            <a:r>
              <a:rPr lang="zh-CN" altLang="en-US" sz="2400" dirty="0"/>
              <a:t>：能否使用 </a:t>
            </a:r>
            <a:r>
              <a:rPr lang="en-US" altLang="zh-CN" sz="2400" dirty="0" err="1"/>
              <a:t>sudo</a:t>
            </a:r>
            <a:r>
              <a:rPr lang="en-US" altLang="zh-CN" sz="2400" dirty="0"/>
              <a:t> </a:t>
            </a:r>
            <a:r>
              <a:rPr lang="zh-CN" altLang="en-US" sz="2400" dirty="0"/>
              <a:t>必须要看 </a:t>
            </a:r>
            <a:r>
              <a:rPr lang="en-US" altLang="zh-CN" sz="2400" dirty="0">
                <a:solidFill>
                  <a:srgbClr val="FF0000"/>
                </a:solidFill>
              </a:rPr>
              <a:t>/</a:t>
            </a:r>
            <a:r>
              <a:rPr lang="en-US" altLang="zh-CN" sz="2400" dirty="0" err="1">
                <a:solidFill>
                  <a:srgbClr val="FF0000"/>
                </a:solidFill>
              </a:rPr>
              <a:t>etc</a:t>
            </a:r>
            <a:r>
              <a:rPr lang="en-US" altLang="zh-CN" sz="2400" dirty="0">
                <a:solidFill>
                  <a:srgbClr val="FF0000"/>
                </a:solidFill>
              </a:rPr>
              <a:t>/</a:t>
            </a:r>
            <a:r>
              <a:rPr lang="en-US" altLang="zh-CN" sz="2400" dirty="0" err="1">
                <a:solidFill>
                  <a:srgbClr val="FF0000"/>
                </a:solidFill>
              </a:rPr>
              <a:t>sudoers</a:t>
            </a:r>
            <a:r>
              <a:rPr lang="en-US" altLang="zh-CN" sz="2400" dirty="0">
                <a:solidFill>
                  <a:srgbClr val="FF0000"/>
                </a:solidFill>
              </a:rPr>
              <a:t> </a:t>
            </a:r>
            <a:r>
              <a:rPr lang="zh-CN" altLang="en-US" sz="2400" dirty="0">
                <a:solidFill>
                  <a:srgbClr val="FF0000"/>
                </a:solidFill>
              </a:rPr>
              <a:t>的配置值</a:t>
            </a:r>
            <a:r>
              <a:rPr lang="zh-CN" altLang="en-US" sz="2400" dirty="0"/>
              <a:t>， 而可使用 </a:t>
            </a:r>
            <a:r>
              <a:rPr lang="en-US" altLang="zh-CN" sz="2400" dirty="0" err="1"/>
              <a:t>sudo</a:t>
            </a:r>
            <a:r>
              <a:rPr lang="en-US" altLang="zh-CN" sz="2400" dirty="0"/>
              <a:t> </a:t>
            </a:r>
            <a:r>
              <a:rPr lang="zh-CN" altLang="en-US" sz="2400" dirty="0"/>
              <a:t>的用户可以通过输入</a:t>
            </a:r>
            <a:r>
              <a:rPr lang="zh-CN" altLang="en-US" sz="2400" dirty="0">
                <a:solidFill>
                  <a:srgbClr val="FF0000"/>
                </a:solidFill>
              </a:rPr>
              <a:t>自己的口令</a:t>
            </a:r>
            <a:r>
              <a:rPr lang="zh-CN" altLang="en-US" sz="2400" dirty="0"/>
              <a:t>来运行后续的命令串</a:t>
            </a:r>
            <a:endParaRPr lang="en-US" altLang="zh-CN" sz="2400" dirty="0"/>
          </a:p>
          <a:p>
            <a:pPr lvl="1">
              <a:lnSpc>
                <a:spcPct val="110000"/>
              </a:lnSpc>
            </a:pPr>
            <a:r>
              <a:rPr lang="zh-CN" altLang="en-US" sz="2400" dirty="0"/>
              <a:t>若想让除 </a:t>
            </a:r>
            <a:r>
              <a:rPr lang="en-US" altLang="zh-CN" sz="2400" dirty="0"/>
              <a:t>root </a:t>
            </a:r>
            <a:r>
              <a:rPr lang="zh-CN" altLang="en-US" sz="2400" dirty="0"/>
              <a:t>之外的</a:t>
            </a:r>
            <a:r>
              <a:rPr lang="zh-CN" altLang="en-US" sz="2400" dirty="0">
                <a:solidFill>
                  <a:srgbClr val="FF0000"/>
                </a:solidFill>
              </a:rPr>
              <a:t>其他账号</a:t>
            </a:r>
            <a:r>
              <a:rPr lang="zh-CN" altLang="en-US" sz="2400" dirty="0"/>
              <a:t>，使用 </a:t>
            </a:r>
            <a:r>
              <a:rPr lang="en-US" altLang="zh-CN" sz="2400" dirty="0" err="1"/>
              <a:t>sudo</a:t>
            </a:r>
            <a:r>
              <a:rPr lang="en-US" altLang="zh-CN" sz="2400" dirty="0"/>
              <a:t> </a:t>
            </a:r>
            <a:r>
              <a:rPr lang="zh-CN" altLang="en-US" sz="2400" dirty="0"/>
              <a:t>运行属于 </a:t>
            </a:r>
            <a:r>
              <a:rPr lang="en-US" altLang="zh-CN" sz="2400" dirty="0"/>
              <a:t>root </a:t>
            </a:r>
            <a:r>
              <a:rPr lang="zh-CN" altLang="en-US" sz="2400" dirty="0"/>
              <a:t>的权限命令：</a:t>
            </a:r>
            <a:endParaRPr lang="en-US" altLang="zh-CN" sz="2400" dirty="0"/>
          </a:p>
          <a:p>
            <a:pPr lvl="2">
              <a:lnSpc>
                <a:spcPct val="110000"/>
              </a:lnSpc>
            </a:pPr>
            <a:r>
              <a:rPr lang="zh-CN" altLang="en-US" sz="2000" dirty="0"/>
              <a:t>需要</a:t>
            </a:r>
            <a:r>
              <a:rPr lang="en-US" altLang="zh-CN" sz="2000" dirty="0"/>
              <a:t>root </a:t>
            </a:r>
            <a:r>
              <a:rPr lang="zh-CN" altLang="en-US" sz="2000" dirty="0"/>
              <a:t>先使用 </a:t>
            </a:r>
            <a:r>
              <a:rPr lang="en-US" altLang="zh-CN" sz="2000" dirty="0">
                <a:solidFill>
                  <a:srgbClr val="FF0000"/>
                </a:solidFill>
              </a:rPr>
              <a:t>visudo </a:t>
            </a:r>
            <a:r>
              <a:rPr lang="zh-CN" altLang="en-US" sz="2000" dirty="0">
                <a:solidFill>
                  <a:srgbClr val="FF0000"/>
                </a:solidFill>
              </a:rPr>
              <a:t>去修改 </a:t>
            </a:r>
            <a:r>
              <a:rPr lang="en-US" altLang="zh-CN" sz="2000" dirty="0">
                <a:solidFill>
                  <a:srgbClr val="FF0000"/>
                </a:solidFill>
              </a:rPr>
              <a:t>/</a:t>
            </a:r>
            <a:r>
              <a:rPr lang="en-US" altLang="zh-CN" sz="2000" dirty="0" err="1">
                <a:solidFill>
                  <a:srgbClr val="FF0000"/>
                </a:solidFill>
              </a:rPr>
              <a:t>etc</a:t>
            </a:r>
            <a:r>
              <a:rPr lang="en-US" altLang="zh-CN" sz="2000" dirty="0">
                <a:solidFill>
                  <a:srgbClr val="FF0000"/>
                </a:solidFill>
              </a:rPr>
              <a:t>/</a:t>
            </a:r>
            <a:r>
              <a:rPr lang="en-US" altLang="zh-CN" sz="2000" dirty="0" err="1">
                <a:solidFill>
                  <a:srgbClr val="FF0000"/>
                </a:solidFill>
              </a:rPr>
              <a:t>sudoers</a:t>
            </a:r>
            <a:r>
              <a:rPr lang="en-US" altLang="zh-CN" sz="2000" dirty="0">
                <a:solidFill>
                  <a:srgbClr val="FF0000"/>
                </a:solidFill>
              </a:rPr>
              <a:t> </a:t>
            </a:r>
            <a:r>
              <a:rPr lang="zh-CN" altLang="en-US" sz="2000" dirty="0"/>
              <a:t>，让该账号能够使用全部或部分的 </a:t>
            </a:r>
            <a:r>
              <a:rPr lang="en-US" altLang="zh-CN" sz="2000" dirty="0"/>
              <a:t>root </a:t>
            </a:r>
            <a:r>
              <a:rPr lang="zh-CN" altLang="en-US" sz="2000" dirty="0"/>
              <a:t>命令功能</a:t>
            </a:r>
            <a:endParaRPr lang="en-US" altLang="zh-CN" sz="2000" dirty="0"/>
          </a:p>
          <a:p>
            <a:pPr lvl="2">
              <a:lnSpc>
                <a:spcPct val="110000"/>
              </a:lnSpc>
            </a:pPr>
            <a:r>
              <a:rPr lang="zh-CN" altLang="en-US" sz="2000" dirty="0"/>
              <a:t>普通用户在</a:t>
            </a:r>
            <a:r>
              <a:rPr lang="zh-CN" altLang="en-US" sz="2000" dirty="0">
                <a:solidFill>
                  <a:srgbClr val="FF0000"/>
                </a:solidFill>
              </a:rPr>
              <a:t>安装设置中勾选</a:t>
            </a:r>
            <a:r>
              <a:rPr lang="zh-CN" altLang="en-US" sz="2000" dirty="0"/>
              <a:t>了让该用户</a:t>
            </a:r>
            <a:r>
              <a:rPr lang="zh-CN" altLang="en-US" sz="2000" dirty="0">
                <a:solidFill>
                  <a:srgbClr val="FF0000"/>
                </a:solidFill>
              </a:rPr>
              <a:t>成为管理员</a:t>
            </a:r>
          </a:p>
          <a:p>
            <a:pPr lvl="1">
              <a:lnSpc>
                <a:spcPct val="110000"/>
              </a:lnSpc>
            </a:pPr>
            <a:endParaRPr lang="zh-CN" altLang="en-US" sz="2400" dirty="0"/>
          </a:p>
          <a:p>
            <a:endParaRPr lang="zh-CN" altLang="en-US" dirty="0"/>
          </a:p>
        </p:txBody>
      </p:sp>
    </p:spTree>
    <p:extLst>
      <p:ext uri="{BB962C8B-B14F-4D97-AF65-F5344CB8AC3E}">
        <p14:creationId xmlns:p14="http://schemas.microsoft.com/office/powerpoint/2010/main" val="301432812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用户身份切换</a:t>
            </a:r>
            <a:r>
              <a:rPr lang="en-US" altLang="zh-CN" dirty="0"/>
              <a:t>—</a:t>
            </a:r>
            <a:r>
              <a:rPr lang="en-US" altLang="zh-CN" dirty="0" err="1"/>
              <a:t>sudo</a:t>
            </a:r>
            <a:endParaRPr lang="zh-CN" altLang="en-US" dirty="0"/>
          </a:p>
        </p:txBody>
      </p:sp>
      <p:sp>
        <p:nvSpPr>
          <p:cNvPr id="7" name="文本框 6">
            <a:extLst>
              <a:ext uri="{FF2B5EF4-FFF2-40B4-BE49-F238E27FC236}">
                <a16:creationId xmlns:a16="http://schemas.microsoft.com/office/drawing/2014/main" id="{60479F17-0538-430D-9DC5-C210C2F0A23C}"/>
              </a:ext>
            </a:extLst>
          </p:cNvPr>
          <p:cNvSpPr txBox="1"/>
          <p:nvPr/>
        </p:nvSpPr>
        <p:spPr>
          <a:xfrm>
            <a:off x="1619672" y="5301208"/>
            <a:ext cx="6768752" cy="1477328"/>
          </a:xfrm>
          <a:prstGeom prst="rect">
            <a:avLst/>
          </a:prstGeom>
          <a:solidFill>
            <a:schemeClr val="accent2">
              <a:lumMod val="60000"/>
              <a:lumOff val="40000"/>
            </a:schemeClr>
          </a:solidFill>
        </p:spPr>
        <p:txBody>
          <a:bodyPr wrap="square">
            <a:spAutoFit/>
          </a:bodyPr>
          <a:lstStyle/>
          <a:p>
            <a:r>
              <a:rPr lang="en-US" altLang="zh-CN" dirty="0"/>
              <a:t>[</a:t>
            </a:r>
            <a:r>
              <a:rPr lang="en-US" altLang="zh-CN" dirty="0" err="1"/>
              <a:t>root@www</a:t>
            </a:r>
            <a:r>
              <a:rPr lang="en-US" altLang="zh-CN" dirty="0"/>
              <a:t> ~]# visudo</a:t>
            </a:r>
          </a:p>
          <a:p>
            <a:r>
              <a:rPr lang="en-US" altLang="zh-CN" dirty="0"/>
              <a:t>....(</a:t>
            </a:r>
            <a:r>
              <a:rPr lang="zh-CN" altLang="en-US" dirty="0"/>
              <a:t>省略</a:t>
            </a:r>
            <a:r>
              <a:rPr lang="en-US" altLang="zh-CN" dirty="0"/>
              <a:t>)....</a:t>
            </a:r>
          </a:p>
          <a:p>
            <a:r>
              <a:rPr lang="en-US" altLang="zh-CN" dirty="0"/>
              <a:t>root    ALL=(ALL)       ALL  &lt;==</a:t>
            </a:r>
            <a:r>
              <a:rPr lang="zh-CN" altLang="en-US" dirty="0"/>
              <a:t>找到这一行，</a:t>
            </a:r>
            <a:r>
              <a:rPr lang="en-US" altLang="zh-CN" dirty="0"/>
              <a:t>root</a:t>
            </a:r>
            <a:r>
              <a:rPr lang="zh-CN" altLang="en-US" dirty="0"/>
              <a:t>账户的默认设置</a:t>
            </a:r>
          </a:p>
          <a:p>
            <a:r>
              <a:rPr lang="en-US" altLang="zh-CN" dirty="0">
                <a:solidFill>
                  <a:srgbClr val="FF0000"/>
                </a:solidFill>
              </a:rPr>
              <a:t>lily  ALL=(ALL)       ALL  </a:t>
            </a:r>
            <a:r>
              <a:rPr lang="en-US" altLang="zh-CN" dirty="0"/>
              <a:t>&lt;==</a:t>
            </a:r>
            <a:r>
              <a:rPr lang="zh-CN" altLang="en-US" dirty="0"/>
              <a:t>这一行是要新增的</a:t>
            </a:r>
          </a:p>
          <a:p>
            <a:r>
              <a:rPr lang="en-US" altLang="zh-CN" dirty="0"/>
              <a:t>....(</a:t>
            </a:r>
            <a:r>
              <a:rPr lang="zh-CN" altLang="en-US" dirty="0"/>
              <a:t>省略</a:t>
            </a:r>
            <a:r>
              <a:rPr lang="en-US" altLang="zh-CN" dirty="0"/>
              <a:t>)....</a:t>
            </a:r>
            <a:endParaRPr lang="zh-CN" altLang="en-US" dirty="0"/>
          </a:p>
        </p:txBody>
      </p:sp>
      <p:sp>
        <p:nvSpPr>
          <p:cNvPr id="10" name="文本框 9">
            <a:extLst>
              <a:ext uri="{FF2B5EF4-FFF2-40B4-BE49-F238E27FC236}">
                <a16:creationId xmlns:a16="http://schemas.microsoft.com/office/drawing/2014/main" id="{3B13B048-ACA9-4E4C-A562-E40320818159}"/>
              </a:ext>
            </a:extLst>
          </p:cNvPr>
          <p:cNvSpPr txBox="1"/>
          <p:nvPr/>
        </p:nvSpPr>
        <p:spPr>
          <a:xfrm>
            <a:off x="774750" y="1376491"/>
            <a:ext cx="8172400" cy="1408847"/>
          </a:xfrm>
          <a:prstGeom prst="rect">
            <a:avLst/>
          </a:prstGeom>
          <a:noFill/>
        </p:spPr>
        <p:txBody>
          <a:bodyPr wrap="square">
            <a:spAutoFit/>
          </a:bodyPr>
          <a:lstStyle/>
          <a:p>
            <a:pPr>
              <a:lnSpc>
                <a:spcPct val="120000"/>
              </a:lnSpc>
            </a:pPr>
            <a:r>
              <a:rPr lang="zh-CN" altLang="en-US" sz="2200" b="1" dirty="0">
                <a:solidFill>
                  <a:schemeClr val="accent2">
                    <a:lumMod val="50000"/>
                  </a:schemeClr>
                </a:solidFill>
              </a:rPr>
              <a:t>使用者账号  登陆者的来源主机名</a:t>
            </a:r>
            <a:r>
              <a:rPr lang="en-US" altLang="zh-CN" sz="2200" b="1" dirty="0">
                <a:solidFill>
                  <a:schemeClr val="accent2">
                    <a:lumMod val="50000"/>
                  </a:schemeClr>
                </a:solidFill>
              </a:rPr>
              <a:t>=(</a:t>
            </a:r>
            <a:r>
              <a:rPr lang="zh-CN" altLang="en-US" sz="2200" b="1" dirty="0">
                <a:solidFill>
                  <a:schemeClr val="accent2">
                    <a:lumMod val="50000"/>
                  </a:schemeClr>
                </a:solidFill>
              </a:rPr>
              <a:t>可切换的身份</a:t>
            </a:r>
            <a:r>
              <a:rPr lang="en-US" altLang="zh-CN" sz="2200" b="1" dirty="0">
                <a:solidFill>
                  <a:schemeClr val="accent2">
                    <a:lumMod val="50000"/>
                  </a:schemeClr>
                </a:solidFill>
              </a:rPr>
              <a:t>)  </a:t>
            </a:r>
            <a:r>
              <a:rPr lang="zh-CN" altLang="en-US" sz="2200" b="1" dirty="0">
                <a:solidFill>
                  <a:schemeClr val="accent2">
                    <a:lumMod val="50000"/>
                  </a:schemeClr>
                </a:solidFill>
              </a:rPr>
              <a:t>可下达的命令</a:t>
            </a:r>
          </a:p>
          <a:p>
            <a:pPr>
              <a:lnSpc>
                <a:spcPct val="120000"/>
              </a:lnSpc>
            </a:pPr>
            <a:r>
              <a:rPr lang="en-US" altLang="zh-CN" sz="2200" b="1" dirty="0">
                <a:solidFill>
                  <a:schemeClr val="accent2">
                    <a:lumMod val="50000"/>
                  </a:schemeClr>
                </a:solidFill>
              </a:rPr>
              <a:t>root                         ALL=(ALL)           ALL   &lt;==</a:t>
            </a:r>
            <a:r>
              <a:rPr lang="zh-CN" altLang="en-US" sz="2200" b="1" dirty="0">
                <a:solidFill>
                  <a:schemeClr val="accent2">
                    <a:lumMod val="50000"/>
                  </a:schemeClr>
                </a:solidFill>
              </a:rPr>
              <a:t>这是默认值</a:t>
            </a:r>
            <a:endParaRPr lang="en-US" altLang="zh-CN" sz="2200" b="1" dirty="0">
              <a:solidFill>
                <a:schemeClr val="accent2">
                  <a:lumMod val="50000"/>
                </a:schemeClr>
              </a:solidFill>
            </a:endParaRPr>
          </a:p>
          <a:p>
            <a:pPr marL="342900" indent="-342900" eaLnBrk="0" hangingPunct="0">
              <a:lnSpc>
                <a:spcPct val="110000"/>
              </a:lnSpc>
              <a:spcBef>
                <a:spcPts val="600"/>
              </a:spcBef>
              <a:buClr>
                <a:schemeClr val="folHlink"/>
              </a:buClr>
              <a:buSzPct val="60000"/>
              <a:buFont typeface="Wingdings" panose="05000000000000000000" pitchFamily="2" charset="2"/>
              <a:buChar char="n"/>
            </a:pPr>
            <a:r>
              <a:rPr lang="zh-CN" altLang="en-US" sz="2800" dirty="0">
                <a:latin typeface="Tahoma" panose="020B0604030504040204" pitchFamily="34" charset="0"/>
              </a:rPr>
              <a:t>四个组件：</a:t>
            </a:r>
          </a:p>
        </p:txBody>
      </p:sp>
      <p:sp>
        <p:nvSpPr>
          <p:cNvPr id="12" name="文本框 11">
            <a:extLst>
              <a:ext uri="{FF2B5EF4-FFF2-40B4-BE49-F238E27FC236}">
                <a16:creationId xmlns:a16="http://schemas.microsoft.com/office/drawing/2014/main" id="{FF6DD57C-966F-45D6-B0C3-F830FB82A6BD}"/>
              </a:ext>
            </a:extLst>
          </p:cNvPr>
          <p:cNvSpPr txBox="1"/>
          <p:nvPr/>
        </p:nvSpPr>
        <p:spPr>
          <a:xfrm>
            <a:off x="655192" y="2731748"/>
            <a:ext cx="8280920" cy="2493055"/>
          </a:xfrm>
          <a:prstGeom prst="rect">
            <a:avLst/>
          </a:prstGeom>
          <a:noFill/>
        </p:spPr>
        <p:txBody>
          <a:bodyPr wrap="square">
            <a:spAutoFit/>
          </a:bodyPr>
          <a:lstStyle/>
          <a:p>
            <a:pPr marL="742950" lvl="1" indent="-285750" eaLnBrk="0" hangingPunct="0">
              <a:lnSpc>
                <a:spcPct val="110000"/>
              </a:lnSpc>
              <a:spcBef>
                <a:spcPct val="20000"/>
              </a:spcBef>
              <a:buClr>
                <a:schemeClr val="folHlink"/>
              </a:buClr>
              <a:buSzPct val="60000"/>
              <a:buFont typeface="Wingdings" panose="05000000000000000000" pitchFamily="2" charset="2"/>
              <a:buChar char="l"/>
            </a:pPr>
            <a:r>
              <a:rPr lang="zh-CN" altLang="en-US" sz="2200" b="1" dirty="0">
                <a:latin typeface="Tahoma" panose="020B0604030504040204" pitchFamily="34" charset="0"/>
              </a:rPr>
              <a:t>可以使用 </a:t>
            </a:r>
            <a:r>
              <a:rPr lang="en-US" altLang="zh-CN" sz="2200" b="1" dirty="0" err="1">
                <a:latin typeface="Tahoma" panose="020B0604030504040204" pitchFamily="34" charset="0"/>
              </a:rPr>
              <a:t>sudo</a:t>
            </a:r>
            <a:r>
              <a:rPr lang="en-US" altLang="zh-CN" sz="2200" b="1" dirty="0">
                <a:latin typeface="Tahoma" panose="020B0604030504040204" pitchFamily="34" charset="0"/>
              </a:rPr>
              <a:t> </a:t>
            </a:r>
            <a:r>
              <a:rPr lang="zh-CN" altLang="en-US" sz="2200" b="1" dirty="0">
                <a:latin typeface="Tahoma" panose="020B0604030504040204" pitchFamily="34" charset="0"/>
              </a:rPr>
              <a:t>命令的</a:t>
            </a:r>
            <a:r>
              <a:rPr lang="zh-CN" altLang="en-US" sz="2200" b="1" dirty="0">
                <a:solidFill>
                  <a:srgbClr val="FF0000"/>
                </a:solidFill>
                <a:latin typeface="Tahoma" panose="020B0604030504040204" pitchFamily="34" charset="0"/>
              </a:rPr>
              <a:t>用户账号</a:t>
            </a:r>
            <a:r>
              <a:rPr lang="zh-CN" altLang="en-US" sz="2200" b="1" dirty="0">
                <a:latin typeface="Tahoma" panose="020B0604030504040204" pitchFamily="34" charset="0"/>
              </a:rPr>
              <a:t>，默认为 </a:t>
            </a:r>
            <a:r>
              <a:rPr lang="en-US" altLang="zh-CN" sz="2200" b="1" dirty="0">
                <a:latin typeface="Tahoma" panose="020B0604030504040204" pitchFamily="34" charset="0"/>
              </a:rPr>
              <a:t>root </a:t>
            </a:r>
            <a:r>
              <a:rPr lang="zh-CN" altLang="en-US" sz="2200" b="1" dirty="0">
                <a:latin typeface="Tahoma" panose="020B0604030504040204" pitchFamily="34" charset="0"/>
              </a:rPr>
              <a:t>账号</a:t>
            </a:r>
          </a:p>
          <a:p>
            <a:pPr marL="742950" lvl="1" indent="-285750" eaLnBrk="0" hangingPunct="0">
              <a:lnSpc>
                <a:spcPct val="110000"/>
              </a:lnSpc>
              <a:spcBef>
                <a:spcPct val="20000"/>
              </a:spcBef>
              <a:buClr>
                <a:schemeClr val="folHlink"/>
              </a:buClr>
              <a:buSzPct val="60000"/>
              <a:buFont typeface="Wingdings" panose="05000000000000000000" pitchFamily="2" charset="2"/>
              <a:buChar char="l"/>
            </a:pPr>
            <a:r>
              <a:rPr lang="zh-CN" altLang="en-US" sz="2200" b="1" dirty="0">
                <a:latin typeface="Tahoma" panose="020B0604030504040204" pitchFamily="34" charset="0"/>
              </a:rPr>
              <a:t>账号由哪部主机联机到本 </a:t>
            </a:r>
            <a:r>
              <a:rPr lang="en-US" altLang="zh-CN" sz="2200" b="1" dirty="0">
                <a:latin typeface="Tahoma" panose="020B0604030504040204" pitchFamily="34" charset="0"/>
              </a:rPr>
              <a:t>Linux </a:t>
            </a:r>
            <a:r>
              <a:rPr lang="zh-CN" altLang="en-US" sz="2200" b="1" dirty="0">
                <a:latin typeface="Tahoma" panose="020B0604030504040204" pitchFamily="34" charset="0"/>
              </a:rPr>
              <a:t>主机，即账号可能是由哪一部网络主机联机过来的， 这个配置值可以</a:t>
            </a:r>
            <a:r>
              <a:rPr lang="zh-CN" altLang="en-US" sz="2200" b="1" dirty="0">
                <a:solidFill>
                  <a:srgbClr val="FF0000"/>
                </a:solidFill>
                <a:latin typeface="Tahoma" panose="020B0604030504040204" pitchFamily="34" charset="0"/>
              </a:rPr>
              <a:t>指定客户端计算机</a:t>
            </a:r>
            <a:r>
              <a:rPr lang="zh-CN" altLang="en-US" sz="2200" b="1" dirty="0">
                <a:latin typeface="Tahoma" panose="020B0604030504040204" pitchFamily="34" charset="0"/>
              </a:rPr>
              <a:t>，</a:t>
            </a:r>
            <a:r>
              <a:rPr lang="en-US" altLang="zh-CN" sz="2200" b="1" dirty="0">
                <a:solidFill>
                  <a:srgbClr val="FF0000"/>
                </a:solidFill>
                <a:latin typeface="Tahoma" panose="020B0604030504040204" pitchFamily="34" charset="0"/>
              </a:rPr>
              <a:t>ALL</a:t>
            </a:r>
            <a:r>
              <a:rPr lang="zh-CN" altLang="en-US" sz="2200" b="1" dirty="0">
                <a:solidFill>
                  <a:srgbClr val="FF0000"/>
                </a:solidFill>
                <a:latin typeface="Tahoma" panose="020B0604030504040204" pitchFamily="34" charset="0"/>
              </a:rPr>
              <a:t>：任何网络主机</a:t>
            </a:r>
          </a:p>
          <a:p>
            <a:pPr marL="742950" lvl="1" indent="-285750" eaLnBrk="0" hangingPunct="0">
              <a:lnSpc>
                <a:spcPct val="110000"/>
              </a:lnSpc>
              <a:spcBef>
                <a:spcPct val="20000"/>
              </a:spcBef>
              <a:buClr>
                <a:schemeClr val="folHlink"/>
              </a:buClr>
              <a:buSzPct val="60000"/>
              <a:buFont typeface="Wingdings" panose="05000000000000000000" pitchFamily="2" charset="2"/>
              <a:buChar char="l"/>
            </a:pPr>
            <a:r>
              <a:rPr lang="zh-CN" altLang="en-US" sz="2200" b="1" dirty="0">
                <a:latin typeface="Tahoma" panose="020B0604030504040204" pitchFamily="34" charset="0"/>
              </a:rPr>
              <a:t>账号</a:t>
            </a:r>
            <a:r>
              <a:rPr lang="zh-CN" altLang="en-US" sz="2200" b="1" dirty="0">
                <a:solidFill>
                  <a:srgbClr val="FF0000"/>
                </a:solidFill>
                <a:latin typeface="Tahoma" panose="020B0604030504040204" pitchFamily="34" charset="0"/>
              </a:rPr>
              <a:t>可以切换</a:t>
            </a:r>
            <a:r>
              <a:rPr lang="zh-CN" altLang="en-US" sz="2200" b="1" dirty="0">
                <a:latin typeface="Tahoma" panose="020B0604030504040204" pitchFamily="34" charset="0"/>
              </a:rPr>
              <a:t>成什么</a:t>
            </a:r>
            <a:r>
              <a:rPr lang="zh-CN" altLang="en-US" sz="2200" b="1" dirty="0">
                <a:solidFill>
                  <a:srgbClr val="FF0000"/>
                </a:solidFill>
                <a:latin typeface="Tahoma" panose="020B0604030504040204" pitchFamily="34" charset="0"/>
              </a:rPr>
              <a:t>身份</a:t>
            </a:r>
            <a:r>
              <a:rPr lang="zh-CN" altLang="en-US" sz="2200" b="1" dirty="0">
                <a:latin typeface="Tahoma" panose="020B0604030504040204" pitchFamily="34" charset="0"/>
              </a:rPr>
              <a:t>来下达后续的命令，</a:t>
            </a:r>
            <a:r>
              <a:rPr lang="en-US" altLang="zh-CN" sz="2200" b="1" dirty="0">
                <a:solidFill>
                  <a:srgbClr val="FF0000"/>
                </a:solidFill>
                <a:latin typeface="Tahoma" panose="020B0604030504040204" pitchFamily="34" charset="0"/>
              </a:rPr>
              <a:t>ALL</a:t>
            </a:r>
            <a:r>
              <a:rPr lang="zh-CN" altLang="en-US" sz="2200" b="1" dirty="0">
                <a:solidFill>
                  <a:srgbClr val="FF0000"/>
                </a:solidFill>
                <a:latin typeface="Tahoma" panose="020B0604030504040204" pitchFamily="34" charset="0"/>
              </a:rPr>
              <a:t>：任何人</a:t>
            </a:r>
          </a:p>
          <a:p>
            <a:pPr marL="742950" lvl="1" indent="-285750" eaLnBrk="0" hangingPunct="0">
              <a:lnSpc>
                <a:spcPct val="110000"/>
              </a:lnSpc>
              <a:spcBef>
                <a:spcPct val="20000"/>
              </a:spcBef>
              <a:buClr>
                <a:schemeClr val="folHlink"/>
              </a:buClr>
              <a:buSzPct val="60000"/>
              <a:buFont typeface="Wingdings" panose="05000000000000000000" pitchFamily="2" charset="2"/>
              <a:buChar char="l"/>
            </a:pPr>
            <a:r>
              <a:rPr lang="zh-CN" altLang="en-US" sz="2200" b="1" dirty="0">
                <a:latin typeface="Tahoma" panose="020B0604030504040204" pitchFamily="34" charset="0"/>
              </a:rPr>
              <a:t>可用下达的命令，给出</a:t>
            </a:r>
            <a:r>
              <a:rPr lang="zh-CN" altLang="en-US" sz="2200" b="1" dirty="0">
                <a:solidFill>
                  <a:srgbClr val="0000CC"/>
                </a:solidFill>
                <a:latin typeface="Tahoma" panose="020B0604030504040204" pitchFamily="34" charset="0"/>
              </a:rPr>
              <a:t>命令绝对路径</a:t>
            </a:r>
            <a:r>
              <a:rPr lang="zh-CN" altLang="en-US" sz="2200" b="1" dirty="0">
                <a:latin typeface="Tahoma" panose="020B0604030504040204" pitchFamily="34" charset="0"/>
              </a:rPr>
              <a:t>，</a:t>
            </a:r>
            <a:r>
              <a:rPr lang="en-US" altLang="zh-CN" sz="2200" b="1" dirty="0">
                <a:solidFill>
                  <a:srgbClr val="FF0000"/>
                </a:solidFill>
                <a:latin typeface="Tahoma" panose="020B0604030504040204" pitchFamily="34" charset="0"/>
              </a:rPr>
              <a:t>ALL</a:t>
            </a:r>
            <a:r>
              <a:rPr lang="zh-CN" altLang="en-US" sz="2200" b="1" dirty="0">
                <a:solidFill>
                  <a:srgbClr val="FF0000"/>
                </a:solidFill>
                <a:latin typeface="Tahoma" panose="020B0604030504040204" pitchFamily="34" charset="0"/>
              </a:rPr>
              <a:t>：任何命令</a:t>
            </a:r>
          </a:p>
        </p:txBody>
      </p:sp>
    </p:spTree>
    <p:extLst>
      <p:ext uri="{BB962C8B-B14F-4D97-AF65-F5344CB8AC3E}">
        <p14:creationId xmlns:p14="http://schemas.microsoft.com/office/powerpoint/2010/main" val="3531347091"/>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六 账户查询命令</a:t>
            </a:r>
          </a:p>
        </p:txBody>
      </p:sp>
      <p:pic>
        <p:nvPicPr>
          <p:cNvPr id="4" name="图片 3">
            <a:extLst>
              <a:ext uri="{FF2B5EF4-FFF2-40B4-BE49-F238E27FC236}">
                <a16:creationId xmlns:a16="http://schemas.microsoft.com/office/drawing/2014/main" id="{753F6425-E9FF-4A64-ADC2-49E9FE779A9C}"/>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Layer>
                </a14:imgProps>
              </a:ext>
            </a:extLst>
          </a:blip>
          <a:stretch>
            <a:fillRect/>
          </a:stretch>
        </p:blipFill>
        <p:spPr>
          <a:xfrm>
            <a:off x="0" y="3898616"/>
            <a:ext cx="9144000" cy="2894975"/>
          </a:xfrm>
          <a:prstGeom prst="rect">
            <a:avLst/>
          </a:prstGeom>
        </p:spPr>
      </p:pic>
      <p:graphicFrame>
        <p:nvGraphicFramePr>
          <p:cNvPr id="7" name="Group 27"/>
          <p:cNvGraphicFramePr>
            <a:graphicFrameLocks/>
          </p:cNvGraphicFramePr>
          <p:nvPr>
            <p:extLst>
              <p:ext uri="{D42A27DB-BD31-4B8C-83A1-F6EECF244321}">
                <p14:modId xmlns:p14="http://schemas.microsoft.com/office/powerpoint/2010/main" val="1040500841"/>
              </p:ext>
            </p:extLst>
          </p:nvPr>
        </p:nvGraphicFramePr>
        <p:xfrm>
          <a:off x="1342219" y="1404643"/>
          <a:ext cx="7416824" cy="2468880"/>
        </p:xfrm>
        <a:graphic>
          <a:graphicData uri="http://schemas.openxmlformats.org/drawingml/2006/table">
            <a:tbl>
              <a:tblPr>
                <a:tableStyleId>{284E427A-3D55-4303-BF80-6455036E1DE7}</a:tableStyleId>
              </a:tblPr>
              <a:tblGrid>
                <a:gridCol w="1296144">
                  <a:extLst>
                    <a:ext uri="{9D8B030D-6E8A-4147-A177-3AD203B41FA5}">
                      <a16:colId xmlns:a16="http://schemas.microsoft.com/office/drawing/2014/main" val="20000"/>
                    </a:ext>
                  </a:extLst>
                </a:gridCol>
                <a:gridCol w="6120680">
                  <a:extLst>
                    <a:ext uri="{9D8B030D-6E8A-4147-A177-3AD203B41FA5}">
                      <a16:colId xmlns:a16="http://schemas.microsoft.com/office/drawing/2014/main" val="20001"/>
                    </a:ext>
                  </a:extLst>
                </a:gridCol>
              </a:tblGrid>
              <a:tr h="422116">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200" b="0" i="0" u="none" strike="noStrike" cap="none" normalizeH="0" baseline="0" dirty="0">
                          <a:ln>
                            <a:noFill/>
                          </a:ln>
                          <a:solidFill>
                            <a:srgbClr val="FF0000"/>
                          </a:solidFill>
                          <a:effectLst/>
                          <a:latin typeface="Arial" charset="0"/>
                          <a:ea typeface="宋体" charset="-122"/>
                        </a:rPr>
                        <a:t>id</a:t>
                      </a: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200" b="0" i="0" u="none" strike="noStrike" cap="none" normalizeH="0" baseline="0" dirty="0">
                          <a:ln>
                            <a:noFill/>
                          </a:ln>
                          <a:solidFill>
                            <a:schemeClr val="tx1"/>
                          </a:solidFill>
                          <a:effectLst/>
                          <a:latin typeface="Arial" charset="0"/>
                          <a:ea typeface="宋体" charset="-122"/>
                        </a:rPr>
                        <a:t>显示</a:t>
                      </a:r>
                      <a:r>
                        <a:rPr kumimoji="0" lang="zh-CN" altLang="en-US" sz="2200" b="0" i="0" u="none" strike="noStrike" cap="none" normalizeH="0" baseline="0" dirty="0">
                          <a:ln>
                            <a:noFill/>
                          </a:ln>
                          <a:solidFill>
                            <a:srgbClr val="FF0000"/>
                          </a:solidFill>
                          <a:effectLst/>
                          <a:latin typeface="Arial" charset="0"/>
                          <a:ea typeface="宋体" charset="-122"/>
                        </a:rPr>
                        <a:t>用户当前的</a:t>
                      </a:r>
                      <a:r>
                        <a:rPr kumimoji="0" lang="en-US" altLang="zh-CN" sz="2200" b="0" i="0" u="none" strike="noStrike" cap="none" normalizeH="0" baseline="0" dirty="0" err="1">
                          <a:ln>
                            <a:noFill/>
                          </a:ln>
                          <a:solidFill>
                            <a:srgbClr val="FF0000"/>
                          </a:solidFill>
                          <a:effectLst/>
                          <a:latin typeface="Arial" charset="0"/>
                          <a:ea typeface="宋体" charset="-122"/>
                        </a:rPr>
                        <a:t>uid</a:t>
                      </a:r>
                      <a:r>
                        <a:rPr kumimoji="0" lang="zh-CN" altLang="en-US" sz="2200" b="0" i="0" u="none" strike="noStrike" cap="none" normalizeH="0" baseline="0" dirty="0">
                          <a:ln>
                            <a:noFill/>
                          </a:ln>
                          <a:solidFill>
                            <a:srgbClr val="FF0000"/>
                          </a:solidFill>
                          <a:effectLst/>
                          <a:latin typeface="Arial" charset="0"/>
                          <a:ea typeface="宋体" charset="-122"/>
                        </a:rPr>
                        <a:t>、</a:t>
                      </a:r>
                      <a:r>
                        <a:rPr kumimoji="0" lang="en-US" altLang="zh-CN" sz="2200" b="0" i="0" u="none" strike="noStrike" cap="none" normalizeH="0" baseline="0" dirty="0" err="1">
                          <a:ln>
                            <a:noFill/>
                          </a:ln>
                          <a:solidFill>
                            <a:srgbClr val="FF0000"/>
                          </a:solidFill>
                          <a:effectLst/>
                          <a:latin typeface="Arial" charset="0"/>
                          <a:ea typeface="宋体" charset="-122"/>
                        </a:rPr>
                        <a:t>gid</a:t>
                      </a:r>
                      <a:r>
                        <a:rPr kumimoji="0" lang="zh-CN" altLang="en-US" sz="2200" b="0" i="0" u="none" strike="noStrike" cap="none" normalizeH="0" baseline="0" dirty="0">
                          <a:ln>
                            <a:noFill/>
                          </a:ln>
                          <a:solidFill>
                            <a:srgbClr val="FF0000"/>
                          </a:solidFill>
                          <a:effectLst/>
                          <a:latin typeface="Arial" charset="0"/>
                          <a:ea typeface="宋体" charset="-122"/>
                        </a:rPr>
                        <a:t>和用户所属的组列表</a:t>
                      </a:r>
                    </a:p>
                  </a:txBody>
                  <a:tcPr anchor="ctr" horzOverflow="overflow"/>
                </a:tc>
                <a:extLst>
                  <a:ext uri="{0D108BD9-81ED-4DB2-BD59-A6C34878D82A}">
                    <a16:rowId xmlns:a16="http://schemas.microsoft.com/office/drawing/2014/main" val="10000"/>
                  </a:ext>
                </a:extLst>
              </a:tr>
              <a:tr h="422116">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200" b="0" i="0" u="none" strike="noStrike" cap="none" normalizeH="0" baseline="0" dirty="0">
                          <a:ln>
                            <a:noFill/>
                          </a:ln>
                          <a:solidFill>
                            <a:srgbClr val="FF0000"/>
                          </a:solidFill>
                          <a:effectLst/>
                          <a:latin typeface="Arial" charset="0"/>
                          <a:ea typeface="宋体" charset="-122"/>
                        </a:rPr>
                        <a:t>groups</a:t>
                      </a: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200" b="0" i="0" u="none" strike="noStrike" cap="none" normalizeH="0" baseline="0" dirty="0">
                          <a:ln>
                            <a:noFill/>
                          </a:ln>
                          <a:solidFill>
                            <a:schemeClr val="tx1"/>
                          </a:solidFill>
                          <a:effectLst/>
                          <a:latin typeface="Arial" charset="0"/>
                          <a:ea typeface="宋体" charset="-122"/>
                        </a:rPr>
                        <a:t>显示指定</a:t>
                      </a:r>
                      <a:r>
                        <a:rPr kumimoji="0" lang="zh-CN" altLang="en-US" sz="2200" b="0" i="0" u="none" strike="noStrike" cap="none" normalizeH="0" baseline="0" dirty="0">
                          <a:ln>
                            <a:noFill/>
                          </a:ln>
                          <a:solidFill>
                            <a:srgbClr val="FF0000"/>
                          </a:solidFill>
                          <a:effectLst/>
                          <a:latin typeface="Arial" charset="0"/>
                          <a:ea typeface="宋体" charset="-122"/>
                        </a:rPr>
                        <a:t>用户所属的组列表</a:t>
                      </a:r>
                    </a:p>
                  </a:txBody>
                  <a:tcPr anchor="ctr" horzOverflow="overflow"/>
                </a:tc>
                <a:extLst>
                  <a:ext uri="{0D108BD9-81ED-4DB2-BD59-A6C34878D82A}">
                    <a16:rowId xmlns:a16="http://schemas.microsoft.com/office/drawing/2014/main" val="10001"/>
                  </a:ext>
                </a:extLst>
              </a:tr>
              <a:tr h="422116">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defRPr/>
                      </a:pPr>
                      <a:r>
                        <a:rPr kumimoji="0" lang="en-US" altLang="zh-CN" sz="2200" b="0" i="0" u="none" strike="noStrike" cap="none" normalizeH="0" baseline="0" dirty="0" err="1">
                          <a:ln>
                            <a:noFill/>
                          </a:ln>
                          <a:solidFill>
                            <a:srgbClr val="FF0000"/>
                          </a:solidFill>
                          <a:effectLst/>
                          <a:latin typeface="Arial" charset="0"/>
                          <a:ea typeface="宋体" charset="-122"/>
                        </a:rPr>
                        <a:t>whoami</a:t>
                      </a:r>
                      <a:r>
                        <a:rPr kumimoji="0" lang="en-US" altLang="zh-CN" sz="2200" b="0" i="0" u="none" strike="noStrike" cap="none" normalizeH="0" baseline="0" dirty="0">
                          <a:ln>
                            <a:noFill/>
                          </a:ln>
                          <a:solidFill>
                            <a:srgbClr val="FF0000"/>
                          </a:solidFill>
                          <a:effectLst/>
                          <a:latin typeface="Arial" charset="0"/>
                          <a:ea typeface="宋体" charset="-122"/>
                        </a:rPr>
                        <a:t> </a:t>
                      </a: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defRPr/>
                      </a:pPr>
                      <a:r>
                        <a:rPr kumimoji="0" lang="zh-CN" altLang="en-US" sz="2200" b="0" i="0" u="none" strike="noStrike" cap="none" normalizeH="0" baseline="0" dirty="0">
                          <a:ln>
                            <a:noFill/>
                          </a:ln>
                          <a:solidFill>
                            <a:schemeClr val="tx1"/>
                          </a:solidFill>
                          <a:effectLst/>
                          <a:latin typeface="Arial" charset="0"/>
                          <a:ea typeface="宋体" charset="-122"/>
                        </a:rPr>
                        <a:t>显示</a:t>
                      </a:r>
                      <a:r>
                        <a:rPr kumimoji="0" lang="zh-CN" altLang="en-US" sz="2200" b="0" i="0" u="none" strike="noStrike" cap="none" normalizeH="0" baseline="0" dirty="0">
                          <a:ln>
                            <a:noFill/>
                          </a:ln>
                          <a:solidFill>
                            <a:srgbClr val="FF0000"/>
                          </a:solidFill>
                          <a:effectLst/>
                          <a:latin typeface="Arial" charset="0"/>
                          <a:ea typeface="宋体" charset="-122"/>
                        </a:rPr>
                        <a:t>当前用户的名称</a:t>
                      </a:r>
                    </a:p>
                  </a:txBody>
                  <a:tcPr anchor="ctr" horzOverflow="overflow"/>
                </a:tc>
                <a:extLst>
                  <a:ext uri="{0D108BD9-81ED-4DB2-BD59-A6C34878D82A}">
                    <a16:rowId xmlns:a16="http://schemas.microsoft.com/office/drawing/2014/main" val="10002"/>
                  </a:ext>
                </a:extLst>
              </a:tr>
              <a:tr h="422116">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200" b="0" i="0" u="none" strike="noStrike" cap="none" normalizeH="0" baseline="0" dirty="0">
                          <a:ln>
                            <a:noFill/>
                          </a:ln>
                          <a:solidFill>
                            <a:srgbClr val="FF0000"/>
                          </a:solidFill>
                          <a:effectLst/>
                          <a:latin typeface="Arial" charset="0"/>
                          <a:ea typeface="宋体" charset="-122"/>
                        </a:rPr>
                        <a:t>w/who</a:t>
                      </a:r>
                    </a:p>
                  </a:txBody>
                  <a:tcPr anchor="ctr" horzOverflow="overflow"/>
                </a:tc>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200" b="0" i="0" u="none" strike="noStrike" cap="none" normalizeH="0" baseline="0" dirty="0">
                          <a:ln>
                            <a:noFill/>
                          </a:ln>
                          <a:solidFill>
                            <a:schemeClr val="tx1"/>
                          </a:solidFill>
                          <a:effectLst/>
                          <a:latin typeface="Arial" charset="0"/>
                          <a:ea typeface="宋体" charset="-122"/>
                        </a:rPr>
                        <a:t>显示</a:t>
                      </a:r>
                      <a:r>
                        <a:rPr kumimoji="0" lang="zh-CN" altLang="en-US" sz="2200" b="0" i="0" u="none" strike="noStrike" cap="none" normalizeH="0" baseline="0" dirty="0">
                          <a:ln>
                            <a:noFill/>
                          </a:ln>
                          <a:solidFill>
                            <a:srgbClr val="FF0000"/>
                          </a:solidFill>
                          <a:effectLst/>
                          <a:latin typeface="Arial" charset="0"/>
                          <a:ea typeface="宋体" charset="-122"/>
                        </a:rPr>
                        <a:t>登录用户及相关信息</a:t>
                      </a:r>
                    </a:p>
                  </a:txBody>
                  <a:tcPr anchor="ctr" horzOverflow="overflow"/>
                </a:tc>
                <a:extLst>
                  <a:ext uri="{0D108BD9-81ED-4DB2-BD59-A6C34878D82A}">
                    <a16:rowId xmlns:a16="http://schemas.microsoft.com/office/drawing/2014/main" val="10003"/>
                  </a:ext>
                </a:extLst>
              </a:tr>
              <a:tr h="759809">
                <a:tc>
                  <a:txBody>
                    <a:bodyPr/>
                    <a:lstStyle/>
                    <a:p>
                      <a:pPr marL="34290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en-US" altLang="zh-CN" sz="2200" b="0" i="0" u="none" strike="noStrike" cap="none" normalizeH="0" baseline="0" dirty="0" err="1">
                          <a:ln>
                            <a:noFill/>
                          </a:ln>
                          <a:solidFill>
                            <a:srgbClr val="FF0000"/>
                          </a:solidFill>
                          <a:effectLst/>
                          <a:latin typeface="Arial" charset="0"/>
                          <a:ea typeface="宋体" charset="-122"/>
                        </a:rPr>
                        <a:t>newgrp</a:t>
                      </a:r>
                      <a:endParaRPr kumimoji="0" lang="en-US" altLang="zh-CN" sz="2200" b="0" i="0" u="none" strike="noStrike" cap="none" normalizeH="0" baseline="0" dirty="0">
                        <a:ln>
                          <a:noFill/>
                        </a:ln>
                        <a:solidFill>
                          <a:srgbClr val="FF0000"/>
                        </a:solidFill>
                        <a:effectLst/>
                        <a:latin typeface="Arial" charset="0"/>
                        <a:ea typeface="宋体" charset="-122"/>
                      </a:endParaRPr>
                    </a:p>
                  </a:txBody>
                  <a:tcPr anchor="ctr" horzOverflow="overflow"/>
                </a:tc>
                <a:tc>
                  <a:txBody>
                    <a:bodyPr/>
                    <a:lstStyle/>
                    <a:p>
                      <a:pPr marL="0" marR="0" lvl="0" indent="-342900" algn="just" defTabSz="914400" rtl="0" eaLnBrk="1" fontAlgn="ctr" latinLnBrk="0" hangingPunct="1">
                        <a:lnSpc>
                          <a:spcPct val="100000"/>
                        </a:lnSpc>
                        <a:spcBef>
                          <a:spcPct val="0"/>
                        </a:spcBef>
                        <a:spcAft>
                          <a:spcPct val="0"/>
                        </a:spcAft>
                        <a:buClr>
                          <a:schemeClr val="bg2"/>
                        </a:buClr>
                        <a:buSzPct val="75000"/>
                        <a:buFont typeface="Wingdings" pitchFamily="2" charset="2"/>
                        <a:buNone/>
                        <a:tabLst/>
                      </a:pPr>
                      <a:r>
                        <a:rPr kumimoji="0" lang="zh-CN" altLang="en-US" sz="2200" b="0" i="0" u="none" strike="noStrike" cap="none" normalizeH="0" baseline="0" dirty="0">
                          <a:ln>
                            <a:noFill/>
                          </a:ln>
                          <a:solidFill>
                            <a:schemeClr val="tx1"/>
                          </a:solidFill>
                          <a:effectLst/>
                          <a:latin typeface="Arial" charset="0"/>
                          <a:ea typeface="宋体" charset="-122"/>
                        </a:rPr>
                        <a:t>用于转换用户的当前组到指定的组账号，</a:t>
                      </a:r>
                      <a:r>
                        <a:rPr kumimoji="0" lang="zh-CN" altLang="en-US" sz="2200" b="1" i="0" u="none" strike="noStrike" cap="none" normalizeH="0" baseline="0" dirty="0">
                          <a:ln>
                            <a:noFill/>
                          </a:ln>
                          <a:solidFill>
                            <a:srgbClr val="FF0000"/>
                          </a:solidFill>
                          <a:effectLst/>
                          <a:latin typeface="Arial" charset="0"/>
                          <a:ea typeface="宋体" charset="-122"/>
                        </a:rPr>
                        <a:t>用户必须属于该组</a:t>
                      </a:r>
                      <a:r>
                        <a:rPr kumimoji="0" lang="zh-CN" altLang="en-US" sz="2200" b="0" i="0" u="none" strike="noStrike" cap="none" normalizeH="0" baseline="0" dirty="0">
                          <a:ln>
                            <a:noFill/>
                          </a:ln>
                          <a:solidFill>
                            <a:srgbClr val="FF0000"/>
                          </a:solidFill>
                          <a:effectLst/>
                          <a:latin typeface="Arial" charset="0"/>
                          <a:ea typeface="宋体" charset="-122"/>
                        </a:rPr>
                        <a:t>才可以正确执行该命令</a:t>
                      </a:r>
                    </a:p>
                  </a:txBody>
                  <a:tcPr anchor="ctr" horzOverflow="overflow"/>
                </a:tc>
                <a:extLst>
                  <a:ext uri="{0D108BD9-81ED-4DB2-BD59-A6C34878D82A}">
                    <a16:rowId xmlns:a16="http://schemas.microsoft.com/office/drawing/2014/main" val="10004"/>
                  </a:ext>
                </a:extLst>
              </a:tr>
            </a:tbl>
          </a:graphicData>
        </a:graphic>
      </p:graphicFrame>
      <p:cxnSp>
        <p:nvCxnSpPr>
          <p:cNvPr id="9" name="直接连接符 8">
            <a:extLst>
              <a:ext uri="{FF2B5EF4-FFF2-40B4-BE49-F238E27FC236}">
                <a16:creationId xmlns:a16="http://schemas.microsoft.com/office/drawing/2014/main" id="{214EDED0-6C61-4AF3-B0BE-B1B0278967D2}"/>
              </a:ext>
            </a:extLst>
          </p:cNvPr>
          <p:cNvCxnSpPr/>
          <p:nvPr/>
        </p:nvCxnSpPr>
        <p:spPr bwMode="auto">
          <a:xfrm>
            <a:off x="0" y="4437112"/>
            <a:ext cx="165618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直接连接符 9">
            <a:extLst>
              <a:ext uri="{FF2B5EF4-FFF2-40B4-BE49-F238E27FC236}">
                <a16:creationId xmlns:a16="http://schemas.microsoft.com/office/drawing/2014/main" id="{A6188DBA-C545-44E5-841B-6679D9783AE1}"/>
              </a:ext>
            </a:extLst>
          </p:cNvPr>
          <p:cNvCxnSpPr/>
          <p:nvPr/>
        </p:nvCxnSpPr>
        <p:spPr bwMode="auto">
          <a:xfrm>
            <a:off x="3635896" y="4725144"/>
            <a:ext cx="201622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文本框 11">
            <a:extLst>
              <a:ext uri="{FF2B5EF4-FFF2-40B4-BE49-F238E27FC236}">
                <a16:creationId xmlns:a16="http://schemas.microsoft.com/office/drawing/2014/main" id="{431337A5-DEE6-4B7B-9908-EAD635E479BB}"/>
              </a:ext>
            </a:extLst>
          </p:cNvPr>
          <p:cNvSpPr txBox="1"/>
          <p:nvPr/>
        </p:nvSpPr>
        <p:spPr>
          <a:xfrm>
            <a:off x="6372200" y="4165049"/>
            <a:ext cx="1475084" cy="400110"/>
          </a:xfrm>
          <a:prstGeom prst="rect">
            <a:avLst/>
          </a:prstGeom>
          <a:solidFill>
            <a:schemeClr val="tx2">
              <a:lumMod val="20000"/>
              <a:lumOff val="80000"/>
            </a:schemeClr>
          </a:solidFill>
        </p:spPr>
        <p:txBody>
          <a:bodyPr wrap="none" rtlCol="0">
            <a:spAutoFit/>
          </a:bodyPr>
          <a:lstStyle/>
          <a:p>
            <a:r>
              <a:rPr lang="zh-CN" altLang="en-US" sz="2000" b="1" dirty="0">
                <a:solidFill>
                  <a:srgbClr val="FF0000"/>
                </a:solidFill>
              </a:rPr>
              <a:t>转换用户组</a:t>
            </a:r>
          </a:p>
        </p:txBody>
      </p:sp>
      <p:cxnSp>
        <p:nvCxnSpPr>
          <p:cNvPr id="14" name="直接箭头连接符 13">
            <a:extLst>
              <a:ext uri="{FF2B5EF4-FFF2-40B4-BE49-F238E27FC236}">
                <a16:creationId xmlns:a16="http://schemas.microsoft.com/office/drawing/2014/main" id="{1DEB57D0-A9BB-42F1-BBA3-C3A3C394E434}"/>
              </a:ext>
            </a:extLst>
          </p:cNvPr>
          <p:cNvCxnSpPr/>
          <p:nvPr/>
        </p:nvCxnSpPr>
        <p:spPr bwMode="auto">
          <a:xfrm flipH="1">
            <a:off x="5652120" y="4365104"/>
            <a:ext cx="720080" cy="288032"/>
          </a:xfrm>
          <a:prstGeom prst="straightConnector1">
            <a:avLst/>
          </a:prstGeom>
          <a:solidFill>
            <a:schemeClr val="accent1"/>
          </a:solidFill>
          <a:ln w="28575" cap="flat" cmpd="sng" algn="ctr">
            <a:solidFill>
              <a:srgbClr val="FF0000"/>
            </a:solidFill>
            <a:prstDash val="solid"/>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直接连接符 14">
            <a:extLst>
              <a:ext uri="{FF2B5EF4-FFF2-40B4-BE49-F238E27FC236}">
                <a16:creationId xmlns:a16="http://schemas.microsoft.com/office/drawing/2014/main" id="{637474E6-4A1F-4C7D-83DF-842A2F992BA4}"/>
              </a:ext>
            </a:extLst>
          </p:cNvPr>
          <p:cNvCxnSpPr/>
          <p:nvPr/>
        </p:nvCxnSpPr>
        <p:spPr bwMode="auto">
          <a:xfrm>
            <a:off x="2527201" y="5488657"/>
            <a:ext cx="165618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6" name="文本框 15">
            <a:extLst>
              <a:ext uri="{FF2B5EF4-FFF2-40B4-BE49-F238E27FC236}">
                <a16:creationId xmlns:a16="http://schemas.microsoft.com/office/drawing/2014/main" id="{C5F9D422-C694-434E-93D8-226A03DB7155}"/>
              </a:ext>
            </a:extLst>
          </p:cNvPr>
          <p:cNvSpPr txBox="1"/>
          <p:nvPr/>
        </p:nvSpPr>
        <p:spPr>
          <a:xfrm>
            <a:off x="4914578" y="5589240"/>
            <a:ext cx="700833" cy="400110"/>
          </a:xfrm>
          <a:prstGeom prst="rect">
            <a:avLst/>
          </a:prstGeom>
          <a:solidFill>
            <a:schemeClr val="tx2">
              <a:lumMod val="20000"/>
              <a:lumOff val="80000"/>
            </a:schemeClr>
          </a:solidFill>
        </p:spPr>
        <p:txBody>
          <a:bodyPr wrap="none" rtlCol="0">
            <a:spAutoFit/>
          </a:bodyPr>
          <a:lstStyle/>
          <a:p>
            <a:r>
              <a:rPr lang="zh-CN" altLang="en-US" sz="2000" b="1" dirty="0">
                <a:solidFill>
                  <a:srgbClr val="FF0000"/>
                </a:solidFill>
              </a:rPr>
              <a:t>退回</a:t>
            </a:r>
          </a:p>
        </p:txBody>
      </p:sp>
      <p:cxnSp>
        <p:nvCxnSpPr>
          <p:cNvPr id="17" name="直接箭头连接符 16">
            <a:extLst>
              <a:ext uri="{FF2B5EF4-FFF2-40B4-BE49-F238E27FC236}">
                <a16:creationId xmlns:a16="http://schemas.microsoft.com/office/drawing/2014/main" id="{8113D95A-3918-433F-A191-2B0238259EBF}"/>
              </a:ext>
            </a:extLst>
          </p:cNvPr>
          <p:cNvCxnSpPr/>
          <p:nvPr/>
        </p:nvCxnSpPr>
        <p:spPr bwMode="auto">
          <a:xfrm flipH="1" flipV="1">
            <a:off x="4355976" y="5661249"/>
            <a:ext cx="558602" cy="128046"/>
          </a:xfrm>
          <a:prstGeom prst="straightConnector1">
            <a:avLst/>
          </a:prstGeom>
          <a:solidFill>
            <a:schemeClr val="accent1"/>
          </a:solidFill>
          <a:ln w="28575" cap="flat" cmpd="sng" algn="ctr">
            <a:solidFill>
              <a:srgbClr val="FF0000"/>
            </a:solidFill>
            <a:prstDash val="solid"/>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直接连接符 18">
            <a:extLst>
              <a:ext uri="{FF2B5EF4-FFF2-40B4-BE49-F238E27FC236}">
                <a16:creationId xmlns:a16="http://schemas.microsoft.com/office/drawing/2014/main" id="{C8E53206-97C1-466D-8658-F381C5310EB7}"/>
              </a:ext>
            </a:extLst>
          </p:cNvPr>
          <p:cNvCxnSpPr/>
          <p:nvPr/>
        </p:nvCxnSpPr>
        <p:spPr bwMode="auto">
          <a:xfrm>
            <a:off x="3543697" y="5733256"/>
            <a:ext cx="87895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 name="直接连接符 20">
            <a:extLst>
              <a:ext uri="{FF2B5EF4-FFF2-40B4-BE49-F238E27FC236}">
                <a16:creationId xmlns:a16="http://schemas.microsoft.com/office/drawing/2014/main" id="{49A7F00E-D749-4FE4-B9B5-07B60B725C2A}"/>
              </a:ext>
            </a:extLst>
          </p:cNvPr>
          <p:cNvCxnSpPr/>
          <p:nvPr/>
        </p:nvCxnSpPr>
        <p:spPr bwMode="auto">
          <a:xfrm>
            <a:off x="2527201" y="6793591"/>
            <a:ext cx="1656184" cy="0"/>
          </a:xfrm>
          <a:prstGeom prst="line">
            <a:avLst/>
          </a:prstGeom>
          <a:solidFill>
            <a:schemeClr val="accent1"/>
          </a:solidFill>
          <a:ln w="28575"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2" name="椭圆 21">
            <a:extLst>
              <a:ext uri="{FF2B5EF4-FFF2-40B4-BE49-F238E27FC236}">
                <a16:creationId xmlns:a16="http://schemas.microsoft.com/office/drawing/2014/main" id="{F5CB858E-CC1B-43F0-A559-4AA8088935E0}"/>
              </a:ext>
            </a:extLst>
          </p:cNvPr>
          <p:cNvSpPr/>
          <p:nvPr/>
        </p:nvSpPr>
        <p:spPr bwMode="auto">
          <a:xfrm>
            <a:off x="3419872" y="5157192"/>
            <a:ext cx="763513" cy="394481"/>
          </a:xfrm>
          <a:prstGeom prst="ellipse">
            <a:avLst/>
          </a:prstGeom>
          <a:solidFill>
            <a:schemeClr val="accent1">
              <a:alpha val="14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pPr>
            <a:endParaRPr kumimoji="0" lang="zh-CN" altLang="en-US" sz="1800" b="0" i="0" u="none" strike="noStrike" cap="none" normalizeH="0" baseline="0">
              <a:ln>
                <a:noFill/>
              </a:ln>
              <a:solidFill>
                <a:schemeClr val="tx1"/>
              </a:solidFill>
              <a:effectLst/>
              <a:latin typeface="Tahoma" panose="020B0604030504040204" pitchFamily="34" charset="0"/>
              <a:ea typeface="宋体" panose="02010600030101010101" pitchFamily="2" charset="-122"/>
            </a:endParaRPr>
          </a:p>
        </p:txBody>
      </p:sp>
      <p:sp>
        <p:nvSpPr>
          <p:cNvPr id="23" name="椭圆 22">
            <a:extLst>
              <a:ext uri="{FF2B5EF4-FFF2-40B4-BE49-F238E27FC236}">
                <a16:creationId xmlns:a16="http://schemas.microsoft.com/office/drawing/2014/main" id="{BEEB1AFC-3803-4804-856D-103159FCEA66}"/>
              </a:ext>
            </a:extLst>
          </p:cNvPr>
          <p:cNvSpPr/>
          <p:nvPr/>
        </p:nvSpPr>
        <p:spPr bwMode="auto">
          <a:xfrm>
            <a:off x="3419872" y="6461584"/>
            <a:ext cx="763513" cy="394481"/>
          </a:xfrm>
          <a:prstGeom prst="ellipse">
            <a:avLst/>
          </a:prstGeom>
          <a:solidFill>
            <a:schemeClr val="accent1">
              <a:alpha val="14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pPr>
            <a:endParaRPr kumimoji="0" lang="zh-CN" altLang="en-US" sz="1800" b="0" i="0" u="none" strike="noStrike" cap="none" normalizeH="0" baseline="0">
              <a:ln>
                <a:noFill/>
              </a:ln>
              <a:solidFill>
                <a:schemeClr val="tx1"/>
              </a:solidFill>
              <a:effectLst/>
              <a:latin typeface="Tahoma" panose="020B0604030504040204" pitchFamily="34" charset="0"/>
              <a:ea typeface="宋体" panose="02010600030101010101" pitchFamily="2" charset="-122"/>
            </a:endParaRPr>
          </a:p>
        </p:txBody>
      </p:sp>
    </p:spTree>
    <p:extLst>
      <p:ext uri="{BB962C8B-B14F-4D97-AF65-F5344CB8AC3E}">
        <p14:creationId xmlns:p14="http://schemas.microsoft.com/office/powerpoint/2010/main" val="2110056429"/>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七 批量用户管理工具</a:t>
            </a:r>
          </a:p>
        </p:txBody>
      </p:sp>
      <p:sp>
        <p:nvSpPr>
          <p:cNvPr id="3" name="内容占位符 2"/>
          <p:cNvSpPr>
            <a:spLocks noGrp="1"/>
          </p:cNvSpPr>
          <p:nvPr>
            <p:ph idx="1"/>
          </p:nvPr>
        </p:nvSpPr>
        <p:spPr>
          <a:xfrm>
            <a:off x="755576" y="1628800"/>
            <a:ext cx="7704856" cy="4114800"/>
          </a:xfrm>
        </p:spPr>
        <p:txBody>
          <a:bodyPr/>
          <a:lstStyle/>
          <a:p>
            <a:pPr marL="342900" lvl="1" indent="-342900">
              <a:buFont typeface="Wingdings" panose="05000000000000000000" pitchFamily="2" charset="2"/>
              <a:buChar char="n"/>
            </a:pPr>
            <a:r>
              <a:rPr lang="zh-CN" altLang="en-US" sz="3200" b="0" dirty="0"/>
              <a:t>成批添加</a:t>
            </a:r>
            <a:r>
              <a:rPr lang="en-US" altLang="zh-CN" sz="3200" b="0" dirty="0"/>
              <a:t>/</a:t>
            </a:r>
            <a:r>
              <a:rPr lang="zh-CN" altLang="en-US" sz="3200" b="0" dirty="0"/>
              <a:t>更新一组账户</a:t>
            </a:r>
            <a:endParaRPr lang="en-US" altLang="zh-CN" sz="3200" b="0" dirty="0"/>
          </a:p>
          <a:p>
            <a:pPr lvl="1"/>
            <a:r>
              <a:rPr lang="en-US" altLang="zh-CN" b="1" dirty="0" err="1">
                <a:solidFill>
                  <a:schemeClr val="accent6">
                    <a:lumMod val="75000"/>
                  </a:schemeClr>
                </a:solidFill>
              </a:rPr>
              <a:t>newusers</a:t>
            </a:r>
            <a:endParaRPr lang="en-US" altLang="zh-CN" b="1" dirty="0">
              <a:solidFill>
                <a:schemeClr val="accent6">
                  <a:lumMod val="75000"/>
                </a:schemeClr>
              </a:solidFill>
            </a:endParaRPr>
          </a:p>
          <a:p>
            <a:r>
              <a:rPr lang="zh-CN" altLang="en-US" dirty="0"/>
              <a:t>成批更新用户的口令</a:t>
            </a:r>
            <a:endParaRPr lang="en-US" altLang="zh-CN" dirty="0"/>
          </a:p>
          <a:p>
            <a:pPr lvl="1"/>
            <a:r>
              <a:rPr lang="en-US" altLang="zh-CN" b="1" dirty="0">
                <a:solidFill>
                  <a:schemeClr val="accent6">
                    <a:lumMod val="75000"/>
                  </a:schemeClr>
                </a:solidFill>
              </a:rPr>
              <a:t>chpasswd</a:t>
            </a:r>
          </a:p>
          <a:p>
            <a:endParaRPr lang="en-US" altLang="zh-CN" dirty="0" smtClean="0"/>
          </a:p>
          <a:p>
            <a:r>
              <a:rPr lang="zh-CN" altLang="en-US" dirty="0" smtClean="0"/>
              <a:t>批量</a:t>
            </a:r>
            <a:r>
              <a:rPr lang="zh-CN" altLang="en-US" dirty="0"/>
              <a:t>生成安全的口令</a:t>
            </a:r>
            <a:endParaRPr lang="en-US" altLang="zh-CN" dirty="0"/>
          </a:p>
          <a:p>
            <a:pPr lvl="1"/>
            <a:r>
              <a:rPr lang="en-US" altLang="zh-CN" b="1" dirty="0">
                <a:solidFill>
                  <a:schemeClr val="accent6">
                    <a:lumMod val="75000"/>
                  </a:schemeClr>
                </a:solidFill>
              </a:rPr>
              <a:t>pwgen</a:t>
            </a:r>
          </a:p>
          <a:p>
            <a:pPr lvl="1"/>
            <a:r>
              <a:rPr lang="en-US" altLang="zh-CN" b="1" dirty="0" err="1">
                <a:solidFill>
                  <a:schemeClr val="accent6">
                    <a:lumMod val="75000"/>
                  </a:schemeClr>
                </a:solidFill>
              </a:rPr>
              <a:t>secpwgen</a:t>
            </a:r>
            <a:r>
              <a:rPr lang="zh-CN" altLang="en-US" dirty="0"/>
              <a:t>（由</a:t>
            </a:r>
            <a:r>
              <a:rPr lang="en-US" altLang="zh-CN" dirty="0" err="1"/>
              <a:t>RPMForge</a:t>
            </a:r>
            <a:r>
              <a:rPr lang="zh-CN" altLang="en-US" dirty="0"/>
              <a:t>仓库提供）</a:t>
            </a:r>
          </a:p>
        </p:txBody>
      </p:sp>
      <p:sp>
        <p:nvSpPr>
          <p:cNvPr id="4" name="文本框 3"/>
          <p:cNvSpPr txBox="1"/>
          <p:nvPr/>
        </p:nvSpPr>
        <p:spPr>
          <a:xfrm>
            <a:off x="5724128" y="2204864"/>
            <a:ext cx="3419872" cy="830997"/>
          </a:xfrm>
          <a:prstGeom prst="rect">
            <a:avLst/>
          </a:prstGeom>
          <a:noFill/>
        </p:spPr>
        <p:txBody>
          <a:bodyPr wrap="square" rtlCol="0">
            <a:spAutoFit/>
          </a:bodyPr>
          <a:lstStyle/>
          <a:p>
            <a:r>
              <a:rPr lang="en-US" altLang="zh-CN" sz="2400" b="1" dirty="0" err="1"/>
              <a:t>p</a:t>
            </a:r>
            <a:r>
              <a:rPr lang="en-US" altLang="zh-CN" sz="2400" b="1" dirty="0" err="1" smtClean="0"/>
              <a:t>wunconv</a:t>
            </a:r>
            <a:r>
              <a:rPr lang="zh-CN" altLang="en-US" sz="2400" b="1" dirty="0" smtClean="0"/>
              <a:t>命令</a:t>
            </a:r>
            <a:r>
              <a:rPr lang="en-US" altLang="zh-CN" sz="2400" b="1" dirty="0" smtClean="0"/>
              <a:t>:</a:t>
            </a:r>
            <a:r>
              <a:rPr lang="zh-CN" altLang="en-US" sz="2400" b="1" dirty="0" smtClean="0"/>
              <a:t>将密码回写到</a:t>
            </a:r>
            <a:r>
              <a:rPr lang="en-US" altLang="zh-CN" sz="2400" b="1" dirty="0" err="1" smtClean="0"/>
              <a:t>passwd</a:t>
            </a:r>
            <a:r>
              <a:rPr lang="zh-CN" altLang="en-US" sz="2400" b="1" dirty="0" smtClean="0"/>
              <a:t>文件中</a:t>
            </a:r>
            <a:endParaRPr lang="zh-CN" altLang="en-US" sz="2400" b="1" dirty="0"/>
          </a:p>
        </p:txBody>
      </p:sp>
      <p:sp>
        <p:nvSpPr>
          <p:cNvPr id="5" name="文本框 4"/>
          <p:cNvSpPr txBox="1"/>
          <p:nvPr/>
        </p:nvSpPr>
        <p:spPr>
          <a:xfrm>
            <a:off x="5724128" y="3260037"/>
            <a:ext cx="3223022" cy="1200329"/>
          </a:xfrm>
          <a:prstGeom prst="rect">
            <a:avLst/>
          </a:prstGeom>
          <a:noFill/>
        </p:spPr>
        <p:txBody>
          <a:bodyPr wrap="square" rtlCol="0">
            <a:spAutoFit/>
          </a:bodyPr>
          <a:lstStyle/>
          <a:p>
            <a:r>
              <a:rPr lang="en-US" altLang="zh-CN" sz="2400" b="1" dirty="0" err="1" smtClean="0"/>
              <a:t>pwconv</a:t>
            </a:r>
            <a:r>
              <a:rPr lang="zh-CN" altLang="en-US" sz="2400" b="1" dirty="0" smtClean="0"/>
              <a:t>命令：</a:t>
            </a:r>
            <a:r>
              <a:rPr lang="zh-CN" altLang="en-US" sz="2400" b="1" dirty="0"/>
              <a:t>将</a:t>
            </a:r>
            <a:r>
              <a:rPr lang="zh-CN" altLang="en-US" sz="2400" b="1" dirty="0" smtClean="0"/>
              <a:t>密码写到</a:t>
            </a:r>
            <a:r>
              <a:rPr lang="en-US" altLang="zh-CN" sz="2400" b="1" dirty="0" smtClean="0"/>
              <a:t>shadow</a:t>
            </a:r>
            <a:r>
              <a:rPr lang="zh-CN" altLang="en-US" sz="2400" b="1" dirty="0" smtClean="0"/>
              <a:t>文件</a:t>
            </a:r>
            <a:r>
              <a:rPr lang="zh-CN" altLang="en-US" sz="2400" b="1" dirty="0"/>
              <a:t>中</a:t>
            </a:r>
          </a:p>
          <a:p>
            <a:endParaRPr lang="zh-CN" altLang="en-US" sz="2400" b="1" dirty="0"/>
          </a:p>
        </p:txBody>
      </p:sp>
      <p:sp>
        <p:nvSpPr>
          <p:cNvPr id="6" name="七边形 5"/>
          <p:cNvSpPr/>
          <p:nvPr/>
        </p:nvSpPr>
        <p:spPr bwMode="auto">
          <a:xfrm>
            <a:off x="467544" y="2204864"/>
            <a:ext cx="630734" cy="576064"/>
          </a:xfrm>
          <a:prstGeom prst="heptagon">
            <a:avLst/>
          </a:prstGeom>
          <a:solidFill>
            <a:schemeClr val="accent1">
              <a:lumMod val="20000"/>
              <a:lumOff val="80000"/>
            </a:schemeClr>
          </a:solidFill>
          <a:ln w="9525" cap="flat" cmpd="sng" algn="ctr">
            <a:solidFill>
              <a:schemeClr val="tx1"/>
            </a:solid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Arial" panose="020B0604020202020204" pitchFamily="34" charset="0"/>
              <a:buNone/>
              <a:tabLst/>
            </a:pPr>
            <a:r>
              <a:rPr kumimoji="0" lang="en-US" altLang="zh-CN" sz="28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rPr>
              <a:t>1</a:t>
            </a:r>
            <a:endParaRPr kumimoji="0" lang="zh-CN" altLang="en-US" sz="24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endParaRPr>
          </a:p>
        </p:txBody>
      </p:sp>
      <p:sp>
        <p:nvSpPr>
          <p:cNvPr id="7" name="七边形 6"/>
          <p:cNvSpPr/>
          <p:nvPr/>
        </p:nvSpPr>
        <p:spPr bwMode="auto">
          <a:xfrm>
            <a:off x="5108606" y="2203655"/>
            <a:ext cx="630734" cy="576064"/>
          </a:xfrm>
          <a:prstGeom prst="heptagon">
            <a:avLst/>
          </a:prstGeom>
          <a:solidFill>
            <a:schemeClr val="accent1">
              <a:lumMod val="20000"/>
              <a:lumOff val="80000"/>
            </a:schemeClr>
          </a:solidFill>
          <a:ln w="9525" cap="flat" cmpd="sng" algn="ctr">
            <a:solidFill>
              <a:schemeClr val="tx1"/>
            </a:solid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Arial" panose="020B0604020202020204" pitchFamily="34" charset="0"/>
              <a:buNone/>
              <a:tabLst/>
            </a:pPr>
            <a:r>
              <a:rPr kumimoji="0" lang="en-US" altLang="zh-CN" sz="28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rPr>
              <a:t>2</a:t>
            </a:r>
            <a:endParaRPr kumimoji="0" lang="zh-CN" altLang="en-US" sz="24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endParaRPr>
          </a:p>
        </p:txBody>
      </p:sp>
      <p:sp>
        <p:nvSpPr>
          <p:cNvPr id="8" name="七边形 7"/>
          <p:cNvSpPr/>
          <p:nvPr/>
        </p:nvSpPr>
        <p:spPr bwMode="auto">
          <a:xfrm>
            <a:off x="467544" y="3260037"/>
            <a:ext cx="630734" cy="576064"/>
          </a:xfrm>
          <a:prstGeom prst="heptagon">
            <a:avLst/>
          </a:prstGeom>
          <a:solidFill>
            <a:schemeClr val="accent1">
              <a:lumMod val="20000"/>
              <a:lumOff val="80000"/>
            </a:schemeClr>
          </a:solidFill>
          <a:ln w="9525" cap="flat" cmpd="sng" algn="ctr">
            <a:solidFill>
              <a:schemeClr val="tx1"/>
            </a:solid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Arial" panose="020B0604020202020204" pitchFamily="34" charset="0"/>
              <a:buNone/>
              <a:tabLst/>
            </a:pPr>
            <a:r>
              <a:rPr kumimoji="0" lang="en-US" altLang="zh-CN" sz="28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rPr>
              <a:t>3</a:t>
            </a:r>
            <a:endParaRPr kumimoji="0" lang="zh-CN" altLang="en-US" sz="24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endParaRPr>
          </a:p>
        </p:txBody>
      </p:sp>
      <p:sp>
        <p:nvSpPr>
          <p:cNvPr id="9" name="七边形 8"/>
          <p:cNvSpPr/>
          <p:nvPr/>
        </p:nvSpPr>
        <p:spPr bwMode="auto">
          <a:xfrm>
            <a:off x="5108606" y="3284137"/>
            <a:ext cx="630734" cy="576064"/>
          </a:xfrm>
          <a:prstGeom prst="heptagon">
            <a:avLst/>
          </a:prstGeom>
          <a:solidFill>
            <a:schemeClr val="accent1">
              <a:lumMod val="20000"/>
              <a:lumOff val="80000"/>
            </a:schemeClr>
          </a:solidFill>
          <a:ln w="9525" cap="flat" cmpd="sng" algn="ctr">
            <a:solidFill>
              <a:schemeClr val="tx1"/>
            </a:solid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Arial" panose="020B0604020202020204" pitchFamily="34" charset="0"/>
              <a:buNone/>
              <a:tabLst/>
            </a:pPr>
            <a:r>
              <a:rPr kumimoji="0" lang="en-US" altLang="zh-CN" sz="28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rPr>
              <a:t>4</a:t>
            </a:r>
            <a:endParaRPr kumimoji="0" lang="zh-CN" altLang="en-US" sz="2400" b="1" i="0" u="none" strike="noStrike" cap="none" normalizeH="0" baseline="0" dirty="0" smtClean="0">
              <a:ln>
                <a:noFill/>
              </a:ln>
              <a:solidFill>
                <a:schemeClr val="tx1"/>
              </a:solidFill>
              <a:effectLst/>
              <a:latin typeface="Tahoma" panose="020B0604030504040204" pitchFamily="34" charset="0"/>
              <a:ea typeface="宋体" panose="02010600030101010101" pitchFamily="2" charset="-122"/>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newusers</a:t>
            </a:r>
            <a:r>
              <a:rPr lang="zh-CN" altLang="en-US" dirty="0"/>
              <a:t>命令</a:t>
            </a:r>
          </a:p>
        </p:txBody>
      </p:sp>
      <p:sp>
        <p:nvSpPr>
          <p:cNvPr id="3" name="内容占位符 2"/>
          <p:cNvSpPr>
            <a:spLocks noGrp="1"/>
          </p:cNvSpPr>
          <p:nvPr>
            <p:ph idx="1"/>
          </p:nvPr>
        </p:nvSpPr>
        <p:spPr>
          <a:xfrm>
            <a:off x="741586" y="1412776"/>
            <a:ext cx="8229600" cy="5040560"/>
          </a:xfrm>
        </p:spPr>
        <p:txBody>
          <a:bodyPr/>
          <a:lstStyle/>
          <a:p>
            <a:r>
              <a:rPr lang="zh-CN" altLang="en-US" dirty="0"/>
              <a:t>格式</a:t>
            </a:r>
            <a:endParaRPr lang="en-US" altLang="zh-CN" dirty="0"/>
          </a:p>
          <a:p>
            <a:pPr lvl="1"/>
            <a:r>
              <a:rPr lang="en-US" altLang="zh-CN" dirty="0" err="1">
                <a:solidFill>
                  <a:schemeClr val="accent6">
                    <a:lumMod val="75000"/>
                  </a:schemeClr>
                </a:solidFill>
              </a:rPr>
              <a:t>newusers</a:t>
            </a:r>
            <a:r>
              <a:rPr lang="en-US" altLang="zh-CN" dirty="0">
                <a:solidFill>
                  <a:schemeClr val="accent6">
                    <a:lumMod val="75000"/>
                  </a:schemeClr>
                </a:solidFill>
              </a:rPr>
              <a:t>  &lt;filename&gt;</a:t>
            </a:r>
          </a:p>
          <a:p>
            <a:pPr lvl="1"/>
            <a:r>
              <a:rPr lang="en-US" altLang="zh-CN" dirty="0"/>
              <a:t>filename</a:t>
            </a:r>
            <a:r>
              <a:rPr lang="zh-CN" altLang="en-US" dirty="0"/>
              <a:t>的格式与 </a:t>
            </a:r>
            <a:r>
              <a:rPr lang="en-US" altLang="zh-CN" dirty="0"/>
              <a:t>/etc/</a:t>
            </a:r>
            <a:r>
              <a:rPr lang="en-US" altLang="zh-CN" dirty="0" err="1"/>
              <a:t>passwd</a:t>
            </a:r>
            <a:r>
              <a:rPr lang="en-US" altLang="zh-CN" dirty="0"/>
              <a:t> </a:t>
            </a:r>
            <a:r>
              <a:rPr lang="zh-CN" altLang="en-US" dirty="0"/>
              <a:t>一致</a:t>
            </a:r>
            <a:endParaRPr lang="en-US" altLang="zh-CN" dirty="0"/>
          </a:p>
          <a:p>
            <a:r>
              <a:rPr lang="zh-CN" altLang="en-US" dirty="0"/>
              <a:t>举例</a:t>
            </a:r>
            <a:endParaRPr lang="en-US" altLang="zh-CN" dirty="0"/>
          </a:p>
          <a:p>
            <a:pPr lvl="1">
              <a:buNone/>
            </a:pPr>
            <a:r>
              <a:rPr lang="en-US" altLang="zh-CN" dirty="0">
                <a:solidFill>
                  <a:schemeClr val="accent6">
                    <a:lumMod val="75000"/>
                  </a:schemeClr>
                </a:solidFill>
              </a:rPr>
              <a:t># vi userfile.txt</a:t>
            </a:r>
          </a:p>
          <a:p>
            <a:pPr lvl="1">
              <a:buNone/>
            </a:pPr>
            <a:r>
              <a:rPr lang="en-US" altLang="zh-CN" dirty="0">
                <a:solidFill>
                  <a:schemeClr val="accent6">
                    <a:lumMod val="75000"/>
                  </a:schemeClr>
                </a:solidFill>
              </a:rPr>
              <a:t># cat userfile.txt</a:t>
            </a:r>
          </a:p>
          <a:p>
            <a:pPr lvl="1">
              <a:buNone/>
            </a:pPr>
            <a:r>
              <a:rPr lang="en-US" altLang="zh-CN" sz="1600" dirty="0">
                <a:solidFill>
                  <a:srgbClr val="002060"/>
                </a:solidFill>
              </a:rPr>
              <a:t>user1:x:1001:1001::/home/user1:/bin/bash</a:t>
            </a:r>
          </a:p>
          <a:p>
            <a:pPr lvl="1">
              <a:buNone/>
            </a:pPr>
            <a:r>
              <a:rPr lang="en-US" altLang="zh-CN" sz="1600" dirty="0">
                <a:solidFill>
                  <a:srgbClr val="002060"/>
                </a:solidFill>
              </a:rPr>
              <a:t>user2:x:1002:1002::/home/user2:/bin/bash</a:t>
            </a:r>
          </a:p>
          <a:p>
            <a:pPr lvl="1">
              <a:buNone/>
            </a:pPr>
            <a:r>
              <a:rPr lang="en-US" altLang="zh-CN" sz="1600" dirty="0">
                <a:solidFill>
                  <a:srgbClr val="002060"/>
                </a:solidFill>
              </a:rPr>
              <a:t>ftpuser1:x:2001:2001::/home/ftpuser1:/</a:t>
            </a:r>
            <a:r>
              <a:rPr lang="en-US" altLang="zh-CN" sz="1600" dirty="0" err="1">
                <a:solidFill>
                  <a:srgbClr val="002060"/>
                </a:solidFill>
              </a:rPr>
              <a:t>sbin</a:t>
            </a:r>
            <a:r>
              <a:rPr lang="en-US" altLang="zh-CN" sz="1600" dirty="0">
                <a:solidFill>
                  <a:srgbClr val="002060"/>
                </a:solidFill>
              </a:rPr>
              <a:t>/</a:t>
            </a:r>
            <a:r>
              <a:rPr lang="en-US" altLang="zh-CN" sz="1600" dirty="0" err="1">
                <a:solidFill>
                  <a:srgbClr val="002060"/>
                </a:solidFill>
              </a:rPr>
              <a:t>nologin</a:t>
            </a:r>
            <a:endParaRPr lang="en-US" altLang="zh-CN" sz="1600" dirty="0">
              <a:solidFill>
                <a:srgbClr val="002060"/>
              </a:solidFill>
            </a:endParaRPr>
          </a:p>
          <a:p>
            <a:pPr lvl="1">
              <a:buNone/>
            </a:pPr>
            <a:r>
              <a:rPr lang="en-US" altLang="zh-CN" sz="1600" dirty="0">
                <a:solidFill>
                  <a:srgbClr val="002060"/>
                </a:solidFill>
              </a:rPr>
              <a:t>ftpuser2:x:2002:2002::/home/ftpuser2:/</a:t>
            </a:r>
            <a:r>
              <a:rPr lang="en-US" altLang="zh-CN" sz="1600" dirty="0" err="1">
                <a:solidFill>
                  <a:srgbClr val="002060"/>
                </a:solidFill>
              </a:rPr>
              <a:t>sbin</a:t>
            </a:r>
            <a:r>
              <a:rPr lang="en-US" altLang="zh-CN" sz="1600" dirty="0">
                <a:solidFill>
                  <a:srgbClr val="002060"/>
                </a:solidFill>
              </a:rPr>
              <a:t>/</a:t>
            </a:r>
            <a:r>
              <a:rPr lang="en-US" altLang="zh-CN" sz="1600" dirty="0" err="1">
                <a:solidFill>
                  <a:srgbClr val="002060"/>
                </a:solidFill>
              </a:rPr>
              <a:t>nologin</a:t>
            </a:r>
            <a:endParaRPr lang="en-US" altLang="zh-CN" sz="1600" dirty="0">
              <a:solidFill>
                <a:srgbClr val="002060"/>
              </a:solidFill>
            </a:endParaRPr>
          </a:p>
          <a:p>
            <a:pPr lvl="1">
              <a:buNone/>
            </a:pPr>
            <a:r>
              <a:rPr lang="en-US" altLang="zh-CN" dirty="0">
                <a:solidFill>
                  <a:schemeClr val="accent6">
                    <a:lumMod val="75000"/>
                  </a:schemeClr>
                </a:solidFill>
              </a:rPr>
              <a:t># </a:t>
            </a:r>
            <a:r>
              <a:rPr lang="en-US" altLang="zh-CN" dirty="0" err="1">
                <a:solidFill>
                  <a:schemeClr val="accent6">
                    <a:lumMod val="75000"/>
                  </a:schemeClr>
                </a:solidFill>
              </a:rPr>
              <a:t>newusers</a:t>
            </a:r>
            <a:r>
              <a:rPr lang="en-US" altLang="zh-CN" dirty="0">
                <a:solidFill>
                  <a:schemeClr val="accent6">
                    <a:lumMod val="75000"/>
                  </a:schemeClr>
                </a:solidFill>
              </a:rPr>
              <a:t> userfile.txt</a:t>
            </a:r>
            <a:endParaRPr lang="zh-CN" altLang="en-US" dirty="0">
              <a:solidFill>
                <a:schemeClr val="accent6">
                  <a:lumMod val="75000"/>
                </a:schemeClr>
              </a:solidFill>
            </a:endParaRPr>
          </a:p>
          <a:p>
            <a:pPr lvl="1"/>
            <a:endParaRPr lang="zh-CN" altLang="en-US" dirty="0"/>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chpasswd</a:t>
            </a:r>
            <a:r>
              <a:rPr lang="zh-CN" altLang="en-US" dirty="0"/>
              <a:t>命令</a:t>
            </a:r>
          </a:p>
        </p:txBody>
      </p:sp>
      <p:sp>
        <p:nvSpPr>
          <p:cNvPr id="3" name="内容占位符 2"/>
          <p:cNvSpPr>
            <a:spLocks noGrp="1"/>
          </p:cNvSpPr>
          <p:nvPr>
            <p:ph idx="1"/>
          </p:nvPr>
        </p:nvSpPr>
        <p:spPr>
          <a:xfrm>
            <a:off x="683568" y="1484784"/>
            <a:ext cx="8229600" cy="4934173"/>
          </a:xfrm>
        </p:spPr>
        <p:txBody>
          <a:bodyPr/>
          <a:lstStyle/>
          <a:p>
            <a:r>
              <a:rPr lang="zh-CN" altLang="en-US" sz="2800" dirty="0"/>
              <a:t>格式</a:t>
            </a:r>
            <a:endParaRPr lang="en-US" altLang="zh-CN" sz="2800" dirty="0"/>
          </a:p>
          <a:p>
            <a:pPr lvl="1"/>
            <a:r>
              <a:rPr lang="en-US" altLang="zh-CN" sz="2400" dirty="0"/>
              <a:t>chpasswd</a:t>
            </a:r>
            <a:r>
              <a:rPr lang="en-US" altLang="zh-CN" sz="2400" dirty="0">
                <a:solidFill>
                  <a:schemeClr val="accent6">
                    <a:lumMod val="75000"/>
                  </a:schemeClr>
                </a:solidFill>
              </a:rPr>
              <a:t>  </a:t>
            </a:r>
            <a:r>
              <a:rPr lang="en-US" altLang="zh-CN" sz="2400" dirty="0">
                <a:solidFill>
                  <a:srgbClr val="FF0000"/>
                </a:solidFill>
              </a:rPr>
              <a:t>&lt;</a:t>
            </a:r>
            <a:r>
              <a:rPr lang="en-US" altLang="zh-CN" sz="2400" dirty="0">
                <a:solidFill>
                  <a:schemeClr val="accent6">
                    <a:lumMod val="75000"/>
                  </a:schemeClr>
                </a:solidFill>
              </a:rPr>
              <a:t> &lt;filename&gt;</a:t>
            </a:r>
          </a:p>
          <a:p>
            <a:pPr lvl="1"/>
            <a:r>
              <a:rPr lang="en-US" altLang="zh-CN" sz="2400" dirty="0"/>
              <a:t>filename</a:t>
            </a:r>
            <a:r>
              <a:rPr lang="zh-CN" altLang="en-US" sz="2400" dirty="0"/>
              <a:t>每一行的格式：</a:t>
            </a:r>
            <a:endParaRPr lang="en-US" altLang="zh-CN" sz="2400" dirty="0"/>
          </a:p>
          <a:p>
            <a:pPr lvl="2"/>
            <a:r>
              <a:rPr lang="en-US" altLang="zh-CN" dirty="0" err="1">
                <a:solidFill>
                  <a:srgbClr val="C00000"/>
                </a:solidFill>
              </a:rPr>
              <a:t>username:password</a:t>
            </a:r>
            <a:endParaRPr lang="en-US" altLang="zh-CN" dirty="0">
              <a:solidFill>
                <a:srgbClr val="C00000"/>
              </a:solidFill>
            </a:endParaRPr>
          </a:p>
          <a:p>
            <a:pPr lvl="2"/>
            <a:r>
              <a:rPr lang="en-US" altLang="zh-CN" dirty="0">
                <a:solidFill>
                  <a:srgbClr val="C00000"/>
                </a:solidFill>
              </a:rPr>
              <a:t>username</a:t>
            </a:r>
            <a:r>
              <a:rPr lang="zh-CN" altLang="en-US" dirty="0">
                <a:solidFill>
                  <a:srgbClr val="C00000"/>
                </a:solidFill>
              </a:rPr>
              <a:t>必须是系统上已存在的用户</a:t>
            </a:r>
            <a:endParaRPr lang="en-US" altLang="zh-CN" dirty="0">
              <a:solidFill>
                <a:srgbClr val="C00000"/>
              </a:solidFill>
            </a:endParaRPr>
          </a:p>
          <a:p>
            <a:r>
              <a:rPr lang="zh-CN" altLang="en-US" sz="2800" dirty="0"/>
              <a:t>举例</a:t>
            </a:r>
            <a:endParaRPr lang="en-US" altLang="zh-CN" sz="2800" dirty="0"/>
          </a:p>
          <a:p>
            <a:pPr lvl="1">
              <a:buNone/>
            </a:pPr>
            <a:r>
              <a:rPr lang="en-US" altLang="zh-CN" sz="2400" dirty="0">
                <a:solidFill>
                  <a:schemeClr val="accent6">
                    <a:lumMod val="75000"/>
                  </a:schemeClr>
                </a:solidFill>
              </a:rPr>
              <a:t># vi userpwdfile.txt; chmod 600 userpwdfile.txt</a:t>
            </a:r>
          </a:p>
          <a:p>
            <a:pPr lvl="1">
              <a:buNone/>
            </a:pPr>
            <a:r>
              <a:rPr lang="en-US" altLang="zh-CN" sz="2400" dirty="0">
                <a:solidFill>
                  <a:schemeClr val="accent6">
                    <a:lumMod val="75000"/>
                  </a:schemeClr>
                </a:solidFill>
              </a:rPr>
              <a:t># cat userpwdfile.txt</a:t>
            </a:r>
          </a:p>
          <a:p>
            <a:pPr lvl="1">
              <a:spcBef>
                <a:spcPts val="0"/>
              </a:spcBef>
              <a:buNone/>
            </a:pPr>
            <a:r>
              <a:rPr lang="en-US" altLang="zh-CN" sz="1800" dirty="0">
                <a:solidFill>
                  <a:srgbClr val="002060"/>
                </a:solidFill>
              </a:rPr>
              <a:t>user1:123456</a:t>
            </a:r>
          </a:p>
          <a:p>
            <a:pPr lvl="1">
              <a:spcBef>
                <a:spcPts val="0"/>
              </a:spcBef>
              <a:buNone/>
            </a:pPr>
            <a:r>
              <a:rPr lang="en-US" altLang="zh-CN" sz="1800" dirty="0">
                <a:solidFill>
                  <a:srgbClr val="002060"/>
                </a:solidFill>
              </a:rPr>
              <a:t>user2:passwd</a:t>
            </a:r>
          </a:p>
          <a:p>
            <a:pPr lvl="1">
              <a:spcBef>
                <a:spcPts val="0"/>
              </a:spcBef>
              <a:buNone/>
            </a:pPr>
            <a:r>
              <a:rPr lang="en-US" altLang="zh-CN" sz="1800" dirty="0">
                <a:solidFill>
                  <a:srgbClr val="002060"/>
                </a:solidFill>
              </a:rPr>
              <a:t>ftpuser1:123qaz</a:t>
            </a:r>
          </a:p>
          <a:p>
            <a:pPr lvl="1">
              <a:spcBef>
                <a:spcPts val="0"/>
              </a:spcBef>
              <a:buNone/>
            </a:pPr>
            <a:r>
              <a:rPr lang="en-US" altLang="zh-CN" sz="1800" dirty="0">
                <a:solidFill>
                  <a:srgbClr val="002060"/>
                </a:solidFill>
              </a:rPr>
              <a:t>ftpuser2:xsw321</a:t>
            </a:r>
          </a:p>
          <a:p>
            <a:pPr lvl="1">
              <a:buNone/>
            </a:pPr>
            <a:r>
              <a:rPr lang="en-US" altLang="zh-CN" sz="2400" dirty="0">
                <a:solidFill>
                  <a:schemeClr val="accent6">
                    <a:lumMod val="75000"/>
                  </a:schemeClr>
                </a:solidFill>
              </a:rPr>
              <a:t># chpasswd &lt; userpwdfile.txt</a:t>
            </a:r>
            <a:endParaRPr lang="zh-CN" altLang="en-US" sz="2400"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pwgen</a:t>
            </a:r>
            <a:r>
              <a:rPr lang="zh-CN" altLang="en-US" dirty="0"/>
              <a:t>命令</a:t>
            </a:r>
          </a:p>
        </p:txBody>
      </p:sp>
      <p:sp>
        <p:nvSpPr>
          <p:cNvPr id="3" name="内容占位符 2"/>
          <p:cNvSpPr>
            <a:spLocks noGrp="1"/>
          </p:cNvSpPr>
          <p:nvPr>
            <p:ph idx="1"/>
          </p:nvPr>
        </p:nvSpPr>
        <p:spPr>
          <a:xfrm>
            <a:off x="827584" y="1340768"/>
            <a:ext cx="8229600" cy="5328592"/>
          </a:xfrm>
        </p:spPr>
        <p:txBody>
          <a:bodyPr/>
          <a:lstStyle/>
          <a:p>
            <a:r>
              <a:rPr lang="zh-CN" altLang="en-US" dirty="0"/>
              <a:t>格式</a:t>
            </a:r>
            <a:endParaRPr lang="en-US" altLang="zh-CN" dirty="0"/>
          </a:p>
          <a:p>
            <a:pPr lvl="1">
              <a:buNone/>
            </a:pPr>
            <a:r>
              <a:rPr lang="en-US" altLang="zh-CN" dirty="0">
                <a:solidFill>
                  <a:schemeClr val="accent2">
                    <a:lumMod val="75000"/>
                  </a:schemeClr>
                </a:solidFill>
              </a:rPr>
              <a:t>pwgen [</a:t>
            </a:r>
            <a:r>
              <a:rPr lang="zh-CN" altLang="en-US" dirty="0">
                <a:solidFill>
                  <a:schemeClr val="accent2">
                    <a:lumMod val="75000"/>
                  </a:schemeClr>
                </a:solidFill>
              </a:rPr>
              <a:t>选项</a:t>
            </a:r>
            <a:r>
              <a:rPr lang="en-US" altLang="zh-CN" dirty="0">
                <a:solidFill>
                  <a:schemeClr val="accent2">
                    <a:lumMod val="75000"/>
                  </a:schemeClr>
                </a:solidFill>
              </a:rPr>
              <a:t>] [</a:t>
            </a:r>
            <a:r>
              <a:rPr lang="zh-CN" altLang="en-US" dirty="0">
                <a:solidFill>
                  <a:schemeClr val="accent2">
                    <a:lumMod val="75000"/>
                  </a:schemeClr>
                </a:solidFill>
              </a:rPr>
              <a:t>口令长度</a:t>
            </a:r>
            <a:r>
              <a:rPr lang="en-US" altLang="zh-CN" dirty="0">
                <a:solidFill>
                  <a:schemeClr val="accent2">
                    <a:lumMod val="75000"/>
                  </a:schemeClr>
                </a:solidFill>
              </a:rPr>
              <a:t>] [</a:t>
            </a:r>
            <a:r>
              <a:rPr lang="zh-CN" altLang="en-US" dirty="0">
                <a:solidFill>
                  <a:schemeClr val="accent2">
                    <a:lumMod val="75000"/>
                  </a:schemeClr>
                </a:solidFill>
              </a:rPr>
              <a:t>口令个数</a:t>
            </a:r>
            <a:r>
              <a:rPr lang="en-US" altLang="zh-CN" dirty="0">
                <a:solidFill>
                  <a:schemeClr val="accent2">
                    <a:lumMod val="75000"/>
                  </a:schemeClr>
                </a:solidFill>
              </a:rPr>
              <a:t>]</a:t>
            </a:r>
          </a:p>
          <a:p>
            <a:pPr lvl="1"/>
            <a:r>
              <a:rPr lang="zh-CN" altLang="en-US" dirty="0"/>
              <a:t>默认的</a:t>
            </a:r>
            <a:r>
              <a:rPr lang="zh-CN" altLang="en-US" dirty="0">
                <a:solidFill>
                  <a:srgbClr val="FF0000"/>
                </a:solidFill>
              </a:rPr>
              <a:t>口令长度</a:t>
            </a:r>
            <a:r>
              <a:rPr lang="zh-CN" altLang="en-US" dirty="0"/>
              <a:t>为 </a:t>
            </a:r>
            <a:r>
              <a:rPr lang="en-US" altLang="zh-CN" dirty="0"/>
              <a:t>8</a:t>
            </a:r>
          </a:p>
          <a:p>
            <a:pPr lvl="1"/>
            <a:r>
              <a:rPr lang="zh-CN" altLang="en-US" dirty="0"/>
              <a:t>默认生成的</a:t>
            </a:r>
            <a:r>
              <a:rPr lang="zh-CN" altLang="en-US" dirty="0">
                <a:solidFill>
                  <a:srgbClr val="FF0000"/>
                </a:solidFill>
              </a:rPr>
              <a:t>口令个数</a:t>
            </a:r>
            <a:r>
              <a:rPr lang="zh-CN" altLang="en-US" dirty="0"/>
              <a:t>为 </a:t>
            </a:r>
            <a:r>
              <a:rPr lang="en-US" altLang="zh-CN" dirty="0"/>
              <a:t>8</a:t>
            </a:r>
            <a:r>
              <a:rPr lang="zh-CN" altLang="en-US" dirty="0"/>
              <a:t>*</a:t>
            </a:r>
            <a:r>
              <a:rPr lang="en-US" altLang="zh-CN" dirty="0"/>
              <a:t>20</a:t>
            </a:r>
          </a:p>
          <a:p>
            <a:r>
              <a:rPr lang="zh-CN" altLang="en-US" dirty="0"/>
              <a:t>选项</a:t>
            </a:r>
            <a:endParaRPr lang="en-US" altLang="zh-CN" dirty="0"/>
          </a:p>
          <a:p>
            <a:pPr lvl="1"/>
            <a:r>
              <a:rPr lang="en-US" altLang="zh-CN" dirty="0"/>
              <a:t>-c</a:t>
            </a:r>
            <a:r>
              <a:rPr lang="zh-CN" altLang="en-US" dirty="0"/>
              <a:t>：至少包含一个大写字母</a:t>
            </a:r>
          </a:p>
          <a:p>
            <a:pPr lvl="1"/>
            <a:r>
              <a:rPr lang="en-US" altLang="zh-CN" dirty="0"/>
              <a:t>-n</a:t>
            </a:r>
            <a:r>
              <a:rPr lang="zh-CN" altLang="en-US" dirty="0"/>
              <a:t>：至少包含一个数字</a:t>
            </a:r>
          </a:p>
          <a:p>
            <a:pPr lvl="1"/>
            <a:r>
              <a:rPr lang="en-US" altLang="zh-CN" dirty="0"/>
              <a:t>-y</a:t>
            </a:r>
            <a:r>
              <a:rPr lang="zh-CN" altLang="en-US" dirty="0"/>
              <a:t>：至少包含一个非字母和数字的特殊字符</a:t>
            </a:r>
          </a:p>
          <a:p>
            <a:pPr lvl="1"/>
            <a:r>
              <a:rPr lang="en-US" altLang="zh-CN" dirty="0"/>
              <a:t>-s</a:t>
            </a:r>
            <a:r>
              <a:rPr lang="zh-CN" altLang="en-US" dirty="0"/>
              <a:t>：生成完全随机的安全口令</a:t>
            </a:r>
          </a:p>
          <a:p>
            <a:pPr lvl="1"/>
            <a:r>
              <a:rPr lang="en-US" altLang="zh-CN" dirty="0"/>
              <a:t>-1</a:t>
            </a:r>
            <a:r>
              <a:rPr lang="zh-CN" altLang="en-US" dirty="0"/>
              <a:t>：每行显示一个口令</a:t>
            </a: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pwgen</a:t>
            </a:r>
            <a:r>
              <a:rPr lang="zh-CN" altLang="en-US" dirty="0"/>
              <a:t>命令举例</a:t>
            </a:r>
          </a:p>
        </p:txBody>
      </p:sp>
      <p:sp>
        <p:nvSpPr>
          <p:cNvPr id="3" name="内容占位符 2"/>
          <p:cNvSpPr>
            <a:spLocks noGrp="1"/>
          </p:cNvSpPr>
          <p:nvPr>
            <p:ph idx="1"/>
          </p:nvPr>
        </p:nvSpPr>
        <p:spPr>
          <a:xfrm>
            <a:off x="1043608" y="1556792"/>
            <a:ext cx="7382842" cy="4790157"/>
          </a:xfrm>
        </p:spPr>
        <p:txBody>
          <a:bodyPr/>
          <a:lstStyle/>
          <a:p>
            <a:r>
              <a:rPr lang="en-US" altLang="zh-CN" dirty="0"/>
              <a:t># pwgen</a:t>
            </a:r>
          </a:p>
          <a:p>
            <a:r>
              <a:rPr lang="en-US" altLang="zh-CN" dirty="0"/>
              <a:t># pwgen  8 20</a:t>
            </a:r>
          </a:p>
          <a:p>
            <a:r>
              <a:rPr lang="en-US" altLang="zh-CN" dirty="0"/>
              <a:t># pwgen  -1  8 20</a:t>
            </a:r>
            <a:endParaRPr lang="en-US" altLang="zh-CN" sz="1800" dirty="0"/>
          </a:p>
          <a:p>
            <a:r>
              <a:rPr lang="en-US" altLang="zh-CN" dirty="0"/>
              <a:t># pwgen -y</a:t>
            </a:r>
          </a:p>
          <a:p>
            <a:r>
              <a:rPr lang="en-US" altLang="zh-CN" dirty="0"/>
              <a:t># pwgen -</a:t>
            </a:r>
            <a:r>
              <a:rPr lang="en-US" altLang="zh-CN" dirty="0" err="1"/>
              <a:t>sy</a:t>
            </a:r>
            <a:endParaRPr lang="en-US" altLang="zh-CN" dirty="0"/>
          </a:p>
          <a:p>
            <a:r>
              <a:rPr lang="en-US" altLang="zh-CN" dirty="0"/>
              <a:t># pwgen -ns  10</a:t>
            </a:r>
          </a:p>
          <a:p>
            <a:r>
              <a:rPr lang="en-US" altLang="zh-CN" dirty="0"/>
              <a:t># </a:t>
            </a:r>
            <a:r>
              <a:rPr lang="en-US" altLang="zh-CN" dirty="0" err="1"/>
              <a:t>pwgen</a:t>
            </a:r>
            <a:r>
              <a:rPr lang="en-US" altLang="zh-CN" dirty="0"/>
              <a:t> -</a:t>
            </a:r>
            <a:r>
              <a:rPr lang="en-US" altLang="zh-CN" dirty="0" err="1"/>
              <a:t>nsy</a:t>
            </a:r>
            <a:r>
              <a:rPr lang="en-US" altLang="zh-CN" dirty="0"/>
              <a:t>  12   20</a:t>
            </a:r>
          </a:p>
          <a:p>
            <a:r>
              <a:rPr lang="en-US" altLang="zh-CN" dirty="0"/>
              <a:t># pwgen -nsy1  12   20</a:t>
            </a:r>
            <a:endParaRPr lang="zh-CN" altLang="en-US" dirty="0"/>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83035" y="239271"/>
            <a:ext cx="7781453" cy="1052513"/>
          </a:xfrm>
        </p:spPr>
        <p:txBody>
          <a:bodyPr/>
          <a:lstStyle/>
          <a:p>
            <a:r>
              <a:rPr kumimoji="0" lang="en-US" altLang="zh-CN" sz="4400" b="0" i="0" u="none" strike="noStrike" kern="1200" cap="none" spc="0" normalizeH="0" baseline="0" noProof="0" dirty="0">
                <a:ln>
                  <a:noFill/>
                </a:ln>
                <a:solidFill>
                  <a:srgbClr val="333399"/>
                </a:solidFill>
                <a:effectLst/>
                <a:uLnTx/>
                <a:uFillTx/>
                <a:latin typeface="Times New Roman" panose="02020603050405020304" pitchFamily="18" charset="0"/>
                <a:ea typeface="宋体" panose="02010600030101010101" pitchFamily="2" charset="-122"/>
                <a:cs typeface="+mj-cs"/>
              </a:rPr>
              <a:t>pwgen</a:t>
            </a:r>
            <a:r>
              <a:rPr kumimoji="0" lang="zh-CN" altLang="en-US" sz="4400" b="0" i="0" u="none" strike="noStrike" kern="1200" cap="none" spc="0" normalizeH="0" baseline="0" noProof="0" dirty="0">
                <a:ln>
                  <a:noFill/>
                </a:ln>
                <a:solidFill>
                  <a:srgbClr val="333399"/>
                </a:solidFill>
                <a:effectLst/>
                <a:uLnTx/>
                <a:uFillTx/>
                <a:latin typeface="Times New Roman" panose="02020603050405020304" pitchFamily="18" charset="0"/>
                <a:ea typeface="宋体" panose="02010600030101010101" pitchFamily="2" charset="-122"/>
                <a:cs typeface="+mj-cs"/>
              </a:rPr>
              <a:t>和</a:t>
            </a:r>
            <a:r>
              <a:rPr lang="en-US" altLang="zh-CN" dirty="0"/>
              <a:t>chpasswd</a:t>
            </a:r>
            <a:r>
              <a:rPr kumimoji="0" lang="zh-CN" altLang="en-US" sz="4400" b="0" i="0" u="none" strike="noStrike" kern="1200" cap="none" spc="0" normalizeH="0" baseline="0" noProof="0" dirty="0">
                <a:ln>
                  <a:noFill/>
                </a:ln>
                <a:solidFill>
                  <a:srgbClr val="333399"/>
                </a:solidFill>
                <a:effectLst/>
                <a:uLnTx/>
                <a:uFillTx/>
                <a:latin typeface="Times New Roman" panose="02020603050405020304" pitchFamily="18" charset="0"/>
                <a:ea typeface="宋体" panose="02010600030101010101" pitchFamily="2" charset="-122"/>
                <a:cs typeface="+mj-cs"/>
              </a:rPr>
              <a:t>命令举例</a:t>
            </a:r>
            <a:endParaRPr lang="zh-CN" altLang="en-US" sz="3600" dirty="0"/>
          </a:p>
        </p:txBody>
      </p:sp>
      <p:sp>
        <p:nvSpPr>
          <p:cNvPr id="3" name="内容占位符 2"/>
          <p:cNvSpPr>
            <a:spLocks noGrp="1"/>
          </p:cNvSpPr>
          <p:nvPr>
            <p:ph idx="1"/>
          </p:nvPr>
        </p:nvSpPr>
        <p:spPr>
          <a:xfrm>
            <a:off x="539552" y="2320311"/>
            <a:ext cx="8363272" cy="4358109"/>
          </a:xfrm>
        </p:spPr>
        <p:txBody>
          <a:bodyPr/>
          <a:lstStyle/>
          <a:p>
            <a:pPr lvl="1">
              <a:buNone/>
            </a:pPr>
            <a:r>
              <a:rPr lang="en-US" altLang="zh-CN" sz="2400" dirty="0">
                <a:solidFill>
                  <a:schemeClr val="accent6">
                    <a:lumMod val="75000"/>
                  </a:schemeClr>
                </a:solidFill>
              </a:rPr>
              <a:t># cat userfile.txt</a:t>
            </a:r>
          </a:p>
          <a:p>
            <a:pPr lvl="1">
              <a:buNone/>
            </a:pPr>
            <a:r>
              <a:rPr lang="en-US" altLang="zh-CN" sz="2000" dirty="0">
                <a:solidFill>
                  <a:srgbClr val="002060"/>
                </a:solidFill>
              </a:rPr>
              <a:t>user1:x:1001:1001::/home/user1:/bin/bash</a:t>
            </a:r>
          </a:p>
          <a:p>
            <a:pPr lvl="1">
              <a:buNone/>
            </a:pPr>
            <a:r>
              <a:rPr lang="en-US" altLang="zh-CN" sz="2000" dirty="0">
                <a:solidFill>
                  <a:srgbClr val="002060"/>
                </a:solidFill>
              </a:rPr>
              <a:t>user2:x:1002:1002::/home/user2:/bin/bash</a:t>
            </a:r>
          </a:p>
          <a:p>
            <a:pPr lvl="1">
              <a:buNone/>
            </a:pPr>
            <a:r>
              <a:rPr lang="en-US" altLang="zh-CN" sz="2000" dirty="0">
                <a:solidFill>
                  <a:srgbClr val="002060"/>
                </a:solidFill>
              </a:rPr>
              <a:t>ftpuser1:x:2001:2001::/home/ftpuser1:/</a:t>
            </a:r>
            <a:r>
              <a:rPr lang="en-US" altLang="zh-CN" sz="2000" dirty="0" err="1">
                <a:solidFill>
                  <a:srgbClr val="002060"/>
                </a:solidFill>
              </a:rPr>
              <a:t>sbin</a:t>
            </a:r>
            <a:r>
              <a:rPr lang="en-US" altLang="zh-CN" sz="2000" dirty="0">
                <a:solidFill>
                  <a:srgbClr val="002060"/>
                </a:solidFill>
              </a:rPr>
              <a:t>/</a:t>
            </a:r>
            <a:r>
              <a:rPr lang="en-US" altLang="zh-CN" sz="2000" dirty="0" err="1">
                <a:solidFill>
                  <a:srgbClr val="002060"/>
                </a:solidFill>
              </a:rPr>
              <a:t>nologin</a:t>
            </a:r>
            <a:endParaRPr lang="en-US" altLang="zh-CN" sz="2000" dirty="0">
              <a:solidFill>
                <a:srgbClr val="002060"/>
              </a:solidFill>
            </a:endParaRPr>
          </a:p>
          <a:p>
            <a:pPr lvl="1">
              <a:buNone/>
            </a:pPr>
            <a:r>
              <a:rPr lang="en-US" altLang="zh-CN" sz="2000" dirty="0">
                <a:solidFill>
                  <a:srgbClr val="002060"/>
                </a:solidFill>
              </a:rPr>
              <a:t>ftpuser2:x:2002:2002::/home/ftpuser2:/</a:t>
            </a:r>
            <a:r>
              <a:rPr lang="en-US" altLang="zh-CN" sz="2000" dirty="0" err="1">
                <a:solidFill>
                  <a:srgbClr val="002060"/>
                </a:solidFill>
              </a:rPr>
              <a:t>sbin</a:t>
            </a:r>
            <a:r>
              <a:rPr lang="en-US" altLang="zh-CN" sz="2000" dirty="0">
                <a:solidFill>
                  <a:srgbClr val="002060"/>
                </a:solidFill>
              </a:rPr>
              <a:t>/</a:t>
            </a:r>
            <a:r>
              <a:rPr lang="en-US" altLang="zh-CN" sz="2000" dirty="0" err="1">
                <a:solidFill>
                  <a:srgbClr val="002060"/>
                </a:solidFill>
              </a:rPr>
              <a:t>nologin</a:t>
            </a:r>
            <a:endParaRPr lang="en-US" altLang="zh-CN" sz="2000" dirty="0">
              <a:solidFill>
                <a:srgbClr val="002060"/>
              </a:solidFill>
            </a:endParaRPr>
          </a:p>
          <a:p>
            <a:endParaRPr lang="en-US" altLang="zh-CN" sz="1100" dirty="0"/>
          </a:p>
          <a:p>
            <a:r>
              <a:rPr lang="en-US" altLang="zh-CN" sz="2400" dirty="0"/>
              <a:t># cut -d\: -f 1 userfile.txt&gt; pwdtemp1</a:t>
            </a:r>
          </a:p>
          <a:p>
            <a:r>
              <a:rPr lang="en-US" altLang="zh-CN" sz="2400" dirty="0">
                <a:solidFill>
                  <a:srgbClr val="C00000"/>
                </a:solidFill>
              </a:rPr>
              <a:t># pwgen -cn1 8 $(</a:t>
            </a:r>
            <a:r>
              <a:rPr lang="en-US" altLang="zh-CN" sz="2400" dirty="0" err="1">
                <a:solidFill>
                  <a:srgbClr val="C00000"/>
                </a:solidFill>
              </a:rPr>
              <a:t>wc</a:t>
            </a:r>
            <a:r>
              <a:rPr lang="en-US" altLang="zh-CN" sz="2400" dirty="0">
                <a:solidFill>
                  <a:srgbClr val="C00000"/>
                </a:solidFill>
              </a:rPr>
              <a:t> -l &lt; userfile.txt) &gt; pwdtemp2</a:t>
            </a:r>
          </a:p>
          <a:p>
            <a:r>
              <a:rPr lang="en-US" altLang="zh-CN" sz="2400" dirty="0"/>
              <a:t># paste -d \: pwdtemp1 pwdtemp2 &gt; userpwdfile.txt</a:t>
            </a:r>
          </a:p>
          <a:p>
            <a:pPr marL="342900" lvl="1" indent="-342900">
              <a:buClr>
                <a:schemeClr val="accent1"/>
              </a:buClr>
              <a:buSzPct val="65000"/>
              <a:buFont typeface="Wingdings" pitchFamily="2" charset="2"/>
              <a:buChar char="n"/>
            </a:pPr>
            <a:r>
              <a:rPr lang="en-US" altLang="zh-CN" sz="2400" dirty="0">
                <a:solidFill>
                  <a:schemeClr val="accent6">
                    <a:lumMod val="75000"/>
                  </a:schemeClr>
                </a:solidFill>
              </a:rPr>
              <a:t># chmod 600 userpwdfile.txt; </a:t>
            </a:r>
            <a:r>
              <a:rPr lang="en-US" altLang="zh-CN" sz="2400" dirty="0" err="1">
                <a:solidFill>
                  <a:schemeClr val="accent6">
                    <a:lumMod val="75000"/>
                  </a:schemeClr>
                </a:solidFill>
              </a:rPr>
              <a:t>rm</a:t>
            </a:r>
            <a:r>
              <a:rPr lang="en-US" altLang="zh-CN" sz="2400" dirty="0">
                <a:solidFill>
                  <a:schemeClr val="accent6">
                    <a:lumMod val="75000"/>
                  </a:schemeClr>
                </a:solidFill>
              </a:rPr>
              <a:t> -f </a:t>
            </a:r>
            <a:r>
              <a:rPr lang="en-US" altLang="zh-CN" sz="2400" dirty="0" err="1">
                <a:solidFill>
                  <a:schemeClr val="accent6">
                    <a:lumMod val="75000"/>
                  </a:schemeClr>
                </a:solidFill>
              </a:rPr>
              <a:t>pwdtemp</a:t>
            </a:r>
            <a:r>
              <a:rPr lang="en-US" altLang="zh-CN" sz="2400" dirty="0">
                <a:solidFill>
                  <a:schemeClr val="accent6">
                    <a:lumMod val="75000"/>
                  </a:schemeClr>
                </a:solidFill>
              </a:rPr>
              <a:t>{1,2}</a:t>
            </a:r>
            <a:endParaRPr lang="zh-CN" altLang="en-US" sz="2400" dirty="0">
              <a:solidFill>
                <a:schemeClr val="accent6">
                  <a:lumMod val="75000"/>
                </a:schemeClr>
              </a:solidFill>
            </a:endParaRPr>
          </a:p>
          <a:p>
            <a:pPr marL="342900" lvl="1" indent="-342900">
              <a:buClr>
                <a:schemeClr val="accent1"/>
              </a:buClr>
              <a:buSzPct val="65000"/>
              <a:buFont typeface="Wingdings" pitchFamily="2" charset="2"/>
              <a:buChar char="n"/>
            </a:pPr>
            <a:r>
              <a:rPr lang="en-US" altLang="zh-CN" sz="2400" dirty="0">
                <a:solidFill>
                  <a:schemeClr val="accent6">
                    <a:lumMod val="75000"/>
                  </a:schemeClr>
                </a:solidFill>
              </a:rPr>
              <a:t># chpasswd &lt; userpwdfile.txt</a:t>
            </a:r>
          </a:p>
        </p:txBody>
      </p:sp>
      <p:sp>
        <p:nvSpPr>
          <p:cNvPr id="5" name="文本框 4">
            <a:extLst>
              <a:ext uri="{FF2B5EF4-FFF2-40B4-BE49-F238E27FC236}">
                <a16:creationId xmlns:a16="http://schemas.microsoft.com/office/drawing/2014/main" id="{A8828DD8-F9FF-4272-B06A-E6B192E049FB}"/>
              </a:ext>
            </a:extLst>
          </p:cNvPr>
          <p:cNvSpPr txBox="1"/>
          <p:nvPr/>
        </p:nvSpPr>
        <p:spPr>
          <a:xfrm>
            <a:off x="976772" y="1291784"/>
            <a:ext cx="7344816" cy="1077218"/>
          </a:xfrm>
          <a:prstGeom prst="rect">
            <a:avLst/>
          </a:prstGeom>
          <a:noFill/>
        </p:spPr>
        <p:txBody>
          <a:bodyPr wrap="square">
            <a:spAutoFit/>
          </a:bodyPr>
          <a:lstStyle/>
          <a:p>
            <a:pPr marL="342900" indent="-342900" eaLnBrk="0" hangingPunct="0">
              <a:spcBef>
                <a:spcPct val="20000"/>
              </a:spcBef>
              <a:buClr>
                <a:schemeClr val="folHlink"/>
              </a:buClr>
              <a:buSzPct val="60000"/>
              <a:buFont typeface="Wingdings" panose="05000000000000000000" pitchFamily="2" charset="2"/>
              <a:buChar char="n"/>
            </a:pPr>
            <a:r>
              <a:rPr lang="zh-CN" altLang="en-US" sz="3200" dirty="0">
                <a:latin typeface="Tahoma" panose="020B0604030504040204" pitchFamily="34" charset="0"/>
              </a:rPr>
              <a:t>使用</a:t>
            </a:r>
            <a:r>
              <a:rPr lang="en-US" altLang="zh-CN" sz="3200" dirty="0">
                <a:latin typeface="Tahoma" panose="020B0604030504040204" pitchFamily="34" charset="0"/>
              </a:rPr>
              <a:t>pwgen</a:t>
            </a:r>
            <a:r>
              <a:rPr lang="zh-CN" altLang="en-US" sz="3200" dirty="0">
                <a:latin typeface="Tahoma" panose="020B0604030504040204" pitchFamily="34" charset="0"/>
              </a:rPr>
              <a:t>命令生成</a:t>
            </a:r>
            <a:r>
              <a:rPr lang="en-US" altLang="zh-CN" sz="3200" dirty="0">
                <a:latin typeface="Tahoma" panose="020B0604030504040204" pitchFamily="34" charset="0"/>
              </a:rPr>
              <a:t>chpasswd</a:t>
            </a:r>
            <a:r>
              <a:rPr lang="zh-CN" altLang="en-US" sz="3200" dirty="0">
                <a:latin typeface="Tahoma" panose="020B0604030504040204" pitchFamily="34" charset="0"/>
              </a:rPr>
              <a:t>命令口令文件</a:t>
            </a:r>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9D600EC6-4226-4115-8985-7BE60C0E57D9}"/>
              </a:ext>
            </a:extLst>
          </p:cNvPr>
          <p:cNvSpPr txBox="1"/>
          <p:nvPr/>
        </p:nvSpPr>
        <p:spPr>
          <a:xfrm>
            <a:off x="891022" y="1556792"/>
            <a:ext cx="7560840" cy="2677271"/>
          </a:xfrm>
          <a:prstGeom prst="rect">
            <a:avLst/>
          </a:prstGeom>
          <a:noFill/>
        </p:spPr>
        <p:txBody>
          <a:bodyPr wrap="square" rtlCol="0">
            <a:spAutoFit/>
          </a:bodyPr>
          <a:lstStyle/>
          <a:p>
            <a:pPr algn="just">
              <a:lnSpc>
                <a:spcPct val="120000"/>
              </a:lnSpc>
            </a:pPr>
            <a:r>
              <a:rPr lang="zh-CN" altLang="en-US" sz="3600" b="1" dirty="0">
                <a:solidFill>
                  <a:srgbClr val="C00000"/>
                </a:solidFill>
                <a:latin typeface="+mj-lt"/>
              </a:rPr>
              <a:t>在系统中添加</a:t>
            </a:r>
            <a:r>
              <a:rPr lang="en-US" altLang="zh-CN" sz="3600" b="1" dirty="0">
                <a:solidFill>
                  <a:srgbClr val="C00000"/>
                </a:solidFill>
                <a:latin typeface="+mj-lt"/>
              </a:rPr>
              <a:t>myuser1</a:t>
            </a:r>
            <a:r>
              <a:rPr lang="zh-CN" altLang="en-US" sz="3600" b="1" dirty="0">
                <a:solidFill>
                  <a:srgbClr val="C00000"/>
                </a:solidFill>
                <a:latin typeface="+mj-lt"/>
              </a:rPr>
              <a:t>、</a:t>
            </a:r>
            <a:r>
              <a:rPr lang="en-US" altLang="zh-CN" sz="3600" b="1" dirty="0">
                <a:solidFill>
                  <a:srgbClr val="C00000"/>
                </a:solidFill>
                <a:latin typeface="+mj-lt"/>
              </a:rPr>
              <a:t> myuser2</a:t>
            </a:r>
            <a:r>
              <a:rPr lang="zh-CN" altLang="en-US" sz="3600" b="1" dirty="0">
                <a:solidFill>
                  <a:srgbClr val="C00000"/>
                </a:solidFill>
                <a:latin typeface="+mj-lt"/>
              </a:rPr>
              <a:t>、</a:t>
            </a:r>
            <a:r>
              <a:rPr lang="en-US" altLang="zh-CN" sz="3600" b="1" dirty="0">
                <a:solidFill>
                  <a:srgbClr val="C00000"/>
                </a:solidFill>
                <a:latin typeface="+mj-lt"/>
              </a:rPr>
              <a:t> myuser3</a:t>
            </a:r>
            <a:r>
              <a:rPr lang="zh-CN" altLang="en-US" sz="3600" b="1" dirty="0">
                <a:solidFill>
                  <a:srgbClr val="C00000"/>
                </a:solidFill>
                <a:latin typeface="+mj-lt"/>
              </a:rPr>
              <a:t>三个用户账号，每个账号对应的描述信息，支持的附加组，是否可登录，以及口令信息如下表。</a:t>
            </a:r>
          </a:p>
        </p:txBody>
      </p:sp>
      <p:pic>
        <p:nvPicPr>
          <p:cNvPr id="6" name="Picture 2">
            <a:extLst>
              <a:ext uri="{FF2B5EF4-FFF2-40B4-BE49-F238E27FC236}">
                <a16:creationId xmlns:a16="http://schemas.microsoft.com/office/drawing/2014/main" id="{1D55D552-1419-44CC-9087-2E2E437C68C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6970" t="15350" r="1723" b="11002"/>
          <a:stretch/>
        </p:blipFill>
        <p:spPr bwMode="auto">
          <a:xfrm>
            <a:off x="107504" y="404664"/>
            <a:ext cx="1512168" cy="121914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graphicFrame>
        <p:nvGraphicFramePr>
          <p:cNvPr id="3" name="表格 2">
            <a:extLst>
              <a:ext uri="{FF2B5EF4-FFF2-40B4-BE49-F238E27FC236}">
                <a16:creationId xmlns:a16="http://schemas.microsoft.com/office/drawing/2014/main" id="{6C629875-5F8C-46DA-A2EA-91226AA129BE}"/>
              </a:ext>
            </a:extLst>
          </p:cNvPr>
          <p:cNvGraphicFramePr>
            <a:graphicFrameLocks noGrp="1"/>
          </p:cNvGraphicFramePr>
          <p:nvPr>
            <p:extLst>
              <p:ext uri="{D42A27DB-BD31-4B8C-83A1-F6EECF244321}">
                <p14:modId xmlns:p14="http://schemas.microsoft.com/office/powerpoint/2010/main" val="3887992624"/>
              </p:ext>
            </p:extLst>
          </p:nvPr>
        </p:nvGraphicFramePr>
        <p:xfrm>
          <a:off x="346671" y="4365104"/>
          <a:ext cx="8635482" cy="1569720"/>
        </p:xfrm>
        <a:graphic>
          <a:graphicData uri="http://schemas.openxmlformats.org/drawingml/2006/table">
            <a:tbl>
              <a:tblPr>
                <a:tableStyleId>{16D9F66E-5EB9-4882-86FB-DCBF35E3C3E4}</a:tableStyleId>
              </a:tblPr>
              <a:tblGrid>
                <a:gridCol w="1271893">
                  <a:extLst>
                    <a:ext uri="{9D8B030D-6E8A-4147-A177-3AD203B41FA5}">
                      <a16:colId xmlns:a16="http://schemas.microsoft.com/office/drawing/2014/main" val="464555861"/>
                    </a:ext>
                  </a:extLst>
                </a:gridCol>
                <a:gridCol w="1715931">
                  <a:extLst>
                    <a:ext uri="{9D8B030D-6E8A-4147-A177-3AD203B41FA5}">
                      <a16:colId xmlns:a16="http://schemas.microsoft.com/office/drawing/2014/main" val="1803134524"/>
                    </a:ext>
                  </a:extLst>
                </a:gridCol>
                <a:gridCol w="2016224">
                  <a:extLst>
                    <a:ext uri="{9D8B030D-6E8A-4147-A177-3AD203B41FA5}">
                      <a16:colId xmlns:a16="http://schemas.microsoft.com/office/drawing/2014/main" val="3776772968"/>
                    </a:ext>
                  </a:extLst>
                </a:gridCol>
                <a:gridCol w="2232248">
                  <a:extLst>
                    <a:ext uri="{9D8B030D-6E8A-4147-A177-3AD203B41FA5}">
                      <a16:colId xmlns:a16="http://schemas.microsoft.com/office/drawing/2014/main" val="193775001"/>
                    </a:ext>
                  </a:extLst>
                </a:gridCol>
                <a:gridCol w="1399186">
                  <a:extLst>
                    <a:ext uri="{9D8B030D-6E8A-4147-A177-3AD203B41FA5}">
                      <a16:colId xmlns:a16="http://schemas.microsoft.com/office/drawing/2014/main" val="1716467323"/>
                    </a:ext>
                  </a:extLst>
                </a:gridCol>
              </a:tblGrid>
              <a:tr h="335141">
                <a:tc>
                  <a:txBody>
                    <a:bodyPr/>
                    <a:lstStyle/>
                    <a:p>
                      <a:pPr algn="ctr"/>
                      <a:r>
                        <a:rPr lang="zh-CN" altLang="en-US" sz="2200" dirty="0">
                          <a:effectLst/>
                        </a:rPr>
                        <a:t>账号名称</a:t>
                      </a:r>
                      <a:endParaRPr lang="zh-CN" altLang="en-US" sz="2200" dirty="0">
                        <a:effectLst/>
                        <a:latin typeface="新细明体"/>
                      </a:endParaRPr>
                    </a:p>
                  </a:txBody>
                  <a:tcPr marL="28575" marR="28575" marT="28575" marB="28575" anchor="ctr"/>
                </a:tc>
                <a:tc>
                  <a:txBody>
                    <a:bodyPr/>
                    <a:lstStyle/>
                    <a:p>
                      <a:pPr algn="ctr"/>
                      <a:r>
                        <a:rPr lang="zh-CN" altLang="en-US" sz="2200" dirty="0">
                          <a:effectLst/>
                        </a:rPr>
                        <a:t>账号描述</a:t>
                      </a:r>
                      <a:endParaRPr lang="zh-CN" altLang="en-US" sz="2200" dirty="0">
                        <a:effectLst/>
                        <a:latin typeface="新细明体"/>
                      </a:endParaRPr>
                    </a:p>
                  </a:txBody>
                  <a:tcPr marL="28575" marR="28575" marT="28575" marB="28575" anchor="ctr"/>
                </a:tc>
                <a:tc>
                  <a:txBody>
                    <a:bodyPr/>
                    <a:lstStyle/>
                    <a:p>
                      <a:pPr algn="ctr"/>
                      <a:r>
                        <a:rPr lang="zh-CN" altLang="en-US" sz="2200" dirty="0">
                          <a:effectLst/>
                        </a:rPr>
                        <a:t>支持附加群组</a:t>
                      </a:r>
                      <a:endParaRPr lang="zh-CN" altLang="en-US" sz="2200" dirty="0">
                        <a:effectLst/>
                        <a:latin typeface="新细明体"/>
                      </a:endParaRPr>
                    </a:p>
                  </a:txBody>
                  <a:tcPr marL="28575" marR="28575" marT="28575" marB="28575" anchor="ctr"/>
                </a:tc>
                <a:tc>
                  <a:txBody>
                    <a:bodyPr/>
                    <a:lstStyle/>
                    <a:p>
                      <a:pPr algn="ctr"/>
                      <a:r>
                        <a:rPr lang="zh-CN" altLang="en-US" sz="2200" dirty="0">
                          <a:effectLst/>
                        </a:rPr>
                        <a:t>是否可登陆</a:t>
                      </a:r>
                      <a:r>
                        <a:rPr lang="en-US" altLang="zh-CN" sz="2200" dirty="0">
                          <a:effectLst/>
                        </a:rPr>
                        <a:t>shell</a:t>
                      </a:r>
                      <a:endParaRPr lang="zh-CN" altLang="en-US" sz="2200" dirty="0">
                        <a:effectLst/>
                        <a:latin typeface="新细明体"/>
                      </a:endParaRPr>
                    </a:p>
                  </a:txBody>
                  <a:tcPr marL="28575" marR="28575" marT="28575" marB="28575" anchor="ctr"/>
                </a:tc>
                <a:tc>
                  <a:txBody>
                    <a:bodyPr/>
                    <a:lstStyle/>
                    <a:p>
                      <a:pPr algn="ctr"/>
                      <a:r>
                        <a:rPr lang="zh-CN" altLang="en-US" sz="2200" dirty="0">
                          <a:effectLst/>
                        </a:rPr>
                        <a:t>口令</a:t>
                      </a:r>
                      <a:endParaRPr lang="zh-CN" altLang="en-US" sz="2200" dirty="0">
                        <a:effectLst/>
                        <a:latin typeface="新细明体"/>
                      </a:endParaRPr>
                    </a:p>
                  </a:txBody>
                  <a:tcPr marL="28575" marR="28575" marT="28575" marB="28575" anchor="ctr"/>
                </a:tc>
                <a:extLst>
                  <a:ext uri="{0D108BD9-81ED-4DB2-BD59-A6C34878D82A}">
                    <a16:rowId xmlns:a16="http://schemas.microsoft.com/office/drawing/2014/main" val="305404168"/>
                  </a:ext>
                </a:extLst>
              </a:tr>
              <a:tr h="335141">
                <a:tc>
                  <a:txBody>
                    <a:bodyPr/>
                    <a:lstStyle/>
                    <a:p>
                      <a:r>
                        <a:rPr lang="en-US" sz="2200">
                          <a:effectLst/>
                        </a:rPr>
                        <a:t>myuser1</a:t>
                      </a:r>
                      <a:endParaRPr lang="en-US" sz="2200">
                        <a:effectLst/>
                        <a:latin typeface="新细明体"/>
                      </a:endParaRPr>
                    </a:p>
                  </a:txBody>
                  <a:tcPr marL="28575" marR="28575" marT="28575" marB="28575" anchor="ctr"/>
                </a:tc>
                <a:tc>
                  <a:txBody>
                    <a:bodyPr/>
                    <a:lstStyle/>
                    <a:p>
                      <a:r>
                        <a:rPr lang="en-US" sz="2200">
                          <a:effectLst/>
                        </a:rPr>
                        <a:t>1st user</a:t>
                      </a:r>
                      <a:endParaRPr lang="en-US" sz="2200">
                        <a:effectLst/>
                        <a:latin typeface="新细明体"/>
                      </a:endParaRPr>
                    </a:p>
                  </a:txBody>
                  <a:tcPr marL="28575" marR="28575" marT="28575" marB="28575" anchor="ctr"/>
                </a:tc>
                <a:tc>
                  <a:txBody>
                    <a:bodyPr/>
                    <a:lstStyle/>
                    <a:p>
                      <a:r>
                        <a:rPr lang="en-US" sz="2200">
                          <a:effectLst/>
                        </a:rPr>
                        <a:t>mygroup1</a:t>
                      </a:r>
                      <a:endParaRPr lang="en-US" sz="2200">
                        <a:effectLst/>
                        <a:latin typeface="新细明体"/>
                      </a:endParaRPr>
                    </a:p>
                  </a:txBody>
                  <a:tcPr marL="28575" marR="28575" marT="28575" marB="28575" anchor="ctr"/>
                </a:tc>
                <a:tc>
                  <a:txBody>
                    <a:bodyPr/>
                    <a:lstStyle/>
                    <a:p>
                      <a:r>
                        <a:rPr lang="zh-CN" altLang="en-US" sz="2200">
                          <a:effectLst/>
                        </a:rPr>
                        <a:t>可以</a:t>
                      </a:r>
                      <a:endParaRPr lang="zh-CN" altLang="en-US" sz="2200">
                        <a:effectLst/>
                        <a:latin typeface="新细明体"/>
                      </a:endParaRPr>
                    </a:p>
                  </a:txBody>
                  <a:tcPr marL="28575" marR="28575" marT="28575" marB="28575" anchor="ctr"/>
                </a:tc>
                <a:tc>
                  <a:txBody>
                    <a:bodyPr/>
                    <a:lstStyle/>
                    <a:p>
                      <a:r>
                        <a:rPr lang="en-US" sz="2200" dirty="0">
                          <a:effectLst/>
                        </a:rPr>
                        <a:t>password</a:t>
                      </a:r>
                      <a:endParaRPr lang="en-US" sz="2200" dirty="0">
                        <a:effectLst/>
                        <a:latin typeface="新细明体"/>
                      </a:endParaRPr>
                    </a:p>
                  </a:txBody>
                  <a:tcPr marL="28575" marR="28575" marT="28575" marB="28575" anchor="ctr"/>
                </a:tc>
                <a:extLst>
                  <a:ext uri="{0D108BD9-81ED-4DB2-BD59-A6C34878D82A}">
                    <a16:rowId xmlns:a16="http://schemas.microsoft.com/office/drawing/2014/main" val="2062409474"/>
                  </a:ext>
                </a:extLst>
              </a:tr>
              <a:tr h="335141">
                <a:tc>
                  <a:txBody>
                    <a:bodyPr/>
                    <a:lstStyle/>
                    <a:p>
                      <a:pPr marL="0" algn="l" defTabSz="914400" rtl="0" eaLnBrk="1" latinLnBrk="0" hangingPunct="1"/>
                      <a:r>
                        <a:rPr lang="en-US" sz="2200" kern="1200" dirty="0">
                          <a:solidFill>
                            <a:schemeClr val="dk1"/>
                          </a:solidFill>
                          <a:effectLst/>
                          <a:latin typeface="+mn-lt"/>
                          <a:ea typeface="+mn-ea"/>
                          <a:cs typeface="+mn-cs"/>
                        </a:rPr>
                        <a:t>myuser2</a:t>
                      </a:r>
                    </a:p>
                  </a:txBody>
                  <a:tcPr marL="28575" marR="28575" marT="28575" marB="28575" anchor="ctr"/>
                </a:tc>
                <a:tc>
                  <a:txBody>
                    <a:bodyPr/>
                    <a:lstStyle/>
                    <a:p>
                      <a:pPr marL="0" algn="l" defTabSz="914400" rtl="0" eaLnBrk="1" latinLnBrk="0" hangingPunct="1"/>
                      <a:r>
                        <a:rPr lang="en-US" sz="2200" kern="1200" dirty="0">
                          <a:solidFill>
                            <a:schemeClr val="dk1"/>
                          </a:solidFill>
                          <a:effectLst/>
                          <a:latin typeface="+mn-lt"/>
                          <a:ea typeface="+mn-ea"/>
                          <a:cs typeface="+mn-cs"/>
                        </a:rPr>
                        <a:t>2nd user</a:t>
                      </a:r>
                    </a:p>
                  </a:txBody>
                  <a:tcPr marL="28575" marR="28575" marT="28575" marB="28575" anchor="ctr"/>
                </a:tc>
                <a:tc>
                  <a:txBody>
                    <a:bodyPr/>
                    <a:lstStyle/>
                    <a:p>
                      <a:pPr marL="0" algn="l" defTabSz="914400" rtl="0" eaLnBrk="1" latinLnBrk="0" hangingPunct="1"/>
                      <a:r>
                        <a:rPr lang="en-US" sz="2200" kern="1200" dirty="0">
                          <a:solidFill>
                            <a:schemeClr val="dk1"/>
                          </a:solidFill>
                          <a:effectLst/>
                          <a:latin typeface="+mn-lt"/>
                          <a:ea typeface="+mn-ea"/>
                          <a:cs typeface="+mn-cs"/>
                        </a:rPr>
                        <a:t>mygroup1</a:t>
                      </a:r>
                    </a:p>
                  </a:txBody>
                  <a:tcPr marL="28575" marR="28575" marT="28575" marB="28575" anchor="ctr"/>
                </a:tc>
                <a:tc>
                  <a:txBody>
                    <a:bodyPr/>
                    <a:lstStyle/>
                    <a:p>
                      <a:pPr marL="0" algn="l" defTabSz="914400" rtl="0" eaLnBrk="1" latinLnBrk="0" hangingPunct="1"/>
                      <a:r>
                        <a:rPr lang="zh-CN" altLang="en-US" sz="2200" kern="1200" dirty="0">
                          <a:solidFill>
                            <a:schemeClr val="dk1"/>
                          </a:solidFill>
                          <a:effectLst/>
                          <a:latin typeface="+mn-lt"/>
                          <a:ea typeface="+mn-ea"/>
                          <a:cs typeface="+mn-cs"/>
                        </a:rPr>
                        <a:t>可以</a:t>
                      </a:r>
                    </a:p>
                  </a:txBody>
                  <a:tcPr marL="28575" marR="28575" marT="28575" marB="28575" anchor="ctr"/>
                </a:tc>
                <a:tc>
                  <a:txBody>
                    <a:bodyPr/>
                    <a:lstStyle/>
                    <a:p>
                      <a:pPr marL="0" algn="l" defTabSz="914400" rtl="0" eaLnBrk="1" latinLnBrk="0" hangingPunct="1"/>
                      <a:r>
                        <a:rPr lang="en-US" sz="2200" kern="1200" dirty="0">
                          <a:solidFill>
                            <a:schemeClr val="dk1"/>
                          </a:solidFill>
                          <a:effectLst/>
                          <a:latin typeface="+mn-lt"/>
                          <a:ea typeface="+mn-ea"/>
                          <a:cs typeface="+mn-cs"/>
                        </a:rPr>
                        <a:t>password</a:t>
                      </a:r>
                    </a:p>
                  </a:txBody>
                  <a:tcPr marL="28575" marR="28575" marT="28575" marB="28575" anchor="ctr"/>
                </a:tc>
                <a:extLst>
                  <a:ext uri="{0D108BD9-81ED-4DB2-BD59-A6C34878D82A}">
                    <a16:rowId xmlns:a16="http://schemas.microsoft.com/office/drawing/2014/main" val="2245586514"/>
                  </a:ext>
                </a:extLst>
              </a:tr>
              <a:tr h="33514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200" kern="1200" dirty="0">
                          <a:solidFill>
                            <a:schemeClr val="dk1"/>
                          </a:solidFill>
                          <a:effectLst/>
                          <a:latin typeface="+mn-lt"/>
                          <a:ea typeface="+mn-ea"/>
                          <a:cs typeface="+mn-cs"/>
                        </a:rPr>
                        <a:t>myuser3</a:t>
                      </a:r>
                    </a:p>
                  </a:txBody>
                  <a:tcPr marL="28575" marR="28575" marT="28575" marB="2857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200" kern="1200" dirty="0">
                          <a:solidFill>
                            <a:schemeClr val="dk1"/>
                          </a:solidFill>
                          <a:effectLst/>
                          <a:latin typeface="+mn-lt"/>
                          <a:ea typeface="+mn-ea"/>
                          <a:cs typeface="+mn-cs"/>
                        </a:rPr>
                        <a:t>3rd user</a:t>
                      </a:r>
                    </a:p>
                  </a:txBody>
                  <a:tcPr marL="28575" marR="28575" marT="28575" marB="2857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200" kern="1200" dirty="0">
                          <a:solidFill>
                            <a:schemeClr val="dk1"/>
                          </a:solidFill>
                          <a:effectLst/>
                          <a:latin typeface="+mn-lt"/>
                          <a:ea typeface="+mn-ea"/>
                          <a:cs typeface="+mn-cs"/>
                        </a:rPr>
                        <a:t>无额外支持</a:t>
                      </a:r>
                    </a:p>
                  </a:txBody>
                  <a:tcPr marL="28575" marR="28575" marT="28575" marB="2857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200" kern="1200" dirty="0">
                          <a:solidFill>
                            <a:schemeClr val="dk1"/>
                          </a:solidFill>
                          <a:effectLst/>
                          <a:latin typeface="+mn-lt"/>
                          <a:ea typeface="+mn-ea"/>
                          <a:cs typeface="+mn-cs"/>
                        </a:rPr>
                        <a:t>不可以</a:t>
                      </a:r>
                    </a:p>
                  </a:txBody>
                  <a:tcPr marL="28575" marR="28575" marT="28575" marB="2857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200" kern="1200" dirty="0">
                          <a:solidFill>
                            <a:schemeClr val="dk1"/>
                          </a:solidFill>
                          <a:effectLst/>
                          <a:latin typeface="+mn-lt"/>
                          <a:ea typeface="+mn-ea"/>
                          <a:cs typeface="+mn-cs"/>
                        </a:rPr>
                        <a:t>password</a:t>
                      </a:r>
                    </a:p>
                  </a:txBody>
                  <a:tcPr marL="28575" marR="28575" marT="28575" marB="28575" anchor="ctr"/>
                </a:tc>
                <a:extLst>
                  <a:ext uri="{0D108BD9-81ED-4DB2-BD59-A6C34878D82A}">
                    <a16:rowId xmlns:a16="http://schemas.microsoft.com/office/drawing/2014/main" val="472233647"/>
                  </a:ext>
                </a:extLst>
              </a:tr>
            </a:tbl>
          </a:graphicData>
        </a:graphic>
      </p:graphicFrame>
      <p:sp>
        <p:nvSpPr>
          <p:cNvPr id="4" name="文本框 3">
            <a:extLst>
              <a:ext uri="{FF2B5EF4-FFF2-40B4-BE49-F238E27FC236}">
                <a16:creationId xmlns:a16="http://schemas.microsoft.com/office/drawing/2014/main" id="{FA8B8831-A4B2-4DA6-8A68-BB6545B60833}"/>
              </a:ext>
            </a:extLst>
          </p:cNvPr>
          <p:cNvSpPr txBox="1"/>
          <p:nvPr/>
        </p:nvSpPr>
        <p:spPr>
          <a:xfrm>
            <a:off x="515465" y="6065865"/>
            <a:ext cx="8311954" cy="707886"/>
          </a:xfrm>
          <a:prstGeom prst="rect">
            <a:avLst/>
          </a:prstGeom>
          <a:noFill/>
        </p:spPr>
        <p:txBody>
          <a:bodyPr wrap="square" rtlCol="0">
            <a:spAutoFit/>
          </a:bodyPr>
          <a:lstStyle/>
          <a:p>
            <a:r>
              <a:rPr lang="zh-CN" altLang="en-US" sz="2000" dirty="0" smtClean="0">
                <a:solidFill>
                  <a:srgbClr val="0000CC"/>
                </a:solidFill>
              </a:rPr>
              <a:t>提示</a:t>
            </a:r>
            <a:r>
              <a:rPr lang="zh-CN" altLang="en-US" sz="2000" dirty="0">
                <a:solidFill>
                  <a:srgbClr val="0000CC"/>
                </a:solidFill>
              </a:rPr>
              <a:t>：回顾</a:t>
            </a:r>
            <a:r>
              <a:rPr lang="en-US" altLang="zh-CN" sz="2000" dirty="0">
                <a:solidFill>
                  <a:srgbClr val="0000CC"/>
                </a:solidFill>
              </a:rPr>
              <a:t>/</a:t>
            </a:r>
            <a:r>
              <a:rPr lang="en-US" altLang="zh-CN" sz="2000" dirty="0" err="1">
                <a:solidFill>
                  <a:srgbClr val="0000CC"/>
                </a:solidFill>
              </a:rPr>
              <a:t>sbin</a:t>
            </a:r>
            <a:r>
              <a:rPr lang="en-US" altLang="zh-CN" sz="2000" dirty="0">
                <a:solidFill>
                  <a:srgbClr val="0000CC"/>
                </a:solidFill>
              </a:rPr>
              <a:t>/</a:t>
            </a:r>
            <a:r>
              <a:rPr lang="en-US" altLang="zh-CN" sz="2000" dirty="0" err="1">
                <a:solidFill>
                  <a:srgbClr val="0000CC"/>
                </a:solidFill>
              </a:rPr>
              <a:t>nologin</a:t>
            </a:r>
            <a:r>
              <a:rPr lang="zh-CN" altLang="en-US" sz="2000" dirty="0">
                <a:solidFill>
                  <a:srgbClr val="0000CC"/>
                </a:solidFill>
              </a:rPr>
              <a:t>，查询</a:t>
            </a:r>
            <a:r>
              <a:rPr lang="en-US" altLang="zh-CN" sz="2000" dirty="0">
                <a:solidFill>
                  <a:srgbClr val="0000CC"/>
                </a:solidFill>
              </a:rPr>
              <a:t>passwd –stdin</a:t>
            </a:r>
            <a:r>
              <a:rPr lang="zh-CN" altLang="en-US" sz="2000" dirty="0">
                <a:solidFill>
                  <a:srgbClr val="0000CC"/>
                </a:solidFill>
              </a:rPr>
              <a:t>使用方法，</a:t>
            </a:r>
            <a:r>
              <a:rPr lang="en-US" altLang="zh-CN" sz="2000" dirty="0">
                <a:solidFill>
                  <a:srgbClr val="0000CC"/>
                </a:solidFill>
              </a:rPr>
              <a:t>useradd</a:t>
            </a:r>
            <a:r>
              <a:rPr lang="zh-CN" altLang="en-US" sz="2000" dirty="0">
                <a:solidFill>
                  <a:srgbClr val="0000CC"/>
                </a:solidFill>
              </a:rPr>
              <a:t>命令参数</a:t>
            </a:r>
            <a:r>
              <a:rPr lang="en-US" altLang="zh-CN" sz="2000" dirty="0">
                <a:solidFill>
                  <a:srgbClr val="0000CC"/>
                </a:solidFill>
              </a:rPr>
              <a:t>-c</a:t>
            </a:r>
            <a:r>
              <a:rPr lang="zh-CN" altLang="en-US" sz="2000" dirty="0">
                <a:solidFill>
                  <a:srgbClr val="0000CC"/>
                </a:solidFill>
              </a:rPr>
              <a:t> 使用！！！无法登陆特指无法使用</a:t>
            </a:r>
            <a:r>
              <a:rPr lang="en-US" altLang="zh-CN" sz="2000" dirty="0">
                <a:solidFill>
                  <a:srgbClr val="0000CC"/>
                </a:solidFill>
              </a:rPr>
              <a:t>bash</a:t>
            </a:r>
            <a:r>
              <a:rPr lang="zh-CN" altLang="en-US" sz="2000" dirty="0">
                <a:solidFill>
                  <a:srgbClr val="0000CC"/>
                </a:solidFill>
              </a:rPr>
              <a:t>或其他</a:t>
            </a:r>
            <a:r>
              <a:rPr lang="en-US" altLang="zh-CN" sz="2000" dirty="0">
                <a:solidFill>
                  <a:srgbClr val="0000CC"/>
                </a:solidFill>
              </a:rPr>
              <a:t>shell</a:t>
            </a:r>
            <a:r>
              <a:rPr lang="zh-CN" altLang="en-US" sz="2000" dirty="0">
                <a:solidFill>
                  <a:srgbClr val="0000CC"/>
                </a:solidFill>
              </a:rPr>
              <a:t>登录系统</a:t>
            </a:r>
          </a:p>
        </p:txBody>
      </p:sp>
    </p:spTree>
    <p:extLst>
      <p:ext uri="{BB962C8B-B14F-4D97-AF65-F5344CB8AC3E}">
        <p14:creationId xmlns:p14="http://schemas.microsoft.com/office/powerpoint/2010/main" val="3874135414"/>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ChangeArrowheads="1"/>
          </p:cNvSpPr>
          <p:nvPr>
            <p:ph type="title"/>
          </p:nvPr>
        </p:nvSpPr>
        <p:spPr/>
        <p:txBody>
          <a:bodyPr/>
          <a:lstStyle/>
          <a:p>
            <a:r>
              <a:rPr lang="zh-CN" altLang="en-US" dirty="0"/>
              <a:t>思考</a:t>
            </a:r>
          </a:p>
        </p:txBody>
      </p:sp>
      <p:sp>
        <p:nvSpPr>
          <p:cNvPr id="108547" name="Rectangle 3"/>
          <p:cNvSpPr>
            <a:spLocks noGrp="1" noChangeArrowheads="1"/>
          </p:cNvSpPr>
          <p:nvPr>
            <p:ph idx="1"/>
          </p:nvPr>
        </p:nvSpPr>
        <p:spPr>
          <a:xfrm>
            <a:off x="323528" y="1340768"/>
            <a:ext cx="8748464" cy="4790157"/>
          </a:xfrm>
        </p:spPr>
        <p:txBody>
          <a:bodyPr/>
          <a:lstStyle/>
          <a:p>
            <a:pPr marL="0" indent="0" algn="ctr" eaLnBrk="1" hangingPunct="1">
              <a:lnSpc>
                <a:spcPct val="130000"/>
              </a:lnSpc>
              <a:spcBef>
                <a:spcPts val="600"/>
              </a:spcBef>
              <a:buClrTx/>
              <a:buSzTx/>
              <a:buNone/>
            </a:pPr>
            <a:r>
              <a:rPr lang="en-US" altLang="zh-CN" sz="2800" b="1" dirty="0">
                <a:solidFill>
                  <a:srgbClr val="C00000"/>
                </a:solidFill>
                <a:latin typeface="微软雅黑" panose="020B0503020204020204" pitchFamily="34" charset="-122"/>
                <a:ea typeface="微软雅黑" panose="020B0503020204020204" pitchFamily="34" charset="-122"/>
              </a:rPr>
              <a:t>Linux</a:t>
            </a:r>
            <a:r>
              <a:rPr lang="zh-CN" altLang="en-US" sz="2800" b="1" dirty="0">
                <a:solidFill>
                  <a:srgbClr val="C00000"/>
                </a:solidFill>
                <a:latin typeface="微软雅黑" panose="020B0503020204020204" pitchFamily="34" charset="-122"/>
                <a:ea typeface="微软雅黑" panose="020B0503020204020204" pitchFamily="34" charset="-122"/>
              </a:rPr>
              <a:t>系统是如何标识用户和组的？</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什么是标准组、私有组？为什么使用私有组？</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什么是主组、附加组？以主组登录后如何切换到附加组？</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简述私有组和主组，标准组和附加组的关系。</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简述</a:t>
            </a:r>
            <a:r>
              <a:rPr lang="en-US" altLang="zh-CN" sz="2800" b="1" dirty="0">
                <a:solidFill>
                  <a:srgbClr val="C00000"/>
                </a:solidFill>
                <a:latin typeface="微软雅黑" panose="020B0503020204020204" pitchFamily="34" charset="-122"/>
                <a:ea typeface="微软雅黑" panose="020B0503020204020204" pitchFamily="34" charset="-122"/>
              </a:rPr>
              <a:t>Linux</a:t>
            </a:r>
            <a:r>
              <a:rPr lang="zh-CN" altLang="en-US" sz="2800" b="1" dirty="0">
                <a:solidFill>
                  <a:srgbClr val="C00000"/>
                </a:solidFill>
                <a:latin typeface="微软雅黑" panose="020B0503020204020204" pitchFamily="34" charset="-122"/>
                <a:ea typeface="微软雅黑" panose="020B0503020204020204" pitchFamily="34" charset="-122"/>
              </a:rPr>
              <a:t>的</a:t>
            </a:r>
            <a:r>
              <a:rPr lang="en-US" altLang="zh-CN" sz="2800" b="1" dirty="0">
                <a:solidFill>
                  <a:srgbClr val="C00000"/>
                </a:solidFill>
                <a:latin typeface="微软雅黑" panose="020B0503020204020204" pitchFamily="34" charset="-122"/>
                <a:ea typeface="微软雅黑" panose="020B0503020204020204" pitchFamily="34" charset="-122"/>
              </a:rPr>
              <a:t>4</a:t>
            </a:r>
            <a:r>
              <a:rPr lang="zh-CN" altLang="en-US" sz="2800" b="1" dirty="0">
                <a:solidFill>
                  <a:srgbClr val="C00000"/>
                </a:solidFill>
                <a:latin typeface="微软雅黑" panose="020B0503020204020204" pitchFamily="34" charset="-122"/>
                <a:ea typeface="微软雅黑" panose="020B0503020204020204" pitchFamily="34" charset="-122"/>
              </a:rPr>
              <a:t>个账户系统文件及其各个字段含义。</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举例说明创建一个用户账号的详细过程。</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如何将一个用户账号添加到一个当前还不存在的组中。</a:t>
            </a:r>
          </a:p>
          <a:p>
            <a:pPr marL="0" indent="0" algn="ctr" eaLnBrk="1" hangingPunct="1">
              <a:lnSpc>
                <a:spcPct val="130000"/>
              </a:lnSpc>
              <a:spcBef>
                <a:spcPts val="600"/>
              </a:spcBef>
              <a:buClrTx/>
              <a:buSzTx/>
              <a:buNone/>
            </a:pPr>
            <a:r>
              <a:rPr lang="zh-CN" altLang="en-US" sz="2800" b="1" dirty="0">
                <a:solidFill>
                  <a:srgbClr val="C00000"/>
                </a:solidFill>
                <a:latin typeface="微软雅黑" panose="020B0503020204020204" pitchFamily="34" charset="-122"/>
                <a:ea typeface="微软雅黑" panose="020B0503020204020204" pitchFamily="34" charset="-122"/>
              </a:rPr>
              <a:t>如何设置用户口令、锁定用户账号、设置用户口令时效？</a:t>
            </a:r>
          </a:p>
        </p:txBody>
      </p:sp>
    </p:spTree>
    <p:extLst>
      <p:ext uri="{BB962C8B-B14F-4D97-AF65-F5344CB8AC3E}">
        <p14:creationId xmlns:p14="http://schemas.microsoft.com/office/powerpoint/2010/main" val="2113117509"/>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本章内容要点</a:t>
            </a:r>
          </a:p>
        </p:txBody>
      </p:sp>
      <p:sp>
        <p:nvSpPr>
          <p:cNvPr id="2" name="圆角矩形 1">
            <a:extLst>
              <a:ext uri="{FF2B5EF4-FFF2-40B4-BE49-F238E27FC236}">
                <a16:creationId xmlns:a16="http://schemas.microsoft.com/office/drawing/2014/main" id="{24F68058-A272-4A0C-AC8E-6E614A1DCF7B}"/>
              </a:ext>
            </a:extLst>
          </p:cNvPr>
          <p:cNvSpPr/>
          <p:nvPr/>
        </p:nvSpPr>
        <p:spPr>
          <a:xfrm>
            <a:off x="833406" y="3284984"/>
            <a:ext cx="7808777" cy="1667871"/>
          </a:xfrm>
          <a:prstGeom prst="round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Tahoma"/>
              <a:ea typeface="宋体"/>
              <a:cs typeface="+mn-cs"/>
            </a:endParaRP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a:extLst>
              <a:ext uri="{FF2B5EF4-FFF2-40B4-BE49-F238E27FC236}">
                <a16:creationId xmlns:a16="http://schemas.microsoft.com/office/drawing/2014/main" id="{D35220A3-8319-42A1-BF3C-A9D0A093B9DF}"/>
              </a:ext>
            </a:extLst>
          </p:cNvPr>
          <p:cNvSpPr txBox="1">
            <a:spLocks noChangeArrowheads="1"/>
          </p:cNvSpPr>
          <p:nvPr/>
        </p:nvSpPr>
        <p:spPr>
          <a:xfrm>
            <a:off x="833406" y="1581667"/>
            <a:ext cx="7882441" cy="4709205"/>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2000" kern="1200">
                <a:solidFill>
                  <a:schemeClr val="tx1">
                    <a:tint val="75000"/>
                  </a:schemeClr>
                </a:solidFill>
                <a:latin typeface="Broadway" panose="04040905080B02020502" pitchFamily="82" charset="0"/>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账户管理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schemeClr val="tx1"/>
                </a:solidFill>
              </a:rPr>
              <a:t>账户实质，账户</a:t>
            </a:r>
            <a:r>
              <a:rPr lang="en-US" altLang="zh-CN" dirty="0">
                <a:solidFill>
                  <a:schemeClr val="tx1"/>
                </a:solidFill>
              </a:rPr>
              <a:t>id</a:t>
            </a:r>
            <a:r>
              <a:rPr lang="zh-CN" altLang="en-US" dirty="0">
                <a:solidFill>
                  <a:schemeClr val="tx1"/>
                </a:solidFill>
              </a:rPr>
              <a:t>，账户文件，账户设置，口令管理</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权限管理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文件与目录基本操作权限，特殊权限，设置</a:t>
            </a:r>
            <a:r>
              <a:rPr lang="en-US" altLang="zh-CN" dirty="0">
                <a:solidFill>
                  <a:prstClr val="black"/>
                </a:solidFill>
              </a:rPr>
              <a:t>ext2/3/4 </a:t>
            </a:r>
            <a:r>
              <a:rPr lang="zh-CN" altLang="en-US" dirty="0">
                <a:solidFill>
                  <a:prstClr val="black"/>
                </a:solidFill>
              </a:rPr>
              <a:t>的文件扩展属性，设置</a:t>
            </a:r>
            <a:r>
              <a:rPr lang="en-US" altLang="zh-CN" dirty="0">
                <a:solidFill>
                  <a:prstClr val="black"/>
                </a:solidFill>
              </a:rPr>
              <a:t>FACL</a:t>
            </a:r>
            <a:r>
              <a:rPr lang="zh-CN" altLang="en-US" dirty="0">
                <a:solidFill>
                  <a:prstClr val="black"/>
                </a:solidFill>
              </a:rPr>
              <a:t>权限</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进程管理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进程概述，后台进程，进程管理，作业控制</a:t>
            </a:r>
          </a:p>
        </p:txBody>
      </p:sp>
    </p:spTree>
    <p:extLst>
      <p:ext uri="{BB962C8B-B14F-4D97-AF65-F5344CB8AC3E}">
        <p14:creationId xmlns:p14="http://schemas.microsoft.com/office/powerpoint/2010/main" val="1372939467"/>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 操作权限简介</a:t>
            </a:r>
          </a:p>
        </p:txBody>
      </p:sp>
      <p:sp>
        <p:nvSpPr>
          <p:cNvPr id="3" name="内容占位符 2"/>
          <p:cNvSpPr>
            <a:spLocks noGrp="1"/>
          </p:cNvSpPr>
          <p:nvPr>
            <p:ph idx="1"/>
          </p:nvPr>
        </p:nvSpPr>
        <p:spPr>
          <a:xfrm>
            <a:off x="611560" y="1484784"/>
            <a:ext cx="8229600" cy="5184576"/>
          </a:xfrm>
        </p:spPr>
        <p:txBody>
          <a:bodyPr/>
          <a:lstStyle/>
          <a:p>
            <a:r>
              <a:rPr lang="en-US" altLang="zh-CN" sz="2800" dirty="0"/>
              <a:t>Linux</a:t>
            </a:r>
            <a:r>
              <a:rPr lang="zh-CN" altLang="en-US" sz="2800" dirty="0"/>
              <a:t>是</a:t>
            </a:r>
            <a:r>
              <a:rPr lang="zh-CN" altLang="en-US" sz="2800" dirty="0">
                <a:solidFill>
                  <a:srgbClr val="FF0000"/>
                </a:solidFill>
              </a:rPr>
              <a:t>多用户</a:t>
            </a:r>
            <a:r>
              <a:rPr lang="zh-CN" altLang="en-US" sz="2800" dirty="0"/>
              <a:t>的操作系统，允许</a:t>
            </a:r>
            <a:r>
              <a:rPr lang="zh-CN" altLang="en-US" sz="2800" dirty="0">
                <a:solidFill>
                  <a:srgbClr val="FF0000"/>
                </a:solidFill>
              </a:rPr>
              <a:t>多个用户同时</a:t>
            </a:r>
            <a:r>
              <a:rPr lang="zh-CN" altLang="en-US" sz="2800" dirty="0"/>
              <a:t>在系统上</a:t>
            </a:r>
            <a:r>
              <a:rPr lang="zh-CN" altLang="en-US" sz="2800" dirty="0">
                <a:solidFill>
                  <a:srgbClr val="FF0000"/>
                </a:solidFill>
              </a:rPr>
              <a:t>登录和工作</a:t>
            </a:r>
            <a:r>
              <a:rPr lang="zh-CN" altLang="en-US" sz="2800" dirty="0"/>
              <a:t> </a:t>
            </a:r>
          </a:p>
          <a:p>
            <a:r>
              <a:rPr lang="zh-CN" altLang="en-US" sz="2800" dirty="0"/>
              <a:t>为了确保</a:t>
            </a:r>
            <a:r>
              <a:rPr lang="zh-CN" altLang="en-US" sz="2800" dirty="0">
                <a:solidFill>
                  <a:srgbClr val="FF0000"/>
                </a:solidFill>
              </a:rPr>
              <a:t>系统和用户</a:t>
            </a:r>
            <a:r>
              <a:rPr lang="zh-CN" altLang="en-US" sz="2800" dirty="0"/>
              <a:t>的安全采取如下</a:t>
            </a:r>
            <a:r>
              <a:rPr lang="zh-CN" altLang="en-US" sz="2800" dirty="0">
                <a:solidFill>
                  <a:srgbClr val="FF0000"/>
                </a:solidFill>
              </a:rPr>
              <a:t>安全措施：</a:t>
            </a:r>
          </a:p>
          <a:p>
            <a:pPr lvl="1"/>
            <a:r>
              <a:rPr lang="zh-CN" altLang="en-US" sz="2400" dirty="0"/>
              <a:t>登录系统输入用户名和口令，通过</a:t>
            </a:r>
            <a:r>
              <a:rPr lang="en-US" altLang="zh-CN" sz="2400" dirty="0">
                <a:solidFill>
                  <a:srgbClr val="FF0000"/>
                </a:solidFill>
              </a:rPr>
              <a:t>UID/GID</a:t>
            </a:r>
            <a:r>
              <a:rPr lang="zh-CN" altLang="en-US" sz="2400" dirty="0">
                <a:solidFill>
                  <a:srgbClr val="FF0000"/>
                </a:solidFill>
              </a:rPr>
              <a:t>确定</a:t>
            </a:r>
            <a:r>
              <a:rPr lang="zh-CN" altLang="en-US" sz="2400" dirty="0"/>
              <a:t>每个用户在登录系统后都</a:t>
            </a:r>
            <a:r>
              <a:rPr lang="zh-CN" altLang="en-US" sz="2400" dirty="0">
                <a:solidFill>
                  <a:srgbClr val="FF0000"/>
                </a:solidFill>
              </a:rPr>
              <a:t>做了些什么</a:t>
            </a:r>
          </a:p>
          <a:p>
            <a:pPr lvl="1"/>
            <a:r>
              <a:rPr lang="zh-CN" altLang="en-US" sz="2400" dirty="0"/>
              <a:t>通过</a:t>
            </a:r>
            <a:r>
              <a:rPr lang="en-US" altLang="zh-CN" sz="2400" dirty="0">
                <a:solidFill>
                  <a:srgbClr val="FF0000"/>
                </a:solidFill>
              </a:rPr>
              <a:t>UID/GID</a:t>
            </a:r>
            <a:r>
              <a:rPr lang="zh-CN" altLang="en-US" sz="2400" dirty="0"/>
              <a:t>来</a:t>
            </a:r>
            <a:r>
              <a:rPr lang="zh-CN" altLang="en-US" sz="2400" dirty="0">
                <a:solidFill>
                  <a:srgbClr val="FF0000"/>
                </a:solidFill>
              </a:rPr>
              <a:t>区别</a:t>
            </a:r>
            <a:r>
              <a:rPr lang="zh-CN" altLang="en-US" sz="2400" dirty="0"/>
              <a:t>不同</a:t>
            </a:r>
            <a:r>
              <a:rPr lang="zh-CN" altLang="en-US" sz="2400" dirty="0">
                <a:solidFill>
                  <a:srgbClr val="FF0000"/>
                </a:solidFill>
              </a:rPr>
              <a:t>用户</a:t>
            </a:r>
            <a:r>
              <a:rPr lang="zh-CN" altLang="en-US" sz="2400" dirty="0"/>
              <a:t>所建立的</a:t>
            </a:r>
            <a:r>
              <a:rPr lang="zh-CN" altLang="en-US" sz="2400" dirty="0">
                <a:solidFill>
                  <a:srgbClr val="FF0000"/>
                </a:solidFill>
              </a:rPr>
              <a:t>文件或目录 </a:t>
            </a:r>
          </a:p>
          <a:p>
            <a:pPr lvl="2"/>
            <a:r>
              <a:rPr lang="zh-CN" altLang="en-US" sz="2000" dirty="0"/>
              <a:t>每个文件或目录都属于一个</a:t>
            </a:r>
            <a:r>
              <a:rPr lang="en-US" altLang="zh-CN" sz="2000" dirty="0"/>
              <a:t>UID</a:t>
            </a:r>
            <a:r>
              <a:rPr lang="zh-CN" altLang="en-US" sz="2000" dirty="0"/>
              <a:t>和一个</a:t>
            </a:r>
            <a:r>
              <a:rPr lang="en-US" altLang="zh-CN" sz="2000" dirty="0"/>
              <a:t>GID </a:t>
            </a:r>
          </a:p>
          <a:p>
            <a:pPr lvl="1"/>
            <a:r>
              <a:rPr lang="zh-CN" altLang="en-US" sz="2400" dirty="0"/>
              <a:t>每个</a:t>
            </a:r>
            <a:r>
              <a:rPr lang="zh-CN" altLang="en-US" sz="2400" dirty="0">
                <a:solidFill>
                  <a:srgbClr val="FF0000"/>
                </a:solidFill>
              </a:rPr>
              <a:t>进程</a:t>
            </a:r>
            <a:r>
              <a:rPr lang="zh-CN" altLang="en-US" sz="2400" dirty="0"/>
              <a:t>都使用一个</a:t>
            </a:r>
            <a:r>
              <a:rPr lang="en-US" altLang="zh-CN" sz="2400" dirty="0">
                <a:solidFill>
                  <a:srgbClr val="FF0000"/>
                </a:solidFill>
              </a:rPr>
              <a:t>UID</a:t>
            </a:r>
            <a:r>
              <a:rPr lang="zh-CN" altLang="en-US" sz="2400" dirty="0"/>
              <a:t>和一个或多个</a:t>
            </a:r>
            <a:r>
              <a:rPr lang="en-US" altLang="zh-CN" sz="2400" dirty="0">
                <a:solidFill>
                  <a:srgbClr val="FF0000"/>
                </a:solidFill>
              </a:rPr>
              <a:t>GID</a:t>
            </a:r>
            <a:r>
              <a:rPr lang="zh-CN" altLang="en-US" sz="2400" dirty="0"/>
              <a:t>来运行</a:t>
            </a:r>
            <a:endParaRPr lang="en-US" altLang="zh-CN" sz="2400" dirty="0"/>
          </a:p>
          <a:p>
            <a:pPr lvl="2"/>
            <a:r>
              <a:rPr lang="zh-CN" altLang="en-US" sz="2000" dirty="0"/>
              <a:t>通常由被运行进程的用户决定</a:t>
            </a:r>
            <a:endParaRPr lang="en-US" altLang="zh-CN" sz="2000" dirty="0"/>
          </a:p>
          <a:p>
            <a:pPr lvl="1"/>
            <a:r>
              <a:rPr lang="zh-CN" altLang="en-US" sz="2400" dirty="0">
                <a:solidFill>
                  <a:srgbClr val="FF0000"/>
                </a:solidFill>
              </a:rPr>
              <a:t>超级用户具有一切权限，无需特殊说明</a:t>
            </a:r>
          </a:p>
          <a:p>
            <a:pPr lvl="1"/>
            <a:r>
              <a:rPr lang="zh-CN" altLang="en-US" sz="2400" dirty="0">
                <a:solidFill>
                  <a:srgbClr val="FF0000"/>
                </a:solidFill>
              </a:rPr>
              <a:t>普通用户</a:t>
            </a:r>
            <a:r>
              <a:rPr lang="zh-CN" altLang="en-US" sz="2400" dirty="0"/>
              <a:t>只能</a:t>
            </a:r>
            <a:r>
              <a:rPr lang="zh-CN" altLang="en-US" sz="2400" dirty="0">
                <a:solidFill>
                  <a:srgbClr val="FF0000"/>
                </a:solidFill>
              </a:rPr>
              <a:t>不受限制</a:t>
            </a:r>
            <a:r>
              <a:rPr lang="zh-CN" altLang="en-US" sz="2400" dirty="0"/>
              <a:t>的</a:t>
            </a:r>
            <a:r>
              <a:rPr lang="zh-CN" altLang="en-US" sz="2400" dirty="0">
                <a:solidFill>
                  <a:srgbClr val="FF0000"/>
                </a:solidFill>
              </a:rPr>
              <a:t>操作主目录及其子目录下的所有文件</a:t>
            </a:r>
            <a:r>
              <a:rPr lang="zh-CN" altLang="en-US" sz="2400" dirty="0"/>
              <a:t>，对系统中</a:t>
            </a:r>
            <a:r>
              <a:rPr lang="zh-CN" altLang="en-US" sz="2400" dirty="0">
                <a:solidFill>
                  <a:srgbClr val="FF0000"/>
                </a:solidFill>
              </a:rPr>
              <a:t>其他目录</a:t>
            </a:r>
            <a:r>
              <a:rPr lang="en-US" altLang="zh-CN" sz="2400" dirty="0">
                <a:solidFill>
                  <a:srgbClr val="FF0000"/>
                </a:solidFill>
              </a:rPr>
              <a:t>/</a:t>
            </a:r>
            <a:r>
              <a:rPr lang="zh-CN" altLang="en-US" sz="2400" dirty="0">
                <a:solidFill>
                  <a:srgbClr val="FF0000"/>
                </a:solidFill>
              </a:rPr>
              <a:t>文件</a:t>
            </a:r>
            <a:r>
              <a:rPr lang="zh-CN" altLang="en-US" sz="2400" dirty="0"/>
              <a:t>的访问受到</a:t>
            </a:r>
            <a:r>
              <a:rPr lang="zh-CN" altLang="en-US" sz="2400" dirty="0" smtClean="0">
                <a:solidFill>
                  <a:srgbClr val="FF0000"/>
                </a:solidFill>
              </a:rPr>
              <a:t>限制。</a:t>
            </a:r>
            <a:endParaRPr lang="zh-CN" altLang="en-US" sz="2400" dirty="0">
              <a:solidFill>
                <a:srgbClr val="FF0000"/>
              </a:solidFill>
            </a:endParaRP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三种基本权限</a:t>
            </a:r>
          </a:p>
        </p:txBody>
      </p:sp>
      <p:graphicFrame>
        <p:nvGraphicFramePr>
          <p:cNvPr id="8" name="内容占位符 7"/>
          <p:cNvGraphicFramePr>
            <a:graphicFrameLocks noGrp="1"/>
          </p:cNvGraphicFramePr>
          <p:nvPr>
            <p:ph idx="1"/>
            <p:extLst>
              <p:ext uri="{D42A27DB-BD31-4B8C-83A1-F6EECF244321}">
                <p14:modId xmlns:p14="http://schemas.microsoft.com/office/powerpoint/2010/main" val="1799816598"/>
              </p:ext>
            </p:extLst>
          </p:nvPr>
        </p:nvGraphicFramePr>
        <p:xfrm>
          <a:off x="251520" y="3573016"/>
          <a:ext cx="8708950" cy="2394366"/>
        </p:xfrm>
        <a:graphic>
          <a:graphicData uri="http://schemas.openxmlformats.org/drawingml/2006/table">
            <a:tbl>
              <a:tblPr firstRow="1" bandRow="1">
                <a:tableStyleId>{21E4AEA4-8DFA-4A89-87EB-49C32662AFE0}</a:tableStyleId>
              </a:tblPr>
              <a:tblGrid>
                <a:gridCol w="1378917">
                  <a:extLst>
                    <a:ext uri="{9D8B030D-6E8A-4147-A177-3AD203B41FA5}">
                      <a16:colId xmlns:a16="http://schemas.microsoft.com/office/drawing/2014/main" val="20000"/>
                    </a:ext>
                  </a:extLst>
                </a:gridCol>
                <a:gridCol w="798320">
                  <a:extLst>
                    <a:ext uri="{9D8B030D-6E8A-4147-A177-3AD203B41FA5}">
                      <a16:colId xmlns:a16="http://schemas.microsoft.com/office/drawing/2014/main" val="20001"/>
                    </a:ext>
                  </a:extLst>
                </a:gridCol>
                <a:gridCol w="2786853">
                  <a:extLst>
                    <a:ext uri="{9D8B030D-6E8A-4147-A177-3AD203B41FA5}">
                      <a16:colId xmlns:a16="http://schemas.microsoft.com/office/drawing/2014/main" val="20002"/>
                    </a:ext>
                  </a:extLst>
                </a:gridCol>
                <a:gridCol w="3744860">
                  <a:extLst>
                    <a:ext uri="{9D8B030D-6E8A-4147-A177-3AD203B41FA5}">
                      <a16:colId xmlns:a16="http://schemas.microsoft.com/office/drawing/2014/main" val="20003"/>
                    </a:ext>
                  </a:extLst>
                </a:gridCol>
              </a:tblGrid>
              <a:tr h="767425">
                <a:tc>
                  <a:txBody>
                    <a:bodyPr/>
                    <a:lstStyle/>
                    <a:p>
                      <a:pPr algn="ctr"/>
                      <a:r>
                        <a:rPr lang="zh-CN" altLang="en-US" sz="2200" dirty="0">
                          <a:solidFill>
                            <a:srgbClr val="C00000"/>
                          </a:solidFill>
                        </a:rPr>
                        <a:t>权限</a:t>
                      </a:r>
                    </a:p>
                  </a:txBody>
                  <a:tcPr marL="86360" marR="86360" anchor="ctr"/>
                </a:tc>
                <a:tc>
                  <a:txBody>
                    <a:bodyPr/>
                    <a:lstStyle/>
                    <a:p>
                      <a:pPr algn="ctr"/>
                      <a:r>
                        <a:rPr lang="zh-CN" altLang="en-US" sz="2200" dirty="0">
                          <a:solidFill>
                            <a:srgbClr val="C00000"/>
                          </a:solidFill>
                        </a:rPr>
                        <a:t>描述字符</a:t>
                      </a:r>
                    </a:p>
                  </a:txBody>
                  <a:tcPr marL="86360" marR="86360" anchor="ctr"/>
                </a:tc>
                <a:tc>
                  <a:txBody>
                    <a:bodyPr/>
                    <a:lstStyle/>
                    <a:p>
                      <a:pPr algn="ctr"/>
                      <a:r>
                        <a:rPr lang="zh-CN" altLang="en-US" sz="2200" dirty="0">
                          <a:solidFill>
                            <a:srgbClr val="C00000"/>
                          </a:solidFill>
                        </a:rPr>
                        <a:t>对文件的含义</a:t>
                      </a:r>
                    </a:p>
                  </a:txBody>
                  <a:tcPr marL="86360" marR="86360" anchor="ctr"/>
                </a:tc>
                <a:tc>
                  <a:txBody>
                    <a:bodyPr/>
                    <a:lstStyle/>
                    <a:p>
                      <a:pPr algn="ctr"/>
                      <a:r>
                        <a:rPr lang="zh-CN" altLang="en-US" sz="2200" dirty="0">
                          <a:solidFill>
                            <a:srgbClr val="C00000"/>
                          </a:solidFill>
                        </a:rPr>
                        <a:t>对目录的含义</a:t>
                      </a:r>
                    </a:p>
                  </a:txBody>
                  <a:tcPr marL="86360" marR="86360" anchor="ctr"/>
                </a:tc>
                <a:extLst>
                  <a:ext uri="{0D108BD9-81ED-4DB2-BD59-A6C34878D82A}">
                    <a16:rowId xmlns:a16="http://schemas.microsoft.com/office/drawing/2014/main" val="10000"/>
                  </a:ext>
                </a:extLst>
              </a:tr>
              <a:tr h="429758">
                <a:tc>
                  <a:txBody>
                    <a:bodyPr/>
                    <a:lstStyle/>
                    <a:p>
                      <a:r>
                        <a:rPr lang="zh-CN" altLang="en-US" sz="2200" dirty="0">
                          <a:solidFill>
                            <a:srgbClr val="FF0000"/>
                          </a:solidFill>
                        </a:rPr>
                        <a:t>读</a:t>
                      </a:r>
                      <a:r>
                        <a:rPr lang="zh-CN" altLang="en-US" sz="2200" dirty="0"/>
                        <a:t>权限</a:t>
                      </a:r>
                    </a:p>
                  </a:txBody>
                  <a:tcPr marL="86360" marR="86360" anchor="ctr"/>
                </a:tc>
                <a:tc>
                  <a:txBody>
                    <a:bodyPr/>
                    <a:lstStyle/>
                    <a:p>
                      <a:pPr algn="ctr"/>
                      <a:r>
                        <a:rPr lang="en-US" altLang="zh-CN" sz="2200" dirty="0">
                          <a:solidFill>
                            <a:srgbClr val="FF0000"/>
                          </a:solidFill>
                        </a:rPr>
                        <a:t>r</a:t>
                      </a:r>
                      <a:endParaRPr lang="zh-CN" altLang="en-US" sz="2200" dirty="0">
                        <a:solidFill>
                          <a:srgbClr val="FF0000"/>
                        </a:solidFill>
                      </a:endParaRPr>
                    </a:p>
                  </a:txBody>
                  <a:tcPr marL="86360" marR="86360" anchor="ctr"/>
                </a:tc>
                <a:tc>
                  <a:txBody>
                    <a:bodyPr/>
                    <a:lstStyle/>
                    <a:p>
                      <a:r>
                        <a:rPr lang="zh-CN" altLang="en-US" sz="2200" dirty="0"/>
                        <a:t>可以</a:t>
                      </a:r>
                      <a:r>
                        <a:rPr lang="zh-CN" altLang="en-US" sz="2200" dirty="0">
                          <a:solidFill>
                            <a:srgbClr val="FF0000"/>
                          </a:solidFill>
                        </a:rPr>
                        <a:t>读取文件</a:t>
                      </a:r>
                      <a:r>
                        <a:rPr lang="zh-CN" altLang="en-US" sz="2200" dirty="0"/>
                        <a:t>的内容</a:t>
                      </a:r>
                    </a:p>
                  </a:txBody>
                  <a:tcPr marL="86360" marR="86360" anchor="ctr"/>
                </a:tc>
                <a:tc>
                  <a:txBody>
                    <a:bodyPr/>
                    <a:lstStyle/>
                    <a:p>
                      <a:r>
                        <a:rPr lang="zh-CN" altLang="en-US" sz="2200" dirty="0"/>
                        <a:t>可以</a:t>
                      </a:r>
                      <a:r>
                        <a:rPr lang="zh-CN" altLang="en-US" sz="2200" dirty="0">
                          <a:solidFill>
                            <a:srgbClr val="FF0000"/>
                          </a:solidFill>
                        </a:rPr>
                        <a:t>列出</a:t>
                      </a:r>
                      <a:r>
                        <a:rPr lang="zh-CN" altLang="en-US" sz="2200" dirty="0"/>
                        <a:t>目录中的</a:t>
                      </a:r>
                      <a:r>
                        <a:rPr lang="zh-CN" altLang="en-US" sz="2200" dirty="0">
                          <a:solidFill>
                            <a:srgbClr val="FF0000"/>
                          </a:solidFill>
                        </a:rPr>
                        <a:t>文件列表</a:t>
                      </a:r>
                    </a:p>
                  </a:txBody>
                  <a:tcPr marL="86360" marR="86360" anchor="ctr"/>
                </a:tc>
                <a:extLst>
                  <a:ext uri="{0D108BD9-81ED-4DB2-BD59-A6C34878D82A}">
                    <a16:rowId xmlns:a16="http://schemas.microsoft.com/office/drawing/2014/main" val="10001"/>
                  </a:ext>
                </a:extLst>
              </a:tr>
              <a:tr h="767425">
                <a:tc>
                  <a:txBody>
                    <a:bodyPr/>
                    <a:lstStyle/>
                    <a:p>
                      <a:r>
                        <a:rPr lang="zh-CN" altLang="en-US" sz="2200" dirty="0">
                          <a:solidFill>
                            <a:srgbClr val="FF0000"/>
                          </a:solidFill>
                        </a:rPr>
                        <a:t>写</a:t>
                      </a:r>
                      <a:r>
                        <a:rPr lang="zh-CN" altLang="en-US" sz="2200" dirty="0"/>
                        <a:t>权限</a:t>
                      </a:r>
                    </a:p>
                  </a:txBody>
                  <a:tcPr marL="86360" marR="86360" anchor="ctr"/>
                </a:tc>
                <a:tc>
                  <a:txBody>
                    <a:bodyPr/>
                    <a:lstStyle/>
                    <a:p>
                      <a:pPr algn="ctr"/>
                      <a:r>
                        <a:rPr lang="en-US" altLang="zh-CN" sz="2200" dirty="0">
                          <a:solidFill>
                            <a:srgbClr val="FF0000"/>
                          </a:solidFill>
                        </a:rPr>
                        <a:t>w</a:t>
                      </a:r>
                      <a:endParaRPr lang="zh-CN" altLang="en-US" sz="2200" dirty="0">
                        <a:solidFill>
                          <a:srgbClr val="FF0000"/>
                        </a:solidFill>
                      </a:endParaRPr>
                    </a:p>
                  </a:txBody>
                  <a:tcPr marL="86360" marR="86360" anchor="ctr"/>
                </a:tc>
                <a:tc>
                  <a:txBody>
                    <a:bodyPr/>
                    <a:lstStyle/>
                    <a:p>
                      <a:r>
                        <a:rPr lang="zh-CN" altLang="en-US" sz="2200" dirty="0"/>
                        <a:t>可以</a:t>
                      </a:r>
                      <a:r>
                        <a:rPr lang="zh-CN" altLang="en-US" sz="2200" dirty="0">
                          <a:solidFill>
                            <a:srgbClr val="FF0000"/>
                          </a:solidFill>
                        </a:rPr>
                        <a:t>修改但不能删除</a:t>
                      </a:r>
                      <a:r>
                        <a:rPr lang="zh-CN" altLang="en-US" sz="2200" dirty="0"/>
                        <a:t>文件</a:t>
                      </a:r>
                    </a:p>
                  </a:txBody>
                  <a:tcPr marL="86360" marR="86360" anchor="ctr"/>
                </a:tc>
                <a:tc>
                  <a:txBody>
                    <a:bodyPr/>
                    <a:lstStyle/>
                    <a:p>
                      <a:r>
                        <a:rPr lang="zh-CN" altLang="en-US" sz="2200" dirty="0"/>
                        <a:t>可以在该目录中</a:t>
                      </a:r>
                      <a:r>
                        <a:rPr lang="zh-CN" altLang="en-US" sz="2200" dirty="0">
                          <a:solidFill>
                            <a:srgbClr val="FF0000"/>
                          </a:solidFill>
                        </a:rPr>
                        <a:t>创建或删除文件或子目录</a:t>
                      </a:r>
                    </a:p>
                  </a:txBody>
                  <a:tcPr marL="86360" marR="86360" anchor="ctr"/>
                </a:tc>
                <a:extLst>
                  <a:ext uri="{0D108BD9-81ED-4DB2-BD59-A6C34878D82A}">
                    <a16:rowId xmlns:a16="http://schemas.microsoft.com/office/drawing/2014/main" val="10002"/>
                  </a:ext>
                </a:extLst>
              </a:tr>
              <a:tr h="429758">
                <a:tc>
                  <a:txBody>
                    <a:bodyPr/>
                    <a:lstStyle/>
                    <a:p>
                      <a:r>
                        <a:rPr lang="zh-CN" altLang="en-US" sz="2200" dirty="0">
                          <a:solidFill>
                            <a:srgbClr val="FF0000"/>
                          </a:solidFill>
                        </a:rPr>
                        <a:t>执行</a:t>
                      </a:r>
                      <a:r>
                        <a:rPr lang="zh-CN" altLang="en-US" sz="2200" dirty="0"/>
                        <a:t>权限</a:t>
                      </a:r>
                    </a:p>
                  </a:txBody>
                  <a:tcPr marL="86360" marR="86360" anchor="ctr"/>
                </a:tc>
                <a:tc>
                  <a:txBody>
                    <a:bodyPr/>
                    <a:lstStyle/>
                    <a:p>
                      <a:pPr algn="ctr"/>
                      <a:r>
                        <a:rPr lang="en-US" altLang="zh-CN" sz="2200" dirty="0">
                          <a:solidFill>
                            <a:srgbClr val="FF0000"/>
                          </a:solidFill>
                        </a:rPr>
                        <a:t>x</a:t>
                      </a:r>
                      <a:endParaRPr lang="zh-CN" altLang="en-US" sz="2200" dirty="0">
                        <a:solidFill>
                          <a:srgbClr val="FF0000"/>
                        </a:solidFill>
                      </a:endParaRPr>
                    </a:p>
                  </a:txBody>
                  <a:tcPr marL="86360" marR="86360" anchor="ctr"/>
                </a:tc>
                <a:tc>
                  <a:txBody>
                    <a:bodyPr/>
                    <a:lstStyle/>
                    <a:p>
                      <a:r>
                        <a:rPr lang="zh-CN" altLang="en-US" sz="2200" dirty="0"/>
                        <a:t>可以</a:t>
                      </a:r>
                      <a:r>
                        <a:rPr lang="zh-CN" altLang="en-US" sz="2200" dirty="0">
                          <a:solidFill>
                            <a:srgbClr val="FF0000"/>
                          </a:solidFill>
                        </a:rPr>
                        <a:t>执行</a:t>
                      </a:r>
                      <a:r>
                        <a:rPr lang="zh-CN" altLang="en-US" sz="2200" dirty="0"/>
                        <a:t>该文件</a:t>
                      </a:r>
                    </a:p>
                  </a:txBody>
                  <a:tcPr marL="86360" marR="86360" anchor="ctr"/>
                </a:tc>
                <a:tc>
                  <a:txBody>
                    <a:bodyPr/>
                    <a:lstStyle/>
                    <a:p>
                      <a:r>
                        <a:rPr lang="zh-CN" altLang="en-US" sz="2200" dirty="0"/>
                        <a:t>可以使用</a:t>
                      </a:r>
                      <a:r>
                        <a:rPr lang="en-US" altLang="zh-CN" sz="2200" dirty="0" err="1">
                          <a:solidFill>
                            <a:srgbClr val="FF0000"/>
                          </a:solidFill>
                        </a:rPr>
                        <a:t>cd</a:t>
                      </a:r>
                      <a:r>
                        <a:rPr lang="zh-CN" altLang="en-US" sz="2200" dirty="0">
                          <a:solidFill>
                            <a:srgbClr val="FF0000"/>
                          </a:solidFill>
                        </a:rPr>
                        <a:t>命令进入该目录</a:t>
                      </a:r>
                    </a:p>
                  </a:txBody>
                  <a:tcPr marL="86360" marR="86360" anchor="ctr"/>
                </a:tc>
                <a:extLst>
                  <a:ext uri="{0D108BD9-81ED-4DB2-BD59-A6C34878D82A}">
                    <a16:rowId xmlns:a16="http://schemas.microsoft.com/office/drawing/2014/main" val="10003"/>
                  </a:ext>
                </a:extLst>
              </a:tr>
            </a:tbl>
          </a:graphicData>
        </a:graphic>
      </p:graphicFrame>
      <p:sp>
        <p:nvSpPr>
          <p:cNvPr id="7" name="文本框 6">
            <a:extLst>
              <a:ext uri="{FF2B5EF4-FFF2-40B4-BE49-F238E27FC236}">
                <a16:creationId xmlns:a16="http://schemas.microsoft.com/office/drawing/2014/main" id="{3993247B-63A0-4203-A997-382B6148832F}"/>
              </a:ext>
            </a:extLst>
          </p:cNvPr>
          <p:cNvSpPr txBox="1"/>
          <p:nvPr/>
        </p:nvSpPr>
        <p:spPr>
          <a:xfrm>
            <a:off x="445976" y="1412776"/>
            <a:ext cx="8676456" cy="1840504"/>
          </a:xfrm>
          <a:prstGeom prst="rect">
            <a:avLst/>
          </a:prstGeom>
          <a:noFill/>
        </p:spPr>
        <p:txBody>
          <a:bodyPr wrap="square">
            <a:spAutoFit/>
          </a:bodyPr>
          <a:lstStyle/>
          <a:p>
            <a:pPr marL="342900" marR="0" lvl="0" indent="-342900" algn="l" defTabSz="914400" rtl="0" eaLnBrk="0" fontAlgn="base" latinLnBrk="0" hangingPunct="0">
              <a:lnSpc>
                <a:spcPct val="100000"/>
              </a:lnSpc>
              <a:spcBef>
                <a:spcPct val="20000"/>
              </a:spcBef>
              <a:spcAft>
                <a:spcPct val="0"/>
              </a:spcAft>
              <a:buClr>
                <a:srgbClr val="3333CC"/>
              </a:buClr>
              <a:buSzPct val="60000"/>
              <a:buFont typeface="Wingdings" panose="05000000000000000000" pitchFamily="2" charset="2"/>
              <a:buChar char="n"/>
              <a:tabLst/>
              <a:defRPr/>
            </a:pPr>
            <a:r>
              <a:rPr lang="zh-CN" altLang="en-US" sz="3200" dirty="0">
                <a:solidFill>
                  <a:srgbClr val="000000"/>
                </a:solidFill>
                <a:latin typeface="Tahoma" panose="020B0604030504040204" pitchFamily="34" charset="0"/>
              </a:rPr>
              <a:t>系统资源的使用人员：</a:t>
            </a:r>
            <a:endParaRPr kumimoji="0" lang="zh-CN" altLang="en-US" sz="3200" b="0" i="0" u="none" strike="noStrike" kern="1200" cap="none" spc="0" normalizeH="0" baseline="0" noProof="0" dirty="0">
              <a:ln>
                <a:noFill/>
              </a:ln>
              <a:solidFill>
                <a:srgbClr val="FF0000"/>
              </a:solidFill>
              <a:effectLst/>
              <a:uLnTx/>
              <a:uFillTx/>
              <a:latin typeface="Tahoma" panose="020B0604030504040204" pitchFamily="34" charset="0"/>
              <a:cs typeface="+mn-cs"/>
            </a:endParaRPr>
          </a:p>
          <a:p>
            <a:pPr marL="742950" marR="0" lvl="1" indent="-285750" algn="l" defTabSz="914400" rtl="0" eaLnBrk="0" fontAlgn="base" latinLnBrk="0" hangingPunct="0">
              <a:lnSpc>
                <a:spcPct val="100000"/>
              </a:lnSpc>
              <a:spcBef>
                <a:spcPct val="20000"/>
              </a:spcBef>
              <a:spcAft>
                <a:spcPct val="0"/>
              </a:spcAft>
              <a:buClr>
                <a:srgbClr val="3333CC"/>
              </a:buClr>
              <a:buSzPct val="60000"/>
              <a:buFont typeface="Wingdings" panose="05000000000000000000" pitchFamily="2" charset="2"/>
              <a:buChar char="l"/>
              <a:tabLst/>
              <a:defRPr/>
            </a:pP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超级用户（</a:t>
            </a:r>
            <a:r>
              <a:rPr kumimoji="0" lang="en-US" altLang="zh-CN" sz="2400" b="1" i="0" u="none" strike="noStrike" kern="1200" cap="none" spc="0" normalizeH="0" baseline="0" noProof="0" dirty="0">
                <a:ln>
                  <a:noFill/>
                </a:ln>
                <a:solidFill>
                  <a:srgbClr val="FF0000"/>
                </a:solidFill>
                <a:effectLst/>
                <a:uLnTx/>
                <a:uFillTx/>
                <a:latin typeface="Tahoma" panose="020B0604030504040204" pitchFamily="34" charset="0"/>
                <a:cs typeface="+mn-cs"/>
              </a:rPr>
              <a:t>root</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）、属主（</a:t>
            </a:r>
            <a:r>
              <a:rPr kumimoji="0" lang="en-US" altLang="zh-CN" sz="2400" b="1" i="0" u="none" strike="noStrike" kern="1200" cap="none" spc="0" normalizeH="0" baseline="0" noProof="0" dirty="0">
                <a:ln>
                  <a:noFill/>
                </a:ln>
                <a:solidFill>
                  <a:srgbClr val="FF0000"/>
                </a:solidFill>
                <a:effectLst/>
                <a:uLnTx/>
                <a:uFillTx/>
                <a:latin typeface="Tahoma" panose="020B0604030504040204" pitchFamily="34" charset="0"/>
                <a:cs typeface="+mn-cs"/>
              </a:rPr>
              <a:t>user</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）、同组人（</a:t>
            </a:r>
            <a:r>
              <a:rPr kumimoji="0" lang="en-US" altLang="zh-CN" sz="2400" b="1" i="0" u="none" strike="noStrike" kern="1200" cap="none" spc="0" normalizeH="0" baseline="0" noProof="0" dirty="0">
                <a:ln>
                  <a:noFill/>
                </a:ln>
                <a:solidFill>
                  <a:srgbClr val="FF0000"/>
                </a:solidFill>
                <a:effectLst/>
                <a:uLnTx/>
                <a:uFillTx/>
                <a:latin typeface="Tahoma" panose="020B0604030504040204" pitchFamily="34" charset="0"/>
                <a:cs typeface="+mn-cs"/>
              </a:rPr>
              <a:t>group</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）、其他人（</a:t>
            </a:r>
            <a:r>
              <a:rPr kumimoji="0" lang="en-US" altLang="zh-CN" sz="2400" b="1" i="0" u="none" strike="noStrike" kern="1200" cap="none" spc="0" normalizeH="0" baseline="0" noProof="0" dirty="0">
                <a:ln>
                  <a:noFill/>
                </a:ln>
                <a:solidFill>
                  <a:srgbClr val="FF0000"/>
                </a:solidFill>
                <a:effectLst/>
                <a:uLnTx/>
                <a:uFillTx/>
                <a:latin typeface="Tahoma" panose="020B0604030504040204" pitchFamily="34" charset="0"/>
                <a:cs typeface="+mn-cs"/>
              </a:rPr>
              <a:t>others</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a:t>
            </a:r>
          </a:p>
          <a:p>
            <a:pPr marL="742950" marR="0" lvl="1" indent="-285750" algn="l" defTabSz="914400" rtl="0" eaLnBrk="0" fontAlgn="base" latinLnBrk="0" hangingPunct="0">
              <a:lnSpc>
                <a:spcPct val="100000"/>
              </a:lnSpc>
              <a:spcBef>
                <a:spcPct val="20000"/>
              </a:spcBef>
              <a:spcAft>
                <a:spcPct val="0"/>
              </a:spcAft>
              <a:buClr>
                <a:srgbClr val="3333CC"/>
              </a:buClr>
              <a:buSzPct val="60000"/>
              <a:buFont typeface="Wingdings" panose="05000000000000000000" pitchFamily="2" charset="2"/>
              <a:buChar char="l"/>
              <a:tabLst/>
              <a:defRPr/>
            </a:pP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超级用户</a:t>
            </a:r>
            <a:r>
              <a:rPr kumimoji="0" lang="zh-CN" altLang="en-US" sz="2400" b="1" i="0" u="none" strike="noStrike" kern="1200" cap="none" spc="0" normalizeH="0" baseline="0" noProof="0" dirty="0">
                <a:ln>
                  <a:noFill/>
                </a:ln>
                <a:effectLst/>
                <a:uLnTx/>
                <a:uFillTx/>
                <a:latin typeface="Tahoma" panose="020B0604030504040204" pitchFamily="34" charset="0"/>
                <a:cs typeface="+mn-cs"/>
              </a:rPr>
              <a:t>具有一切访问权限，</a:t>
            </a:r>
            <a:r>
              <a:rPr kumimoji="0" lang="zh-CN" altLang="en-US" sz="2400" b="1" i="0" u="none" strike="noStrike" kern="1200" cap="none" spc="0" normalizeH="0" baseline="0" noProof="0" dirty="0">
                <a:ln>
                  <a:noFill/>
                </a:ln>
                <a:solidFill>
                  <a:srgbClr val="FF0000"/>
                </a:solidFill>
                <a:effectLst/>
                <a:uLnTx/>
                <a:uFillTx/>
                <a:latin typeface="Tahoma" panose="020B0604030504040204" pitchFamily="34" charset="0"/>
                <a:cs typeface="+mn-cs"/>
              </a:rPr>
              <a:t>不用指定权限</a:t>
            </a:r>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三种基本权限（续）</a:t>
            </a:r>
          </a:p>
        </p:txBody>
      </p:sp>
      <p:sp>
        <p:nvSpPr>
          <p:cNvPr id="3" name="内容占位符 2"/>
          <p:cNvSpPr>
            <a:spLocks noGrp="1"/>
          </p:cNvSpPr>
          <p:nvPr>
            <p:ph idx="1"/>
          </p:nvPr>
        </p:nvSpPr>
        <p:spPr>
          <a:xfrm>
            <a:off x="457200" y="1340768"/>
            <a:ext cx="8229600" cy="5328592"/>
          </a:xfrm>
        </p:spPr>
        <p:txBody>
          <a:bodyPr/>
          <a:lstStyle/>
          <a:p>
            <a:pPr marL="609600" indent="-609600">
              <a:lnSpc>
                <a:spcPct val="120000"/>
              </a:lnSpc>
              <a:spcBef>
                <a:spcPts val="300"/>
              </a:spcBef>
            </a:pPr>
            <a:r>
              <a:rPr lang="zh-CN" altLang="en-US" sz="2800" dirty="0"/>
              <a:t>目录上只有</a:t>
            </a:r>
            <a:r>
              <a:rPr lang="zh-CN" altLang="en-US" sz="2800" dirty="0">
                <a:solidFill>
                  <a:srgbClr val="FF0000"/>
                </a:solidFill>
              </a:rPr>
              <a:t>执行</a:t>
            </a:r>
            <a:r>
              <a:rPr lang="zh-CN" altLang="en-US" sz="2800" dirty="0"/>
              <a:t>权限，表示</a:t>
            </a:r>
            <a:r>
              <a:rPr lang="zh-CN" altLang="en-US" sz="2800" dirty="0">
                <a:solidFill>
                  <a:srgbClr val="FF0000"/>
                </a:solidFill>
              </a:rPr>
              <a:t>可以进入</a:t>
            </a:r>
            <a:r>
              <a:rPr lang="zh-CN" altLang="en-US" sz="2800" dirty="0"/>
              <a:t>或穿越他进入更深层次的子目录</a:t>
            </a:r>
          </a:p>
          <a:p>
            <a:pPr marL="609600" indent="-609600">
              <a:lnSpc>
                <a:spcPct val="120000"/>
              </a:lnSpc>
              <a:spcBef>
                <a:spcPts val="300"/>
              </a:spcBef>
            </a:pPr>
            <a:r>
              <a:rPr lang="zh-CN" altLang="en-US" sz="2800" dirty="0"/>
              <a:t>目录上只有</a:t>
            </a:r>
            <a:r>
              <a:rPr lang="zh-CN" altLang="en-US" sz="2800" dirty="0">
                <a:solidFill>
                  <a:srgbClr val="FF0000"/>
                </a:solidFill>
              </a:rPr>
              <a:t>执行</a:t>
            </a:r>
            <a:r>
              <a:rPr lang="zh-CN" altLang="en-US" sz="2800" dirty="0"/>
              <a:t>权限，要访问该目录下的有读权限的文件，必须知道文件名才可以访问</a:t>
            </a:r>
          </a:p>
          <a:p>
            <a:pPr marL="609600" indent="-609600">
              <a:lnSpc>
                <a:spcPct val="120000"/>
              </a:lnSpc>
              <a:spcBef>
                <a:spcPts val="300"/>
              </a:spcBef>
            </a:pPr>
            <a:r>
              <a:rPr lang="zh-CN" altLang="en-US" sz="2800" dirty="0"/>
              <a:t>目录上只有</a:t>
            </a:r>
            <a:r>
              <a:rPr lang="zh-CN" altLang="en-US" sz="2800" dirty="0">
                <a:solidFill>
                  <a:srgbClr val="FF0000"/>
                </a:solidFill>
              </a:rPr>
              <a:t>执行</a:t>
            </a:r>
            <a:r>
              <a:rPr lang="zh-CN" altLang="en-US" sz="2800" dirty="0"/>
              <a:t>权限，</a:t>
            </a:r>
            <a:r>
              <a:rPr lang="zh-CN" altLang="en-US" sz="2800" dirty="0">
                <a:solidFill>
                  <a:srgbClr val="FF0000"/>
                </a:solidFill>
              </a:rPr>
              <a:t>不能列出目录列表也不能删除该目录</a:t>
            </a:r>
          </a:p>
          <a:p>
            <a:pPr marL="609600" indent="-609600">
              <a:lnSpc>
                <a:spcPct val="120000"/>
              </a:lnSpc>
              <a:spcBef>
                <a:spcPts val="300"/>
              </a:spcBef>
            </a:pPr>
            <a:r>
              <a:rPr lang="zh-CN" altLang="en-US" sz="2800" dirty="0"/>
              <a:t>目录上</a:t>
            </a:r>
            <a:r>
              <a:rPr lang="zh-CN" altLang="en-US" sz="2800" dirty="0">
                <a:solidFill>
                  <a:srgbClr val="FF0000"/>
                </a:solidFill>
              </a:rPr>
              <a:t>执行</a:t>
            </a:r>
            <a:r>
              <a:rPr lang="zh-CN" altLang="en-US" sz="2800" dirty="0"/>
              <a:t>权限和</a:t>
            </a:r>
            <a:r>
              <a:rPr lang="zh-CN" altLang="en-US" sz="2800" dirty="0">
                <a:solidFill>
                  <a:srgbClr val="FF0000"/>
                </a:solidFill>
              </a:rPr>
              <a:t>读</a:t>
            </a:r>
            <a:r>
              <a:rPr lang="zh-CN" altLang="en-US" sz="2800" dirty="0"/>
              <a:t>权限的组合，表示可以</a:t>
            </a:r>
            <a:r>
              <a:rPr lang="zh-CN" altLang="en-US" sz="2800" dirty="0">
                <a:solidFill>
                  <a:srgbClr val="FF0000"/>
                </a:solidFill>
              </a:rPr>
              <a:t>进入</a:t>
            </a:r>
            <a:r>
              <a:rPr lang="zh-CN" altLang="en-US" sz="2800" dirty="0"/>
              <a:t>目录并</a:t>
            </a:r>
            <a:r>
              <a:rPr lang="zh-CN" altLang="en-US" sz="2800" dirty="0">
                <a:solidFill>
                  <a:srgbClr val="FF0000"/>
                </a:solidFill>
              </a:rPr>
              <a:t>列出</a:t>
            </a:r>
            <a:r>
              <a:rPr lang="zh-CN" altLang="en-US" sz="2800" dirty="0"/>
              <a:t>目录列表</a:t>
            </a:r>
          </a:p>
          <a:p>
            <a:pPr marL="609600" indent="-609600">
              <a:lnSpc>
                <a:spcPct val="120000"/>
              </a:lnSpc>
              <a:spcBef>
                <a:spcPts val="300"/>
              </a:spcBef>
            </a:pPr>
            <a:r>
              <a:rPr lang="zh-CN" altLang="en-US" sz="2800" dirty="0"/>
              <a:t>目录上</a:t>
            </a:r>
            <a:r>
              <a:rPr lang="zh-CN" altLang="en-US" sz="2800" dirty="0">
                <a:solidFill>
                  <a:srgbClr val="FF0000"/>
                </a:solidFill>
              </a:rPr>
              <a:t>执行</a:t>
            </a:r>
            <a:r>
              <a:rPr lang="zh-CN" altLang="en-US" sz="2800" dirty="0"/>
              <a:t>权限和</a:t>
            </a:r>
            <a:r>
              <a:rPr lang="zh-CN" altLang="en-US" sz="2800" dirty="0">
                <a:solidFill>
                  <a:srgbClr val="FF0000"/>
                </a:solidFill>
              </a:rPr>
              <a:t>写</a:t>
            </a:r>
            <a:r>
              <a:rPr lang="zh-CN" altLang="en-US" sz="2800" dirty="0"/>
              <a:t>权限的组合，表示可以在目录中</a:t>
            </a:r>
            <a:r>
              <a:rPr lang="zh-CN" altLang="en-US" sz="2800" dirty="0">
                <a:solidFill>
                  <a:srgbClr val="FF0000"/>
                </a:solidFill>
              </a:rPr>
              <a:t>创建、删除和重命名</a:t>
            </a:r>
            <a:r>
              <a:rPr lang="zh-CN" altLang="en-US" sz="2800" dirty="0"/>
              <a:t>文件</a:t>
            </a:r>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分配三种基本权限</a:t>
            </a:r>
          </a:p>
        </p:txBody>
      </p:sp>
      <p:sp>
        <p:nvSpPr>
          <p:cNvPr id="3" name="内容占位符 2"/>
          <p:cNvSpPr>
            <a:spLocks noGrp="1"/>
          </p:cNvSpPr>
          <p:nvPr>
            <p:ph idx="1"/>
          </p:nvPr>
        </p:nvSpPr>
        <p:spPr>
          <a:xfrm>
            <a:off x="539552" y="1412776"/>
            <a:ext cx="8604448" cy="5006181"/>
          </a:xfrm>
        </p:spPr>
        <p:txBody>
          <a:bodyPr/>
          <a:lstStyle/>
          <a:p>
            <a:r>
              <a:rPr lang="zh-CN" altLang="en-US" sz="2800" dirty="0"/>
              <a:t>文件和目录的</a:t>
            </a:r>
            <a:r>
              <a:rPr lang="zh-CN" altLang="en-US" sz="2800" dirty="0">
                <a:solidFill>
                  <a:srgbClr val="FF0000"/>
                </a:solidFill>
              </a:rPr>
              <a:t>使用者</a:t>
            </a:r>
          </a:p>
          <a:p>
            <a:pPr lvl="1"/>
            <a:r>
              <a:rPr lang="zh-CN" altLang="en-US" sz="2400" dirty="0">
                <a:solidFill>
                  <a:srgbClr val="FF0000"/>
                </a:solidFill>
              </a:rPr>
              <a:t>属</a:t>
            </a:r>
            <a:r>
              <a:rPr lang="zh-CN" altLang="en-US" sz="2400" dirty="0" smtClean="0">
                <a:solidFill>
                  <a:srgbClr val="FF0000"/>
                </a:solidFill>
              </a:rPr>
              <a:t>主</a:t>
            </a:r>
            <a:r>
              <a:rPr lang="zh-CN" altLang="en-US" sz="2400" dirty="0"/>
              <a:t>（</a:t>
            </a:r>
            <a:r>
              <a:rPr lang="en-US" altLang="zh-CN" sz="2400" dirty="0"/>
              <a:t>user</a:t>
            </a:r>
            <a:r>
              <a:rPr lang="zh-CN" altLang="en-US" sz="2400" dirty="0"/>
              <a:t>） 、</a:t>
            </a:r>
            <a:r>
              <a:rPr lang="zh-CN" altLang="en-US" sz="2400" dirty="0">
                <a:solidFill>
                  <a:srgbClr val="FF0000"/>
                </a:solidFill>
              </a:rPr>
              <a:t>同组</a:t>
            </a:r>
            <a:r>
              <a:rPr lang="zh-CN" altLang="en-US" sz="2400" dirty="0" smtClean="0">
                <a:solidFill>
                  <a:srgbClr val="FF0000"/>
                </a:solidFill>
              </a:rPr>
              <a:t>人</a:t>
            </a:r>
            <a:r>
              <a:rPr lang="zh-CN" altLang="en-US" sz="2400" dirty="0"/>
              <a:t>（</a:t>
            </a:r>
            <a:r>
              <a:rPr lang="en-US" altLang="zh-CN" sz="2400" dirty="0"/>
              <a:t>group</a:t>
            </a:r>
            <a:r>
              <a:rPr lang="zh-CN" altLang="en-US" sz="2400" dirty="0"/>
              <a:t>） 、</a:t>
            </a:r>
            <a:r>
              <a:rPr lang="zh-CN" altLang="en-US" sz="2400" dirty="0">
                <a:solidFill>
                  <a:srgbClr val="FF0000"/>
                </a:solidFill>
              </a:rPr>
              <a:t>其他</a:t>
            </a:r>
            <a:r>
              <a:rPr lang="zh-CN" altLang="en-US" sz="2400" dirty="0" smtClean="0">
                <a:solidFill>
                  <a:srgbClr val="FF0000"/>
                </a:solidFill>
              </a:rPr>
              <a:t>人</a:t>
            </a:r>
            <a:r>
              <a:rPr lang="zh-CN" altLang="en-US" sz="2400" dirty="0"/>
              <a:t>（</a:t>
            </a:r>
            <a:r>
              <a:rPr lang="en-US" altLang="zh-CN" sz="2400" dirty="0"/>
              <a:t>other</a:t>
            </a:r>
            <a:r>
              <a:rPr lang="zh-CN" altLang="en-US" sz="2400" dirty="0"/>
              <a:t>）</a:t>
            </a:r>
            <a:endParaRPr lang="en-US" altLang="zh-CN" sz="2400" dirty="0">
              <a:solidFill>
                <a:srgbClr val="FF0000"/>
              </a:solidFill>
            </a:endParaRPr>
          </a:p>
          <a:p>
            <a:r>
              <a:rPr lang="zh-CN" altLang="en-US" sz="2800" dirty="0"/>
              <a:t>权限分配</a:t>
            </a:r>
          </a:p>
          <a:p>
            <a:pPr lvl="1"/>
            <a:r>
              <a:rPr lang="zh-CN" altLang="en-US" sz="2400" dirty="0">
                <a:solidFill>
                  <a:srgbClr val="FF0000"/>
                </a:solidFill>
              </a:rPr>
              <a:t>属主权限</a:t>
            </a:r>
            <a:r>
              <a:rPr lang="zh-CN" altLang="en-US" sz="2400" dirty="0"/>
              <a:t>：用于限制文件或目录的</a:t>
            </a:r>
            <a:r>
              <a:rPr lang="zh-CN" altLang="en-US" sz="2400" dirty="0">
                <a:solidFill>
                  <a:srgbClr val="FF0000"/>
                </a:solidFill>
              </a:rPr>
              <a:t>创建者</a:t>
            </a:r>
          </a:p>
          <a:p>
            <a:pPr lvl="1"/>
            <a:r>
              <a:rPr lang="zh-CN" altLang="en-US" sz="2400" dirty="0">
                <a:solidFill>
                  <a:srgbClr val="FF0000"/>
                </a:solidFill>
              </a:rPr>
              <a:t>属组权限</a:t>
            </a:r>
            <a:r>
              <a:rPr lang="zh-CN" altLang="en-US" sz="2400" dirty="0"/>
              <a:t>：用于限制文件或目录所属</a:t>
            </a:r>
            <a:r>
              <a:rPr lang="zh-CN" altLang="en-US" sz="2400" dirty="0">
                <a:solidFill>
                  <a:srgbClr val="FF0000"/>
                </a:solidFill>
              </a:rPr>
              <a:t>组的成员</a:t>
            </a:r>
          </a:p>
          <a:p>
            <a:pPr lvl="1"/>
            <a:r>
              <a:rPr lang="zh-CN" altLang="en-US" sz="2400" dirty="0">
                <a:solidFill>
                  <a:srgbClr val="FF0000"/>
                </a:solidFill>
              </a:rPr>
              <a:t>其他用户权限</a:t>
            </a:r>
            <a:r>
              <a:rPr lang="zh-CN" altLang="en-US" sz="2400" dirty="0"/>
              <a:t>：用于限制</a:t>
            </a:r>
            <a:r>
              <a:rPr lang="zh-CN" altLang="en-US" sz="2400" dirty="0">
                <a:solidFill>
                  <a:srgbClr val="FF0000"/>
                </a:solidFill>
              </a:rPr>
              <a:t>既不是属主又不是所属组</a:t>
            </a:r>
            <a:r>
              <a:rPr lang="zh-CN" altLang="en-US" sz="2400" dirty="0"/>
              <a:t>的能访问该文件或目录的其他人员</a:t>
            </a:r>
            <a:endParaRPr lang="en-US" altLang="zh-CN" sz="2400" dirty="0"/>
          </a:p>
          <a:p>
            <a:r>
              <a:rPr lang="zh-CN" altLang="en-US" sz="2800" dirty="0"/>
              <a:t>权限的</a:t>
            </a:r>
            <a:r>
              <a:rPr lang="zh-CN" altLang="en-US" sz="2800" dirty="0">
                <a:solidFill>
                  <a:srgbClr val="FF0000"/>
                </a:solidFill>
              </a:rPr>
              <a:t>优先顺序</a:t>
            </a:r>
          </a:p>
          <a:p>
            <a:pPr lvl="1"/>
            <a:r>
              <a:rPr lang="zh-CN" altLang="en-US" sz="2400" dirty="0"/>
              <a:t>如果</a:t>
            </a:r>
            <a:r>
              <a:rPr lang="en-US" altLang="zh-CN" sz="2400" dirty="0"/>
              <a:t>UID</a:t>
            </a:r>
            <a:r>
              <a:rPr lang="zh-CN" altLang="en-US" sz="2400" dirty="0"/>
              <a:t>匹配，就应用用户</a:t>
            </a:r>
            <a:r>
              <a:rPr lang="zh-CN" altLang="en-US" sz="2400" dirty="0">
                <a:solidFill>
                  <a:srgbClr val="FF0000"/>
                </a:solidFill>
              </a:rPr>
              <a:t>属主</a:t>
            </a:r>
            <a:r>
              <a:rPr lang="zh-CN" altLang="en-US" sz="2400" dirty="0"/>
              <a:t>（</a:t>
            </a:r>
            <a:r>
              <a:rPr lang="en-US" altLang="zh-CN" sz="2400" dirty="0"/>
              <a:t>user</a:t>
            </a:r>
            <a:r>
              <a:rPr lang="zh-CN" altLang="en-US" sz="2400" dirty="0"/>
              <a:t>）权限 </a:t>
            </a:r>
          </a:p>
          <a:p>
            <a:pPr lvl="1"/>
            <a:r>
              <a:rPr lang="zh-CN" altLang="en-US" sz="2400" dirty="0"/>
              <a:t>否则，如果</a:t>
            </a:r>
            <a:r>
              <a:rPr lang="en-US" altLang="zh-CN" sz="2400" dirty="0"/>
              <a:t>GID</a:t>
            </a:r>
            <a:r>
              <a:rPr lang="zh-CN" altLang="en-US" sz="2400" dirty="0"/>
              <a:t>匹配，就应用</a:t>
            </a:r>
            <a:r>
              <a:rPr lang="zh-CN" altLang="en-US" sz="2400" dirty="0">
                <a:solidFill>
                  <a:srgbClr val="FF0000"/>
                </a:solidFill>
              </a:rPr>
              <a:t>组</a:t>
            </a:r>
            <a:r>
              <a:rPr lang="zh-CN" altLang="en-US" sz="2400" dirty="0"/>
              <a:t>（</a:t>
            </a:r>
            <a:r>
              <a:rPr lang="en-US" altLang="zh-CN" sz="2400" dirty="0"/>
              <a:t>group</a:t>
            </a:r>
            <a:r>
              <a:rPr lang="zh-CN" altLang="en-US" sz="2400" dirty="0"/>
              <a:t>）权限 </a:t>
            </a:r>
          </a:p>
          <a:p>
            <a:pPr lvl="1"/>
            <a:r>
              <a:rPr lang="zh-CN" altLang="en-US" sz="2400" dirty="0"/>
              <a:t>如果都不匹配，就应用</a:t>
            </a:r>
            <a:r>
              <a:rPr lang="zh-CN" altLang="en-US" sz="2400" dirty="0">
                <a:solidFill>
                  <a:srgbClr val="FF0000"/>
                </a:solidFill>
              </a:rPr>
              <a:t>其它用户</a:t>
            </a:r>
            <a:r>
              <a:rPr lang="zh-CN" altLang="en-US" sz="2400" dirty="0"/>
              <a:t>（</a:t>
            </a:r>
            <a:r>
              <a:rPr lang="en-US" altLang="zh-CN" sz="2400" dirty="0"/>
              <a:t>other</a:t>
            </a:r>
            <a:r>
              <a:rPr lang="zh-CN" altLang="en-US" sz="2400" dirty="0"/>
              <a:t>）权限</a:t>
            </a:r>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查看文件</a:t>
            </a:r>
            <a:r>
              <a:rPr lang="en-US" altLang="zh-CN" dirty="0"/>
              <a:t>/</a:t>
            </a:r>
            <a:r>
              <a:rPr lang="zh-CN" altLang="en-US" dirty="0"/>
              <a:t>目录的权限</a:t>
            </a:r>
          </a:p>
        </p:txBody>
      </p:sp>
      <p:sp>
        <p:nvSpPr>
          <p:cNvPr id="3" name="内容占位符 2"/>
          <p:cNvSpPr>
            <a:spLocks noGrp="1"/>
          </p:cNvSpPr>
          <p:nvPr>
            <p:ph idx="1"/>
          </p:nvPr>
        </p:nvSpPr>
        <p:spPr>
          <a:xfrm>
            <a:off x="614898" y="1500355"/>
            <a:ext cx="8229600" cy="964703"/>
          </a:xfrm>
        </p:spPr>
        <p:txBody>
          <a:bodyPr/>
          <a:lstStyle/>
          <a:p>
            <a:r>
              <a:rPr lang="zh-CN" altLang="en-US" dirty="0"/>
              <a:t>通过给</a:t>
            </a:r>
            <a:r>
              <a:rPr lang="zh-CN" altLang="en-US" dirty="0">
                <a:solidFill>
                  <a:srgbClr val="FF0000"/>
                </a:solidFill>
              </a:rPr>
              <a:t>三类用户</a:t>
            </a:r>
            <a:r>
              <a:rPr lang="zh-CN" altLang="en-US" dirty="0"/>
              <a:t>分配</a:t>
            </a:r>
            <a:r>
              <a:rPr lang="zh-CN" altLang="en-US" dirty="0">
                <a:solidFill>
                  <a:srgbClr val="FF0000"/>
                </a:solidFill>
              </a:rPr>
              <a:t>三种基本权限</a:t>
            </a:r>
            <a:r>
              <a:rPr lang="zh-CN" altLang="en-US" dirty="0"/>
              <a:t>，就产生了文件或目录的</a:t>
            </a:r>
            <a:r>
              <a:rPr lang="en-US" altLang="zh-CN" dirty="0">
                <a:solidFill>
                  <a:srgbClr val="FF0000"/>
                </a:solidFill>
              </a:rPr>
              <a:t>9</a:t>
            </a:r>
            <a:r>
              <a:rPr lang="zh-CN" altLang="en-US" dirty="0">
                <a:solidFill>
                  <a:srgbClr val="FF0000"/>
                </a:solidFill>
              </a:rPr>
              <a:t>个基本权限位</a:t>
            </a:r>
          </a:p>
        </p:txBody>
      </p:sp>
      <p:sp>
        <p:nvSpPr>
          <p:cNvPr id="7" name="TextBox 6"/>
          <p:cNvSpPr txBox="1"/>
          <p:nvPr/>
        </p:nvSpPr>
        <p:spPr>
          <a:xfrm>
            <a:off x="574551" y="2530899"/>
            <a:ext cx="8380357" cy="2123658"/>
          </a:xfrm>
          <a:prstGeom prst="rect">
            <a:avLst/>
          </a:prstGeom>
          <a:noFill/>
        </p:spPr>
        <p:txBody>
          <a:bodyPr wrap="square" rtlCol="0">
            <a:spAutoFit/>
          </a:bodyPr>
          <a:lstStyle/>
          <a:p>
            <a:r>
              <a:rPr lang="en-US" altLang="zh-CN" sz="2200" dirty="0">
                <a:latin typeface="Microsoft Sans Serif" pitchFamily="34" charset="0"/>
                <a:cs typeface="Microsoft Sans Serif" pitchFamily="34" charset="0"/>
              </a:rPr>
              <a:t>[osmond@soho ~]$ ls  -l</a:t>
            </a:r>
          </a:p>
          <a:p>
            <a:r>
              <a:rPr lang="zh-CN" altLang="en-US" sz="2200" dirty="0">
                <a:latin typeface="Microsoft Sans Serif" pitchFamily="34" charset="0"/>
                <a:cs typeface="Microsoft Sans Serif" pitchFamily="34" charset="0"/>
              </a:rPr>
              <a:t>总计 </a:t>
            </a:r>
            <a:r>
              <a:rPr lang="en-US" altLang="zh-CN" sz="2200" dirty="0">
                <a:latin typeface="Microsoft Sans Serif" pitchFamily="34" charset="0"/>
                <a:cs typeface="Microsoft Sans Serif" pitchFamily="34" charset="0"/>
              </a:rPr>
              <a:t>12</a:t>
            </a:r>
          </a:p>
          <a:p>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rw</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rw</a:t>
            </a:r>
            <a:r>
              <a:rPr lang="en-US" altLang="zh-CN" sz="2200" dirty="0">
                <a:latin typeface="Microsoft Sans Serif" pitchFamily="34" charset="0"/>
                <a:cs typeface="Microsoft Sans Serif" pitchFamily="34" charset="0"/>
              </a:rPr>
              <a:t>-r--    1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family           0 06-16 20:43   </a:t>
            </a:r>
            <a:r>
              <a:rPr lang="en-US" altLang="zh-CN" sz="2200" dirty="0" err="1">
                <a:latin typeface="Microsoft Sans Serif" pitchFamily="34" charset="0"/>
                <a:cs typeface="Microsoft Sans Serif" pitchFamily="34" charset="0"/>
              </a:rPr>
              <a:t>abc</a:t>
            </a:r>
            <a:endParaRPr lang="en-US" altLang="zh-CN" sz="2200" dirty="0">
              <a:latin typeface="Microsoft Sans Serif" pitchFamily="34" charset="0"/>
              <a:cs typeface="Microsoft Sans Serif" pitchFamily="34" charset="0"/>
            </a:endParaRPr>
          </a:p>
          <a:p>
            <a:r>
              <a:rPr lang="en-US" altLang="zh-CN" sz="2200" dirty="0" err="1">
                <a:latin typeface="Microsoft Sans Serif" pitchFamily="34" charset="0"/>
                <a:cs typeface="Microsoft Sans Serif" pitchFamily="34" charset="0"/>
              </a:rPr>
              <a:t>drwxr</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xr</a:t>
            </a:r>
            <a:r>
              <a:rPr lang="en-US" altLang="zh-CN" sz="2200" dirty="0">
                <a:latin typeface="Microsoft Sans Serif" pitchFamily="34" charset="0"/>
                <a:cs typeface="Microsoft Sans Serif" pitchFamily="34" charset="0"/>
              </a:rPr>
              <a:t>-x   2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family    4096  06-16 20:43   docs</a:t>
            </a:r>
          </a:p>
          <a:p>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rw</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rw</a:t>
            </a:r>
            <a:r>
              <a:rPr lang="en-US" altLang="zh-CN" sz="2200" dirty="0">
                <a:latin typeface="Microsoft Sans Serif" pitchFamily="34" charset="0"/>
                <a:cs typeface="Microsoft Sans Serif" pitchFamily="34" charset="0"/>
              </a:rPr>
              <a:t>-r--    1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1155  06-16 20:44   mylist.txt</a:t>
            </a:r>
          </a:p>
          <a:p>
            <a:r>
              <a:rPr lang="en-US" altLang="zh-CN" sz="2200" dirty="0" err="1">
                <a:latin typeface="Microsoft Sans Serif" pitchFamily="34" charset="0"/>
                <a:cs typeface="Microsoft Sans Serif" pitchFamily="34" charset="0"/>
              </a:rPr>
              <a:t>drwxr</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xr</a:t>
            </a:r>
            <a:r>
              <a:rPr lang="en-US" altLang="zh-CN" sz="2200" dirty="0">
                <a:latin typeface="Microsoft Sans Serif" pitchFamily="34" charset="0"/>
                <a:cs typeface="Microsoft Sans Serif" pitchFamily="34" charset="0"/>
              </a:rPr>
              <a:t>-x   3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4096  05-16 13:32   </a:t>
            </a:r>
            <a:r>
              <a:rPr lang="en-US" altLang="zh-CN" sz="2200" dirty="0" err="1">
                <a:latin typeface="Microsoft Sans Serif" pitchFamily="34" charset="0"/>
                <a:cs typeface="Microsoft Sans Serif" pitchFamily="34" charset="0"/>
              </a:rPr>
              <a:t>nobp</a:t>
            </a:r>
            <a:endParaRPr lang="zh-CN" altLang="en-US" sz="2200" dirty="0">
              <a:latin typeface="Microsoft Sans Serif" pitchFamily="34" charset="0"/>
              <a:cs typeface="Microsoft Sans Serif" pitchFamily="34" charset="0"/>
            </a:endParaRPr>
          </a:p>
        </p:txBody>
      </p:sp>
      <p:sp>
        <p:nvSpPr>
          <p:cNvPr id="8" name="Text Box 5"/>
          <p:cNvSpPr txBox="1">
            <a:spLocks noChangeArrowheads="1"/>
          </p:cNvSpPr>
          <p:nvPr/>
        </p:nvSpPr>
        <p:spPr bwMode="auto">
          <a:xfrm>
            <a:off x="551631" y="4959848"/>
            <a:ext cx="457200" cy="13112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文件类型</a:t>
            </a:r>
          </a:p>
        </p:txBody>
      </p:sp>
      <p:sp>
        <p:nvSpPr>
          <p:cNvPr id="9" name="Text Box 6"/>
          <p:cNvSpPr txBox="1">
            <a:spLocks noChangeArrowheads="1"/>
          </p:cNvSpPr>
          <p:nvPr/>
        </p:nvSpPr>
        <p:spPr bwMode="auto">
          <a:xfrm>
            <a:off x="1237431" y="4959848"/>
            <a:ext cx="533400" cy="13112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文件权限</a:t>
            </a:r>
          </a:p>
        </p:txBody>
      </p:sp>
      <p:sp>
        <p:nvSpPr>
          <p:cNvPr id="10" name="Text Box 7"/>
          <p:cNvSpPr txBox="1">
            <a:spLocks noChangeArrowheads="1"/>
          </p:cNvSpPr>
          <p:nvPr/>
        </p:nvSpPr>
        <p:spPr bwMode="auto">
          <a:xfrm>
            <a:off x="1870695" y="5036048"/>
            <a:ext cx="1008112" cy="1631216"/>
          </a:xfrm>
          <a:prstGeom prst="rect">
            <a:avLst/>
          </a:prstGeom>
          <a:noFill/>
          <a:ln w="9525">
            <a:noFill/>
            <a:miter lim="800000"/>
            <a:headEnd/>
            <a:tailEnd/>
          </a:ln>
          <a:effectLst/>
        </p:spPr>
        <p:txBody>
          <a:bodyPr wrap="square">
            <a:spAutoFit/>
          </a:bodyPr>
          <a:lstStyle/>
          <a:p>
            <a:pPr>
              <a:spcBef>
                <a:spcPct val="50000"/>
              </a:spcBef>
            </a:pPr>
            <a:r>
              <a:rPr lang="zh-CN" altLang="en-US" sz="2000" dirty="0">
                <a:solidFill>
                  <a:srgbClr val="002060"/>
                </a:solidFill>
                <a:latin typeface="宋体" pitchFamily="2" charset="-122"/>
              </a:rPr>
              <a:t>硬链接数或目录包含的文件数</a:t>
            </a:r>
          </a:p>
        </p:txBody>
      </p:sp>
      <p:sp>
        <p:nvSpPr>
          <p:cNvPr id="11" name="Text Box 8"/>
          <p:cNvSpPr txBox="1">
            <a:spLocks noChangeArrowheads="1"/>
          </p:cNvSpPr>
          <p:nvPr/>
        </p:nvSpPr>
        <p:spPr bwMode="auto">
          <a:xfrm>
            <a:off x="2837631" y="5036048"/>
            <a:ext cx="761256" cy="1006475"/>
          </a:xfrm>
          <a:prstGeom prst="rect">
            <a:avLst/>
          </a:prstGeom>
          <a:noFill/>
          <a:ln w="9525">
            <a:noFill/>
            <a:miter lim="800000"/>
            <a:headEnd/>
            <a:tailEnd/>
          </a:ln>
          <a:effectLst/>
        </p:spPr>
        <p:txBody>
          <a:bodyPr wrap="square">
            <a:spAutoFit/>
          </a:bodyPr>
          <a:lstStyle/>
          <a:p>
            <a:pPr>
              <a:spcBef>
                <a:spcPct val="50000"/>
              </a:spcBef>
            </a:pPr>
            <a:r>
              <a:rPr lang="zh-CN" altLang="en-US" sz="2000" dirty="0">
                <a:solidFill>
                  <a:srgbClr val="002060"/>
                </a:solidFill>
                <a:latin typeface="宋体" pitchFamily="2" charset="-122"/>
              </a:rPr>
              <a:t>文件所有者</a:t>
            </a:r>
          </a:p>
        </p:txBody>
      </p:sp>
      <p:sp>
        <p:nvSpPr>
          <p:cNvPr id="12" name="Text Box 9"/>
          <p:cNvSpPr txBox="1">
            <a:spLocks noChangeArrowheads="1"/>
          </p:cNvSpPr>
          <p:nvPr/>
        </p:nvSpPr>
        <p:spPr bwMode="auto">
          <a:xfrm>
            <a:off x="3675831" y="5036048"/>
            <a:ext cx="990600" cy="13112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文件所有者所在的用户组</a:t>
            </a:r>
          </a:p>
        </p:txBody>
      </p:sp>
      <p:sp>
        <p:nvSpPr>
          <p:cNvPr id="13" name="Text Box 10"/>
          <p:cNvSpPr txBox="1">
            <a:spLocks noChangeArrowheads="1"/>
          </p:cNvSpPr>
          <p:nvPr/>
        </p:nvSpPr>
        <p:spPr bwMode="auto">
          <a:xfrm>
            <a:off x="5199831" y="5036048"/>
            <a:ext cx="533400" cy="13112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文件长度</a:t>
            </a:r>
          </a:p>
        </p:txBody>
      </p:sp>
      <p:sp>
        <p:nvSpPr>
          <p:cNvPr id="14" name="Text Box 11"/>
          <p:cNvSpPr txBox="1">
            <a:spLocks noChangeArrowheads="1"/>
          </p:cNvSpPr>
          <p:nvPr/>
        </p:nvSpPr>
        <p:spPr bwMode="auto">
          <a:xfrm>
            <a:off x="6114231" y="5036048"/>
            <a:ext cx="1219200" cy="1006475"/>
          </a:xfrm>
          <a:prstGeom prst="rect">
            <a:avLst/>
          </a:prstGeom>
          <a:noFill/>
          <a:ln w="9525">
            <a:noFill/>
            <a:miter lim="800000"/>
            <a:headEnd/>
            <a:tailEnd/>
          </a:ln>
          <a:effectLst/>
        </p:spPr>
        <p:txBody>
          <a:bodyPr>
            <a:spAutoFit/>
          </a:bodyPr>
          <a:lstStyle/>
          <a:p>
            <a:pPr>
              <a:spcBef>
                <a:spcPct val="50000"/>
              </a:spcBef>
            </a:pPr>
            <a:r>
              <a:rPr lang="zh-CN" altLang="en-US" sz="2000" dirty="0">
                <a:solidFill>
                  <a:srgbClr val="002060"/>
                </a:solidFill>
                <a:latin typeface="宋体" pitchFamily="2" charset="-122"/>
              </a:rPr>
              <a:t>文件上次修改的时间和日期</a:t>
            </a:r>
          </a:p>
        </p:txBody>
      </p:sp>
      <p:sp>
        <p:nvSpPr>
          <p:cNvPr id="15" name="Text Box 12"/>
          <p:cNvSpPr txBox="1">
            <a:spLocks noChangeArrowheads="1"/>
          </p:cNvSpPr>
          <p:nvPr/>
        </p:nvSpPr>
        <p:spPr bwMode="auto">
          <a:xfrm>
            <a:off x="7866831" y="4959848"/>
            <a:ext cx="1060648" cy="396875"/>
          </a:xfrm>
          <a:prstGeom prst="rect">
            <a:avLst/>
          </a:prstGeom>
          <a:noFill/>
          <a:ln w="9525">
            <a:noFill/>
            <a:miter lim="800000"/>
            <a:headEnd/>
            <a:tailEnd/>
          </a:ln>
          <a:effectLst/>
        </p:spPr>
        <p:txBody>
          <a:bodyPr wrap="square">
            <a:spAutoFit/>
          </a:bodyPr>
          <a:lstStyle/>
          <a:p>
            <a:pPr>
              <a:spcBef>
                <a:spcPct val="50000"/>
              </a:spcBef>
            </a:pPr>
            <a:r>
              <a:rPr lang="zh-CN" altLang="en-US" sz="2000" dirty="0">
                <a:solidFill>
                  <a:srgbClr val="002060"/>
                </a:solidFill>
                <a:latin typeface="宋体" pitchFamily="2" charset="-122"/>
              </a:rPr>
              <a:t>文件名</a:t>
            </a:r>
          </a:p>
        </p:txBody>
      </p:sp>
      <p:sp>
        <p:nvSpPr>
          <p:cNvPr id="16" name="Line 13"/>
          <p:cNvSpPr>
            <a:spLocks noChangeShapeType="1"/>
          </p:cNvSpPr>
          <p:nvPr/>
        </p:nvSpPr>
        <p:spPr bwMode="auto">
          <a:xfrm>
            <a:off x="646559" y="4619132"/>
            <a:ext cx="57472" cy="416916"/>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17" name="Line 14"/>
          <p:cNvSpPr>
            <a:spLocks noChangeShapeType="1"/>
          </p:cNvSpPr>
          <p:nvPr/>
        </p:nvSpPr>
        <p:spPr bwMode="auto">
          <a:xfrm flipV="1">
            <a:off x="798959" y="4619129"/>
            <a:ext cx="1143744" cy="1"/>
          </a:xfrm>
          <a:prstGeom prst="line">
            <a:avLst/>
          </a:prstGeom>
          <a:noFill/>
          <a:ln w="57150">
            <a:solidFill>
              <a:schemeClr val="folHlink"/>
            </a:solidFill>
            <a:miter lim="800000"/>
            <a:headEnd/>
            <a:tailEnd/>
          </a:ln>
          <a:effectLst/>
        </p:spPr>
        <p:txBody>
          <a:bodyPr wrap="none"/>
          <a:lstStyle/>
          <a:p>
            <a:endParaRPr lang="zh-CN" altLang="en-US"/>
          </a:p>
        </p:txBody>
      </p:sp>
      <p:sp>
        <p:nvSpPr>
          <p:cNvPr id="18" name="Line 15"/>
          <p:cNvSpPr>
            <a:spLocks noChangeShapeType="1"/>
          </p:cNvSpPr>
          <p:nvPr/>
        </p:nvSpPr>
        <p:spPr bwMode="auto">
          <a:xfrm>
            <a:off x="5687119" y="4655048"/>
            <a:ext cx="1524000" cy="0"/>
          </a:xfrm>
          <a:prstGeom prst="line">
            <a:avLst/>
          </a:prstGeom>
          <a:noFill/>
          <a:ln w="57150">
            <a:solidFill>
              <a:schemeClr val="folHlink"/>
            </a:solidFill>
            <a:miter lim="800000"/>
            <a:headEnd/>
            <a:tailEnd/>
          </a:ln>
          <a:effectLst/>
        </p:spPr>
        <p:txBody>
          <a:bodyPr wrap="none"/>
          <a:lstStyle/>
          <a:p>
            <a:endParaRPr lang="zh-CN" altLang="en-US"/>
          </a:p>
        </p:txBody>
      </p:sp>
      <p:sp>
        <p:nvSpPr>
          <p:cNvPr id="19" name="Line 16"/>
          <p:cNvSpPr>
            <a:spLocks noChangeShapeType="1"/>
          </p:cNvSpPr>
          <p:nvPr/>
        </p:nvSpPr>
        <p:spPr bwMode="auto">
          <a:xfrm>
            <a:off x="1313631" y="4655048"/>
            <a:ext cx="76200" cy="381000"/>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0" name="Line 17"/>
          <p:cNvSpPr>
            <a:spLocks noChangeShapeType="1"/>
          </p:cNvSpPr>
          <p:nvPr/>
        </p:nvSpPr>
        <p:spPr bwMode="auto">
          <a:xfrm>
            <a:off x="2230735" y="4619131"/>
            <a:ext cx="149696" cy="416917"/>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1" name="Line 18"/>
          <p:cNvSpPr>
            <a:spLocks noChangeShapeType="1"/>
          </p:cNvSpPr>
          <p:nvPr/>
        </p:nvSpPr>
        <p:spPr bwMode="auto">
          <a:xfrm>
            <a:off x="2837631" y="4578848"/>
            <a:ext cx="304800" cy="457200"/>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2" name="Line 19"/>
          <p:cNvSpPr>
            <a:spLocks noChangeShapeType="1"/>
          </p:cNvSpPr>
          <p:nvPr/>
        </p:nvSpPr>
        <p:spPr bwMode="auto">
          <a:xfrm>
            <a:off x="4102943" y="4619131"/>
            <a:ext cx="30088" cy="416917"/>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3" name="Line 20"/>
          <p:cNvSpPr>
            <a:spLocks noChangeShapeType="1"/>
          </p:cNvSpPr>
          <p:nvPr/>
        </p:nvSpPr>
        <p:spPr bwMode="auto">
          <a:xfrm>
            <a:off x="5399087" y="4619132"/>
            <a:ext cx="29344" cy="416916"/>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4" name="Line 21"/>
          <p:cNvSpPr>
            <a:spLocks noChangeShapeType="1"/>
          </p:cNvSpPr>
          <p:nvPr/>
        </p:nvSpPr>
        <p:spPr bwMode="auto">
          <a:xfrm>
            <a:off x="6571431" y="4731248"/>
            <a:ext cx="0" cy="381000"/>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5" name="Line 22"/>
          <p:cNvSpPr>
            <a:spLocks noChangeShapeType="1"/>
          </p:cNvSpPr>
          <p:nvPr/>
        </p:nvSpPr>
        <p:spPr bwMode="auto">
          <a:xfrm>
            <a:off x="7866831" y="4578848"/>
            <a:ext cx="304800" cy="381000"/>
          </a:xfrm>
          <a:prstGeom prst="line">
            <a:avLst/>
          </a:prstGeom>
          <a:noFill/>
          <a:ln w="38100">
            <a:solidFill>
              <a:srgbClr val="FF3300"/>
            </a:solidFill>
            <a:miter lim="800000"/>
            <a:headEnd/>
            <a:tailEnd type="triangle" w="med" len="med"/>
          </a:ln>
          <a:effectLst/>
        </p:spPr>
        <p:txBody>
          <a:bodyPr wrap="none"/>
          <a:lstStyle/>
          <a:p>
            <a:endParaRPr lang="zh-CN" altLang="en-US"/>
          </a:p>
        </p:txBody>
      </p:sp>
      <p:sp>
        <p:nvSpPr>
          <p:cNvPr id="26" name="Text Box 12"/>
          <p:cNvSpPr txBox="1">
            <a:spLocks noChangeArrowheads="1"/>
          </p:cNvSpPr>
          <p:nvPr/>
        </p:nvSpPr>
        <p:spPr bwMode="auto">
          <a:xfrm>
            <a:off x="6794668" y="6116490"/>
            <a:ext cx="2160240" cy="461665"/>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ct val="120000"/>
              </a:lnSpc>
              <a:buClr>
                <a:srgbClr val="FF3300"/>
              </a:buClr>
              <a:buFont typeface="Wingdings" pitchFamily="2" charset="2"/>
              <a:buNone/>
            </a:pPr>
            <a:r>
              <a:rPr lang="en-US" altLang="zh-CN" sz="2000" dirty="0">
                <a:solidFill>
                  <a:schemeClr val="tx1"/>
                </a:solidFill>
                <a:latin typeface="Courier New" pitchFamily="49" charset="0"/>
                <a:ea typeface="黑体" pitchFamily="49" charset="-122"/>
              </a:rPr>
              <a:t>-</a:t>
            </a:r>
            <a:r>
              <a:rPr lang="zh-CN" altLang="en-US" sz="2000" dirty="0">
                <a:solidFill>
                  <a:schemeClr val="tx1"/>
                </a:solidFill>
                <a:latin typeface="Courier New" pitchFamily="49" charset="0"/>
                <a:ea typeface="黑体" pitchFamily="49" charset="-122"/>
              </a:rPr>
              <a:t> 表示无权限</a:t>
            </a:r>
            <a:endParaRPr lang="en-US" altLang="zh-CN" sz="2000" dirty="0">
              <a:solidFill>
                <a:schemeClr val="tx1"/>
              </a:solidFill>
              <a:latin typeface="Courier New" pitchFamily="49" charset="0"/>
              <a:ea typeface="黑体"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up)">
                                      <p:cBhvr>
                                        <p:cTn id="7" dur="500"/>
                                        <p:tgtEl>
                                          <p:spTgt spid="16"/>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5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up)">
                                      <p:cBhvr>
                                        <p:cTn id="16" dur="500"/>
                                        <p:tgtEl>
                                          <p:spTgt spid="17"/>
                                        </p:tgtEl>
                                      </p:cBhvr>
                                    </p:animEffect>
                                  </p:childTnLst>
                                </p:cTn>
                              </p:par>
                            </p:childTnLst>
                          </p:cTn>
                        </p:par>
                        <p:par>
                          <p:cTn id="17" fill="hold">
                            <p:stCondLst>
                              <p:cond delay="500"/>
                            </p:stCondLst>
                            <p:childTnLst>
                              <p:par>
                                <p:cTn id="18" presetID="22" presetClass="entr" presetSubtype="1" fill="hold" grpId="0" nodeType="after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wipe(up)">
                                      <p:cBhvr>
                                        <p:cTn id="20" dur="500"/>
                                        <p:tgtEl>
                                          <p:spTgt spid="19"/>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up)">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wipe(up)">
                                      <p:cBhvr>
                                        <p:cTn id="29" dur="500"/>
                                        <p:tgtEl>
                                          <p:spTgt spid="20"/>
                                        </p:tgtEl>
                                      </p:cBhvr>
                                    </p:animEffect>
                                  </p:childTnLst>
                                </p:cTn>
                              </p:par>
                            </p:childTnLst>
                          </p:cTn>
                        </p:par>
                        <p:par>
                          <p:cTn id="30" fill="hold">
                            <p:stCondLst>
                              <p:cond delay="500"/>
                            </p:stCondLst>
                            <p:childTnLst>
                              <p:par>
                                <p:cTn id="31" presetID="22" presetClass="entr" presetSubtype="1" fill="hold" grpId="0" nodeType="after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up)">
                                      <p:cBhvr>
                                        <p:cTn id="33" dur="50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1"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wipe(up)">
                                      <p:cBhvr>
                                        <p:cTn id="38" dur="500"/>
                                        <p:tgtEl>
                                          <p:spTgt spid="21"/>
                                        </p:tgtEl>
                                      </p:cBhvr>
                                    </p:animEffect>
                                  </p:childTnLst>
                                </p:cTn>
                              </p:par>
                            </p:childTnLst>
                          </p:cTn>
                        </p:par>
                        <p:par>
                          <p:cTn id="39" fill="hold">
                            <p:stCondLst>
                              <p:cond delay="500"/>
                            </p:stCondLst>
                            <p:childTnLst>
                              <p:par>
                                <p:cTn id="40" presetID="22" presetClass="entr" presetSubtype="1" fill="hold" grpId="0" nodeType="after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wipe(up)">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wipe(up)">
                                      <p:cBhvr>
                                        <p:cTn id="47" dur="500"/>
                                        <p:tgtEl>
                                          <p:spTgt spid="22"/>
                                        </p:tgtEl>
                                      </p:cBhvr>
                                    </p:animEffect>
                                  </p:childTnLst>
                                </p:cTn>
                              </p:par>
                            </p:childTnLst>
                          </p:cTn>
                        </p:par>
                        <p:par>
                          <p:cTn id="48" fill="hold">
                            <p:stCondLst>
                              <p:cond delay="500"/>
                            </p:stCondLst>
                            <p:childTnLst>
                              <p:par>
                                <p:cTn id="49" presetID="22" presetClass="entr" presetSubtype="1" fill="hold" grpId="0" nodeType="after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wipe(up)">
                                      <p:cBhvr>
                                        <p:cTn id="51" dur="500"/>
                                        <p:tgtEl>
                                          <p:spTgt spid="12"/>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grpId="0" nodeType="clickEffect">
                                  <p:stCondLst>
                                    <p:cond delay="0"/>
                                  </p:stCondLst>
                                  <p:childTnLst>
                                    <p:set>
                                      <p:cBhvr>
                                        <p:cTn id="55" dur="1" fill="hold">
                                          <p:stCondLst>
                                            <p:cond delay="0"/>
                                          </p:stCondLst>
                                        </p:cTn>
                                        <p:tgtEl>
                                          <p:spTgt spid="23"/>
                                        </p:tgtEl>
                                        <p:attrNameLst>
                                          <p:attrName>style.visibility</p:attrName>
                                        </p:attrNameLst>
                                      </p:cBhvr>
                                      <p:to>
                                        <p:strVal val="visible"/>
                                      </p:to>
                                    </p:set>
                                    <p:animEffect transition="in" filter="wipe(up)">
                                      <p:cBhvr>
                                        <p:cTn id="56" dur="500"/>
                                        <p:tgtEl>
                                          <p:spTgt spid="23"/>
                                        </p:tgtEl>
                                      </p:cBhvr>
                                    </p:animEffect>
                                  </p:childTnLst>
                                </p:cTn>
                              </p:par>
                            </p:childTnLst>
                          </p:cTn>
                        </p:par>
                        <p:par>
                          <p:cTn id="57" fill="hold">
                            <p:stCondLst>
                              <p:cond delay="500"/>
                            </p:stCondLst>
                            <p:childTnLst>
                              <p:par>
                                <p:cTn id="58" presetID="22" presetClass="entr" presetSubtype="1" fill="hold" grpId="0" nodeType="after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wipe(up)">
                                      <p:cBhvr>
                                        <p:cTn id="60" dur="500"/>
                                        <p:tgtEl>
                                          <p:spTgt spid="1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1" fill="hold" grpId="0" nodeType="click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wipe(up)">
                                      <p:cBhvr>
                                        <p:cTn id="65" dur="500"/>
                                        <p:tgtEl>
                                          <p:spTgt spid="18"/>
                                        </p:tgtEl>
                                      </p:cBhvr>
                                    </p:animEffect>
                                  </p:childTnLst>
                                </p:cTn>
                              </p:par>
                            </p:childTnLst>
                          </p:cTn>
                        </p:par>
                        <p:par>
                          <p:cTn id="66" fill="hold">
                            <p:stCondLst>
                              <p:cond delay="500"/>
                            </p:stCondLst>
                            <p:childTnLst>
                              <p:par>
                                <p:cTn id="67" presetID="22" presetClass="entr" presetSubtype="1"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up)">
                                      <p:cBhvr>
                                        <p:cTn id="69" dur="500"/>
                                        <p:tgtEl>
                                          <p:spTgt spid="24"/>
                                        </p:tgtEl>
                                      </p:cBhvr>
                                    </p:animEffect>
                                  </p:childTnLst>
                                </p:cTn>
                              </p:par>
                            </p:childTnLst>
                          </p:cTn>
                        </p:par>
                        <p:par>
                          <p:cTn id="70" fill="hold">
                            <p:stCondLst>
                              <p:cond delay="1000"/>
                            </p:stCondLst>
                            <p:childTnLst>
                              <p:par>
                                <p:cTn id="71" presetID="22" presetClass="entr" presetSubtype="1" fill="hold" grpId="0" nodeType="afterEffect">
                                  <p:stCondLst>
                                    <p:cond delay="0"/>
                                  </p:stCondLst>
                                  <p:childTnLst>
                                    <p:set>
                                      <p:cBhvr>
                                        <p:cTn id="72" dur="1" fill="hold">
                                          <p:stCondLst>
                                            <p:cond delay="0"/>
                                          </p:stCondLst>
                                        </p:cTn>
                                        <p:tgtEl>
                                          <p:spTgt spid="14"/>
                                        </p:tgtEl>
                                        <p:attrNameLst>
                                          <p:attrName>style.visibility</p:attrName>
                                        </p:attrNameLst>
                                      </p:cBhvr>
                                      <p:to>
                                        <p:strVal val="visible"/>
                                      </p:to>
                                    </p:set>
                                    <p:animEffect transition="in" filter="wipe(up)">
                                      <p:cBhvr>
                                        <p:cTn id="73" dur="500"/>
                                        <p:tgtEl>
                                          <p:spTgt spid="14"/>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grpId="0" nodeType="click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wipe(up)">
                                      <p:cBhvr>
                                        <p:cTn id="78" dur="500"/>
                                        <p:tgtEl>
                                          <p:spTgt spid="25"/>
                                        </p:tgtEl>
                                      </p:cBhvr>
                                    </p:animEffect>
                                  </p:childTnLst>
                                </p:cTn>
                              </p:par>
                            </p:childTnLst>
                          </p:cTn>
                        </p:par>
                        <p:par>
                          <p:cTn id="79" fill="hold">
                            <p:stCondLst>
                              <p:cond delay="500"/>
                            </p:stCondLst>
                            <p:childTnLst>
                              <p:par>
                                <p:cTn id="80" presetID="22" presetClass="entr" presetSubtype="1" fill="hold" grpId="0" nodeType="afterEffect">
                                  <p:stCondLst>
                                    <p:cond delay="0"/>
                                  </p:stCondLst>
                                  <p:childTnLst>
                                    <p:set>
                                      <p:cBhvr>
                                        <p:cTn id="81" dur="1" fill="hold">
                                          <p:stCondLst>
                                            <p:cond delay="0"/>
                                          </p:stCondLst>
                                        </p:cTn>
                                        <p:tgtEl>
                                          <p:spTgt spid="15"/>
                                        </p:tgtEl>
                                        <p:attrNameLst>
                                          <p:attrName>style.visibility</p:attrName>
                                        </p:attrNameLst>
                                      </p:cBhvr>
                                      <p:to>
                                        <p:strVal val="visible"/>
                                      </p:to>
                                    </p:set>
                                    <p:animEffect transition="in" filter="wipe(up)">
                                      <p:cBhvr>
                                        <p:cTn id="82" dur="500"/>
                                        <p:tgtEl>
                                          <p:spTgt spid="15"/>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ntr" presetSubtype="1" fill="hold" grpId="0" nodeType="click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wipe(up)">
                                      <p:cBhvr>
                                        <p:cTn id="8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utoUpdateAnimBg="0"/>
      <p:bldP spid="9" grpId="0" autoUpdateAnimBg="0"/>
      <p:bldP spid="10" grpId="0" autoUpdateAnimBg="0"/>
      <p:bldP spid="11" grpId="0" autoUpdateAnimBg="0"/>
      <p:bldP spid="12" grpId="0" autoUpdateAnimBg="0"/>
      <p:bldP spid="13" grpId="0" autoUpdateAnimBg="0"/>
      <p:bldP spid="14" grpId="0" autoUpdateAnimBg="0"/>
      <p:bldP spid="15" grpId="0" autoUpdateAnimBg="0"/>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autoUpdateAnimBg="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文件</a:t>
            </a:r>
            <a:r>
              <a:rPr lang="en-US" altLang="zh-CN" dirty="0"/>
              <a:t>/</a:t>
            </a:r>
            <a:r>
              <a:rPr lang="zh-CN" altLang="en-US" dirty="0"/>
              <a:t>目录的权限</a:t>
            </a:r>
          </a:p>
        </p:txBody>
      </p:sp>
      <p:sp>
        <p:nvSpPr>
          <p:cNvPr id="7" name="TextBox 6"/>
          <p:cNvSpPr txBox="1"/>
          <p:nvPr/>
        </p:nvSpPr>
        <p:spPr>
          <a:xfrm>
            <a:off x="575048" y="1562016"/>
            <a:ext cx="8173416" cy="769441"/>
          </a:xfrm>
          <a:prstGeom prst="rect">
            <a:avLst/>
          </a:prstGeom>
          <a:noFill/>
        </p:spPr>
        <p:txBody>
          <a:bodyPr wrap="square" rtlCol="0">
            <a:spAutoFit/>
          </a:bodyPr>
          <a:lstStyle/>
          <a:p>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osmond@soho</a:t>
            </a:r>
            <a:r>
              <a:rPr lang="en-US" altLang="zh-CN" sz="2200" dirty="0">
                <a:latin typeface="Microsoft Sans Serif" pitchFamily="34" charset="0"/>
                <a:cs typeface="Microsoft Sans Serif" pitchFamily="34" charset="0"/>
              </a:rPr>
              <a:t> ~]$ </a:t>
            </a:r>
            <a:r>
              <a:rPr lang="en-US" altLang="zh-CN" sz="2200" dirty="0" err="1">
                <a:latin typeface="Microsoft Sans Serif" pitchFamily="34" charset="0"/>
                <a:cs typeface="Microsoft Sans Serif" pitchFamily="34" charset="0"/>
              </a:rPr>
              <a:t>ls</a:t>
            </a:r>
            <a:r>
              <a:rPr lang="en-US" altLang="zh-CN" sz="2200" dirty="0">
                <a:latin typeface="Microsoft Sans Serif" pitchFamily="34" charset="0"/>
                <a:cs typeface="Microsoft Sans Serif" pitchFamily="34" charset="0"/>
              </a:rPr>
              <a:t>  -l  docs</a:t>
            </a:r>
          </a:p>
          <a:p>
            <a:r>
              <a:rPr lang="en-US" altLang="zh-CN" sz="2200" dirty="0" err="1">
                <a:latin typeface="Microsoft Sans Serif" pitchFamily="34" charset="0"/>
                <a:cs typeface="Microsoft Sans Serif" pitchFamily="34" charset="0"/>
              </a:rPr>
              <a:t>drwxr</a:t>
            </a:r>
            <a:r>
              <a:rPr lang="en-US" altLang="zh-CN" sz="2200" dirty="0">
                <a:latin typeface="Microsoft Sans Serif" pitchFamily="34" charset="0"/>
                <a:cs typeface="Microsoft Sans Serif" pitchFamily="34" charset="0"/>
              </a:rPr>
              <a:t>-</a:t>
            </a:r>
            <a:r>
              <a:rPr lang="en-US" altLang="zh-CN" sz="2200" dirty="0" err="1">
                <a:latin typeface="Microsoft Sans Serif" pitchFamily="34" charset="0"/>
                <a:cs typeface="Microsoft Sans Serif" pitchFamily="34" charset="0"/>
              </a:rPr>
              <a:t>xr</a:t>
            </a:r>
            <a:r>
              <a:rPr lang="en-US" altLang="zh-CN" sz="2200" dirty="0">
                <a:latin typeface="Microsoft Sans Serif" pitchFamily="34" charset="0"/>
                <a:cs typeface="Microsoft Sans Serif" pitchFamily="34" charset="0"/>
              </a:rPr>
              <a:t>-x   2  </a:t>
            </a:r>
            <a:r>
              <a:rPr lang="en-US" altLang="zh-CN" sz="2200" dirty="0" err="1">
                <a:latin typeface="Microsoft Sans Serif" pitchFamily="34" charset="0"/>
                <a:cs typeface="Microsoft Sans Serif" pitchFamily="34" charset="0"/>
              </a:rPr>
              <a:t>osmond</a:t>
            </a:r>
            <a:r>
              <a:rPr lang="en-US" altLang="zh-CN" sz="2200" dirty="0">
                <a:latin typeface="Microsoft Sans Serif" pitchFamily="34" charset="0"/>
                <a:cs typeface="Microsoft Sans Serif" pitchFamily="34" charset="0"/>
              </a:rPr>
              <a:t>      family    4096  06-16 20:43   docs</a:t>
            </a:r>
          </a:p>
        </p:txBody>
      </p:sp>
      <p:sp>
        <p:nvSpPr>
          <p:cNvPr id="9" name="Text Box 3"/>
          <p:cNvSpPr txBox="1">
            <a:spLocks noChangeArrowheads="1"/>
          </p:cNvSpPr>
          <p:nvPr/>
        </p:nvSpPr>
        <p:spPr bwMode="auto">
          <a:xfrm>
            <a:off x="611560" y="4370328"/>
            <a:ext cx="8208912" cy="1938992"/>
          </a:xfrm>
          <a:prstGeom prst="rect">
            <a:avLst/>
          </a:prstGeom>
          <a:noFill/>
          <a:ln w="9525">
            <a:solidFill>
              <a:srgbClr val="993300"/>
            </a:solidFill>
            <a:miter lim="800000"/>
            <a:headEnd/>
            <a:tailEnd/>
          </a:ln>
          <a:effectLst/>
        </p:spPr>
        <p:txBody>
          <a:bodyPr wrap="square">
            <a:spAutoFit/>
          </a:bodyPr>
          <a:lstStyle/>
          <a:p>
            <a:pPr>
              <a:lnSpc>
                <a:spcPct val="120000"/>
              </a:lnSpc>
              <a:buClr>
                <a:srgbClr val="FF3300"/>
              </a:buClr>
              <a:buFont typeface="Wingdings" pitchFamily="2" charset="2"/>
              <a:buChar char="n"/>
            </a:pPr>
            <a:r>
              <a:rPr lang="zh-CN" altLang="en-US" sz="2000" b="0" dirty="0">
                <a:solidFill>
                  <a:schemeClr val="tx1"/>
                </a:solidFill>
                <a:ea typeface="黑体" pitchFamily="49" charset="-122"/>
              </a:rPr>
              <a:t> 在显示的结果中，第一个字段的第</a:t>
            </a:r>
            <a:r>
              <a:rPr lang="zh-CN" altLang="en-US" sz="2000" b="0" dirty="0">
                <a:solidFill>
                  <a:schemeClr val="tx2"/>
                </a:solidFill>
                <a:ea typeface="黑体" pitchFamily="49" charset="-122"/>
              </a:rPr>
              <a:t> </a:t>
            </a:r>
            <a:r>
              <a:rPr lang="zh-CN" altLang="en-US" sz="2000" b="1" dirty="0">
                <a:solidFill>
                  <a:srgbClr val="0000CC"/>
                </a:solidFill>
                <a:latin typeface="Courier New" pitchFamily="49" charset="0"/>
                <a:ea typeface="黑体" pitchFamily="49" charset="-122"/>
              </a:rPr>
              <a:t>2～10</a:t>
            </a:r>
            <a:r>
              <a:rPr lang="zh-CN" altLang="en-US" sz="2000" b="1" dirty="0">
                <a:solidFill>
                  <a:srgbClr val="FF3300"/>
                </a:solidFill>
                <a:ea typeface="黑体" pitchFamily="49" charset="-122"/>
              </a:rPr>
              <a:t> </a:t>
            </a:r>
            <a:r>
              <a:rPr lang="zh-CN" altLang="en-US" sz="2000" b="0" dirty="0">
                <a:solidFill>
                  <a:schemeClr val="tx1"/>
                </a:solidFill>
                <a:ea typeface="黑体" pitchFamily="49" charset="-122"/>
              </a:rPr>
              <a:t>个字符是用来表示权限</a:t>
            </a:r>
            <a:endParaRPr lang="en-US" altLang="zh-CN" sz="2000" b="0" dirty="0">
              <a:solidFill>
                <a:schemeClr val="tx1"/>
              </a:solidFill>
              <a:ea typeface="黑体" pitchFamily="49" charset="-122"/>
            </a:endParaRPr>
          </a:p>
          <a:p>
            <a:pPr>
              <a:lnSpc>
                <a:spcPct val="120000"/>
              </a:lnSpc>
              <a:buClr>
                <a:srgbClr val="FF3300"/>
              </a:buClr>
              <a:buFont typeface="Wingdings" pitchFamily="2" charset="2"/>
              <a:buChar char="n"/>
            </a:pPr>
            <a:r>
              <a:rPr lang="en-US" altLang="zh-CN" sz="2000" dirty="0">
                <a:ea typeface="黑体" pitchFamily="49" charset="-122"/>
              </a:rPr>
              <a:t> </a:t>
            </a:r>
            <a:r>
              <a:rPr lang="zh-CN" altLang="en-US" sz="2000" b="0" dirty="0">
                <a:solidFill>
                  <a:schemeClr val="tx1"/>
                </a:solidFill>
                <a:ea typeface="黑体" pitchFamily="49" charset="-122"/>
              </a:rPr>
              <a:t>这 </a:t>
            </a:r>
            <a:r>
              <a:rPr lang="zh-CN" altLang="en-US" sz="2000" b="1" dirty="0">
                <a:solidFill>
                  <a:srgbClr val="993300"/>
                </a:solidFill>
                <a:latin typeface="Courier New" pitchFamily="49" charset="0"/>
                <a:ea typeface="黑体" pitchFamily="49" charset="-122"/>
              </a:rPr>
              <a:t>9</a:t>
            </a:r>
            <a:r>
              <a:rPr lang="zh-CN" altLang="en-US" sz="2000" b="0" dirty="0">
                <a:solidFill>
                  <a:schemeClr val="tx1"/>
                </a:solidFill>
                <a:ea typeface="黑体" pitchFamily="49" charset="-122"/>
              </a:rPr>
              <a:t> 个字符每</a:t>
            </a:r>
            <a:r>
              <a:rPr lang="zh-CN" altLang="en-US" sz="2000" dirty="0">
                <a:solidFill>
                  <a:schemeClr val="tx1"/>
                </a:solidFill>
                <a:ea typeface="黑体" pitchFamily="49" charset="-122"/>
              </a:rPr>
              <a:t> </a:t>
            </a:r>
            <a:r>
              <a:rPr lang="zh-CN" altLang="en-US" sz="2000" b="1" dirty="0">
                <a:solidFill>
                  <a:srgbClr val="993300"/>
                </a:solidFill>
                <a:latin typeface="Courier New" pitchFamily="49" charset="0"/>
                <a:ea typeface="黑体" pitchFamily="49" charset="-122"/>
              </a:rPr>
              <a:t>3</a:t>
            </a:r>
            <a:r>
              <a:rPr lang="zh-CN" altLang="en-US" sz="2000" b="0" dirty="0">
                <a:solidFill>
                  <a:schemeClr val="tx1"/>
                </a:solidFill>
                <a:ea typeface="黑体" pitchFamily="49" charset="-122"/>
              </a:rPr>
              <a:t> 个一组，组成</a:t>
            </a:r>
            <a:r>
              <a:rPr lang="zh-CN" altLang="en-US" sz="2000" b="1" dirty="0">
                <a:solidFill>
                  <a:schemeClr val="tx2"/>
                </a:solidFill>
                <a:ea typeface="黑体" pitchFamily="49" charset="-122"/>
              </a:rPr>
              <a:t> </a:t>
            </a:r>
            <a:r>
              <a:rPr lang="zh-CN" altLang="en-US" sz="2000" b="1" dirty="0">
                <a:solidFill>
                  <a:srgbClr val="993300"/>
                </a:solidFill>
                <a:latin typeface="Courier New" pitchFamily="49" charset="0"/>
                <a:ea typeface="黑体" pitchFamily="49" charset="-122"/>
              </a:rPr>
              <a:t>3</a:t>
            </a:r>
            <a:r>
              <a:rPr lang="zh-CN" altLang="en-US" sz="2000" b="1" dirty="0">
                <a:solidFill>
                  <a:srgbClr val="0000CC"/>
                </a:solidFill>
                <a:ea typeface="黑体" pitchFamily="49" charset="-122"/>
              </a:rPr>
              <a:t> </a:t>
            </a:r>
            <a:r>
              <a:rPr lang="zh-CN" altLang="en-US" sz="2000" b="0" dirty="0">
                <a:solidFill>
                  <a:srgbClr val="0000CC"/>
                </a:solidFill>
                <a:ea typeface="黑体" pitchFamily="49" charset="-122"/>
              </a:rPr>
              <a:t>套</a:t>
            </a:r>
            <a:r>
              <a:rPr lang="zh-CN" altLang="en-US" sz="2000" b="0" dirty="0">
                <a:solidFill>
                  <a:srgbClr val="FF3300"/>
                </a:solidFill>
                <a:ea typeface="黑体" pitchFamily="49" charset="-122"/>
              </a:rPr>
              <a:t> </a:t>
            </a:r>
            <a:r>
              <a:rPr lang="zh-CN" altLang="en-US" sz="2000" b="0" dirty="0">
                <a:solidFill>
                  <a:schemeClr val="tx1"/>
                </a:solidFill>
                <a:ea typeface="黑体" pitchFamily="49" charset="-122"/>
              </a:rPr>
              <a:t>权限控制</a:t>
            </a:r>
            <a:endParaRPr lang="en-US" altLang="zh-CN" sz="2000" b="0" dirty="0">
              <a:solidFill>
                <a:schemeClr val="tx1"/>
              </a:solidFill>
              <a:ea typeface="黑体" pitchFamily="49" charset="-122"/>
            </a:endParaRPr>
          </a:p>
          <a:p>
            <a:pPr lvl="1">
              <a:lnSpc>
                <a:spcPct val="120000"/>
              </a:lnSpc>
              <a:buClr>
                <a:srgbClr val="FF3300"/>
              </a:buClr>
              <a:buFont typeface="Wingdings" pitchFamily="2" charset="2"/>
              <a:buChar char="n"/>
            </a:pPr>
            <a:r>
              <a:rPr lang="en-US" altLang="zh-CN" sz="2000" dirty="0">
                <a:ea typeface="黑体" pitchFamily="49" charset="-122"/>
              </a:rPr>
              <a:t> </a:t>
            </a:r>
            <a:r>
              <a:rPr lang="zh-CN" altLang="en-US" sz="2000" b="0" dirty="0">
                <a:solidFill>
                  <a:schemeClr val="tx1"/>
                </a:solidFill>
                <a:ea typeface="黑体" pitchFamily="49" charset="-122"/>
              </a:rPr>
              <a:t>第一套控制文件</a:t>
            </a:r>
            <a:r>
              <a:rPr lang="zh-CN" altLang="en-US" sz="2000" b="0" dirty="0">
                <a:solidFill>
                  <a:srgbClr val="0000CC"/>
                </a:solidFill>
                <a:ea typeface="黑体" pitchFamily="49" charset="-122"/>
              </a:rPr>
              <a:t>所有者</a:t>
            </a:r>
            <a:r>
              <a:rPr lang="zh-CN" altLang="en-US" sz="2000" b="0" dirty="0">
                <a:solidFill>
                  <a:schemeClr val="tx1"/>
                </a:solidFill>
                <a:ea typeface="黑体" pitchFamily="49" charset="-122"/>
              </a:rPr>
              <a:t>的访问权限</a:t>
            </a:r>
            <a:endParaRPr lang="en-US" altLang="zh-CN" sz="2000" b="0" dirty="0">
              <a:solidFill>
                <a:schemeClr val="tx1"/>
              </a:solidFill>
              <a:ea typeface="黑体" pitchFamily="49" charset="-122"/>
            </a:endParaRPr>
          </a:p>
          <a:p>
            <a:pPr lvl="1">
              <a:lnSpc>
                <a:spcPct val="120000"/>
              </a:lnSpc>
              <a:buClr>
                <a:srgbClr val="FF3300"/>
              </a:buClr>
              <a:buFont typeface="Wingdings" pitchFamily="2" charset="2"/>
              <a:buChar char="n"/>
            </a:pPr>
            <a:r>
              <a:rPr lang="en-US" altLang="zh-CN" sz="2000" dirty="0">
                <a:ea typeface="黑体" pitchFamily="49" charset="-122"/>
              </a:rPr>
              <a:t> </a:t>
            </a:r>
            <a:r>
              <a:rPr lang="zh-CN" altLang="en-US" sz="2000" b="0" dirty="0">
                <a:solidFill>
                  <a:schemeClr val="tx1"/>
                </a:solidFill>
                <a:ea typeface="黑体" pitchFamily="49" charset="-122"/>
              </a:rPr>
              <a:t>第二套控制所有者所在</a:t>
            </a:r>
            <a:r>
              <a:rPr lang="zh-CN" altLang="en-US" sz="2000" b="0" dirty="0">
                <a:solidFill>
                  <a:srgbClr val="0000CC"/>
                </a:solidFill>
                <a:ea typeface="黑体" pitchFamily="49" charset="-122"/>
              </a:rPr>
              <a:t>用户组的其他成员</a:t>
            </a:r>
            <a:r>
              <a:rPr lang="zh-CN" altLang="en-US" sz="2000" b="0" dirty="0">
                <a:solidFill>
                  <a:schemeClr val="tx1"/>
                </a:solidFill>
                <a:ea typeface="黑体" pitchFamily="49" charset="-122"/>
              </a:rPr>
              <a:t>的访问权限</a:t>
            </a:r>
            <a:endParaRPr lang="en-US" altLang="zh-CN" sz="2000" b="0" dirty="0">
              <a:solidFill>
                <a:schemeClr val="tx1"/>
              </a:solidFill>
              <a:ea typeface="黑体" pitchFamily="49" charset="-122"/>
            </a:endParaRPr>
          </a:p>
          <a:p>
            <a:pPr lvl="1">
              <a:lnSpc>
                <a:spcPct val="120000"/>
              </a:lnSpc>
              <a:buClr>
                <a:srgbClr val="FF3300"/>
              </a:buClr>
              <a:buFont typeface="Wingdings" pitchFamily="2" charset="2"/>
              <a:buChar char="n"/>
            </a:pPr>
            <a:r>
              <a:rPr lang="en-US" altLang="zh-CN" sz="2000" dirty="0">
                <a:ea typeface="黑体" pitchFamily="49" charset="-122"/>
              </a:rPr>
              <a:t> </a:t>
            </a:r>
            <a:r>
              <a:rPr lang="zh-CN" altLang="en-US" sz="2000" dirty="0">
                <a:ea typeface="黑体" pitchFamily="49" charset="-122"/>
              </a:rPr>
              <a:t>第三套控制系统</a:t>
            </a:r>
            <a:r>
              <a:rPr lang="zh-CN" altLang="en-US" sz="2000" b="0" dirty="0">
                <a:solidFill>
                  <a:srgbClr val="0000CC"/>
                </a:solidFill>
                <a:ea typeface="黑体" pitchFamily="49" charset="-122"/>
              </a:rPr>
              <a:t>其他用户</a:t>
            </a:r>
            <a:r>
              <a:rPr lang="zh-CN" altLang="en-US" sz="2000" b="0" dirty="0">
                <a:solidFill>
                  <a:schemeClr val="tx1"/>
                </a:solidFill>
                <a:ea typeface="黑体" pitchFamily="49" charset="-122"/>
              </a:rPr>
              <a:t>的访问权限</a:t>
            </a:r>
          </a:p>
        </p:txBody>
      </p:sp>
      <p:sp>
        <p:nvSpPr>
          <p:cNvPr id="10" name="Line 5"/>
          <p:cNvSpPr>
            <a:spLocks noChangeShapeType="1"/>
          </p:cNvSpPr>
          <p:nvPr/>
        </p:nvSpPr>
        <p:spPr bwMode="auto">
          <a:xfrm>
            <a:off x="683568" y="2354104"/>
            <a:ext cx="1219211" cy="0"/>
          </a:xfrm>
          <a:prstGeom prst="line">
            <a:avLst/>
          </a:prstGeom>
          <a:noFill/>
          <a:ln w="57150">
            <a:solidFill>
              <a:srgbClr val="0000FF"/>
            </a:solidFill>
            <a:miter lim="800000"/>
            <a:headEnd/>
            <a:tailEnd/>
          </a:ln>
          <a:effectLst/>
        </p:spPr>
        <p:txBody>
          <a:bodyPr wrap="none"/>
          <a:lstStyle/>
          <a:p>
            <a:endParaRPr lang="zh-CN" altLang="en-US"/>
          </a:p>
        </p:txBody>
      </p:sp>
      <p:sp>
        <p:nvSpPr>
          <p:cNvPr id="11" name="Line 6"/>
          <p:cNvSpPr>
            <a:spLocks noChangeShapeType="1"/>
          </p:cNvSpPr>
          <p:nvPr/>
        </p:nvSpPr>
        <p:spPr bwMode="auto">
          <a:xfrm>
            <a:off x="1691824" y="2425542"/>
            <a:ext cx="533405" cy="239424"/>
          </a:xfrm>
          <a:prstGeom prst="line">
            <a:avLst/>
          </a:prstGeom>
          <a:noFill/>
          <a:ln w="38100">
            <a:solidFill>
              <a:srgbClr val="99CC00"/>
            </a:solidFill>
            <a:miter lim="800000"/>
            <a:headEnd/>
            <a:tailEnd type="triangle" w="med" len="med"/>
          </a:ln>
          <a:effectLst/>
        </p:spPr>
        <p:txBody>
          <a:bodyPr wrap="none"/>
          <a:lstStyle/>
          <a:p>
            <a:endParaRPr lang="zh-CN" altLang="en-US"/>
          </a:p>
        </p:txBody>
      </p:sp>
      <p:pic>
        <p:nvPicPr>
          <p:cNvPr id="12" name="Picture 7" descr="untitled"/>
          <p:cNvPicPr>
            <a:picLocks noChangeAspect="1" noChangeArrowheads="1"/>
          </p:cNvPicPr>
          <p:nvPr/>
        </p:nvPicPr>
        <p:blipFill>
          <a:blip r:embed="rId2" cstate="print"/>
          <a:srcRect/>
          <a:stretch>
            <a:fillRect/>
          </a:stretch>
        </p:blipFill>
        <p:spPr bwMode="auto">
          <a:xfrm>
            <a:off x="2268050" y="2570004"/>
            <a:ext cx="4343441" cy="648195"/>
          </a:xfrm>
          <a:prstGeom prst="rect">
            <a:avLst/>
          </a:prstGeom>
          <a:noFill/>
        </p:spPr>
      </p:pic>
      <p:sp>
        <p:nvSpPr>
          <p:cNvPr id="13" name="Line 8"/>
          <p:cNvSpPr>
            <a:spLocks noChangeShapeType="1"/>
          </p:cNvSpPr>
          <p:nvPr/>
        </p:nvSpPr>
        <p:spPr bwMode="auto">
          <a:xfrm>
            <a:off x="2699792" y="2570004"/>
            <a:ext cx="0" cy="1292887"/>
          </a:xfrm>
          <a:prstGeom prst="line">
            <a:avLst/>
          </a:prstGeom>
          <a:noFill/>
          <a:ln w="31750">
            <a:solidFill>
              <a:srgbClr val="99CC00"/>
            </a:solidFill>
            <a:prstDash val="lgDash"/>
            <a:miter lim="800000"/>
            <a:headEnd/>
            <a:tailEnd/>
          </a:ln>
          <a:effectLst/>
        </p:spPr>
        <p:txBody>
          <a:bodyPr wrap="none"/>
          <a:lstStyle/>
          <a:p>
            <a:endParaRPr lang="zh-CN" altLang="en-US"/>
          </a:p>
        </p:txBody>
      </p:sp>
      <p:sp>
        <p:nvSpPr>
          <p:cNvPr id="14" name="Line 9"/>
          <p:cNvSpPr>
            <a:spLocks noChangeShapeType="1"/>
          </p:cNvSpPr>
          <p:nvPr/>
        </p:nvSpPr>
        <p:spPr bwMode="auto">
          <a:xfrm>
            <a:off x="3923854" y="2498567"/>
            <a:ext cx="0" cy="1292887"/>
          </a:xfrm>
          <a:prstGeom prst="line">
            <a:avLst/>
          </a:prstGeom>
          <a:noFill/>
          <a:ln w="28575">
            <a:solidFill>
              <a:srgbClr val="99CC00"/>
            </a:solidFill>
            <a:prstDash val="lgDash"/>
            <a:miter lim="800000"/>
            <a:headEnd/>
            <a:tailEnd/>
          </a:ln>
          <a:effectLst/>
        </p:spPr>
        <p:txBody>
          <a:bodyPr wrap="none"/>
          <a:lstStyle/>
          <a:p>
            <a:endParaRPr lang="zh-CN" altLang="en-US"/>
          </a:p>
        </p:txBody>
      </p:sp>
      <p:sp>
        <p:nvSpPr>
          <p:cNvPr id="15" name="Line 10"/>
          <p:cNvSpPr>
            <a:spLocks noChangeShapeType="1"/>
          </p:cNvSpPr>
          <p:nvPr/>
        </p:nvSpPr>
        <p:spPr bwMode="auto">
          <a:xfrm>
            <a:off x="5147816" y="2425542"/>
            <a:ext cx="0" cy="1292887"/>
          </a:xfrm>
          <a:prstGeom prst="line">
            <a:avLst/>
          </a:prstGeom>
          <a:noFill/>
          <a:ln w="28575">
            <a:solidFill>
              <a:srgbClr val="99CC00"/>
            </a:solidFill>
            <a:prstDash val="lgDash"/>
            <a:miter lim="800000"/>
            <a:headEnd/>
            <a:tailEnd/>
          </a:ln>
          <a:effectLst/>
        </p:spPr>
        <p:txBody>
          <a:bodyPr wrap="none"/>
          <a:lstStyle/>
          <a:p>
            <a:endParaRPr lang="zh-CN" altLang="en-US"/>
          </a:p>
        </p:txBody>
      </p:sp>
      <p:sp>
        <p:nvSpPr>
          <p:cNvPr id="16" name="Text Box 11"/>
          <p:cNvSpPr txBox="1">
            <a:spLocks noChangeArrowheads="1"/>
          </p:cNvSpPr>
          <p:nvPr/>
        </p:nvSpPr>
        <p:spPr bwMode="auto">
          <a:xfrm>
            <a:off x="2844866" y="3507973"/>
            <a:ext cx="935046" cy="646331"/>
          </a:xfrm>
          <a:prstGeom prst="rect">
            <a:avLst/>
          </a:prstGeom>
          <a:noFill/>
          <a:ln w="9525">
            <a:solidFill>
              <a:schemeClr val="bg2"/>
            </a:solidFill>
            <a:miter lim="800000"/>
            <a:headEnd/>
            <a:tailEnd/>
          </a:ln>
          <a:effectLst/>
        </p:spPr>
        <p:txBody>
          <a:bodyPr wrap="square">
            <a:spAutoFit/>
          </a:bodyPr>
          <a:lstStyle/>
          <a:p>
            <a:pPr algn="ctr">
              <a:spcBef>
                <a:spcPct val="50000"/>
              </a:spcBef>
            </a:pPr>
            <a:r>
              <a:rPr lang="zh-CN" altLang="en-US" b="0">
                <a:ea typeface="黑体" pitchFamily="49" charset="-122"/>
              </a:rPr>
              <a:t>所有者的权限</a:t>
            </a:r>
          </a:p>
        </p:txBody>
      </p:sp>
      <p:sp>
        <p:nvSpPr>
          <p:cNvPr id="17" name="Text Box 12"/>
          <p:cNvSpPr txBox="1">
            <a:spLocks noChangeArrowheads="1"/>
          </p:cNvSpPr>
          <p:nvPr/>
        </p:nvSpPr>
        <p:spPr bwMode="auto">
          <a:xfrm>
            <a:off x="4068308" y="3507973"/>
            <a:ext cx="936634" cy="646331"/>
          </a:xfrm>
          <a:prstGeom prst="rect">
            <a:avLst/>
          </a:prstGeom>
          <a:noFill/>
          <a:ln w="9525">
            <a:solidFill>
              <a:schemeClr val="bg2"/>
            </a:solidFill>
            <a:miter lim="800000"/>
            <a:headEnd/>
            <a:tailEnd/>
          </a:ln>
          <a:effectLst/>
        </p:spPr>
        <p:txBody>
          <a:bodyPr wrap="square">
            <a:spAutoFit/>
          </a:bodyPr>
          <a:lstStyle/>
          <a:p>
            <a:pPr algn="ctr">
              <a:spcBef>
                <a:spcPct val="50000"/>
              </a:spcBef>
            </a:pPr>
            <a:r>
              <a:rPr lang="zh-CN" altLang="en-US" b="0">
                <a:ea typeface="黑体" pitchFamily="49" charset="-122"/>
              </a:rPr>
              <a:t>同组用户权限</a:t>
            </a:r>
          </a:p>
        </p:txBody>
      </p:sp>
      <p:sp>
        <p:nvSpPr>
          <p:cNvPr id="18" name="Text Box 13"/>
          <p:cNvSpPr txBox="1">
            <a:spLocks noChangeArrowheads="1"/>
          </p:cNvSpPr>
          <p:nvPr/>
        </p:nvSpPr>
        <p:spPr bwMode="auto">
          <a:xfrm>
            <a:off x="5364088" y="3506232"/>
            <a:ext cx="1150948" cy="646331"/>
          </a:xfrm>
          <a:prstGeom prst="rect">
            <a:avLst/>
          </a:prstGeom>
          <a:noFill/>
          <a:ln w="9525">
            <a:solidFill>
              <a:schemeClr val="bg2"/>
            </a:solidFill>
            <a:miter lim="800000"/>
            <a:headEnd/>
            <a:tailEnd/>
          </a:ln>
          <a:effectLst/>
        </p:spPr>
        <p:txBody>
          <a:bodyPr wrap="square">
            <a:spAutoFit/>
          </a:bodyPr>
          <a:lstStyle/>
          <a:p>
            <a:pPr algn="ctr">
              <a:spcBef>
                <a:spcPct val="50000"/>
              </a:spcBef>
            </a:pPr>
            <a:r>
              <a:rPr lang="zh-CN" altLang="en-US" b="0" dirty="0">
                <a:ea typeface="黑体" pitchFamily="49" charset="-122"/>
              </a:rPr>
              <a:t>其他用户权限</a:t>
            </a:r>
          </a:p>
        </p:txBody>
      </p:sp>
      <p:sp>
        <p:nvSpPr>
          <p:cNvPr id="19" name="Text Box 14"/>
          <p:cNvSpPr txBox="1">
            <a:spLocks noChangeArrowheads="1"/>
          </p:cNvSpPr>
          <p:nvPr/>
        </p:nvSpPr>
        <p:spPr bwMode="auto">
          <a:xfrm>
            <a:off x="1691824" y="3506232"/>
            <a:ext cx="865147" cy="646331"/>
          </a:xfrm>
          <a:prstGeom prst="rect">
            <a:avLst/>
          </a:prstGeom>
          <a:noFill/>
          <a:ln w="9525">
            <a:solidFill>
              <a:schemeClr val="bg2"/>
            </a:solidFill>
            <a:miter lim="800000"/>
            <a:headEnd/>
            <a:tailEnd/>
          </a:ln>
          <a:effectLst/>
        </p:spPr>
        <p:txBody>
          <a:bodyPr wrap="square">
            <a:spAutoFit/>
          </a:bodyPr>
          <a:lstStyle/>
          <a:p>
            <a:pPr algn="ctr">
              <a:spcBef>
                <a:spcPct val="50000"/>
              </a:spcBef>
            </a:pPr>
            <a:r>
              <a:rPr lang="zh-CN" altLang="en-US" b="0" dirty="0">
                <a:ea typeface="黑体" pitchFamily="49" charset="-122"/>
              </a:rPr>
              <a:t>文件类型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up)">
                                      <p:cBhvr>
                                        <p:cTn id="7" dur="500"/>
                                        <p:tgtEl>
                                          <p:spTgt spid="10"/>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wipe(up)">
                                      <p:cBhvr>
                                        <p:cTn id="11" dur="500"/>
                                        <p:tgtEl>
                                          <p:spTgt spid="11"/>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wipe(up)">
                                      <p:cBhvr>
                                        <p:cTn id="15" dur="500"/>
                                        <p:tgtEl>
                                          <p:spTgt spid="12"/>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wipe(up)">
                                      <p:cBhvr>
                                        <p:cTn id="20" dur="500"/>
                                        <p:tgtEl>
                                          <p:spTgt spid="13"/>
                                        </p:tgtEl>
                                      </p:cBhvr>
                                    </p:animEffect>
                                  </p:childTnLst>
                                </p:cTn>
                              </p:par>
                            </p:childTnLst>
                          </p:cTn>
                        </p:par>
                        <p:par>
                          <p:cTn id="21" fill="hold">
                            <p:stCondLst>
                              <p:cond delay="500"/>
                            </p:stCondLst>
                            <p:childTnLst>
                              <p:par>
                                <p:cTn id="22" presetID="22" presetClass="entr" presetSubtype="1" fill="hold" grpId="0" nodeType="after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up)">
                                      <p:cBhvr>
                                        <p:cTn id="24" dur="500"/>
                                        <p:tgtEl>
                                          <p:spTgt spid="19"/>
                                        </p:tgtEl>
                                      </p:cBhvr>
                                    </p:animEffect>
                                  </p:childTnLst>
                                </p:cTn>
                              </p:par>
                            </p:childTnLst>
                          </p:cTn>
                        </p:par>
                        <p:par>
                          <p:cTn id="25" fill="hold">
                            <p:stCondLst>
                              <p:cond delay="1000"/>
                            </p:stCondLst>
                            <p:childTnLst>
                              <p:par>
                                <p:cTn id="26" presetID="22" presetClass="entr" presetSubtype="1"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up)">
                                      <p:cBhvr>
                                        <p:cTn id="28" dur="500"/>
                                        <p:tgtEl>
                                          <p:spTgt spid="14"/>
                                        </p:tgtEl>
                                      </p:cBhvr>
                                    </p:animEffect>
                                  </p:childTnLst>
                                </p:cTn>
                              </p:par>
                            </p:childTnLst>
                          </p:cTn>
                        </p:par>
                        <p:par>
                          <p:cTn id="29" fill="hold">
                            <p:stCondLst>
                              <p:cond delay="1500"/>
                            </p:stCondLst>
                            <p:childTnLst>
                              <p:par>
                                <p:cTn id="30" presetID="22" presetClass="entr" presetSubtype="1" fill="hold" grpId="0" nodeType="after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wipe(up)">
                                      <p:cBhvr>
                                        <p:cTn id="32" dur="500"/>
                                        <p:tgtEl>
                                          <p:spTgt spid="16"/>
                                        </p:tgtEl>
                                      </p:cBhvr>
                                    </p:animEffect>
                                  </p:childTnLst>
                                </p:cTn>
                              </p:par>
                            </p:childTnLst>
                          </p:cTn>
                        </p:par>
                        <p:par>
                          <p:cTn id="33" fill="hold">
                            <p:stCondLst>
                              <p:cond delay="2000"/>
                            </p:stCondLst>
                            <p:childTnLst>
                              <p:par>
                                <p:cTn id="34" presetID="22" presetClass="entr" presetSubtype="1" fill="hold" grpId="0" nodeType="after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up)">
                                      <p:cBhvr>
                                        <p:cTn id="36" dur="500"/>
                                        <p:tgtEl>
                                          <p:spTgt spid="15"/>
                                        </p:tgtEl>
                                      </p:cBhvr>
                                    </p:animEffect>
                                  </p:childTnLst>
                                </p:cTn>
                              </p:par>
                            </p:childTnLst>
                          </p:cTn>
                        </p:par>
                        <p:par>
                          <p:cTn id="37" fill="hold">
                            <p:stCondLst>
                              <p:cond delay="2500"/>
                            </p:stCondLst>
                            <p:childTnLst>
                              <p:par>
                                <p:cTn id="38" presetID="22" presetClass="entr" presetSubtype="1" fill="hold" grpId="0" nodeType="after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wipe(up)">
                                      <p:cBhvr>
                                        <p:cTn id="40" dur="500"/>
                                        <p:tgtEl>
                                          <p:spTgt spid="17"/>
                                        </p:tgtEl>
                                      </p:cBhvr>
                                    </p:animEffect>
                                  </p:childTnLst>
                                </p:cTn>
                              </p:par>
                            </p:childTnLst>
                          </p:cTn>
                        </p:par>
                        <p:par>
                          <p:cTn id="41" fill="hold">
                            <p:stCondLst>
                              <p:cond delay="3000"/>
                            </p:stCondLst>
                            <p:childTnLst>
                              <p:par>
                                <p:cTn id="42" presetID="22" presetClass="entr" presetSubtype="1" fill="hold" grpId="0"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wipe(up)">
                                      <p:cBhvr>
                                        <p:cTn id="44" dur="500"/>
                                        <p:tgtEl>
                                          <p:spTgt spid="18"/>
                                        </p:tgtEl>
                                      </p:cBhvr>
                                    </p:animEffect>
                                  </p:childTnLst>
                                </p:cTn>
                              </p:par>
                            </p:childTnLst>
                          </p:cTn>
                        </p:par>
                        <p:par>
                          <p:cTn id="45" fill="hold">
                            <p:stCondLst>
                              <p:cond delay="3500"/>
                            </p:stCondLst>
                            <p:childTnLst>
                              <p:par>
                                <p:cTn id="46" presetID="22" presetClass="entr" presetSubtype="1" fill="hold" grpId="0" nodeType="afterEffect">
                                  <p:stCondLst>
                                    <p:cond delay="0"/>
                                  </p:stCondLst>
                                  <p:childTnLst>
                                    <p:set>
                                      <p:cBhvr>
                                        <p:cTn id="47" dur="1" fill="hold">
                                          <p:stCondLst>
                                            <p:cond delay="0"/>
                                          </p:stCondLst>
                                        </p:cTn>
                                        <p:tgtEl>
                                          <p:spTgt spid="9"/>
                                        </p:tgtEl>
                                        <p:attrNameLst>
                                          <p:attrName>style.visibility</p:attrName>
                                        </p:attrNameLst>
                                      </p:cBhvr>
                                      <p:to>
                                        <p:strVal val="visible"/>
                                      </p:to>
                                    </p:set>
                                    <p:animEffect transition="in" filter="wipe(up)">
                                      <p:cBhvr>
                                        <p:cTn id="48"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autoUpdateAnimBg="0"/>
      <p:bldP spid="10" grpId="0" animBg="1"/>
      <p:bldP spid="11" grpId="0" animBg="1"/>
      <p:bldP spid="13" grpId="0" animBg="1"/>
      <p:bldP spid="14" grpId="0" animBg="1"/>
      <p:bldP spid="15" grpId="0" animBg="1"/>
      <p:bldP spid="16" grpId="0" animBg="1" autoUpdateAnimBg="0"/>
      <p:bldP spid="17" grpId="0" animBg="1" autoUpdateAnimBg="0"/>
      <p:bldP spid="18" grpId="0" animBg="1" autoUpdateAnimBg="0"/>
      <p:bldP spid="19" grpId="0" animBg="1" autoUpdateAnimBg="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常见的权限字符串及其含义</a:t>
            </a:r>
          </a:p>
        </p:txBody>
      </p:sp>
      <p:graphicFrame>
        <p:nvGraphicFramePr>
          <p:cNvPr id="7" name="Group 146"/>
          <p:cNvGraphicFramePr>
            <a:graphicFrameLocks noGrp="1"/>
          </p:cNvGraphicFramePr>
          <p:nvPr>
            <p:ph idx="1"/>
            <p:extLst>
              <p:ext uri="{D42A27DB-BD31-4B8C-83A1-F6EECF244321}">
                <p14:modId xmlns:p14="http://schemas.microsoft.com/office/powerpoint/2010/main" val="3817285285"/>
              </p:ext>
            </p:extLst>
          </p:nvPr>
        </p:nvGraphicFramePr>
        <p:xfrm>
          <a:off x="720983" y="1367450"/>
          <a:ext cx="8075241" cy="4754880"/>
        </p:xfrm>
        <a:graphic>
          <a:graphicData uri="http://schemas.openxmlformats.org/drawingml/2006/table">
            <a:tbl>
              <a:tblPr>
                <a:tableStyleId>{284E427A-3D55-4303-BF80-6455036E1DE7}</a:tableStyleId>
              </a:tblPr>
              <a:tblGrid>
                <a:gridCol w="1368152">
                  <a:extLst>
                    <a:ext uri="{9D8B030D-6E8A-4147-A177-3AD203B41FA5}">
                      <a16:colId xmlns:a16="http://schemas.microsoft.com/office/drawing/2014/main" val="20000"/>
                    </a:ext>
                  </a:extLst>
                </a:gridCol>
                <a:gridCol w="1380271">
                  <a:extLst>
                    <a:ext uri="{9D8B030D-6E8A-4147-A177-3AD203B41FA5}">
                      <a16:colId xmlns:a16="http://schemas.microsoft.com/office/drawing/2014/main" val="20001"/>
                    </a:ext>
                  </a:extLst>
                </a:gridCol>
                <a:gridCol w="5326818">
                  <a:extLst>
                    <a:ext uri="{9D8B030D-6E8A-4147-A177-3AD203B41FA5}">
                      <a16:colId xmlns:a16="http://schemas.microsoft.com/office/drawing/2014/main" val="20002"/>
                    </a:ext>
                  </a:extLst>
                </a:gridCol>
              </a:tblGrid>
              <a:tr h="31178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800" b="1" u="none" strike="noStrike" cap="none" normalizeH="0" baseline="0" dirty="0">
                          <a:ln>
                            <a:noFill/>
                          </a:ln>
                          <a:solidFill>
                            <a:srgbClr val="C00000"/>
                          </a:solidFill>
                          <a:effectLst/>
                        </a:rPr>
                        <a:t>字符串 </a:t>
                      </a:r>
                      <a:endParaRPr kumimoji="0" lang="zh-CN" altLang="en-US" sz="1800" b="1" i="0" u="none" strike="noStrike" cap="none" normalizeH="0" baseline="0" dirty="0">
                        <a:ln>
                          <a:noFill/>
                        </a:ln>
                        <a:solidFill>
                          <a:srgbClr val="C00000"/>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800" b="1" u="none" strike="noStrike" cap="none" normalizeH="0" baseline="0" dirty="0">
                          <a:ln>
                            <a:noFill/>
                          </a:ln>
                          <a:solidFill>
                            <a:srgbClr val="C00000"/>
                          </a:solidFill>
                          <a:effectLst/>
                        </a:rPr>
                        <a:t>八进制数值 </a:t>
                      </a:r>
                      <a:endParaRPr kumimoji="0" lang="zh-CN" altLang="en-US" sz="1800" b="1" i="0" u="none" strike="noStrike" cap="none" normalizeH="0" baseline="0" dirty="0">
                        <a:ln>
                          <a:noFill/>
                        </a:ln>
                        <a:solidFill>
                          <a:srgbClr val="C00000"/>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800" b="1" u="none" strike="noStrike" cap="none" normalizeH="0" baseline="0" dirty="0">
                          <a:ln>
                            <a:noFill/>
                          </a:ln>
                          <a:solidFill>
                            <a:srgbClr val="C00000"/>
                          </a:solidFill>
                          <a:effectLst/>
                        </a:rPr>
                        <a:t>说明 </a:t>
                      </a:r>
                      <a:endParaRPr kumimoji="0" lang="zh-CN" altLang="en-US" sz="1800" b="1" i="0" u="none" strike="noStrike" cap="none" normalizeH="0" baseline="0" dirty="0">
                        <a:ln>
                          <a:noFill/>
                        </a:ln>
                        <a:solidFill>
                          <a:srgbClr val="C00000"/>
                        </a:solidFill>
                        <a:effectLst/>
                        <a:latin typeface="Arial" charset="0"/>
                        <a:ea typeface="宋体" charset="-122"/>
                      </a:endParaRPr>
                    </a:p>
                  </a:txBody>
                  <a:tcPr anchor="ctr" horzOverflow="overflow"/>
                </a:tc>
                <a:extLst>
                  <a:ext uri="{0D108BD9-81ED-4DB2-BD59-A6C34878D82A}">
                    <a16:rowId xmlns:a16="http://schemas.microsoft.com/office/drawing/2014/main" val="10000"/>
                  </a:ext>
                </a:extLst>
              </a:tr>
              <a:tr h="30447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a:t>
                      </a:r>
                      <a:r>
                        <a:rPr kumimoji="0" lang="en-US" altLang="zh-CN" sz="1800" u="none" strike="noStrike" cap="none" normalizeH="0" baseline="0" dirty="0">
                          <a:ln>
                            <a:noFill/>
                          </a:ln>
                          <a:effectLst/>
                        </a:rPr>
                        <a:t>-------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600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只有属主才有读取和写入的权限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1"/>
                  </a:ext>
                </a:extLst>
              </a:tr>
              <a:tr h="31750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a:t>
                      </a:r>
                      <a:r>
                        <a:rPr kumimoji="0" lang="en-US" altLang="zh-CN" sz="1800" u="none" strike="noStrike" cap="none" normalizeH="0" baseline="0" dirty="0">
                          <a:ln>
                            <a:noFill/>
                          </a:ln>
                          <a:effectLst/>
                        </a:rPr>
                        <a:t>-r--r--</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644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只有属主才有读取和写入的权限；同组人和其他人只有读取的权限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2"/>
                  </a:ext>
                </a:extLst>
              </a:tr>
              <a:tr h="3159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rwx</a:t>
                      </a:r>
                      <a:r>
                        <a:rPr kumimoji="0" lang="en-US" altLang="zh-CN" sz="1800" u="none" strike="noStrike" cap="none" normalizeH="0" baseline="0" dirty="0">
                          <a:ln>
                            <a:noFill/>
                          </a:ln>
                          <a:effectLst/>
                        </a:rPr>
                        <a:t>------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700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只有属主才有读取、写入、和执行的权限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3"/>
                  </a:ext>
                </a:extLst>
              </a:tr>
              <a:tr h="31750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rwxr</a:t>
                      </a: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xr</a:t>
                      </a:r>
                      <a:r>
                        <a:rPr kumimoji="0" lang="en-US" altLang="zh-CN" sz="1800" u="none" strike="noStrike" cap="none" normalizeH="0" baseline="0" dirty="0">
                          <a:ln>
                            <a:noFill/>
                          </a:ln>
                          <a:effectLst/>
                        </a:rPr>
                        <a:t>-x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755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属主有读取、写入、和执行的权限；同组人和其他人只有读取和执行的权限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4"/>
                  </a:ext>
                </a:extLst>
              </a:tr>
              <a:tr h="31750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a:t>
                      </a:r>
                      <a:r>
                        <a:rPr kumimoji="0" lang="en-US" altLang="zh-CN" sz="1800" u="none" strike="noStrike" cap="none" normalizeH="0" baseline="0" dirty="0" err="1">
                          <a:ln>
                            <a:noFill/>
                          </a:ln>
                          <a:effectLst/>
                        </a:rPr>
                        <a:t>rwx</a:t>
                      </a:r>
                      <a:r>
                        <a:rPr kumimoji="0" lang="en-US" altLang="zh-CN" sz="1800" u="none" strike="noStrike" cap="none" normalizeH="0" baseline="0" dirty="0">
                          <a:ln>
                            <a:noFill/>
                          </a:ln>
                          <a:effectLst/>
                        </a:rPr>
                        <a:t>--x--x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711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属主有读取、写入、和执行权限；同组人和其他人只有执行权限</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5"/>
                  </a:ext>
                </a:extLst>
              </a:tr>
              <a:tr h="3159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a:ln>
                            <a:noFill/>
                          </a:ln>
                          <a:effectLst/>
                        </a:rPr>
                        <a:t>-rw-rw-rw- </a:t>
                      </a:r>
                      <a:endParaRPr kumimoji="0" lang="en-US" altLang="zh-CN" sz="18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666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每个人都能够读取和写入文件</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6"/>
                  </a:ext>
                </a:extLst>
              </a:tr>
              <a:tr h="31750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a:ln>
                            <a:noFill/>
                          </a:ln>
                          <a:effectLst/>
                        </a:rPr>
                        <a:t>-rwxrwxrwx </a:t>
                      </a:r>
                      <a:endParaRPr kumimoji="0" lang="en-US" altLang="zh-CN" sz="18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777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每个人都能够读取、写入、和执行</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7"/>
                  </a:ext>
                </a:extLst>
              </a:tr>
              <a:tr h="3159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err="1">
                          <a:ln>
                            <a:noFill/>
                          </a:ln>
                          <a:effectLst/>
                        </a:rPr>
                        <a:t>drwx</a:t>
                      </a:r>
                      <a:r>
                        <a:rPr kumimoji="0" lang="en-US" altLang="zh-CN" sz="1800" u="none" strike="noStrike" cap="none" normalizeH="0" baseline="0" dirty="0">
                          <a:ln>
                            <a:noFill/>
                          </a:ln>
                          <a:effectLst/>
                        </a:rPr>
                        <a:t>------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700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只有属主能在目录中读取、写入</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8"/>
                  </a:ext>
                </a:extLst>
              </a:tr>
              <a:tr h="171132">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a:ln>
                            <a:noFill/>
                          </a:ln>
                          <a:effectLst/>
                        </a:rPr>
                        <a:t>drwxr-xr-x </a:t>
                      </a:r>
                      <a:endParaRPr kumimoji="0" lang="en-US" altLang="zh-CN" sz="1800" b="0" i="0" u="none" strike="noStrike" cap="none" normalizeH="0" baseline="0">
                        <a:ln>
                          <a:noFill/>
                        </a:ln>
                        <a:solidFill>
                          <a:schemeClr val="tx1"/>
                        </a:solidFill>
                        <a:effectLst/>
                        <a:latin typeface="Arial" charset="0"/>
                        <a:ea typeface="宋体" charset="-122"/>
                      </a:endParaRPr>
                    </a:p>
                  </a:txBody>
                  <a:tcPr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800" u="none" strike="noStrike" cap="none" normalizeH="0" baseline="0" dirty="0">
                          <a:ln>
                            <a:noFill/>
                          </a:ln>
                          <a:effectLst/>
                        </a:rPr>
                        <a:t>755 </a:t>
                      </a:r>
                      <a:endParaRPr kumimoji="0" lang="en-US" altLang="zh-CN" sz="1800" b="0" i="0" u="none" strike="noStrike" cap="none" normalizeH="0" baseline="0" dirty="0">
                        <a:ln>
                          <a:noFill/>
                        </a:ln>
                        <a:solidFill>
                          <a:schemeClr val="tx1"/>
                        </a:solidFill>
                        <a:effectLst/>
                        <a:latin typeface="Arial" charset="0"/>
                        <a:ea typeface="宋体" charset="-122"/>
                      </a:endParaRPr>
                    </a:p>
                  </a:txBody>
                  <a:tcPr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800" u="none" strike="noStrike" cap="none" normalizeH="0" baseline="0" dirty="0">
                          <a:ln>
                            <a:noFill/>
                          </a:ln>
                          <a:effectLst/>
                        </a:rPr>
                        <a:t>每个人都能够读取目录，但是其中的内容却只能被属主改变</a:t>
                      </a:r>
                      <a:endParaRPr kumimoji="0" lang="zh-CN" altLang="en-US" sz="1800" b="0" i="0" u="none" strike="noStrike" cap="none" normalizeH="0" baseline="0" dirty="0">
                        <a:ln>
                          <a:noFill/>
                        </a:ln>
                        <a:solidFill>
                          <a:schemeClr val="tx1"/>
                        </a:solidFill>
                        <a:effectLst/>
                        <a:latin typeface="Arial" charset="0"/>
                        <a:ea typeface="宋体" charset="-122"/>
                      </a:endParaRPr>
                    </a:p>
                  </a:txBody>
                  <a:tcPr anchor="ctr" horzOverflow="overflow"/>
                </a:tc>
                <a:extLst>
                  <a:ext uri="{0D108BD9-81ED-4DB2-BD59-A6C34878D82A}">
                    <a16:rowId xmlns:a16="http://schemas.microsoft.com/office/drawing/2014/main" val="10009"/>
                  </a:ext>
                </a:extLst>
              </a:tr>
            </a:tbl>
          </a:graphicData>
        </a:graphic>
      </p:graphicFrame>
      <p:sp>
        <p:nvSpPr>
          <p:cNvPr id="8" name="Text Box 12"/>
          <p:cNvSpPr txBox="1">
            <a:spLocks noChangeArrowheads="1"/>
          </p:cNvSpPr>
          <p:nvPr/>
        </p:nvSpPr>
        <p:spPr bwMode="auto">
          <a:xfrm>
            <a:off x="935234" y="5445224"/>
            <a:ext cx="7646740" cy="1348061"/>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ct val="120000"/>
              </a:lnSpc>
              <a:buClr>
                <a:srgbClr val="FF3300"/>
              </a:buClr>
              <a:buFont typeface="Wingdings" pitchFamily="2" charset="2"/>
              <a:buNone/>
            </a:pPr>
            <a:r>
              <a:rPr lang="zh-CN" altLang="en-US" b="0" dirty="0">
                <a:solidFill>
                  <a:srgbClr val="C00000"/>
                </a:solidFill>
                <a:ea typeface="黑体" pitchFamily="49" charset="-122"/>
              </a:rPr>
              <a:t>每个用户都拥有自己的专属目录（主目录），通常放置在 </a:t>
            </a:r>
            <a:r>
              <a:rPr lang="zh-CN" altLang="en-US" dirty="0">
                <a:solidFill>
                  <a:srgbClr val="C00000"/>
                </a:solidFill>
                <a:latin typeface="Courier New" pitchFamily="49" charset="0"/>
                <a:ea typeface="黑体" pitchFamily="49" charset="-122"/>
              </a:rPr>
              <a:t>/</a:t>
            </a:r>
            <a:r>
              <a:rPr lang="en-US" altLang="zh-CN" dirty="0">
                <a:solidFill>
                  <a:srgbClr val="C00000"/>
                </a:solidFill>
                <a:latin typeface="Courier New" pitchFamily="49" charset="0"/>
                <a:ea typeface="黑体" pitchFamily="49" charset="-122"/>
              </a:rPr>
              <a:t>home</a:t>
            </a:r>
            <a:r>
              <a:rPr lang="en-US" altLang="zh-CN" b="0" dirty="0">
                <a:solidFill>
                  <a:srgbClr val="C00000"/>
                </a:solidFill>
                <a:ea typeface="黑体" pitchFamily="49" charset="-122"/>
              </a:rPr>
              <a:t> </a:t>
            </a:r>
            <a:r>
              <a:rPr lang="zh-CN" altLang="en-US" b="0" dirty="0">
                <a:solidFill>
                  <a:srgbClr val="C00000"/>
                </a:solidFill>
                <a:ea typeface="黑体" pitchFamily="49" charset="-122"/>
              </a:rPr>
              <a:t>目录下，这些专属目录的默认权限通常为</a:t>
            </a:r>
            <a:br>
              <a:rPr lang="zh-CN" altLang="en-US" b="0" dirty="0">
                <a:solidFill>
                  <a:srgbClr val="C00000"/>
                </a:solidFill>
                <a:ea typeface="黑体" pitchFamily="49" charset="-122"/>
              </a:rPr>
            </a:br>
            <a:r>
              <a:rPr lang="zh-CN" altLang="en-US" b="0" dirty="0">
                <a:solidFill>
                  <a:srgbClr val="C00000"/>
                </a:solidFill>
                <a:ea typeface="黑体" pitchFamily="49" charset="-122"/>
              </a:rPr>
              <a:t>                     </a:t>
            </a:r>
            <a:r>
              <a:rPr lang="en-US" altLang="zh-CN" sz="3200" dirty="0" err="1">
                <a:solidFill>
                  <a:srgbClr val="C00000"/>
                </a:solidFill>
                <a:latin typeface="Courier New" pitchFamily="49" charset="0"/>
                <a:ea typeface="黑体" pitchFamily="49" charset="-122"/>
              </a:rPr>
              <a:t>drwx</a:t>
            </a:r>
            <a:r>
              <a:rPr lang="en-US" altLang="zh-CN" sz="3200" dirty="0">
                <a:solidFill>
                  <a:srgbClr val="C00000"/>
                </a:solidFill>
                <a:latin typeface="Courier New" pitchFamily="49" charset="0"/>
                <a:ea typeface="黑体" pitchFamily="49" charset="-12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autoUpdateAnimBg="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与权限相关的命令</a:t>
            </a:r>
          </a:p>
        </p:txBody>
      </p:sp>
      <p:sp>
        <p:nvSpPr>
          <p:cNvPr id="3" name="内容占位符 2"/>
          <p:cNvSpPr>
            <a:spLocks noGrp="1"/>
          </p:cNvSpPr>
          <p:nvPr>
            <p:ph idx="1"/>
          </p:nvPr>
        </p:nvSpPr>
        <p:spPr>
          <a:xfrm>
            <a:off x="1101503" y="1484784"/>
            <a:ext cx="7772400" cy="4752528"/>
          </a:xfrm>
        </p:spPr>
        <p:txBody>
          <a:bodyPr/>
          <a:lstStyle/>
          <a:p>
            <a:r>
              <a:rPr lang="en-US" altLang="zh-CN" dirty="0"/>
              <a:t>chmod</a:t>
            </a:r>
          </a:p>
          <a:p>
            <a:pPr lvl="1"/>
            <a:r>
              <a:rPr lang="zh-CN" altLang="en-US" dirty="0"/>
              <a:t>改变文件或目录的</a:t>
            </a:r>
            <a:r>
              <a:rPr lang="zh-CN" altLang="en-US" dirty="0">
                <a:solidFill>
                  <a:srgbClr val="FF0000"/>
                </a:solidFill>
              </a:rPr>
              <a:t>权限</a:t>
            </a:r>
          </a:p>
          <a:p>
            <a:r>
              <a:rPr lang="en-US" altLang="zh-CN" dirty="0"/>
              <a:t>chown</a:t>
            </a:r>
          </a:p>
          <a:p>
            <a:pPr lvl="1"/>
            <a:r>
              <a:rPr lang="zh-CN" altLang="en-US" dirty="0"/>
              <a:t>改变文件或目录的</a:t>
            </a:r>
            <a:r>
              <a:rPr lang="zh-CN" altLang="en-US" dirty="0">
                <a:solidFill>
                  <a:srgbClr val="FF0000"/>
                </a:solidFill>
              </a:rPr>
              <a:t>属主（所有者）</a:t>
            </a:r>
          </a:p>
          <a:p>
            <a:r>
              <a:rPr lang="en-US" altLang="zh-CN" dirty="0" err="1"/>
              <a:t>chgrp</a:t>
            </a:r>
            <a:endParaRPr lang="en-US" altLang="zh-CN" dirty="0"/>
          </a:p>
          <a:p>
            <a:pPr lvl="1"/>
            <a:r>
              <a:rPr lang="zh-CN" altLang="en-US" dirty="0"/>
              <a:t>改变文件或目录所属的</a:t>
            </a:r>
            <a:r>
              <a:rPr lang="zh-CN" altLang="en-US" dirty="0">
                <a:solidFill>
                  <a:srgbClr val="FF0000"/>
                </a:solidFill>
              </a:rPr>
              <a:t>组</a:t>
            </a:r>
          </a:p>
          <a:p>
            <a:r>
              <a:rPr lang="en-US" altLang="zh-CN" dirty="0" err="1"/>
              <a:t>umask</a:t>
            </a:r>
            <a:endParaRPr lang="en-US" altLang="zh-CN" dirty="0"/>
          </a:p>
          <a:p>
            <a:pPr lvl="1"/>
            <a:r>
              <a:rPr lang="zh-CN" altLang="en-US" dirty="0"/>
              <a:t>设置文件的</a:t>
            </a:r>
            <a:r>
              <a:rPr lang="zh-CN" altLang="en-US" dirty="0">
                <a:solidFill>
                  <a:srgbClr val="FF0000"/>
                </a:solidFill>
              </a:rPr>
              <a:t>缺省生成掩码</a:t>
            </a:r>
          </a:p>
        </p:txBody>
      </p:sp>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修改文件</a:t>
            </a:r>
            <a:r>
              <a:rPr lang="en-US" altLang="zh-CN" dirty="0"/>
              <a:t>/</a:t>
            </a:r>
            <a:r>
              <a:rPr lang="zh-CN" altLang="en-US" dirty="0"/>
              <a:t>目录的权限</a:t>
            </a:r>
            <a:r>
              <a:rPr lang="en-US" altLang="zh-CN" dirty="0"/>
              <a:t>—chmod</a:t>
            </a:r>
            <a:endParaRPr lang="zh-CN" altLang="en-US" dirty="0"/>
          </a:p>
        </p:txBody>
      </p:sp>
      <p:sp>
        <p:nvSpPr>
          <p:cNvPr id="3" name="内容占位符 2"/>
          <p:cNvSpPr>
            <a:spLocks noGrp="1"/>
          </p:cNvSpPr>
          <p:nvPr>
            <p:ph idx="1"/>
          </p:nvPr>
        </p:nvSpPr>
        <p:spPr>
          <a:xfrm>
            <a:off x="806674" y="1340768"/>
            <a:ext cx="8229600" cy="4646141"/>
          </a:xfrm>
        </p:spPr>
        <p:txBody>
          <a:bodyPr/>
          <a:lstStyle/>
          <a:p>
            <a:r>
              <a:rPr lang="zh-CN" altLang="en-US" dirty="0"/>
              <a:t>更改已有文件或目录的访问权限</a:t>
            </a:r>
            <a:endParaRPr lang="en-US" altLang="zh-CN" dirty="0"/>
          </a:p>
          <a:p>
            <a:pPr lvl="1"/>
            <a:r>
              <a:rPr lang="en-US" altLang="zh-CN" dirty="0"/>
              <a:t>chmod</a:t>
            </a:r>
            <a:r>
              <a:rPr lang="zh-CN" altLang="en-US" dirty="0"/>
              <a:t>命令</a:t>
            </a:r>
            <a:endParaRPr lang="en-US" altLang="zh-CN" dirty="0"/>
          </a:p>
          <a:p>
            <a:r>
              <a:rPr lang="en-US" altLang="zh-CN" dirty="0"/>
              <a:t>chmod</a:t>
            </a:r>
            <a:r>
              <a:rPr lang="zh-CN" altLang="en-US" dirty="0"/>
              <a:t>命令</a:t>
            </a:r>
            <a:r>
              <a:rPr lang="zh-CN" altLang="zh-CN" dirty="0"/>
              <a:t>有</a:t>
            </a:r>
            <a:r>
              <a:rPr lang="zh-CN" altLang="zh-CN" dirty="0">
                <a:solidFill>
                  <a:srgbClr val="FF0000"/>
                </a:solidFill>
              </a:rPr>
              <a:t>两种设置方法</a:t>
            </a:r>
            <a:endParaRPr lang="en-US" altLang="zh-CN" dirty="0">
              <a:solidFill>
                <a:srgbClr val="FF0000"/>
              </a:solidFill>
            </a:endParaRPr>
          </a:p>
          <a:p>
            <a:pPr lvl="1"/>
            <a:r>
              <a:rPr lang="zh-CN" altLang="zh-CN" dirty="0">
                <a:solidFill>
                  <a:srgbClr val="FF0000"/>
                </a:solidFill>
              </a:rPr>
              <a:t>文字</a:t>
            </a:r>
            <a:r>
              <a:rPr lang="zh-CN" altLang="zh-CN" dirty="0"/>
              <a:t>设定法</a:t>
            </a:r>
            <a:endParaRPr lang="en-US" altLang="zh-CN" dirty="0"/>
          </a:p>
          <a:p>
            <a:pPr lvl="2"/>
            <a:r>
              <a:rPr lang="zh-CN" altLang="en-US" dirty="0"/>
              <a:t>使用</a:t>
            </a:r>
            <a:r>
              <a:rPr lang="zh-CN" altLang="en-US" dirty="0">
                <a:solidFill>
                  <a:srgbClr val="FF0000"/>
                </a:solidFill>
              </a:rPr>
              <a:t>字母和操作符表达式</a:t>
            </a:r>
            <a:r>
              <a:rPr lang="zh-CN" altLang="en-US" dirty="0"/>
              <a:t>来修改或设定文件的访问权限</a:t>
            </a:r>
            <a:endParaRPr lang="en-US" altLang="zh-CN" dirty="0"/>
          </a:p>
          <a:p>
            <a:pPr lvl="2"/>
            <a:r>
              <a:rPr lang="en-US" altLang="zh-CN" dirty="0">
                <a:solidFill>
                  <a:schemeClr val="accent6">
                    <a:lumMod val="75000"/>
                  </a:schemeClr>
                </a:solidFill>
              </a:rPr>
              <a:t>chmod  [-R]  &lt;</a:t>
            </a:r>
            <a:r>
              <a:rPr lang="zh-CN" altLang="en-US" dirty="0">
                <a:solidFill>
                  <a:srgbClr val="C00000"/>
                </a:solidFill>
              </a:rPr>
              <a:t>文字模式</a:t>
            </a:r>
            <a:r>
              <a:rPr lang="en-US" altLang="zh-CN" dirty="0">
                <a:solidFill>
                  <a:schemeClr val="accent6">
                    <a:lumMod val="75000"/>
                  </a:schemeClr>
                </a:solidFill>
              </a:rPr>
              <a:t>&gt;</a:t>
            </a:r>
            <a:r>
              <a:rPr lang="zh-CN" altLang="en-US" dirty="0">
                <a:solidFill>
                  <a:schemeClr val="accent6">
                    <a:lumMod val="75000"/>
                  </a:schemeClr>
                </a:solidFill>
              </a:rPr>
              <a:t>   </a:t>
            </a:r>
            <a:r>
              <a:rPr lang="en-US" altLang="zh-CN" dirty="0">
                <a:solidFill>
                  <a:schemeClr val="accent6">
                    <a:lumMod val="75000"/>
                  </a:schemeClr>
                </a:solidFill>
              </a:rPr>
              <a:t>&lt;</a:t>
            </a:r>
            <a:r>
              <a:rPr lang="zh-CN" altLang="en-US" dirty="0">
                <a:solidFill>
                  <a:schemeClr val="accent6">
                    <a:lumMod val="75000"/>
                  </a:schemeClr>
                </a:solidFill>
              </a:rPr>
              <a:t>文件或目录名</a:t>
            </a:r>
            <a:r>
              <a:rPr lang="en-US" altLang="zh-CN" dirty="0">
                <a:solidFill>
                  <a:schemeClr val="accent6">
                    <a:lumMod val="75000"/>
                  </a:schemeClr>
                </a:solidFill>
              </a:rPr>
              <a:t>&gt;</a:t>
            </a:r>
            <a:r>
              <a:rPr lang="zh-CN" altLang="en-US" dirty="0">
                <a:solidFill>
                  <a:schemeClr val="accent6">
                    <a:lumMod val="75000"/>
                  </a:schemeClr>
                </a:solidFill>
              </a:rPr>
              <a:t> </a:t>
            </a:r>
          </a:p>
          <a:p>
            <a:pPr lvl="1"/>
            <a:r>
              <a:rPr lang="zh-CN" altLang="zh-CN" dirty="0">
                <a:solidFill>
                  <a:srgbClr val="FF0000"/>
                </a:solidFill>
              </a:rPr>
              <a:t>数值</a:t>
            </a:r>
            <a:r>
              <a:rPr lang="zh-CN" altLang="zh-CN" dirty="0"/>
              <a:t>设定法</a:t>
            </a:r>
            <a:endParaRPr lang="en-US" altLang="zh-CN" dirty="0"/>
          </a:p>
          <a:p>
            <a:pPr lvl="2"/>
            <a:r>
              <a:rPr lang="zh-CN" altLang="en-US" dirty="0"/>
              <a:t>使用</a:t>
            </a:r>
            <a:r>
              <a:rPr lang="zh-CN" altLang="en-US" dirty="0">
                <a:solidFill>
                  <a:srgbClr val="FF0000"/>
                </a:solidFill>
              </a:rPr>
              <a:t>八进制数字</a:t>
            </a:r>
            <a:r>
              <a:rPr lang="zh-CN" altLang="en-US" dirty="0"/>
              <a:t>来设定文件的访问权限</a:t>
            </a:r>
            <a:endParaRPr lang="en-US" altLang="zh-CN" dirty="0"/>
          </a:p>
          <a:p>
            <a:pPr lvl="2"/>
            <a:r>
              <a:rPr lang="en-US" altLang="zh-CN" dirty="0">
                <a:solidFill>
                  <a:schemeClr val="accent6">
                    <a:lumMod val="75000"/>
                  </a:schemeClr>
                </a:solidFill>
              </a:rPr>
              <a:t>chmod  [-R]  &lt;</a:t>
            </a:r>
            <a:r>
              <a:rPr lang="zh-CN" altLang="en-US" dirty="0">
                <a:solidFill>
                  <a:srgbClr val="C00000"/>
                </a:solidFill>
              </a:rPr>
              <a:t>八进制模式</a:t>
            </a:r>
            <a:r>
              <a:rPr lang="en-US" altLang="zh-CN" dirty="0">
                <a:solidFill>
                  <a:schemeClr val="accent6">
                    <a:lumMod val="75000"/>
                  </a:schemeClr>
                </a:solidFill>
              </a:rPr>
              <a:t>&gt;</a:t>
            </a:r>
            <a:r>
              <a:rPr lang="zh-CN" altLang="en-US" dirty="0">
                <a:solidFill>
                  <a:schemeClr val="accent6">
                    <a:lumMod val="75000"/>
                  </a:schemeClr>
                </a:solidFill>
              </a:rPr>
              <a:t>   </a:t>
            </a:r>
            <a:r>
              <a:rPr lang="en-US" altLang="zh-CN" dirty="0">
                <a:solidFill>
                  <a:schemeClr val="accent6">
                    <a:lumMod val="75000"/>
                  </a:schemeClr>
                </a:solidFill>
              </a:rPr>
              <a:t>&lt;</a:t>
            </a:r>
            <a:r>
              <a:rPr lang="zh-CN" altLang="en-US" dirty="0">
                <a:solidFill>
                  <a:schemeClr val="accent6">
                    <a:lumMod val="75000"/>
                  </a:schemeClr>
                </a:solidFill>
              </a:rPr>
              <a:t>文件或目录名</a:t>
            </a:r>
            <a:r>
              <a:rPr lang="en-US" altLang="zh-CN" dirty="0">
                <a:solidFill>
                  <a:schemeClr val="accent6">
                    <a:lumMod val="75000"/>
                  </a:schemeClr>
                </a:solidFill>
              </a:rPr>
              <a:t>&gt;</a:t>
            </a:r>
            <a:endParaRPr lang="zh-CN" altLang="en-US" dirty="0">
              <a:solidFill>
                <a:schemeClr val="accent6">
                  <a:lumMod val="75000"/>
                </a:schemeClr>
              </a:solidFill>
            </a:endParaRPr>
          </a:p>
        </p:txBody>
      </p:sp>
      <p:sp>
        <p:nvSpPr>
          <p:cNvPr id="8" name="TextBox 7"/>
          <p:cNvSpPr txBox="1"/>
          <p:nvPr/>
        </p:nvSpPr>
        <p:spPr>
          <a:xfrm>
            <a:off x="997038" y="6280745"/>
            <a:ext cx="7848872" cy="461665"/>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altLang="zh-CN" sz="2400" dirty="0">
                <a:solidFill>
                  <a:srgbClr val="FF0000"/>
                </a:solidFill>
              </a:rPr>
              <a:t>-R </a:t>
            </a:r>
            <a:r>
              <a:rPr lang="zh-CN" altLang="en-US" sz="2400" dirty="0"/>
              <a:t>选项表示对目录中的所有文件或子目录进行</a:t>
            </a:r>
            <a:r>
              <a:rPr lang="zh-CN" altLang="en-US" sz="2400" dirty="0">
                <a:solidFill>
                  <a:srgbClr val="FF0000"/>
                </a:solidFill>
              </a:rPr>
              <a:t>递归操作</a:t>
            </a:r>
          </a:p>
        </p:txBody>
      </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a:t>
            </a:r>
          </a:p>
        </p:txBody>
      </p:sp>
      <p:graphicFrame>
        <p:nvGraphicFramePr>
          <p:cNvPr id="20" name="内容占位符 19"/>
          <p:cNvGraphicFramePr>
            <a:graphicFrameLocks noGrp="1"/>
          </p:cNvGraphicFramePr>
          <p:nvPr>
            <p:ph idx="1"/>
            <p:extLst>
              <p:ext uri="{D42A27DB-BD31-4B8C-83A1-F6EECF244321}">
                <p14:modId xmlns:p14="http://schemas.microsoft.com/office/powerpoint/2010/main" val="4271082675"/>
              </p:ext>
            </p:extLst>
          </p:nvPr>
        </p:nvGraphicFramePr>
        <p:xfrm>
          <a:off x="467544" y="2991874"/>
          <a:ext cx="8208912" cy="2286000"/>
        </p:xfrm>
        <a:graphic>
          <a:graphicData uri="http://schemas.openxmlformats.org/drawingml/2006/table">
            <a:tbl>
              <a:tblPr firstRow="1" bandRow="1">
                <a:tableStyleId>{21E4AEA4-8DFA-4A89-87EB-49C32662AFE0}</a:tableStyleId>
              </a:tblPr>
              <a:tblGrid>
                <a:gridCol w="601479">
                  <a:extLst>
                    <a:ext uri="{9D8B030D-6E8A-4147-A177-3AD203B41FA5}">
                      <a16:colId xmlns:a16="http://schemas.microsoft.com/office/drawing/2014/main" val="20000"/>
                    </a:ext>
                  </a:extLst>
                </a:gridCol>
                <a:gridCol w="2289617">
                  <a:extLst>
                    <a:ext uri="{9D8B030D-6E8A-4147-A177-3AD203B41FA5}">
                      <a16:colId xmlns:a16="http://schemas.microsoft.com/office/drawing/2014/main" val="20001"/>
                    </a:ext>
                  </a:extLst>
                </a:gridCol>
                <a:gridCol w="638743">
                  <a:extLst>
                    <a:ext uri="{9D8B030D-6E8A-4147-A177-3AD203B41FA5}">
                      <a16:colId xmlns:a16="http://schemas.microsoft.com/office/drawing/2014/main" val="20002"/>
                    </a:ext>
                  </a:extLst>
                </a:gridCol>
                <a:gridCol w="2758750">
                  <a:extLst>
                    <a:ext uri="{9D8B030D-6E8A-4147-A177-3AD203B41FA5}">
                      <a16:colId xmlns:a16="http://schemas.microsoft.com/office/drawing/2014/main" val="20003"/>
                    </a:ext>
                  </a:extLst>
                </a:gridCol>
                <a:gridCol w="812444">
                  <a:extLst>
                    <a:ext uri="{9D8B030D-6E8A-4147-A177-3AD203B41FA5}">
                      <a16:colId xmlns:a16="http://schemas.microsoft.com/office/drawing/2014/main" val="20004"/>
                    </a:ext>
                  </a:extLst>
                </a:gridCol>
                <a:gridCol w="1107879">
                  <a:extLst>
                    <a:ext uri="{9D8B030D-6E8A-4147-A177-3AD203B41FA5}">
                      <a16:colId xmlns:a16="http://schemas.microsoft.com/office/drawing/2014/main" val="20005"/>
                    </a:ext>
                  </a:extLst>
                </a:gridCol>
              </a:tblGrid>
              <a:tr h="370840">
                <a:tc gridSpan="2">
                  <a:txBody>
                    <a:bodyPr/>
                    <a:lstStyle/>
                    <a:p>
                      <a:pPr algn="ctr"/>
                      <a:r>
                        <a:rPr lang="zh-CN" altLang="en-US" sz="2400" dirty="0">
                          <a:solidFill>
                            <a:srgbClr val="C00000"/>
                          </a:solidFill>
                        </a:rPr>
                        <a:t>操作对象</a:t>
                      </a:r>
                    </a:p>
                  </a:txBody>
                  <a:tcPr/>
                </a:tc>
                <a:tc hMerge="1">
                  <a:txBody>
                    <a:bodyPr/>
                    <a:lstStyle/>
                    <a:p>
                      <a:endParaRPr lang="zh-CN" altLang="en-US" dirty="0"/>
                    </a:p>
                  </a:txBody>
                  <a:tcPr/>
                </a:tc>
                <a:tc gridSpan="2">
                  <a:txBody>
                    <a:bodyPr/>
                    <a:lstStyle/>
                    <a:p>
                      <a:pPr algn="ctr"/>
                      <a:r>
                        <a:rPr lang="zh-CN" altLang="en-US" sz="2400" dirty="0">
                          <a:solidFill>
                            <a:srgbClr val="C00000"/>
                          </a:solidFill>
                        </a:rPr>
                        <a:t>操作方法</a:t>
                      </a:r>
                    </a:p>
                  </a:txBody>
                  <a:tcPr/>
                </a:tc>
                <a:tc hMerge="1">
                  <a:txBody>
                    <a:bodyPr/>
                    <a:lstStyle/>
                    <a:p>
                      <a:endParaRPr lang="zh-CN" altLang="en-US" dirty="0"/>
                    </a:p>
                  </a:txBody>
                  <a:tcPr/>
                </a:tc>
                <a:tc gridSpan="2">
                  <a:txBody>
                    <a:bodyPr/>
                    <a:lstStyle/>
                    <a:p>
                      <a:pPr algn="ctr"/>
                      <a:r>
                        <a:rPr lang="zh-CN" altLang="en-US" sz="2400" dirty="0">
                          <a:solidFill>
                            <a:srgbClr val="C00000"/>
                          </a:solidFill>
                        </a:rPr>
                        <a:t>访问权限</a:t>
                      </a:r>
                    </a:p>
                  </a:txBody>
                  <a:tcPr/>
                </a:tc>
                <a:tc hMerge="1">
                  <a:txBody>
                    <a:bodyPr/>
                    <a:lstStyle/>
                    <a:p>
                      <a:endParaRPr lang="zh-CN" altLang="en-US" dirty="0"/>
                    </a:p>
                  </a:txBody>
                  <a:tcPr/>
                </a:tc>
                <a:extLst>
                  <a:ext uri="{0D108BD9-81ED-4DB2-BD59-A6C34878D82A}">
                    <a16:rowId xmlns:a16="http://schemas.microsoft.com/office/drawing/2014/main" val="10000"/>
                  </a:ext>
                </a:extLst>
              </a:tr>
              <a:tr h="370840">
                <a:tc>
                  <a:txBody>
                    <a:bodyPr/>
                    <a:lstStyle/>
                    <a:p>
                      <a:pPr algn="ctr"/>
                      <a:r>
                        <a:rPr lang="en-US" altLang="zh-CN" sz="2400" dirty="0">
                          <a:solidFill>
                            <a:srgbClr val="C00000"/>
                          </a:solidFill>
                        </a:rPr>
                        <a:t>u</a:t>
                      </a:r>
                      <a:endParaRPr lang="zh-CN" altLang="en-US" sz="2400" dirty="0">
                        <a:solidFill>
                          <a:srgbClr val="C00000"/>
                        </a:solidFill>
                      </a:endParaRPr>
                    </a:p>
                  </a:txBody>
                  <a:tcPr/>
                </a:tc>
                <a:tc>
                  <a:txBody>
                    <a:bodyPr/>
                    <a:lstStyle/>
                    <a:p>
                      <a:r>
                        <a:rPr lang="zh-CN" altLang="en-US" sz="2400" dirty="0"/>
                        <a:t>属主（</a:t>
                      </a:r>
                      <a:r>
                        <a:rPr lang="en-US" altLang="zh-CN" sz="2400" dirty="0"/>
                        <a:t>user</a:t>
                      </a:r>
                      <a:r>
                        <a:rPr lang="zh-CN" altLang="en-US" sz="2400" dirty="0"/>
                        <a:t>）</a:t>
                      </a:r>
                    </a:p>
                  </a:txBody>
                  <a:tcPr/>
                </a:tc>
                <a:tc>
                  <a:txBody>
                    <a:bodyPr/>
                    <a:lstStyle/>
                    <a:p>
                      <a:pPr algn="ctr"/>
                      <a:r>
                        <a:rPr lang="en-US" altLang="zh-CN" sz="2400" dirty="0">
                          <a:solidFill>
                            <a:srgbClr val="C00000"/>
                          </a:solidFill>
                        </a:rPr>
                        <a:t>+</a:t>
                      </a:r>
                      <a:endParaRPr lang="zh-CN" altLang="en-US" sz="2400" dirty="0">
                        <a:solidFill>
                          <a:srgbClr val="C00000"/>
                        </a:solidFill>
                      </a:endParaRPr>
                    </a:p>
                  </a:txBody>
                  <a:tcPr/>
                </a:tc>
                <a:tc>
                  <a:txBody>
                    <a:bodyPr/>
                    <a:lstStyle/>
                    <a:p>
                      <a:r>
                        <a:rPr lang="zh-CN" altLang="en-US" sz="2400" dirty="0"/>
                        <a:t>添加某权限</a:t>
                      </a:r>
                    </a:p>
                  </a:txBody>
                  <a:tcPr/>
                </a:tc>
                <a:tc>
                  <a:txBody>
                    <a:bodyPr/>
                    <a:lstStyle/>
                    <a:p>
                      <a:pPr algn="ctr"/>
                      <a:r>
                        <a:rPr lang="en-US" altLang="zh-CN" sz="2400" dirty="0">
                          <a:solidFill>
                            <a:srgbClr val="C00000"/>
                          </a:solidFill>
                        </a:rPr>
                        <a:t>r</a:t>
                      </a:r>
                      <a:endParaRPr lang="zh-CN" altLang="en-US" sz="2400" dirty="0">
                        <a:solidFill>
                          <a:srgbClr val="C00000"/>
                        </a:solidFill>
                      </a:endParaRPr>
                    </a:p>
                  </a:txBody>
                  <a:tcPr/>
                </a:tc>
                <a:tc>
                  <a:txBody>
                    <a:bodyPr/>
                    <a:lstStyle/>
                    <a:p>
                      <a:r>
                        <a:rPr lang="zh-CN" altLang="en-US" sz="2400" dirty="0"/>
                        <a:t>读</a:t>
                      </a:r>
                    </a:p>
                  </a:txBody>
                  <a:tcPr/>
                </a:tc>
                <a:extLst>
                  <a:ext uri="{0D108BD9-81ED-4DB2-BD59-A6C34878D82A}">
                    <a16:rowId xmlns:a16="http://schemas.microsoft.com/office/drawing/2014/main" val="10001"/>
                  </a:ext>
                </a:extLst>
              </a:tr>
              <a:tr h="370840">
                <a:tc>
                  <a:txBody>
                    <a:bodyPr/>
                    <a:lstStyle/>
                    <a:p>
                      <a:pPr algn="ctr"/>
                      <a:r>
                        <a:rPr lang="en-US" altLang="zh-CN" sz="2400" dirty="0">
                          <a:solidFill>
                            <a:srgbClr val="C00000"/>
                          </a:solidFill>
                        </a:rPr>
                        <a:t>g</a:t>
                      </a:r>
                      <a:endParaRPr lang="zh-CN" altLang="en-US" sz="2400" dirty="0">
                        <a:solidFill>
                          <a:srgbClr val="C00000"/>
                        </a:solidFill>
                      </a:endParaRPr>
                    </a:p>
                  </a:txBody>
                  <a:tcPr/>
                </a:tc>
                <a:tc>
                  <a:txBody>
                    <a:bodyPr/>
                    <a:lstStyle/>
                    <a:p>
                      <a:r>
                        <a:rPr lang="zh-CN" altLang="en-US" sz="2400" dirty="0"/>
                        <a:t>同组（</a:t>
                      </a:r>
                      <a:r>
                        <a:rPr lang="en-US" altLang="zh-CN" sz="2400" dirty="0"/>
                        <a:t>group</a:t>
                      </a:r>
                      <a:r>
                        <a:rPr lang="zh-CN" altLang="en-US" sz="2400" dirty="0"/>
                        <a:t>）</a:t>
                      </a:r>
                    </a:p>
                  </a:txBody>
                  <a:tcPr/>
                </a:tc>
                <a:tc>
                  <a:txBody>
                    <a:bodyPr/>
                    <a:lstStyle/>
                    <a:p>
                      <a:pPr algn="ctr"/>
                      <a:r>
                        <a:rPr lang="en-US" altLang="zh-CN" sz="2400" dirty="0">
                          <a:solidFill>
                            <a:srgbClr val="C00000"/>
                          </a:solidFill>
                        </a:rPr>
                        <a:t>-</a:t>
                      </a:r>
                      <a:endParaRPr lang="zh-CN" altLang="en-US" sz="2400" dirty="0">
                        <a:solidFill>
                          <a:srgbClr val="C00000"/>
                        </a:solidFill>
                      </a:endParaRPr>
                    </a:p>
                  </a:txBody>
                  <a:tcPr/>
                </a:tc>
                <a:tc>
                  <a:txBody>
                    <a:bodyPr/>
                    <a:lstStyle/>
                    <a:p>
                      <a:r>
                        <a:rPr lang="zh-CN" altLang="en-US" sz="2400" dirty="0"/>
                        <a:t>删除某权限</a:t>
                      </a:r>
                    </a:p>
                  </a:txBody>
                  <a:tcPr/>
                </a:tc>
                <a:tc>
                  <a:txBody>
                    <a:bodyPr/>
                    <a:lstStyle/>
                    <a:p>
                      <a:pPr algn="ctr"/>
                      <a:r>
                        <a:rPr lang="en-US" altLang="zh-CN" sz="2400" dirty="0">
                          <a:solidFill>
                            <a:srgbClr val="C00000"/>
                          </a:solidFill>
                        </a:rPr>
                        <a:t>w</a:t>
                      </a:r>
                      <a:endParaRPr lang="zh-CN" altLang="en-US" sz="2400" dirty="0">
                        <a:solidFill>
                          <a:srgbClr val="C00000"/>
                        </a:solidFill>
                      </a:endParaRPr>
                    </a:p>
                  </a:txBody>
                  <a:tcPr/>
                </a:tc>
                <a:tc>
                  <a:txBody>
                    <a:bodyPr/>
                    <a:lstStyle/>
                    <a:p>
                      <a:r>
                        <a:rPr lang="zh-CN" altLang="en-US" sz="2400" dirty="0"/>
                        <a:t>写</a:t>
                      </a:r>
                    </a:p>
                  </a:txBody>
                  <a:tcPr/>
                </a:tc>
                <a:extLst>
                  <a:ext uri="{0D108BD9-81ED-4DB2-BD59-A6C34878D82A}">
                    <a16:rowId xmlns:a16="http://schemas.microsoft.com/office/drawing/2014/main" val="10002"/>
                  </a:ext>
                </a:extLst>
              </a:tr>
              <a:tr h="370840">
                <a:tc>
                  <a:txBody>
                    <a:bodyPr/>
                    <a:lstStyle/>
                    <a:p>
                      <a:pPr algn="ctr"/>
                      <a:r>
                        <a:rPr lang="en-US" altLang="zh-CN" sz="2400" dirty="0">
                          <a:solidFill>
                            <a:srgbClr val="C00000"/>
                          </a:solidFill>
                        </a:rPr>
                        <a:t>o</a:t>
                      </a:r>
                      <a:endParaRPr lang="zh-CN" altLang="en-US" sz="2400" dirty="0">
                        <a:solidFill>
                          <a:srgbClr val="C00000"/>
                        </a:solidFill>
                      </a:endParaRPr>
                    </a:p>
                  </a:txBody>
                  <a:tcPr/>
                </a:tc>
                <a:tc>
                  <a:txBody>
                    <a:bodyPr/>
                    <a:lstStyle/>
                    <a:p>
                      <a:r>
                        <a:rPr lang="zh-CN" altLang="en-US" sz="2400" dirty="0"/>
                        <a:t>其他（</a:t>
                      </a:r>
                      <a:r>
                        <a:rPr lang="en-US" altLang="zh-CN" sz="2400" dirty="0"/>
                        <a:t>others</a:t>
                      </a:r>
                      <a:r>
                        <a:rPr lang="zh-CN" altLang="en-US" sz="2400" dirty="0"/>
                        <a:t>）</a:t>
                      </a:r>
                    </a:p>
                  </a:txBody>
                  <a:tcPr/>
                </a:tc>
                <a:tc rowSpan="2">
                  <a:txBody>
                    <a:bodyPr/>
                    <a:lstStyle/>
                    <a:p>
                      <a:pPr algn="ctr"/>
                      <a:r>
                        <a:rPr lang="en-US" altLang="zh-CN" sz="2400" dirty="0">
                          <a:solidFill>
                            <a:srgbClr val="C00000"/>
                          </a:solidFill>
                        </a:rPr>
                        <a:t>=</a:t>
                      </a:r>
                      <a:endParaRPr lang="zh-CN" altLang="en-US" sz="2400" dirty="0">
                        <a:solidFill>
                          <a:srgbClr val="C00000"/>
                        </a:solidFill>
                      </a:endParaRPr>
                    </a:p>
                  </a:txBody>
                  <a:tcPr/>
                </a:tc>
                <a:tc rowSpan="2">
                  <a:txBody>
                    <a:bodyPr/>
                    <a:lstStyle/>
                    <a:p>
                      <a:r>
                        <a:rPr lang="zh-CN" altLang="en-US" sz="2400" dirty="0"/>
                        <a:t>直接赋予某权限并取消其他所有权限</a:t>
                      </a:r>
                    </a:p>
                  </a:txBody>
                  <a:tcPr/>
                </a:tc>
                <a:tc>
                  <a:txBody>
                    <a:bodyPr/>
                    <a:lstStyle/>
                    <a:p>
                      <a:pPr algn="ctr"/>
                      <a:r>
                        <a:rPr lang="en-US" altLang="zh-CN" sz="2400" dirty="0">
                          <a:solidFill>
                            <a:srgbClr val="C00000"/>
                          </a:solidFill>
                        </a:rPr>
                        <a:t>x</a:t>
                      </a:r>
                      <a:endParaRPr lang="zh-CN" altLang="en-US" sz="2400" dirty="0">
                        <a:solidFill>
                          <a:srgbClr val="C00000"/>
                        </a:solidFill>
                      </a:endParaRPr>
                    </a:p>
                  </a:txBody>
                  <a:tcPr/>
                </a:tc>
                <a:tc>
                  <a:txBody>
                    <a:bodyPr/>
                    <a:lstStyle/>
                    <a:p>
                      <a:r>
                        <a:rPr lang="zh-CN" altLang="en-US" sz="2400" dirty="0"/>
                        <a:t>执行</a:t>
                      </a:r>
                    </a:p>
                  </a:txBody>
                  <a:tcPr/>
                </a:tc>
                <a:extLst>
                  <a:ext uri="{0D108BD9-81ED-4DB2-BD59-A6C34878D82A}">
                    <a16:rowId xmlns:a16="http://schemas.microsoft.com/office/drawing/2014/main" val="10003"/>
                  </a:ext>
                </a:extLst>
              </a:tr>
              <a:tr h="370840">
                <a:tc>
                  <a:txBody>
                    <a:bodyPr/>
                    <a:lstStyle/>
                    <a:p>
                      <a:pPr algn="ctr"/>
                      <a:r>
                        <a:rPr lang="en-US" altLang="zh-CN" sz="2400" dirty="0">
                          <a:solidFill>
                            <a:srgbClr val="C00000"/>
                          </a:solidFill>
                        </a:rPr>
                        <a:t>a</a:t>
                      </a:r>
                      <a:endParaRPr lang="zh-CN" altLang="en-US" sz="2400" dirty="0">
                        <a:solidFill>
                          <a:srgbClr val="C00000"/>
                        </a:solidFill>
                      </a:endParaRPr>
                    </a:p>
                  </a:txBody>
                  <a:tcPr/>
                </a:tc>
                <a:tc>
                  <a:txBody>
                    <a:bodyPr/>
                    <a:lstStyle/>
                    <a:p>
                      <a:r>
                        <a:rPr lang="zh-CN" altLang="en-US" sz="2400" dirty="0"/>
                        <a:t>所有（</a:t>
                      </a:r>
                      <a:r>
                        <a:rPr lang="en-US" altLang="zh-CN" sz="2400" dirty="0"/>
                        <a:t>all</a:t>
                      </a:r>
                      <a:r>
                        <a:rPr lang="zh-CN" altLang="en-US" sz="2400" dirty="0"/>
                        <a:t>）</a:t>
                      </a:r>
                    </a:p>
                  </a:txBody>
                  <a:tcPr/>
                </a:tc>
                <a:tc vMerge="1">
                  <a:txBody>
                    <a:bodyPr/>
                    <a:lstStyle/>
                    <a:p>
                      <a:pPr algn="ctr"/>
                      <a:endParaRPr lang="zh-CN" altLang="en-US" dirty="0"/>
                    </a:p>
                  </a:txBody>
                  <a:tcPr/>
                </a:tc>
                <a:tc vMerge="1">
                  <a:txBody>
                    <a:bodyPr/>
                    <a:lstStyle/>
                    <a:p>
                      <a:endParaRPr lang="zh-CN" altLang="en-US" dirty="0"/>
                    </a:p>
                  </a:txBody>
                  <a:tcPr/>
                </a:tc>
                <a:tc>
                  <a:txBody>
                    <a:bodyPr/>
                    <a:lstStyle/>
                    <a:p>
                      <a:pPr marL="0" algn="ctr" defTabSz="914400" rtl="0" eaLnBrk="1" latinLnBrk="0" hangingPunct="1"/>
                      <a:r>
                        <a:rPr lang="en-US" altLang="zh-CN" sz="2400" kern="1200" dirty="0">
                          <a:solidFill>
                            <a:srgbClr val="C00000"/>
                          </a:solidFill>
                          <a:latin typeface="+mn-lt"/>
                          <a:ea typeface="+mn-ea"/>
                          <a:cs typeface="+mn-cs"/>
                        </a:rPr>
                        <a:t>-</a:t>
                      </a:r>
                      <a:endParaRPr lang="zh-CN" altLang="en-US" sz="2400" kern="1200" dirty="0">
                        <a:solidFill>
                          <a:srgbClr val="C00000"/>
                        </a:solidFill>
                        <a:latin typeface="+mn-lt"/>
                        <a:ea typeface="+mn-ea"/>
                        <a:cs typeface="+mn-cs"/>
                      </a:endParaRPr>
                    </a:p>
                  </a:txBody>
                  <a:tcPr/>
                </a:tc>
                <a:tc>
                  <a:txBody>
                    <a:bodyPr/>
                    <a:lstStyle/>
                    <a:p>
                      <a:r>
                        <a:rPr lang="zh-CN" altLang="en-US" sz="2400" dirty="0"/>
                        <a:t>无权限</a:t>
                      </a:r>
                    </a:p>
                  </a:txBody>
                  <a:tcPr/>
                </a:tc>
                <a:extLst>
                  <a:ext uri="{0D108BD9-81ED-4DB2-BD59-A6C34878D82A}">
                    <a16:rowId xmlns:a16="http://schemas.microsoft.com/office/drawing/2014/main" val="10004"/>
                  </a:ext>
                </a:extLst>
              </a:tr>
            </a:tbl>
          </a:graphicData>
        </a:graphic>
      </p:graphicFrame>
      <p:sp>
        <p:nvSpPr>
          <p:cNvPr id="7" name="Text Box 3"/>
          <p:cNvSpPr txBox="1">
            <a:spLocks noChangeArrowheads="1"/>
          </p:cNvSpPr>
          <p:nvPr/>
        </p:nvSpPr>
        <p:spPr bwMode="auto">
          <a:xfrm>
            <a:off x="747464" y="1588713"/>
            <a:ext cx="8001000" cy="461665"/>
          </a:xfrm>
          <a:prstGeom prst="rect">
            <a:avLst/>
          </a:prstGeom>
          <a:noFill/>
          <a:ln w="9525">
            <a:solidFill>
              <a:schemeClr val="tx1"/>
            </a:solidFill>
            <a:miter lim="800000"/>
            <a:headEnd/>
            <a:tailEnd/>
          </a:ln>
          <a:effectLst/>
        </p:spPr>
        <p:txBody>
          <a:bodyPr>
            <a:spAutoFit/>
          </a:bodyPr>
          <a:lstStyle/>
          <a:p>
            <a:r>
              <a:rPr lang="en-US" altLang="zh-CN" sz="2400" dirty="0" err="1">
                <a:solidFill>
                  <a:srgbClr val="006400"/>
                </a:solidFill>
                <a:latin typeface="Courier New" pitchFamily="49" charset="0"/>
                <a:ea typeface="黑体" pitchFamily="49" charset="-122"/>
              </a:rPr>
              <a:t>chmod</a:t>
            </a:r>
            <a:r>
              <a:rPr lang="en-US" altLang="zh-CN" sz="2400" b="0" dirty="0">
                <a:solidFill>
                  <a:srgbClr val="006400"/>
                </a:solidFill>
                <a:ea typeface="黑体" pitchFamily="49" charset="-122"/>
              </a:rPr>
              <a:t>   </a:t>
            </a:r>
            <a:r>
              <a:rPr lang="en-US" altLang="zh-CN" sz="2400" dirty="0" smtClean="0">
                <a:solidFill>
                  <a:srgbClr val="0000CC"/>
                </a:solidFill>
                <a:ea typeface="黑体" pitchFamily="49" charset="-122"/>
              </a:rPr>
              <a:t>[</a:t>
            </a:r>
            <a:r>
              <a:rPr lang="en-US" altLang="zh-CN" sz="2400" dirty="0" err="1" smtClean="0">
                <a:solidFill>
                  <a:srgbClr val="993300"/>
                </a:solidFill>
                <a:latin typeface="Courier New" pitchFamily="49" charset="0"/>
                <a:ea typeface="黑体" pitchFamily="49" charset="-122"/>
              </a:rPr>
              <a:t>ugoa</a:t>
            </a:r>
            <a:r>
              <a:rPr lang="en-US" altLang="zh-CN" sz="2400" dirty="0" smtClean="0">
                <a:solidFill>
                  <a:srgbClr val="0000CC"/>
                </a:solidFill>
                <a:ea typeface="黑体" pitchFamily="49" charset="-122"/>
              </a:rPr>
              <a:t>] [</a:t>
            </a:r>
            <a:r>
              <a:rPr lang="en-US" altLang="zh-CN" sz="2400" dirty="0" smtClean="0">
                <a:solidFill>
                  <a:srgbClr val="993300"/>
                </a:solidFill>
                <a:latin typeface="Courier New" pitchFamily="49" charset="0"/>
                <a:ea typeface="黑体" pitchFamily="49" charset="-122"/>
              </a:rPr>
              <a:t>+-=</a:t>
            </a:r>
            <a:r>
              <a:rPr lang="en-US" altLang="zh-CN" sz="2400" dirty="0" smtClean="0">
                <a:solidFill>
                  <a:srgbClr val="0000CC"/>
                </a:solidFill>
                <a:latin typeface="Courier New" pitchFamily="49" charset="0"/>
                <a:ea typeface="黑体" pitchFamily="49" charset="-122"/>
              </a:rPr>
              <a:t>|</a:t>
            </a:r>
            <a:r>
              <a:rPr lang="en-US" altLang="zh-CN" sz="2400" dirty="0" smtClean="0">
                <a:solidFill>
                  <a:srgbClr val="993300"/>
                </a:solidFill>
                <a:latin typeface="Courier New" pitchFamily="49" charset="0"/>
                <a:ea typeface="黑体" pitchFamily="49" charset="-122"/>
              </a:rPr>
              <a:t>=</a:t>
            </a:r>
            <a:r>
              <a:rPr lang="en-US" altLang="zh-CN" sz="2400" dirty="0" smtClean="0">
                <a:solidFill>
                  <a:srgbClr val="0000CC"/>
                </a:solidFill>
                <a:ea typeface="黑体" pitchFamily="49" charset="-122"/>
              </a:rPr>
              <a:t>] [</a:t>
            </a:r>
            <a:r>
              <a:rPr lang="en-US" altLang="zh-CN" sz="2400" dirty="0" err="1" smtClean="0">
                <a:solidFill>
                  <a:srgbClr val="993300"/>
                </a:solidFill>
                <a:latin typeface="Courier New" pitchFamily="49" charset="0"/>
                <a:ea typeface="黑体" pitchFamily="49" charset="-122"/>
              </a:rPr>
              <a:t>rwxugo</a:t>
            </a:r>
            <a:r>
              <a:rPr lang="en-US" altLang="zh-CN" sz="2400" dirty="0" smtClean="0">
                <a:solidFill>
                  <a:srgbClr val="0000CC"/>
                </a:solidFill>
                <a:ea typeface="黑体" pitchFamily="49" charset="-122"/>
              </a:rPr>
              <a:t>]</a:t>
            </a:r>
            <a:r>
              <a:rPr lang="en-US" altLang="zh-CN" sz="2400" b="0" dirty="0" smtClean="0">
                <a:solidFill>
                  <a:srgbClr val="006400"/>
                </a:solidFill>
                <a:ea typeface="黑体" pitchFamily="49" charset="-122"/>
              </a:rPr>
              <a:t>   </a:t>
            </a:r>
            <a:r>
              <a:rPr lang="zh-CN" altLang="en-US" sz="2400" b="0" dirty="0">
                <a:solidFill>
                  <a:schemeClr val="tx1"/>
                </a:solidFill>
                <a:ea typeface="黑体" pitchFamily="49" charset="-122"/>
              </a:rPr>
              <a:t>文件或目录名</a:t>
            </a:r>
            <a:r>
              <a:rPr lang="zh-CN" altLang="en-US" sz="2400" b="0" dirty="0">
                <a:solidFill>
                  <a:srgbClr val="006400"/>
                </a:solidFill>
                <a:ea typeface="黑体" pitchFamily="49" charset="-122"/>
              </a:rPr>
              <a:t> </a:t>
            </a:r>
            <a:endParaRPr lang="en-US" altLang="zh-CN" sz="2400" b="0" dirty="0">
              <a:solidFill>
                <a:srgbClr val="006400"/>
              </a:solidFill>
              <a:ea typeface="黑体" pitchFamily="49" charset="-122"/>
            </a:endParaRPr>
          </a:p>
        </p:txBody>
      </p:sp>
      <p:grpSp>
        <p:nvGrpSpPr>
          <p:cNvPr id="8" name="Group 19"/>
          <p:cNvGrpSpPr>
            <a:grpSpLocks/>
          </p:cNvGrpSpPr>
          <p:nvPr/>
        </p:nvGrpSpPr>
        <p:grpSpPr bwMode="auto">
          <a:xfrm>
            <a:off x="1107826" y="1517276"/>
            <a:ext cx="1590675" cy="1223689"/>
            <a:chOff x="748" y="1253"/>
            <a:chExt cx="1002" cy="887"/>
          </a:xfrm>
        </p:grpSpPr>
        <p:sp>
          <p:nvSpPr>
            <p:cNvPr id="9" name="Oval 9"/>
            <p:cNvSpPr>
              <a:spLocks noChangeArrowheads="1"/>
            </p:cNvSpPr>
            <p:nvPr/>
          </p:nvSpPr>
          <p:spPr bwMode="auto">
            <a:xfrm>
              <a:off x="1343" y="1253"/>
              <a:ext cx="407" cy="453"/>
            </a:xfrm>
            <a:prstGeom prst="ellipse">
              <a:avLst/>
            </a:prstGeom>
            <a:noFill/>
            <a:ln w="28575">
              <a:solidFill>
                <a:schemeClr val="hlink"/>
              </a:solidFill>
              <a:miter lim="800000"/>
              <a:headEnd/>
              <a:tailEnd/>
            </a:ln>
            <a:effectLst/>
          </p:spPr>
          <p:txBody>
            <a:bodyPr wrap="none" anchor="ctr"/>
            <a:lstStyle/>
            <a:p>
              <a:endParaRPr lang="zh-CN" altLang="en-US"/>
            </a:p>
          </p:txBody>
        </p:sp>
        <p:sp>
          <p:nvSpPr>
            <p:cNvPr id="10" name="Line 12"/>
            <p:cNvSpPr>
              <a:spLocks noChangeShapeType="1"/>
            </p:cNvSpPr>
            <p:nvPr/>
          </p:nvSpPr>
          <p:spPr bwMode="auto">
            <a:xfrm flipH="1">
              <a:off x="1116" y="1661"/>
              <a:ext cx="273" cy="227"/>
            </a:xfrm>
            <a:prstGeom prst="line">
              <a:avLst/>
            </a:prstGeom>
            <a:noFill/>
            <a:ln w="28575">
              <a:solidFill>
                <a:schemeClr val="hlink"/>
              </a:solidFill>
              <a:miter lim="800000"/>
              <a:headEnd/>
              <a:tailEnd type="triangle" w="med" len="med"/>
            </a:ln>
            <a:effectLst/>
          </p:spPr>
          <p:txBody>
            <a:bodyPr wrap="none"/>
            <a:lstStyle/>
            <a:p>
              <a:endParaRPr lang="zh-CN" altLang="en-US"/>
            </a:p>
          </p:txBody>
        </p:sp>
        <p:sp>
          <p:nvSpPr>
            <p:cNvPr id="11" name="Rectangle 16"/>
            <p:cNvSpPr>
              <a:spLocks noChangeArrowheads="1"/>
            </p:cNvSpPr>
            <p:nvPr/>
          </p:nvSpPr>
          <p:spPr bwMode="auto">
            <a:xfrm>
              <a:off x="748" y="1888"/>
              <a:ext cx="763" cy="252"/>
            </a:xfrm>
            <a:prstGeom prst="rect">
              <a:avLst/>
            </a:prstGeom>
            <a:noFill/>
            <a:ln w="9525">
              <a:solidFill>
                <a:schemeClr val="hlink"/>
              </a:solidFill>
              <a:miter lim="800000"/>
              <a:headEnd/>
              <a:tailEnd/>
            </a:ln>
            <a:effectLst/>
          </p:spPr>
          <p:txBody>
            <a:bodyPr wrap="none">
              <a:spAutoFit/>
            </a:bodyPr>
            <a:lstStyle/>
            <a:p>
              <a:r>
                <a:rPr lang="zh-CN" altLang="en-US" sz="2000" b="0" dirty="0">
                  <a:solidFill>
                    <a:srgbClr val="0000CC"/>
                  </a:solidFill>
                  <a:ea typeface="黑体" pitchFamily="49" charset="-122"/>
                </a:rPr>
                <a:t>操作对象</a:t>
              </a:r>
            </a:p>
          </p:txBody>
        </p:sp>
      </p:grpSp>
      <p:grpSp>
        <p:nvGrpSpPr>
          <p:cNvPr id="12" name="Group 20"/>
          <p:cNvGrpSpPr>
            <a:grpSpLocks/>
          </p:cNvGrpSpPr>
          <p:nvPr/>
        </p:nvGrpSpPr>
        <p:grpSpPr bwMode="auto">
          <a:xfrm>
            <a:off x="2843807" y="1517277"/>
            <a:ext cx="1498600" cy="1263651"/>
            <a:chOff x="2068" y="1253"/>
            <a:chExt cx="944" cy="796"/>
          </a:xfrm>
        </p:grpSpPr>
        <p:sp>
          <p:nvSpPr>
            <p:cNvPr id="13" name="Oval 10"/>
            <p:cNvSpPr>
              <a:spLocks noChangeArrowheads="1"/>
            </p:cNvSpPr>
            <p:nvPr/>
          </p:nvSpPr>
          <p:spPr bwMode="auto">
            <a:xfrm>
              <a:off x="2068" y="1253"/>
              <a:ext cx="635" cy="408"/>
            </a:xfrm>
            <a:prstGeom prst="ellipse">
              <a:avLst/>
            </a:prstGeom>
            <a:noFill/>
            <a:ln w="28575">
              <a:solidFill>
                <a:schemeClr val="tx1"/>
              </a:solidFill>
              <a:miter lim="800000"/>
              <a:headEnd/>
              <a:tailEnd/>
            </a:ln>
            <a:effectLst/>
          </p:spPr>
          <p:txBody>
            <a:bodyPr wrap="none" anchor="ctr"/>
            <a:lstStyle/>
            <a:p>
              <a:endParaRPr lang="zh-CN" altLang="en-US"/>
            </a:p>
          </p:txBody>
        </p:sp>
        <p:sp>
          <p:nvSpPr>
            <p:cNvPr id="14" name="Line 13"/>
            <p:cNvSpPr>
              <a:spLocks noChangeShapeType="1"/>
            </p:cNvSpPr>
            <p:nvPr/>
          </p:nvSpPr>
          <p:spPr bwMode="auto">
            <a:xfrm>
              <a:off x="2567" y="1616"/>
              <a:ext cx="91" cy="181"/>
            </a:xfrm>
            <a:prstGeom prst="line">
              <a:avLst/>
            </a:prstGeom>
            <a:noFill/>
            <a:ln w="28575">
              <a:solidFill>
                <a:schemeClr val="tx1"/>
              </a:solidFill>
              <a:miter lim="800000"/>
              <a:headEnd/>
              <a:tailEnd type="triangle" w="med" len="med"/>
            </a:ln>
            <a:effectLst/>
          </p:spPr>
          <p:txBody>
            <a:bodyPr wrap="none"/>
            <a:lstStyle/>
            <a:p>
              <a:endParaRPr lang="zh-CN" altLang="en-US"/>
            </a:p>
          </p:txBody>
        </p:sp>
        <p:sp>
          <p:nvSpPr>
            <p:cNvPr id="15" name="Rectangle 17"/>
            <p:cNvSpPr>
              <a:spLocks noChangeArrowheads="1"/>
            </p:cNvSpPr>
            <p:nvPr/>
          </p:nvSpPr>
          <p:spPr bwMode="auto">
            <a:xfrm>
              <a:off x="2249" y="1797"/>
              <a:ext cx="763" cy="252"/>
            </a:xfrm>
            <a:prstGeom prst="rect">
              <a:avLst/>
            </a:prstGeom>
            <a:noFill/>
            <a:ln w="9525">
              <a:solidFill>
                <a:schemeClr val="hlink"/>
              </a:solidFill>
              <a:miter lim="800000"/>
              <a:headEnd/>
              <a:tailEnd/>
            </a:ln>
            <a:effectLst/>
          </p:spPr>
          <p:txBody>
            <a:bodyPr wrap="none">
              <a:spAutoFit/>
            </a:bodyPr>
            <a:lstStyle/>
            <a:p>
              <a:r>
                <a:rPr lang="zh-CN" altLang="en-US" sz="2000" b="0" dirty="0">
                  <a:solidFill>
                    <a:srgbClr val="0000CC"/>
                  </a:solidFill>
                  <a:ea typeface="黑体" pitchFamily="49" charset="-122"/>
                </a:rPr>
                <a:t>操作符号</a:t>
              </a:r>
            </a:p>
          </p:txBody>
        </p:sp>
      </p:grpSp>
      <p:grpSp>
        <p:nvGrpSpPr>
          <p:cNvPr id="16" name="Group 21"/>
          <p:cNvGrpSpPr>
            <a:grpSpLocks/>
          </p:cNvGrpSpPr>
          <p:nvPr/>
        </p:nvGrpSpPr>
        <p:grpSpPr bwMode="auto">
          <a:xfrm>
            <a:off x="3996645" y="1516829"/>
            <a:ext cx="2591175" cy="1223962"/>
            <a:chOff x="2615" y="1253"/>
            <a:chExt cx="1381" cy="771"/>
          </a:xfrm>
        </p:grpSpPr>
        <p:sp>
          <p:nvSpPr>
            <p:cNvPr id="17" name="Oval 11"/>
            <p:cNvSpPr>
              <a:spLocks noChangeArrowheads="1"/>
            </p:cNvSpPr>
            <p:nvPr/>
          </p:nvSpPr>
          <p:spPr bwMode="auto">
            <a:xfrm>
              <a:off x="2615" y="1253"/>
              <a:ext cx="1036" cy="408"/>
            </a:xfrm>
            <a:prstGeom prst="ellipse">
              <a:avLst/>
            </a:prstGeom>
            <a:noFill/>
            <a:ln w="28575">
              <a:solidFill>
                <a:schemeClr val="hlink"/>
              </a:solidFill>
              <a:miter lim="800000"/>
              <a:headEnd/>
              <a:tailEnd/>
            </a:ln>
            <a:effectLst/>
          </p:spPr>
          <p:txBody>
            <a:bodyPr wrap="none" anchor="ctr"/>
            <a:lstStyle/>
            <a:p>
              <a:endParaRPr lang="zh-CN" altLang="en-US"/>
            </a:p>
          </p:txBody>
        </p:sp>
        <p:sp>
          <p:nvSpPr>
            <p:cNvPr id="18" name="Line 14"/>
            <p:cNvSpPr>
              <a:spLocks noChangeShapeType="1"/>
            </p:cNvSpPr>
            <p:nvPr/>
          </p:nvSpPr>
          <p:spPr bwMode="auto">
            <a:xfrm>
              <a:off x="3435" y="1616"/>
              <a:ext cx="254" cy="161"/>
            </a:xfrm>
            <a:prstGeom prst="line">
              <a:avLst/>
            </a:prstGeom>
            <a:noFill/>
            <a:ln w="28575">
              <a:solidFill>
                <a:schemeClr val="hlink"/>
              </a:solidFill>
              <a:miter lim="800000"/>
              <a:headEnd/>
              <a:tailEnd type="triangle" w="med" len="med"/>
            </a:ln>
            <a:effectLst/>
          </p:spPr>
          <p:txBody>
            <a:bodyPr wrap="none"/>
            <a:lstStyle/>
            <a:p>
              <a:endParaRPr lang="zh-CN" altLang="en-US"/>
            </a:p>
          </p:txBody>
        </p:sp>
        <p:sp>
          <p:nvSpPr>
            <p:cNvPr id="19" name="Rectangle 18"/>
            <p:cNvSpPr>
              <a:spLocks noChangeArrowheads="1"/>
            </p:cNvSpPr>
            <p:nvPr/>
          </p:nvSpPr>
          <p:spPr bwMode="auto">
            <a:xfrm>
              <a:off x="3344" y="1772"/>
              <a:ext cx="652" cy="252"/>
            </a:xfrm>
            <a:prstGeom prst="rect">
              <a:avLst/>
            </a:prstGeom>
            <a:noFill/>
            <a:ln w="9525">
              <a:solidFill>
                <a:schemeClr val="hlink"/>
              </a:solidFill>
              <a:miter lim="800000"/>
              <a:headEnd/>
              <a:tailEnd/>
            </a:ln>
            <a:effectLst/>
          </p:spPr>
          <p:txBody>
            <a:bodyPr wrap="square">
              <a:spAutoFit/>
            </a:bodyPr>
            <a:lstStyle/>
            <a:p>
              <a:r>
                <a:rPr lang="zh-CN" altLang="en-US" sz="2000" b="0" dirty="0">
                  <a:solidFill>
                    <a:srgbClr val="0000CC"/>
                  </a:solidFill>
                  <a:ea typeface="黑体" pitchFamily="49" charset="-122"/>
                </a:rPr>
                <a:t>访问权限</a:t>
              </a:r>
            </a:p>
          </p:txBody>
        </p:sp>
      </p:grpSp>
      <p:sp>
        <p:nvSpPr>
          <p:cNvPr id="21" name="AutoShape 4"/>
          <p:cNvSpPr>
            <a:spLocks noChangeArrowheads="1"/>
          </p:cNvSpPr>
          <p:nvPr/>
        </p:nvSpPr>
        <p:spPr bwMode="auto">
          <a:xfrm>
            <a:off x="723900" y="5393635"/>
            <a:ext cx="7696200" cy="609600"/>
          </a:xfrm>
          <a:prstGeom prst="roundRect">
            <a:avLst>
              <a:gd name="adj" fmla="val 29167"/>
            </a:avLst>
          </a:prstGeom>
          <a:noFill/>
          <a:ln w="28575">
            <a:solidFill>
              <a:schemeClr val="hlink"/>
            </a:solidFill>
            <a:miter lim="800000"/>
            <a:headEnd/>
            <a:tailEnd/>
          </a:ln>
          <a:effectLst/>
        </p:spPr>
        <p:txBody>
          <a:bodyPr wrap="none" anchor="ctr"/>
          <a:lstStyle/>
          <a:p>
            <a:pPr algn="ctr"/>
            <a:r>
              <a:rPr lang="zh-CN" altLang="en-US" sz="2400" b="0" dirty="0">
                <a:solidFill>
                  <a:schemeClr val="tx1"/>
                </a:solidFill>
                <a:latin typeface="Tahoma" pitchFamily="34" charset="0"/>
                <a:ea typeface="黑体" pitchFamily="49" charset="-122"/>
              </a:rPr>
              <a:t>在一个命令行中可给出多个权限模式，其间用</a:t>
            </a:r>
            <a:r>
              <a:rPr lang="zh-CN" altLang="en-US" sz="2400" b="0" dirty="0">
                <a:solidFill>
                  <a:srgbClr val="0000CC"/>
                </a:solidFill>
                <a:latin typeface="Tahoma" pitchFamily="34" charset="0"/>
                <a:ea typeface="黑体" pitchFamily="49" charset="-122"/>
              </a:rPr>
              <a:t>逗号</a:t>
            </a:r>
            <a:r>
              <a:rPr lang="zh-CN" altLang="en-US" sz="2400" b="0" dirty="0">
                <a:latin typeface="Tahoma" pitchFamily="34" charset="0"/>
                <a:ea typeface="黑体" pitchFamily="49" charset="-122"/>
              </a:rPr>
              <a:t>间</a:t>
            </a:r>
            <a:r>
              <a:rPr lang="zh-CN" altLang="en-US" sz="2400" b="0" dirty="0">
                <a:solidFill>
                  <a:schemeClr val="tx1"/>
                </a:solidFill>
                <a:latin typeface="Tahoma" pitchFamily="34" charset="0"/>
                <a:ea typeface="黑体" pitchFamily="49" charset="-122"/>
              </a:rPr>
              <a:t>隔</a:t>
            </a:r>
          </a:p>
        </p:txBody>
      </p:sp>
      <p:sp>
        <p:nvSpPr>
          <p:cNvPr id="22" name="文本框 21">
            <a:extLst>
              <a:ext uri="{FF2B5EF4-FFF2-40B4-BE49-F238E27FC236}">
                <a16:creationId xmlns:a16="http://schemas.microsoft.com/office/drawing/2014/main" id="{05BFEAF1-E106-4EE9-80F0-362032FC9D1E}"/>
              </a:ext>
            </a:extLst>
          </p:cNvPr>
          <p:cNvSpPr txBox="1"/>
          <p:nvPr/>
        </p:nvSpPr>
        <p:spPr>
          <a:xfrm>
            <a:off x="1016707" y="6219370"/>
            <a:ext cx="7110586" cy="461665"/>
          </a:xfrm>
          <a:prstGeom prst="rect">
            <a:avLst/>
          </a:prstGeom>
          <a:noFill/>
          <a:ln w="28575" cap="rnd">
            <a:solidFill>
              <a:srgbClr val="FF0000"/>
            </a:solidFill>
          </a:ln>
        </p:spPr>
        <p:txBody>
          <a:bodyPr wrap="square">
            <a:spAutoFit/>
          </a:bodyPr>
          <a:lstStyle/>
          <a:p>
            <a:r>
              <a:rPr lang="en-US" altLang="zh-CN" sz="2400" b="1" i="0" dirty="0">
                <a:solidFill>
                  <a:srgbClr val="000000"/>
                </a:solidFill>
                <a:effectLst/>
                <a:latin typeface="黑体" panose="02010609060101010101" pitchFamily="49" charset="-122"/>
                <a:ea typeface="黑体" panose="02010609060101010101" pitchFamily="49" charset="-122"/>
              </a:rPr>
              <a:t>+ </a:t>
            </a:r>
            <a:r>
              <a:rPr lang="zh-CN" altLang="en-US" sz="2400" b="1" i="0" dirty="0">
                <a:solidFill>
                  <a:srgbClr val="000000"/>
                </a:solidFill>
                <a:effectLst/>
                <a:latin typeface="黑体" panose="02010609060101010101" pitchFamily="49" charset="-122"/>
                <a:ea typeface="黑体" panose="02010609060101010101" pitchFamily="49" charset="-122"/>
              </a:rPr>
              <a:t>与 </a:t>
            </a:r>
            <a:r>
              <a:rPr lang="en-US" altLang="zh-CN" sz="2400" b="1" i="0" dirty="0">
                <a:solidFill>
                  <a:srgbClr val="000000"/>
                </a:solidFill>
                <a:effectLst/>
                <a:latin typeface="黑体" panose="02010609060101010101" pitchFamily="49" charset="-122"/>
                <a:ea typeface="黑体" panose="02010609060101010101" pitchFamily="49" charset="-122"/>
              </a:rPr>
              <a:t>– </a:t>
            </a:r>
            <a:r>
              <a:rPr lang="zh-CN" altLang="en-US" sz="2400" b="1" i="0" dirty="0">
                <a:solidFill>
                  <a:srgbClr val="000000"/>
                </a:solidFill>
                <a:effectLst/>
                <a:latin typeface="黑体" panose="02010609060101010101" pitchFamily="49" charset="-122"/>
                <a:ea typeface="黑体" panose="02010609060101010101" pitchFamily="49" charset="-122"/>
              </a:rPr>
              <a:t>：只要是没有指定到的权限项</a:t>
            </a:r>
            <a:r>
              <a:rPr lang="zh-CN" altLang="en-US" sz="2400" b="1" i="0" dirty="0">
                <a:solidFill>
                  <a:srgbClr val="0000CC"/>
                </a:solidFill>
                <a:effectLst/>
                <a:latin typeface="黑体" panose="02010609060101010101" pitchFamily="49" charset="-122"/>
                <a:ea typeface="黑体" panose="02010609060101010101" pitchFamily="49" charset="-122"/>
              </a:rPr>
              <a:t>不会被变动</a:t>
            </a:r>
            <a:endParaRPr lang="zh-CN" altLang="en-US" sz="2400" b="1" dirty="0">
              <a:solidFill>
                <a:srgbClr val="0000CC"/>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up)">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up)">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3" presetClass="entr" presetSubtype="16"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 calcmode="lin" valueType="num">
                                      <p:cBhvr>
                                        <p:cTn id="22" dur="500" fill="hold"/>
                                        <p:tgtEl>
                                          <p:spTgt spid="21"/>
                                        </p:tgtEl>
                                        <p:attrNameLst>
                                          <p:attrName>ppt_w</p:attrName>
                                        </p:attrNameLst>
                                      </p:cBhvr>
                                      <p:tavLst>
                                        <p:tav tm="0">
                                          <p:val>
                                            <p:fltVal val="0"/>
                                          </p:val>
                                        </p:tav>
                                        <p:tav tm="100000">
                                          <p:val>
                                            <p:strVal val="#ppt_w"/>
                                          </p:val>
                                        </p:tav>
                                      </p:tavLst>
                                    </p:anim>
                                    <p:anim calcmode="lin" valueType="num">
                                      <p:cBhvr>
                                        <p:cTn id="23" dur="500" fill="hold"/>
                                        <p:tgtEl>
                                          <p:spTgt spid="21"/>
                                        </p:tgtEl>
                                        <p:attrNameLst>
                                          <p:attrName>ppt_h</p:attrName>
                                        </p:attrNameLst>
                                      </p:cBhvr>
                                      <p:tavLst>
                                        <p:tav tm="0">
                                          <p:val>
                                            <p:fltVal val="0"/>
                                          </p:val>
                                        </p:tav>
                                        <p:tav tm="100000">
                                          <p:val>
                                            <p:strVal val="#ppt_h"/>
                                          </p:val>
                                        </p:tav>
                                      </p:tavLst>
                                    </p:anim>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的文字设定法举例</a:t>
            </a:r>
            <a:r>
              <a:rPr lang="en-US" altLang="zh-CN" dirty="0"/>
              <a:t>1</a:t>
            </a:r>
            <a:endParaRPr lang="zh-CN" altLang="en-US" dirty="0"/>
          </a:p>
        </p:txBody>
      </p:sp>
      <p:sp>
        <p:nvSpPr>
          <p:cNvPr id="7" name="文本框 6">
            <a:extLst>
              <a:ext uri="{FF2B5EF4-FFF2-40B4-BE49-F238E27FC236}">
                <a16:creationId xmlns:a16="http://schemas.microsoft.com/office/drawing/2014/main" id="{9BF950F7-8187-4FF8-82C6-9CAACBD8F30F}"/>
              </a:ext>
            </a:extLst>
          </p:cNvPr>
          <p:cNvSpPr txBox="1"/>
          <p:nvPr/>
        </p:nvSpPr>
        <p:spPr>
          <a:xfrm>
            <a:off x="251520" y="1484784"/>
            <a:ext cx="8695630" cy="3108543"/>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path path="circle">
              <a:fillToRect l="100000" t="100000"/>
            </a:path>
            <a:tileRect r="-100000" b="-100000"/>
          </a:gradFill>
        </p:spPr>
        <p:txBody>
          <a:bodyPr wrap="square">
            <a:spAutoFit/>
          </a:bodyPr>
          <a:lstStyle/>
          <a:p>
            <a:r>
              <a:rPr lang="en-US" altLang="zh-CN" sz="3600" b="0" i="0" dirty="0">
                <a:solidFill>
                  <a:srgbClr val="0000CC"/>
                </a:solidFill>
                <a:effectLst/>
                <a:latin typeface="黑体" panose="02010609060101010101" pitchFamily="49" charset="-122"/>
                <a:ea typeface="黑体" panose="02010609060101010101" pitchFamily="49" charset="-122"/>
              </a:rPr>
              <a:t>1 </a:t>
            </a:r>
            <a:r>
              <a:rPr lang="zh-CN" altLang="en-US" sz="3600" b="0" i="0" dirty="0">
                <a:solidFill>
                  <a:srgbClr val="0000CC"/>
                </a:solidFill>
                <a:effectLst/>
                <a:latin typeface="黑体" panose="02010609060101010101" pitchFamily="49" charset="-122"/>
                <a:ea typeface="黑体" panose="02010609060101010101" pitchFamily="49" charset="-122"/>
              </a:rPr>
              <a:t>设定文件</a:t>
            </a:r>
            <a:r>
              <a:rPr lang="en-US" altLang="zh-CN" sz="3600" dirty="0">
                <a:solidFill>
                  <a:srgbClr val="0000CC"/>
                </a:solidFill>
                <a:latin typeface="黑体" panose="02010609060101010101" pitchFamily="49" charset="-122"/>
                <a:ea typeface="黑体" panose="02010609060101010101" pitchFamily="49" charset="-122"/>
              </a:rPr>
              <a:t>.</a:t>
            </a:r>
            <a:r>
              <a:rPr lang="en-US" altLang="zh-CN" sz="3600" dirty="0" err="1">
                <a:solidFill>
                  <a:srgbClr val="0000CC"/>
                </a:solidFill>
                <a:latin typeface="黑体" panose="02010609060101010101" pitchFamily="49" charset="-122"/>
                <a:ea typeface="黑体" panose="02010609060101010101" pitchFamily="49" charset="-122"/>
              </a:rPr>
              <a:t>bashrc</a:t>
            </a:r>
            <a:r>
              <a:rPr lang="zh-CN" altLang="en-US" sz="3600" b="0" i="0" dirty="0">
                <a:solidFill>
                  <a:srgbClr val="0000CC"/>
                </a:solidFill>
                <a:effectLst/>
                <a:latin typeface="黑体" panose="02010609060101010101" pitchFamily="49" charset="-122"/>
                <a:ea typeface="黑体" panose="02010609060101010101" pitchFamily="49" charset="-122"/>
              </a:rPr>
              <a:t>的权限为</a:t>
            </a:r>
            <a:r>
              <a:rPr lang="en-US" altLang="zh-CN" sz="3600" b="0" i="0" dirty="0">
                <a:solidFill>
                  <a:srgbClr val="0000CC"/>
                </a:solidFill>
                <a:effectLst/>
                <a:latin typeface="黑体" panose="02010609060101010101" pitchFamily="49" charset="-122"/>
                <a:ea typeface="黑体" panose="02010609060101010101" pitchFamily="49" charset="-122"/>
              </a:rPr>
              <a:t>-</a:t>
            </a:r>
            <a:r>
              <a:rPr lang="en-US" altLang="zh-CN" sz="3600" b="0" i="0" dirty="0" err="1">
                <a:solidFill>
                  <a:srgbClr val="0000CC"/>
                </a:solidFill>
                <a:effectLst/>
                <a:latin typeface="黑体" panose="02010609060101010101" pitchFamily="49" charset="-122"/>
                <a:ea typeface="黑体" panose="02010609060101010101" pitchFamily="49" charset="-122"/>
              </a:rPr>
              <a:t>rwxr</a:t>
            </a:r>
            <a:r>
              <a:rPr lang="en-US" altLang="zh-CN" sz="3600" b="0" i="0" dirty="0">
                <a:solidFill>
                  <a:srgbClr val="0000CC"/>
                </a:solidFill>
                <a:effectLst/>
                <a:latin typeface="黑体" panose="02010609060101010101" pitchFamily="49" charset="-122"/>
                <a:ea typeface="黑体" panose="02010609060101010101" pitchFamily="49" charset="-122"/>
              </a:rPr>
              <a:t>-</a:t>
            </a:r>
            <a:r>
              <a:rPr lang="en-US" altLang="zh-CN" sz="3600" b="0" i="0" dirty="0" err="1">
                <a:solidFill>
                  <a:srgbClr val="0000CC"/>
                </a:solidFill>
                <a:effectLst/>
                <a:latin typeface="黑体" panose="02010609060101010101" pitchFamily="49" charset="-122"/>
                <a:ea typeface="黑体" panose="02010609060101010101" pitchFamily="49" charset="-122"/>
              </a:rPr>
              <a:t>xr</a:t>
            </a:r>
            <a:r>
              <a:rPr lang="en-US" altLang="zh-CN" sz="3600" b="0" i="0" dirty="0">
                <a:solidFill>
                  <a:srgbClr val="0000CC"/>
                </a:solidFill>
                <a:effectLst/>
                <a:latin typeface="黑体" panose="02010609060101010101" pitchFamily="49" charset="-122"/>
                <a:ea typeface="黑体" panose="02010609060101010101" pitchFamily="49" charset="-122"/>
              </a:rPr>
              <a:t>-x</a:t>
            </a:r>
            <a:endParaRPr lang="en-US" altLang="zh-CN" sz="3600" dirty="0">
              <a:solidFill>
                <a:srgbClr val="0000CC"/>
              </a:solidFill>
              <a:latin typeface="黑体" panose="02010609060101010101" pitchFamily="49" charset="-122"/>
              <a:ea typeface="黑体" panose="02010609060101010101" pitchFamily="49" charset="-122"/>
            </a:endParaRPr>
          </a:p>
          <a:p>
            <a:r>
              <a:rPr lang="en-US" altLang="zh-CN" sz="3200" dirty="0"/>
              <a:t>[</a:t>
            </a:r>
            <a:r>
              <a:rPr lang="en-US" altLang="zh-CN" sz="3200" dirty="0" err="1"/>
              <a:t>root@www</a:t>
            </a:r>
            <a:r>
              <a:rPr lang="en-US" altLang="zh-CN" sz="3200" dirty="0"/>
              <a:t> ~]# </a:t>
            </a:r>
            <a:r>
              <a:rPr lang="en-US" altLang="zh-CN" sz="3200" dirty="0">
                <a:solidFill>
                  <a:srgbClr val="FF0000"/>
                </a:solidFill>
              </a:rPr>
              <a:t>chmod  u=</a:t>
            </a:r>
            <a:r>
              <a:rPr lang="en-US" altLang="zh-CN" sz="3200" dirty="0" err="1">
                <a:solidFill>
                  <a:srgbClr val="FF0000"/>
                </a:solidFill>
              </a:rPr>
              <a:t>rwx,go</a:t>
            </a:r>
            <a:r>
              <a:rPr lang="en-US" altLang="zh-CN" sz="3200" dirty="0">
                <a:solidFill>
                  <a:srgbClr val="FF0000"/>
                </a:solidFill>
              </a:rPr>
              <a:t>=</a:t>
            </a:r>
            <a:r>
              <a:rPr lang="en-US" altLang="zh-CN" sz="3200" dirty="0" err="1">
                <a:solidFill>
                  <a:srgbClr val="FF0000"/>
                </a:solidFill>
              </a:rPr>
              <a:t>rx</a:t>
            </a:r>
            <a:r>
              <a:rPr lang="en-US" altLang="zh-CN" sz="3200" dirty="0">
                <a:solidFill>
                  <a:srgbClr val="FF0000"/>
                </a:solidFill>
              </a:rPr>
              <a:t>  </a:t>
            </a:r>
            <a:r>
              <a:rPr lang="en-US" altLang="zh-CN" sz="3200" dirty="0"/>
              <a:t>.</a:t>
            </a:r>
            <a:r>
              <a:rPr lang="en-US" altLang="zh-CN" sz="3200" dirty="0" err="1"/>
              <a:t>bashrc</a:t>
            </a:r>
            <a:endParaRPr lang="en-US" altLang="zh-CN" sz="3200" dirty="0"/>
          </a:p>
          <a:p>
            <a:r>
              <a:rPr lang="en-US" altLang="zh-CN" sz="3200" dirty="0"/>
              <a:t># u=</a:t>
            </a:r>
            <a:r>
              <a:rPr lang="en-US" altLang="zh-CN" sz="3200" dirty="0" err="1"/>
              <a:t>rwx,go</a:t>
            </a:r>
            <a:r>
              <a:rPr lang="en-US" altLang="zh-CN" sz="3200" dirty="0"/>
              <a:t>=</a:t>
            </a:r>
            <a:r>
              <a:rPr lang="en-US" altLang="zh-CN" sz="3200" dirty="0" err="1"/>
              <a:t>rx</a:t>
            </a:r>
            <a:r>
              <a:rPr lang="en-US" altLang="zh-CN" sz="3200" dirty="0"/>
              <a:t> </a:t>
            </a:r>
            <a:r>
              <a:rPr lang="zh-CN" altLang="en-US" sz="3200" dirty="0"/>
              <a:t>是连在一起的，中间并没有任何空格！</a:t>
            </a:r>
          </a:p>
          <a:p>
            <a:r>
              <a:rPr lang="en-US" altLang="zh-CN" sz="3200" dirty="0"/>
              <a:t>[</a:t>
            </a:r>
            <a:r>
              <a:rPr lang="en-US" altLang="zh-CN" sz="3200" dirty="0" err="1"/>
              <a:t>root@www</a:t>
            </a:r>
            <a:r>
              <a:rPr lang="en-US" altLang="zh-CN" sz="3200" dirty="0"/>
              <a:t> ~]# ls -al .</a:t>
            </a:r>
            <a:r>
              <a:rPr lang="en-US" altLang="zh-CN" sz="3200" dirty="0" err="1"/>
              <a:t>bashrc</a:t>
            </a:r>
            <a:endParaRPr lang="en-US" altLang="zh-CN" sz="3200" dirty="0"/>
          </a:p>
          <a:p>
            <a:r>
              <a:rPr lang="en-US" altLang="zh-CN" sz="3200" dirty="0"/>
              <a:t>-</a:t>
            </a:r>
            <a:r>
              <a:rPr lang="en-US" altLang="zh-CN" sz="3200" dirty="0" err="1"/>
              <a:t>rwxr</a:t>
            </a:r>
            <a:r>
              <a:rPr lang="en-US" altLang="zh-CN" sz="3200" dirty="0"/>
              <a:t>-</a:t>
            </a:r>
            <a:r>
              <a:rPr lang="en-US" altLang="zh-CN" sz="3200" dirty="0" err="1"/>
              <a:t>xr</a:t>
            </a:r>
            <a:r>
              <a:rPr lang="en-US" altLang="zh-CN" sz="3200" dirty="0"/>
              <a:t>-x  1 root </a:t>
            </a:r>
            <a:r>
              <a:rPr lang="en-US" altLang="zh-CN" sz="3200" dirty="0" err="1"/>
              <a:t>root</a:t>
            </a:r>
            <a:r>
              <a:rPr lang="en-US" altLang="zh-CN" sz="3200" dirty="0"/>
              <a:t> 395 Jul  4 11:45 .</a:t>
            </a:r>
            <a:r>
              <a:rPr lang="en-US" altLang="zh-CN" sz="3200" dirty="0" err="1" smtClean="0"/>
              <a:t>bashrc</a:t>
            </a:r>
            <a:endParaRPr lang="en-US" altLang="zh-CN" sz="3200" dirty="0"/>
          </a:p>
        </p:txBody>
      </p:sp>
    </p:spTree>
    <p:extLst>
      <p:ext uri="{BB962C8B-B14F-4D97-AF65-F5344CB8AC3E}">
        <p14:creationId xmlns:p14="http://schemas.microsoft.com/office/powerpoint/2010/main" val="78657995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的文字设定法举例</a:t>
            </a:r>
            <a:r>
              <a:rPr lang="en-US" altLang="zh-CN" dirty="0"/>
              <a:t>1</a:t>
            </a:r>
            <a:endParaRPr lang="zh-CN" altLang="en-US" dirty="0"/>
          </a:p>
        </p:txBody>
      </p:sp>
      <p:sp>
        <p:nvSpPr>
          <p:cNvPr id="7" name="文本框 6">
            <a:extLst>
              <a:ext uri="{FF2B5EF4-FFF2-40B4-BE49-F238E27FC236}">
                <a16:creationId xmlns:a16="http://schemas.microsoft.com/office/drawing/2014/main" id="{9BF950F7-8187-4FF8-82C6-9CAACBD8F30F}"/>
              </a:ext>
            </a:extLst>
          </p:cNvPr>
          <p:cNvSpPr txBox="1"/>
          <p:nvPr/>
        </p:nvSpPr>
        <p:spPr>
          <a:xfrm>
            <a:off x="251520" y="1484784"/>
            <a:ext cx="8695630" cy="3231654"/>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path path="circle">
              <a:fillToRect l="100000" t="100000"/>
            </a:path>
            <a:tileRect r="-100000" b="-100000"/>
          </a:gradFill>
        </p:spPr>
        <p:txBody>
          <a:bodyPr wrap="square">
            <a:spAutoFit/>
          </a:bodyPr>
          <a:lstStyle/>
          <a:p>
            <a:pPr>
              <a:spcBef>
                <a:spcPts val="1200"/>
              </a:spcBef>
            </a:pPr>
            <a:r>
              <a:rPr lang="en-US" altLang="zh-CN" sz="3200" dirty="0" smtClean="0">
                <a:solidFill>
                  <a:srgbClr val="0000CC"/>
                </a:solidFill>
                <a:latin typeface="黑体" panose="02010609060101010101" pitchFamily="49" charset="-122"/>
                <a:ea typeface="黑体" panose="02010609060101010101" pitchFamily="49" charset="-122"/>
              </a:rPr>
              <a:t>2 </a:t>
            </a:r>
            <a:r>
              <a:rPr lang="zh-CN" altLang="en-US" sz="3200" dirty="0">
                <a:solidFill>
                  <a:srgbClr val="0000CC"/>
                </a:solidFill>
                <a:latin typeface="黑体" panose="02010609060101010101" pitchFamily="49" charset="-122"/>
                <a:ea typeface="黑体" panose="02010609060101010101" pitchFamily="49" charset="-122"/>
              </a:rPr>
              <a:t>不知道文件</a:t>
            </a:r>
            <a:r>
              <a:rPr lang="en-US" altLang="zh-CN" sz="3200" dirty="0">
                <a:solidFill>
                  <a:srgbClr val="0000CC"/>
                </a:solidFill>
                <a:latin typeface="黑体" panose="02010609060101010101" pitchFamily="49" charset="-122"/>
                <a:ea typeface="黑体" panose="02010609060101010101" pitchFamily="49" charset="-122"/>
              </a:rPr>
              <a:t>.</a:t>
            </a:r>
            <a:r>
              <a:rPr lang="en-US" altLang="zh-CN" sz="3200" dirty="0" err="1">
                <a:solidFill>
                  <a:srgbClr val="0000CC"/>
                </a:solidFill>
                <a:latin typeface="黑体" panose="02010609060101010101" pitchFamily="49" charset="-122"/>
                <a:ea typeface="黑体" panose="02010609060101010101" pitchFamily="49" charset="-122"/>
              </a:rPr>
              <a:t>bashrc</a:t>
            </a:r>
            <a:r>
              <a:rPr lang="zh-CN" altLang="en-US" sz="3200" dirty="0">
                <a:solidFill>
                  <a:srgbClr val="0000CC"/>
                </a:solidFill>
                <a:latin typeface="黑体" panose="02010609060101010101" pitchFamily="49" charset="-122"/>
                <a:ea typeface="黑体" panose="02010609060101010101" pitchFamily="49" charset="-122"/>
              </a:rPr>
              <a:t>属性，只增加</a:t>
            </a:r>
            <a:r>
              <a:rPr lang="en-US" altLang="zh-CN" sz="3200" dirty="0">
                <a:solidFill>
                  <a:srgbClr val="0000CC"/>
                </a:solidFill>
                <a:latin typeface="黑体" panose="02010609060101010101" pitchFamily="49" charset="-122"/>
                <a:ea typeface="黑体" panose="02010609060101010101" pitchFamily="49" charset="-122"/>
              </a:rPr>
              <a:t>.</a:t>
            </a:r>
            <a:r>
              <a:rPr lang="en-US" altLang="zh-CN" sz="3200" dirty="0" err="1">
                <a:solidFill>
                  <a:srgbClr val="0000CC"/>
                </a:solidFill>
                <a:latin typeface="黑体" panose="02010609060101010101" pitchFamily="49" charset="-122"/>
                <a:ea typeface="黑体" panose="02010609060101010101" pitchFamily="49" charset="-122"/>
              </a:rPr>
              <a:t>bashrc</a:t>
            </a:r>
            <a:r>
              <a:rPr lang="zh-CN" altLang="en-US" sz="3200" dirty="0">
                <a:solidFill>
                  <a:srgbClr val="0000CC"/>
                </a:solidFill>
                <a:latin typeface="黑体" panose="02010609060101010101" pitchFamily="49" charset="-122"/>
                <a:ea typeface="黑体" panose="02010609060101010101" pitchFamily="49" charset="-122"/>
              </a:rPr>
              <a:t>所有人可写的权限</a:t>
            </a:r>
            <a:endParaRPr lang="en-US" altLang="zh-CN" sz="3200" dirty="0">
              <a:solidFill>
                <a:srgbClr val="0000CC"/>
              </a:solidFill>
              <a:latin typeface="黑体" panose="02010609060101010101" pitchFamily="49" charset="-122"/>
              <a:ea typeface="黑体" panose="02010609060101010101" pitchFamily="49" charset="-122"/>
            </a:endParaRPr>
          </a:p>
          <a:p>
            <a:r>
              <a:rPr lang="en-US" altLang="zh-CN" sz="2800" dirty="0"/>
              <a:t>[</a:t>
            </a:r>
            <a:r>
              <a:rPr lang="en-US" altLang="zh-CN" sz="2800" dirty="0" err="1"/>
              <a:t>root@www</a:t>
            </a:r>
            <a:r>
              <a:rPr lang="en-US" altLang="zh-CN" sz="2800" dirty="0"/>
              <a:t> ~]# ls -al .</a:t>
            </a:r>
            <a:r>
              <a:rPr lang="en-US" altLang="zh-CN" sz="2800" dirty="0" err="1"/>
              <a:t>bashrc</a:t>
            </a:r>
            <a:endParaRPr lang="en-US" altLang="zh-CN" sz="2800" dirty="0"/>
          </a:p>
          <a:p>
            <a:r>
              <a:rPr lang="en-US" altLang="zh-CN" sz="2800" dirty="0">
                <a:solidFill>
                  <a:srgbClr val="FF0000"/>
                </a:solidFill>
              </a:rPr>
              <a:t>-</a:t>
            </a:r>
            <a:r>
              <a:rPr lang="en-US" altLang="zh-CN" sz="2800" dirty="0" err="1">
                <a:solidFill>
                  <a:srgbClr val="FF0000"/>
                </a:solidFill>
              </a:rPr>
              <a:t>rwxr</a:t>
            </a:r>
            <a:r>
              <a:rPr lang="en-US" altLang="zh-CN" sz="2800" dirty="0">
                <a:solidFill>
                  <a:srgbClr val="FF0000"/>
                </a:solidFill>
              </a:rPr>
              <a:t>-</a:t>
            </a:r>
            <a:r>
              <a:rPr lang="en-US" altLang="zh-CN" sz="2800" dirty="0" err="1">
                <a:solidFill>
                  <a:srgbClr val="FF0000"/>
                </a:solidFill>
              </a:rPr>
              <a:t>xr</a:t>
            </a:r>
            <a:r>
              <a:rPr lang="en-US" altLang="zh-CN" sz="2800" dirty="0">
                <a:solidFill>
                  <a:srgbClr val="FF0000"/>
                </a:solidFill>
              </a:rPr>
              <a:t>-x  </a:t>
            </a:r>
            <a:r>
              <a:rPr lang="en-US" altLang="zh-CN" sz="2800" dirty="0"/>
              <a:t>1 root </a:t>
            </a:r>
            <a:r>
              <a:rPr lang="en-US" altLang="zh-CN" sz="2800" dirty="0" err="1"/>
              <a:t>root</a:t>
            </a:r>
            <a:r>
              <a:rPr lang="en-US" altLang="zh-CN" sz="2800" dirty="0"/>
              <a:t> 395 Jul  4 11:45 .</a:t>
            </a:r>
            <a:r>
              <a:rPr lang="en-US" altLang="zh-CN" sz="2800" dirty="0" err="1"/>
              <a:t>bashrc</a:t>
            </a:r>
            <a:endParaRPr lang="en-US" altLang="zh-CN" sz="2800" dirty="0"/>
          </a:p>
          <a:p>
            <a:r>
              <a:rPr lang="en-US" altLang="zh-CN" sz="2800" dirty="0"/>
              <a:t>[</a:t>
            </a:r>
            <a:r>
              <a:rPr lang="en-US" altLang="zh-CN" sz="2800" dirty="0" err="1"/>
              <a:t>root@www</a:t>
            </a:r>
            <a:r>
              <a:rPr lang="en-US" altLang="zh-CN" sz="2800" dirty="0"/>
              <a:t> ~]# </a:t>
            </a:r>
            <a:r>
              <a:rPr lang="en-US" altLang="zh-CN" sz="2800" dirty="0">
                <a:solidFill>
                  <a:srgbClr val="FF0000"/>
                </a:solidFill>
              </a:rPr>
              <a:t>chmod  </a:t>
            </a:r>
            <a:r>
              <a:rPr lang="en-US" altLang="zh-CN" sz="2800" dirty="0" err="1">
                <a:solidFill>
                  <a:srgbClr val="FF0000"/>
                </a:solidFill>
              </a:rPr>
              <a:t>a+w</a:t>
            </a:r>
            <a:r>
              <a:rPr lang="en-US" altLang="zh-CN" sz="2800" dirty="0"/>
              <a:t>  .</a:t>
            </a:r>
            <a:r>
              <a:rPr lang="en-US" altLang="zh-CN" sz="2800" dirty="0" err="1"/>
              <a:t>bashrc</a:t>
            </a:r>
            <a:endParaRPr lang="en-US" altLang="zh-CN" sz="2800" dirty="0"/>
          </a:p>
          <a:p>
            <a:r>
              <a:rPr lang="en-US" altLang="zh-CN" sz="2800" dirty="0"/>
              <a:t>[</a:t>
            </a:r>
            <a:r>
              <a:rPr lang="en-US" altLang="zh-CN" sz="2800" dirty="0" err="1"/>
              <a:t>root@www</a:t>
            </a:r>
            <a:r>
              <a:rPr lang="en-US" altLang="zh-CN" sz="2800" dirty="0"/>
              <a:t> ~]# ls -al .</a:t>
            </a:r>
            <a:r>
              <a:rPr lang="en-US" altLang="zh-CN" sz="2800" dirty="0" err="1"/>
              <a:t>bashrc</a:t>
            </a:r>
            <a:endParaRPr lang="en-US" altLang="zh-CN" sz="2800" dirty="0"/>
          </a:p>
          <a:p>
            <a:r>
              <a:rPr lang="en-US" altLang="zh-CN" sz="2800" dirty="0">
                <a:solidFill>
                  <a:srgbClr val="FF0000"/>
                </a:solidFill>
              </a:rPr>
              <a:t>-</a:t>
            </a:r>
            <a:r>
              <a:rPr lang="en-US" altLang="zh-CN" sz="2800" dirty="0" err="1">
                <a:solidFill>
                  <a:srgbClr val="FF0000"/>
                </a:solidFill>
              </a:rPr>
              <a:t>rwxrwxrwx</a:t>
            </a:r>
            <a:r>
              <a:rPr lang="en-US" altLang="zh-CN" sz="2800" dirty="0">
                <a:solidFill>
                  <a:srgbClr val="FF0000"/>
                </a:solidFill>
              </a:rPr>
              <a:t>  </a:t>
            </a:r>
            <a:r>
              <a:rPr lang="en-US" altLang="zh-CN" sz="2800" dirty="0"/>
              <a:t>1 root </a:t>
            </a:r>
            <a:r>
              <a:rPr lang="en-US" altLang="zh-CN" sz="2800" dirty="0" err="1"/>
              <a:t>root</a:t>
            </a:r>
            <a:r>
              <a:rPr lang="en-US" altLang="zh-CN" sz="2800" dirty="0"/>
              <a:t> 395 Jul  4 11:45 .</a:t>
            </a:r>
            <a:r>
              <a:rPr lang="en-US" altLang="zh-CN" sz="2800" dirty="0" err="1" smtClean="0"/>
              <a:t>bashrc</a:t>
            </a:r>
            <a:endParaRPr lang="en-US" altLang="zh-CN" sz="2800" dirty="0"/>
          </a:p>
        </p:txBody>
      </p:sp>
    </p:spTree>
    <p:extLst>
      <p:ext uri="{BB962C8B-B14F-4D97-AF65-F5344CB8AC3E}">
        <p14:creationId xmlns:p14="http://schemas.microsoft.com/office/powerpoint/2010/main" val="1576892538"/>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的文字设定法举例</a:t>
            </a:r>
            <a:r>
              <a:rPr lang="en-US" altLang="zh-CN" dirty="0"/>
              <a:t>1</a:t>
            </a:r>
            <a:endParaRPr lang="zh-CN" altLang="en-US" dirty="0"/>
          </a:p>
        </p:txBody>
      </p:sp>
      <p:sp>
        <p:nvSpPr>
          <p:cNvPr id="7" name="文本框 6">
            <a:extLst>
              <a:ext uri="{FF2B5EF4-FFF2-40B4-BE49-F238E27FC236}">
                <a16:creationId xmlns:a16="http://schemas.microsoft.com/office/drawing/2014/main" id="{9BF950F7-8187-4FF8-82C6-9CAACBD8F30F}"/>
              </a:ext>
            </a:extLst>
          </p:cNvPr>
          <p:cNvSpPr txBox="1"/>
          <p:nvPr/>
        </p:nvSpPr>
        <p:spPr>
          <a:xfrm>
            <a:off x="251520" y="1484784"/>
            <a:ext cx="8695630" cy="1877437"/>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path path="circle">
              <a:fillToRect l="100000" t="100000"/>
            </a:path>
            <a:tileRect r="-100000" b="-100000"/>
          </a:gradFill>
        </p:spPr>
        <p:txBody>
          <a:bodyPr wrap="square">
            <a:spAutoFit/>
          </a:bodyPr>
          <a:lstStyle/>
          <a:p>
            <a:pPr>
              <a:spcBef>
                <a:spcPts val="600"/>
              </a:spcBef>
            </a:pPr>
            <a:r>
              <a:rPr lang="en-US" altLang="zh-CN" sz="3200" dirty="0" smtClean="0">
                <a:solidFill>
                  <a:srgbClr val="0000CC"/>
                </a:solidFill>
                <a:latin typeface="黑体" panose="02010609060101010101" pitchFamily="49" charset="-122"/>
                <a:ea typeface="黑体" panose="02010609060101010101" pitchFamily="49" charset="-122"/>
              </a:rPr>
              <a:t>3 </a:t>
            </a:r>
            <a:r>
              <a:rPr lang="zh-CN" altLang="en-US" sz="3200" dirty="0">
                <a:solidFill>
                  <a:srgbClr val="0000CC"/>
                </a:solidFill>
                <a:latin typeface="黑体" panose="02010609060101010101" pitchFamily="49" charset="-122"/>
                <a:ea typeface="黑体" panose="02010609060101010101" pitchFamily="49" charset="-122"/>
              </a:rPr>
              <a:t>仅去掉所有人的可执行权限</a:t>
            </a:r>
            <a:endParaRPr lang="en-US" altLang="zh-CN" sz="3200" dirty="0">
              <a:solidFill>
                <a:srgbClr val="0000CC"/>
              </a:solidFill>
              <a:latin typeface="黑体" panose="02010609060101010101" pitchFamily="49" charset="-122"/>
              <a:ea typeface="黑体" panose="02010609060101010101" pitchFamily="49" charset="-122"/>
            </a:endParaRPr>
          </a:p>
          <a:p>
            <a:r>
              <a:rPr lang="en-US" altLang="zh-CN" sz="2800" dirty="0"/>
              <a:t>[</a:t>
            </a:r>
            <a:r>
              <a:rPr lang="en-US" altLang="zh-CN" sz="2800" dirty="0" err="1"/>
              <a:t>root@www</a:t>
            </a:r>
            <a:r>
              <a:rPr lang="en-US" altLang="zh-CN" sz="2800" dirty="0"/>
              <a:t> ~]# </a:t>
            </a:r>
            <a:r>
              <a:rPr lang="en-US" altLang="zh-CN" sz="2800" dirty="0">
                <a:solidFill>
                  <a:srgbClr val="FF0000"/>
                </a:solidFill>
              </a:rPr>
              <a:t>chmod  a-x  </a:t>
            </a:r>
            <a:r>
              <a:rPr lang="en-US" altLang="zh-CN" sz="2800" dirty="0"/>
              <a:t>.</a:t>
            </a:r>
            <a:r>
              <a:rPr lang="en-US" altLang="zh-CN" sz="2800" dirty="0" err="1"/>
              <a:t>bashrc</a:t>
            </a:r>
            <a:endParaRPr lang="en-US" altLang="zh-CN" sz="2800" dirty="0"/>
          </a:p>
          <a:p>
            <a:r>
              <a:rPr lang="en-US" altLang="zh-CN" sz="2800" dirty="0"/>
              <a:t>[</a:t>
            </a:r>
            <a:r>
              <a:rPr lang="en-US" altLang="zh-CN" sz="2800" dirty="0" err="1"/>
              <a:t>root@www</a:t>
            </a:r>
            <a:r>
              <a:rPr lang="en-US" altLang="zh-CN" sz="2800" dirty="0"/>
              <a:t> ~]# ls -al .</a:t>
            </a:r>
            <a:r>
              <a:rPr lang="en-US" altLang="zh-CN" sz="2800" dirty="0" err="1"/>
              <a:t>bashrc</a:t>
            </a:r>
            <a:endParaRPr lang="en-US" altLang="zh-CN" sz="2800" dirty="0"/>
          </a:p>
          <a:p>
            <a:r>
              <a:rPr lang="en-US" altLang="zh-CN" sz="2800" dirty="0">
                <a:solidFill>
                  <a:srgbClr val="FF0000"/>
                </a:solidFill>
              </a:rPr>
              <a:t>-</a:t>
            </a:r>
            <a:r>
              <a:rPr lang="en-US" altLang="zh-CN" sz="2800" dirty="0" err="1">
                <a:solidFill>
                  <a:srgbClr val="FF0000"/>
                </a:solidFill>
              </a:rPr>
              <a:t>rw-rw-rw</a:t>
            </a:r>
            <a:r>
              <a:rPr lang="en-US" altLang="zh-CN" sz="2800" dirty="0">
                <a:solidFill>
                  <a:srgbClr val="FF0000"/>
                </a:solidFill>
              </a:rPr>
              <a:t>-  </a:t>
            </a:r>
            <a:r>
              <a:rPr lang="en-US" altLang="zh-CN" sz="2800" dirty="0"/>
              <a:t>1 root </a:t>
            </a:r>
            <a:r>
              <a:rPr lang="en-US" altLang="zh-CN" sz="2800" dirty="0" err="1"/>
              <a:t>root</a:t>
            </a:r>
            <a:r>
              <a:rPr lang="en-US" altLang="zh-CN" sz="2800" dirty="0"/>
              <a:t> 395 Jul  4 11:45 .</a:t>
            </a:r>
            <a:r>
              <a:rPr lang="en-US" altLang="zh-CN" sz="2800" dirty="0" err="1"/>
              <a:t>bashrc</a:t>
            </a:r>
            <a:endParaRPr lang="zh-CN" altLang="en-US" sz="3200" dirty="0"/>
          </a:p>
        </p:txBody>
      </p:sp>
    </p:spTree>
    <p:extLst>
      <p:ext uri="{BB962C8B-B14F-4D97-AF65-F5344CB8AC3E}">
        <p14:creationId xmlns:p14="http://schemas.microsoft.com/office/powerpoint/2010/main" val="413130736"/>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的文字设定法举例</a:t>
            </a:r>
            <a:r>
              <a:rPr lang="en-US" altLang="zh-CN" dirty="0"/>
              <a:t>2</a:t>
            </a:r>
            <a:endParaRPr lang="zh-CN" altLang="en-US" dirty="0"/>
          </a:p>
        </p:txBody>
      </p:sp>
      <p:sp>
        <p:nvSpPr>
          <p:cNvPr id="3" name="内容占位符 2"/>
          <p:cNvSpPr>
            <a:spLocks noGrp="1"/>
          </p:cNvSpPr>
          <p:nvPr>
            <p:ph idx="1"/>
          </p:nvPr>
        </p:nvSpPr>
        <p:spPr>
          <a:xfrm>
            <a:off x="899592" y="1556792"/>
            <a:ext cx="7772400" cy="4114800"/>
          </a:xfrm>
        </p:spPr>
        <p:txBody>
          <a:bodyPr/>
          <a:lstStyle/>
          <a:p>
            <a:r>
              <a:rPr lang="en-US" altLang="zh-CN" dirty="0"/>
              <a:t>chmod </a:t>
            </a:r>
            <a:r>
              <a:rPr lang="en-US" altLang="zh-CN" dirty="0" err="1">
                <a:solidFill>
                  <a:schemeClr val="accent6">
                    <a:lumMod val="75000"/>
                  </a:schemeClr>
                </a:solidFill>
              </a:rPr>
              <a:t>u+rw</a:t>
            </a:r>
            <a:r>
              <a:rPr lang="en-US" altLang="zh-CN" dirty="0"/>
              <a:t> </a:t>
            </a:r>
            <a:r>
              <a:rPr lang="en-US" altLang="zh-CN" dirty="0" err="1"/>
              <a:t>myfile</a:t>
            </a:r>
            <a:r>
              <a:rPr lang="en-US" altLang="zh-CN" dirty="0"/>
              <a:t> </a:t>
            </a:r>
          </a:p>
          <a:p>
            <a:r>
              <a:rPr lang="en-US" altLang="zh-CN" dirty="0" err="1"/>
              <a:t>chmod</a:t>
            </a:r>
            <a:r>
              <a:rPr lang="en-US" altLang="zh-CN" dirty="0"/>
              <a:t> </a:t>
            </a:r>
            <a:r>
              <a:rPr lang="en-US" altLang="zh-CN" dirty="0" err="1">
                <a:solidFill>
                  <a:schemeClr val="accent6">
                    <a:lumMod val="75000"/>
                  </a:schemeClr>
                </a:solidFill>
              </a:rPr>
              <a:t>a+rx,u+w</a:t>
            </a:r>
            <a:r>
              <a:rPr lang="en-US" altLang="zh-CN" dirty="0"/>
              <a:t> </a:t>
            </a:r>
            <a:r>
              <a:rPr lang="en-US" altLang="zh-CN" dirty="0" err="1"/>
              <a:t>myfile</a:t>
            </a:r>
            <a:endParaRPr lang="en-US" altLang="zh-CN" dirty="0"/>
          </a:p>
          <a:p>
            <a:r>
              <a:rPr lang="en-US" altLang="zh-CN" dirty="0"/>
              <a:t>chmod </a:t>
            </a:r>
            <a:r>
              <a:rPr lang="en-US" altLang="zh-CN" dirty="0" err="1">
                <a:solidFill>
                  <a:schemeClr val="accent6">
                    <a:lumMod val="75000"/>
                  </a:schemeClr>
                </a:solidFill>
              </a:rPr>
              <a:t>u+rwx,g+rx,o+rx</a:t>
            </a:r>
            <a:r>
              <a:rPr lang="en-US" altLang="zh-CN" dirty="0"/>
              <a:t> </a:t>
            </a:r>
            <a:r>
              <a:rPr lang="en-US" altLang="zh-CN" dirty="0" err="1"/>
              <a:t>myfile</a:t>
            </a:r>
            <a:r>
              <a:rPr lang="en-US" altLang="zh-CN" dirty="0"/>
              <a:t> </a:t>
            </a:r>
          </a:p>
          <a:p>
            <a:r>
              <a:rPr lang="en-US" altLang="zh-CN" dirty="0" err="1"/>
              <a:t>chmod</a:t>
            </a:r>
            <a:r>
              <a:rPr lang="en-US" altLang="zh-CN" dirty="0"/>
              <a:t> </a:t>
            </a:r>
            <a:r>
              <a:rPr lang="en-US" altLang="zh-CN" dirty="0" err="1" smtClean="0">
                <a:solidFill>
                  <a:schemeClr val="accent6">
                    <a:lumMod val="75000"/>
                  </a:schemeClr>
                </a:solidFill>
              </a:rPr>
              <a:t>a+rwx,g-w,o-w</a:t>
            </a:r>
            <a:r>
              <a:rPr lang="en-US" altLang="zh-CN" dirty="0" smtClean="0">
                <a:solidFill>
                  <a:schemeClr val="accent6">
                    <a:lumMod val="75000"/>
                  </a:schemeClr>
                </a:solidFill>
              </a:rPr>
              <a:t> </a:t>
            </a:r>
            <a:r>
              <a:rPr lang="en-US" altLang="zh-CN" dirty="0" err="1"/>
              <a:t>myfile</a:t>
            </a:r>
            <a:endParaRPr lang="en-US" altLang="zh-CN" dirty="0"/>
          </a:p>
          <a:p>
            <a:r>
              <a:rPr lang="en-US" altLang="zh-CN" dirty="0"/>
              <a:t>chmod </a:t>
            </a:r>
            <a:r>
              <a:rPr lang="en-US" altLang="zh-CN" dirty="0">
                <a:solidFill>
                  <a:schemeClr val="accent6">
                    <a:lumMod val="75000"/>
                  </a:schemeClr>
                </a:solidFill>
              </a:rPr>
              <a:t>a=</a:t>
            </a:r>
            <a:r>
              <a:rPr lang="en-US" altLang="zh-CN" dirty="0" err="1">
                <a:solidFill>
                  <a:schemeClr val="accent6">
                    <a:lumMod val="75000"/>
                  </a:schemeClr>
                </a:solidFill>
              </a:rPr>
              <a:t>rwx</a:t>
            </a:r>
            <a:r>
              <a:rPr lang="en-US" altLang="zh-CN" dirty="0"/>
              <a:t> </a:t>
            </a:r>
            <a:r>
              <a:rPr lang="en-US" altLang="zh-CN" dirty="0" err="1"/>
              <a:t>myfile</a:t>
            </a:r>
            <a:r>
              <a:rPr lang="en-US" altLang="zh-CN" dirty="0"/>
              <a:t> </a:t>
            </a:r>
          </a:p>
          <a:p>
            <a:r>
              <a:rPr lang="en-US" altLang="zh-CN" dirty="0"/>
              <a:t>chmod </a:t>
            </a:r>
            <a:r>
              <a:rPr lang="en-US" altLang="zh-CN" dirty="0">
                <a:solidFill>
                  <a:schemeClr val="accent6">
                    <a:lumMod val="75000"/>
                  </a:schemeClr>
                </a:solidFill>
              </a:rPr>
              <a:t>go=</a:t>
            </a:r>
            <a:r>
              <a:rPr lang="en-US" altLang="zh-CN" dirty="0" err="1">
                <a:solidFill>
                  <a:schemeClr val="accent6">
                    <a:lumMod val="75000"/>
                  </a:schemeClr>
                </a:solidFill>
              </a:rPr>
              <a:t>rx</a:t>
            </a:r>
            <a:r>
              <a:rPr lang="en-US" altLang="zh-CN" dirty="0"/>
              <a:t> </a:t>
            </a:r>
            <a:r>
              <a:rPr lang="en-US" altLang="zh-CN" dirty="0" err="1"/>
              <a:t>myfile</a:t>
            </a:r>
            <a:r>
              <a:rPr lang="en-US" altLang="zh-CN" dirty="0"/>
              <a:t> </a:t>
            </a:r>
          </a:p>
          <a:p>
            <a:r>
              <a:rPr lang="en-US" altLang="zh-CN" dirty="0"/>
              <a:t>chmod </a:t>
            </a:r>
            <a:r>
              <a:rPr lang="en-US" altLang="zh-CN" dirty="0">
                <a:solidFill>
                  <a:schemeClr val="accent6">
                    <a:lumMod val="75000"/>
                  </a:schemeClr>
                </a:solidFill>
              </a:rPr>
              <a:t>u-</a:t>
            </a:r>
            <a:r>
              <a:rPr lang="en-US" altLang="zh-CN" dirty="0" err="1">
                <a:solidFill>
                  <a:schemeClr val="accent6">
                    <a:lumMod val="75000"/>
                  </a:schemeClr>
                </a:solidFill>
              </a:rPr>
              <a:t>wx,go</a:t>
            </a:r>
            <a:r>
              <a:rPr lang="en-US" altLang="zh-CN" dirty="0">
                <a:solidFill>
                  <a:schemeClr val="accent6">
                    <a:lumMod val="75000"/>
                  </a:schemeClr>
                </a:solidFill>
              </a:rPr>
              <a:t>-x</a:t>
            </a:r>
            <a:r>
              <a:rPr lang="en-US" altLang="zh-CN" dirty="0"/>
              <a:t> </a:t>
            </a:r>
            <a:r>
              <a:rPr lang="en-US" altLang="zh-CN" dirty="0" err="1"/>
              <a:t>myfile</a:t>
            </a:r>
            <a:r>
              <a:rPr lang="en-US" altLang="zh-CN" dirty="0"/>
              <a:t> </a:t>
            </a:r>
          </a:p>
          <a:p>
            <a:r>
              <a:rPr lang="en-US" altLang="zh-CN" dirty="0"/>
              <a:t>chmod </a:t>
            </a:r>
            <a:r>
              <a:rPr lang="en-US" altLang="zh-CN" dirty="0" err="1">
                <a:solidFill>
                  <a:schemeClr val="accent6">
                    <a:lumMod val="75000"/>
                  </a:schemeClr>
                </a:solidFill>
              </a:rPr>
              <a:t>a+x</a:t>
            </a:r>
            <a:r>
              <a:rPr lang="en-US" altLang="zh-CN" dirty="0"/>
              <a:t> </a:t>
            </a:r>
            <a:r>
              <a:rPr lang="en-US" altLang="zh-CN" dirty="0" err="1"/>
              <a:t>myfile</a:t>
            </a:r>
            <a:r>
              <a:rPr lang="en-US" altLang="zh-CN" dirty="0"/>
              <a:t> </a:t>
            </a:r>
            <a:endParaRPr lang="zh-CN" altLang="en-US" dirty="0"/>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的文字设定法举例续</a:t>
            </a:r>
            <a:r>
              <a:rPr lang="en-US" altLang="zh-CN" dirty="0"/>
              <a:t>3</a:t>
            </a:r>
            <a:endParaRPr lang="zh-CN" altLang="en-US" dirty="0"/>
          </a:p>
        </p:txBody>
      </p:sp>
      <p:sp>
        <p:nvSpPr>
          <p:cNvPr id="3" name="内容占位符 2"/>
          <p:cNvSpPr>
            <a:spLocks noGrp="1"/>
          </p:cNvSpPr>
          <p:nvPr>
            <p:ph idx="1"/>
          </p:nvPr>
        </p:nvSpPr>
        <p:spPr>
          <a:xfrm>
            <a:off x="611560" y="1556792"/>
            <a:ext cx="8229600" cy="4718149"/>
          </a:xfrm>
        </p:spPr>
        <p:txBody>
          <a:bodyPr/>
          <a:lstStyle/>
          <a:p>
            <a:r>
              <a:rPr lang="en-US" altLang="zh-CN" sz="2800" dirty="0"/>
              <a:t>chmod </a:t>
            </a:r>
            <a:r>
              <a:rPr lang="en-US" altLang="zh-CN" sz="2800" dirty="0">
                <a:solidFill>
                  <a:schemeClr val="accent6">
                    <a:lumMod val="75000"/>
                  </a:schemeClr>
                </a:solidFill>
              </a:rPr>
              <a:t>+r</a:t>
            </a:r>
            <a:r>
              <a:rPr lang="en-US" altLang="zh-CN" sz="2800" dirty="0"/>
              <a:t>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a:t>chmod </a:t>
            </a:r>
            <a:r>
              <a:rPr lang="en-US" altLang="zh-CN" sz="2800" dirty="0" err="1">
                <a:solidFill>
                  <a:srgbClr val="002060"/>
                </a:solidFill>
              </a:rPr>
              <a:t>a</a:t>
            </a:r>
            <a:r>
              <a:rPr lang="en-US" altLang="zh-CN" sz="2800" dirty="0" err="1">
                <a:solidFill>
                  <a:schemeClr val="accent6">
                    <a:lumMod val="75000"/>
                  </a:schemeClr>
                </a:solidFill>
              </a:rPr>
              <a:t>+r</a:t>
            </a:r>
            <a:r>
              <a:rPr lang="en-US" altLang="zh-CN" sz="2800" dirty="0"/>
              <a:t> </a:t>
            </a:r>
            <a:r>
              <a:rPr lang="en-US" altLang="zh-CN" sz="2800" dirty="0" err="1"/>
              <a:t>myfile</a:t>
            </a:r>
            <a:r>
              <a:rPr lang="en-US" altLang="zh-CN" sz="2800" dirty="0"/>
              <a:t> </a:t>
            </a:r>
            <a:endParaRPr lang="en-US" altLang="zh-CN" sz="2800" dirty="0">
              <a:solidFill>
                <a:srgbClr val="7030A0"/>
              </a:solidFill>
            </a:endParaRPr>
          </a:p>
          <a:p>
            <a:r>
              <a:rPr lang="en-US" altLang="zh-CN" sz="2800" dirty="0"/>
              <a:t>chmod </a:t>
            </a:r>
            <a:r>
              <a:rPr lang="en-US" altLang="zh-CN" sz="2800" dirty="0">
                <a:solidFill>
                  <a:schemeClr val="accent6">
                    <a:lumMod val="75000"/>
                  </a:schemeClr>
                </a:solidFill>
              </a:rPr>
              <a:t>+x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a:t>chmod </a:t>
            </a:r>
            <a:r>
              <a:rPr lang="en-US" altLang="zh-CN" sz="2800" dirty="0" err="1">
                <a:solidFill>
                  <a:srgbClr val="002060"/>
                </a:solidFill>
              </a:rPr>
              <a:t>a</a:t>
            </a:r>
            <a:r>
              <a:rPr lang="en-US" altLang="zh-CN" sz="2800" dirty="0" err="1">
                <a:solidFill>
                  <a:schemeClr val="accent6">
                    <a:lumMod val="75000"/>
                  </a:schemeClr>
                </a:solidFill>
              </a:rPr>
              <a:t>+x</a:t>
            </a:r>
            <a:r>
              <a:rPr lang="en-US" altLang="zh-CN" sz="2800" dirty="0">
                <a:solidFill>
                  <a:schemeClr val="accent6">
                    <a:lumMod val="75000"/>
                  </a:schemeClr>
                </a:solidFill>
              </a:rPr>
              <a:t> </a:t>
            </a:r>
            <a:r>
              <a:rPr lang="en-US" altLang="zh-CN" sz="2800" dirty="0" err="1"/>
              <a:t>myfile</a:t>
            </a:r>
            <a:r>
              <a:rPr lang="en-US" altLang="zh-CN" sz="2800" dirty="0">
                <a:sym typeface="Wingdings" pitchFamily="2" charset="2"/>
              </a:rPr>
              <a:t> </a:t>
            </a:r>
            <a:endParaRPr lang="en-US" altLang="zh-CN" sz="2800" dirty="0"/>
          </a:p>
          <a:p>
            <a:r>
              <a:rPr lang="en-US" altLang="zh-CN" sz="2800" dirty="0"/>
              <a:t>chmod </a:t>
            </a:r>
            <a:r>
              <a:rPr lang="en-US" altLang="zh-CN" sz="2800" dirty="0">
                <a:solidFill>
                  <a:schemeClr val="accent6">
                    <a:lumMod val="75000"/>
                  </a:schemeClr>
                </a:solidFill>
              </a:rPr>
              <a:t>+w</a:t>
            </a:r>
            <a:r>
              <a:rPr lang="en-US" altLang="zh-CN" sz="2800" dirty="0"/>
              <a:t> </a:t>
            </a:r>
            <a:r>
              <a:rPr lang="en-US" altLang="zh-CN" sz="2800" dirty="0" err="1"/>
              <a:t>myfile</a:t>
            </a:r>
            <a:r>
              <a:rPr lang="en-US" altLang="zh-CN" sz="2800" dirty="0">
                <a:sym typeface="Wingdings" pitchFamily="2" charset="2"/>
              </a:rPr>
              <a:t>	</a:t>
            </a:r>
            <a:r>
              <a:rPr lang="en-US" altLang="zh-CN" sz="2800" dirty="0">
                <a:solidFill>
                  <a:srgbClr val="7030A0"/>
                </a:solidFill>
                <a:sym typeface="Wingdings" pitchFamily="2" charset="2"/>
              </a:rPr>
              <a:t>   </a:t>
            </a:r>
            <a:r>
              <a:rPr lang="en-US" altLang="zh-CN" sz="2800" dirty="0" err="1"/>
              <a:t>chmod</a:t>
            </a:r>
            <a:r>
              <a:rPr lang="en-US" altLang="zh-CN" sz="2800" dirty="0"/>
              <a:t> </a:t>
            </a:r>
            <a:r>
              <a:rPr lang="en-US" altLang="zh-CN" sz="2800" dirty="0" err="1" smtClean="0">
                <a:solidFill>
                  <a:srgbClr val="C00000"/>
                </a:solidFill>
              </a:rPr>
              <a:t>ug</a:t>
            </a:r>
            <a:r>
              <a:rPr lang="en-US" altLang="zh-CN" sz="2800" dirty="0" err="1" smtClean="0">
                <a:solidFill>
                  <a:schemeClr val="accent6">
                    <a:lumMod val="75000"/>
                  </a:schemeClr>
                </a:solidFill>
              </a:rPr>
              <a:t>+w</a:t>
            </a:r>
            <a:r>
              <a:rPr lang="en-US" altLang="zh-CN" sz="2800" dirty="0" smtClean="0"/>
              <a:t> </a:t>
            </a:r>
            <a:r>
              <a:rPr lang="en-US" altLang="zh-CN" sz="2800" dirty="0" err="1"/>
              <a:t>myfile</a:t>
            </a:r>
            <a:r>
              <a:rPr lang="en-US" altLang="zh-CN" sz="2800" dirty="0">
                <a:sym typeface="Wingdings" pitchFamily="2" charset="2"/>
              </a:rPr>
              <a:t> </a:t>
            </a:r>
            <a:endParaRPr lang="en-US" altLang="zh-CN" sz="2800" dirty="0"/>
          </a:p>
          <a:p>
            <a:r>
              <a:rPr lang="en-US" altLang="zh-CN" sz="2800" dirty="0"/>
              <a:t>chmod </a:t>
            </a:r>
            <a:r>
              <a:rPr lang="en-US" altLang="zh-CN" sz="2800" dirty="0">
                <a:solidFill>
                  <a:schemeClr val="accent6">
                    <a:lumMod val="75000"/>
                  </a:schemeClr>
                </a:solidFill>
              </a:rPr>
              <a:t>=r</a:t>
            </a:r>
            <a:r>
              <a:rPr lang="en-US" altLang="zh-CN" sz="2800" dirty="0"/>
              <a:t>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a:t>chmod </a:t>
            </a:r>
            <a:r>
              <a:rPr lang="en-US" altLang="zh-CN" sz="2800" dirty="0">
                <a:solidFill>
                  <a:srgbClr val="002060"/>
                </a:solidFill>
              </a:rPr>
              <a:t>a</a:t>
            </a:r>
            <a:r>
              <a:rPr lang="en-US" altLang="zh-CN" sz="2800" dirty="0">
                <a:solidFill>
                  <a:schemeClr val="accent6">
                    <a:lumMod val="75000"/>
                  </a:schemeClr>
                </a:solidFill>
              </a:rPr>
              <a:t>=r</a:t>
            </a:r>
            <a:r>
              <a:rPr lang="en-US" altLang="zh-CN" sz="2800" dirty="0"/>
              <a:t> </a:t>
            </a:r>
            <a:r>
              <a:rPr lang="en-US" altLang="zh-CN" sz="2800" dirty="0" err="1"/>
              <a:t>myfile</a:t>
            </a:r>
            <a:r>
              <a:rPr lang="en-US" altLang="zh-CN" sz="2800" dirty="0"/>
              <a:t> </a:t>
            </a:r>
          </a:p>
          <a:p>
            <a:r>
              <a:rPr lang="en-US" altLang="zh-CN" sz="2800" dirty="0"/>
              <a:t>chmod </a:t>
            </a:r>
            <a:r>
              <a:rPr lang="en-US" altLang="zh-CN" sz="2800" dirty="0">
                <a:solidFill>
                  <a:schemeClr val="accent6">
                    <a:lumMod val="75000"/>
                  </a:schemeClr>
                </a:solidFill>
              </a:rPr>
              <a:t>=w</a:t>
            </a:r>
            <a:r>
              <a:rPr lang="en-US" altLang="zh-CN" sz="2800" dirty="0"/>
              <a:t>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err="1"/>
              <a:t>chmod</a:t>
            </a:r>
            <a:r>
              <a:rPr lang="en-US" altLang="zh-CN" sz="2800" dirty="0"/>
              <a:t> </a:t>
            </a:r>
            <a:r>
              <a:rPr lang="en-US" altLang="zh-CN" sz="2800" dirty="0" err="1" smtClean="0">
                <a:solidFill>
                  <a:srgbClr val="C00000"/>
                </a:solidFill>
              </a:rPr>
              <a:t>ug</a:t>
            </a:r>
            <a:r>
              <a:rPr lang="en-US" altLang="zh-CN" sz="2800" dirty="0" smtClean="0">
                <a:solidFill>
                  <a:schemeClr val="accent6">
                    <a:lumMod val="75000"/>
                  </a:schemeClr>
                </a:solidFill>
              </a:rPr>
              <a:t>=w</a:t>
            </a:r>
            <a:r>
              <a:rPr lang="en-US" altLang="zh-CN" sz="2800" dirty="0" smtClean="0"/>
              <a:t> </a:t>
            </a:r>
            <a:r>
              <a:rPr lang="en-US" altLang="zh-CN" sz="2800" dirty="0" err="1"/>
              <a:t>myfile</a:t>
            </a:r>
            <a:r>
              <a:rPr lang="en-US" altLang="zh-CN" sz="2800" dirty="0"/>
              <a:t> </a:t>
            </a:r>
          </a:p>
          <a:p>
            <a:r>
              <a:rPr lang="en-US" altLang="zh-CN" sz="2800" dirty="0"/>
              <a:t>chmod </a:t>
            </a:r>
            <a:r>
              <a:rPr lang="en-US" altLang="zh-CN" sz="2800" dirty="0">
                <a:solidFill>
                  <a:schemeClr val="accent6">
                    <a:lumMod val="75000"/>
                  </a:schemeClr>
                </a:solidFill>
              </a:rPr>
              <a:t>o=</a:t>
            </a:r>
            <a:r>
              <a:rPr lang="en-US" altLang="zh-CN" sz="2800" dirty="0"/>
              <a:t> </a:t>
            </a:r>
            <a:r>
              <a:rPr lang="en-US" altLang="zh-CN" sz="2800" dirty="0" err="1"/>
              <a:t>myfile</a:t>
            </a:r>
            <a:r>
              <a:rPr lang="en-US" altLang="zh-CN" sz="2800" dirty="0"/>
              <a:t>	</a:t>
            </a:r>
            <a:r>
              <a:rPr lang="en-US" altLang="zh-CN" sz="2800" dirty="0">
                <a:solidFill>
                  <a:srgbClr val="7030A0"/>
                </a:solidFill>
                <a:sym typeface="Wingdings" pitchFamily="2" charset="2"/>
              </a:rPr>
              <a:t>   </a:t>
            </a:r>
            <a:r>
              <a:rPr lang="en-US" altLang="zh-CN" sz="2800" dirty="0"/>
              <a:t>chmod </a:t>
            </a:r>
            <a:r>
              <a:rPr lang="en-US" altLang="zh-CN" sz="2800" dirty="0">
                <a:solidFill>
                  <a:schemeClr val="accent6">
                    <a:lumMod val="75000"/>
                  </a:schemeClr>
                </a:solidFill>
              </a:rPr>
              <a:t>o=</a:t>
            </a:r>
            <a:r>
              <a:rPr lang="en-US" altLang="zh-CN" sz="2800" dirty="0">
                <a:solidFill>
                  <a:srgbClr val="C00000"/>
                </a:solidFill>
              </a:rPr>
              <a:t>-</a:t>
            </a:r>
            <a:r>
              <a:rPr lang="en-US" altLang="zh-CN" sz="2800" dirty="0"/>
              <a:t> </a:t>
            </a:r>
            <a:r>
              <a:rPr lang="en-US" altLang="zh-CN" sz="2800" dirty="0" err="1"/>
              <a:t>myfile</a:t>
            </a:r>
            <a:endParaRPr lang="en-US" altLang="zh-CN" sz="2800" dirty="0"/>
          </a:p>
          <a:p>
            <a:pPr marL="0" indent="0">
              <a:buNone/>
            </a:pPr>
            <a:endParaRPr lang="en-US" altLang="zh-CN" sz="2800" dirty="0"/>
          </a:p>
          <a:p>
            <a:r>
              <a:rPr lang="en-US" altLang="zh-CN" sz="2800" dirty="0"/>
              <a:t>chmod u=</a:t>
            </a:r>
            <a:r>
              <a:rPr lang="en-US" altLang="zh-CN" sz="2800" dirty="0" err="1"/>
              <a:t>rw,g</a:t>
            </a:r>
            <a:r>
              <a:rPr lang="en-US" altLang="zh-CN" sz="2800" dirty="0"/>
              <a:t>=,o= projects</a:t>
            </a:r>
          </a:p>
          <a:p>
            <a:r>
              <a:rPr lang="en-US" altLang="zh-CN" sz="2800" dirty="0"/>
              <a:t>chmod -R u=</a:t>
            </a:r>
            <a:r>
              <a:rPr lang="en-US" altLang="zh-CN" sz="2800" dirty="0" err="1"/>
              <a:t>rwx,go</a:t>
            </a:r>
            <a:r>
              <a:rPr lang="en-US" altLang="zh-CN" sz="2800" dirty="0"/>
              <a:t>= projects</a:t>
            </a:r>
            <a:endParaRPr lang="zh-CN" altLang="en-US" sz="2800" dirty="0"/>
          </a:p>
        </p:txBody>
      </p:sp>
    </p:spTree>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的数字设定法</a:t>
            </a:r>
          </a:p>
        </p:txBody>
      </p:sp>
      <p:sp>
        <p:nvSpPr>
          <p:cNvPr id="3" name="内容占位符 2"/>
          <p:cNvSpPr>
            <a:spLocks noGrp="1"/>
          </p:cNvSpPr>
          <p:nvPr>
            <p:ph idx="1"/>
          </p:nvPr>
        </p:nvSpPr>
        <p:spPr>
          <a:xfrm>
            <a:off x="503275" y="2249487"/>
            <a:ext cx="7992888" cy="1951659"/>
          </a:xfrm>
        </p:spPr>
        <p:txBody>
          <a:bodyPr/>
          <a:lstStyle/>
          <a:p>
            <a:pPr>
              <a:lnSpc>
                <a:spcPct val="120000"/>
              </a:lnSpc>
            </a:pPr>
            <a:r>
              <a:rPr lang="zh-CN" altLang="en-US" sz="2400" dirty="0"/>
              <a:t>使用三个数字模式来表示，分别代表</a:t>
            </a:r>
            <a:r>
              <a:rPr lang="zh-CN" altLang="en-US" sz="2400" dirty="0">
                <a:solidFill>
                  <a:srgbClr val="FF0000"/>
                </a:solidFill>
              </a:rPr>
              <a:t>用户</a:t>
            </a:r>
            <a:r>
              <a:rPr lang="zh-CN" altLang="en-US" sz="2400" dirty="0"/>
              <a:t>（</a:t>
            </a:r>
            <a:r>
              <a:rPr lang="en-US" altLang="zh-CN" sz="2400" b="1" dirty="0">
                <a:solidFill>
                  <a:srgbClr val="002060"/>
                </a:solidFill>
              </a:rPr>
              <a:t>n1</a:t>
            </a:r>
            <a:r>
              <a:rPr lang="zh-CN" altLang="en-US" sz="2400" dirty="0"/>
              <a:t>）、</a:t>
            </a:r>
            <a:r>
              <a:rPr lang="zh-CN" altLang="en-US" sz="2400" dirty="0">
                <a:solidFill>
                  <a:srgbClr val="FF0000"/>
                </a:solidFill>
              </a:rPr>
              <a:t>同组用户</a:t>
            </a:r>
            <a:r>
              <a:rPr lang="zh-CN" altLang="en-US" sz="2400" dirty="0"/>
              <a:t>（</a:t>
            </a:r>
            <a:r>
              <a:rPr lang="en-US" altLang="zh-CN" sz="2400" b="1" dirty="0">
                <a:solidFill>
                  <a:srgbClr val="002060"/>
                </a:solidFill>
              </a:rPr>
              <a:t>n2</a:t>
            </a:r>
            <a:r>
              <a:rPr lang="zh-CN" altLang="en-US" sz="2400" dirty="0"/>
              <a:t>）和</a:t>
            </a:r>
            <a:r>
              <a:rPr lang="zh-CN" altLang="en-US" sz="2400" dirty="0">
                <a:solidFill>
                  <a:srgbClr val="FF0000"/>
                </a:solidFill>
              </a:rPr>
              <a:t>其它用户</a:t>
            </a:r>
            <a:r>
              <a:rPr lang="zh-CN" altLang="en-US" sz="2400" dirty="0"/>
              <a:t>（</a:t>
            </a:r>
            <a:r>
              <a:rPr lang="en-US" altLang="zh-CN" sz="2400" b="1" dirty="0">
                <a:solidFill>
                  <a:srgbClr val="002060"/>
                </a:solidFill>
              </a:rPr>
              <a:t>n3</a:t>
            </a:r>
            <a:r>
              <a:rPr lang="en-US" altLang="zh-CN" sz="2400" dirty="0">
                <a:solidFill>
                  <a:srgbClr val="002060"/>
                </a:solidFill>
              </a:rPr>
              <a:t> </a:t>
            </a:r>
            <a:r>
              <a:rPr lang="zh-CN" altLang="en-US" sz="2400" dirty="0"/>
              <a:t>）的访问权限 </a:t>
            </a:r>
            <a:endParaRPr lang="en-US" altLang="zh-CN" sz="2400" dirty="0"/>
          </a:p>
          <a:p>
            <a:pPr>
              <a:lnSpc>
                <a:spcPct val="120000"/>
              </a:lnSpc>
            </a:pPr>
            <a:r>
              <a:rPr lang="zh-CN" altLang="en-US" sz="2400" dirty="0"/>
              <a:t>每个数字模式（</a:t>
            </a:r>
            <a:r>
              <a:rPr lang="en-US" altLang="zh-CN" sz="2400" b="1" dirty="0">
                <a:solidFill>
                  <a:srgbClr val="0000CC"/>
                </a:solidFill>
                <a:latin typeface="Courier New" pitchFamily="49" charset="0"/>
              </a:rPr>
              <a:t>n1|n2|n3</a:t>
            </a:r>
            <a:r>
              <a:rPr lang="zh-CN" altLang="en-US" sz="2400" dirty="0"/>
              <a:t>）由不同权限所对应的</a:t>
            </a:r>
            <a:r>
              <a:rPr lang="zh-CN" altLang="en-US" sz="2400" dirty="0">
                <a:solidFill>
                  <a:srgbClr val="FF0000"/>
                </a:solidFill>
              </a:rPr>
              <a:t>数字相加</a:t>
            </a:r>
            <a:r>
              <a:rPr lang="zh-CN" altLang="en-US" sz="2400" dirty="0"/>
              <a:t>得到一个</a:t>
            </a:r>
            <a:r>
              <a:rPr lang="zh-CN" altLang="en-US" sz="2400" dirty="0">
                <a:solidFill>
                  <a:srgbClr val="FF0000"/>
                </a:solidFill>
              </a:rPr>
              <a:t>表示访问权限</a:t>
            </a:r>
            <a:r>
              <a:rPr lang="zh-CN" altLang="en-US" sz="2400" dirty="0"/>
              <a:t>的八进制数字</a:t>
            </a:r>
          </a:p>
        </p:txBody>
      </p:sp>
      <p:sp>
        <p:nvSpPr>
          <p:cNvPr id="7" name="Text Box 3"/>
          <p:cNvSpPr txBox="1">
            <a:spLocks noChangeArrowheads="1"/>
          </p:cNvSpPr>
          <p:nvPr/>
        </p:nvSpPr>
        <p:spPr bwMode="auto">
          <a:xfrm>
            <a:off x="827038" y="1527175"/>
            <a:ext cx="7345362" cy="523220"/>
          </a:xfrm>
          <a:prstGeom prst="rect">
            <a:avLst/>
          </a:prstGeom>
          <a:noFill/>
          <a:ln w="9525">
            <a:solidFill>
              <a:schemeClr val="tx1"/>
            </a:solidFill>
            <a:miter lim="800000"/>
            <a:headEnd/>
            <a:tailEnd/>
          </a:ln>
          <a:effectLst/>
        </p:spPr>
        <p:txBody>
          <a:bodyPr>
            <a:spAutoFit/>
          </a:bodyPr>
          <a:lstStyle/>
          <a:p>
            <a:r>
              <a:rPr lang="en-US" altLang="zh-CN" sz="2800" dirty="0">
                <a:solidFill>
                  <a:srgbClr val="993300"/>
                </a:solidFill>
                <a:latin typeface="Courier New" pitchFamily="49" charset="0"/>
              </a:rPr>
              <a:t>chmod</a:t>
            </a:r>
            <a:r>
              <a:rPr lang="en-US" altLang="zh-CN" sz="2800" dirty="0">
                <a:solidFill>
                  <a:srgbClr val="006400"/>
                </a:solidFill>
                <a:latin typeface="Arial Unicode MS" pitchFamily="34" charset="-122"/>
              </a:rPr>
              <a:t>  </a:t>
            </a:r>
            <a:r>
              <a:rPr lang="en-US" altLang="zh-CN" sz="2800" b="1" dirty="0">
                <a:solidFill>
                  <a:srgbClr val="002060"/>
                </a:solidFill>
                <a:latin typeface="Courier New" pitchFamily="49" charset="0"/>
              </a:rPr>
              <a:t>n1n2n3</a:t>
            </a:r>
            <a:r>
              <a:rPr lang="en-US" altLang="zh-CN" sz="2800" dirty="0">
                <a:solidFill>
                  <a:srgbClr val="006400"/>
                </a:solidFill>
                <a:latin typeface="Arial Unicode MS" pitchFamily="34" charset="-122"/>
              </a:rPr>
              <a:t>  </a:t>
            </a:r>
            <a:r>
              <a:rPr lang="zh-CN" altLang="en-US" sz="2400" b="0" dirty="0">
                <a:solidFill>
                  <a:schemeClr val="accent6">
                    <a:lumMod val="75000"/>
                  </a:schemeClr>
                </a:solidFill>
                <a:latin typeface="Arial Unicode MS" pitchFamily="34" charset="-122"/>
                <a:ea typeface="黑体" pitchFamily="49" charset="-122"/>
              </a:rPr>
              <a:t>文件或目录名</a:t>
            </a:r>
            <a:r>
              <a:rPr lang="zh-CN" altLang="en-US" sz="2400" dirty="0">
                <a:solidFill>
                  <a:schemeClr val="accent6">
                    <a:lumMod val="75000"/>
                  </a:schemeClr>
                </a:solidFill>
                <a:latin typeface="Arial Unicode MS" pitchFamily="34" charset="-122"/>
              </a:rPr>
              <a:t> </a:t>
            </a:r>
            <a:endParaRPr lang="en-US" altLang="zh-CN" sz="2400" dirty="0">
              <a:solidFill>
                <a:schemeClr val="accent6">
                  <a:lumMod val="75000"/>
                </a:schemeClr>
              </a:solidFill>
              <a:latin typeface="Arial Unicode MS" pitchFamily="34" charset="-122"/>
            </a:endParaRPr>
          </a:p>
        </p:txBody>
      </p:sp>
      <p:graphicFrame>
        <p:nvGraphicFramePr>
          <p:cNvPr id="8" name="Group 103"/>
          <p:cNvGraphicFramePr>
            <a:graphicFrameLocks noGrp="1"/>
          </p:cNvGraphicFramePr>
          <p:nvPr>
            <p:extLst>
              <p:ext uri="{D42A27DB-BD31-4B8C-83A1-F6EECF244321}">
                <p14:modId xmlns:p14="http://schemas.microsoft.com/office/powerpoint/2010/main" val="700297356"/>
              </p:ext>
            </p:extLst>
          </p:nvPr>
        </p:nvGraphicFramePr>
        <p:xfrm>
          <a:off x="797892" y="4509120"/>
          <a:ext cx="2514600" cy="2034970"/>
        </p:xfrm>
        <a:graphic>
          <a:graphicData uri="http://schemas.openxmlformats.org/drawingml/2006/table">
            <a:tbl>
              <a:tblPr/>
              <a:tblGrid>
                <a:gridCol w="9144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tblGrid>
              <a:tr h="36173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0" i="0" u="none" strike="noStrike" cap="none" normalizeH="0" baseline="0" dirty="0">
                          <a:ln>
                            <a:noFill/>
                          </a:ln>
                          <a:solidFill>
                            <a:schemeClr val="tx1"/>
                          </a:solidFill>
                          <a:effectLst/>
                          <a:latin typeface="Times New Roman" pitchFamily="18" charset="0"/>
                          <a:ea typeface="黑体" pitchFamily="49" charset="-122"/>
                        </a:rPr>
                        <a:t>权限</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0" i="0" u="none" strike="noStrike" cap="none" normalizeH="0" baseline="0" dirty="0">
                          <a:ln>
                            <a:noFill/>
                          </a:ln>
                          <a:solidFill>
                            <a:schemeClr val="tx1"/>
                          </a:solidFill>
                          <a:effectLst/>
                          <a:latin typeface="Times New Roman" pitchFamily="18" charset="0"/>
                          <a:ea typeface="黑体" pitchFamily="49" charset="-122"/>
                        </a:rPr>
                        <a:t>对应数字</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6456">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dirty="0">
                          <a:ln>
                            <a:noFill/>
                          </a:ln>
                          <a:solidFill>
                            <a:srgbClr val="993300"/>
                          </a:solidFill>
                          <a:effectLst/>
                          <a:latin typeface="Courier New" pitchFamily="49" charset="0"/>
                          <a:ea typeface="黑体" pitchFamily="49" charset="-122"/>
                        </a:rPr>
                        <a:t>r</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4</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2352">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a:ln>
                            <a:noFill/>
                          </a:ln>
                          <a:solidFill>
                            <a:srgbClr val="993300"/>
                          </a:solidFill>
                          <a:effectLst/>
                          <a:latin typeface="Courier New" pitchFamily="49" charset="0"/>
                          <a:ea typeface="黑体" pitchFamily="49" charset="-122"/>
                        </a:rPr>
                        <a:t>w</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2</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09961">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a:ln>
                            <a:noFill/>
                          </a:ln>
                          <a:solidFill>
                            <a:srgbClr val="993300"/>
                          </a:solidFill>
                          <a:effectLst/>
                          <a:latin typeface="Courier New" pitchFamily="49" charset="0"/>
                          <a:ea typeface="黑体" pitchFamily="49" charset="-122"/>
                        </a:rPr>
                        <a:t>x</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1</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09961">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a:ln>
                            <a:noFill/>
                          </a:ln>
                          <a:solidFill>
                            <a:srgbClr val="993300"/>
                          </a:solidFill>
                          <a:effectLst/>
                          <a:latin typeface="Courier New" pitchFamily="49" charset="0"/>
                          <a:ea typeface="黑体" pitchFamily="49" charset="-122"/>
                        </a:rPr>
                        <a:t>-</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9" name="Text Box 24"/>
          <p:cNvSpPr txBox="1">
            <a:spLocks noChangeArrowheads="1"/>
          </p:cNvSpPr>
          <p:nvPr/>
        </p:nvSpPr>
        <p:spPr bwMode="auto">
          <a:xfrm>
            <a:off x="3893517" y="4350022"/>
            <a:ext cx="2311400" cy="519113"/>
          </a:xfrm>
          <a:prstGeom prst="rect">
            <a:avLst/>
          </a:prstGeom>
          <a:noFill/>
          <a:ln w="9525">
            <a:noFill/>
            <a:miter lim="800000"/>
            <a:headEnd/>
            <a:tailEnd/>
          </a:ln>
          <a:effectLst/>
        </p:spPr>
        <p:txBody>
          <a:bodyPr wrap="none">
            <a:spAutoFit/>
          </a:bodyPr>
          <a:lstStyle/>
          <a:p>
            <a:r>
              <a:rPr lang="zh-CN" altLang="en-US" sz="2800" dirty="0">
                <a:solidFill>
                  <a:srgbClr val="0000CC"/>
                </a:solidFill>
                <a:latin typeface="Courier New" pitchFamily="49" charset="0"/>
              </a:rPr>
              <a:t>-</a:t>
            </a:r>
            <a:r>
              <a:rPr lang="en-US" altLang="zh-CN" sz="2800" dirty="0" err="1">
                <a:solidFill>
                  <a:srgbClr val="0000CC"/>
                </a:solidFill>
                <a:latin typeface="Courier New" pitchFamily="49" charset="0"/>
              </a:rPr>
              <a:t>rw</a:t>
            </a:r>
            <a:r>
              <a:rPr lang="en-US" altLang="zh-CN" sz="2800" dirty="0">
                <a:solidFill>
                  <a:srgbClr val="0000CC"/>
                </a:solidFill>
                <a:latin typeface="Courier New" pitchFamily="49" charset="0"/>
              </a:rPr>
              <a:t>-r--r--</a:t>
            </a:r>
          </a:p>
        </p:txBody>
      </p:sp>
      <p:sp>
        <p:nvSpPr>
          <p:cNvPr id="10" name="Text Box 25"/>
          <p:cNvSpPr txBox="1">
            <a:spLocks noChangeArrowheads="1"/>
          </p:cNvSpPr>
          <p:nvPr/>
        </p:nvSpPr>
        <p:spPr bwMode="auto">
          <a:xfrm>
            <a:off x="3895104" y="4883422"/>
            <a:ext cx="2311400" cy="519113"/>
          </a:xfrm>
          <a:prstGeom prst="rect">
            <a:avLst/>
          </a:prstGeom>
          <a:noFill/>
          <a:ln w="9525">
            <a:noFill/>
            <a:miter lim="800000"/>
            <a:headEnd/>
            <a:tailEnd/>
          </a:ln>
          <a:effectLst/>
        </p:spPr>
        <p:txBody>
          <a:bodyPr wrap="none">
            <a:spAutoFit/>
          </a:bodyPr>
          <a:lstStyle/>
          <a:p>
            <a:r>
              <a:rPr lang="en-US" altLang="zh-CN" sz="2800">
                <a:solidFill>
                  <a:srgbClr val="0000CC"/>
                </a:solidFill>
                <a:latin typeface="Courier New" pitchFamily="49" charset="0"/>
              </a:rPr>
              <a:t>drwx--x--x</a:t>
            </a:r>
          </a:p>
        </p:txBody>
      </p:sp>
      <p:sp>
        <p:nvSpPr>
          <p:cNvPr id="11" name="Text Box 26"/>
          <p:cNvSpPr txBox="1">
            <a:spLocks noChangeArrowheads="1"/>
          </p:cNvSpPr>
          <p:nvPr/>
        </p:nvSpPr>
        <p:spPr bwMode="auto">
          <a:xfrm>
            <a:off x="3895104" y="5493022"/>
            <a:ext cx="2311400" cy="519113"/>
          </a:xfrm>
          <a:prstGeom prst="rect">
            <a:avLst/>
          </a:prstGeom>
          <a:noFill/>
          <a:ln w="9525">
            <a:noFill/>
            <a:miter lim="800000"/>
            <a:headEnd/>
            <a:tailEnd/>
          </a:ln>
          <a:effectLst/>
        </p:spPr>
        <p:txBody>
          <a:bodyPr wrap="none">
            <a:spAutoFit/>
          </a:bodyPr>
          <a:lstStyle/>
          <a:p>
            <a:r>
              <a:rPr lang="en-US" altLang="zh-CN" sz="2800">
                <a:solidFill>
                  <a:srgbClr val="0000CC"/>
                </a:solidFill>
                <a:latin typeface="Courier New" pitchFamily="49" charset="0"/>
              </a:rPr>
              <a:t>drwx------</a:t>
            </a:r>
          </a:p>
        </p:txBody>
      </p:sp>
      <p:sp>
        <p:nvSpPr>
          <p:cNvPr id="12" name="Text Box 27"/>
          <p:cNvSpPr txBox="1">
            <a:spLocks noChangeArrowheads="1"/>
          </p:cNvSpPr>
          <p:nvPr/>
        </p:nvSpPr>
        <p:spPr bwMode="auto">
          <a:xfrm>
            <a:off x="3895104" y="6102622"/>
            <a:ext cx="2311400"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a:t>
            </a:r>
            <a:r>
              <a:rPr lang="en-US" altLang="zh-CN" sz="2800">
                <a:solidFill>
                  <a:srgbClr val="0000CC"/>
                </a:solidFill>
                <a:latin typeface="Courier New" pitchFamily="49" charset="0"/>
              </a:rPr>
              <a:t>rwxr-xr-x</a:t>
            </a:r>
          </a:p>
        </p:txBody>
      </p:sp>
      <p:sp>
        <p:nvSpPr>
          <p:cNvPr id="13" name="Text Box 28"/>
          <p:cNvSpPr txBox="1">
            <a:spLocks noChangeArrowheads="1"/>
          </p:cNvSpPr>
          <p:nvPr/>
        </p:nvSpPr>
        <p:spPr bwMode="auto">
          <a:xfrm>
            <a:off x="7278067" y="4397647"/>
            <a:ext cx="822325"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644</a:t>
            </a:r>
            <a:endParaRPr lang="en-US" altLang="zh-CN" sz="2800">
              <a:solidFill>
                <a:srgbClr val="0000CC"/>
              </a:solidFill>
              <a:latin typeface="Courier New" pitchFamily="49" charset="0"/>
            </a:endParaRPr>
          </a:p>
        </p:txBody>
      </p:sp>
      <p:sp>
        <p:nvSpPr>
          <p:cNvPr id="14" name="Text Box 29"/>
          <p:cNvSpPr txBox="1">
            <a:spLocks noChangeArrowheads="1"/>
          </p:cNvSpPr>
          <p:nvPr/>
        </p:nvSpPr>
        <p:spPr bwMode="auto">
          <a:xfrm>
            <a:off x="7278067" y="4931047"/>
            <a:ext cx="822325"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711</a:t>
            </a:r>
            <a:endParaRPr lang="en-US" altLang="zh-CN" sz="2800">
              <a:solidFill>
                <a:srgbClr val="0000CC"/>
              </a:solidFill>
              <a:latin typeface="Courier New" pitchFamily="49" charset="0"/>
            </a:endParaRPr>
          </a:p>
        </p:txBody>
      </p:sp>
      <p:sp>
        <p:nvSpPr>
          <p:cNvPr id="15" name="Text Box 30"/>
          <p:cNvSpPr txBox="1">
            <a:spLocks noChangeArrowheads="1"/>
          </p:cNvSpPr>
          <p:nvPr/>
        </p:nvSpPr>
        <p:spPr bwMode="auto">
          <a:xfrm>
            <a:off x="7278067" y="5540647"/>
            <a:ext cx="822325"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700</a:t>
            </a:r>
            <a:endParaRPr lang="en-US" altLang="zh-CN" sz="2800">
              <a:solidFill>
                <a:srgbClr val="0000CC"/>
              </a:solidFill>
              <a:latin typeface="Courier New" pitchFamily="49" charset="0"/>
            </a:endParaRPr>
          </a:p>
        </p:txBody>
      </p:sp>
      <p:sp>
        <p:nvSpPr>
          <p:cNvPr id="16" name="Text Box 31"/>
          <p:cNvSpPr txBox="1">
            <a:spLocks noChangeArrowheads="1"/>
          </p:cNvSpPr>
          <p:nvPr/>
        </p:nvSpPr>
        <p:spPr bwMode="auto">
          <a:xfrm>
            <a:off x="7278067" y="6150247"/>
            <a:ext cx="822325" cy="519113"/>
          </a:xfrm>
          <a:prstGeom prst="rect">
            <a:avLst/>
          </a:prstGeom>
          <a:noFill/>
          <a:ln w="9525">
            <a:noFill/>
            <a:miter lim="800000"/>
            <a:headEnd/>
            <a:tailEnd/>
          </a:ln>
          <a:effectLst/>
        </p:spPr>
        <p:txBody>
          <a:bodyPr wrap="none">
            <a:spAutoFit/>
          </a:bodyPr>
          <a:lstStyle/>
          <a:p>
            <a:r>
              <a:rPr lang="zh-CN" altLang="en-US" sz="2800">
                <a:solidFill>
                  <a:srgbClr val="0000CC"/>
                </a:solidFill>
                <a:latin typeface="Courier New" pitchFamily="49" charset="0"/>
              </a:rPr>
              <a:t>755</a:t>
            </a:r>
            <a:endParaRPr lang="en-US" altLang="zh-CN" sz="2800">
              <a:solidFill>
                <a:srgbClr val="0000CC"/>
              </a:solidFill>
              <a:latin typeface="Courier New" pitchFamily="49" charset="0"/>
            </a:endParaRPr>
          </a:p>
        </p:txBody>
      </p:sp>
      <p:sp>
        <p:nvSpPr>
          <p:cNvPr id="17" name="Line 32"/>
          <p:cNvSpPr>
            <a:spLocks noChangeShapeType="1"/>
          </p:cNvSpPr>
          <p:nvPr/>
        </p:nvSpPr>
        <p:spPr bwMode="auto">
          <a:xfrm>
            <a:off x="6211267" y="465164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18" name="Line 33"/>
          <p:cNvSpPr>
            <a:spLocks noChangeShapeType="1"/>
          </p:cNvSpPr>
          <p:nvPr/>
        </p:nvSpPr>
        <p:spPr bwMode="auto">
          <a:xfrm>
            <a:off x="6211267" y="518504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19" name="Line 34"/>
          <p:cNvSpPr>
            <a:spLocks noChangeShapeType="1"/>
          </p:cNvSpPr>
          <p:nvPr/>
        </p:nvSpPr>
        <p:spPr bwMode="auto">
          <a:xfrm>
            <a:off x="6228184" y="579464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20" name="Line 35"/>
          <p:cNvSpPr>
            <a:spLocks noChangeShapeType="1"/>
          </p:cNvSpPr>
          <p:nvPr/>
        </p:nvSpPr>
        <p:spPr bwMode="auto">
          <a:xfrm>
            <a:off x="6287467" y="640424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up)">
                                      <p:cBhvr>
                                        <p:cTn id="7" dur="500"/>
                                        <p:tgtEl>
                                          <p:spTgt spid="9"/>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up)">
                                      <p:cBhvr>
                                        <p:cTn id="11" dur="500"/>
                                        <p:tgtEl>
                                          <p:spTgt spid="10"/>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wipe(up)">
                                      <p:cBhvr>
                                        <p:cTn id="15" dur="500"/>
                                        <p:tgtEl>
                                          <p:spTgt spid="11"/>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up)">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left)">
                                      <p:cBhvr>
                                        <p:cTn id="24" dur="500"/>
                                        <p:tgtEl>
                                          <p:spTgt spid="17"/>
                                        </p:tgtEl>
                                      </p:cBhvr>
                                    </p:animEffect>
                                  </p:childTnLst>
                                </p:cTn>
                              </p:par>
                            </p:childTnLst>
                          </p:cTn>
                        </p:par>
                        <p:par>
                          <p:cTn id="25" fill="hold">
                            <p:stCondLst>
                              <p:cond delay="500"/>
                            </p:stCondLst>
                            <p:childTnLst>
                              <p:par>
                                <p:cTn id="26" presetID="22" presetClass="entr" presetSubtype="1"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up)">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wipe(left)">
                                      <p:cBhvr>
                                        <p:cTn id="33" dur="500"/>
                                        <p:tgtEl>
                                          <p:spTgt spid="18"/>
                                        </p:tgtEl>
                                      </p:cBhvr>
                                    </p:animEffect>
                                  </p:childTnLst>
                                </p:cTn>
                              </p:par>
                            </p:childTnLst>
                          </p:cTn>
                        </p:par>
                        <p:par>
                          <p:cTn id="34" fill="hold">
                            <p:stCondLst>
                              <p:cond delay="500"/>
                            </p:stCondLst>
                            <p:childTnLst>
                              <p:par>
                                <p:cTn id="35" presetID="22" presetClass="entr" presetSubtype="1"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wipe(up)">
                                      <p:cBhvr>
                                        <p:cTn id="37" dur="500"/>
                                        <p:tgtEl>
                                          <p:spTgt spid="14"/>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500"/>
                                        <p:tgtEl>
                                          <p:spTgt spid="19"/>
                                        </p:tgtEl>
                                      </p:cBhvr>
                                    </p:animEffect>
                                  </p:childTnLst>
                                </p:cTn>
                              </p:par>
                            </p:childTnLst>
                          </p:cTn>
                        </p:par>
                        <p:par>
                          <p:cTn id="43" fill="hold">
                            <p:stCondLst>
                              <p:cond delay="500"/>
                            </p:stCondLst>
                            <p:childTnLst>
                              <p:par>
                                <p:cTn id="44" presetID="22" presetClass="entr" presetSubtype="1"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wipe(up)">
                                      <p:cBhvr>
                                        <p:cTn id="46" dur="500"/>
                                        <p:tgtEl>
                                          <p:spTgt spid="15"/>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wipe(left)">
                                      <p:cBhvr>
                                        <p:cTn id="51" dur="500"/>
                                        <p:tgtEl>
                                          <p:spTgt spid="20"/>
                                        </p:tgtEl>
                                      </p:cBhvr>
                                    </p:animEffect>
                                  </p:childTnLst>
                                </p:cTn>
                              </p:par>
                            </p:childTnLst>
                          </p:cTn>
                        </p:par>
                        <p:par>
                          <p:cTn id="52" fill="hold">
                            <p:stCondLst>
                              <p:cond delay="500"/>
                            </p:stCondLst>
                            <p:childTnLst>
                              <p:par>
                                <p:cTn id="53" presetID="22" presetClass="entr" presetSubtype="1" fill="hold" grpId="0" nodeType="after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wipe(up)">
                                      <p:cBhvr>
                                        <p:cTn id="5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P spid="13" grpId="0" autoUpdateAnimBg="0"/>
      <p:bldP spid="14" grpId="0" autoUpdateAnimBg="0"/>
      <p:bldP spid="15" grpId="0" autoUpdateAnimBg="0"/>
      <p:bldP spid="16" grpId="0" autoUpdateAnimBg="0"/>
      <p:bldP spid="17" grpId="0" animBg="1"/>
      <p:bldP spid="18" grpId="0" animBg="1"/>
      <p:bldP spid="19" grpId="0" animBg="1"/>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chmod </a:t>
            </a:r>
            <a:r>
              <a:rPr lang="zh-CN" altLang="en-US" dirty="0"/>
              <a:t>的数字设定法举例</a:t>
            </a:r>
          </a:p>
        </p:txBody>
      </p:sp>
      <p:sp>
        <p:nvSpPr>
          <p:cNvPr id="7" name="Rectangle 5"/>
          <p:cNvSpPr>
            <a:spLocks noChangeArrowheads="1"/>
          </p:cNvSpPr>
          <p:nvPr/>
        </p:nvSpPr>
        <p:spPr bwMode="auto">
          <a:xfrm>
            <a:off x="755577" y="3357141"/>
            <a:ext cx="7704856" cy="1040285"/>
          </a:xfrm>
          <a:prstGeom prst="rect">
            <a:avLst/>
          </a:prstGeom>
          <a:noFill/>
          <a:ln w="9525">
            <a:solidFill>
              <a:schemeClr val="hlink"/>
            </a:solidFill>
            <a:miter lim="800000"/>
            <a:headEnd/>
            <a:tailEnd/>
          </a:ln>
          <a:effectLst/>
        </p:spPr>
        <p:txBody>
          <a:bodyPr wrap="square">
            <a:spAutoFit/>
          </a:bodyPr>
          <a:lstStyle/>
          <a:p>
            <a:pPr>
              <a:spcBef>
                <a:spcPct val="20000"/>
              </a:spcBef>
              <a:buClr>
                <a:schemeClr val="folHlink"/>
              </a:buClr>
              <a:buSzPct val="60000"/>
              <a:buFont typeface="Wingdings" pitchFamily="2" charset="2"/>
              <a:buNone/>
            </a:pPr>
            <a:r>
              <a:rPr lang="en-US" altLang="zh-CN" sz="2800" dirty="0">
                <a:solidFill>
                  <a:srgbClr val="006400"/>
                </a:solidFill>
                <a:latin typeface="Courier New" pitchFamily="49" charset="0"/>
                <a:ea typeface="黑体" pitchFamily="49" charset="-122"/>
              </a:rPr>
              <a:t>chmod 750 myname.txt</a:t>
            </a:r>
          </a:p>
          <a:p>
            <a:pPr>
              <a:spcBef>
                <a:spcPct val="20000"/>
              </a:spcBef>
              <a:buClr>
                <a:schemeClr val="folHlink"/>
              </a:buClr>
              <a:buSzPct val="60000"/>
              <a:buFont typeface="Wingdings" pitchFamily="2" charset="2"/>
              <a:buNone/>
            </a:pPr>
            <a:r>
              <a:rPr lang="zh-CN" altLang="en-US" sz="2000" b="0" dirty="0">
                <a:solidFill>
                  <a:schemeClr val="tx1"/>
                </a:solidFill>
                <a:latin typeface="Courier New" pitchFamily="49" charset="0"/>
                <a:ea typeface="黑体" pitchFamily="49" charset="-122"/>
              </a:rPr>
              <a:t>设定文件</a:t>
            </a:r>
            <a:r>
              <a:rPr lang="zh-CN" altLang="en-US" sz="2800" b="0" dirty="0">
                <a:solidFill>
                  <a:schemeClr val="tx1"/>
                </a:solidFill>
                <a:ea typeface="黑体" pitchFamily="49" charset="-122"/>
              </a:rPr>
              <a:t> </a:t>
            </a:r>
            <a:r>
              <a:rPr lang="en-US" altLang="zh-CN" sz="2800" dirty="0">
                <a:solidFill>
                  <a:srgbClr val="3333CC"/>
                </a:solidFill>
                <a:latin typeface="Courier New" pitchFamily="49" charset="0"/>
                <a:ea typeface="黑体" pitchFamily="49" charset="-122"/>
              </a:rPr>
              <a:t>myname.txt</a:t>
            </a:r>
            <a:r>
              <a:rPr lang="en-US" altLang="zh-CN" sz="2800" dirty="0">
                <a:solidFill>
                  <a:srgbClr val="3333CC"/>
                </a:solidFill>
                <a:ea typeface="黑体" pitchFamily="49" charset="-122"/>
              </a:rPr>
              <a:t> </a:t>
            </a:r>
            <a:r>
              <a:rPr lang="zh-CN" altLang="en-US" sz="2000" b="0" dirty="0">
                <a:solidFill>
                  <a:schemeClr val="tx1"/>
                </a:solidFill>
                <a:latin typeface="Courier New" pitchFamily="49" charset="0"/>
                <a:ea typeface="黑体" pitchFamily="49" charset="-122"/>
              </a:rPr>
              <a:t>的</a:t>
            </a:r>
            <a:r>
              <a:rPr lang="zh-CN" altLang="en-US" sz="2000" dirty="0">
                <a:latin typeface="Courier New" pitchFamily="49" charset="0"/>
                <a:ea typeface="黑体" pitchFamily="49" charset="-122"/>
              </a:rPr>
              <a:t>权限</a:t>
            </a:r>
            <a:r>
              <a:rPr lang="zh-CN" altLang="en-US" sz="2000" b="0" dirty="0">
                <a:solidFill>
                  <a:schemeClr val="tx1"/>
                </a:solidFill>
                <a:latin typeface="Courier New" pitchFamily="49" charset="0"/>
                <a:ea typeface="黑体" pitchFamily="49" charset="-122"/>
              </a:rPr>
              <a:t>属性为：</a:t>
            </a:r>
            <a:r>
              <a:rPr lang="zh-CN" altLang="en-US" sz="2800" dirty="0">
                <a:solidFill>
                  <a:srgbClr val="006400"/>
                </a:solidFill>
                <a:latin typeface="Courier New" pitchFamily="49" charset="0"/>
                <a:ea typeface="黑体" pitchFamily="49" charset="-122"/>
              </a:rPr>
              <a:t>-</a:t>
            </a:r>
            <a:r>
              <a:rPr lang="en-US" altLang="zh-CN" sz="2800" dirty="0" err="1">
                <a:solidFill>
                  <a:srgbClr val="006400"/>
                </a:solidFill>
                <a:latin typeface="Courier New" pitchFamily="49" charset="0"/>
                <a:ea typeface="黑体" pitchFamily="49" charset="-122"/>
              </a:rPr>
              <a:t>rwxr</a:t>
            </a:r>
            <a:r>
              <a:rPr lang="en-US" altLang="zh-CN" sz="2800" dirty="0">
                <a:solidFill>
                  <a:srgbClr val="006400"/>
                </a:solidFill>
                <a:latin typeface="Courier New" pitchFamily="49" charset="0"/>
                <a:ea typeface="黑体" pitchFamily="49" charset="-122"/>
              </a:rPr>
              <a:t>-x--- </a:t>
            </a:r>
            <a:endParaRPr lang="zh-CN" altLang="en-US" sz="3200" dirty="0">
              <a:solidFill>
                <a:srgbClr val="006400"/>
              </a:solidFill>
              <a:latin typeface="Courier New" pitchFamily="49" charset="0"/>
              <a:ea typeface="黑体" pitchFamily="49" charset="-122"/>
            </a:endParaRPr>
          </a:p>
        </p:txBody>
      </p:sp>
      <p:sp>
        <p:nvSpPr>
          <p:cNvPr id="8" name="Rectangle 6"/>
          <p:cNvSpPr>
            <a:spLocks noChangeArrowheads="1"/>
          </p:cNvSpPr>
          <p:nvPr/>
        </p:nvSpPr>
        <p:spPr bwMode="auto">
          <a:xfrm>
            <a:off x="755577" y="4940622"/>
            <a:ext cx="7704856" cy="1040285"/>
          </a:xfrm>
          <a:prstGeom prst="rect">
            <a:avLst/>
          </a:prstGeom>
          <a:noFill/>
          <a:ln w="9525">
            <a:solidFill>
              <a:schemeClr val="hlink"/>
            </a:solidFill>
            <a:miter lim="800000"/>
            <a:headEnd/>
            <a:tailEnd/>
          </a:ln>
          <a:effectLst/>
        </p:spPr>
        <p:txBody>
          <a:bodyPr wrap="square">
            <a:spAutoFit/>
          </a:bodyPr>
          <a:lstStyle/>
          <a:p>
            <a:pPr>
              <a:spcBef>
                <a:spcPct val="20000"/>
              </a:spcBef>
              <a:buClr>
                <a:schemeClr val="folHlink"/>
              </a:buClr>
              <a:buSzPct val="60000"/>
              <a:buFont typeface="Wingdings" pitchFamily="2" charset="2"/>
              <a:buNone/>
            </a:pPr>
            <a:r>
              <a:rPr lang="en-US" altLang="zh-CN" sz="2800" dirty="0">
                <a:solidFill>
                  <a:srgbClr val="006400"/>
                </a:solidFill>
                <a:latin typeface="Courier New" pitchFamily="49" charset="0"/>
                <a:ea typeface="黑体" pitchFamily="49" charset="-122"/>
              </a:rPr>
              <a:t>chmod 700 </a:t>
            </a:r>
            <a:r>
              <a:rPr lang="en-US" altLang="zh-CN" sz="2800" dirty="0" err="1">
                <a:solidFill>
                  <a:srgbClr val="006400"/>
                </a:solidFill>
                <a:latin typeface="Courier New" pitchFamily="49" charset="0"/>
                <a:ea typeface="黑体" pitchFamily="49" charset="-122"/>
              </a:rPr>
              <a:t>mydata</a:t>
            </a:r>
            <a:r>
              <a:rPr lang="en-US" altLang="zh-CN" sz="2800" dirty="0">
                <a:solidFill>
                  <a:srgbClr val="006400"/>
                </a:solidFill>
                <a:latin typeface="Courier New" pitchFamily="49" charset="0"/>
                <a:ea typeface="黑体" pitchFamily="49" charset="-122"/>
              </a:rPr>
              <a:t>/</a:t>
            </a:r>
          </a:p>
          <a:p>
            <a:pPr>
              <a:spcBef>
                <a:spcPct val="20000"/>
              </a:spcBef>
              <a:buClr>
                <a:schemeClr val="folHlink"/>
              </a:buClr>
              <a:buSzPct val="60000"/>
              <a:buFont typeface="Wingdings" pitchFamily="2" charset="2"/>
              <a:buNone/>
            </a:pPr>
            <a:r>
              <a:rPr lang="zh-CN" altLang="en-US" sz="2000" b="0" dirty="0">
                <a:solidFill>
                  <a:schemeClr val="tx1"/>
                </a:solidFill>
                <a:latin typeface="Courier New" pitchFamily="49" charset="0"/>
                <a:ea typeface="黑体" pitchFamily="49" charset="-122"/>
              </a:rPr>
              <a:t>设定目录</a:t>
            </a:r>
            <a:r>
              <a:rPr lang="zh-CN" altLang="en-US" sz="2800" dirty="0">
                <a:solidFill>
                  <a:srgbClr val="3333CC"/>
                </a:solidFill>
                <a:ea typeface="黑体" pitchFamily="49" charset="-122"/>
              </a:rPr>
              <a:t> </a:t>
            </a:r>
            <a:r>
              <a:rPr lang="en-US" altLang="zh-CN" sz="2800" dirty="0" err="1">
                <a:solidFill>
                  <a:srgbClr val="3333CC"/>
                </a:solidFill>
                <a:latin typeface="Courier New" pitchFamily="49" charset="0"/>
                <a:ea typeface="黑体" pitchFamily="49" charset="-122"/>
              </a:rPr>
              <a:t>mydata</a:t>
            </a:r>
            <a:r>
              <a:rPr lang="en-US" altLang="zh-CN" sz="2800" dirty="0">
                <a:solidFill>
                  <a:srgbClr val="3333CC"/>
                </a:solidFill>
                <a:ea typeface="黑体" pitchFamily="49" charset="-122"/>
              </a:rPr>
              <a:t> </a:t>
            </a:r>
            <a:r>
              <a:rPr lang="zh-CN" altLang="en-US" sz="2000" b="0" dirty="0">
                <a:solidFill>
                  <a:schemeClr val="tx1"/>
                </a:solidFill>
                <a:latin typeface="Courier New" pitchFamily="49" charset="0"/>
                <a:ea typeface="黑体" pitchFamily="49" charset="-122"/>
              </a:rPr>
              <a:t>的</a:t>
            </a:r>
            <a:r>
              <a:rPr lang="zh-CN" altLang="en-US" sz="2000" dirty="0">
                <a:latin typeface="Courier New" pitchFamily="49" charset="0"/>
                <a:ea typeface="黑体" pitchFamily="49" charset="-122"/>
              </a:rPr>
              <a:t>权限</a:t>
            </a:r>
            <a:r>
              <a:rPr lang="zh-CN" altLang="en-US" sz="2000" b="0" dirty="0">
                <a:solidFill>
                  <a:schemeClr val="tx1"/>
                </a:solidFill>
                <a:latin typeface="Courier New" pitchFamily="49" charset="0"/>
                <a:ea typeface="黑体" pitchFamily="49" charset="-122"/>
              </a:rPr>
              <a:t>属性为：</a:t>
            </a:r>
            <a:r>
              <a:rPr lang="en-US" altLang="zh-CN" sz="2800" dirty="0" err="1">
                <a:solidFill>
                  <a:srgbClr val="006400"/>
                </a:solidFill>
                <a:latin typeface="Courier New" pitchFamily="49" charset="0"/>
                <a:ea typeface="黑体" pitchFamily="49" charset="-122"/>
              </a:rPr>
              <a:t>drwx</a:t>
            </a:r>
            <a:r>
              <a:rPr lang="en-US" altLang="zh-CN" sz="2800" dirty="0">
                <a:solidFill>
                  <a:srgbClr val="006400"/>
                </a:solidFill>
                <a:latin typeface="Courier New" pitchFamily="49" charset="0"/>
                <a:ea typeface="黑体" pitchFamily="49" charset="-122"/>
              </a:rPr>
              <a:t>------ </a:t>
            </a:r>
            <a:endParaRPr lang="zh-CN" altLang="en-US" sz="3200" dirty="0">
              <a:solidFill>
                <a:srgbClr val="006400"/>
              </a:solidFill>
              <a:latin typeface="Courier New" pitchFamily="49" charset="0"/>
              <a:ea typeface="黑体" pitchFamily="49" charset="-122"/>
            </a:endParaRPr>
          </a:p>
        </p:txBody>
      </p:sp>
      <p:sp>
        <p:nvSpPr>
          <p:cNvPr id="9" name="Rectangle 9"/>
          <p:cNvSpPr>
            <a:spLocks noChangeArrowheads="1"/>
          </p:cNvSpPr>
          <p:nvPr/>
        </p:nvSpPr>
        <p:spPr bwMode="auto">
          <a:xfrm>
            <a:off x="755576" y="1772816"/>
            <a:ext cx="7706386" cy="1040285"/>
          </a:xfrm>
          <a:prstGeom prst="rect">
            <a:avLst/>
          </a:prstGeom>
          <a:noFill/>
          <a:ln w="9525">
            <a:solidFill>
              <a:schemeClr val="hlink"/>
            </a:solidFill>
            <a:miter lim="800000"/>
            <a:headEnd/>
            <a:tailEnd/>
          </a:ln>
          <a:effectLst/>
        </p:spPr>
        <p:txBody>
          <a:bodyPr wrap="square">
            <a:spAutoFit/>
          </a:bodyPr>
          <a:lstStyle/>
          <a:p>
            <a:pPr>
              <a:spcBef>
                <a:spcPct val="20000"/>
              </a:spcBef>
              <a:buClr>
                <a:schemeClr val="folHlink"/>
              </a:buClr>
              <a:buSzPct val="60000"/>
              <a:buFont typeface="Wingdings" pitchFamily="2" charset="2"/>
              <a:buNone/>
            </a:pPr>
            <a:r>
              <a:rPr lang="en-US" altLang="zh-CN" sz="2800" dirty="0">
                <a:solidFill>
                  <a:srgbClr val="006400"/>
                </a:solidFill>
                <a:latin typeface="Courier New" pitchFamily="49" charset="0"/>
                <a:ea typeface="黑体" pitchFamily="49" charset="-122"/>
              </a:rPr>
              <a:t>chmod 644 myname.txt</a:t>
            </a:r>
          </a:p>
          <a:p>
            <a:pPr>
              <a:spcBef>
                <a:spcPct val="20000"/>
              </a:spcBef>
              <a:buClr>
                <a:schemeClr val="folHlink"/>
              </a:buClr>
              <a:buSzPct val="60000"/>
              <a:buFont typeface="Wingdings" pitchFamily="2" charset="2"/>
              <a:buNone/>
            </a:pPr>
            <a:r>
              <a:rPr lang="zh-CN" altLang="en-US" sz="2000" b="0" dirty="0">
                <a:solidFill>
                  <a:schemeClr val="tx1"/>
                </a:solidFill>
                <a:latin typeface="Courier New" pitchFamily="49" charset="0"/>
                <a:ea typeface="黑体" pitchFamily="49" charset="-122"/>
              </a:rPr>
              <a:t>设定文件</a:t>
            </a:r>
            <a:r>
              <a:rPr lang="zh-CN" altLang="en-US" sz="2800" dirty="0">
                <a:solidFill>
                  <a:srgbClr val="3333CC"/>
                </a:solidFill>
                <a:ea typeface="黑体" pitchFamily="49" charset="-122"/>
              </a:rPr>
              <a:t> </a:t>
            </a:r>
            <a:r>
              <a:rPr lang="en-US" altLang="zh-CN" sz="2800" dirty="0">
                <a:solidFill>
                  <a:srgbClr val="3333CC"/>
                </a:solidFill>
                <a:latin typeface="Courier New" pitchFamily="49" charset="0"/>
                <a:ea typeface="黑体" pitchFamily="49" charset="-122"/>
              </a:rPr>
              <a:t>myname.txt</a:t>
            </a:r>
            <a:r>
              <a:rPr lang="en-US" altLang="zh-CN" sz="2800" dirty="0">
                <a:solidFill>
                  <a:srgbClr val="3333CC"/>
                </a:solidFill>
                <a:ea typeface="黑体" pitchFamily="49" charset="-122"/>
              </a:rPr>
              <a:t> </a:t>
            </a:r>
            <a:r>
              <a:rPr lang="zh-CN" altLang="en-US" sz="2000" b="0" dirty="0">
                <a:solidFill>
                  <a:schemeClr val="tx1"/>
                </a:solidFill>
                <a:latin typeface="Courier New" pitchFamily="49" charset="0"/>
                <a:ea typeface="黑体" pitchFamily="49" charset="-122"/>
              </a:rPr>
              <a:t>的权限属性为：</a:t>
            </a:r>
            <a:r>
              <a:rPr lang="zh-CN" altLang="en-US" sz="2800" dirty="0">
                <a:solidFill>
                  <a:srgbClr val="006400"/>
                </a:solidFill>
                <a:latin typeface="Courier New" pitchFamily="49" charset="0"/>
                <a:ea typeface="黑体" pitchFamily="49" charset="-122"/>
              </a:rPr>
              <a:t>-</a:t>
            </a:r>
            <a:r>
              <a:rPr lang="en-US" altLang="zh-CN" sz="2800" dirty="0" err="1">
                <a:solidFill>
                  <a:srgbClr val="006400"/>
                </a:solidFill>
                <a:latin typeface="Courier New" pitchFamily="49" charset="0"/>
                <a:ea typeface="黑体" pitchFamily="49" charset="-122"/>
              </a:rPr>
              <a:t>rw</a:t>
            </a:r>
            <a:r>
              <a:rPr lang="en-US" altLang="zh-CN" sz="2800" dirty="0">
                <a:solidFill>
                  <a:srgbClr val="006400"/>
                </a:solidFill>
                <a:latin typeface="Courier New" pitchFamily="49" charset="0"/>
                <a:ea typeface="黑体" pitchFamily="49" charset="-122"/>
              </a:rPr>
              <a:t>-r--r-- </a:t>
            </a:r>
            <a:endParaRPr lang="zh-CN" altLang="en-US" sz="3200" dirty="0">
              <a:solidFill>
                <a:srgbClr val="006400"/>
              </a:solidFill>
              <a:latin typeface="Courier New" pitchFamily="49" charset="0"/>
              <a:ea typeface="黑体"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ox(in)">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checkerboard(across)">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改变文件</a:t>
            </a:r>
            <a:r>
              <a:rPr lang="en-US" altLang="zh-CN" dirty="0"/>
              <a:t>/</a:t>
            </a:r>
            <a:r>
              <a:rPr lang="zh-CN" altLang="en-US" dirty="0"/>
              <a:t>目录属主或组</a:t>
            </a:r>
          </a:p>
        </p:txBody>
      </p:sp>
      <p:sp>
        <p:nvSpPr>
          <p:cNvPr id="3" name="内容占位符 2"/>
          <p:cNvSpPr>
            <a:spLocks noGrp="1"/>
          </p:cNvSpPr>
          <p:nvPr>
            <p:ph idx="1"/>
          </p:nvPr>
        </p:nvSpPr>
        <p:spPr>
          <a:xfrm>
            <a:off x="1043608" y="1484784"/>
            <a:ext cx="7560840" cy="4824536"/>
          </a:xfrm>
        </p:spPr>
        <p:txBody>
          <a:bodyPr/>
          <a:lstStyle/>
          <a:p>
            <a:r>
              <a:rPr lang="zh-CN" altLang="en-US" dirty="0"/>
              <a:t>用 </a:t>
            </a:r>
            <a:r>
              <a:rPr lang="en-US" altLang="zh-CN" dirty="0"/>
              <a:t>chown </a:t>
            </a:r>
            <a:r>
              <a:rPr lang="zh-CN" altLang="en-US" dirty="0"/>
              <a:t>命令改变</a:t>
            </a:r>
            <a:r>
              <a:rPr lang="zh-CN" altLang="en-US" dirty="0">
                <a:solidFill>
                  <a:srgbClr val="FF0000"/>
                </a:solidFill>
              </a:rPr>
              <a:t>属主 和</a:t>
            </a:r>
            <a:r>
              <a:rPr lang="en-US" altLang="zh-CN" dirty="0">
                <a:solidFill>
                  <a:srgbClr val="FF0000"/>
                </a:solidFill>
              </a:rPr>
              <a:t>/</a:t>
            </a:r>
            <a:r>
              <a:rPr lang="zh-CN" altLang="en-US" dirty="0">
                <a:solidFill>
                  <a:srgbClr val="FF0000"/>
                </a:solidFill>
              </a:rPr>
              <a:t>或 组 </a:t>
            </a:r>
          </a:p>
          <a:p>
            <a:pPr lvl="1"/>
            <a:r>
              <a:rPr lang="en-US" altLang="zh-CN" b="1" dirty="0">
                <a:solidFill>
                  <a:schemeClr val="accent6">
                    <a:lumMod val="75000"/>
                  </a:schemeClr>
                </a:solidFill>
              </a:rPr>
              <a:t>chown [-R] &lt;</a:t>
            </a:r>
            <a:r>
              <a:rPr lang="zh-CN" altLang="en-US" b="1" dirty="0">
                <a:solidFill>
                  <a:schemeClr val="accent6">
                    <a:lumMod val="75000"/>
                  </a:schemeClr>
                </a:solidFill>
              </a:rPr>
              <a:t>用户名</a:t>
            </a:r>
            <a:r>
              <a:rPr lang="en-US" altLang="zh-CN" b="1" dirty="0">
                <a:solidFill>
                  <a:schemeClr val="accent6">
                    <a:lumMod val="75000"/>
                  </a:schemeClr>
                </a:solidFill>
              </a:rPr>
              <a:t>[&lt;</a:t>
            </a:r>
            <a:r>
              <a:rPr lang="en-US" altLang="zh-CN" b="1" dirty="0">
                <a:solidFill>
                  <a:srgbClr val="FF0000"/>
                </a:solidFill>
              </a:rPr>
              <a:t>.</a:t>
            </a:r>
            <a:r>
              <a:rPr lang="en-US" altLang="zh-CN" b="1" dirty="0">
                <a:solidFill>
                  <a:schemeClr val="accent6">
                    <a:lumMod val="75000"/>
                  </a:schemeClr>
                </a:solidFill>
              </a:rPr>
              <a:t>|</a:t>
            </a:r>
            <a:r>
              <a:rPr lang="en-US" altLang="zh-CN" b="1" dirty="0">
                <a:solidFill>
                  <a:srgbClr val="FF0000"/>
                </a:solidFill>
              </a:rPr>
              <a:t>:</a:t>
            </a:r>
            <a:r>
              <a:rPr lang="en-US" altLang="zh-CN" b="1" dirty="0">
                <a:solidFill>
                  <a:schemeClr val="accent6">
                    <a:lumMod val="75000"/>
                  </a:schemeClr>
                </a:solidFill>
              </a:rPr>
              <a:t>&gt;</a:t>
            </a:r>
            <a:r>
              <a:rPr lang="zh-CN" altLang="en-US" b="1" dirty="0">
                <a:solidFill>
                  <a:schemeClr val="accent6">
                    <a:lumMod val="75000"/>
                  </a:schemeClr>
                </a:solidFill>
              </a:rPr>
              <a:t>组名</a:t>
            </a:r>
            <a:r>
              <a:rPr lang="en-US" altLang="zh-CN" b="1" dirty="0">
                <a:solidFill>
                  <a:schemeClr val="accent6">
                    <a:lumMod val="75000"/>
                  </a:schemeClr>
                </a:solidFill>
              </a:rPr>
              <a:t>]&gt; &lt;</a:t>
            </a:r>
            <a:r>
              <a:rPr lang="zh-CN" altLang="en-US" b="1" dirty="0">
                <a:solidFill>
                  <a:schemeClr val="accent6">
                    <a:lumMod val="75000"/>
                  </a:schemeClr>
                </a:solidFill>
              </a:rPr>
              <a:t>文件｜目录</a:t>
            </a:r>
            <a:r>
              <a:rPr lang="en-US" altLang="zh-CN" b="1" dirty="0">
                <a:solidFill>
                  <a:schemeClr val="accent6">
                    <a:lumMod val="75000"/>
                  </a:schemeClr>
                </a:solidFill>
              </a:rPr>
              <a:t>&gt;</a:t>
            </a:r>
          </a:p>
          <a:p>
            <a:pPr lvl="2"/>
            <a:r>
              <a:rPr lang="zh-CN" altLang="en-US" dirty="0"/>
              <a:t>只有</a:t>
            </a:r>
            <a:r>
              <a:rPr lang="en-US" altLang="zh-CN" dirty="0">
                <a:solidFill>
                  <a:srgbClr val="FF0000"/>
                </a:solidFill>
              </a:rPr>
              <a:t>root</a:t>
            </a:r>
            <a:r>
              <a:rPr lang="zh-CN" altLang="en-US" dirty="0"/>
              <a:t>用户才能改变文件的所有者 </a:t>
            </a:r>
          </a:p>
          <a:p>
            <a:pPr lvl="2"/>
            <a:r>
              <a:rPr lang="zh-CN" altLang="en-US" dirty="0">
                <a:solidFill>
                  <a:srgbClr val="0000CC"/>
                </a:solidFill>
              </a:rPr>
              <a:t>组名</a:t>
            </a:r>
            <a:r>
              <a:rPr lang="zh-CN" altLang="en-US" dirty="0"/>
              <a:t>必须在</a:t>
            </a:r>
            <a:r>
              <a:rPr lang="en-US" altLang="zh-CN" dirty="0"/>
              <a:t>/</a:t>
            </a:r>
            <a:r>
              <a:rPr lang="en-US" altLang="zh-CN" dirty="0" err="1"/>
              <a:t>etc</a:t>
            </a:r>
            <a:r>
              <a:rPr lang="en-US" altLang="zh-CN" dirty="0"/>
              <a:t>/group</a:t>
            </a:r>
            <a:r>
              <a:rPr lang="zh-CN" altLang="en-US" dirty="0"/>
              <a:t>中</a:t>
            </a:r>
            <a:r>
              <a:rPr lang="zh-CN" altLang="en-US" dirty="0">
                <a:solidFill>
                  <a:srgbClr val="0000CC"/>
                </a:solidFill>
              </a:rPr>
              <a:t>存在</a:t>
            </a:r>
            <a:endParaRPr lang="en-US" altLang="zh-CN" dirty="0">
              <a:solidFill>
                <a:srgbClr val="0000CC"/>
              </a:solidFill>
            </a:endParaRPr>
          </a:p>
          <a:p>
            <a:pPr lvl="2"/>
            <a:r>
              <a:rPr lang="zh-CN" altLang="en-US" dirty="0">
                <a:solidFill>
                  <a:srgbClr val="0000CC"/>
                </a:solidFill>
              </a:rPr>
              <a:t>用户名</a:t>
            </a:r>
            <a:r>
              <a:rPr lang="zh-CN" altLang="en-US" dirty="0"/>
              <a:t>必须在</a:t>
            </a:r>
            <a:r>
              <a:rPr lang="en-US" altLang="zh-CN" dirty="0"/>
              <a:t>/</a:t>
            </a:r>
            <a:r>
              <a:rPr lang="en-US" altLang="zh-CN" dirty="0" err="1"/>
              <a:t>etc</a:t>
            </a:r>
            <a:r>
              <a:rPr lang="en-US" altLang="zh-CN" dirty="0"/>
              <a:t>/passwd</a:t>
            </a:r>
            <a:r>
              <a:rPr lang="zh-CN" altLang="en-US" dirty="0"/>
              <a:t>中</a:t>
            </a:r>
            <a:r>
              <a:rPr lang="zh-CN" altLang="en-US" dirty="0">
                <a:solidFill>
                  <a:srgbClr val="0000CC"/>
                </a:solidFill>
              </a:rPr>
              <a:t>存在</a:t>
            </a:r>
            <a:endParaRPr lang="en-US" altLang="zh-CN" dirty="0">
              <a:solidFill>
                <a:srgbClr val="0000CC"/>
              </a:solidFill>
            </a:endParaRPr>
          </a:p>
          <a:p>
            <a:r>
              <a:rPr lang="en-US" altLang="zh-CN" dirty="0" err="1"/>
              <a:t>chgrp</a:t>
            </a:r>
            <a:r>
              <a:rPr lang="en-US" altLang="zh-CN" dirty="0"/>
              <a:t> </a:t>
            </a:r>
            <a:r>
              <a:rPr lang="zh-CN" altLang="en-US" dirty="0"/>
              <a:t>被用来改变所</a:t>
            </a:r>
            <a:r>
              <a:rPr lang="zh-CN" altLang="en-US" dirty="0">
                <a:solidFill>
                  <a:srgbClr val="FF0000"/>
                </a:solidFill>
              </a:rPr>
              <a:t>属组 </a:t>
            </a:r>
          </a:p>
          <a:p>
            <a:pPr lvl="1"/>
            <a:r>
              <a:rPr lang="en-US" altLang="zh-CN" b="1" dirty="0" err="1">
                <a:solidFill>
                  <a:schemeClr val="accent6">
                    <a:lumMod val="75000"/>
                  </a:schemeClr>
                </a:solidFill>
              </a:rPr>
              <a:t>chgrp</a:t>
            </a:r>
            <a:r>
              <a:rPr lang="en-US" altLang="zh-CN" b="1" dirty="0">
                <a:solidFill>
                  <a:schemeClr val="accent6">
                    <a:lumMod val="75000"/>
                  </a:schemeClr>
                </a:solidFill>
              </a:rPr>
              <a:t> [-R] &lt;</a:t>
            </a:r>
            <a:r>
              <a:rPr lang="zh-CN" altLang="en-US" b="1" dirty="0">
                <a:solidFill>
                  <a:schemeClr val="accent6">
                    <a:lumMod val="75000"/>
                  </a:schemeClr>
                </a:solidFill>
              </a:rPr>
              <a:t>组名</a:t>
            </a:r>
            <a:r>
              <a:rPr lang="en-US" altLang="zh-CN" b="1" dirty="0">
                <a:solidFill>
                  <a:schemeClr val="accent6">
                    <a:lumMod val="75000"/>
                  </a:schemeClr>
                </a:solidFill>
              </a:rPr>
              <a:t>&gt; &lt;</a:t>
            </a:r>
            <a:r>
              <a:rPr lang="zh-CN" altLang="en-US" b="1" dirty="0">
                <a:solidFill>
                  <a:schemeClr val="accent6">
                    <a:lumMod val="75000"/>
                  </a:schemeClr>
                </a:solidFill>
              </a:rPr>
              <a:t>文件｜目录</a:t>
            </a:r>
            <a:r>
              <a:rPr lang="en-US" altLang="zh-CN" b="1" dirty="0">
                <a:solidFill>
                  <a:schemeClr val="accent6">
                    <a:lumMod val="75000"/>
                  </a:schemeClr>
                </a:solidFill>
              </a:rPr>
              <a:t>&gt;</a:t>
            </a:r>
          </a:p>
          <a:p>
            <a:pPr lvl="2"/>
            <a:r>
              <a:rPr lang="zh-CN" altLang="en-US" dirty="0">
                <a:solidFill>
                  <a:srgbClr val="0000CC"/>
                </a:solidFill>
              </a:rPr>
              <a:t>组名</a:t>
            </a:r>
            <a:r>
              <a:rPr lang="zh-CN" altLang="en-US" dirty="0"/>
              <a:t>必须在</a:t>
            </a:r>
            <a:r>
              <a:rPr lang="en-US" altLang="zh-CN" dirty="0"/>
              <a:t>/</a:t>
            </a:r>
            <a:r>
              <a:rPr lang="en-US" altLang="zh-CN" dirty="0" err="1"/>
              <a:t>etc</a:t>
            </a:r>
            <a:r>
              <a:rPr lang="en-US" altLang="zh-CN" dirty="0"/>
              <a:t>/group</a:t>
            </a:r>
            <a:r>
              <a:rPr lang="zh-CN" altLang="en-US" dirty="0"/>
              <a:t>中</a:t>
            </a:r>
            <a:r>
              <a:rPr lang="zh-CN" altLang="en-US" dirty="0">
                <a:solidFill>
                  <a:srgbClr val="0000CC"/>
                </a:solidFill>
              </a:rPr>
              <a:t>存在</a:t>
            </a:r>
            <a:endParaRPr lang="en-US" altLang="zh-CN" dirty="0">
              <a:solidFill>
                <a:srgbClr val="0000CC"/>
              </a:solidFill>
            </a:endParaRPr>
          </a:p>
          <a:p>
            <a:pPr lvl="2"/>
            <a:r>
              <a:rPr lang="zh-CN" altLang="en-US" dirty="0"/>
              <a:t>只有</a:t>
            </a:r>
            <a:r>
              <a:rPr lang="en-US" altLang="zh-CN" dirty="0">
                <a:solidFill>
                  <a:srgbClr val="FF0000"/>
                </a:solidFill>
              </a:rPr>
              <a:t>root</a:t>
            </a:r>
            <a:r>
              <a:rPr lang="zh-CN" altLang="en-US" dirty="0"/>
              <a:t>用户或</a:t>
            </a:r>
            <a:r>
              <a:rPr lang="zh-CN" altLang="en-US" dirty="0">
                <a:solidFill>
                  <a:srgbClr val="FF0000"/>
                </a:solidFill>
              </a:rPr>
              <a:t>所有者</a:t>
            </a:r>
            <a:r>
              <a:rPr lang="zh-CN" altLang="en-US" dirty="0"/>
              <a:t>才能改变文件所属的组 </a:t>
            </a:r>
          </a:p>
          <a:p>
            <a:pPr lvl="1">
              <a:buNone/>
            </a:pPr>
            <a:endParaRPr lang="zh-CN" altLang="en-US" b="1"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改变属主或组举例</a:t>
            </a:r>
            <a:r>
              <a:rPr lang="en-US" altLang="zh-CN" dirty="0"/>
              <a:t>1</a:t>
            </a:r>
            <a:endParaRPr lang="zh-CN" altLang="en-US" dirty="0"/>
          </a:p>
        </p:txBody>
      </p:sp>
      <p:sp>
        <p:nvSpPr>
          <p:cNvPr id="6" name="文本框 5">
            <a:extLst>
              <a:ext uri="{FF2B5EF4-FFF2-40B4-BE49-F238E27FC236}">
                <a16:creationId xmlns:a16="http://schemas.microsoft.com/office/drawing/2014/main" id="{5A29BF14-029C-443D-9367-B2D684C84B2D}"/>
              </a:ext>
            </a:extLst>
          </p:cNvPr>
          <p:cNvSpPr txBox="1"/>
          <p:nvPr/>
        </p:nvSpPr>
        <p:spPr>
          <a:xfrm>
            <a:off x="0" y="1261340"/>
            <a:ext cx="9143999" cy="5596660"/>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lin ang="10800000" scaled="1"/>
            <a:tileRect/>
          </a:gradFill>
        </p:spPr>
        <p:txBody>
          <a:bodyPr wrap="square">
            <a:spAutoFit/>
          </a:bodyPr>
          <a:lstStyle/>
          <a:p>
            <a:pPr>
              <a:spcBef>
                <a:spcPts val="600"/>
              </a:spcBef>
            </a:pPr>
            <a:r>
              <a:rPr lang="en-US" altLang="zh-CN" sz="2800" dirty="0">
                <a:solidFill>
                  <a:srgbClr val="0000CC"/>
                </a:solidFill>
                <a:latin typeface="黑体" panose="02010609060101010101" pitchFamily="49" charset="-122"/>
                <a:ea typeface="黑体" panose="02010609060101010101" pitchFamily="49" charset="-122"/>
              </a:rPr>
              <a:t>1 </a:t>
            </a:r>
            <a:r>
              <a:rPr lang="zh-CN" altLang="en-US" sz="2800" dirty="0">
                <a:solidFill>
                  <a:srgbClr val="0000CC"/>
                </a:solidFill>
                <a:latin typeface="黑体" panose="02010609060101010101" pitchFamily="49" charset="-122"/>
                <a:ea typeface="黑体" panose="02010609060101010101" pitchFamily="49" charset="-122"/>
              </a:rPr>
              <a:t>将</a:t>
            </a:r>
            <a:r>
              <a:rPr lang="en-US" altLang="zh-CN" sz="2800" dirty="0">
                <a:solidFill>
                  <a:srgbClr val="0000CC"/>
                </a:solidFill>
                <a:latin typeface="黑体" panose="02010609060101010101" pitchFamily="49" charset="-122"/>
                <a:ea typeface="黑体" panose="02010609060101010101" pitchFamily="49" charset="-122"/>
              </a:rPr>
              <a:t>install.log</a:t>
            </a:r>
            <a:r>
              <a:rPr lang="zh-CN" altLang="en-US" sz="2800" dirty="0">
                <a:solidFill>
                  <a:srgbClr val="0000CC"/>
                </a:solidFill>
                <a:latin typeface="黑体" panose="02010609060101010101" pitchFamily="49" charset="-122"/>
                <a:ea typeface="黑体" panose="02010609060101010101" pitchFamily="49" charset="-122"/>
              </a:rPr>
              <a:t>的用户组改为</a:t>
            </a:r>
            <a:r>
              <a:rPr lang="en-US" altLang="zh-CN" sz="2800" dirty="0">
                <a:solidFill>
                  <a:srgbClr val="0000CC"/>
                </a:solidFill>
                <a:latin typeface="黑体" panose="02010609060101010101" pitchFamily="49" charset="-122"/>
                <a:ea typeface="黑体" panose="02010609060101010101" pitchFamily="49" charset="-122"/>
              </a:rPr>
              <a:t>users</a:t>
            </a:r>
            <a:r>
              <a:rPr lang="zh-CN" altLang="en-US" sz="2800" dirty="0">
                <a:solidFill>
                  <a:srgbClr val="0000CC"/>
                </a:solidFill>
                <a:latin typeface="黑体" panose="02010609060101010101" pitchFamily="49" charset="-122"/>
                <a:ea typeface="黑体" panose="02010609060101010101" pitchFamily="49" charset="-122"/>
              </a:rPr>
              <a:t>这个组</a:t>
            </a:r>
          </a:p>
          <a:p>
            <a:r>
              <a:rPr lang="en-US" altLang="zh-CN" sz="2800" dirty="0"/>
              <a:t>[</a:t>
            </a:r>
            <a:r>
              <a:rPr lang="en-US" altLang="zh-CN" sz="2800" dirty="0" err="1"/>
              <a:t>root@www</a:t>
            </a:r>
            <a:r>
              <a:rPr lang="en-US" altLang="zh-CN" sz="2800" dirty="0"/>
              <a:t> ~]# </a:t>
            </a:r>
            <a:r>
              <a:rPr lang="en-US" altLang="zh-CN" sz="2800" dirty="0" err="1">
                <a:solidFill>
                  <a:srgbClr val="FF0000"/>
                </a:solidFill>
              </a:rPr>
              <a:t>chgrp</a:t>
            </a:r>
            <a:r>
              <a:rPr lang="en-US" altLang="zh-CN" sz="2800" dirty="0">
                <a:solidFill>
                  <a:srgbClr val="FF0000"/>
                </a:solidFill>
              </a:rPr>
              <a:t> users </a:t>
            </a:r>
            <a:r>
              <a:rPr lang="en-US" altLang="zh-CN" sz="2800" dirty="0"/>
              <a:t>install.log</a:t>
            </a:r>
          </a:p>
          <a:p>
            <a:r>
              <a:rPr lang="en-US" altLang="zh-CN" sz="2800" dirty="0"/>
              <a:t>[</a:t>
            </a:r>
            <a:r>
              <a:rPr lang="en-US" altLang="zh-CN" sz="2800" dirty="0" err="1"/>
              <a:t>root@www</a:t>
            </a:r>
            <a:r>
              <a:rPr lang="en-US" altLang="zh-CN" sz="2800" dirty="0"/>
              <a:t> ~]# ls -l</a:t>
            </a:r>
          </a:p>
          <a:p>
            <a:r>
              <a:rPr lang="en-US" altLang="zh-CN" sz="2800" dirty="0"/>
              <a:t>-</a:t>
            </a:r>
            <a:r>
              <a:rPr lang="en-US" altLang="zh-CN" sz="2800" dirty="0" err="1"/>
              <a:t>rw</a:t>
            </a:r>
            <a:r>
              <a:rPr lang="en-US" altLang="zh-CN" sz="2800" dirty="0"/>
              <a:t>-r--r--  1 root </a:t>
            </a:r>
            <a:r>
              <a:rPr lang="en-US" altLang="zh-CN" sz="2800" dirty="0">
                <a:solidFill>
                  <a:srgbClr val="FF0000"/>
                </a:solidFill>
              </a:rPr>
              <a:t>users</a:t>
            </a:r>
            <a:r>
              <a:rPr lang="en-US" altLang="zh-CN" sz="2800" dirty="0"/>
              <a:t> 68495 Jun 25 08:53 install.log</a:t>
            </a:r>
          </a:p>
          <a:p>
            <a:pPr>
              <a:spcBef>
                <a:spcPts val="600"/>
              </a:spcBef>
            </a:pPr>
            <a:r>
              <a:rPr lang="en-US" altLang="zh-CN" sz="2800" dirty="0">
                <a:solidFill>
                  <a:srgbClr val="0000CC"/>
                </a:solidFill>
                <a:latin typeface="黑体" panose="02010609060101010101" pitchFamily="49" charset="-122"/>
                <a:ea typeface="黑体" panose="02010609060101010101" pitchFamily="49" charset="-122"/>
              </a:rPr>
              <a:t>2 </a:t>
            </a:r>
            <a:r>
              <a:rPr lang="zh-CN" altLang="en-US" sz="2800" dirty="0">
                <a:solidFill>
                  <a:srgbClr val="0000CC"/>
                </a:solidFill>
                <a:latin typeface="黑体" panose="02010609060101010101" pitchFamily="49" charset="-122"/>
                <a:ea typeface="黑体" panose="02010609060101010101" pitchFamily="49" charset="-122"/>
              </a:rPr>
              <a:t>将</a:t>
            </a:r>
            <a:r>
              <a:rPr lang="en-US" altLang="zh-CN" sz="2800" dirty="0">
                <a:solidFill>
                  <a:srgbClr val="0000CC"/>
                </a:solidFill>
                <a:latin typeface="黑体" panose="02010609060101010101" pitchFamily="49" charset="-122"/>
                <a:ea typeface="黑体" panose="02010609060101010101" pitchFamily="49" charset="-122"/>
              </a:rPr>
              <a:t>install.log</a:t>
            </a:r>
            <a:r>
              <a:rPr lang="zh-CN" altLang="en-US" sz="2800" dirty="0">
                <a:solidFill>
                  <a:srgbClr val="0000CC"/>
                </a:solidFill>
                <a:latin typeface="黑体" panose="02010609060101010101" pitchFamily="49" charset="-122"/>
                <a:ea typeface="黑体" panose="02010609060101010101" pitchFamily="49" charset="-122"/>
              </a:rPr>
              <a:t>的拥有者改为</a:t>
            </a:r>
            <a:r>
              <a:rPr lang="en-US" altLang="zh-CN" sz="2800" dirty="0">
                <a:solidFill>
                  <a:srgbClr val="0000CC"/>
                </a:solidFill>
                <a:latin typeface="黑体" panose="02010609060101010101" pitchFamily="49" charset="-122"/>
                <a:ea typeface="黑体" panose="02010609060101010101" pitchFamily="49" charset="-122"/>
              </a:rPr>
              <a:t>bin</a:t>
            </a:r>
            <a:r>
              <a:rPr lang="zh-CN" altLang="en-US" sz="2800" dirty="0">
                <a:solidFill>
                  <a:srgbClr val="0000CC"/>
                </a:solidFill>
                <a:latin typeface="黑体" panose="02010609060101010101" pitchFamily="49" charset="-122"/>
                <a:ea typeface="黑体" panose="02010609060101010101" pitchFamily="49" charset="-122"/>
              </a:rPr>
              <a:t>这个账号</a:t>
            </a:r>
          </a:p>
          <a:p>
            <a:r>
              <a:rPr lang="en-US" altLang="zh-CN" sz="2800" dirty="0"/>
              <a:t>[</a:t>
            </a:r>
            <a:r>
              <a:rPr lang="en-US" altLang="zh-CN" sz="2800" dirty="0" err="1"/>
              <a:t>root@www</a:t>
            </a:r>
            <a:r>
              <a:rPr lang="en-US" altLang="zh-CN" sz="2800" dirty="0"/>
              <a:t> ~]# </a:t>
            </a:r>
            <a:r>
              <a:rPr lang="en-US" altLang="zh-CN" sz="2800" dirty="0">
                <a:solidFill>
                  <a:srgbClr val="FF0000"/>
                </a:solidFill>
              </a:rPr>
              <a:t>chown bin </a:t>
            </a:r>
            <a:r>
              <a:rPr lang="en-US" altLang="zh-CN" sz="2800" dirty="0"/>
              <a:t>install.log</a:t>
            </a:r>
          </a:p>
          <a:p>
            <a:r>
              <a:rPr lang="en-US" altLang="zh-CN" sz="2800" dirty="0"/>
              <a:t>[</a:t>
            </a:r>
            <a:r>
              <a:rPr lang="en-US" altLang="zh-CN" sz="2800" dirty="0" err="1"/>
              <a:t>root@www</a:t>
            </a:r>
            <a:r>
              <a:rPr lang="en-US" altLang="zh-CN" sz="2800" dirty="0"/>
              <a:t> ~]# ls -l</a:t>
            </a:r>
          </a:p>
          <a:p>
            <a:r>
              <a:rPr lang="en-US" altLang="zh-CN" sz="2800" dirty="0"/>
              <a:t>-</a:t>
            </a:r>
            <a:r>
              <a:rPr lang="en-US" altLang="zh-CN" sz="2800" dirty="0" err="1"/>
              <a:t>rw</a:t>
            </a:r>
            <a:r>
              <a:rPr lang="en-US" altLang="zh-CN" sz="2800" dirty="0"/>
              <a:t>-r--r--  1 </a:t>
            </a:r>
            <a:r>
              <a:rPr lang="en-US" altLang="zh-CN" sz="2800" dirty="0">
                <a:solidFill>
                  <a:srgbClr val="FF0000"/>
                </a:solidFill>
              </a:rPr>
              <a:t>bin  users </a:t>
            </a:r>
            <a:r>
              <a:rPr lang="en-US" altLang="zh-CN" sz="2800" dirty="0"/>
              <a:t>68495 Jun 25 08:53 install.log</a:t>
            </a:r>
          </a:p>
          <a:p>
            <a:pPr>
              <a:spcBef>
                <a:spcPts val="600"/>
              </a:spcBef>
            </a:pPr>
            <a:r>
              <a:rPr lang="en-US" altLang="zh-CN" sz="2800" dirty="0">
                <a:solidFill>
                  <a:srgbClr val="0000CC"/>
                </a:solidFill>
                <a:latin typeface="黑体" panose="02010609060101010101" pitchFamily="49" charset="-122"/>
                <a:ea typeface="黑体" panose="02010609060101010101" pitchFamily="49" charset="-122"/>
              </a:rPr>
              <a:t>3 </a:t>
            </a:r>
            <a:r>
              <a:rPr lang="zh-CN" altLang="en-US" sz="2800" dirty="0">
                <a:solidFill>
                  <a:srgbClr val="0000CC"/>
                </a:solidFill>
                <a:latin typeface="黑体" panose="02010609060101010101" pitchFamily="49" charset="-122"/>
                <a:ea typeface="黑体" panose="02010609060101010101" pitchFamily="49" charset="-122"/>
              </a:rPr>
              <a:t>将</a:t>
            </a:r>
            <a:r>
              <a:rPr lang="en-US" altLang="zh-CN" sz="2800" dirty="0">
                <a:solidFill>
                  <a:srgbClr val="0000CC"/>
                </a:solidFill>
                <a:latin typeface="黑体" panose="02010609060101010101" pitchFamily="49" charset="-122"/>
                <a:ea typeface="黑体" panose="02010609060101010101" pitchFamily="49" charset="-122"/>
              </a:rPr>
              <a:t>install.log</a:t>
            </a:r>
            <a:r>
              <a:rPr lang="zh-CN" altLang="en-US" sz="2800" dirty="0">
                <a:solidFill>
                  <a:srgbClr val="0000CC"/>
                </a:solidFill>
                <a:latin typeface="黑体" panose="02010609060101010101" pitchFamily="49" charset="-122"/>
                <a:ea typeface="黑体" panose="02010609060101010101" pitchFamily="49" charset="-122"/>
              </a:rPr>
              <a:t>的拥有者与群组改回为</a:t>
            </a:r>
            <a:r>
              <a:rPr lang="en-US" altLang="zh-CN" sz="2800" dirty="0">
                <a:solidFill>
                  <a:srgbClr val="0000CC"/>
                </a:solidFill>
                <a:latin typeface="黑体" panose="02010609060101010101" pitchFamily="49" charset="-122"/>
                <a:ea typeface="黑体" panose="02010609060101010101" pitchFamily="49" charset="-122"/>
              </a:rPr>
              <a:t>root</a:t>
            </a:r>
            <a:endParaRPr lang="zh-CN" altLang="en-US" sz="2800" dirty="0">
              <a:solidFill>
                <a:srgbClr val="0000CC"/>
              </a:solidFill>
              <a:latin typeface="黑体" panose="02010609060101010101" pitchFamily="49" charset="-122"/>
              <a:ea typeface="黑体" panose="02010609060101010101" pitchFamily="49" charset="-122"/>
            </a:endParaRPr>
          </a:p>
          <a:p>
            <a:r>
              <a:rPr lang="en-US" altLang="zh-CN" sz="2800" dirty="0"/>
              <a:t>[</a:t>
            </a:r>
            <a:r>
              <a:rPr lang="en-US" altLang="zh-CN" sz="2800" dirty="0" err="1"/>
              <a:t>root@www</a:t>
            </a:r>
            <a:r>
              <a:rPr lang="en-US" altLang="zh-CN" sz="2800" dirty="0"/>
              <a:t> ~]# </a:t>
            </a:r>
            <a:r>
              <a:rPr lang="en-US" altLang="zh-CN" sz="2800" dirty="0">
                <a:solidFill>
                  <a:srgbClr val="FF0000"/>
                </a:solidFill>
              </a:rPr>
              <a:t>chown </a:t>
            </a:r>
            <a:r>
              <a:rPr lang="en-US" altLang="zh-CN" sz="2800" dirty="0" err="1">
                <a:solidFill>
                  <a:srgbClr val="FF0000"/>
                </a:solidFill>
              </a:rPr>
              <a:t>root:root</a:t>
            </a:r>
            <a:r>
              <a:rPr lang="en-US" altLang="zh-CN" sz="2800" dirty="0">
                <a:solidFill>
                  <a:srgbClr val="FF0000"/>
                </a:solidFill>
              </a:rPr>
              <a:t> </a:t>
            </a:r>
            <a:r>
              <a:rPr lang="en-US" altLang="zh-CN" sz="2800" dirty="0"/>
              <a:t>install.log</a:t>
            </a:r>
          </a:p>
          <a:p>
            <a:r>
              <a:rPr lang="en-US" altLang="zh-CN" sz="2800" dirty="0"/>
              <a:t>[</a:t>
            </a:r>
            <a:r>
              <a:rPr lang="en-US" altLang="zh-CN" sz="2800" dirty="0" err="1"/>
              <a:t>root@www</a:t>
            </a:r>
            <a:r>
              <a:rPr lang="en-US" altLang="zh-CN" sz="2800" dirty="0"/>
              <a:t> ~]# ls -l</a:t>
            </a:r>
          </a:p>
          <a:p>
            <a:r>
              <a:rPr lang="en-US" altLang="zh-CN" sz="2800" dirty="0"/>
              <a:t>-</a:t>
            </a:r>
            <a:r>
              <a:rPr lang="en-US" altLang="zh-CN" sz="2800" dirty="0" err="1"/>
              <a:t>rw</a:t>
            </a:r>
            <a:r>
              <a:rPr lang="en-US" altLang="zh-CN" sz="2800" dirty="0"/>
              <a:t>-r--r--  1 </a:t>
            </a:r>
            <a:r>
              <a:rPr lang="en-US" altLang="zh-CN" sz="2800" dirty="0">
                <a:solidFill>
                  <a:srgbClr val="FF0000"/>
                </a:solidFill>
              </a:rPr>
              <a:t>root </a:t>
            </a:r>
            <a:r>
              <a:rPr lang="en-US" altLang="zh-CN" sz="2800" dirty="0" err="1">
                <a:solidFill>
                  <a:srgbClr val="FF0000"/>
                </a:solidFill>
              </a:rPr>
              <a:t>root</a:t>
            </a:r>
            <a:r>
              <a:rPr lang="en-US" altLang="zh-CN" sz="2800" dirty="0">
                <a:solidFill>
                  <a:srgbClr val="FF0000"/>
                </a:solidFill>
              </a:rPr>
              <a:t> </a:t>
            </a:r>
            <a:r>
              <a:rPr lang="en-US" altLang="zh-CN" sz="2800" dirty="0"/>
              <a:t>68495 Jun 25 08:53 install.log</a:t>
            </a:r>
            <a:endParaRPr lang="zh-CN" altLang="en-US" sz="2800" dirty="0"/>
          </a:p>
        </p:txBody>
      </p:sp>
    </p:spTree>
    <p:extLst>
      <p:ext uri="{BB962C8B-B14F-4D97-AF65-F5344CB8AC3E}">
        <p14:creationId xmlns:p14="http://schemas.microsoft.com/office/powerpoint/2010/main" val="1139151684"/>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改变属主或组举例</a:t>
            </a:r>
            <a:r>
              <a:rPr lang="en-US" altLang="zh-CN" dirty="0"/>
              <a:t>2</a:t>
            </a:r>
            <a:endParaRPr lang="zh-CN" altLang="en-US" dirty="0"/>
          </a:p>
        </p:txBody>
      </p:sp>
      <p:sp>
        <p:nvSpPr>
          <p:cNvPr id="3" name="内容占位符 2"/>
          <p:cNvSpPr>
            <a:spLocks noGrp="1"/>
          </p:cNvSpPr>
          <p:nvPr>
            <p:ph idx="1"/>
          </p:nvPr>
        </p:nvSpPr>
        <p:spPr>
          <a:xfrm>
            <a:off x="1259632" y="1628800"/>
            <a:ext cx="6840760" cy="4114800"/>
          </a:xfrm>
        </p:spPr>
        <p:txBody>
          <a:bodyPr/>
          <a:lstStyle/>
          <a:p>
            <a:r>
              <a:rPr lang="en-US" altLang="zh-CN" dirty="0"/>
              <a:t>chown  </a:t>
            </a:r>
            <a:r>
              <a:rPr lang="en-US" altLang="zh-CN" dirty="0">
                <a:solidFill>
                  <a:srgbClr val="C00000"/>
                </a:solidFill>
              </a:rPr>
              <a:t>soft</a:t>
            </a:r>
            <a:r>
              <a:rPr lang="en-US" altLang="zh-CN" dirty="0"/>
              <a:t>       </a:t>
            </a:r>
            <a:r>
              <a:rPr lang="en-US" altLang="zh-CN" dirty="0" err="1"/>
              <a:t>myfile</a:t>
            </a:r>
            <a:endParaRPr lang="en-US" altLang="zh-CN" dirty="0"/>
          </a:p>
          <a:p>
            <a:r>
              <a:rPr lang="en-US" altLang="zh-CN" dirty="0" err="1"/>
              <a:t>chgrp</a:t>
            </a:r>
            <a:r>
              <a:rPr lang="en-US" altLang="zh-CN" dirty="0"/>
              <a:t> </a:t>
            </a:r>
            <a:r>
              <a:rPr lang="en-US" altLang="zh-CN" dirty="0" err="1">
                <a:solidFill>
                  <a:srgbClr val="C00000"/>
                </a:solidFill>
              </a:rPr>
              <a:t>softgrp</a:t>
            </a:r>
            <a:r>
              <a:rPr lang="en-US" altLang="zh-CN" dirty="0"/>
              <a:t>    </a:t>
            </a:r>
            <a:r>
              <a:rPr lang="en-US" altLang="zh-CN" dirty="0" err="1"/>
              <a:t>myfile</a:t>
            </a:r>
            <a:endParaRPr lang="en-US" altLang="zh-CN" dirty="0"/>
          </a:p>
          <a:p>
            <a:r>
              <a:rPr lang="en-US" altLang="zh-CN" dirty="0" err="1"/>
              <a:t>chown</a:t>
            </a:r>
            <a:r>
              <a:rPr lang="en-US" altLang="zh-CN" dirty="0"/>
              <a:t> </a:t>
            </a:r>
            <a:r>
              <a:rPr lang="en-US" altLang="zh-CN" dirty="0">
                <a:solidFill>
                  <a:srgbClr val="C00000"/>
                </a:solidFill>
              </a:rPr>
              <a:t>.</a:t>
            </a:r>
            <a:r>
              <a:rPr lang="en-US" altLang="zh-CN" dirty="0" err="1">
                <a:solidFill>
                  <a:srgbClr val="C00000"/>
                </a:solidFill>
              </a:rPr>
              <a:t>softgrp</a:t>
            </a:r>
            <a:r>
              <a:rPr lang="en-US" altLang="zh-CN" dirty="0">
                <a:solidFill>
                  <a:srgbClr val="C00000"/>
                </a:solidFill>
              </a:rPr>
              <a:t>  </a:t>
            </a:r>
            <a:r>
              <a:rPr lang="en-US" altLang="zh-CN" dirty="0" err="1"/>
              <a:t>myfile</a:t>
            </a:r>
            <a:endParaRPr lang="en-US" altLang="zh-CN" dirty="0"/>
          </a:p>
          <a:p>
            <a:r>
              <a:rPr lang="en-US" altLang="zh-CN" u="sng" dirty="0"/>
              <a:t>chown -R </a:t>
            </a:r>
            <a:r>
              <a:rPr lang="en-US" altLang="zh-CN" u="sng" dirty="0">
                <a:solidFill>
                  <a:srgbClr val="C00000"/>
                </a:solidFill>
              </a:rPr>
              <a:t>soft</a:t>
            </a:r>
            <a:r>
              <a:rPr lang="en-US" altLang="zh-CN" u="sng" dirty="0"/>
              <a:t>    </a:t>
            </a:r>
            <a:r>
              <a:rPr lang="en-US" altLang="zh-CN" u="sng" dirty="0" err="1"/>
              <a:t>mydir</a:t>
            </a:r>
            <a:endParaRPr lang="en-US" altLang="zh-CN" u="sng" dirty="0"/>
          </a:p>
          <a:p>
            <a:r>
              <a:rPr lang="en-US" altLang="zh-CN" u="sng" dirty="0" err="1"/>
              <a:t>chgrp</a:t>
            </a:r>
            <a:r>
              <a:rPr lang="en-US" altLang="zh-CN" u="sng" dirty="0"/>
              <a:t> -R </a:t>
            </a:r>
            <a:r>
              <a:rPr lang="en-US" altLang="zh-CN" u="sng" dirty="0" err="1">
                <a:solidFill>
                  <a:srgbClr val="C00000"/>
                </a:solidFill>
              </a:rPr>
              <a:t>softgrp</a:t>
            </a:r>
            <a:r>
              <a:rPr lang="en-US" altLang="zh-CN" u="sng" dirty="0"/>
              <a:t>    </a:t>
            </a:r>
            <a:r>
              <a:rPr lang="en-US" altLang="zh-CN" u="sng" dirty="0" err="1"/>
              <a:t>mydir</a:t>
            </a:r>
            <a:endParaRPr lang="en-US" altLang="zh-CN" u="sng" dirty="0"/>
          </a:p>
          <a:p>
            <a:r>
              <a:rPr lang="en-US" altLang="zh-CN" dirty="0" err="1"/>
              <a:t>chown</a:t>
            </a:r>
            <a:r>
              <a:rPr lang="en-US" altLang="zh-CN" dirty="0"/>
              <a:t> -R </a:t>
            </a:r>
            <a:r>
              <a:rPr lang="en-US" altLang="zh-CN" dirty="0">
                <a:solidFill>
                  <a:srgbClr val="C00000"/>
                </a:solidFill>
              </a:rPr>
              <a:t>:</a:t>
            </a:r>
            <a:r>
              <a:rPr lang="en-US" altLang="zh-CN" dirty="0" err="1">
                <a:solidFill>
                  <a:srgbClr val="C00000"/>
                </a:solidFill>
              </a:rPr>
              <a:t>softgrp</a:t>
            </a:r>
            <a:r>
              <a:rPr lang="en-US" altLang="zh-CN" dirty="0">
                <a:solidFill>
                  <a:srgbClr val="C00000"/>
                </a:solidFill>
              </a:rPr>
              <a:t>  </a:t>
            </a:r>
            <a:r>
              <a:rPr lang="en-US" altLang="zh-CN" dirty="0" err="1"/>
              <a:t>mydir</a:t>
            </a:r>
            <a:endParaRPr lang="en-US" altLang="zh-CN" dirty="0"/>
          </a:p>
          <a:p>
            <a:r>
              <a:rPr lang="en-US" altLang="zh-CN" u="sng" dirty="0"/>
              <a:t>chown -R </a:t>
            </a:r>
            <a:r>
              <a:rPr lang="en-US" altLang="zh-CN" u="sng" dirty="0" err="1">
                <a:solidFill>
                  <a:srgbClr val="C00000"/>
                </a:solidFill>
              </a:rPr>
              <a:t>soft.softgrp</a:t>
            </a:r>
            <a:r>
              <a:rPr lang="en-US" altLang="zh-CN" u="sng" dirty="0"/>
              <a:t>  </a:t>
            </a:r>
            <a:r>
              <a:rPr lang="en-US" altLang="zh-CN" u="sng" dirty="0" err="1"/>
              <a:t>mydir</a:t>
            </a:r>
            <a:endParaRPr lang="zh-CN" altLang="en-US" u="sng" dirty="0"/>
          </a:p>
        </p:txBody>
      </p:sp>
    </p:spTree>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113" y="191715"/>
            <a:ext cx="7989887" cy="1052513"/>
          </a:xfrm>
        </p:spPr>
        <p:txBody>
          <a:bodyPr/>
          <a:lstStyle/>
          <a:p>
            <a:r>
              <a:rPr lang="zh-CN" altLang="en-US" sz="4000" dirty="0"/>
              <a:t>设置</a:t>
            </a:r>
            <a:r>
              <a:rPr lang="zh-CN" altLang="en-US" sz="4000" b="1" dirty="0">
                <a:effectLst>
                  <a:outerShdw blurRad="38100" dist="38100" dir="2700000" algn="tl">
                    <a:srgbClr val="000000">
                      <a:alpha val="43137"/>
                    </a:srgbClr>
                  </a:outerShdw>
                </a:effectLst>
              </a:rPr>
              <a:t>生成</a:t>
            </a:r>
            <a:r>
              <a:rPr lang="zh-CN" altLang="en-US" sz="4000" dirty="0"/>
              <a:t>文件</a:t>
            </a:r>
            <a:r>
              <a:rPr lang="en-US" altLang="zh-CN" sz="4000" dirty="0"/>
              <a:t>/</a:t>
            </a:r>
            <a:r>
              <a:rPr lang="zh-CN" altLang="en-US" sz="4000" dirty="0"/>
              <a:t>目录时的默认权限</a:t>
            </a:r>
          </a:p>
        </p:txBody>
      </p:sp>
      <p:sp>
        <p:nvSpPr>
          <p:cNvPr id="3" name="内容占位符 2"/>
          <p:cNvSpPr>
            <a:spLocks noGrp="1"/>
          </p:cNvSpPr>
          <p:nvPr>
            <p:ph idx="1"/>
          </p:nvPr>
        </p:nvSpPr>
        <p:spPr>
          <a:xfrm>
            <a:off x="683568" y="1484784"/>
            <a:ext cx="7920880" cy="4968552"/>
          </a:xfrm>
        </p:spPr>
        <p:txBody>
          <a:bodyPr/>
          <a:lstStyle/>
          <a:p>
            <a:pPr algn="just">
              <a:lnSpc>
                <a:spcPct val="120000"/>
              </a:lnSpc>
            </a:pPr>
            <a:r>
              <a:rPr lang="zh-CN" altLang="en-US" sz="2800" dirty="0"/>
              <a:t>创建新文件或新目录时，</a:t>
            </a:r>
            <a:r>
              <a:rPr lang="zh-CN" altLang="en-US" sz="2800" dirty="0">
                <a:solidFill>
                  <a:srgbClr val="FF0000"/>
                </a:solidFill>
              </a:rPr>
              <a:t>系统</a:t>
            </a:r>
            <a:r>
              <a:rPr lang="zh-CN" altLang="en-US" sz="2800" dirty="0"/>
              <a:t>都会为它们</a:t>
            </a:r>
            <a:r>
              <a:rPr lang="zh-CN" altLang="en-US" sz="2800" dirty="0">
                <a:solidFill>
                  <a:srgbClr val="FF0000"/>
                </a:solidFill>
              </a:rPr>
              <a:t>指定默认</a:t>
            </a:r>
            <a:r>
              <a:rPr lang="zh-CN" altLang="en-US" sz="2800" dirty="0"/>
              <a:t>的</a:t>
            </a:r>
            <a:r>
              <a:rPr lang="zh-CN" altLang="en-US" sz="2800" dirty="0">
                <a:solidFill>
                  <a:srgbClr val="FF0000"/>
                </a:solidFill>
              </a:rPr>
              <a:t>访问权限</a:t>
            </a:r>
            <a:r>
              <a:rPr lang="zh-CN" altLang="en-US" sz="2800" dirty="0"/>
              <a:t>，这个缺省的访问权限就由 </a:t>
            </a:r>
            <a:r>
              <a:rPr lang="en-US" altLang="zh-CN" sz="2800" dirty="0" err="1">
                <a:solidFill>
                  <a:srgbClr val="FF0000"/>
                </a:solidFill>
              </a:rPr>
              <a:t>umask</a:t>
            </a:r>
            <a:r>
              <a:rPr lang="en-US" altLang="zh-CN" sz="2800" dirty="0"/>
              <a:t> </a:t>
            </a:r>
            <a:r>
              <a:rPr lang="zh-CN" altLang="en-US" sz="2800" dirty="0"/>
              <a:t>值来决定</a:t>
            </a:r>
          </a:p>
          <a:p>
            <a:pPr algn="just">
              <a:lnSpc>
                <a:spcPct val="120000"/>
              </a:lnSpc>
            </a:pPr>
            <a:r>
              <a:rPr lang="zh-CN" altLang="en-US" sz="2800" dirty="0"/>
              <a:t>用户可以使用 </a:t>
            </a:r>
            <a:r>
              <a:rPr lang="en-US" altLang="zh-CN" sz="2800" dirty="0" err="1"/>
              <a:t>umask</a:t>
            </a:r>
            <a:r>
              <a:rPr lang="en-US" altLang="zh-CN" sz="2800" dirty="0"/>
              <a:t> </a:t>
            </a:r>
            <a:r>
              <a:rPr lang="zh-CN" altLang="en-US" sz="2800" dirty="0"/>
              <a:t>命令设置文件的默认生成掩码。</a:t>
            </a:r>
            <a:r>
              <a:rPr lang="zh-CN" altLang="en-US" sz="2800" dirty="0">
                <a:solidFill>
                  <a:srgbClr val="FF0000"/>
                </a:solidFill>
              </a:rPr>
              <a:t>默认生成掩码</a:t>
            </a:r>
            <a:r>
              <a:rPr lang="zh-CN" altLang="en-US" sz="2800" dirty="0"/>
              <a:t>告诉系统当创建一个文件或目录时</a:t>
            </a:r>
            <a:r>
              <a:rPr lang="zh-CN" altLang="en-US" sz="2800" b="1" dirty="0">
                <a:solidFill>
                  <a:srgbClr val="C00000"/>
                </a:solidFill>
                <a:latin typeface="黑体" pitchFamily="49" charset="-122"/>
                <a:ea typeface="黑体" pitchFamily="49" charset="-122"/>
              </a:rPr>
              <a:t>不应该</a:t>
            </a:r>
            <a:r>
              <a:rPr lang="zh-CN" altLang="en-US" sz="2800" dirty="0">
                <a:solidFill>
                  <a:srgbClr val="FF0000"/>
                </a:solidFill>
              </a:rPr>
              <a:t>赋予的权限</a:t>
            </a:r>
          </a:p>
          <a:p>
            <a:pPr algn="just">
              <a:lnSpc>
                <a:spcPct val="120000"/>
              </a:lnSpc>
            </a:pPr>
            <a:r>
              <a:rPr lang="zh-CN" altLang="en-US" sz="2800" dirty="0"/>
              <a:t>系统</a:t>
            </a:r>
            <a:r>
              <a:rPr lang="zh-CN" altLang="en-US" sz="2800" dirty="0">
                <a:solidFill>
                  <a:srgbClr val="FF0000"/>
                </a:solidFill>
              </a:rPr>
              <a:t>不允许</a:t>
            </a:r>
            <a:r>
              <a:rPr lang="zh-CN" altLang="en-US" sz="2800" dirty="0"/>
              <a:t>用户在</a:t>
            </a:r>
            <a:r>
              <a:rPr lang="zh-CN" altLang="en-US" sz="2800" dirty="0">
                <a:solidFill>
                  <a:srgbClr val="FF0000"/>
                </a:solidFill>
              </a:rPr>
              <a:t>创建</a:t>
            </a:r>
            <a:r>
              <a:rPr lang="zh-CN" altLang="en-US" sz="2800" dirty="0"/>
              <a:t>一个</a:t>
            </a:r>
            <a:r>
              <a:rPr lang="zh-CN" altLang="en-US" sz="2800" dirty="0">
                <a:solidFill>
                  <a:srgbClr val="FF0000"/>
                </a:solidFill>
              </a:rPr>
              <a:t>普通文件</a:t>
            </a:r>
            <a:r>
              <a:rPr lang="zh-CN" altLang="en-US" sz="2800" dirty="0"/>
              <a:t>时就赋予它</a:t>
            </a:r>
            <a:r>
              <a:rPr lang="zh-CN" altLang="en-US" sz="2800" dirty="0">
                <a:solidFill>
                  <a:srgbClr val="FF0000"/>
                </a:solidFill>
              </a:rPr>
              <a:t>可执行权限</a:t>
            </a:r>
            <a:r>
              <a:rPr lang="zh-CN" altLang="en-US" sz="2800" dirty="0"/>
              <a:t>，必须在创建后用 </a:t>
            </a:r>
            <a:r>
              <a:rPr lang="en-US" altLang="zh-CN" sz="2800" dirty="0">
                <a:solidFill>
                  <a:srgbClr val="FF0000"/>
                </a:solidFill>
              </a:rPr>
              <a:t>chmod </a:t>
            </a:r>
            <a:r>
              <a:rPr lang="zh-CN" altLang="en-US" sz="2800" dirty="0">
                <a:solidFill>
                  <a:srgbClr val="FF0000"/>
                </a:solidFill>
              </a:rPr>
              <a:t>修改</a:t>
            </a:r>
            <a:endParaRPr lang="en-US" altLang="zh-CN" sz="2800" dirty="0">
              <a:solidFill>
                <a:srgbClr val="FF0000"/>
              </a:solidFill>
            </a:endParaRPr>
          </a:p>
          <a:p>
            <a:pPr algn="just">
              <a:lnSpc>
                <a:spcPct val="120000"/>
              </a:lnSpc>
            </a:pPr>
            <a:r>
              <a:rPr lang="zh-CN" altLang="en-US" sz="2800" dirty="0">
                <a:solidFill>
                  <a:srgbClr val="FF0000"/>
                </a:solidFill>
              </a:rPr>
              <a:t>目录</a:t>
            </a:r>
            <a:r>
              <a:rPr lang="zh-CN" altLang="en-US" sz="2800" dirty="0"/>
              <a:t>则允许</a:t>
            </a:r>
            <a:r>
              <a:rPr lang="zh-CN" altLang="en-US" sz="2800" dirty="0">
                <a:solidFill>
                  <a:srgbClr val="FF0000"/>
                </a:solidFill>
              </a:rPr>
              <a:t>创建</a:t>
            </a:r>
            <a:r>
              <a:rPr lang="zh-CN" altLang="en-US" sz="2800" dirty="0"/>
              <a:t>时设定</a:t>
            </a:r>
            <a:r>
              <a:rPr lang="zh-CN" altLang="en-US" sz="2800" dirty="0">
                <a:solidFill>
                  <a:srgbClr val="FF0000"/>
                </a:solidFill>
              </a:rPr>
              <a:t>可执行权限</a:t>
            </a:r>
          </a:p>
        </p:txBody>
      </p:sp>
    </p:spTree>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umask</a:t>
            </a:r>
            <a:r>
              <a:rPr lang="zh-CN" altLang="en-US" dirty="0"/>
              <a:t>命令</a:t>
            </a:r>
          </a:p>
        </p:txBody>
      </p:sp>
      <p:sp>
        <p:nvSpPr>
          <p:cNvPr id="3" name="内容占位符 2"/>
          <p:cNvSpPr>
            <a:spLocks noGrp="1"/>
          </p:cNvSpPr>
          <p:nvPr>
            <p:ph idx="1"/>
          </p:nvPr>
        </p:nvSpPr>
        <p:spPr>
          <a:xfrm>
            <a:off x="899592" y="1340768"/>
            <a:ext cx="7740625" cy="5253509"/>
          </a:xfrm>
        </p:spPr>
        <p:txBody>
          <a:bodyPr/>
          <a:lstStyle/>
          <a:p>
            <a:r>
              <a:rPr lang="zh-CN" altLang="en-US" dirty="0"/>
              <a:t>查看当前 </a:t>
            </a:r>
            <a:r>
              <a:rPr lang="en-US" altLang="zh-CN" dirty="0" err="1"/>
              <a:t>umask</a:t>
            </a:r>
            <a:r>
              <a:rPr lang="en-US" altLang="zh-CN" dirty="0"/>
              <a:t> </a:t>
            </a:r>
            <a:r>
              <a:rPr lang="zh-CN" altLang="en-US" dirty="0"/>
              <a:t>值</a:t>
            </a:r>
            <a:endParaRPr lang="en-US" altLang="zh-CN" dirty="0"/>
          </a:p>
          <a:p>
            <a:pPr lvl="1"/>
            <a:r>
              <a:rPr lang="zh-CN" altLang="en-US" dirty="0"/>
              <a:t>格式：</a:t>
            </a:r>
            <a:r>
              <a:rPr lang="en-US" altLang="zh-CN" dirty="0" err="1">
                <a:solidFill>
                  <a:schemeClr val="accent6">
                    <a:lumMod val="75000"/>
                  </a:schemeClr>
                </a:solidFill>
              </a:rPr>
              <a:t>umask</a:t>
            </a:r>
            <a:r>
              <a:rPr lang="en-US" altLang="zh-CN" dirty="0">
                <a:solidFill>
                  <a:schemeClr val="accent6">
                    <a:lumMod val="75000"/>
                  </a:schemeClr>
                </a:solidFill>
              </a:rPr>
              <a:t>  [-S]</a:t>
            </a:r>
          </a:p>
          <a:p>
            <a:r>
              <a:rPr lang="zh-CN" altLang="en-US" dirty="0"/>
              <a:t>修改当前 </a:t>
            </a:r>
            <a:r>
              <a:rPr lang="en-US" altLang="zh-CN" dirty="0" err="1"/>
              <a:t>umask</a:t>
            </a:r>
            <a:r>
              <a:rPr lang="en-US" altLang="zh-CN" dirty="0"/>
              <a:t> </a:t>
            </a:r>
            <a:r>
              <a:rPr lang="zh-CN" altLang="en-US" dirty="0"/>
              <a:t>值</a:t>
            </a:r>
            <a:endParaRPr lang="en-US" altLang="zh-CN" dirty="0"/>
          </a:p>
          <a:p>
            <a:pPr marL="695325" lvl="2" indent="-342900"/>
            <a:r>
              <a:rPr lang="zh-CN" altLang="en-US" sz="2600" dirty="0"/>
              <a:t>格式：</a:t>
            </a:r>
            <a:r>
              <a:rPr lang="en-US" altLang="zh-CN" sz="2600" dirty="0" err="1">
                <a:solidFill>
                  <a:schemeClr val="accent6">
                    <a:lumMod val="75000"/>
                  </a:schemeClr>
                </a:solidFill>
              </a:rPr>
              <a:t>umask</a:t>
            </a:r>
            <a:r>
              <a:rPr lang="en-US" altLang="zh-CN" sz="2600" dirty="0">
                <a:solidFill>
                  <a:schemeClr val="accent6">
                    <a:lumMod val="75000"/>
                  </a:schemeClr>
                </a:solidFill>
              </a:rPr>
              <a:t>  </a:t>
            </a:r>
            <a:r>
              <a:rPr lang="en-US" altLang="zh-CN" sz="2800" dirty="0">
                <a:solidFill>
                  <a:schemeClr val="accent6">
                    <a:lumMod val="75000"/>
                  </a:schemeClr>
                </a:solidFill>
              </a:rPr>
              <a:t>u1u2u3</a:t>
            </a:r>
          </a:p>
          <a:p>
            <a:pPr marL="1127125" lvl="3" indent="-457200">
              <a:buFont typeface="Wingdings" panose="05000000000000000000" pitchFamily="2" charset="2"/>
              <a:buChar char="u"/>
            </a:pPr>
            <a:r>
              <a:rPr lang="en-US" altLang="zh-CN" sz="2600" dirty="0"/>
              <a:t>u1</a:t>
            </a:r>
            <a:r>
              <a:rPr lang="zh-CN" altLang="zh-CN" sz="2600" dirty="0"/>
              <a:t>表示的是不允许</a:t>
            </a:r>
            <a:r>
              <a:rPr lang="zh-CN" altLang="zh-CN" sz="2600" dirty="0">
                <a:solidFill>
                  <a:srgbClr val="FF0000"/>
                </a:solidFill>
              </a:rPr>
              <a:t>属主</a:t>
            </a:r>
            <a:r>
              <a:rPr lang="zh-CN" altLang="zh-CN" sz="2600" dirty="0"/>
              <a:t>有的权限</a:t>
            </a:r>
            <a:endParaRPr lang="en-US" altLang="zh-CN" sz="2600" dirty="0"/>
          </a:p>
          <a:p>
            <a:pPr marL="1127125" lvl="3" indent="-457200">
              <a:buFont typeface="Wingdings" panose="05000000000000000000" pitchFamily="2" charset="2"/>
              <a:buChar char="u"/>
            </a:pPr>
            <a:r>
              <a:rPr lang="en-US" altLang="zh-CN" sz="2600" dirty="0"/>
              <a:t>u2</a:t>
            </a:r>
            <a:r>
              <a:rPr lang="zh-CN" altLang="zh-CN" sz="2600" dirty="0"/>
              <a:t>表示的是不允许</a:t>
            </a:r>
            <a:r>
              <a:rPr lang="zh-CN" altLang="zh-CN" sz="2600" dirty="0">
                <a:solidFill>
                  <a:srgbClr val="FF0000"/>
                </a:solidFill>
              </a:rPr>
              <a:t>同组人</a:t>
            </a:r>
            <a:r>
              <a:rPr lang="zh-CN" altLang="zh-CN" sz="2600" dirty="0"/>
              <a:t>有的权限</a:t>
            </a:r>
            <a:endParaRPr lang="en-US" altLang="zh-CN" sz="2600" dirty="0"/>
          </a:p>
          <a:p>
            <a:pPr marL="1127125" lvl="3" indent="-457200">
              <a:buFont typeface="Wingdings" panose="05000000000000000000" pitchFamily="2" charset="2"/>
              <a:buChar char="u"/>
            </a:pPr>
            <a:r>
              <a:rPr lang="en-US" altLang="zh-CN" sz="2600" dirty="0"/>
              <a:t>u3</a:t>
            </a:r>
            <a:r>
              <a:rPr lang="zh-CN" altLang="zh-CN" sz="2600" dirty="0"/>
              <a:t>表示的是不允许</a:t>
            </a:r>
            <a:r>
              <a:rPr lang="zh-CN" altLang="zh-CN" sz="2600" dirty="0">
                <a:solidFill>
                  <a:srgbClr val="FF0000"/>
                </a:solidFill>
              </a:rPr>
              <a:t>其他人</a:t>
            </a:r>
            <a:r>
              <a:rPr lang="zh-CN" altLang="zh-CN" sz="2600" dirty="0"/>
              <a:t>有的权限</a:t>
            </a:r>
            <a:endParaRPr lang="en-US" altLang="zh-CN" dirty="0">
              <a:solidFill>
                <a:schemeClr val="accent6">
                  <a:lumMod val="75000"/>
                </a:schemeClr>
              </a:solidFill>
            </a:endParaRPr>
          </a:p>
          <a:p>
            <a:r>
              <a:rPr lang="en-US" altLang="zh-CN" dirty="0"/>
              <a:t>RHEL/</a:t>
            </a:r>
            <a:r>
              <a:rPr lang="en-US" altLang="zh-CN" dirty="0" err="1"/>
              <a:t>CentOS</a:t>
            </a:r>
            <a:r>
              <a:rPr lang="zh-CN" altLang="en-US" dirty="0"/>
              <a:t>默认的 </a:t>
            </a:r>
            <a:r>
              <a:rPr lang="en-US" altLang="zh-CN" dirty="0" err="1"/>
              <a:t>umask</a:t>
            </a:r>
            <a:r>
              <a:rPr lang="en-US" altLang="zh-CN" dirty="0"/>
              <a:t> </a:t>
            </a:r>
            <a:r>
              <a:rPr lang="zh-CN" altLang="en-US" dirty="0"/>
              <a:t>值</a:t>
            </a:r>
            <a:endParaRPr lang="en-US" altLang="zh-CN" dirty="0"/>
          </a:p>
          <a:p>
            <a:pPr lvl="1"/>
            <a:r>
              <a:rPr lang="zh-CN" altLang="en-US" dirty="0"/>
              <a:t>普通用户的 </a:t>
            </a:r>
            <a:r>
              <a:rPr lang="en-US" altLang="zh-CN" dirty="0" err="1"/>
              <a:t>umask</a:t>
            </a:r>
            <a:r>
              <a:rPr lang="en-US" altLang="zh-CN" dirty="0"/>
              <a:t> </a:t>
            </a:r>
            <a:r>
              <a:rPr lang="zh-CN" altLang="en-US" dirty="0"/>
              <a:t>是 </a:t>
            </a:r>
            <a:r>
              <a:rPr lang="en-US" altLang="zh-CN" dirty="0"/>
              <a:t>002 </a:t>
            </a:r>
          </a:p>
          <a:p>
            <a:pPr lvl="1"/>
            <a:r>
              <a:rPr lang="en-US" altLang="zh-CN" dirty="0"/>
              <a:t>root</a:t>
            </a:r>
            <a:r>
              <a:rPr lang="zh-CN" altLang="en-US" dirty="0"/>
              <a:t>用户的 </a:t>
            </a:r>
            <a:r>
              <a:rPr lang="en-US" altLang="zh-CN" dirty="0" err="1"/>
              <a:t>umask</a:t>
            </a:r>
            <a:r>
              <a:rPr lang="en-US" altLang="zh-CN" dirty="0"/>
              <a:t> </a:t>
            </a:r>
            <a:r>
              <a:rPr lang="zh-CN" altLang="en-US" dirty="0"/>
              <a:t>是 </a:t>
            </a:r>
            <a:r>
              <a:rPr lang="en-US" altLang="zh-CN" dirty="0"/>
              <a:t>022</a:t>
            </a:r>
            <a:endParaRPr lang="zh-CN" altLang="en-US" dirty="0"/>
          </a:p>
        </p:txBody>
      </p:sp>
    </p:spTree>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umask</a:t>
            </a:r>
            <a:r>
              <a:rPr lang="zh-CN" altLang="en-US" dirty="0"/>
              <a:t>命令</a:t>
            </a:r>
          </a:p>
        </p:txBody>
      </p:sp>
      <p:sp>
        <p:nvSpPr>
          <p:cNvPr id="3" name="内容占位符 2"/>
          <p:cNvSpPr>
            <a:spLocks noGrp="1"/>
          </p:cNvSpPr>
          <p:nvPr>
            <p:ph idx="1"/>
          </p:nvPr>
        </p:nvSpPr>
        <p:spPr>
          <a:xfrm>
            <a:off x="953715" y="3212976"/>
            <a:ext cx="7812360" cy="3336900"/>
          </a:xfrm>
        </p:spPr>
        <p:txBody>
          <a:bodyPr/>
          <a:lstStyle/>
          <a:p>
            <a:r>
              <a:rPr lang="zh-CN" altLang="en-US" dirty="0"/>
              <a:t>默认情况</a:t>
            </a:r>
            <a:endParaRPr lang="en-US" altLang="zh-CN" dirty="0"/>
          </a:p>
          <a:p>
            <a:pPr lvl="1" algn="just"/>
            <a:r>
              <a:rPr lang="zh-CN" altLang="en-US" dirty="0"/>
              <a:t>创建为文件默认没有可运行</a:t>
            </a:r>
            <a:r>
              <a:rPr lang="en-US" altLang="zh-CN" dirty="0"/>
              <a:t>( x )</a:t>
            </a:r>
            <a:r>
              <a:rPr lang="zh-CN" altLang="en-US" dirty="0"/>
              <a:t>权限，亦即只有 </a:t>
            </a:r>
            <a:r>
              <a:rPr lang="en-US" altLang="zh-CN" dirty="0" err="1"/>
              <a:t>rw</a:t>
            </a:r>
            <a:r>
              <a:rPr lang="en-US" altLang="zh-CN" dirty="0"/>
              <a:t> </a:t>
            </a:r>
            <a:r>
              <a:rPr lang="zh-CN" altLang="en-US" dirty="0"/>
              <a:t>这两个项目，也就是最大为 </a:t>
            </a:r>
            <a:r>
              <a:rPr lang="en-US" altLang="zh-CN" dirty="0">
                <a:solidFill>
                  <a:srgbClr val="FF0000"/>
                </a:solidFill>
              </a:rPr>
              <a:t>666 </a:t>
            </a:r>
            <a:r>
              <a:rPr lang="zh-CN" altLang="en-US" dirty="0"/>
              <a:t>对应默认权限为 </a:t>
            </a:r>
            <a:r>
              <a:rPr lang="en-US" altLang="zh-CN" dirty="0"/>
              <a:t>-</a:t>
            </a:r>
            <a:r>
              <a:rPr lang="en-US" altLang="zh-CN" dirty="0" err="1">
                <a:solidFill>
                  <a:srgbClr val="FF0000"/>
                </a:solidFill>
              </a:rPr>
              <a:t>rw-rw-rw</a:t>
            </a:r>
            <a:r>
              <a:rPr lang="en-US" altLang="zh-CN" dirty="0">
                <a:solidFill>
                  <a:srgbClr val="FF0000"/>
                </a:solidFill>
              </a:rPr>
              <a:t>-</a:t>
            </a:r>
          </a:p>
          <a:p>
            <a:pPr lvl="1" algn="just"/>
            <a:r>
              <a:rPr lang="zh-CN" altLang="en-US" dirty="0"/>
              <a:t>创建目录时 </a:t>
            </a:r>
            <a:r>
              <a:rPr lang="en-US" altLang="zh-CN" dirty="0"/>
              <a:t>x </a:t>
            </a:r>
            <a:r>
              <a:rPr lang="zh-CN" altLang="en-US" dirty="0"/>
              <a:t>与是否可以进入此目录有关，因此默认目录所有权限均开放，即为 </a:t>
            </a:r>
            <a:r>
              <a:rPr lang="en-US" altLang="zh-CN" dirty="0">
                <a:solidFill>
                  <a:srgbClr val="FF0000"/>
                </a:solidFill>
              </a:rPr>
              <a:t>777 </a:t>
            </a:r>
            <a:r>
              <a:rPr lang="zh-CN" altLang="en-US" dirty="0"/>
              <a:t>，默认权限为 </a:t>
            </a:r>
            <a:r>
              <a:rPr lang="en-US" altLang="zh-CN" dirty="0" err="1"/>
              <a:t>d</a:t>
            </a:r>
            <a:r>
              <a:rPr lang="en-US" altLang="zh-CN" dirty="0" err="1">
                <a:solidFill>
                  <a:srgbClr val="FF0000"/>
                </a:solidFill>
              </a:rPr>
              <a:t>rwxrwxrwx</a:t>
            </a:r>
            <a:endParaRPr lang="en-US" altLang="zh-CN" dirty="0">
              <a:solidFill>
                <a:srgbClr val="FF0000"/>
              </a:solidFill>
            </a:endParaRPr>
          </a:p>
        </p:txBody>
      </p:sp>
      <p:sp>
        <p:nvSpPr>
          <p:cNvPr id="6" name="文本框 5">
            <a:extLst>
              <a:ext uri="{FF2B5EF4-FFF2-40B4-BE49-F238E27FC236}">
                <a16:creationId xmlns:a16="http://schemas.microsoft.com/office/drawing/2014/main" id="{DE108A74-0AB6-406A-A72F-87DD588F242D}"/>
              </a:ext>
            </a:extLst>
          </p:cNvPr>
          <p:cNvSpPr txBox="1"/>
          <p:nvPr/>
        </p:nvSpPr>
        <p:spPr>
          <a:xfrm>
            <a:off x="953715" y="1397094"/>
            <a:ext cx="7812360" cy="1815882"/>
          </a:xfrm>
          <a:prstGeom prst="rect">
            <a:avLst/>
          </a:prstGeom>
          <a:solidFill>
            <a:schemeClr val="accent2">
              <a:lumMod val="40000"/>
              <a:lumOff val="60000"/>
            </a:schemeClr>
          </a:solidFill>
        </p:spPr>
        <p:txBody>
          <a:bodyPr wrap="square">
            <a:spAutoFit/>
          </a:bodyPr>
          <a:lstStyle/>
          <a:p>
            <a:pPr marL="0" lvl="1"/>
            <a:r>
              <a:rPr lang="pl-PL" altLang="zh-CN" sz="2800" dirty="0"/>
              <a:t>[root@www ~]# </a:t>
            </a:r>
            <a:r>
              <a:rPr lang="pl-PL" altLang="zh-CN" sz="2800" dirty="0">
                <a:solidFill>
                  <a:srgbClr val="FF0000"/>
                </a:solidFill>
              </a:rPr>
              <a:t>umask</a:t>
            </a:r>
          </a:p>
          <a:p>
            <a:pPr marL="0" lvl="1"/>
            <a:r>
              <a:rPr lang="pl-PL" altLang="zh-CN" sz="2800" dirty="0">
                <a:solidFill>
                  <a:srgbClr val="FF0000"/>
                </a:solidFill>
              </a:rPr>
              <a:t>0022 </a:t>
            </a:r>
            <a:r>
              <a:rPr lang="pl-PL" altLang="zh-CN" sz="2800" dirty="0"/>
              <a:t>    &lt;==</a:t>
            </a:r>
            <a:r>
              <a:rPr lang="zh-CN" altLang="en-US" sz="2800" dirty="0"/>
              <a:t>第一组特殊权限，后三组一般权限</a:t>
            </a:r>
            <a:endParaRPr lang="zh-CN" altLang="pl-PL" sz="2800" dirty="0"/>
          </a:p>
          <a:p>
            <a:pPr marL="0" lvl="1"/>
            <a:r>
              <a:rPr lang="pl-PL" altLang="zh-CN" sz="2800" dirty="0"/>
              <a:t>[root@www ~]# </a:t>
            </a:r>
            <a:r>
              <a:rPr lang="pl-PL" altLang="zh-CN" sz="2800" dirty="0">
                <a:solidFill>
                  <a:srgbClr val="FF0000"/>
                </a:solidFill>
              </a:rPr>
              <a:t>umask -S</a:t>
            </a:r>
          </a:p>
          <a:p>
            <a:pPr marL="0" lvl="1"/>
            <a:r>
              <a:rPr lang="pl-PL" altLang="zh-CN" sz="2800" dirty="0">
                <a:solidFill>
                  <a:srgbClr val="FF0000"/>
                </a:solidFill>
              </a:rPr>
              <a:t>u=rwx,g=rx,o=rx</a:t>
            </a:r>
            <a:endParaRPr lang="zh-CN" altLang="en-US" sz="2800" dirty="0">
              <a:solidFill>
                <a:srgbClr val="FF0000"/>
              </a:solidFill>
            </a:endParaRPr>
          </a:p>
        </p:txBody>
      </p:sp>
    </p:spTree>
    <p:extLst>
      <p:ext uri="{BB962C8B-B14F-4D97-AF65-F5344CB8AC3E}">
        <p14:creationId xmlns:p14="http://schemas.microsoft.com/office/powerpoint/2010/main" val="708302112"/>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umask</a:t>
            </a:r>
            <a:r>
              <a:rPr lang="en-US" altLang="zh-CN" dirty="0"/>
              <a:t> </a:t>
            </a:r>
            <a:r>
              <a:rPr lang="zh-CN" altLang="en-US" dirty="0"/>
              <a:t>值与文件</a:t>
            </a:r>
            <a:r>
              <a:rPr lang="en-US" altLang="zh-CN" dirty="0"/>
              <a:t>/</a:t>
            </a:r>
            <a:r>
              <a:rPr lang="zh-CN" altLang="en-US" dirty="0"/>
              <a:t>目录权限</a:t>
            </a:r>
          </a:p>
        </p:txBody>
      </p:sp>
      <p:sp>
        <p:nvSpPr>
          <p:cNvPr id="3" name="内容占位符 2"/>
          <p:cNvSpPr>
            <a:spLocks noGrp="1"/>
          </p:cNvSpPr>
          <p:nvPr>
            <p:ph idx="1"/>
          </p:nvPr>
        </p:nvSpPr>
        <p:spPr>
          <a:xfrm>
            <a:off x="408621" y="1443918"/>
            <a:ext cx="8686800" cy="604664"/>
          </a:xfrm>
        </p:spPr>
        <p:txBody>
          <a:bodyPr/>
          <a:lstStyle/>
          <a:p>
            <a:r>
              <a:rPr lang="zh-CN" altLang="en-US" dirty="0"/>
              <a:t>常见 </a:t>
            </a:r>
            <a:r>
              <a:rPr lang="en-US" altLang="zh-CN" dirty="0" err="1"/>
              <a:t>umask</a:t>
            </a:r>
            <a:r>
              <a:rPr lang="en-US" altLang="zh-CN" dirty="0"/>
              <a:t> </a:t>
            </a:r>
            <a:r>
              <a:rPr lang="zh-CN" altLang="en-US" dirty="0"/>
              <a:t>值与新建文件</a:t>
            </a:r>
            <a:r>
              <a:rPr lang="en-US" altLang="zh-CN" dirty="0"/>
              <a:t>/</a:t>
            </a:r>
            <a:r>
              <a:rPr lang="zh-CN" altLang="en-US" dirty="0"/>
              <a:t>目录的权限对应表</a:t>
            </a:r>
          </a:p>
        </p:txBody>
      </p:sp>
      <p:graphicFrame>
        <p:nvGraphicFramePr>
          <p:cNvPr id="7" name="Group 3"/>
          <p:cNvGraphicFramePr>
            <a:graphicFrameLocks noGrp="1"/>
          </p:cNvGraphicFramePr>
          <p:nvPr>
            <p:extLst>
              <p:ext uri="{D42A27DB-BD31-4B8C-83A1-F6EECF244321}">
                <p14:modId xmlns:p14="http://schemas.microsoft.com/office/powerpoint/2010/main" val="1453049212"/>
              </p:ext>
            </p:extLst>
          </p:nvPr>
        </p:nvGraphicFramePr>
        <p:xfrm>
          <a:off x="787002" y="2132858"/>
          <a:ext cx="8136906" cy="2761013"/>
        </p:xfrm>
        <a:graphic>
          <a:graphicData uri="http://schemas.openxmlformats.org/drawingml/2006/table">
            <a:tbl>
              <a:tblPr/>
              <a:tblGrid>
                <a:gridCol w="1428068">
                  <a:extLst>
                    <a:ext uri="{9D8B030D-6E8A-4147-A177-3AD203B41FA5}">
                      <a16:colId xmlns:a16="http://schemas.microsoft.com/office/drawing/2014/main" val="20000"/>
                    </a:ext>
                  </a:extLst>
                </a:gridCol>
                <a:gridCol w="3324460">
                  <a:extLst>
                    <a:ext uri="{9D8B030D-6E8A-4147-A177-3AD203B41FA5}">
                      <a16:colId xmlns:a16="http://schemas.microsoft.com/office/drawing/2014/main" val="20001"/>
                    </a:ext>
                  </a:extLst>
                </a:gridCol>
                <a:gridCol w="3384378">
                  <a:extLst>
                    <a:ext uri="{9D8B030D-6E8A-4147-A177-3AD203B41FA5}">
                      <a16:colId xmlns:a16="http://schemas.microsoft.com/office/drawing/2014/main" val="20002"/>
                    </a:ext>
                  </a:extLst>
                </a:gridCol>
              </a:tblGrid>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cap="none" normalizeH="0" baseline="0" dirty="0" err="1">
                          <a:ln>
                            <a:noFill/>
                          </a:ln>
                          <a:solidFill>
                            <a:schemeClr val="tx1"/>
                          </a:solidFill>
                          <a:effectLst/>
                          <a:latin typeface="宋体" pitchFamily="2" charset="-122"/>
                          <a:ea typeface="宋体" pitchFamily="2" charset="-122"/>
                        </a:rPr>
                        <a:t>umask</a:t>
                      </a:r>
                      <a:r>
                        <a:rPr kumimoji="1" lang="zh-CN" altLang="en-US" sz="2400" b="1" i="0" u="none" strike="noStrike" cap="none" normalizeH="0" baseline="0" dirty="0">
                          <a:ln>
                            <a:noFill/>
                          </a:ln>
                          <a:solidFill>
                            <a:schemeClr val="tx1"/>
                          </a:solidFill>
                          <a:effectLst/>
                          <a:latin typeface="宋体" pitchFamily="2" charset="-122"/>
                          <a:ea typeface="宋体" pitchFamily="2" charset="-122"/>
                        </a:rPr>
                        <a:t>值</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dirty="0">
                          <a:ln>
                            <a:noFill/>
                          </a:ln>
                          <a:solidFill>
                            <a:schemeClr val="tx1"/>
                          </a:solidFill>
                          <a:effectLst/>
                          <a:latin typeface="宋体" pitchFamily="2" charset="-122"/>
                          <a:ea typeface="宋体" pitchFamily="2" charset="-122"/>
                        </a:rPr>
                        <a:t>新建目录的访问权限</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a:ln>
                            <a:noFill/>
                          </a:ln>
                          <a:solidFill>
                            <a:schemeClr val="tx1"/>
                          </a:solidFill>
                          <a:effectLst/>
                          <a:latin typeface="宋体" pitchFamily="2" charset="-122"/>
                          <a:ea typeface="宋体" pitchFamily="2" charset="-122"/>
                        </a:rPr>
                        <a:t>新建文件的访问权限</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dirty="0">
                          <a:ln>
                            <a:noFill/>
                          </a:ln>
                          <a:solidFill>
                            <a:schemeClr val="tx1"/>
                          </a:solidFill>
                          <a:effectLst/>
                          <a:latin typeface="宋体" pitchFamily="2" charset="-122"/>
                          <a:ea typeface="宋体" pitchFamily="2" charset="-122"/>
                        </a:rPr>
                        <a:t>022</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-022=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755</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cap="none" normalizeH="0" baseline="0" dirty="0">
                          <a:ln>
                            <a:noFill/>
                          </a:ln>
                          <a:solidFill>
                            <a:schemeClr val="accent6">
                              <a:lumMod val="75000"/>
                            </a:schemeClr>
                          </a:solidFill>
                          <a:effectLst/>
                          <a:latin typeface="Courier New" pitchFamily="49" charset="0"/>
                          <a:ea typeface="宋体" pitchFamily="2" charset="-122"/>
                        </a:rPr>
                        <a:t>666</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-022=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644</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dirty="0">
                          <a:ln>
                            <a:noFill/>
                          </a:ln>
                          <a:solidFill>
                            <a:schemeClr val="tx1"/>
                          </a:solidFill>
                          <a:effectLst/>
                          <a:latin typeface="宋体" pitchFamily="2" charset="-122"/>
                          <a:ea typeface="宋体" pitchFamily="2" charset="-122"/>
                        </a:rPr>
                        <a:t>027</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-027=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750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666</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-027=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640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a:ln>
                            <a:noFill/>
                          </a:ln>
                          <a:solidFill>
                            <a:schemeClr val="tx1"/>
                          </a:solidFill>
                          <a:effectLst/>
                          <a:latin typeface="宋体" pitchFamily="2" charset="-122"/>
                          <a:ea typeface="宋体" pitchFamily="2" charset="-122"/>
                        </a:rPr>
                        <a:t>002</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-002=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775</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666</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-002=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664</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4031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a:ln>
                            <a:noFill/>
                          </a:ln>
                          <a:solidFill>
                            <a:schemeClr val="tx1"/>
                          </a:solidFill>
                          <a:effectLst/>
                          <a:latin typeface="宋体" pitchFamily="2" charset="-122"/>
                          <a:ea typeface="宋体" pitchFamily="2" charset="-122"/>
                        </a:rPr>
                        <a:t>006</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-006=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771</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666</a:t>
                      </a:r>
                      <a:r>
                        <a:rPr kumimoji="1" lang="en-US" altLang="zh-CN" sz="2400" b="1" i="0" u="none" strike="noStrike" kern="1200" cap="none" normalizeH="0" baseline="0" dirty="0">
                          <a:ln>
                            <a:noFill/>
                          </a:ln>
                          <a:solidFill>
                            <a:schemeClr val="tx1"/>
                          </a:solidFill>
                          <a:effectLst/>
                          <a:latin typeface="Courier New" pitchFamily="49" charset="0"/>
                          <a:ea typeface="宋体" pitchFamily="2" charset="-122"/>
                          <a:cs typeface="+mn-cs"/>
                        </a:rPr>
                        <a:t>-006</a:t>
                      </a: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660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75013">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400" b="1" i="0" u="none" strike="noStrike" cap="none" normalizeH="0" baseline="0" dirty="0">
                          <a:ln>
                            <a:noFill/>
                          </a:ln>
                          <a:solidFill>
                            <a:schemeClr val="tx1"/>
                          </a:solidFill>
                          <a:effectLst/>
                          <a:latin typeface="宋体" pitchFamily="2" charset="-122"/>
                          <a:ea typeface="宋体" pitchFamily="2" charset="-122"/>
                        </a:rPr>
                        <a:t>007</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777</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-007= </a:t>
                      </a:r>
                      <a:r>
                        <a:rPr kumimoji="1" lang="zh-CN" altLang="en-US" sz="2400" b="1" i="0" u="none" strike="noStrike" cap="none" normalizeH="0" baseline="0" dirty="0">
                          <a:ln>
                            <a:noFill/>
                          </a:ln>
                          <a:solidFill>
                            <a:srgbClr val="FF3300"/>
                          </a:solidFill>
                          <a:effectLst/>
                          <a:latin typeface="Courier New" pitchFamily="49" charset="0"/>
                          <a:ea typeface="宋体" pitchFamily="2" charset="-122"/>
                        </a:rPr>
                        <a:t>770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chemeClr val="accent6">
                              <a:lumMod val="75000"/>
                            </a:schemeClr>
                          </a:solidFill>
                          <a:effectLst/>
                          <a:latin typeface="Courier New" pitchFamily="49" charset="0"/>
                          <a:ea typeface="宋体" pitchFamily="2" charset="-122"/>
                          <a:cs typeface="+mn-cs"/>
                        </a:rPr>
                        <a:t>666</a:t>
                      </a:r>
                      <a:r>
                        <a:rPr kumimoji="1" lang="en-US" altLang="zh-CN" sz="2400" b="1" i="0" u="none" strike="noStrike" cap="none" normalizeH="0" baseline="0" dirty="0">
                          <a:ln>
                            <a:noFill/>
                          </a:ln>
                          <a:solidFill>
                            <a:schemeClr val="tx1"/>
                          </a:solidFill>
                          <a:effectLst/>
                          <a:latin typeface="Courier New" pitchFamily="49" charset="0"/>
                          <a:ea typeface="宋体" pitchFamily="2" charset="-122"/>
                        </a:rPr>
                        <a:t>-007= </a:t>
                      </a:r>
                      <a:r>
                        <a:rPr kumimoji="1" lang="zh-CN" altLang="en-US" sz="2400" b="1" i="0" u="none" strike="noStrike" cap="none" normalizeH="0" baseline="0" dirty="0">
                          <a:ln>
                            <a:noFill/>
                          </a:ln>
                          <a:solidFill>
                            <a:srgbClr val="0033CC"/>
                          </a:solidFill>
                          <a:effectLst/>
                          <a:latin typeface="Courier New" pitchFamily="49" charset="0"/>
                          <a:ea typeface="宋体" pitchFamily="2" charset="-122"/>
                        </a:rPr>
                        <a:t>660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8" name="文本框 7">
            <a:extLst>
              <a:ext uri="{FF2B5EF4-FFF2-40B4-BE49-F238E27FC236}">
                <a16:creationId xmlns:a16="http://schemas.microsoft.com/office/drawing/2014/main" id="{E323B758-690F-4E4E-9DA3-74B37911D2E3}"/>
              </a:ext>
            </a:extLst>
          </p:cNvPr>
          <p:cNvSpPr txBox="1"/>
          <p:nvPr/>
        </p:nvSpPr>
        <p:spPr>
          <a:xfrm>
            <a:off x="787002" y="4947265"/>
            <a:ext cx="8136905" cy="1815882"/>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path path="circle">
              <a:fillToRect l="50000" t="50000" r="50000" b="50000"/>
            </a:path>
            <a:tileRect/>
          </a:gradFill>
        </p:spPr>
        <p:txBody>
          <a:bodyPr wrap="square">
            <a:spAutoFit/>
          </a:bodyPr>
          <a:lstStyle/>
          <a:p>
            <a:r>
              <a:rPr lang="zh-CN" altLang="en-US" sz="2800" dirty="0"/>
              <a:t>创建</a:t>
            </a:r>
            <a:r>
              <a:rPr lang="zh-CN" altLang="en-US" sz="2800" dirty="0">
                <a:solidFill>
                  <a:srgbClr val="FF0000"/>
                </a:solidFill>
              </a:rPr>
              <a:t>文件</a:t>
            </a:r>
            <a:r>
              <a:rPr lang="zh-CN" altLang="en-US" sz="2800" dirty="0"/>
              <a:t>时：</a:t>
            </a:r>
            <a:endParaRPr lang="en-US" altLang="zh-CN" sz="2800" dirty="0"/>
          </a:p>
          <a:p>
            <a:r>
              <a:rPr lang="en-US" altLang="zh-CN" sz="2800" dirty="0"/>
              <a:t>(-</a:t>
            </a:r>
            <a:r>
              <a:rPr lang="en-US" altLang="zh-CN" sz="2800" dirty="0" err="1"/>
              <a:t>rw-rw-rw</a:t>
            </a:r>
            <a:r>
              <a:rPr lang="en-US" altLang="zh-CN" sz="2800" dirty="0"/>
              <a:t>-) - (-----w--w-) ==&gt; -</a:t>
            </a:r>
            <a:r>
              <a:rPr lang="en-US" altLang="zh-CN" sz="2800" dirty="0" err="1"/>
              <a:t>rw</a:t>
            </a:r>
            <a:r>
              <a:rPr lang="en-US" altLang="zh-CN" sz="2800" dirty="0"/>
              <a:t>-r--r--</a:t>
            </a:r>
          </a:p>
          <a:p>
            <a:r>
              <a:rPr lang="zh-CN" altLang="en-US" sz="2800" dirty="0"/>
              <a:t>创建</a:t>
            </a:r>
            <a:r>
              <a:rPr lang="zh-CN" altLang="en-US" sz="2800" dirty="0">
                <a:solidFill>
                  <a:srgbClr val="FF0000"/>
                </a:solidFill>
              </a:rPr>
              <a:t>目录</a:t>
            </a:r>
            <a:r>
              <a:rPr lang="zh-CN" altLang="en-US" sz="2800" dirty="0"/>
              <a:t>时：</a:t>
            </a:r>
            <a:endParaRPr lang="en-US" altLang="zh-CN" sz="2800" dirty="0"/>
          </a:p>
          <a:p>
            <a:r>
              <a:rPr lang="en-US" altLang="zh-CN" sz="2800" dirty="0"/>
              <a:t>(</a:t>
            </a:r>
            <a:r>
              <a:rPr lang="en-US" altLang="zh-CN" sz="2800" dirty="0" err="1"/>
              <a:t>drwxrwxrwx</a:t>
            </a:r>
            <a:r>
              <a:rPr lang="en-US" altLang="zh-CN" sz="2800" dirty="0"/>
              <a:t>) - (d----w--w-) ==&gt; </a:t>
            </a:r>
            <a:r>
              <a:rPr lang="en-US" altLang="zh-CN" sz="2800" dirty="0" err="1"/>
              <a:t>drwxr</a:t>
            </a:r>
            <a:r>
              <a:rPr lang="en-US" altLang="zh-CN" sz="2800" dirty="0"/>
              <a:t>-</a:t>
            </a:r>
            <a:r>
              <a:rPr lang="en-US" altLang="zh-CN" sz="2800" dirty="0" err="1"/>
              <a:t>xr</a:t>
            </a:r>
            <a:r>
              <a:rPr lang="en-US" altLang="zh-CN" sz="2800" dirty="0"/>
              <a:t>-x</a:t>
            </a:r>
            <a:endParaRPr lang="zh-CN" altLang="en-US" sz="2800" dirty="0"/>
          </a:p>
        </p:txBody>
      </p:sp>
      <p:pic>
        <p:nvPicPr>
          <p:cNvPr id="8194" name="Picture 2">
            <a:extLst>
              <a:ext uri="{FF2B5EF4-FFF2-40B4-BE49-F238E27FC236}">
                <a16:creationId xmlns:a16="http://schemas.microsoft.com/office/drawing/2014/main" id="{F11B3069-16AF-49AA-8607-1D459E8F06DC}"/>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colorTemperature colorTemp="4700"/>
                    </a14:imgEffect>
                  </a14:imgLayer>
                </a14:imgProps>
              </a:ext>
              <a:ext uri="{28A0092B-C50C-407E-A947-70E740481C1C}">
                <a14:useLocalDpi xmlns:a14="http://schemas.microsoft.com/office/drawing/2010/main" val="0"/>
              </a:ext>
            </a:extLst>
          </a:blip>
          <a:srcRect/>
          <a:stretch>
            <a:fillRect/>
          </a:stretch>
        </p:blipFill>
        <p:spPr bwMode="auto">
          <a:xfrm>
            <a:off x="7812360" y="5056562"/>
            <a:ext cx="1008673" cy="64807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设置</a:t>
            </a:r>
            <a:r>
              <a:rPr lang="en-US" altLang="zh-CN" dirty="0" err="1"/>
              <a:t>umask</a:t>
            </a:r>
            <a:r>
              <a:rPr lang="zh-CN" altLang="en-US" dirty="0"/>
              <a:t>值的方法</a:t>
            </a:r>
          </a:p>
        </p:txBody>
      </p:sp>
      <p:sp>
        <p:nvSpPr>
          <p:cNvPr id="3" name="内容占位符 2"/>
          <p:cNvSpPr>
            <a:spLocks noGrp="1"/>
          </p:cNvSpPr>
          <p:nvPr>
            <p:ph idx="1"/>
          </p:nvPr>
        </p:nvSpPr>
        <p:spPr>
          <a:xfrm>
            <a:off x="281402" y="1489092"/>
            <a:ext cx="8830997" cy="4388180"/>
          </a:xfrm>
        </p:spPr>
        <p:txBody>
          <a:bodyPr/>
          <a:lstStyle/>
          <a:p>
            <a:r>
              <a:rPr lang="zh-CN" altLang="en-US" dirty="0"/>
              <a:t>使用</a:t>
            </a:r>
            <a:r>
              <a:rPr lang="en-US" altLang="zh-CN" dirty="0" err="1"/>
              <a:t>umask</a:t>
            </a:r>
            <a:r>
              <a:rPr lang="zh-CN" altLang="en-US" dirty="0"/>
              <a:t>命令</a:t>
            </a:r>
            <a:r>
              <a:rPr lang="zh-CN" altLang="en-US" dirty="0">
                <a:solidFill>
                  <a:srgbClr val="FF0000"/>
                </a:solidFill>
              </a:rPr>
              <a:t>临时</a:t>
            </a:r>
            <a:r>
              <a:rPr lang="zh-CN" altLang="en-US" dirty="0" smtClean="0"/>
              <a:t>设置</a:t>
            </a:r>
            <a:endParaRPr lang="en-US" altLang="zh-CN" dirty="0" smtClean="0"/>
          </a:p>
          <a:p>
            <a:pPr marL="0" indent="0" algn="ctr">
              <a:buNone/>
            </a:pPr>
            <a:r>
              <a:rPr lang="en-US" altLang="zh-CN" dirty="0"/>
              <a:t>$ </a:t>
            </a:r>
            <a:r>
              <a:rPr lang="en-US" altLang="zh-CN" dirty="0" err="1"/>
              <a:t>umask</a:t>
            </a:r>
            <a:r>
              <a:rPr lang="en-US" altLang="zh-CN" dirty="0"/>
              <a:t> 002</a:t>
            </a:r>
          </a:p>
          <a:p>
            <a:r>
              <a:rPr lang="zh-CN" altLang="en-US" dirty="0" smtClean="0"/>
              <a:t>在</a:t>
            </a:r>
            <a:r>
              <a:rPr lang="en-US" altLang="zh-CN" dirty="0"/>
              <a:t>Shell</a:t>
            </a:r>
            <a:r>
              <a:rPr lang="zh-CN" altLang="en-US" dirty="0"/>
              <a:t>环境</a:t>
            </a:r>
            <a:r>
              <a:rPr lang="zh-CN" altLang="en-US" dirty="0">
                <a:solidFill>
                  <a:srgbClr val="FF0000"/>
                </a:solidFill>
              </a:rPr>
              <a:t>配置文件</a:t>
            </a:r>
            <a:r>
              <a:rPr lang="zh-CN" altLang="en-US" dirty="0"/>
              <a:t>中设置</a:t>
            </a:r>
            <a:endParaRPr lang="en-US" altLang="zh-CN" dirty="0"/>
          </a:p>
          <a:p>
            <a:pPr lvl="1"/>
            <a:r>
              <a:rPr lang="en-US" altLang="zh-CN" dirty="0"/>
              <a:t>RHEL/</a:t>
            </a:r>
            <a:r>
              <a:rPr lang="en-US" altLang="zh-CN" dirty="0" err="1"/>
              <a:t>CentOS</a:t>
            </a:r>
            <a:r>
              <a:rPr lang="en-US" altLang="zh-CN" dirty="0"/>
              <a:t> </a:t>
            </a:r>
            <a:r>
              <a:rPr lang="zh-CN" altLang="en-US" dirty="0"/>
              <a:t>默认</a:t>
            </a:r>
            <a:r>
              <a:rPr lang="zh-CN" altLang="en-US" dirty="0">
                <a:solidFill>
                  <a:schemeClr val="accent6">
                    <a:lumMod val="75000"/>
                  </a:schemeClr>
                </a:solidFill>
              </a:rPr>
              <a:t>在 </a:t>
            </a:r>
            <a:r>
              <a:rPr lang="en-US" altLang="zh-CN" dirty="0">
                <a:solidFill>
                  <a:schemeClr val="accent6">
                    <a:lumMod val="75000"/>
                  </a:schemeClr>
                </a:solidFill>
              </a:rPr>
              <a:t>/etc/</a:t>
            </a:r>
            <a:r>
              <a:rPr lang="en-US" altLang="zh-CN" dirty="0" err="1">
                <a:solidFill>
                  <a:schemeClr val="accent6">
                    <a:lumMod val="75000"/>
                  </a:schemeClr>
                </a:solidFill>
              </a:rPr>
              <a:t>bashrc</a:t>
            </a:r>
            <a:r>
              <a:rPr lang="en-US" altLang="zh-CN" dirty="0">
                <a:solidFill>
                  <a:schemeClr val="accent6">
                    <a:lumMod val="75000"/>
                  </a:schemeClr>
                </a:solidFill>
              </a:rPr>
              <a:t> </a:t>
            </a:r>
            <a:r>
              <a:rPr lang="zh-CN" altLang="en-US" dirty="0"/>
              <a:t>中设置</a:t>
            </a:r>
            <a:endParaRPr lang="en-US" altLang="zh-CN" dirty="0"/>
          </a:p>
          <a:p>
            <a:pPr lvl="1"/>
            <a:r>
              <a:rPr lang="zh-CN" altLang="en-US" dirty="0"/>
              <a:t>用户可以在</a:t>
            </a:r>
            <a:r>
              <a:rPr lang="en-US" altLang="zh-CN" dirty="0">
                <a:solidFill>
                  <a:schemeClr val="accent6">
                    <a:lumMod val="75000"/>
                  </a:schemeClr>
                </a:solidFill>
              </a:rPr>
              <a:t>~/. </a:t>
            </a:r>
            <a:r>
              <a:rPr lang="en-US" altLang="zh-CN" dirty="0" err="1">
                <a:solidFill>
                  <a:schemeClr val="accent6">
                    <a:lumMod val="75000"/>
                  </a:schemeClr>
                </a:solidFill>
              </a:rPr>
              <a:t>bashrc</a:t>
            </a:r>
            <a:r>
              <a:rPr lang="en-US" altLang="zh-CN" dirty="0">
                <a:solidFill>
                  <a:schemeClr val="accent6">
                    <a:lumMod val="75000"/>
                  </a:schemeClr>
                </a:solidFill>
              </a:rPr>
              <a:t> </a:t>
            </a:r>
            <a:r>
              <a:rPr lang="zh-CN" altLang="en-US" dirty="0"/>
              <a:t>中重新</a:t>
            </a:r>
            <a:r>
              <a:rPr lang="zh-CN" altLang="en-US" dirty="0" smtClean="0"/>
              <a:t>设置</a:t>
            </a:r>
            <a:endParaRPr lang="en-US" altLang="zh-CN" dirty="0" smtClean="0"/>
          </a:p>
          <a:p>
            <a:pPr marL="457200" lvl="1" indent="0">
              <a:buNone/>
            </a:pPr>
            <a:r>
              <a:rPr lang="zh-CN" altLang="en-US" dirty="0" smtClean="0"/>
              <a:t>添加一行内容：</a:t>
            </a:r>
            <a:r>
              <a:rPr lang="en-US" altLang="zh-CN" dirty="0" err="1" smtClean="0"/>
              <a:t>umask</a:t>
            </a:r>
            <a:r>
              <a:rPr lang="en-US" altLang="zh-CN" dirty="0" smtClean="0"/>
              <a:t> 002</a:t>
            </a:r>
            <a:endParaRPr lang="en-US" altLang="zh-CN" dirty="0"/>
          </a:p>
          <a:p>
            <a:r>
              <a:rPr lang="zh-CN" altLang="en-US" dirty="0"/>
              <a:t>在 </a:t>
            </a:r>
            <a:r>
              <a:rPr lang="en-US" altLang="zh-CN" dirty="0">
                <a:solidFill>
                  <a:srgbClr val="FF0000"/>
                </a:solidFill>
              </a:rPr>
              <a:t>/etc/</a:t>
            </a:r>
            <a:r>
              <a:rPr lang="en-US" altLang="zh-CN" dirty="0" err="1">
                <a:solidFill>
                  <a:srgbClr val="FF0000"/>
                </a:solidFill>
              </a:rPr>
              <a:t>fstab</a:t>
            </a:r>
            <a:r>
              <a:rPr lang="en-US" altLang="zh-CN" dirty="0">
                <a:solidFill>
                  <a:srgbClr val="FF0000"/>
                </a:solidFill>
              </a:rPr>
              <a:t> </a:t>
            </a:r>
            <a:r>
              <a:rPr lang="zh-CN" altLang="en-US" dirty="0"/>
              <a:t>的文件系统挂装参数中指定</a:t>
            </a:r>
            <a:endParaRPr lang="en-US" altLang="zh-CN" dirty="0"/>
          </a:p>
          <a:p>
            <a:pPr lvl="1"/>
            <a:r>
              <a:rPr lang="zh-CN" altLang="en-US" dirty="0" smtClean="0"/>
              <a:t>例如</a:t>
            </a:r>
            <a:r>
              <a:rPr lang="zh-CN" altLang="en-US" b="0" dirty="0" smtClean="0">
                <a:ea typeface="黑体" pitchFamily="49" charset="-122"/>
              </a:rPr>
              <a:t>在 </a:t>
            </a:r>
            <a:r>
              <a:rPr lang="zh-CN" altLang="en-US" dirty="0">
                <a:latin typeface="Courier New" pitchFamily="49" charset="0"/>
                <a:ea typeface="黑体" pitchFamily="49" charset="-122"/>
              </a:rPr>
              <a:t>/</a:t>
            </a:r>
            <a:r>
              <a:rPr lang="en-US" altLang="zh-CN" dirty="0" err="1">
                <a:latin typeface="Courier New" pitchFamily="49" charset="0"/>
                <a:ea typeface="黑体" pitchFamily="49" charset="-122"/>
              </a:rPr>
              <a:t>etc</a:t>
            </a:r>
            <a:r>
              <a:rPr lang="en-US" altLang="zh-CN" dirty="0">
                <a:latin typeface="Courier New" pitchFamily="49" charset="0"/>
                <a:ea typeface="黑体" pitchFamily="49" charset="-122"/>
              </a:rPr>
              <a:t>/</a:t>
            </a:r>
            <a:r>
              <a:rPr lang="en-US" altLang="zh-CN" dirty="0" err="1">
                <a:latin typeface="Courier New" pitchFamily="49" charset="0"/>
                <a:ea typeface="黑体" pitchFamily="49" charset="-122"/>
              </a:rPr>
              <a:t>fstab</a:t>
            </a:r>
            <a:r>
              <a:rPr lang="en-US" altLang="zh-CN" b="0" dirty="0">
                <a:ea typeface="黑体" pitchFamily="49" charset="-122"/>
              </a:rPr>
              <a:t> </a:t>
            </a:r>
            <a:r>
              <a:rPr lang="zh-CN" altLang="en-US" b="0" dirty="0" smtClean="0">
                <a:ea typeface="黑体" pitchFamily="49" charset="-122"/>
              </a:rPr>
              <a:t>挂</a:t>
            </a:r>
            <a:r>
              <a:rPr lang="zh-CN" altLang="en-US" b="0" dirty="0">
                <a:ea typeface="黑体" pitchFamily="49" charset="-122"/>
              </a:rPr>
              <a:t>装选项中加入 </a:t>
            </a:r>
            <a:r>
              <a:rPr lang="en-US" altLang="zh-CN" dirty="0" err="1">
                <a:latin typeface="Courier New" pitchFamily="49" charset="0"/>
                <a:ea typeface="黑体" pitchFamily="49" charset="-122"/>
              </a:rPr>
              <a:t>umask</a:t>
            </a:r>
            <a:r>
              <a:rPr lang="en-US" altLang="zh-CN" b="0" dirty="0">
                <a:ea typeface="黑体" pitchFamily="49" charset="-122"/>
              </a:rPr>
              <a:t> </a:t>
            </a:r>
            <a:r>
              <a:rPr lang="zh-CN" altLang="en-US" b="0" dirty="0">
                <a:ea typeface="黑体" pitchFamily="49" charset="-122"/>
              </a:rPr>
              <a:t>值</a:t>
            </a:r>
            <a:endParaRPr lang="zh-CN" altLang="en-US" dirty="0"/>
          </a:p>
        </p:txBody>
      </p:sp>
      <p:sp>
        <p:nvSpPr>
          <p:cNvPr id="7" name="Text Box 33"/>
          <p:cNvSpPr txBox="1">
            <a:spLocks noChangeArrowheads="1"/>
          </p:cNvSpPr>
          <p:nvPr/>
        </p:nvSpPr>
        <p:spPr bwMode="auto">
          <a:xfrm>
            <a:off x="107504" y="5990247"/>
            <a:ext cx="8581195" cy="448456"/>
          </a:xfrm>
          <a:prstGeom prst="rect">
            <a:avLst/>
          </a:prstGeom>
          <a:noFill/>
          <a:ln w="9525">
            <a:noFill/>
            <a:miter lim="800000"/>
            <a:headEnd/>
            <a:tailEnd/>
          </a:ln>
          <a:effectLst/>
        </p:spPr>
        <p:txBody>
          <a:bodyPr wrap="square">
            <a:spAutoFit/>
          </a:bodyPr>
          <a:lstStyle/>
          <a:p>
            <a:pPr>
              <a:lnSpc>
                <a:spcPct val="140000"/>
              </a:lnSpc>
            </a:pPr>
            <a:r>
              <a:rPr lang="en-US" altLang="zh-CN" dirty="0">
                <a:solidFill>
                  <a:schemeClr val="tx1"/>
                </a:solidFill>
                <a:latin typeface="宋体" pitchFamily="2" charset="-122"/>
              </a:rPr>
              <a:t>/dev/sda10  /home  ext3  </a:t>
            </a:r>
            <a:r>
              <a:rPr lang="en-US" altLang="zh-CN" dirty="0" err="1">
                <a:solidFill>
                  <a:schemeClr val="tx1"/>
                </a:solidFill>
                <a:latin typeface="宋体" pitchFamily="2" charset="-122"/>
              </a:rPr>
              <a:t>noauto,</a:t>
            </a:r>
            <a:r>
              <a:rPr lang="en-US" altLang="zh-CN" b="1" dirty="0" err="1">
                <a:solidFill>
                  <a:srgbClr val="FF3300"/>
                </a:solidFill>
                <a:latin typeface="Courier New" pitchFamily="49" charset="0"/>
              </a:rPr>
              <a:t>umask</a:t>
            </a:r>
            <a:r>
              <a:rPr lang="en-US" altLang="zh-CN" b="1" dirty="0">
                <a:solidFill>
                  <a:srgbClr val="FF3300"/>
                </a:solidFill>
                <a:latin typeface="Courier New" pitchFamily="49" charset="0"/>
              </a:rPr>
              <a:t>=022</a:t>
            </a:r>
            <a:r>
              <a:rPr lang="en-US" altLang="zh-CN" dirty="0">
                <a:solidFill>
                  <a:schemeClr val="tx1"/>
                </a:solidFill>
                <a:latin typeface="宋体" pitchFamily="2" charset="-122"/>
              </a:rPr>
              <a:t>,iocharset=cp936,ro,users  0 0</a:t>
            </a:r>
            <a:endParaRPr lang="zh-CN" altLang="en-US" dirty="0">
              <a:solidFill>
                <a:schemeClr val="tx1"/>
              </a:solidFill>
              <a:latin typeface="Tahoma"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slide(fromBottom)">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文件权限的设置准则</a:t>
            </a:r>
          </a:p>
        </p:txBody>
      </p:sp>
      <p:sp>
        <p:nvSpPr>
          <p:cNvPr id="3" name="内容占位符 2"/>
          <p:cNvSpPr>
            <a:spLocks noGrp="1"/>
          </p:cNvSpPr>
          <p:nvPr>
            <p:ph idx="1"/>
          </p:nvPr>
        </p:nvSpPr>
        <p:spPr>
          <a:xfrm>
            <a:off x="539552" y="1556792"/>
            <a:ext cx="8229600" cy="5112568"/>
          </a:xfrm>
        </p:spPr>
        <p:txBody>
          <a:bodyPr/>
          <a:lstStyle/>
          <a:p>
            <a:r>
              <a:rPr lang="zh-CN" altLang="en-US" sz="2800" dirty="0">
                <a:solidFill>
                  <a:srgbClr val="FF0000"/>
                </a:solidFill>
              </a:rPr>
              <a:t>尽量使用私有组</a:t>
            </a:r>
            <a:r>
              <a:rPr lang="zh-CN" altLang="en-US" sz="2800" dirty="0"/>
              <a:t>，保护用户各自的文件或目录</a:t>
            </a:r>
            <a:endParaRPr lang="en-US" altLang="zh-CN" sz="2800" dirty="0"/>
          </a:p>
          <a:p>
            <a:r>
              <a:rPr lang="zh-CN" altLang="en-US" sz="2800" dirty="0"/>
              <a:t>把权限设置为 </a:t>
            </a:r>
            <a:r>
              <a:rPr lang="en-US" altLang="zh-CN" sz="2800" dirty="0">
                <a:solidFill>
                  <a:schemeClr val="accent6">
                    <a:lumMod val="75000"/>
                  </a:schemeClr>
                </a:solidFill>
              </a:rPr>
              <a:t>777</a:t>
            </a:r>
            <a:r>
              <a:rPr lang="zh-CN" altLang="en-US" sz="2800" dirty="0">
                <a:solidFill>
                  <a:schemeClr val="accent6">
                    <a:lumMod val="75000"/>
                  </a:schemeClr>
                </a:solidFill>
              </a:rPr>
              <a:t>或</a:t>
            </a:r>
            <a:r>
              <a:rPr lang="en-US" altLang="zh-CN" sz="2800" dirty="0">
                <a:solidFill>
                  <a:schemeClr val="accent6">
                    <a:lumMod val="75000"/>
                  </a:schemeClr>
                </a:solidFill>
              </a:rPr>
              <a:t>666 </a:t>
            </a:r>
            <a:r>
              <a:rPr lang="zh-CN" altLang="en-US" sz="2800" dirty="0"/>
              <a:t>的所有用户可读写的权限是不明智的，应该</a:t>
            </a:r>
            <a:r>
              <a:rPr lang="zh-CN" altLang="en-US" sz="2800" dirty="0">
                <a:solidFill>
                  <a:srgbClr val="FF0000"/>
                </a:solidFill>
              </a:rPr>
              <a:t>尽量避免</a:t>
            </a:r>
            <a:r>
              <a:rPr lang="zh-CN" altLang="en-US" sz="2800" dirty="0"/>
              <a:t>使用</a:t>
            </a:r>
          </a:p>
          <a:p>
            <a:r>
              <a:rPr lang="zh-CN" altLang="en-US" sz="2800" dirty="0"/>
              <a:t>应随时了解指定给文件和目录的权限，</a:t>
            </a:r>
            <a:r>
              <a:rPr lang="zh-CN" altLang="en-US" sz="2800" dirty="0">
                <a:solidFill>
                  <a:srgbClr val="FF0000"/>
                </a:solidFill>
              </a:rPr>
              <a:t>定期检查</a:t>
            </a:r>
            <a:r>
              <a:rPr lang="zh-CN" altLang="en-US" sz="2800" dirty="0"/>
              <a:t>文件和目录以确保指定了正确的权限</a:t>
            </a:r>
          </a:p>
          <a:p>
            <a:pPr lvl="1"/>
            <a:r>
              <a:rPr lang="zh-CN" altLang="en-US" sz="2400" dirty="0"/>
              <a:t>如果在目录下发现陌生的文件请向系统管理员或安全人员报告</a:t>
            </a:r>
          </a:p>
          <a:p>
            <a:r>
              <a:rPr lang="zh-CN" altLang="en-US" sz="2800" dirty="0"/>
              <a:t>为文件和目录指定权限时请</a:t>
            </a:r>
            <a:r>
              <a:rPr lang="zh-CN" altLang="en-US" sz="2800" dirty="0">
                <a:solidFill>
                  <a:srgbClr val="FF0000"/>
                </a:solidFill>
              </a:rPr>
              <a:t>慎重</a:t>
            </a:r>
            <a:r>
              <a:rPr lang="zh-CN" altLang="en-US" sz="2800" dirty="0"/>
              <a:t>考虑只有在具有充分的理由时再将访问</a:t>
            </a:r>
            <a:r>
              <a:rPr lang="zh-CN" altLang="en-US" sz="2800" dirty="0">
                <a:solidFill>
                  <a:srgbClr val="FF0000"/>
                </a:solidFill>
              </a:rPr>
              <a:t>权限授予</a:t>
            </a:r>
            <a:r>
              <a:rPr lang="zh-CN" altLang="en-US" sz="2800" dirty="0"/>
              <a:t>他人</a:t>
            </a:r>
          </a:p>
          <a:p>
            <a:pPr lvl="1"/>
            <a:r>
              <a:rPr lang="zh-CN" altLang="en-US" sz="2400" dirty="0"/>
              <a:t>例如处理小组项目时组员可能需要访问特定的文件或目录需要让他人访问</a:t>
            </a:r>
          </a:p>
        </p:txBody>
      </p:sp>
    </p:spTree>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 特殊权限</a:t>
            </a:r>
          </a:p>
        </p:txBody>
      </p:sp>
      <p:sp>
        <p:nvSpPr>
          <p:cNvPr id="3" name="内容占位符 2"/>
          <p:cNvSpPr>
            <a:spLocks noGrp="1"/>
          </p:cNvSpPr>
          <p:nvPr>
            <p:ph idx="1"/>
          </p:nvPr>
        </p:nvSpPr>
        <p:spPr>
          <a:xfrm>
            <a:off x="611560" y="1484784"/>
            <a:ext cx="8229600" cy="4790157"/>
          </a:xfrm>
        </p:spPr>
        <p:txBody>
          <a:bodyPr/>
          <a:lstStyle/>
          <a:p>
            <a:r>
              <a:rPr lang="zh-CN" altLang="en-US" b="1" dirty="0">
                <a:solidFill>
                  <a:schemeClr val="accent1">
                    <a:lumMod val="50000"/>
                  </a:schemeClr>
                </a:solidFill>
                <a:effectLst>
                  <a:outerShdw blurRad="38100" dist="38100" dir="2700000" algn="tl">
                    <a:srgbClr val="000000">
                      <a:alpha val="43137"/>
                    </a:srgbClr>
                  </a:outerShdw>
                </a:effectLst>
              </a:rPr>
              <a:t>可执行文件</a:t>
            </a:r>
            <a:r>
              <a:rPr lang="zh-CN" altLang="en-US" dirty="0"/>
              <a:t>的特殊权限</a:t>
            </a:r>
          </a:p>
          <a:p>
            <a:pPr lvl="1"/>
            <a:r>
              <a:rPr lang="en-US" altLang="zh-CN" b="1" dirty="0" err="1">
                <a:solidFill>
                  <a:srgbClr val="FF0000"/>
                </a:solidFill>
              </a:rPr>
              <a:t>suid</a:t>
            </a:r>
            <a:r>
              <a:rPr lang="zh-CN" altLang="en-US" dirty="0"/>
              <a:t>：使用</a:t>
            </a:r>
            <a:r>
              <a:rPr lang="zh-CN" altLang="en-US" dirty="0">
                <a:solidFill>
                  <a:srgbClr val="FF0000"/>
                </a:solidFill>
              </a:rPr>
              <a:t>命令的所属用户的权限</a:t>
            </a:r>
            <a:r>
              <a:rPr lang="zh-CN" altLang="en-US" dirty="0"/>
              <a:t>来运行，而不是命令执行者的权限 </a:t>
            </a:r>
          </a:p>
          <a:p>
            <a:pPr lvl="1"/>
            <a:r>
              <a:rPr lang="en-US" altLang="zh-CN" b="1" dirty="0">
                <a:solidFill>
                  <a:srgbClr val="FF0000"/>
                </a:solidFill>
              </a:rPr>
              <a:t>sgid</a:t>
            </a:r>
            <a:r>
              <a:rPr lang="zh-CN" altLang="en-US" dirty="0"/>
              <a:t>：使用</a:t>
            </a:r>
            <a:r>
              <a:rPr lang="zh-CN" altLang="en-US" dirty="0">
                <a:solidFill>
                  <a:srgbClr val="FF0000"/>
                </a:solidFill>
              </a:rPr>
              <a:t>命令的组权限</a:t>
            </a:r>
            <a:r>
              <a:rPr lang="zh-CN" altLang="en-US" dirty="0"/>
              <a:t>来运行</a:t>
            </a:r>
          </a:p>
          <a:p>
            <a:r>
              <a:rPr lang="zh-CN" altLang="en-US" b="1" dirty="0">
                <a:solidFill>
                  <a:schemeClr val="accent1">
                    <a:lumMod val="50000"/>
                  </a:schemeClr>
                </a:solidFill>
                <a:effectLst>
                  <a:outerShdw blurRad="38100" dist="38100" dir="2700000" algn="tl">
                    <a:srgbClr val="000000">
                      <a:alpha val="43137"/>
                    </a:srgbClr>
                  </a:outerShdw>
                </a:effectLst>
              </a:rPr>
              <a:t>目录</a:t>
            </a:r>
            <a:r>
              <a:rPr lang="zh-CN" altLang="en-US" dirty="0"/>
              <a:t>的特殊权限</a:t>
            </a:r>
          </a:p>
          <a:p>
            <a:pPr lvl="1"/>
            <a:r>
              <a:rPr lang="en-US" altLang="zh-CN" b="1" dirty="0">
                <a:solidFill>
                  <a:srgbClr val="FF0000"/>
                </a:solidFill>
              </a:rPr>
              <a:t>sgid</a:t>
            </a:r>
            <a:r>
              <a:rPr lang="zh-CN" altLang="en-US" dirty="0"/>
              <a:t>：在设置了 </a:t>
            </a:r>
            <a:r>
              <a:rPr lang="en-US" altLang="zh-CN" dirty="0"/>
              <a:t>sgid </a:t>
            </a:r>
            <a:r>
              <a:rPr lang="zh-CN" altLang="en-US" dirty="0"/>
              <a:t>权限的目录中创建的文件会具备该</a:t>
            </a:r>
            <a:r>
              <a:rPr lang="zh-CN" altLang="en-US" dirty="0">
                <a:solidFill>
                  <a:srgbClr val="FF0000"/>
                </a:solidFill>
              </a:rPr>
              <a:t>目录的组权限</a:t>
            </a:r>
          </a:p>
          <a:p>
            <a:pPr lvl="1"/>
            <a:r>
              <a:rPr lang="en-US" altLang="zh-CN" b="1" dirty="0">
                <a:solidFill>
                  <a:srgbClr val="FF0000"/>
                </a:solidFill>
              </a:rPr>
              <a:t>sticky-bit</a:t>
            </a:r>
            <a:r>
              <a:rPr lang="zh-CN" altLang="en-US" dirty="0"/>
              <a:t>：在带有粘滞位的目录中的文件只能被文件的</a:t>
            </a:r>
            <a:r>
              <a:rPr lang="zh-CN" altLang="en-US" dirty="0">
                <a:solidFill>
                  <a:srgbClr val="FF0000"/>
                </a:solidFill>
              </a:rPr>
              <a:t>所属用户和</a:t>
            </a:r>
            <a:r>
              <a:rPr lang="en-US" altLang="zh-CN" dirty="0">
                <a:solidFill>
                  <a:srgbClr val="FF0000"/>
                </a:solidFill>
              </a:rPr>
              <a:t>root</a:t>
            </a:r>
            <a:r>
              <a:rPr lang="zh-CN" altLang="en-US" dirty="0">
                <a:solidFill>
                  <a:srgbClr val="FF0000"/>
                </a:solidFill>
              </a:rPr>
              <a:t>用户</a:t>
            </a:r>
            <a:r>
              <a:rPr lang="zh-CN" altLang="en-US" dirty="0" smtClean="0">
                <a:solidFill>
                  <a:srgbClr val="FF0000"/>
                </a:solidFill>
              </a:rPr>
              <a:t>删除、移动</a:t>
            </a:r>
            <a:r>
              <a:rPr lang="zh-CN" altLang="en-US" dirty="0" smtClean="0"/>
              <a:t>，</a:t>
            </a:r>
            <a:r>
              <a:rPr lang="zh-CN" altLang="en-US" dirty="0"/>
              <a:t>不管该目录的写入权限是如何设置的</a:t>
            </a:r>
          </a:p>
        </p:txBody>
      </p:sp>
    </p:spTree>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特殊权限</a:t>
            </a:r>
            <a:r>
              <a:rPr lang="en-US" altLang="zh-CN" dirty="0"/>
              <a:t>—</a:t>
            </a:r>
            <a:r>
              <a:rPr lang="zh-CN" altLang="en-US" dirty="0"/>
              <a:t>文字表示方法</a:t>
            </a:r>
          </a:p>
        </p:txBody>
      </p:sp>
      <p:sp>
        <p:nvSpPr>
          <p:cNvPr id="3" name="内容占位符 2"/>
          <p:cNvSpPr>
            <a:spLocks noGrp="1"/>
          </p:cNvSpPr>
          <p:nvPr>
            <p:ph idx="1"/>
          </p:nvPr>
        </p:nvSpPr>
        <p:spPr>
          <a:xfrm>
            <a:off x="457200" y="1484785"/>
            <a:ext cx="8229600" cy="2736304"/>
          </a:xfrm>
        </p:spPr>
        <p:txBody>
          <a:bodyPr/>
          <a:lstStyle/>
          <a:p>
            <a:r>
              <a:rPr lang="en-US" altLang="zh-CN" dirty="0"/>
              <a:t>SUID</a:t>
            </a:r>
            <a:r>
              <a:rPr lang="zh-CN" altLang="en-US" dirty="0"/>
              <a:t>和</a:t>
            </a:r>
            <a:r>
              <a:rPr lang="en-US" altLang="zh-CN" dirty="0"/>
              <a:t>SGID</a:t>
            </a:r>
            <a:r>
              <a:rPr lang="zh-CN" altLang="en-US" dirty="0"/>
              <a:t>用</a:t>
            </a:r>
            <a:r>
              <a:rPr lang="en-US" altLang="zh-CN" dirty="0">
                <a:solidFill>
                  <a:srgbClr val="FF0000"/>
                </a:solidFill>
              </a:rPr>
              <a:t>s</a:t>
            </a:r>
            <a:r>
              <a:rPr lang="zh-CN" altLang="en-US" dirty="0"/>
              <a:t>表示；</a:t>
            </a:r>
            <a:r>
              <a:rPr lang="en-US" altLang="zh-CN" dirty="0"/>
              <a:t>Sticky-bit</a:t>
            </a:r>
            <a:r>
              <a:rPr lang="zh-CN" altLang="en-US" dirty="0"/>
              <a:t>用</a:t>
            </a:r>
            <a:r>
              <a:rPr lang="en-US" altLang="zh-CN" dirty="0">
                <a:solidFill>
                  <a:srgbClr val="FF0000"/>
                </a:solidFill>
              </a:rPr>
              <a:t>t</a:t>
            </a:r>
            <a:r>
              <a:rPr lang="zh-CN" altLang="en-US" dirty="0"/>
              <a:t>表示</a:t>
            </a:r>
          </a:p>
          <a:p>
            <a:pPr lvl="1"/>
            <a:r>
              <a:rPr lang="en-US" altLang="zh-CN" dirty="0">
                <a:solidFill>
                  <a:srgbClr val="FF0000"/>
                </a:solidFill>
              </a:rPr>
              <a:t>SUID</a:t>
            </a:r>
            <a:r>
              <a:rPr lang="zh-CN" altLang="en-US" dirty="0"/>
              <a:t>是占用</a:t>
            </a:r>
            <a:r>
              <a:rPr lang="zh-CN" altLang="en-US" dirty="0">
                <a:solidFill>
                  <a:srgbClr val="FF0000"/>
                </a:solidFill>
              </a:rPr>
              <a:t>属主的</a:t>
            </a:r>
            <a:r>
              <a:rPr lang="en-US" altLang="zh-CN" dirty="0">
                <a:solidFill>
                  <a:srgbClr val="FF0000"/>
                </a:solidFill>
              </a:rPr>
              <a:t>x</a:t>
            </a:r>
            <a:r>
              <a:rPr lang="zh-CN" altLang="en-US" dirty="0">
                <a:solidFill>
                  <a:srgbClr val="FF0000"/>
                </a:solidFill>
              </a:rPr>
              <a:t>位置</a:t>
            </a:r>
            <a:r>
              <a:rPr lang="zh-CN" altLang="en-US" dirty="0"/>
              <a:t>来表示</a:t>
            </a:r>
            <a:endParaRPr lang="en-US" altLang="zh-CN" dirty="0"/>
          </a:p>
          <a:p>
            <a:pPr lvl="1"/>
            <a:r>
              <a:rPr lang="en-US" altLang="zh-CN" dirty="0">
                <a:solidFill>
                  <a:srgbClr val="FF0000"/>
                </a:solidFill>
              </a:rPr>
              <a:t>SGID</a:t>
            </a:r>
            <a:r>
              <a:rPr lang="zh-CN" altLang="en-US" dirty="0"/>
              <a:t>是占用</a:t>
            </a:r>
            <a:r>
              <a:rPr lang="zh-CN" altLang="en-US" dirty="0">
                <a:solidFill>
                  <a:srgbClr val="FF0000"/>
                </a:solidFill>
              </a:rPr>
              <a:t>组的</a:t>
            </a:r>
            <a:r>
              <a:rPr lang="en-US" altLang="zh-CN" dirty="0">
                <a:solidFill>
                  <a:srgbClr val="FF0000"/>
                </a:solidFill>
              </a:rPr>
              <a:t>x</a:t>
            </a:r>
            <a:r>
              <a:rPr lang="zh-CN" altLang="en-US" dirty="0">
                <a:solidFill>
                  <a:srgbClr val="FF0000"/>
                </a:solidFill>
              </a:rPr>
              <a:t>位置</a:t>
            </a:r>
            <a:r>
              <a:rPr lang="zh-CN" altLang="en-US" dirty="0"/>
              <a:t>来表示</a:t>
            </a:r>
            <a:endParaRPr lang="en-US" altLang="zh-CN" dirty="0"/>
          </a:p>
          <a:p>
            <a:pPr lvl="1"/>
            <a:r>
              <a:rPr lang="en-US" altLang="zh-CN" dirty="0">
                <a:solidFill>
                  <a:srgbClr val="FF0000"/>
                </a:solidFill>
              </a:rPr>
              <a:t>sticky-bit</a:t>
            </a:r>
            <a:r>
              <a:rPr lang="zh-CN" altLang="en-US" dirty="0"/>
              <a:t>是占用</a:t>
            </a:r>
            <a:r>
              <a:rPr lang="zh-CN" altLang="en-US" dirty="0">
                <a:solidFill>
                  <a:srgbClr val="FF0000"/>
                </a:solidFill>
              </a:rPr>
              <a:t>其他人的</a:t>
            </a:r>
            <a:r>
              <a:rPr lang="en-US" altLang="zh-CN" dirty="0">
                <a:solidFill>
                  <a:srgbClr val="FF0000"/>
                </a:solidFill>
              </a:rPr>
              <a:t>x</a:t>
            </a:r>
            <a:r>
              <a:rPr lang="zh-CN" altLang="en-US" dirty="0">
                <a:solidFill>
                  <a:srgbClr val="FF0000"/>
                </a:solidFill>
              </a:rPr>
              <a:t>位置</a:t>
            </a:r>
            <a:r>
              <a:rPr lang="zh-CN" altLang="en-US" dirty="0"/>
              <a:t>来表示</a:t>
            </a:r>
          </a:p>
          <a:p>
            <a:r>
              <a:rPr lang="zh-CN" altLang="en-US" dirty="0"/>
              <a:t>例如</a:t>
            </a:r>
            <a:endParaRPr lang="en-US" altLang="zh-CN" dirty="0"/>
          </a:p>
          <a:p>
            <a:pPr lvl="1">
              <a:buNone/>
            </a:pPr>
            <a:endParaRPr kumimoji="1" lang="en-US" altLang="zh-CN" sz="1600" b="1" kern="1200" dirty="0">
              <a:solidFill>
                <a:schemeClr val="accent6">
                  <a:lumMod val="75000"/>
                </a:schemeClr>
              </a:solidFill>
              <a:latin typeface="Courier New" pitchFamily="49" charset="0"/>
              <a:ea typeface="宋体" pitchFamily="2" charset="-122"/>
              <a:cs typeface="+mn-cs"/>
            </a:endParaRPr>
          </a:p>
        </p:txBody>
      </p:sp>
      <p:sp>
        <p:nvSpPr>
          <p:cNvPr id="7" name="文本框 6">
            <a:extLst>
              <a:ext uri="{FF2B5EF4-FFF2-40B4-BE49-F238E27FC236}">
                <a16:creationId xmlns:a16="http://schemas.microsoft.com/office/drawing/2014/main" id="{D66E78C0-D318-49AA-BED8-7074DAFED813}"/>
              </a:ext>
            </a:extLst>
          </p:cNvPr>
          <p:cNvSpPr txBox="1"/>
          <p:nvPr/>
        </p:nvSpPr>
        <p:spPr>
          <a:xfrm>
            <a:off x="0" y="4390172"/>
            <a:ext cx="9252520" cy="1631216"/>
          </a:xfrm>
          <a:prstGeom prst="rect">
            <a:avLst/>
          </a:prstGeom>
          <a:noFill/>
        </p:spPr>
        <p:txBody>
          <a:bodyPr wrap="square">
            <a:spAutoFit/>
          </a:bodyPr>
          <a:lstStyle/>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rw</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s</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xr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-x 1 root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root</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23420  2010-08-11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usr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/bin/passwd</a:t>
            </a:r>
          </a:p>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rwxr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s</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-x 1 root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tty</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11084  03-10 21:28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usr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/bin/write</a:t>
            </a:r>
          </a:p>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rwsr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s</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-x 1 root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root</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315416 2010-01-06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usr</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/bin/crontab</a:t>
            </a:r>
          </a:p>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drwxrw</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s</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--- 3 root admin 4096   06-18 01:01 /admin/sales</a:t>
            </a:r>
          </a:p>
          <a:p>
            <a:pPr marL="0" marR="0" lvl="1" indent="-285750" algn="just" defTabSz="914400" rtl="0" eaLnBrk="0" fontAlgn="base" latinLnBrk="0" hangingPunct="0">
              <a:lnSpc>
                <a:spcPct val="100000"/>
              </a:lnSpc>
              <a:spcBef>
                <a:spcPts val="0"/>
              </a:spcBef>
              <a:spcAft>
                <a:spcPct val="0"/>
              </a:spcAft>
              <a:buClr>
                <a:srgbClr val="3333CC"/>
              </a:buClr>
              <a:buSzPct val="60000"/>
              <a:buFont typeface="Wingdings" panose="05000000000000000000" pitchFamily="2" charset="2"/>
              <a:buNone/>
              <a:tabLst/>
              <a:defRPr/>
            </a:pP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drwxrwxrw</a:t>
            </a:r>
            <a:r>
              <a:rPr kumimoji="1" lang="en-US" altLang="zh-CN" sz="2000" b="1" i="0" u="none" strike="noStrike" kern="1200" cap="none" spc="0" normalizeH="0" baseline="0" noProof="0" dirty="0" err="1">
                <a:ln>
                  <a:noFill/>
                </a:ln>
                <a:solidFill>
                  <a:srgbClr val="FF0000"/>
                </a:solidFill>
                <a:effectLst/>
                <a:uLnTx/>
                <a:uFillTx/>
                <a:latin typeface="Courier New" pitchFamily="49" charset="0"/>
                <a:ea typeface="宋体" pitchFamily="2" charset="-122"/>
                <a:cs typeface="+mn-cs"/>
              </a:rPr>
              <a:t>t</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5 root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root</a:t>
            </a:r>
            <a:r>
              <a:rPr kumimoji="1" lang="en-US" altLang="zh-CN"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rPr>
              <a:t>  4096   06-18 01:01 /</a:t>
            </a:r>
            <a:r>
              <a:rPr kumimoji="1" lang="en-US" altLang="zh-CN" sz="2000" b="1" i="0" u="none" strike="noStrike" kern="1200" cap="none" spc="0" normalizeH="0" baseline="0" noProof="0" dirty="0" err="1">
                <a:ln>
                  <a:noFill/>
                </a:ln>
                <a:solidFill>
                  <a:srgbClr val="E7BB01">
                    <a:lumMod val="75000"/>
                  </a:srgbClr>
                </a:solidFill>
                <a:effectLst/>
                <a:uLnTx/>
                <a:uFillTx/>
                <a:latin typeface="Courier New" pitchFamily="49" charset="0"/>
                <a:ea typeface="宋体" pitchFamily="2" charset="-122"/>
                <a:cs typeface="+mn-cs"/>
              </a:rPr>
              <a:t>tmp</a:t>
            </a:r>
            <a:endParaRPr kumimoji="1" lang="zh-CN" altLang="en-US" sz="2000" b="1" i="0" u="none" strike="noStrike" kern="1200" cap="none" spc="0" normalizeH="0" baseline="0" noProof="0" dirty="0">
              <a:ln>
                <a:noFill/>
              </a:ln>
              <a:solidFill>
                <a:srgbClr val="E7BB01">
                  <a:lumMod val="75000"/>
                </a:srgbClr>
              </a:solidFill>
              <a:effectLst/>
              <a:uLnTx/>
              <a:uFillTx/>
              <a:latin typeface="Courier New" pitchFamily="49" charset="0"/>
              <a:ea typeface="宋体" pitchFamily="2" charset="-122"/>
              <a:cs typeface="+mn-cs"/>
            </a:endParaRPr>
          </a:p>
        </p:txBody>
      </p:sp>
    </p:spTree>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特殊权限</a:t>
            </a:r>
            <a:r>
              <a:rPr lang="en-US" altLang="zh-CN" dirty="0"/>
              <a:t>—</a:t>
            </a:r>
            <a:r>
              <a:rPr lang="zh-CN" altLang="en-US" dirty="0"/>
              <a:t>数值表示方法</a:t>
            </a:r>
          </a:p>
        </p:txBody>
      </p:sp>
      <p:sp>
        <p:nvSpPr>
          <p:cNvPr id="3" name="内容占位符 2"/>
          <p:cNvSpPr>
            <a:spLocks noGrp="1"/>
          </p:cNvSpPr>
          <p:nvPr>
            <p:ph idx="1"/>
          </p:nvPr>
        </p:nvSpPr>
        <p:spPr>
          <a:xfrm>
            <a:off x="681581" y="2389422"/>
            <a:ext cx="8229600" cy="1008112"/>
          </a:xfrm>
        </p:spPr>
        <p:txBody>
          <a:bodyPr/>
          <a:lstStyle/>
          <a:p>
            <a:r>
              <a:rPr lang="zh-CN" altLang="en-US" sz="2800" dirty="0"/>
              <a:t>使用一个单独的数字模式（</a:t>
            </a:r>
            <a:r>
              <a:rPr lang="en-US" altLang="zh-CN" sz="2800" dirty="0">
                <a:solidFill>
                  <a:srgbClr val="C00000"/>
                </a:solidFill>
              </a:rPr>
              <a:t>n0</a:t>
            </a:r>
            <a:r>
              <a:rPr lang="zh-CN" altLang="en-US" sz="2800" dirty="0"/>
              <a:t>）由不同权限所对应的</a:t>
            </a:r>
            <a:r>
              <a:rPr lang="zh-CN" altLang="en-US" sz="2800" dirty="0">
                <a:solidFill>
                  <a:srgbClr val="FF0000"/>
                </a:solidFill>
              </a:rPr>
              <a:t>数字相加</a:t>
            </a:r>
            <a:r>
              <a:rPr lang="zh-CN" altLang="en-US" sz="2800" dirty="0"/>
              <a:t>得到一个表示特殊权限的八进制数</a:t>
            </a:r>
          </a:p>
        </p:txBody>
      </p:sp>
      <p:sp>
        <p:nvSpPr>
          <p:cNvPr id="7" name="Text Box 3"/>
          <p:cNvSpPr txBox="1">
            <a:spLocks noChangeArrowheads="1"/>
          </p:cNvSpPr>
          <p:nvPr/>
        </p:nvSpPr>
        <p:spPr bwMode="auto">
          <a:xfrm>
            <a:off x="1051419" y="1650178"/>
            <a:ext cx="7345362" cy="523220"/>
          </a:xfrm>
          <a:prstGeom prst="rect">
            <a:avLst/>
          </a:prstGeom>
          <a:noFill/>
          <a:ln w="9525">
            <a:solidFill>
              <a:schemeClr val="tx1"/>
            </a:solidFill>
            <a:miter lim="800000"/>
            <a:headEnd/>
            <a:tailEnd/>
          </a:ln>
          <a:effectLst/>
        </p:spPr>
        <p:txBody>
          <a:bodyPr>
            <a:spAutoFit/>
          </a:bodyPr>
          <a:lstStyle/>
          <a:p>
            <a:r>
              <a:rPr lang="en-US" altLang="zh-CN" sz="2800" b="1" dirty="0">
                <a:latin typeface="Courier New" pitchFamily="49" charset="0"/>
              </a:rPr>
              <a:t>chmod</a:t>
            </a:r>
            <a:r>
              <a:rPr lang="en-US" altLang="zh-CN" sz="2800" dirty="0">
                <a:solidFill>
                  <a:srgbClr val="006400"/>
                </a:solidFill>
                <a:latin typeface="Arial Unicode MS" pitchFamily="34" charset="-122"/>
              </a:rPr>
              <a:t>  </a:t>
            </a:r>
            <a:r>
              <a:rPr lang="en-US" altLang="zh-CN" sz="2800" dirty="0">
                <a:solidFill>
                  <a:srgbClr val="C00000"/>
                </a:solidFill>
                <a:latin typeface="Arial Unicode MS" pitchFamily="34" charset="-122"/>
              </a:rPr>
              <a:t>n0</a:t>
            </a:r>
            <a:r>
              <a:rPr lang="en-US" altLang="zh-CN" sz="2800" b="1" dirty="0">
                <a:solidFill>
                  <a:srgbClr val="002060"/>
                </a:solidFill>
                <a:latin typeface="Courier New" pitchFamily="49" charset="0"/>
              </a:rPr>
              <a:t>n1n2n3</a:t>
            </a:r>
            <a:r>
              <a:rPr lang="en-US" altLang="zh-CN" sz="2800" dirty="0">
                <a:solidFill>
                  <a:srgbClr val="006400"/>
                </a:solidFill>
                <a:latin typeface="Arial Unicode MS" pitchFamily="34" charset="-122"/>
              </a:rPr>
              <a:t>  </a:t>
            </a:r>
            <a:r>
              <a:rPr lang="zh-CN" altLang="en-US" sz="2400" b="0" dirty="0">
                <a:solidFill>
                  <a:schemeClr val="accent6">
                    <a:lumMod val="75000"/>
                  </a:schemeClr>
                </a:solidFill>
                <a:latin typeface="Arial Unicode MS" pitchFamily="34" charset="-122"/>
                <a:ea typeface="黑体" pitchFamily="49" charset="-122"/>
              </a:rPr>
              <a:t>文件或目录名</a:t>
            </a:r>
            <a:r>
              <a:rPr lang="zh-CN" altLang="en-US" sz="2400" dirty="0">
                <a:solidFill>
                  <a:schemeClr val="accent6">
                    <a:lumMod val="75000"/>
                  </a:schemeClr>
                </a:solidFill>
                <a:latin typeface="Arial Unicode MS" pitchFamily="34" charset="-122"/>
              </a:rPr>
              <a:t> </a:t>
            </a:r>
            <a:endParaRPr lang="en-US" altLang="zh-CN" sz="2400" dirty="0">
              <a:solidFill>
                <a:schemeClr val="accent6">
                  <a:lumMod val="75000"/>
                </a:schemeClr>
              </a:solidFill>
              <a:latin typeface="Arial Unicode MS" pitchFamily="34" charset="-122"/>
            </a:endParaRPr>
          </a:p>
        </p:txBody>
      </p:sp>
      <p:graphicFrame>
        <p:nvGraphicFramePr>
          <p:cNvPr id="8" name="Group 103"/>
          <p:cNvGraphicFramePr>
            <a:graphicFrameLocks noGrp="1"/>
          </p:cNvGraphicFramePr>
          <p:nvPr>
            <p:extLst>
              <p:ext uri="{D42A27DB-BD31-4B8C-83A1-F6EECF244321}">
                <p14:modId xmlns:p14="http://schemas.microsoft.com/office/powerpoint/2010/main" val="3378201722"/>
              </p:ext>
            </p:extLst>
          </p:nvPr>
        </p:nvGraphicFramePr>
        <p:xfrm>
          <a:off x="691925" y="3829582"/>
          <a:ext cx="3240361" cy="2034970"/>
        </p:xfrm>
        <a:graphic>
          <a:graphicData uri="http://schemas.openxmlformats.org/drawingml/2006/table">
            <a:tbl>
              <a:tblPr/>
              <a:tblGrid>
                <a:gridCol w="2016224">
                  <a:extLst>
                    <a:ext uri="{9D8B030D-6E8A-4147-A177-3AD203B41FA5}">
                      <a16:colId xmlns:a16="http://schemas.microsoft.com/office/drawing/2014/main" val="20000"/>
                    </a:ext>
                  </a:extLst>
                </a:gridCol>
                <a:gridCol w="1224137">
                  <a:extLst>
                    <a:ext uri="{9D8B030D-6E8A-4147-A177-3AD203B41FA5}">
                      <a16:colId xmlns:a16="http://schemas.microsoft.com/office/drawing/2014/main" val="20001"/>
                    </a:ext>
                  </a:extLst>
                </a:gridCol>
              </a:tblGrid>
              <a:tr h="36173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0" i="0" u="none" strike="noStrike" cap="none" normalizeH="0" baseline="0" dirty="0">
                          <a:ln>
                            <a:noFill/>
                          </a:ln>
                          <a:solidFill>
                            <a:schemeClr val="tx1"/>
                          </a:solidFill>
                          <a:effectLst/>
                          <a:latin typeface="Times New Roman" pitchFamily="18" charset="0"/>
                          <a:ea typeface="黑体" pitchFamily="49" charset="-122"/>
                        </a:rPr>
                        <a:t>权限</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0" i="0" u="none" strike="noStrike" cap="none" normalizeH="0" baseline="0" dirty="0">
                          <a:ln>
                            <a:noFill/>
                          </a:ln>
                          <a:solidFill>
                            <a:schemeClr val="tx1"/>
                          </a:solidFill>
                          <a:effectLst/>
                          <a:latin typeface="Times New Roman" pitchFamily="18" charset="0"/>
                          <a:ea typeface="黑体" pitchFamily="49" charset="-122"/>
                        </a:rPr>
                        <a:t>对应数字</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6456">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dirty="0">
                          <a:ln>
                            <a:noFill/>
                          </a:ln>
                          <a:solidFill>
                            <a:srgbClr val="993300"/>
                          </a:solidFill>
                          <a:effectLst/>
                          <a:latin typeface="Courier New" pitchFamily="49" charset="0"/>
                          <a:ea typeface="黑体" pitchFamily="49" charset="-122"/>
                        </a:rPr>
                        <a:t>SUID</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4</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2352">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cap="none" normalizeH="0" baseline="0" dirty="0">
                          <a:ln>
                            <a:noFill/>
                          </a:ln>
                          <a:solidFill>
                            <a:srgbClr val="993300"/>
                          </a:solidFill>
                          <a:effectLst/>
                          <a:latin typeface="Courier New" pitchFamily="49" charset="0"/>
                          <a:ea typeface="黑体" pitchFamily="49" charset="-122"/>
                        </a:rPr>
                        <a:t>SGID</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2</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09961">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2000" b="1" i="0" u="none" strike="noStrike" kern="1200" cap="none" normalizeH="0" baseline="0" dirty="0">
                          <a:ln>
                            <a:noFill/>
                          </a:ln>
                          <a:solidFill>
                            <a:srgbClr val="993300"/>
                          </a:solidFill>
                          <a:effectLst/>
                          <a:latin typeface="Courier New" pitchFamily="49" charset="0"/>
                          <a:ea typeface="黑体" pitchFamily="49" charset="-122"/>
                          <a:cs typeface="+mn-cs"/>
                        </a:rPr>
                        <a:t>Sticky-bit</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1</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635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09961">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a:ln>
                            <a:noFill/>
                          </a:ln>
                          <a:solidFill>
                            <a:srgbClr val="993300"/>
                          </a:solidFill>
                          <a:effectLst/>
                          <a:latin typeface="Courier New" pitchFamily="49" charset="0"/>
                          <a:ea typeface="黑体" pitchFamily="49" charset="-122"/>
                        </a:rPr>
                        <a:t>-</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zh-CN" altLang="en-US" sz="2000" b="1" i="0" u="none" strike="noStrike" cap="none" normalizeH="0" baseline="0" dirty="0">
                          <a:ln>
                            <a:noFill/>
                          </a:ln>
                          <a:solidFill>
                            <a:srgbClr val="0000CC"/>
                          </a:solidFill>
                          <a:effectLst/>
                          <a:latin typeface="Courier New" pitchFamily="49" charset="0"/>
                          <a:ea typeface="黑体" pitchFamily="49" charset="-122"/>
                        </a:rPr>
                        <a:t>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635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9" name="Text Box 24"/>
          <p:cNvSpPr txBox="1">
            <a:spLocks noChangeArrowheads="1"/>
          </p:cNvSpPr>
          <p:nvPr/>
        </p:nvSpPr>
        <p:spPr bwMode="auto">
          <a:xfrm>
            <a:off x="4117898" y="3325526"/>
            <a:ext cx="2311400" cy="519113"/>
          </a:xfrm>
          <a:prstGeom prst="rect">
            <a:avLst/>
          </a:prstGeom>
          <a:noFill/>
          <a:ln w="9525">
            <a:noFill/>
            <a:miter lim="800000"/>
            <a:headEnd/>
            <a:tailEnd/>
          </a:ln>
          <a:effectLst/>
        </p:spPr>
        <p:txBody>
          <a:bodyPr wrap="none">
            <a:spAutoFit/>
          </a:bodyPr>
          <a:lstStyle/>
          <a:p>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rwsr</a:t>
            </a:r>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xr</a:t>
            </a:r>
            <a:r>
              <a:rPr lang="en-US" altLang="zh-CN" sz="2800" dirty="0">
                <a:solidFill>
                  <a:srgbClr val="0000CC"/>
                </a:solidFill>
                <a:latin typeface="Courier New" pitchFamily="49" charset="0"/>
              </a:rPr>
              <a:t>-x</a:t>
            </a:r>
          </a:p>
        </p:txBody>
      </p:sp>
      <p:sp>
        <p:nvSpPr>
          <p:cNvPr id="10" name="Text Box 25"/>
          <p:cNvSpPr txBox="1">
            <a:spLocks noChangeArrowheads="1"/>
          </p:cNvSpPr>
          <p:nvPr/>
        </p:nvSpPr>
        <p:spPr bwMode="auto">
          <a:xfrm>
            <a:off x="4119485" y="3858926"/>
            <a:ext cx="2311400" cy="519113"/>
          </a:xfrm>
          <a:prstGeom prst="rect">
            <a:avLst/>
          </a:prstGeom>
          <a:noFill/>
          <a:ln w="9525">
            <a:noFill/>
            <a:miter lim="800000"/>
            <a:headEnd/>
            <a:tailEnd/>
          </a:ln>
          <a:effectLst/>
        </p:spPr>
        <p:txBody>
          <a:bodyPr wrap="none">
            <a:spAutoFit/>
          </a:bodyPr>
          <a:lstStyle/>
          <a:p>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rwxr</a:t>
            </a:r>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sr</a:t>
            </a:r>
            <a:r>
              <a:rPr lang="en-US" altLang="zh-CN" sz="2800" dirty="0">
                <a:solidFill>
                  <a:srgbClr val="0000CC"/>
                </a:solidFill>
                <a:latin typeface="Courier New" pitchFamily="49" charset="0"/>
              </a:rPr>
              <a:t>-x</a:t>
            </a:r>
          </a:p>
        </p:txBody>
      </p:sp>
      <p:sp>
        <p:nvSpPr>
          <p:cNvPr id="11" name="Text Box 26"/>
          <p:cNvSpPr txBox="1">
            <a:spLocks noChangeArrowheads="1"/>
          </p:cNvSpPr>
          <p:nvPr/>
        </p:nvSpPr>
        <p:spPr bwMode="auto">
          <a:xfrm>
            <a:off x="4119485" y="4405646"/>
            <a:ext cx="2311400" cy="519113"/>
          </a:xfrm>
          <a:prstGeom prst="rect">
            <a:avLst/>
          </a:prstGeom>
          <a:noFill/>
          <a:ln w="9525">
            <a:noFill/>
            <a:miter lim="800000"/>
            <a:headEnd/>
            <a:tailEnd/>
          </a:ln>
          <a:effectLst/>
        </p:spPr>
        <p:txBody>
          <a:bodyPr wrap="none">
            <a:spAutoFit/>
          </a:bodyPr>
          <a:lstStyle/>
          <a:p>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rwsr</a:t>
            </a:r>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sr</a:t>
            </a:r>
            <a:r>
              <a:rPr lang="en-US" altLang="zh-CN" sz="2800" dirty="0">
                <a:solidFill>
                  <a:srgbClr val="0000CC"/>
                </a:solidFill>
                <a:latin typeface="Courier New" pitchFamily="49" charset="0"/>
              </a:rPr>
              <a:t>-x</a:t>
            </a:r>
          </a:p>
        </p:txBody>
      </p:sp>
      <p:sp>
        <p:nvSpPr>
          <p:cNvPr id="12" name="Text Box 27"/>
          <p:cNvSpPr txBox="1">
            <a:spLocks noChangeArrowheads="1"/>
          </p:cNvSpPr>
          <p:nvPr/>
        </p:nvSpPr>
        <p:spPr bwMode="auto">
          <a:xfrm>
            <a:off x="4119485" y="4996792"/>
            <a:ext cx="2311400" cy="519113"/>
          </a:xfrm>
          <a:prstGeom prst="rect">
            <a:avLst/>
          </a:prstGeom>
          <a:noFill/>
          <a:ln w="9525">
            <a:noFill/>
            <a:miter lim="800000"/>
            <a:headEnd/>
            <a:tailEnd/>
          </a:ln>
          <a:effectLst/>
        </p:spPr>
        <p:txBody>
          <a:bodyPr wrap="none">
            <a:spAutoFit/>
          </a:bodyPr>
          <a:lstStyle/>
          <a:p>
            <a:r>
              <a:rPr lang="en-US" altLang="zh-CN" sz="2800" dirty="0" err="1">
                <a:solidFill>
                  <a:srgbClr val="0000CC"/>
                </a:solidFill>
                <a:latin typeface="Courier New" pitchFamily="49" charset="0"/>
              </a:rPr>
              <a:t>drwxrws</a:t>
            </a:r>
            <a:r>
              <a:rPr lang="en-US" altLang="zh-CN" sz="2800" dirty="0">
                <a:solidFill>
                  <a:srgbClr val="0000CC"/>
                </a:solidFill>
                <a:latin typeface="Courier New" pitchFamily="49" charset="0"/>
              </a:rPr>
              <a:t>---</a:t>
            </a:r>
          </a:p>
        </p:txBody>
      </p:sp>
      <p:sp>
        <p:nvSpPr>
          <p:cNvPr id="13" name="Text Box 28"/>
          <p:cNvSpPr txBox="1">
            <a:spLocks noChangeArrowheads="1"/>
          </p:cNvSpPr>
          <p:nvPr/>
        </p:nvSpPr>
        <p:spPr bwMode="auto">
          <a:xfrm>
            <a:off x="7502448" y="3373151"/>
            <a:ext cx="1038349"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4755</a:t>
            </a:r>
          </a:p>
        </p:txBody>
      </p:sp>
      <p:sp>
        <p:nvSpPr>
          <p:cNvPr id="14" name="Text Box 29"/>
          <p:cNvSpPr txBox="1">
            <a:spLocks noChangeArrowheads="1"/>
          </p:cNvSpPr>
          <p:nvPr/>
        </p:nvSpPr>
        <p:spPr bwMode="auto">
          <a:xfrm>
            <a:off x="7502448" y="3906551"/>
            <a:ext cx="1110357"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2</a:t>
            </a:r>
            <a:r>
              <a:rPr lang="zh-CN" altLang="en-US" sz="2800" dirty="0">
                <a:solidFill>
                  <a:srgbClr val="0000CC"/>
                </a:solidFill>
                <a:latin typeface="Courier New" pitchFamily="49" charset="0"/>
              </a:rPr>
              <a:t>7</a:t>
            </a:r>
            <a:r>
              <a:rPr lang="en-US" altLang="zh-CN" sz="2800" dirty="0">
                <a:solidFill>
                  <a:srgbClr val="0000CC"/>
                </a:solidFill>
                <a:latin typeface="Courier New" pitchFamily="49" charset="0"/>
              </a:rPr>
              <a:t>55</a:t>
            </a:r>
          </a:p>
        </p:txBody>
      </p:sp>
      <p:sp>
        <p:nvSpPr>
          <p:cNvPr id="15" name="Text Box 30"/>
          <p:cNvSpPr txBox="1">
            <a:spLocks noChangeArrowheads="1"/>
          </p:cNvSpPr>
          <p:nvPr/>
        </p:nvSpPr>
        <p:spPr bwMode="auto">
          <a:xfrm>
            <a:off x="7502448" y="4453271"/>
            <a:ext cx="1110357"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6755</a:t>
            </a:r>
          </a:p>
        </p:txBody>
      </p:sp>
      <p:sp>
        <p:nvSpPr>
          <p:cNvPr id="16" name="Text Box 31"/>
          <p:cNvSpPr txBox="1">
            <a:spLocks noChangeArrowheads="1"/>
          </p:cNvSpPr>
          <p:nvPr/>
        </p:nvSpPr>
        <p:spPr bwMode="auto">
          <a:xfrm>
            <a:off x="7502448" y="5068800"/>
            <a:ext cx="1182365"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2770</a:t>
            </a:r>
          </a:p>
        </p:txBody>
      </p:sp>
      <p:sp>
        <p:nvSpPr>
          <p:cNvPr id="17" name="Line 32"/>
          <p:cNvSpPr>
            <a:spLocks noChangeShapeType="1"/>
          </p:cNvSpPr>
          <p:nvPr/>
        </p:nvSpPr>
        <p:spPr bwMode="auto">
          <a:xfrm>
            <a:off x="6435648" y="3627151"/>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18" name="Line 33"/>
          <p:cNvSpPr>
            <a:spLocks noChangeShapeType="1"/>
          </p:cNvSpPr>
          <p:nvPr/>
        </p:nvSpPr>
        <p:spPr bwMode="auto">
          <a:xfrm>
            <a:off x="6435648" y="4160551"/>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19" name="Line 34"/>
          <p:cNvSpPr>
            <a:spLocks noChangeShapeType="1"/>
          </p:cNvSpPr>
          <p:nvPr/>
        </p:nvSpPr>
        <p:spPr bwMode="auto">
          <a:xfrm>
            <a:off x="6452565" y="4707271"/>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20" name="Line 35"/>
          <p:cNvSpPr>
            <a:spLocks noChangeShapeType="1"/>
          </p:cNvSpPr>
          <p:nvPr/>
        </p:nvSpPr>
        <p:spPr bwMode="auto">
          <a:xfrm>
            <a:off x="6452565" y="5298417"/>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21" name="Text Box 27"/>
          <p:cNvSpPr txBox="1">
            <a:spLocks noChangeArrowheads="1"/>
          </p:cNvSpPr>
          <p:nvPr/>
        </p:nvSpPr>
        <p:spPr bwMode="auto">
          <a:xfrm>
            <a:off x="4119485" y="5542717"/>
            <a:ext cx="2311400" cy="519113"/>
          </a:xfrm>
          <a:prstGeom prst="rect">
            <a:avLst/>
          </a:prstGeom>
          <a:noFill/>
          <a:ln w="9525">
            <a:noFill/>
            <a:miter lim="800000"/>
            <a:headEnd/>
            <a:tailEnd/>
          </a:ln>
          <a:effectLst/>
        </p:spPr>
        <p:txBody>
          <a:bodyPr wrap="none">
            <a:spAutoFit/>
          </a:bodyPr>
          <a:lstStyle/>
          <a:p>
            <a:r>
              <a:rPr lang="en-US" altLang="zh-CN" sz="2800" dirty="0" err="1">
                <a:solidFill>
                  <a:srgbClr val="0000CC"/>
                </a:solidFill>
                <a:latin typeface="Courier New" pitchFamily="49" charset="0"/>
              </a:rPr>
              <a:t>drwxrwxrwt</a:t>
            </a:r>
            <a:endParaRPr lang="en-US" altLang="zh-CN" sz="2800" dirty="0">
              <a:solidFill>
                <a:srgbClr val="0000CC"/>
              </a:solidFill>
              <a:latin typeface="Courier New" pitchFamily="49" charset="0"/>
            </a:endParaRPr>
          </a:p>
        </p:txBody>
      </p:sp>
      <p:sp>
        <p:nvSpPr>
          <p:cNvPr id="22" name="Text Box 31"/>
          <p:cNvSpPr txBox="1">
            <a:spLocks noChangeArrowheads="1"/>
          </p:cNvSpPr>
          <p:nvPr/>
        </p:nvSpPr>
        <p:spPr bwMode="auto">
          <a:xfrm>
            <a:off x="7502448" y="5614725"/>
            <a:ext cx="1182365"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177</a:t>
            </a:r>
            <a:r>
              <a:rPr lang="zh-CN" altLang="en-US" sz="2800" dirty="0">
                <a:solidFill>
                  <a:srgbClr val="0000CC"/>
                </a:solidFill>
                <a:latin typeface="Courier New" pitchFamily="49" charset="0"/>
              </a:rPr>
              <a:t>7</a:t>
            </a:r>
            <a:endParaRPr lang="en-US" altLang="zh-CN" sz="2800" dirty="0">
              <a:solidFill>
                <a:srgbClr val="0000CC"/>
              </a:solidFill>
              <a:latin typeface="Courier New" pitchFamily="49" charset="0"/>
            </a:endParaRPr>
          </a:p>
        </p:txBody>
      </p:sp>
      <p:sp>
        <p:nvSpPr>
          <p:cNvPr id="23" name="Line 35"/>
          <p:cNvSpPr>
            <a:spLocks noChangeShapeType="1"/>
          </p:cNvSpPr>
          <p:nvPr/>
        </p:nvSpPr>
        <p:spPr bwMode="auto">
          <a:xfrm>
            <a:off x="6452565" y="5844342"/>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
        <p:nvSpPr>
          <p:cNvPr id="24" name="Text Box 27"/>
          <p:cNvSpPr txBox="1">
            <a:spLocks noChangeArrowheads="1"/>
          </p:cNvSpPr>
          <p:nvPr/>
        </p:nvSpPr>
        <p:spPr bwMode="auto">
          <a:xfrm>
            <a:off x="4148309" y="6046773"/>
            <a:ext cx="2332690" cy="523220"/>
          </a:xfrm>
          <a:prstGeom prst="rect">
            <a:avLst/>
          </a:prstGeom>
          <a:noFill/>
          <a:ln w="9525">
            <a:noFill/>
            <a:miter lim="800000"/>
            <a:headEnd/>
            <a:tailEnd/>
          </a:ln>
          <a:effectLst/>
        </p:spPr>
        <p:txBody>
          <a:bodyPr wrap="none">
            <a:spAutoFit/>
          </a:bodyPr>
          <a:lstStyle/>
          <a:p>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rwxr</a:t>
            </a:r>
            <a:r>
              <a:rPr lang="en-US" altLang="zh-CN" sz="2800" dirty="0">
                <a:solidFill>
                  <a:srgbClr val="0000CC"/>
                </a:solidFill>
                <a:latin typeface="Courier New" pitchFamily="49" charset="0"/>
              </a:rPr>
              <a:t>-</a:t>
            </a:r>
            <a:r>
              <a:rPr lang="en-US" altLang="zh-CN" sz="2800" dirty="0" err="1">
                <a:solidFill>
                  <a:srgbClr val="0000CC"/>
                </a:solidFill>
                <a:latin typeface="Courier New" pitchFamily="49" charset="0"/>
              </a:rPr>
              <a:t>xr</a:t>
            </a:r>
            <a:r>
              <a:rPr lang="en-US" altLang="zh-CN" sz="2800" dirty="0">
                <a:solidFill>
                  <a:srgbClr val="0000CC"/>
                </a:solidFill>
                <a:latin typeface="Courier New" pitchFamily="49" charset="0"/>
              </a:rPr>
              <a:t>-x</a:t>
            </a:r>
          </a:p>
        </p:txBody>
      </p:sp>
      <p:sp>
        <p:nvSpPr>
          <p:cNvPr id="25" name="Text Box 31"/>
          <p:cNvSpPr txBox="1">
            <a:spLocks noChangeArrowheads="1"/>
          </p:cNvSpPr>
          <p:nvPr/>
        </p:nvSpPr>
        <p:spPr bwMode="auto">
          <a:xfrm>
            <a:off x="7531272" y="6118781"/>
            <a:ext cx="1182365" cy="519113"/>
          </a:xfrm>
          <a:prstGeom prst="rect">
            <a:avLst/>
          </a:prstGeom>
          <a:noFill/>
          <a:ln w="9525">
            <a:noFill/>
            <a:miter lim="800000"/>
            <a:headEnd/>
            <a:tailEnd/>
          </a:ln>
          <a:effectLst/>
        </p:spPr>
        <p:txBody>
          <a:bodyPr wrap="square">
            <a:spAutoFit/>
          </a:bodyPr>
          <a:lstStyle/>
          <a:p>
            <a:r>
              <a:rPr lang="en-US" altLang="zh-CN" sz="2800" dirty="0">
                <a:solidFill>
                  <a:srgbClr val="0000CC"/>
                </a:solidFill>
                <a:latin typeface="Courier New" pitchFamily="49" charset="0"/>
              </a:rPr>
              <a:t>0755</a:t>
            </a:r>
          </a:p>
        </p:txBody>
      </p:sp>
      <p:sp>
        <p:nvSpPr>
          <p:cNvPr id="26" name="Line 35"/>
          <p:cNvSpPr>
            <a:spLocks noChangeShapeType="1"/>
          </p:cNvSpPr>
          <p:nvPr/>
        </p:nvSpPr>
        <p:spPr bwMode="auto">
          <a:xfrm>
            <a:off x="6481389" y="6348398"/>
            <a:ext cx="1066800" cy="0"/>
          </a:xfrm>
          <a:prstGeom prst="line">
            <a:avLst/>
          </a:prstGeom>
          <a:noFill/>
          <a:ln w="38100">
            <a:solidFill>
              <a:srgbClr val="FF3300"/>
            </a:solidFill>
            <a:miter lim="800000"/>
            <a:headEnd type="arrow" w="med" len="med"/>
            <a:tailEnd type="arrow" w="med" len="med"/>
          </a:ln>
          <a:effectLst/>
        </p:spPr>
        <p:txBody>
          <a:bodyPr wrap="none"/>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up)">
                                      <p:cBhvr>
                                        <p:cTn id="7" dur="500"/>
                                        <p:tgtEl>
                                          <p:spTgt spid="9"/>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up)">
                                      <p:cBhvr>
                                        <p:cTn id="11" dur="500"/>
                                        <p:tgtEl>
                                          <p:spTgt spid="10"/>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wipe(up)">
                                      <p:cBhvr>
                                        <p:cTn id="15" dur="500"/>
                                        <p:tgtEl>
                                          <p:spTgt spid="11"/>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up)">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left)">
                                      <p:cBhvr>
                                        <p:cTn id="24" dur="500"/>
                                        <p:tgtEl>
                                          <p:spTgt spid="17"/>
                                        </p:tgtEl>
                                      </p:cBhvr>
                                    </p:animEffect>
                                  </p:childTnLst>
                                </p:cTn>
                              </p:par>
                            </p:childTnLst>
                          </p:cTn>
                        </p:par>
                        <p:par>
                          <p:cTn id="25" fill="hold">
                            <p:stCondLst>
                              <p:cond delay="500"/>
                            </p:stCondLst>
                            <p:childTnLst>
                              <p:par>
                                <p:cTn id="26" presetID="22" presetClass="entr" presetSubtype="1"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up)">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wipe(left)">
                                      <p:cBhvr>
                                        <p:cTn id="33" dur="500"/>
                                        <p:tgtEl>
                                          <p:spTgt spid="18"/>
                                        </p:tgtEl>
                                      </p:cBhvr>
                                    </p:animEffect>
                                  </p:childTnLst>
                                </p:cTn>
                              </p:par>
                            </p:childTnLst>
                          </p:cTn>
                        </p:par>
                        <p:par>
                          <p:cTn id="34" fill="hold">
                            <p:stCondLst>
                              <p:cond delay="500"/>
                            </p:stCondLst>
                            <p:childTnLst>
                              <p:par>
                                <p:cTn id="35" presetID="22" presetClass="entr" presetSubtype="1"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wipe(up)">
                                      <p:cBhvr>
                                        <p:cTn id="37" dur="500"/>
                                        <p:tgtEl>
                                          <p:spTgt spid="14"/>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500"/>
                                        <p:tgtEl>
                                          <p:spTgt spid="19"/>
                                        </p:tgtEl>
                                      </p:cBhvr>
                                    </p:animEffect>
                                  </p:childTnLst>
                                </p:cTn>
                              </p:par>
                            </p:childTnLst>
                          </p:cTn>
                        </p:par>
                        <p:par>
                          <p:cTn id="43" fill="hold">
                            <p:stCondLst>
                              <p:cond delay="500"/>
                            </p:stCondLst>
                            <p:childTnLst>
                              <p:par>
                                <p:cTn id="44" presetID="22" presetClass="entr" presetSubtype="1"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wipe(up)">
                                      <p:cBhvr>
                                        <p:cTn id="46" dur="500"/>
                                        <p:tgtEl>
                                          <p:spTgt spid="15"/>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wipe(left)">
                                      <p:cBhvr>
                                        <p:cTn id="51" dur="500"/>
                                        <p:tgtEl>
                                          <p:spTgt spid="20"/>
                                        </p:tgtEl>
                                      </p:cBhvr>
                                    </p:animEffect>
                                  </p:childTnLst>
                                </p:cTn>
                              </p:par>
                            </p:childTnLst>
                          </p:cTn>
                        </p:par>
                        <p:par>
                          <p:cTn id="52" fill="hold">
                            <p:stCondLst>
                              <p:cond delay="500"/>
                            </p:stCondLst>
                            <p:childTnLst>
                              <p:par>
                                <p:cTn id="53" presetID="22" presetClass="entr" presetSubtype="1" fill="hold" grpId="0" nodeType="after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wipe(up)">
                                      <p:cBhvr>
                                        <p:cTn id="55" dur="500"/>
                                        <p:tgtEl>
                                          <p:spTgt spid="16"/>
                                        </p:tgtEl>
                                      </p:cBhvr>
                                    </p:animEffect>
                                  </p:childTnLst>
                                </p:cTn>
                              </p:par>
                            </p:childTnLst>
                          </p:cTn>
                        </p:par>
                        <p:par>
                          <p:cTn id="56" fill="hold">
                            <p:stCondLst>
                              <p:cond delay="1000"/>
                            </p:stCondLst>
                            <p:childTnLst>
                              <p:par>
                                <p:cTn id="57" presetID="22" presetClass="entr" presetSubtype="1" fill="hold" grpId="0" nodeType="after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wipe(up)">
                                      <p:cBhvr>
                                        <p:cTn id="59" dur="5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wipe(left)">
                                      <p:cBhvr>
                                        <p:cTn id="64" dur="500"/>
                                        <p:tgtEl>
                                          <p:spTgt spid="23"/>
                                        </p:tgtEl>
                                      </p:cBhvr>
                                    </p:animEffect>
                                  </p:childTnLst>
                                </p:cTn>
                              </p:par>
                            </p:childTnLst>
                          </p:cTn>
                        </p:par>
                        <p:par>
                          <p:cTn id="65" fill="hold">
                            <p:stCondLst>
                              <p:cond delay="500"/>
                            </p:stCondLst>
                            <p:childTnLst>
                              <p:par>
                                <p:cTn id="66" presetID="22" presetClass="entr" presetSubtype="1" fill="hold" grpId="0" nodeType="after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wipe(up)">
                                      <p:cBhvr>
                                        <p:cTn id="68" dur="500"/>
                                        <p:tgtEl>
                                          <p:spTgt spid="22"/>
                                        </p:tgtEl>
                                      </p:cBhvr>
                                    </p:animEffect>
                                  </p:childTnLst>
                                </p:cTn>
                              </p:par>
                            </p:childTnLst>
                          </p:cTn>
                        </p:par>
                        <p:par>
                          <p:cTn id="69" fill="hold">
                            <p:stCondLst>
                              <p:cond delay="1000"/>
                            </p:stCondLst>
                            <p:childTnLst>
                              <p:par>
                                <p:cTn id="70" presetID="22" presetClass="entr" presetSubtype="1"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up)">
                                      <p:cBhvr>
                                        <p:cTn id="72" dur="5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wipe(left)">
                                      <p:cBhvr>
                                        <p:cTn id="77" dur="500"/>
                                        <p:tgtEl>
                                          <p:spTgt spid="26"/>
                                        </p:tgtEl>
                                      </p:cBhvr>
                                    </p:animEffect>
                                  </p:childTnLst>
                                </p:cTn>
                              </p:par>
                            </p:childTnLst>
                          </p:cTn>
                        </p:par>
                        <p:par>
                          <p:cTn id="78" fill="hold">
                            <p:stCondLst>
                              <p:cond delay="500"/>
                            </p:stCondLst>
                            <p:childTnLst>
                              <p:par>
                                <p:cTn id="79" presetID="22" presetClass="entr" presetSubtype="1" fill="hold" grpId="0" nodeType="after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wipe(up)">
                                      <p:cBhvr>
                                        <p:cTn id="8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P spid="13" grpId="0" autoUpdateAnimBg="0"/>
      <p:bldP spid="14" grpId="0" autoUpdateAnimBg="0"/>
      <p:bldP spid="15" grpId="0" autoUpdateAnimBg="0"/>
      <p:bldP spid="16" grpId="0" autoUpdateAnimBg="0"/>
      <p:bldP spid="17" grpId="0" animBg="1"/>
      <p:bldP spid="18" grpId="0" animBg="1"/>
      <p:bldP spid="19" grpId="0" animBg="1"/>
      <p:bldP spid="20" grpId="0" animBg="1"/>
      <p:bldP spid="21" grpId="0" autoUpdateAnimBg="0"/>
      <p:bldP spid="22" grpId="0" autoUpdateAnimBg="0"/>
      <p:bldP spid="23" grpId="0" animBg="1"/>
      <p:bldP spid="24" grpId="0" autoUpdateAnimBg="0"/>
      <p:bldP spid="25" grpId="0" autoUpdateAnimBg="0"/>
      <p:bldP spid="26"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使用</a:t>
            </a:r>
            <a:r>
              <a:rPr lang="en-US" altLang="zh-CN" dirty="0"/>
              <a:t>chmod</a:t>
            </a:r>
            <a:r>
              <a:rPr lang="zh-CN" altLang="en-US" dirty="0"/>
              <a:t>设置特殊权限</a:t>
            </a:r>
          </a:p>
        </p:txBody>
      </p:sp>
      <p:sp>
        <p:nvSpPr>
          <p:cNvPr id="3" name="内容占位符 2"/>
          <p:cNvSpPr>
            <a:spLocks noGrp="1"/>
          </p:cNvSpPr>
          <p:nvPr>
            <p:ph idx="1"/>
          </p:nvPr>
        </p:nvSpPr>
        <p:spPr>
          <a:xfrm>
            <a:off x="457200" y="1484784"/>
            <a:ext cx="8229600" cy="4752528"/>
          </a:xfrm>
        </p:spPr>
        <p:txBody>
          <a:bodyPr/>
          <a:lstStyle/>
          <a:p>
            <a:r>
              <a:rPr lang="zh-CN" altLang="en-US" dirty="0"/>
              <a:t>为程序 </a:t>
            </a:r>
            <a:r>
              <a:rPr lang="en-US" altLang="zh-CN" dirty="0"/>
              <a:t>~/bin/</a:t>
            </a:r>
            <a:r>
              <a:rPr lang="en-US" altLang="zh-CN" dirty="0" err="1"/>
              <a:t>myapp</a:t>
            </a:r>
            <a:r>
              <a:rPr lang="en-US" altLang="zh-CN" dirty="0"/>
              <a:t> </a:t>
            </a:r>
            <a:r>
              <a:rPr lang="zh-CN" altLang="en-US" dirty="0"/>
              <a:t>添加 </a:t>
            </a:r>
            <a:r>
              <a:rPr lang="en-US" altLang="zh-CN" dirty="0">
                <a:solidFill>
                  <a:srgbClr val="002060"/>
                </a:solidFill>
              </a:rPr>
              <a:t>SUID</a:t>
            </a:r>
            <a:r>
              <a:rPr lang="zh-CN" altLang="en-US" dirty="0">
                <a:solidFill>
                  <a:srgbClr val="002060"/>
                </a:solidFill>
              </a:rPr>
              <a:t>权限</a:t>
            </a:r>
          </a:p>
          <a:p>
            <a:pPr lvl="1">
              <a:buNone/>
            </a:pPr>
            <a:r>
              <a:rPr lang="en-US" altLang="zh-CN" b="1" dirty="0">
                <a:solidFill>
                  <a:schemeClr val="accent6">
                    <a:lumMod val="75000"/>
                  </a:schemeClr>
                </a:solidFill>
              </a:rPr>
              <a:t># chmod </a:t>
            </a:r>
            <a:r>
              <a:rPr lang="en-US" altLang="zh-CN" b="1" dirty="0" err="1">
                <a:solidFill>
                  <a:schemeClr val="accent6">
                    <a:lumMod val="75000"/>
                  </a:schemeClr>
                </a:solidFill>
              </a:rPr>
              <a:t>u+s</a:t>
            </a:r>
            <a:r>
              <a:rPr lang="en-US" altLang="zh-CN" b="1" dirty="0">
                <a:solidFill>
                  <a:schemeClr val="accent6">
                    <a:lumMod val="75000"/>
                  </a:schemeClr>
                </a:solidFill>
              </a:rPr>
              <a:t> ~/bin/</a:t>
            </a:r>
            <a:r>
              <a:rPr lang="en-US" altLang="zh-CN" b="1" dirty="0" err="1">
                <a:solidFill>
                  <a:schemeClr val="accent6">
                    <a:lumMod val="75000"/>
                  </a:schemeClr>
                </a:solidFill>
              </a:rPr>
              <a:t>myapp</a:t>
            </a:r>
            <a:endParaRPr lang="en-US" altLang="zh-CN" b="1" dirty="0">
              <a:solidFill>
                <a:schemeClr val="accent6">
                  <a:lumMod val="75000"/>
                </a:schemeClr>
              </a:solidFill>
            </a:endParaRPr>
          </a:p>
          <a:p>
            <a:pPr lvl="1">
              <a:buNone/>
            </a:pPr>
            <a:r>
              <a:rPr lang="en-US" altLang="zh-CN" b="1" dirty="0">
                <a:solidFill>
                  <a:schemeClr val="accent6">
                    <a:lumMod val="75000"/>
                  </a:schemeClr>
                </a:solidFill>
              </a:rPr>
              <a:t># chmod 4755 ~/bin/</a:t>
            </a:r>
            <a:r>
              <a:rPr lang="en-US" altLang="zh-CN" b="1" dirty="0" err="1">
                <a:solidFill>
                  <a:schemeClr val="accent6">
                    <a:lumMod val="75000"/>
                  </a:schemeClr>
                </a:solidFill>
              </a:rPr>
              <a:t>myapp</a:t>
            </a:r>
            <a:endParaRPr lang="en-US" altLang="zh-CN" b="1" dirty="0">
              <a:solidFill>
                <a:schemeClr val="accent6">
                  <a:lumMod val="75000"/>
                </a:schemeClr>
              </a:solidFill>
            </a:endParaRPr>
          </a:p>
          <a:p>
            <a:r>
              <a:rPr lang="zh-CN" altLang="en-US" dirty="0"/>
              <a:t>为目录 </a:t>
            </a:r>
            <a:r>
              <a:rPr lang="en-US" altLang="zh-CN" dirty="0"/>
              <a:t>/home/</a:t>
            </a:r>
            <a:r>
              <a:rPr lang="en-US" altLang="zh-CN" dirty="0" err="1"/>
              <a:t>groupspace</a:t>
            </a:r>
            <a:r>
              <a:rPr lang="en-US" altLang="zh-CN" dirty="0"/>
              <a:t> </a:t>
            </a:r>
            <a:r>
              <a:rPr lang="zh-CN" altLang="en-US" dirty="0"/>
              <a:t>添加 </a:t>
            </a:r>
            <a:r>
              <a:rPr lang="en-US" altLang="zh-CN" dirty="0">
                <a:solidFill>
                  <a:srgbClr val="002060"/>
                </a:solidFill>
              </a:rPr>
              <a:t>SGID</a:t>
            </a:r>
            <a:r>
              <a:rPr lang="zh-CN" altLang="en-US" dirty="0">
                <a:solidFill>
                  <a:srgbClr val="002060"/>
                </a:solidFill>
              </a:rPr>
              <a:t>权限</a:t>
            </a:r>
          </a:p>
          <a:p>
            <a:pPr lvl="1">
              <a:buNone/>
            </a:pPr>
            <a:r>
              <a:rPr lang="en-US" altLang="zh-CN" b="1" dirty="0">
                <a:solidFill>
                  <a:schemeClr val="accent6">
                    <a:lumMod val="75000"/>
                  </a:schemeClr>
                </a:solidFill>
              </a:rPr>
              <a:t># chmod </a:t>
            </a:r>
            <a:r>
              <a:rPr lang="en-US" altLang="zh-CN" b="1" dirty="0" err="1">
                <a:solidFill>
                  <a:schemeClr val="accent6">
                    <a:lumMod val="75000"/>
                  </a:schemeClr>
                </a:solidFill>
              </a:rPr>
              <a:t>g+s</a:t>
            </a:r>
            <a:r>
              <a:rPr lang="en-US" altLang="zh-CN" b="1" dirty="0">
                <a:solidFill>
                  <a:schemeClr val="accent6">
                    <a:lumMod val="75000"/>
                  </a:schemeClr>
                </a:solidFill>
              </a:rPr>
              <a:t> /home/</a:t>
            </a:r>
            <a:r>
              <a:rPr lang="en-US" altLang="zh-CN" b="1" dirty="0" err="1">
                <a:solidFill>
                  <a:schemeClr val="accent6">
                    <a:lumMod val="75000"/>
                  </a:schemeClr>
                </a:solidFill>
              </a:rPr>
              <a:t>groupspace</a:t>
            </a:r>
            <a:endParaRPr lang="en-US" altLang="zh-CN" b="1" dirty="0">
              <a:solidFill>
                <a:schemeClr val="accent6">
                  <a:lumMod val="75000"/>
                </a:schemeClr>
              </a:solidFill>
            </a:endParaRPr>
          </a:p>
          <a:p>
            <a:pPr lvl="1">
              <a:buNone/>
            </a:pPr>
            <a:r>
              <a:rPr lang="en-US" altLang="zh-CN" b="1" dirty="0">
                <a:solidFill>
                  <a:schemeClr val="accent6">
                    <a:lumMod val="75000"/>
                  </a:schemeClr>
                </a:solidFill>
              </a:rPr>
              <a:t># chmod 2755 /home/</a:t>
            </a:r>
            <a:r>
              <a:rPr lang="en-US" altLang="zh-CN" b="1" dirty="0" err="1">
                <a:solidFill>
                  <a:schemeClr val="accent6">
                    <a:lumMod val="75000"/>
                  </a:schemeClr>
                </a:solidFill>
              </a:rPr>
              <a:t>groupspace</a:t>
            </a:r>
            <a:endParaRPr lang="en-US" altLang="zh-CN" b="1" dirty="0">
              <a:solidFill>
                <a:schemeClr val="accent6">
                  <a:lumMod val="75000"/>
                </a:schemeClr>
              </a:solidFill>
            </a:endParaRPr>
          </a:p>
          <a:p>
            <a:r>
              <a:rPr lang="zh-CN" altLang="en-US" dirty="0"/>
              <a:t>为目录 </a:t>
            </a:r>
            <a:r>
              <a:rPr lang="en-US" altLang="zh-CN" dirty="0"/>
              <a:t>/home/share </a:t>
            </a:r>
            <a:r>
              <a:rPr lang="zh-CN" altLang="en-US" dirty="0"/>
              <a:t>添加 </a:t>
            </a:r>
            <a:r>
              <a:rPr lang="en-US" altLang="zh-CN" dirty="0">
                <a:solidFill>
                  <a:srgbClr val="002060"/>
                </a:solidFill>
              </a:rPr>
              <a:t>sticky-bit </a:t>
            </a:r>
            <a:r>
              <a:rPr lang="zh-CN" altLang="en-US" dirty="0">
                <a:solidFill>
                  <a:srgbClr val="002060"/>
                </a:solidFill>
              </a:rPr>
              <a:t>权限</a:t>
            </a:r>
          </a:p>
          <a:p>
            <a:pPr lvl="1">
              <a:buNone/>
            </a:pPr>
            <a:r>
              <a:rPr lang="en-US" altLang="zh-CN" b="1" dirty="0">
                <a:solidFill>
                  <a:schemeClr val="accent6">
                    <a:lumMod val="75000"/>
                  </a:schemeClr>
                </a:solidFill>
              </a:rPr>
              <a:t># chmod </a:t>
            </a:r>
            <a:r>
              <a:rPr lang="en-US" altLang="zh-CN" b="1" dirty="0" err="1">
                <a:solidFill>
                  <a:schemeClr val="accent6">
                    <a:lumMod val="75000"/>
                  </a:schemeClr>
                </a:solidFill>
              </a:rPr>
              <a:t>o+t</a:t>
            </a:r>
            <a:r>
              <a:rPr lang="en-US" altLang="zh-CN" b="1" dirty="0">
                <a:solidFill>
                  <a:schemeClr val="accent6">
                    <a:lumMod val="75000"/>
                  </a:schemeClr>
                </a:solidFill>
              </a:rPr>
              <a:t> /home/share</a:t>
            </a:r>
          </a:p>
          <a:p>
            <a:pPr lvl="1">
              <a:buNone/>
            </a:pPr>
            <a:r>
              <a:rPr lang="en-US" altLang="zh-CN" b="1" dirty="0">
                <a:solidFill>
                  <a:schemeClr val="accent6">
                    <a:lumMod val="75000"/>
                  </a:schemeClr>
                </a:solidFill>
              </a:rPr>
              <a:t># chmod 1755 /home/share</a:t>
            </a:r>
            <a:endParaRPr lang="zh-CN" altLang="en-US" b="1"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SUID程序运行的过程示意图">
            <a:extLst>
              <a:ext uri="{FF2B5EF4-FFF2-40B4-BE49-F238E27FC236}">
                <a16:creationId xmlns:a16="http://schemas.microsoft.com/office/drawing/2014/main" id="{259D1BCF-ED77-457E-9B28-70759003109B}"/>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rcRect/>
          <a:stretch>
            <a:fillRect/>
          </a:stretch>
        </p:blipFill>
        <p:spPr bwMode="auto">
          <a:xfrm>
            <a:off x="1691680" y="4581128"/>
            <a:ext cx="5129185" cy="2151314"/>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25E5DBC1-FD2B-4554-8DCA-9B298E365ECE}"/>
              </a:ext>
            </a:extLst>
          </p:cNvPr>
          <p:cNvSpPr txBox="1"/>
          <p:nvPr/>
        </p:nvSpPr>
        <p:spPr>
          <a:xfrm>
            <a:off x="107504" y="1152769"/>
            <a:ext cx="8928992" cy="3354765"/>
          </a:xfrm>
          <a:prstGeom prst="rect">
            <a:avLst/>
          </a:prstGeom>
          <a:gradFill flip="none" rotWithShape="1">
            <a:gsLst>
              <a:gs pos="0">
                <a:schemeClr val="tx2">
                  <a:lumMod val="40000"/>
                  <a:lumOff val="60000"/>
                  <a:tint val="66000"/>
                  <a:satMod val="160000"/>
                </a:schemeClr>
              </a:gs>
              <a:gs pos="50000">
                <a:schemeClr val="tx2">
                  <a:lumMod val="40000"/>
                  <a:lumOff val="60000"/>
                  <a:tint val="44500"/>
                  <a:satMod val="160000"/>
                </a:schemeClr>
              </a:gs>
              <a:gs pos="100000">
                <a:schemeClr val="tx2">
                  <a:lumMod val="40000"/>
                  <a:lumOff val="60000"/>
                  <a:tint val="23500"/>
                  <a:satMod val="160000"/>
                </a:schemeClr>
              </a:gs>
            </a:gsLst>
            <a:lin ang="8100000" scaled="1"/>
            <a:tileRect/>
          </a:gradFill>
        </p:spPr>
        <p:txBody>
          <a:bodyPr wrap="square">
            <a:spAutoFit/>
          </a:bodyPr>
          <a:lstStyle/>
          <a:p>
            <a:pPr algn="l"/>
            <a:r>
              <a:rPr lang="en-US" altLang="zh-CN" sz="2400" b="0" i="0" dirty="0">
                <a:solidFill>
                  <a:srgbClr val="000000"/>
                </a:solidFill>
                <a:effectLst/>
                <a:latin typeface="新细明体"/>
              </a:rPr>
              <a:t>/</a:t>
            </a:r>
            <a:r>
              <a:rPr lang="en-US" altLang="zh-CN" sz="2400" b="0" i="0" dirty="0" err="1">
                <a:solidFill>
                  <a:srgbClr val="000000"/>
                </a:solidFill>
                <a:effectLst/>
                <a:latin typeface="新细明体"/>
              </a:rPr>
              <a:t>etc</a:t>
            </a:r>
            <a:r>
              <a:rPr lang="en-US" altLang="zh-CN" sz="2400" b="0" i="0" dirty="0">
                <a:solidFill>
                  <a:srgbClr val="000000"/>
                </a:solidFill>
                <a:effectLst/>
                <a:latin typeface="新细明体"/>
              </a:rPr>
              <a:t>/shadow </a:t>
            </a:r>
            <a:r>
              <a:rPr lang="zh-CN" altLang="en-US" sz="2400" b="0" i="0" dirty="0">
                <a:solidFill>
                  <a:srgbClr val="000000"/>
                </a:solidFill>
                <a:effectLst/>
                <a:latin typeface="新细明体"/>
              </a:rPr>
              <a:t>文件的权限为：</a:t>
            </a:r>
            <a:r>
              <a:rPr lang="en-US" altLang="zh-CN" sz="2400" b="0" i="0" dirty="0">
                <a:solidFill>
                  <a:srgbClr val="000088"/>
                </a:solidFill>
                <a:effectLst/>
                <a:latin typeface="新细明体"/>
              </a:rPr>
              <a:t>-r-------- 1 root </a:t>
            </a:r>
            <a:r>
              <a:rPr lang="en-US" altLang="zh-CN" sz="2400" b="0" i="0" dirty="0" err="1">
                <a:solidFill>
                  <a:srgbClr val="000088"/>
                </a:solidFill>
                <a:effectLst/>
                <a:latin typeface="新细明体"/>
              </a:rPr>
              <a:t>root</a:t>
            </a:r>
            <a:endParaRPr lang="en-US" altLang="zh-CN" sz="2400" b="0" i="0" dirty="0">
              <a:solidFill>
                <a:srgbClr val="000000"/>
              </a:solidFill>
              <a:effectLst/>
              <a:latin typeface="新细明体"/>
            </a:endParaRPr>
          </a:p>
          <a:p>
            <a:pPr algn="l"/>
            <a:r>
              <a:rPr lang="en-US" altLang="zh-CN" sz="2200" dirty="0">
                <a:solidFill>
                  <a:srgbClr val="000000"/>
                </a:solidFill>
                <a:latin typeface="新细明体"/>
                <a:sym typeface="Wingdings" panose="05000000000000000000" pitchFamily="2" charset="2"/>
              </a:rPr>
              <a:t>#</a:t>
            </a:r>
            <a:r>
              <a:rPr lang="zh-CN" altLang="en-US" sz="2200" b="0" i="0" dirty="0">
                <a:solidFill>
                  <a:srgbClr val="000000"/>
                </a:solidFill>
                <a:effectLst/>
                <a:latin typeface="新细明体"/>
              </a:rPr>
              <a:t>这个文件</a:t>
            </a:r>
            <a:r>
              <a:rPr lang="zh-CN" altLang="en-US" sz="2200" b="0" i="0" dirty="0">
                <a:solidFill>
                  <a:srgbClr val="FF0000"/>
                </a:solidFill>
                <a:effectLst/>
                <a:latin typeface="新细明体"/>
              </a:rPr>
              <a:t>仅</a:t>
            </a:r>
            <a:r>
              <a:rPr lang="en-US" altLang="zh-CN" sz="2200" b="0" i="0" dirty="0">
                <a:solidFill>
                  <a:srgbClr val="FF0000"/>
                </a:solidFill>
                <a:effectLst/>
                <a:latin typeface="新细明体"/>
              </a:rPr>
              <a:t>root</a:t>
            </a:r>
            <a:r>
              <a:rPr lang="zh-CN" altLang="en-US" sz="2200" b="0" i="0" dirty="0">
                <a:solidFill>
                  <a:srgbClr val="FF0000"/>
                </a:solidFill>
                <a:effectLst/>
                <a:latin typeface="新细明体"/>
              </a:rPr>
              <a:t>可读且可以强制写入</a:t>
            </a:r>
            <a:endParaRPr lang="en-US" altLang="zh-CN" sz="2200" b="0" i="0" dirty="0">
              <a:solidFill>
                <a:srgbClr val="000000"/>
              </a:solidFill>
              <a:effectLst/>
              <a:latin typeface="新细明体"/>
            </a:endParaRPr>
          </a:p>
          <a:p>
            <a:pPr algn="l"/>
            <a:r>
              <a:rPr lang="zh-CN" altLang="en-US" sz="2200" b="0" i="0" dirty="0">
                <a:solidFill>
                  <a:srgbClr val="000000"/>
                </a:solidFill>
                <a:effectLst/>
                <a:latin typeface="新细明体"/>
              </a:rPr>
              <a:t>但</a:t>
            </a:r>
            <a:r>
              <a:rPr lang="zh-CN" altLang="en-US" sz="2200" b="0" i="0" dirty="0">
                <a:solidFill>
                  <a:srgbClr val="FF0000"/>
                </a:solidFill>
                <a:effectLst/>
                <a:latin typeface="新细明体"/>
              </a:rPr>
              <a:t>普通用户</a:t>
            </a:r>
            <a:r>
              <a:rPr lang="zh-CN" altLang="en-US" sz="2200" b="0" i="0" dirty="0">
                <a:solidFill>
                  <a:srgbClr val="000000"/>
                </a:solidFill>
                <a:effectLst/>
                <a:latin typeface="新细明体"/>
              </a:rPr>
              <a:t>可以使用</a:t>
            </a:r>
            <a:r>
              <a:rPr lang="en-US" altLang="zh-CN" sz="2200" dirty="0">
                <a:solidFill>
                  <a:srgbClr val="FF0000"/>
                </a:solidFill>
                <a:latin typeface="新细明体"/>
              </a:rPr>
              <a:t>passwd </a:t>
            </a:r>
            <a:r>
              <a:rPr lang="zh-CN" altLang="en-US" sz="2200" dirty="0">
                <a:solidFill>
                  <a:srgbClr val="000000"/>
                </a:solidFill>
                <a:latin typeface="新细明体"/>
              </a:rPr>
              <a:t>命令 </a:t>
            </a:r>
            <a:r>
              <a:rPr lang="zh-CN" altLang="en-US" sz="2200" dirty="0">
                <a:solidFill>
                  <a:srgbClr val="FF0000"/>
                </a:solidFill>
                <a:latin typeface="新细明体"/>
              </a:rPr>
              <a:t>修改自己的密码</a:t>
            </a:r>
            <a:endParaRPr lang="en-US" altLang="zh-CN" sz="2200" dirty="0">
              <a:solidFill>
                <a:srgbClr val="FF0000"/>
              </a:solidFill>
              <a:latin typeface="新细明体"/>
            </a:endParaRPr>
          </a:p>
          <a:p>
            <a:pPr algn="l"/>
            <a:r>
              <a:rPr lang="zh-CN" altLang="en-US" sz="2400" b="1" i="0" dirty="0">
                <a:solidFill>
                  <a:srgbClr val="0000CC"/>
                </a:solidFill>
                <a:effectLst/>
                <a:latin typeface="新细明体"/>
              </a:rPr>
              <a:t>为什么普通用户能够修改这个文件内的密码呢？</a:t>
            </a:r>
            <a:endParaRPr lang="zh-CN" altLang="en-US" b="0" i="0" dirty="0">
              <a:solidFill>
                <a:srgbClr val="000000"/>
              </a:solidFill>
              <a:effectLst/>
              <a:latin typeface="新细明体"/>
            </a:endParaRPr>
          </a:p>
          <a:p>
            <a:pPr>
              <a:buFont typeface="+mj-lt"/>
              <a:buAutoNum type="arabicPeriod"/>
            </a:pPr>
            <a:r>
              <a:rPr lang="zh-CN" altLang="en-US" sz="2400" b="0" i="0" dirty="0">
                <a:solidFill>
                  <a:srgbClr val="000000"/>
                </a:solidFill>
                <a:effectLst/>
                <a:latin typeface="新细明体"/>
              </a:rPr>
              <a:t>普通</a:t>
            </a:r>
            <a:r>
              <a:rPr lang="zh-CN" altLang="en-US" sz="2400" dirty="0">
                <a:solidFill>
                  <a:srgbClr val="000000"/>
                </a:solidFill>
                <a:latin typeface="新细明体"/>
              </a:rPr>
              <a:t>用户对于程序</a:t>
            </a:r>
            <a:r>
              <a:rPr lang="en-US" altLang="zh-CN" sz="2400" b="0" i="0" dirty="0">
                <a:solidFill>
                  <a:srgbClr val="000000"/>
                </a:solidFill>
                <a:effectLst/>
                <a:latin typeface="新细明体"/>
              </a:rPr>
              <a:t>/</a:t>
            </a:r>
            <a:r>
              <a:rPr lang="en-US" altLang="zh-CN" sz="2400" b="0" i="0" dirty="0" err="1">
                <a:solidFill>
                  <a:srgbClr val="000000"/>
                </a:solidFill>
                <a:effectLst/>
                <a:latin typeface="新细明体"/>
              </a:rPr>
              <a:t>usr</a:t>
            </a:r>
            <a:r>
              <a:rPr lang="en-US" altLang="zh-CN" sz="2400" b="0" i="0" dirty="0">
                <a:solidFill>
                  <a:srgbClr val="000000"/>
                </a:solidFill>
                <a:effectLst/>
                <a:latin typeface="新细明体"/>
              </a:rPr>
              <a:t>/bin/passwd </a:t>
            </a:r>
            <a:r>
              <a:rPr lang="zh-CN" altLang="en-US" sz="2400" b="0" i="0" dirty="0">
                <a:solidFill>
                  <a:srgbClr val="000000"/>
                </a:solidFill>
                <a:effectLst/>
                <a:latin typeface="新细明体"/>
              </a:rPr>
              <a:t>具有 </a:t>
            </a:r>
            <a:r>
              <a:rPr lang="en-US" altLang="zh-CN" sz="2400" b="0" i="0" dirty="0">
                <a:solidFill>
                  <a:srgbClr val="000000"/>
                </a:solidFill>
                <a:effectLst/>
                <a:latin typeface="新细明体"/>
              </a:rPr>
              <a:t>x </a:t>
            </a:r>
            <a:r>
              <a:rPr lang="zh-CN" altLang="en-US" sz="2400" b="0" i="0" dirty="0">
                <a:solidFill>
                  <a:srgbClr val="000000"/>
                </a:solidFill>
                <a:effectLst/>
                <a:latin typeface="新细明体"/>
              </a:rPr>
              <a:t>权限，普通用户能运行</a:t>
            </a:r>
            <a:r>
              <a:rPr lang="en-US" altLang="zh-CN" sz="2400" b="0" i="0" dirty="0">
                <a:solidFill>
                  <a:srgbClr val="000000"/>
                </a:solidFill>
                <a:effectLst/>
                <a:latin typeface="新细明体"/>
              </a:rPr>
              <a:t>passwd</a:t>
            </a:r>
            <a:r>
              <a:rPr lang="zh-CN" altLang="en-US" sz="2400" b="0" i="0" dirty="0">
                <a:solidFill>
                  <a:srgbClr val="000000"/>
                </a:solidFill>
                <a:effectLst/>
                <a:latin typeface="新细明体"/>
              </a:rPr>
              <a:t>；</a:t>
            </a:r>
          </a:p>
          <a:p>
            <a:pPr algn="l">
              <a:buFont typeface="+mj-lt"/>
              <a:buAutoNum type="arabicPeriod"/>
            </a:pPr>
            <a:r>
              <a:rPr lang="en-US" altLang="zh-CN" sz="2400" b="0" i="0" dirty="0">
                <a:solidFill>
                  <a:srgbClr val="000000"/>
                </a:solidFill>
                <a:effectLst/>
                <a:latin typeface="新细明体"/>
              </a:rPr>
              <a:t>passwd </a:t>
            </a:r>
            <a:r>
              <a:rPr lang="zh-CN" altLang="en-US" sz="2400" b="0" i="0" dirty="0">
                <a:solidFill>
                  <a:srgbClr val="000000"/>
                </a:solidFill>
                <a:effectLst/>
                <a:latin typeface="新细明体"/>
              </a:rPr>
              <a:t>的拥有者是 </a:t>
            </a:r>
            <a:r>
              <a:rPr lang="en-US" altLang="zh-CN" sz="2400" b="0" i="0" dirty="0">
                <a:solidFill>
                  <a:srgbClr val="000000"/>
                </a:solidFill>
                <a:effectLst/>
                <a:latin typeface="新细明体"/>
              </a:rPr>
              <a:t>root </a:t>
            </a:r>
            <a:r>
              <a:rPr lang="zh-CN" altLang="en-US" sz="2400" b="0" i="0" dirty="0">
                <a:solidFill>
                  <a:srgbClr val="000000"/>
                </a:solidFill>
                <a:effectLst/>
                <a:latin typeface="新细明体"/>
              </a:rPr>
              <a:t>这个帐号；</a:t>
            </a:r>
          </a:p>
          <a:p>
            <a:pPr algn="l">
              <a:buFont typeface="+mj-lt"/>
              <a:buAutoNum type="arabicPeriod"/>
            </a:pPr>
            <a:r>
              <a:rPr lang="en-US" altLang="zh-CN" sz="2400" b="0" i="0" dirty="0" err="1">
                <a:solidFill>
                  <a:srgbClr val="000000"/>
                </a:solidFill>
                <a:effectLst/>
                <a:latin typeface="新细明体"/>
              </a:rPr>
              <a:t>vbird</a:t>
            </a:r>
            <a:r>
              <a:rPr lang="en-US" altLang="zh-CN" sz="2400" b="0" i="0" dirty="0">
                <a:solidFill>
                  <a:srgbClr val="000000"/>
                </a:solidFill>
                <a:effectLst/>
                <a:latin typeface="新细明体"/>
              </a:rPr>
              <a:t> </a:t>
            </a:r>
            <a:r>
              <a:rPr lang="zh-CN" altLang="en-US" sz="2400" b="0" i="0" dirty="0">
                <a:solidFill>
                  <a:srgbClr val="000000"/>
                </a:solidFill>
                <a:effectLst/>
                <a:latin typeface="新细明体"/>
              </a:rPr>
              <a:t>运行 </a:t>
            </a:r>
            <a:r>
              <a:rPr lang="en-US" altLang="zh-CN" sz="2400" b="0" i="0" dirty="0">
                <a:solidFill>
                  <a:srgbClr val="000000"/>
                </a:solidFill>
                <a:effectLst/>
                <a:latin typeface="新细明体"/>
              </a:rPr>
              <a:t>passwd </a:t>
            </a:r>
            <a:r>
              <a:rPr lang="zh-CN" altLang="en-US" sz="2400" b="0" i="0" dirty="0">
                <a:solidFill>
                  <a:srgbClr val="000000"/>
                </a:solidFill>
                <a:effectLst/>
                <a:latin typeface="新细明体"/>
              </a:rPr>
              <a:t>的过程中，会</a:t>
            </a:r>
            <a:r>
              <a:rPr lang="en-US" altLang="zh-CN" sz="2400" b="0" i="0" dirty="0">
                <a:solidFill>
                  <a:srgbClr val="000000"/>
                </a:solidFill>
                <a:effectLst/>
                <a:latin typeface="新细明体"/>
              </a:rPr>
              <a:t>『</a:t>
            </a:r>
            <a:r>
              <a:rPr lang="zh-CN" altLang="en-US" sz="2400" b="0" i="0" dirty="0">
                <a:solidFill>
                  <a:srgbClr val="000000"/>
                </a:solidFill>
                <a:effectLst/>
                <a:latin typeface="新细明体"/>
              </a:rPr>
              <a:t>暂时</a:t>
            </a:r>
            <a:r>
              <a:rPr lang="en-US" altLang="zh-CN" sz="2400" b="0" i="0" dirty="0">
                <a:solidFill>
                  <a:srgbClr val="000000"/>
                </a:solidFill>
                <a:effectLst/>
                <a:latin typeface="新细明体"/>
              </a:rPr>
              <a:t>』</a:t>
            </a:r>
            <a:r>
              <a:rPr lang="zh-CN" altLang="en-US" sz="2400" b="0" i="0" dirty="0">
                <a:solidFill>
                  <a:srgbClr val="000000"/>
                </a:solidFill>
                <a:effectLst/>
                <a:latin typeface="新细明体"/>
              </a:rPr>
              <a:t>获得 </a:t>
            </a:r>
            <a:r>
              <a:rPr lang="en-US" altLang="zh-CN" sz="2400" b="0" i="0" dirty="0">
                <a:solidFill>
                  <a:srgbClr val="000000"/>
                </a:solidFill>
                <a:effectLst/>
                <a:latin typeface="新细明体"/>
              </a:rPr>
              <a:t>root </a:t>
            </a:r>
            <a:r>
              <a:rPr lang="zh-CN" altLang="en-US" sz="2400" b="0" i="0" dirty="0">
                <a:solidFill>
                  <a:srgbClr val="000000"/>
                </a:solidFill>
                <a:effectLst/>
                <a:latin typeface="新细明体"/>
              </a:rPr>
              <a:t>的权限</a:t>
            </a:r>
            <a:r>
              <a:rPr lang="zh-CN" altLang="en-US" sz="2400" b="0" i="0" dirty="0" smtClean="0">
                <a:solidFill>
                  <a:srgbClr val="000000"/>
                </a:solidFill>
                <a:effectLst/>
                <a:latin typeface="新细明体"/>
              </a:rPr>
              <a:t>；</a:t>
            </a:r>
            <a:endParaRPr lang="en-US" altLang="zh-CN" sz="2400" b="0" i="0" dirty="0" smtClean="0">
              <a:solidFill>
                <a:srgbClr val="000000"/>
              </a:solidFill>
              <a:effectLst/>
              <a:latin typeface="新细明体"/>
            </a:endParaRPr>
          </a:p>
          <a:p>
            <a:pPr>
              <a:buFont typeface="+mj-lt"/>
              <a:buAutoNum type="arabicPeriod"/>
            </a:pPr>
            <a:r>
              <a:rPr lang="en-US" altLang="zh-CN" sz="2400" dirty="0">
                <a:solidFill>
                  <a:srgbClr val="000000"/>
                </a:solidFill>
                <a:latin typeface="新细明体"/>
              </a:rPr>
              <a:t>/</a:t>
            </a:r>
            <a:r>
              <a:rPr lang="en-US" altLang="zh-CN" sz="2400" dirty="0" err="1">
                <a:solidFill>
                  <a:srgbClr val="000000"/>
                </a:solidFill>
                <a:latin typeface="新细明体"/>
              </a:rPr>
              <a:t>etc</a:t>
            </a:r>
            <a:r>
              <a:rPr lang="en-US" altLang="zh-CN" sz="2400" dirty="0">
                <a:solidFill>
                  <a:srgbClr val="000000"/>
                </a:solidFill>
                <a:latin typeface="新细明体"/>
              </a:rPr>
              <a:t>/shadow </a:t>
            </a:r>
            <a:r>
              <a:rPr lang="zh-CN" altLang="en-US" sz="2400" dirty="0">
                <a:solidFill>
                  <a:srgbClr val="000000"/>
                </a:solidFill>
                <a:latin typeface="新细明体"/>
              </a:rPr>
              <a:t>就可以被 </a:t>
            </a:r>
            <a:r>
              <a:rPr lang="en-US" altLang="zh-CN" sz="2400" dirty="0" err="1">
                <a:solidFill>
                  <a:srgbClr val="000000"/>
                </a:solidFill>
                <a:latin typeface="新细明体"/>
              </a:rPr>
              <a:t>vbird</a:t>
            </a:r>
            <a:r>
              <a:rPr lang="en-US" altLang="zh-CN" sz="2400" dirty="0">
                <a:solidFill>
                  <a:srgbClr val="000000"/>
                </a:solidFill>
                <a:latin typeface="新细明体"/>
              </a:rPr>
              <a:t> </a:t>
            </a:r>
            <a:r>
              <a:rPr lang="zh-CN" altLang="en-US" sz="2400" dirty="0">
                <a:solidFill>
                  <a:srgbClr val="000000"/>
                </a:solidFill>
                <a:latin typeface="新细明体"/>
              </a:rPr>
              <a:t>所运行的 </a:t>
            </a:r>
            <a:r>
              <a:rPr lang="en-US" altLang="zh-CN" sz="2400" dirty="0" err="1">
                <a:solidFill>
                  <a:srgbClr val="000000"/>
                </a:solidFill>
                <a:latin typeface="新细明体"/>
              </a:rPr>
              <a:t>passwd</a:t>
            </a:r>
            <a:r>
              <a:rPr lang="en-US" altLang="zh-CN" sz="2400" dirty="0">
                <a:solidFill>
                  <a:srgbClr val="000000"/>
                </a:solidFill>
                <a:latin typeface="新细明体"/>
              </a:rPr>
              <a:t> </a:t>
            </a:r>
            <a:r>
              <a:rPr lang="zh-CN" altLang="en-US" sz="2400" dirty="0">
                <a:solidFill>
                  <a:srgbClr val="000000"/>
                </a:solidFill>
                <a:latin typeface="新细明体"/>
              </a:rPr>
              <a:t>所修改</a:t>
            </a:r>
            <a:r>
              <a:rPr lang="zh-CN" altLang="en-US" sz="2400" dirty="0" smtClean="0">
                <a:solidFill>
                  <a:srgbClr val="000000"/>
                </a:solidFill>
                <a:latin typeface="新细明体"/>
              </a:rPr>
              <a:t>。</a:t>
            </a:r>
            <a:endParaRPr lang="zh-CN" altLang="en-US" sz="2400" dirty="0">
              <a:solidFill>
                <a:srgbClr val="000000"/>
              </a:solidFill>
              <a:latin typeface="新细明体"/>
            </a:endParaRPr>
          </a:p>
        </p:txBody>
      </p:sp>
      <p:sp>
        <p:nvSpPr>
          <p:cNvPr id="11" name="标题 1">
            <a:extLst>
              <a:ext uri="{FF2B5EF4-FFF2-40B4-BE49-F238E27FC236}">
                <a16:creationId xmlns:a16="http://schemas.microsoft.com/office/drawing/2014/main" id="{545A107B-BF49-409C-847F-AF7E6A6F7C7F}"/>
              </a:ext>
            </a:extLst>
          </p:cNvPr>
          <p:cNvSpPr>
            <a:spLocks noGrp="1"/>
          </p:cNvSpPr>
          <p:nvPr>
            <p:ph type="title"/>
          </p:nvPr>
        </p:nvSpPr>
        <p:spPr>
          <a:xfrm>
            <a:off x="1154113" y="191715"/>
            <a:ext cx="7793037" cy="1052513"/>
          </a:xfrm>
        </p:spPr>
        <p:txBody>
          <a:bodyPr/>
          <a:lstStyle/>
          <a:p>
            <a:r>
              <a:rPr lang="zh-CN" altLang="en-US" dirty="0"/>
              <a:t>特殊权限</a:t>
            </a:r>
            <a:r>
              <a:rPr lang="en-US" altLang="zh-CN" dirty="0"/>
              <a:t>—SUID</a:t>
            </a:r>
            <a:r>
              <a:rPr lang="zh-CN" altLang="en-US" dirty="0"/>
              <a:t>说明</a:t>
            </a:r>
          </a:p>
        </p:txBody>
      </p:sp>
      <p:sp>
        <p:nvSpPr>
          <p:cNvPr id="2" name="矩形 1"/>
          <p:cNvSpPr/>
          <p:nvPr/>
        </p:nvSpPr>
        <p:spPr>
          <a:xfrm>
            <a:off x="413538" y="5053089"/>
            <a:ext cx="8316924" cy="830997"/>
          </a:xfrm>
          <a:prstGeom prst="rect">
            <a:avLst/>
          </a:prstGeom>
          <a:solidFill>
            <a:schemeClr val="accent1">
              <a:lumMod val="20000"/>
              <a:lumOff val="80000"/>
            </a:schemeClr>
          </a:solidFill>
        </p:spPr>
        <p:style>
          <a:lnRef idx="2">
            <a:schemeClr val="accent6"/>
          </a:lnRef>
          <a:fillRef idx="1">
            <a:schemeClr val="lt1"/>
          </a:fillRef>
          <a:effectRef idx="0">
            <a:schemeClr val="accent6"/>
          </a:effectRef>
          <a:fontRef idx="minor">
            <a:schemeClr val="dk1"/>
          </a:fontRef>
        </p:style>
        <p:txBody>
          <a:bodyPr wrap="square">
            <a:spAutoFit/>
          </a:bodyPr>
          <a:lstStyle/>
          <a:p>
            <a:r>
              <a:rPr lang="en-US" altLang="zh-CN" sz="2400" dirty="0"/>
              <a:t>[</a:t>
            </a:r>
            <a:r>
              <a:rPr lang="en-US" altLang="zh-CN" sz="2400" dirty="0" err="1"/>
              <a:t>xl@localhost</a:t>
            </a:r>
            <a:r>
              <a:rPr lang="en-US" altLang="zh-CN" sz="2400" dirty="0"/>
              <a:t> ~]$ ls -l /</a:t>
            </a:r>
            <a:r>
              <a:rPr lang="en-US" altLang="zh-CN" sz="2400" dirty="0" err="1"/>
              <a:t>usr</a:t>
            </a:r>
            <a:r>
              <a:rPr lang="en-US" altLang="zh-CN" sz="2400" dirty="0"/>
              <a:t>/bin/</a:t>
            </a:r>
            <a:r>
              <a:rPr lang="en-US" altLang="zh-CN" sz="2400" dirty="0" err="1"/>
              <a:t>passwd</a:t>
            </a:r>
            <a:endParaRPr lang="en-US" altLang="zh-CN" sz="2400" dirty="0"/>
          </a:p>
          <a:p>
            <a:r>
              <a:rPr lang="en-US" altLang="zh-CN" sz="2400" dirty="0"/>
              <a:t>-</a:t>
            </a:r>
            <a:r>
              <a:rPr lang="en-US" altLang="zh-CN" sz="2400" dirty="0" err="1"/>
              <a:t>rwsr</a:t>
            </a:r>
            <a:r>
              <a:rPr lang="en-US" altLang="zh-CN" sz="2400" dirty="0"/>
              <a:t>-</a:t>
            </a:r>
            <a:r>
              <a:rPr lang="en-US" altLang="zh-CN" sz="2400" dirty="0" err="1"/>
              <a:t>xr</a:t>
            </a:r>
            <a:r>
              <a:rPr lang="en-US" altLang="zh-CN" sz="2400" dirty="0"/>
              <a:t>-x. 1 root </a:t>
            </a:r>
            <a:r>
              <a:rPr lang="en-US" altLang="zh-CN" sz="2400" dirty="0" err="1"/>
              <a:t>root</a:t>
            </a:r>
            <a:r>
              <a:rPr lang="en-US" altLang="zh-CN" sz="2400" dirty="0"/>
              <a:t> 27832 Jun 10  2014 /</a:t>
            </a:r>
            <a:r>
              <a:rPr lang="en-US" altLang="zh-CN" sz="2400" dirty="0" err="1"/>
              <a:t>usr</a:t>
            </a:r>
            <a:r>
              <a:rPr lang="en-US" altLang="zh-CN" sz="2400" dirty="0"/>
              <a:t>/bin/</a:t>
            </a:r>
            <a:r>
              <a:rPr lang="en-US" altLang="zh-CN" sz="2400" dirty="0" err="1"/>
              <a:t>passwd</a:t>
            </a:r>
            <a:endParaRPr lang="zh-CN" alt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grpId="1" nodeType="clickEffect">
                                  <p:stCondLst>
                                    <p:cond delay="0"/>
                                  </p:stCondLst>
                                  <p:childTnLst>
                                    <p:anim calcmode="lin" valueType="num">
                                      <p:cBhvr additive="base">
                                        <p:cTn id="12" dur="500"/>
                                        <p:tgtEl>
                                          <p:spTgt spid="2"/>
                                        </p:tgtEl>
                                        <p:attrNameLst>
                                          <p:attrName>ppt_x</p:attrName>
                                        </p:attrNameLst>
                                      </p:cBhvr>
                                      <p:tavLst>
                                        <p:tav tm="0">
                                          <p:val>
                                            <p:strVal val="ppt_x"/>
                                          </p:val>
                                        </p:tav>
                                        <p:tav tm="100000">
                                          <p:val>
                                            <p:strVal val="ppt_x"/>
                                          </p:val>
                                        </p:tav>
                                      </p:tavLst>
                                    </p:anim>
                                    <p:anim calcmode="lin" valueType="num">
                                      <p:cBhvr additive="base">
                                        <p:cTn id="13" dur="500"/>
                                        <p:tgtEl>
                                          <p:spTgt spid="2"/>
                                        </p:tgtEl>
                                        <p:attrNameLst>
                                          <p:attrName>ppt_y</p:attrName>
                                        </p:attrNameLst>
                                      </p:cBhvr>
                                      <p:tavLst>
                                        <p:tav tm="0">
                                          <p:val>
                                            <p:strVal val="ppt_y"/>
                                          </p:val>
                                        </p:tav>
                                        <p:tav tm="100000">
                                          <p:val>
                                            <p:strVal val="1+ppt_h/2"/>
                                          </p:val>
                                        </p:tav>
                                      </p:tavLst>
                                    </p:anim>
                                    <p:set>
                                      <p:cBhvr>
                                        <p:cTn id="14" dur="1" fill="hold">
                                          <p:stCondLst>
                                            <p:cond delay="499"/>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trike="sngStrike" dirty="0"/>
              <a:t>四 </a:t>
            </a:r>
            <a:r>
              <a:rPr lang="en-US" altLang="zh-CN" strike="sngStrike" dirty="0"/>
              <a:t>ext2/3/4 </a:t>
            </a:r>
            <a:r>
              <a:rPr lang="zh-CN" altLang="en-US" strike="sngStrike" dirty="0"/>
              <a:t>文件扩展属性</a:t>
            </a:r>
          </a:p>
        </p:txBody>
      </p:sp>
      <p:sp>
        <p:nvSpPr>
          <p:cNvPr id="3" name="内容占位符 2"/>
          <p:cNvSpPr>
            <a:spLocks noGrp="1"/>
          </p:cNvSpPr>
          <p:nvPr>
            <p:ph idx="1"/>
          </p:nvPr>
        </p:nvSpPr>
        <p:spPr>
          <a:xfrm>
            <a:off x="303327" y="1442576"/>
            <a:ext cx="8840673" cy="1296144"/>
          </a:xfrm>
        </p:spPr>
        <p:txBody>
          <a:bodyPr/>
          <a:lstStyle/>
          <a:p>
            <a:pPr algn="just"/>
            <a:r>
              <a:rPr lang="en-US" altLang="zh-CN" sz="2400" dirty="0"/>
              <a:t>Linux</a:t>
            </a:r>
            <a:r>
              <a:rPr lang="zh-CN" altLang="en-US" sz="2400" dirty="0"/>
              <a:t>内核中有大量安全特征。</a:t>
            </a:r>
            <a:r>
              <a:rPr lang="en-US" altLang="zh-CN" sz="2400" dirty="0"/>
              <a:t>EXT2/3/4 </a:t>
            </a:r>
            <a:r>
              <a:rPr lang="zh-CN" altLang="en-US" sz="2400" dirty="0"/>
              <a:t>文件系统的扩展属性（</a:t>
            </a:r>
            <a:r>
              <a:rPr lang="en-US" altLang="zh-CN" sz="2400" dirty="0"/>
              <a:t>Extended Attributes</a:t>
            </a:r>
            <a:r>
              <a:rPr lang="zh-CN" altLang="en-US" sz="2400" dirty="0"/>
              <a:t>）可以在某种程度上保护系统的安全。</a:t>
            </a:r>
            <a:endParaRPr lang="en-US" altLang="zh-CN" sz="2400" dirty="0"/>
          </a:p>
          <a:p>
            <a:pPr algn="just"/>
            <a:r>
              <a:rPr lang="zh-CN" altLang="en-US" sz="2400" dirty="0"/>
              <a:t>常见的扩展属性</a:t>
            </a:r>
          </a:p>
        </p:txBody>
      </p:sp>
      <p:graphicFrame>
        <p:nvGraphicFramePr>
          <p:cNvPr id="8" name="内容占位符 6"/>
          <p:cNvGraphicFramePr>
            <a:graphicFrameLocks/>
          </p:cNvGraphicFramePr>
          <p:nvPr>
            <p:extLst>
              <p:ext uri="{D42A27DB-BD31-4B8C-83A1-F6EECF244321}">
                <p14:modId xmlns:p14="http://schemas.microsoft.com/office/powerpoint/2010/main" val="1725887293"/>
              </p:ext>
            </p:extLst>
          </p:nvPr>
        </p:nvGraphicFramePr>
        <p:xfrm>
          <a:off x="303327" y="2762798"/>
          <a:ext cx="8676456" cy="2667000"/>
        </p:xfrm>
        <a:graphic>
          <a:graphicData uri="http://schemas.openxmlformats.org/drawingml/2006/table">
            <a:tbl>
              <a:tblPr firstRow="1" bandRow="1">
                <a:tableStyleId>{21E4AEA4-8DFA-4A89-87EB-49C32662AFE0}</a:tableStyleId>
              </a:tblPr>
              <a:tblGrid>
                <a:gridCol w="1746113">
                  <a:extLst>
                    <a:ext uri="{9D8B030D-6E8A-4147-A177-3AD203B41FA5}">
                      <a16:colId xmlns:a16="http://schemas.microsoft.com/office/drawing/2014/main" val="20000"/>
                    </a:ext>
                  </a:extLst>
                </a:gridCol>
                <a:gridCol w="6930343">
                  <a:extLst>
                    <a:ext uri="{9D8B030D-6E8A-4147-A177-3AD203B41FA5}">
                      <a16:colId xmlns:a16="http://schemas.microsoft.com/office/drawing/2014/main" val="20001"/>
                    </a:ext>
                  </a:extLst>
                </a:gridCol>
              </a:tblGrid>
              <a:tr h="370840">
                <a:tc>
                  <a:txBody>
                    <a:bodyPr/>
                    <a:lstStyle/>
                    <a:p>
                      <a:r>
                        <a:rPr lang="zh-CN" altLang="en-US" dirty="0">
                          <a:solidFill>
                            <a:srgbClr val="C00000"/>
                          </a:solidFill>
                        </a:rPr>
                        <a:t>属性</a:t>
                      </a:r>
                    </a:p>
                  </a:txBody>
                  <a:tcPr/>
                </a:tc>
                <a:tc>
                  <a:txBody>
                    <a:bodyPr/>
                    <a:lstStyle/>
                    <a:p>
                      <a:r>
                        <a:rPr lang="zh-CN" altLang="en-US"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en-US" altLang="zh-CN" dirty="0"/>
                        <a:t>A</a:t>
                      </a:r>
                      <a:r>
                        <a:rPr lang="zh-CN" altLang="en-US" dirty="0"/>
                        <a:t>（</a:t>
                      </a:r>
                      <a:r>
                        <a:rPr lang="en-US" altLang="zh-CN" dirty="0" err="1"/>
                        <a:t>Atime</a:t>
                      </a:r>
                      <a:r>
                        <a:rPr lang="zh-CN" altLang="en-US" dirty="0"/>
                        <a:t>）</a:t>
                      </a:r>
                    </a:p>
                  </a:txBody>
                  <a:tcPr/>
                </a:tc>
                <a:tc>
                  <a:txBody>
                    <a:bodyPr/>
                    <a:lstStyle/>
                    <a:p>
                      <a:r>
                        <a:rPr lang="zh-CN" altLang="en-US" dirty="0"/>
                        <a:t>告诉系统</a:t>
                      </a:r>
                      <a:r>
                        <a:rPr lang="zh-CN" altLang="en-US" dirty="0">
                          <a:solidFill>
                            <a:srgbClr val="FF0000"/>
                          </a:solidFill>
                        </a:rPr>
                        <a:t>不要修改</a:t>
                      </a:r>
                      <a:r>
                        <a:rPr lang="zh-CN" altLang="en-US" dirty="0"/>
                        <a:t>对这个文件的</a:t>
                      </a:r>
                      <a:r>
                        <a:rPr lang="zh-CN" altLang="en-US" dirty="0">
                          <a:solidFill>
                            <a:srgbClr val="FF0000"/>
                          </a:solidFill>
                        </a:rPr>
                        <a:t>最后访问时间</a:t>
                      </a:r>
                      <a:endParaRPr lang="zh-CN" altLang="en-US" dirty="0"/>
                    </a:p>
                  </a:txBody>
                  <a:tcPr/>
                </a:tc>
                <a:extLst>
                  <a:ext uri="{0D108BD9-81ED-4DB2-BD59-A6C34878D82A}">
                    <a16:rowId xmlns:a16="http://schemas.microsoft.com/office/drawing/2014/main" val="10001"/>
                  </a:ext>
                </a:extLst>
              </a:tr>
              <a:tr h="370840">
                <a:tc>
                  <a:txBody>
                    <a:bodyPr/>
                    <a:lstStyle/>
                    <a:p>
                      <a:r>
                        <a:rPr lang="en-US" altLang="zh-CN" dirty="0"/>
                        <a:t>S</a:t>
                      </a:r>
                      <a:r>
                        <a:rPr lang="zh-CN" altLang="en-US" dirty="0"/>
                        <a:t>（</a:t>
                      </a:r>
                      <a:r>
                        <a:rPr lang="en-US" altLang="zh-CN" dirty="0"/>
                        <a:t>Sync</a:t>
                      </a:r>
                      <a:r>
                        <a:rPr lang="zh-CN" altLang="en-US" dirty="0"/>
                        <a:t>）</a:t>
                      </a:r>
                    </a:p>
                  </a:txBody>
                  <a:tcPr/>
                </a:tc>
                <a:tc>
                  <a:txBody>
                    <a:bodyPr/>
                    <a:lstStyle/>
                    <a:p>
                      <a:r>
                        <a:rPr lang="zh-CN" altLang="en-US" dirty="0"/>
                        <a:t>一旦应用程序对文件执行了写操作，系统立刻把修改结果</a:t>
                      </a:r>
                      <a:r>
                        <a:rPr lang="zh-CN" altLang="en-US" dirty="0">
                          <a:solidFill>
                            <a:srgbClr val="FF0000"/>
                          </a:solidFill>
                        </a:rPr>
                        <a:t>写到磁盘</a:t>
                      </a:r>
                    </a:p>
                  </a:txBody>
                  <a:tcPr/>
                </a:tc>
                <a:extLst>
                  <a:ext uri="{0D108BD9-81ED-4DB2-BD59-A6C34878D82A}">
                    <a16:rowId xmlns:a16="http://schemas.microsoft.com/office/drawing/2014/main" val="10002"/>
                  </a:ext>
                </a:extLst>
              </a:tr>
              <a:tr h="370840">
                <a:tc>
                  <a:txBody>
                    <a:bodyPr/>
                    <a:lstStyle/>
                    <a:p>
                      <a:r>
                        <a:rPr lang="en-US" altLang="zh-CN" dirty="0"/>
                        <a:t>a</a:t>
                      </a:r>
                      <a:r>
                        <a:rPr lang="zh-CN" altLang="en-US" dirty="0"/>
                        <a:t>（</a:t>
                      </a:r>
                      <a:r>
                        <a:rPr lang="en-US" altLang="zh-CN" dirty="0"/>
                        <a:t>Append Only</a:t>
                      </a:r>
                      <a:r>
                        <a:rPr lang="zh-CN" altLang="en-US" dirty="0"/>
                        <a:t>）</a:t>
                      </a:r>
                    </a:p>
                  </a:txBody>
                  <a:tcPr/>
                </a:tc>
                <a:tc>
                  <a:txBody>
                    <a:bodyPr/>
                    <a:lstStyle/>
                    <a:p>
                      <a:r>
                        <a:rPr lang="zh-CN" altLang="en-US" dirty="0"/>
                        <a:t>系统</a:t>
                      </a:r>
                      <a:r>
                        <a:rPr lang="zh-CN" altLang="en-US" dirty="0">
                          <a:solidFill>
                            <a:srgbClr val="FF0000"/>
                          </a:solidFill>
                        </a:rPr>
                        <a:t>只允许</a:t>
                      </a:r>
                      <a:r>
                        <a:rPr lang="zh-CN" altLang="en-US" dirty="0"/>
                        <a:t>在这个</a:t>
                      </a:r>
                      <a:r>
                        <a:rPr lang="zh-CN" altLang="en-US" dirty="0">
                          <a:solidFill>
                            <a:srgbClr val="FF0000"/>
                          </a:solidFill>
                        </a:rPr>
                        <a:t>文件</a:t>
                      </a:r>
                      <a:r>
                        <a:rPr lang="zh-CN" altLang="en-US" dirty="0"/>
                        <a:t>之后</a:t>
                      </a:r>
                      <a:r>
                        <a:rPr lang="zh-CN" altLang="en-US" dirty="0">
                          <a:solidFill>
                            <a:srgbClr val="FF0000"/>
                          </a:solidFill>
                        </a:rPr>
                        <a:t>追加数据</a:t>
                      </a:r>
                      <a:r>
                        <a:rPr lang="zh-CN" altLang="en-US" dirty="0"/>
                        <a:t>，</a:t>
                      </a:r>
                      <a:r>
                        <a:rPr lang="zh-CN" altLang="en-US" dirty="0">
                          <a:solidFill>
                            <a:srgbClr val="FF0000"/>
                          </a:solidFill>
                        </a:rPr>
                        <a:t>不允许</a:t>
                      </a:r>
                      <a:r>
                        <a:rPr lang="zh-CN" altLang="en-US" dirty="0"/>
                        <a:t>任何进程</a:t>
                      </a:r>
                      <a:r>
                        <a:rPr lang="zh-CN" altLang="en-US" dirty="0">
                          <a:solidFill>
                            <a:srgbClr val="FF0000"/>
                          </a:solidFill>
                        </a:rPr>
                        <a:t>覆盖或者截断</a:t>
                      </a:r>
                      <a:r>
                        <a:rPr lang="zh-CN" altLang="en-US" dirty="0"/>
                        <a:t>这个文件；如果</a:t>
                      </a:r>
                      <a:r>
                        <a:rPr lang="zh-CN" altLang="en-US" dirty="0">
                          <a:solidFill>
                            <a:srgbClr val="FF0000"/>
                          </a:solidFill>
                        </a:rPr>
                        <a:t>目录</a:t>
                      </a:r>
                      <a:r>
                        <a:rPr lang="zh-CN" altLang="en-US" dirty="0"/>
                        <a:t>具有这个属性，系统将</a:t>
                      </a:r>
                      <a:r>
                        <a:rPr lang="zh-CN" altLang="en-US" dirty="0">
                          <a:solidFill>
                            <a:srgbClr val="FF0000"/>
                          </a:solidFill>
                        </a:rPr>
                        <a:t>只允许在这个目录下建立和修改文件</a:t>
                      </a:r>
                      <a:r>
                        <a:rPr lang="zh-CN" altLang="en-US" dirty="0"/>
                        <a:t>，而</a:t>
                      </a:r>
                      <a:r>
                        <a:rPr lang="zh-CN" altLang="en-US" dirty="0">
                          <a:solidFill>
                            <a:srgbClr val="FF0000"/>
                          </a:solidFill>
                        </a:rPr>
                        <a:t>不允许删除</a:t>
                      </a:r>
                      <a:r>
                        <a:rPr lang="zh-CN" altLang="en-US" dirty="0"/>
                        <a:t>任何文件</a:t>
                      </a:r>
                    </a:p>
                  </a:txBody>
                  <a:tcPr/>
                </a:tc>
                <a:extLst>
                  <a:ext uri="{0D108BD9-81ED-4DB2-BD59-A6C34878D82A}">
                    <a16:rowId xmlns:a16="http://schemas.microsoft.com/office/drawing/2014/main" val="10003"/>
                  </a:ext>
                </a:extLst>
              </a:tr>
              <a:tr h="370840">
                <a:tc>
                  <a:txBody>
                    <a:bodyPr/>
                    <a:lstStyle/>
                    <a:p>
                      <a:r>
                        <a:rPr lang="en-US" altLang="zh-CN" dirty="0" err="1"/>
                        <a:t>i</a:t>
                      </a:r>
                      <a:r>
                        <a:rPr lang="zh-CN" altLang="en-US" dirty="0"/>
                        <a:t>（</a:t>
                      </a:r>
                      <a:r>
                        <a:rPr lang="en-US" altLang="zh-CN" dirty="0"/>
                        <a:t>Immutable</a:t>
                      </a:r>
                      <a:r>
                        <a:rPr lang="zh-CN" altLang="en-US" dirty="0"/>
                        <a:t>）</a:t>
                      </a:r>
                    </a:p>
                  </a:txBody>
                  <a:tcPr/>
                </a:tc>
                <a:tc>
                  <a:txBody>
                    <a:bodyPr/>
                    <a:lstStyle/>
                    <a:p>
                      <a:r>
                        <a:rPr lang="zh-CN" altLang="en-US" dirty="0"/>
                        <a:t>系统</a:t>
                      </a:r>
                      <a:r>
                        <a:rPr lang="zh-CN" altLang="en-US" dirty="0">
                          <a:solidFill>
                            <a:srgbClr val="FF0000"/>
                          </a:solidFill>
                        </a:rPr>
                        <a:t>不允许</a:t>
                      </a:r>
                      <a:r>
                        <a:rPr lang="zh-CN" altLang="en-US" dirty="0"/>
                        <a:t>对这个</a:t>
                      </a:r>
                      <a:r>
                        <a:rPr lang="zh-CN" altLang="en-US" dirty="0">
                          <a:solidFill>
                            <a:srgbClr val="FF0000"/>
                          </a:solidFill>
                        </a:rPr>
                        <a:t>文件</a:t>
                      </a:r>
                      <a:r>
                        <a:rPr lang="zh-CN" altLang="en-US" dirty="0"/>
                        <a:t>进行任何的</a:t>
                      </a:r>
                      <a:r>
                        <a:rPr lang="zh-CN" altLang="en-US" dirty="0">
                          <a:solidFill>
                            <a:srgbClr val="FF0000"/>
                          </a:solidFill>
                        </a:rPr>
                        <a:t>修改</a:t>
                      </a:r>
                      <a:r>
                        <a:rPr lang="zh-CN" altLang="en-US" dirty="0"/>
                        <a:t>；如果</a:t>
                      </a:r>
                      <a:r>
                        <a:rPr lang="zh-CN" altLang="en-US" dirty="0">
                          <a:solidFill>
                            <a:srgbClr val="FF0000"/>
                          </a:solidFill>
                        </a:rPr>
                        <a:t>目录</a:t>
                      </a:r>
                      <a:r>
                        <a:rPr lang="zh-CN" altLang="en-US" dirty="0"/>
                        <a:t>具有这个属性，那么任何的进程</a:t>
                      </a:r>
                      <a:r>
                        <a:rPr lang="zh-CN" altLang="en-US" dirty="0">
                          <a:solidFill>
                            <a:srgbClr val="FF0000"/>
                          </a:solidFill>
                        </a:rPr>
                        <a:t>只能修改目录之下的文件</a:t>
                      </a:r>
                      <a:r>
                        <a:rPr lang="zh-CN" altLang="en-US" dirty="0"/>
                        <a:t>，</a:t>
                      </a:r>
                      <a:r>
                        <a:rPr lang="zh-CN" altLang="en-US" dirty="0">
                          <a:solidFill>
                            <a:srgbClr val="FF0000"/>
                          </a:solidFill>
                        </a:rPr>
                        <a:t>不允许建立和删除文件</a:t>
                      </a:r>
                    </a:p>
                  </a:txBody>
                  <a:tcPr/>
                </a:tc>
                <a:extLst>
                  <a:ext uri="{0D108BD9-81ED-4DB2-BD59-A6C34878D82A}">
                    <a16:rowId xmlns:a16="http://schemas.microsoft.com/office/drawing/2014/main" val="10004"/>
                  </a:ext>
                </a:extLst>
              </a:tr>
            </a:tbl>
          </a:graphicData>
        </a:graphic>
      </p:graphicFrame>
      <p:sp>
        <p:nvSpPr>
          <p:cNvPr id="9" name="Text Box 12"/>
          <p:cNvSpPr txBox="1">
            <a:spLocks noChangeArrowheads="1"/>
          </p:cNvSpPr>
          <p:nvPr/>
        </p:nvSpPr>
        <p:spPr bwMode="auto">
          <a:xfrm>
            <a:off x="467544" y="5484344"/>
            <a:ext cx="8479606" cy="1089529"/>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ct val="120000"/>
              </a:lnSpc>
              <a:buClr>
                <a:srgbClr val="FF3300"/>
              </a:buClr>
              <a:buFont typeface="Wingdings" pitchFamily="2" charset="2"/>
              <a:buNone/>
            </a:pPr>
            <a:r>
              <a:rPr lang="zh-CN" altLang="en-US" dirty="0">
                <a:solidFill>
                  <a:srgbClr val="C00000"/>
                </a:solidFill>
                <a:ea typeface="黑体" pitchFamily="49" charset="-122"/>
              </a:rPr>
              <a:t>使用</a:t>
            </a:r>
            <a:r>
              <a:rPr lang="en-US" altLang="zh-CN" dirty="0">
                <a:solidFill>
                  <a:srgbClr val="C00000"/>
                </a:solidFill>
                <a:ea typeface="黑体" pitchFamily="49" charset="-122"/>
              </a:rPr>
              <a:t>A</a:t>
            </a:r>
            <a:r>
              <a:rPr lang="zh-CN" altLang="en-US" dirty="0">
                <a:solidFill>
                  <a:srgbClr val="C00000"/>
                </a:solidFill>
                <a:ea typeface="黑体" pitchFamily="49" charset="-122"/>
              </a:rPr>
              <a:t>属性可以</a:t>
            </a:r>
            <a:r>
              <a:rPr lang="zh-CN" altLang="en-US" dirty="0">
                <a:solidFill>
                  <a:srgbClr val="0000CC"/>
                </a:solidFill>
                <a:ea typeface="黑体" pitchFamily="49" charset="-122"/>
              </a:rPr>
              <a:t>提高一定的性能</a:t>
            </a:r>
            <a:endParaRPr lang="en-US" altLang="zh-CN" dirty="0">
              <a:solidFill>
                <a:srgbClr val="0000CC"/>
              </a:solidFill>
              <a:ea typeface="黑体" pitchFamily="49" charset="-122"/>
            </a:endParaRPr>
          </a:p>
          <a:p>
            <a:pPr>
              <a:lnSpc>
                <a:spcPct val="120000"/>
              </a:lnSpc>
              <a:buClr>
                <a:srgbClr val="FF3300"/>
              </a:buClr>
              <a:buFont typeface="Wingdings" pitchFamily="2" charset="2"/>
              <a:buNone/>
            </a:pPr>
            <a:r>
              <a:rPr lang="zh-CN" altLang="en-US" dirty="0">
                <a:solidFill>
                  <a:srgbClr val="C00000"/>
                </a:solidFill>
                <a:ea typeface="黑体" pitchFamily="49" charset="-122"/>
              </a:rPr>
              <a:t>使用</a:t>
            </a:r>
            <a:r>
              <a:rPr lang="en-US" altLang="zh-CN" dirty="0">
                <a:solidFill>
                  <a:srgbClr val="C00000"/>
                </a:solidFill>
                <a:ea typeface="黑体" pitchFamily="49" charset="-122"/>
              </a:rPr>
              <a:t>S</a:t>
            </a:r>
            <a:r>
              <a:rPr lang="zh-CN" altLang="en-US" dirty="0">
                <a:solidFill>
                  <a:srgbClr val="C00000"/>
                </a:solidFill>
                <a:ea typeface="黑体" pitchFamily="49" charset="-122"/>
              </a:rPr>
              <a:t>属性能够最大限度的保障文件的</a:t>
            </a:r>
            <a:r>
              <a:rPr lang="zh-CN" altLang="en-US" dirty="0">
                <a:solidFill>
                  <a:srgbClr val="0000CC"/>
                </a:solidFill>
                <a:ea typeface="黑体" pitchFamily="49" charset="-122"/>
              </a:rPr>
              <a:t>完整性</a:t>
            </a:r>
            <a:endParaRPr lang="en-US" altLang="zh-CN" dirty="0">
              <a:solidFill>
                <a:srgbClr val="0000CC"/>
              </a:solidFill>
              <a:ea typeface="黑体" pitchFamily="49" charset="-122"/>
            </a:endParaRPr>
          </a:p>
          <a:p>
            <a:pPr>
              <a:lnSpc>
                <a:spcPct val="120000"/>
              </a:lnSpc>
              <a:buClr>
                <a:srgbClr val="FF3300"/>
              </a:buClr>
              <a:buFont typeface="Wingdings" pitchFamily="2" charset="2"/>
              <a:buNone/>
            </a:pPr>
            <a:r>
              <a:rPr lang="en-US" altLang="zh-CN" dirty="0">
                <a:solidFill>
                  <a:srgbClr val="C00000"/>
                </a:solidFill>
                <a:ea typeface="黑体" pitchFamily="49" charset="-122"/>
              </a:rPr>
              <a:t>a</a:t>
            </a:r>
            <a:r>
              <a:rPr lang="zh-CN" altLang="en-US" dirty="0">
                <a:solidFill>
                  <a:srgbClr val="C00000"/>
                </a:solidFill>
                <a:ea typeface="黑体" pitchFamily="49" charset="-122"/>
              </a:rPr>
              <a:t>属性和</a:t>
            </a:r>
            <a:r>
              <a:rPr lang="en-US" altLang="zh-CN" dirty="0" err="1">
                <a:solidFill>
                  <a:srgbClr val="C00000"/>
                </a:solidFill>
                <a:ea typeface="黑体" pitchFamily="49" charset="-122"/>
              </a:rPr>
              <a:t>i</a:t>
            </a:r>
            <a:r>
              <a:rPr lang="zh-CN" altLang="en-US" dirty="0">
                <a:solidFill>
                  <a:srgbClr val="C00000"/>
                </a:solidFill>
                <a:ea typeface="黑体" pitchFamily="49" charset="-122"/>
              </a:rPr>
              <a:t>属性对于提高文件系统的</a:t>
            </a:r>
            <a:r>
              <a:rPr lang="zh-CN" altLang="en-US" dirty="0">
                <a:solidFill>
                  <a:srgbClr val="0000CC"/>
                </a:solidFill>
                <a:ea typeface="黑体" pitchFamily="49" charset="-122"/>
              </a:rPr>
              <a:t>安全性</a:t>
            </a:r>
            <a:r>
              <a:rPr lang="zh-CN" altLang="en-US" dirty="0">
                <a:solidFill>
                  <a:srgbClr val="C00000"/>
                </a:solidFill>
                <a:ea typeface="黑体" pitchFamily="49" charset="-122"/>
              </a:rPr>
              <a:t>和保障文件系统的</a:t>
            </a:r>
            <a:r>
              <a:rPr lang="zh-CN" altLang="en-US" dirty="0">
                <a:solidFill>
                  <a:srgbClr val="0000CC"/>
                </a:solidFill>
                <a:ea typeface="黑体" pitchFamily="49" charset="-122"/>
              </a:rPr>
              <a:t>完整性</a:t>
            </a:r>
            <a:r>
              <a:rPr lang="zh-CN" altLang="en-US" dirty="0">
                <a:solidFill>
                  <a:srgbClr val="C00000"/>
                </a:solidFill>
                <a:ea typeface="黑体" pitchFamily="49" charset="-122"/>
              </a:rPr>
              <a:t>有很大的好处</a:t>
            </a:r>
            <a:endParaRPr lang="en-US" altLang="zh-CN" dirty="0">
              <a:solidFill>
                <a:srgbClr val="C00000"/>
              </a:solidFill>
              <a:ea typeface="黑体" pitchFamily="49" charset="-122"/>
            </a:endParaRPr>
          </a:p>
        </p:txBody>
      </p:sp>
    </p:spTree>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显示</a:t>
            </a:r>
            <a:r>
              <a:rPr lang="en-US" altLang="zh-CN" dirty="0"/>
              <a:t>ext2/3/4 </a:t>
            </a:r>
            <a:r>
              <a:rPr lang="zh-CN" altLang="en-US" dirty="0"/>
              <a:t>文件扩展属性</a:t>
            </a:r>
          </a:p>
        </p:txBody>
      </p:sp>
      <p:sp>
        <p:nvSpPr>
          <p:cNvPr id="3" name="内容占位符 2"/>
          <p:cNvSpPr>
            <a:spLocks noGrp="1"/>
          </p:cNvSpPr>
          <p:nvPr>
            <p:ph idx="1"/>
          </p:nvPr>
        </p:nvSpPr>
        <p:spPr>
          <a:xfrm>
            <a:off x="503548" y="1484784"/>
            <a:ext cx="8136904" cy="4896544"/>
          </a:xfrm>
        </p:spPr>
        <p:txBody>
          <a:bodyPr/>
          <a:lstStyle/>
          <a:p>
            <a:r>
              <a:rPr lang="en-US" altLang="zh-CN" dirty="0"/>
              <a:t>lsattr</a:t>
            </a:r>
            <a:r>
              <a:rPr lang="zh-CN" altLang="en-US" dirty="0"/>
              <a:t>命令格式</a:t>
            </a:r>
            <a:endParaRPr lang="en-US" altLang="zh-CN" dirty="0"/>
          </a:p>
          <a:p>
            <a:pPr lvl="1">
              <a:buNone/>
            </a:pPr>
            <a:r>
              <a:rPr lang="en-US" altLang="zh-CN" dirty="0" err="1">
                <a:solidFill>
                  <a:srgbClr val="002060"/>
                </a:solidFill>
              </a:rPr>
              <a:t>lsattr</a:t>
            </a:r>
            <a:r>
              <a:rPr lang="en-US" altLang="zh-CN" dirty="0">
                <a:solidFill>
                  <a:srgbClr val="002060"/>
                </a:solidFill>
              </a:rPr>
              <a:t> [-</a:t>
            </a:r>
            <a:r>
              <a:rPr lang="en-US" altLang="zh-CN" dirty="0" err="1">
                <a:solidFill>
                  <a:srgbClr val="002060"/>
                </a:solidFill>
              </a:rPr>
              <a:t>adR</a:t>
            </a:r>
            <a:r>
              <a:rPr lang="en-US" altLang="zh-CN" dirty="0">
                <a:solidFill>
                  <a:srgbClr val="002060"/>
                </a:solidFill>
              </a:rPr>
              <a:t>] [</a:t>
            </a:r>
            <a:r>
              <a:rPr lang="zh-CN" altLang="en-US" dirty="0">
                <a:solidFill>
                  <a:srgbClr val="002060"/>
                </a:solidFill>
              </a:rPr>
              <a:t>文件</a:t>
            </a:r>
            <a:r>
              <a:rPr lang="en-US" altLang="zh-CN" dirty="0">
                <a:solidFill>
                  <a:srgbClr val="002060"/>
                </a:solidFill>
              </a:rPr>
              <a:t>|</a:t>
            </a:r>
            <a:r>
              <a:rPr lang="zh-CN" altLang="en-US" dirty="0">
                <a:solidFill>
                  <a:srgbClr val="002060"/>
                </a:solidFill>
              </a:rPr>
              <a:t>目录</a:t>
            </a:r>
            <a:r>
              <a:rPr lang="en-US" altLang="zh-CN" dirty="0">
                <a:solidFill>
                  <a:srgbClr val="002060"/>
                </a:solidFill>
              </a:rPr>
              <a:t>]</a:t>
            </a:r>
          </a:p>
          <a:p>
            <a:pPr lvl="1"/>
            <a:r>
              <a:rPr lang="en-US" altLang="zh-CN" dirty="0"/>
              <a:t>-a: </a:t>
            </a:r>
            <a:r>
              <a:rPr lang="zh-CN" altLang="en-US" dirty="0"/>
              <a:t>全部文件，包含隐含文件 </a:t>
            </a:r>
            <a:endParaRPr lang="en-US" altLang="zh-CN" dirty="0"/>
          </a:p>
          <a:p>
            <a:pPr lvl="1"/>
            <a:r>
              <a:rPr lang="en-US" altLang="zh-CN" dirty="0"/>
              <a:t>-d: </a:t>
            </a:r>
            <a:r>
              <a:rPr lang="zh-CN" altLang="en-US" dirty="0"/>
              <a:t>目录本身，而非目录中的内容 </a:t>
            </a:r>
          </a:p>
          <a:p>
            <a:pPr lvl="1"/>
            <a:r>
              <a:rPr lang="en-US" altLang="zh-CN" dirty="0"/>
              <a:t>-R: </a:t>
            </a:r>
            <a:r>
              <a:rPr lang="zh-CN" altLang="en-US" dirty="0"/>
              <a:t>递归方式，包含子目录 </a:t>
            </a:r>
          </a:p>
          <a:p>
            <a:r>
              <a:rPr lang="zh-CN" altLang="en-US" dirty="0"/>
              <a:t>举例 </a:t>
            </a:r>
          </a:p>
          <a:p>
            <a:pPr lvl="1"/>
            <a:r>
              <a:rPr lang="en-US" altLang="zh-CN" dirty="0"/>
              <a:t>lsattr </a:t>
            </a:r>
            <a:r>
              <a:rPr lang="en-US" altLang="zh-CN" dirty="0" err="1"/>
              <a:t>myfile</a:t>
            </a:r>
            <a:endParaRPr lang="en-US" altLang="zh-CN" dirty="0"/>
          </a:p>
          <a:p>
            <a:pPr lvl="1"/>
            <a:r>
              <a:rPr lang="en-US" altLang="zh-CN" dirty="0"/>
              <a:t>lsattr -R /etc</a:t>
            </a:r>
          </a:p>
          <a:p>
            <a:pPr lvl="1"/>
            <a:r>
              <a:rPr lang="en-US" altLang="zh-CN" dirty="0" err="1"/>
              <a:t>lsattr</a:t>
            </a:r>
            <a:r>
              <a:rPr lang="en-US" altLang="zh-CN" dirty="0"/>
              <a:t> -d /etc</a:t>
            </a:r>
            <a:endParaRPr lang="zh-CN" altLang="en-US" dirty="0"/>
          </a:p>
        </p:txBody>
      </p:sp>
    </p:spTree>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修改</a:t>
            </a:r>
            <a:r>
              <a:rPr lang="en-US" altLang="zh-CN" dirty="0"/>
              <a:t>ext2/3/4 </a:t>
            </a:r>
            <a:r>
              <a:rPr lang="zh-CN" altLang="en-US" dirty="0"/>
              <a:t>的文件扩展属性</a:t>
            </a:r>
          </a:p>
        </p:txBody>
      </p:sp>
      <p:sp>
        <p:nvSpPr>
          <p:cNvPr id="3" name="内容占位符 2"/>
          <p:cNvSpPr>
            <a:spLocks noGrp="1"/>
          </p:cNvSpPr>
          <p:nvPr>
            <p:ph idx="1"/>
          </p:nvPr>
        </p:nvSpPr>
        <p:spPr>
          <a:xfrm>
            <a:off x="899592" y="1412776"/>
            <a:ext cx="7638868" cy="5040560"/>
          </a:xfrm>
        </p:spPr>
        <p:txBody>
          <a:bodyPr/>
          <a:lstStyle/>
          <a:p>
            <a:r>
              <a:rPr lang="en-US" altLang="zh-CN" dirty="0" err="1"/>
              <a:t>chattr</a:t>
            </a:r>
            <a:r>
              <a:rPr lang="zh-CN" altLang="en-US" dirty="0"/>
              <a:t>命令格式</a:t>
            </a:r>
            <a:endParaRPr lang="en-US" altLang="zh-CN" dirty="0"/>
          </a:p>
          <a:p>
            <a:pPr lvl="1">
              <a:buNone/>
            </a:pPr>
            <a:r>
              <a:rPr lang="en-US" altLang="zh-CN" dirty="0" err="1">
                <a:solidFill>
                  <a:srgbClr val="002060"/>
                </a:solidFill>
              </a:rPr>
              <a:t>chattr</a:t>
            </a:r>
            <a:r>
              <a:rPr lang="en-US" altLang="zh-CN" dirty="0">
                <a:solidFill>
                  <a:srgbClr val="002060"/>
                </a:solidFill>
              </a:rPr>
              <a:t> [-R] [[-+=][</a:t>
            </a:r>
            <a:r>
              <a:rPr lang="zh-CN" altLang="en-US" dirty="0">
                <a:solidFill>
                  <a:srgbClr val="002060"/>
                </a:solidFill>
              </a:rPr>
              <a:t>属性</a:t>
            </a:r>
            <a:r>
              <a:rPr lang="en-US" altLang="zh-CN" dirty="0">
                <a:solidFill>
                  <a:srgbClr val="002060"/>
                </a:solidFill>
              </a:rPr>
              <a:t>]] &lt;</a:t>
            </a:r>
            <a:r>
              <a:rPr lang="zh-CN" altLang="en-US" dirty="0">
                <a:solidFill>
                  <a:srgbClr val="002060"/>
                </a:solidFill>
              </a:rPr>
              <a:t>文件</a:t>
            </a:r>
            <a:r>
              <a:rPr lang="en-US" altLang="zh-CN" dirty="0">
                <a:solidFill>
                  <a:srgbClr val="002060"/>
                </a:solidFill>
              </a:rPr>
              <a:t>|</a:t>
            </a:r>
            <a:r>
              <a:rPr lang="zh-CN" altLang="en-US" dirty="0">
                <a:solidFill>
                  <a:srgbClr val="002060"/>
                </a:solidFill>
              </a:rPr>
              <a:t>目录</a:t>
            </a:r>
            <a:r>
              <a:rPr lang="en-US" altLang="zh-CN" dirty="0">
                <a:solidFill>
                  <a:srgbClr val="002060"/>
                </a:solidFill>
              </a:rPr>
              <a:t>&gt;</a:t>
            </a:r>
          </a:p>
          <a:p>
            <a:pPr lvl="1"/>
            <a:r>
              <a:rPr lang="zh-CN" altLang="en-US" dirty="0"/>
              <a:t>设置方式：添加（</a:t>
            </a:r>
            <a:r>
              <a:rPr lang="en-US" altLang="zh-CN" dirty="0">
                <a:solidFill>
                  <a:srgbClr val="002060"/>
                </a:solidFill>
              </a:rPr>
              <a:t>+</a:t>
            </a:r>
            <a:r>
              <a:rPr lang="zh-CN" altLang="en-US" dirty="0"/>
              <a:t>）、删除（</a:t>
            </a:r>
            <a:r>
              <a:rPr lang="en-US" altLang="zh-CN" dirty="0">
                <a:solidFill>
                  <a:srgbClr val="002060"/>
                </a:solidFill>
              </a:rPr>
              <a:t>-</a:t>
            </a:r>
            <a:r>
              <a:rPr lang="zh-CN" altLang="en-US" dirty="0"/>
              <a:t>）、直接设置（</a:t>
            </a:r>
            <a:r>
              <a:rPr lang="en-US" altLang="zh-CN" dirty="0">
                <a:solidFill>
                  <a:srgbClr val="002060"/>
                </a:solidFill>
              </a:rPr>
              <a:t>=</a:t>
            </a:r>
            <a:r>
              <a:rPr lang="zh-CN" altLang="en-US" dirty="0"/>
              <a:t>）</a:t>
            </a:r>
            <a:endParaRPr lang="en-US" altLang="zh-CN" dirty="0"/>
          </a:p>
          <a:p>
            <a:pPr lvl="1"/>
            <a:r>
              <a:rPr lang="zh-CN" altLang="en-US" dirty="0"/>
              <a:t>常用属性：</a:t>
            </a:r>
            <a:r>
              <a:rPr lang="en-US" altLang="zh-CN" dirty="0">
                <a:solidFill>
                  <a:srgbClr val="C00000"/>
                </a:solidFill>
              </a:rPr>
              <a:t>A</a:t>
            </a:r>
            <a:r>
              <a:rPr lang="zh-CN" altLang="en-US" dirty="0"/>
              <a:t>（</a:t>
            </a:r>
            <a:r>
              <a:rPr lang="en-US" altLang="zh-CN" dirty="0" err="1"/>
              <a:t>Atime</a:t>
            </a:r>
            <a:r>
              <a:rPr lang="zh-CN" altLang="en-US" dirty="0"/>
              <a:t>）、</a:t>
            </a:r>
            <a:r>
              <a:rPr lang="en-US" altLang="zh-CN" dirty="0">
                <a:solidFill>
                  <a:srgbClr val="C00000"/>
                </a:solidFill>
              </a:rPr>
              <a:t>S</a:t>
            </a:r>
            <a:r>
              <a:rPr lang="zh-CN" altLang="en-US" dirty="0"/>
              <a:t>（</a:t>
            </a:r>
            <a:r>
              <a:rPr lang="en-US" altLang="zh-CN" dirty="0"/>
              <a:t>Sync</a:t>
            </a:r>
            <a:r>
              <a:rPr lang="zh-CN" altLang="en-US" dirty="0"/>
              <a:t>）、</a:t>
            </a:r>
            <a:r>
              <a:rPr lang="en-US" altLang="zh-CN" dirty="0">
                <a:solidFill>
                  <a:srgbClr val="C00000"/>
                </a:solidFill>
              </a:rPr>
              <a:t>a</a:t>
            </a:r>
            <a:r>
              <a:rPr lang="zh-CN" altLang="en-US" dirty="0"/>
              <a:t>（</a:t>
            </a:r>
            <a:r>
              <a:rPr lang="en-US" altLang="zh-CN" dirty="0"/>
              <a:t>Append Only</a:t>
            </a:r>
            <a:r>
              <a:rPr lang="zh-CN" altLang="en-US" dirty="0"/>
              <a:t>）、</a:t>
            </a:r>
            <a:r>
              <a:rPr lang="en-US" altLang="zh-CN" dirty="0" err="1">
                <a:solidFill>
                  <a:srgbClr val="C00000"/>
                </a:solidFill>
              </a:rPr>
              <a:t>i</a:t>
            </a:r>
            <a:r>
              <a:rPr lang="zh-CN" altLang="en-US" dirty="0"/>
              <a:t>（</a:t>
            </a:r>
            <a:r>
              <a:rPr lang="en-US" altLang="zh-CN" dirty="0"/>
              <a:t>Immutable</a:t>
            </a:r>
            <a:r>
              <a:rPr lang="zh-CN" altLang="en-US" dirty="0"/>
              <a:t>）</a:t>
            </a:r>
            <a:endParaRPr lang="en-US" altLang="zh-CN" dirty="0"/>
          </a:p>
          <a:p>
            <a:r>
              <a:rPr lang="zh-CN" altLang="en-US" dirty="0"/>
              <a:t>举例</a:t>
            </a:r>
            <a:endParaRPr lang="en-US" altLang="zh-CN" dirty="0"/>
          </a:p>
          <a:p>
            <a:pPr lvl="1"/>
            <a:r>
              <a:rPr lang="en-US" altLang="zh-CN" dirty="0" err="1"/>
              <a:t>chattr</a:t>
            </a:r>
            <a:r>
              <a:rPr lang="en-US" altLang="zh-CN" dirty="0"/>
              <a:t> +a my.log</a:t>
            </a:r>
          </a:p>
          <a:p>
            <a:pPr lvl="1"/>
            <a:r>
              <a:rPr lang="en-US" altLang="zh-CN" dirty="0" err="1"/>
              <a:t>chattr</a:t>
            </a:r>
            <a:r>
              <a:rPr lang="en-US" altLang="zh-CN" dirty="0"/>
              <a:t> +</a:t>
            </a:r>
            <a:r>
              <a:rPr lang="en-US" altLang="zh-CN" dirty="0" err="1"/>
              <a:t>i</a:t>
            </a:r>
            <a:r>
              <a:rPr lang="en-US" altLang="zh-CN" dirty="0"/>
              <a:t> /etc/</a:t>
            </a:r>
            <a:r>
              <a:rPr lang="en-US" altLang="zh-CN" dirty="0" err="1"/>
              <a:t>passwd</a:t>
            </a:r>
            <a:endParaRPr lang="en-US" altLang="zh-CN" dirty="0"/>
          </a:p>
          <a:p>
            <a:pPr lvl="1"/>
            <a:r>
              <a:rPr lang="en-US" altLang="zh-CN" dirty="0" err="1"/>
              <a:t>chattr</a:t>
            </a:r>
            <a:r>
              <a:rPr lang="en-US" altLang="zh-CN" dirty="0"/>
              <a:t> -</a:t>
            </a:r>
            <a:r>
              <a:rPr lang="en-US" altLang="zh-CN" dirty="0" err="1"/>
              <a:t>i</a:t>
            </a:r>
            <a:r>
              <a:rPr lang="en-US" altLang="zh-CN" dirty="0"/>
              <a:t> /etc/</a:t>
            </a:r>
            <a:r>
              <a:rPr lang="en-US" altLang="zh-CN" dirty="0" err="1"/>
              <a:t>passwd</a:t>
            </a:r>
            <a:endParaRPr lang="zh-CN" altLang="en-US" dirty="0"/>
          </a:p>
        </p:txBody>
      </p:sp>
    </p:spTree>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设置文件扩展属性注意事项</a:t>
            </a:r>
          </a:p>
        </p:txBody>
      </p:sp>
      <p:sp>
        <p:nvSpPr>
          <p:cNvPr id="3" name="内容占位符 2"/>
          <p:cNvSpPr>
            <a:spLocks noGrp="1"/>
          </p:cNvSpPr>
          <p:nvPr>
            <p:ph idx="1"/>
          </p:nvPr>
        </p:nvSpPr>
        <p:spPr>
          <a:xfrm>
            <a:off x="899592" y="1484784"/>
            <a:ext cx="7772400" cy="5040560"/>
          </a:xfrm>
        </p:spPr>
        <p:txBody>
          <a:bodyPr/>
          <a:lstStyle/>
          <a:p>
            <a:r>
              <a:rPr lang="zh-CN" altLang="en-US" dirty="0"/>
              <a:t>虽然属性能够提高系统的安全性，但是它并不适合所有的目录。</a:t>
            </a:r>
            <a:endParaRPr lang="en-US" altLang="zh-CN" dirty="0"/>
          </a:p>
          <a:p>
            <a:r>
              <a:rPr lang="zh-CN" altLang="en-US" dirty="0"/>
              <a:t>为了保证系统的正常运行，注意如下目录的扩展属性</a:t>
            </a:r>
            <a:endParaRPr lang="en-US" altLang="zh-CN" dirty="0"/>
          </a:p>
          <a:p>
            <a:pPr lvl="1"/>
            <a:r>
              <a:rPr lang="en-US" altLang="zh-CN" dirty="0">
                <a:solidFill>
                  <a:srgbClr val="FF0000"/>
                </a:solidFill>
              </a:rPr>
              <a:t>/ </a:t>
            </a:r>
            <a:r>
              <a:rPr lang="zh-CN" altLang="en-US" dirty="0"/>
              <a:t>文件系统</a:t>
            </a:r>
            <a:r>
              <a:rPr lang="zh-CN" altLang="en-US" dirty="0">
                <a:solidFill>
                  <a:srgbClr val="FF0000"/>
                </a:solidFill>
              </a:rPr>
              <a:t>不能设置</a:t>
            </a:r>
            <a:r>
              <a:rPr lang="en-US" altLang="zh-CN" dirty="0">
                <a:solidFill>
                  <a:srgbClr val="FF0000"/>
                </a:solidFill>
              </a:rPr>
              <a:t>immutable</a:t>
            </a:r>
            <a:r>
              <a:rPr lang="zh-CN" altLang="en-US" dirty="0"/>
              <a:t>属性</a:t>
            </a:r>
          </a:p>
          <a:p>
            <a:pPr lvl="1"/>
            <a:r>
              <a:rPr lang="en-US" altLang="zh-CN" dirty="0">
                <a:solidFill>
                  <a:srgbClr val="FF0000"/>
                </a:solidFill>
              </a:rPr>
              <a:t>/dev </a:t>
            </a:r>
            <a:r>
              <a:rPr lang="zh-CN" altLang="en-US" dirty="0"/>
              <a:t>目录</a:t>
            </a:r>
            <a:r>
              <a:rPr lang="zh-CN" altLang="en-US" dirty="0">
                <a:solidFill>
                  <a:srgbClr val="FF0000"/>
                </a:solidFill>
              </a:rPr>
              <a:t>不能设置</a:t>
            </a:r>
            <a:r>
              <a:rPr lang="en-US" altLang="zh-CN" dirty="0">
                <a:solidFill>
                  <a:srgbClr val="FF0000"/>
                </a:solidFill>
              </a:rPr>
              <a:t>immutable</a:t>
            </a:r>
            <a:r>
              <a:rPr lang="zh-CN" altLang="en-US" dirty="0"/>
              <a:t>和</a:t>
            </a:r>
            <a:r>
              <a:rPr lang="en-US" altLang="zh-CN" dirty="0">
                <a:solidFill>
                  <a:srgbClr val="FF0000"/>
                </a:solidFill>
              </a:rPr>
              <a:t>append-only</a:t>
            </a:r>
            <a:r>
              <a:rPr lang="zh-CN" altLang="en-US" dirty="0"/>
              <a:t>属性</a:t>
            </a:r>
          </a:p>
          <a:p>
            <a:pPr lvl="1"/>
            <a:r>
              <a:rPr lang="en-US" altLang="zh-CN" dirty="0">
                <a:solidFill>
                  <a:srgbClr val="FF0000"/>
                </a:solidFill>
              </a:rPr>
              <a:t>/</a:t>
            </a:r>
            <a:r>
              <a:rPr lang="en-US" altLang="zh-CN" dirty="0" err="1">
                <a:solidFill>
                  <a:srgbClr val="FF0000"/>
                </a:solidFill>
              </a:rPr>
              <a:t>tmp</a:t>
            </a:r>
            <a:r>
              <a:rPr lang="en-US" altLang="zh-CN" dirty="0">
                <a:solidFill>
                  <a:srgbClr val="FF0000"/>
                </a:solidFill>
              </a:rPr>
              <a:t> </a:t>
            </a:r>
            <a:r>
              <a:rPr lang="zh-CN" altLang="en-US" dirty="0"/>
              <a:t>目录</a:t>
            </a:r>
            <a:r>
              <a:rPr lang="zh-CN" altLang="en-US" dirty="0">
                <a:solidFill>
                  <a:srgbClr val="FF0000"/>
                </a:solidFill>
              </a:rPr>
              <a:t>不能设置</a:t>
            </a:r>
            <a:r>
              <a:rPr lang="en-US" altLang="zh-CN" dirty="0">
                <a:solidFill>
                  <a:srgbClr val="FF0000"/>
                </a:solidFill>
              </a:rPr>
              <a:t>immutable</a:t>
            </a:r>
            <a:r>
              <a:rPr lang="zh-CN" altLang="en-US" dirty="0"/>
              <a:t>和</a:t>
            </a:r>
            <a:r>
              <a:rPr lang="en-US" altLang="zh-CN" dirty="0">
                <a:solidFill>
                  <a:srgbClr val="FF0000"/>
                </a:solidFill>
              </a:rPr>
              <a:t>append-only</a:t>
            </a:r>
            <a:r>
              <a:rPr lang="zh-CN" altLang="en-US" dirty="0"/>
              <a:t>属性</a:t>
            </a:r>
          </a:p>
          <a:p>
            <a:pPr lvl="1"/>
            <a:r>
              <a:rPr lang="en-US" altLang="zh-CN" dirty="0">
                <a:solidFill>
                  <a:srgbClr val="FF0000"/>
                </a:solidFill>
              </a:rPr>
              <a:t>/</a:t>
            </a:r>
            <a:r>
              <a:rPr lang="en-US" altLang="zh-CN" dirty="0" err="1">
                <a:solidFill>
                  <a:srgbClr val="FF0000"/>
                </a:solidFill>
              </a:rPr>
              <a:t>var</a:t>
            </a:r>
            <a:r>
              <a:rPr lang="en-US" altLang="zh-CN" dirty="0">
                <a:solidFill>
                  <a:srgbClr val="FF0000"/>
                </a:solidFill>
              </a:rPr>
              <a:t> </a:t>
            </a:r>
            <a:r>
              <a:rPr lang="zh-CN" altLang="en-US" dirty="0"/>
              <a:t>目录</a:t>
            </a:r>
            <a:r>
              <a:rPr lang="zh-CN" altLang="en-US" dirty="0">
                <a:solidFill>
                  <a:srgbClr val="FF0000"/>
                </a:solidFill>
              </a:rPr>
              <a:t>不能设置</a:t>
            </a:r>
            <a:r>
              <a:rPr lang="en-US" altLang="zh-CN" dirty="0">
                <a:solidFill>
                  <a:srgbClr val="FF0000"/>
                </a:solidFill>
              </a:rPr>
              <a:t>immutable</a:t>
            </a:r>
            <a:r>
              <a:rPr lang="zh-CN" altLang="en-US" dirty="0"/>
              <a:t>属性</a:t>
            </a:r>
          </a:p>
        </p:txBody>
      </p:sp>
    </p:spTree>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文件访问控制列表简介</a:t>
            </a:r>
          </a:p>
        </p:txBody>
      </p:sp>
      <p:sp>
        <p:nvSpPr>
          <p:cNvPr id="3" name="内容占位符 2"/>
          <p:cNvSpPr>
            <a:spLocks noGrp="1"/>
          </p:cNvSpPr>
          <p:nvPr>
            <p:ph idx="1"/>
          </p:nvPr>
        </p:nvSpPr>
        <p:spPr>
          <a:xfrm>
            <a:off x="467544" y="1484784"/>
            <a:ext cx="8352928" cy="5040560"/>
          </a:xfrm>
        </p:spPr>
        <p:txBody>
          <a:bodyPr/>
          <a:lstStyle/>
          <a:p>
            <a:pPr>
              <a:lnSpc>
                <a:spcPct val="120000"/>
              </a:lnSpc>
            </a:pPr>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err="1"/>
              <a:t>sudo</a:t>
            </a:r>
            <a:r>
              <a:rPr lang="en-US" altLang="zh-CN" sz="2400" dirty="0"/>
              <a:t> </a:t>
            </a:r>
            <a:r>
              <a:rPr lang="en-US" altLang="zh-CN" sz="2400" dirty="0" err="1"/>
              <a:t>mkdir</a:t>
            </a:r>
            <a:r>
              <a:rPr lang="en-US" altLang="zh-CN" sz="2400" dirty="0"/>
              <a:t> /data</a:t>
            </a:r>
          </a:p>
          <a:p>
            <a:pPr>
              <a:lnSpc>
                <a:spcPct val="120000"/>
              </a:lnSpc>
            </a:pPr>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err="1"/>
              <a:t>sudo</a:t>
            </a:r>
            <a:r>
              <a:rPr lang="en-US" altLang="zh-CN" sz="2400" dirty="0"/>
              <a:t> ls -</a:t>
            </a:r>
            <a:r>
              <a:rPr lang="en-US" altLang="zh-CN" sz="2400" dirty="0" err="1"/>
              <a:t>ld</a:t>
            </a:r>
            <a:r>
              <a:rPr lang="en-US" altLang="zh-CN" sz="2400" dirty="0"/>
              <a:t> /data</a:t>
            </a:r>
          </a:p>
          <a:p>
            <a:pPr>
              <a:lnSpc>
                <a:spcPct val="120000"/>
              </a:lnSpc>
            </a:pPr>
            <a:r>
              <a:rPr lang="en-US" altLang="zh-CN" sz="2400" dirty="0" err="1"/>
              <a:t>drwxr</a:t>
            </a:r>
            <a:r>
              <a:rPr lang="en-US" altLang="zh-CN" sz="2400" dirty="0"/>
              <a:t>-</a:t>
            </a:r>
            <a:r>
              <a:rPr lang="en-US" altLang="zh-CN" sz="2400" dirty="0" err="1"/>
              <a:t>xr</a:t>
            </a:r>
            <a:r>
              <a:rPr lang="en-US" altLang="zh-CN" sz="2400" dirty="0"/>
              <a:t>-x. 2 root </a:t>
            </a:r>
            <a:r>
              <a:rPr lang="en-US" altLang="zh-CN" sz="2400" dirty="0" err="1"/>
              <a:t>root</a:t>
            </a:r>
            <a:r>
              <a:rPr lang="en-US" altLang="zh-CN" sz="2400" dirty="0"/>
              <a:t> 4096 Apr 18 05:21 /</a:t>
            </a:r>
            <a:r>
              <a:rPr lang="en-US" altLang="zh-CN" sz="2400" dirty="0" smtClean="0"/>
              <a:t>data</a:t>
            </a:r>
          </a:p>
          <a:p>
            <a:pPr>
              <a:lnSpc>
                <a:spcPct val="120000"/>
              </a:lnSpc>
            </a:pPr>
            <a:endParaRPr lang="en-US" altLang="zh-CN" sz="2400" dirty="0"/>
          </a:p>
          <a:p>
            <a:pPr>
              <a:lnSpc>
                <a:spcPct val="120000"/>
              </a:lnSpc>
            </a:pPr>
            <a:r>
              <a:rPr lang="zh-CN" altLang="en-US" sz="2400" dirty="0" smtClean="0"/>
              <a:t>如果用户</a:t>
            </a:r>
            <a:r>
              <a:rPr lang="en-US" altLang="zh-CN" sz="2400" dirty="0" smtClean="0"/>
              <a:t>Tom</a:t>
            </a:r>
            <a:r>
              <a:rPr lang="zh-CN" altLang="en-US" sz="2400" dirty="0" smtClean="0"/>
              <a:t>需要</a:t>
            </a:r>
            <a:r>
              <a:rPr lang="en-US" altLang="zh-CN" sz="2400" dirty="0" smtClean="0"/>
              <a:t>/data</a:t>
            </a:r>
            <a:r>
              <a:rPr lang="zh-CN" altLang="en-US" sz="2400" dirty="0" smtClean="0"/>
              <a:t>目录的完全访问权限，如何实现？</a:t>
            </a:r>
            <a:endParaRPr lang="en-US" altLang="zh-CN" sz="2400" dirty="0" smtClean="0"/>
          </a:p>
          <a:p>
            <a:pPr marL="0" indent="0">
              <a:lnSpc>
                <a:spcPct val="120000"/>
              </a:lnSpc>
              <a:buNone/>
            </a:pPr>
            <a:r>
              <a:rPr lang="en-US" altLang="zh-CN" sz="2400" dirty="0" smtClean="0"/>
              <a:t>              </a:t>
            </a:r>
            <a:r>
              <a:rPr lang="en-US" altLang="zh-CN" sz="2400" dirty="0" err="1" smtClean="0"/>
              <a:t>drwxr-x</a:t>
            </a:r>
            <a:r>
              <a:rPr lang="en-US" altLang="zh-CN" sz="2400" dirty="0" err="1" smtClean="0">
                <a:solidFill>
                  <a:srgbClr val="FF0000"/>
                </a:solidFill>
              </a:rPr>
              <a:t>rwx</a:t>
            </a:r>
            <a:r>
              <a:rPr lang="en-US" altLang="zh-CN" sz="2400" dirty="0" smtClean="0">
                <a:solidFill>
                  <a:srgbClr val="FF0000"/>
                </a:solidFill>
              </a:rPr>
              <a:t>           </a:t>
            </a:r>
            <a:r>
              <a:rPr lang="en-US" altLang="zh-CN" sz="2400" dirty="0" smtClean="0"/>
              <a:t>or</a:t>
            </a:r>
            <a:r>
              <a:rPr lang="en-US" altLang="zh-CN" sz="2400" dirty="0" smtClean="0">
                <a:solidFill>
                  <a:srgbClr val="FF0000"/>
                </a:solidFill>
              </a:rPr>
              <a:t>            </a:t>
            </a:r>
            <a:r>
              <a:rPr lang="en-US" altLang="zh-CN" sz="2400" dirty="0" err="1" smtClean="0"/>
              <a:t>drwx</a:t>
            </a:r>
            <a:r>
              <a:rPr lang="en-US" altLang="zh-CN" sz="2400" dirty="0" err="1" smtClean="0">
                <a:solidFill>
                  <a:srgbClr val="FF0000"/>
                </a:solidFill>
              </a:rPr>
              <a:t>rwx</a:t>
            </a:r>
            <a:r>
              <a:rPr lang="en-US" altLang="zh-CN" sz="2400" dirty="0" err="1" smtClean="0"/>
              <a:t>r</a:t>
            </a:r>
            <a:r>
              <a:rPr lang="en-US" altLang="zh-CN" sz="2400" dirty="0" smtClean="0"/>
              <a:t>-x</a:t>
            </a:r>
            <a:endParaRPr lang="en-US" altLang="zh-CN" sz="2400" dirty="0">
              <a:solidFill>
                <a:srgbClr val="FF0000"/>
              </a:solidFill>
            </a:endParaRPr>
          </a:p>
          <a:p>
            <a:pPr>
              <a:lnSpc>
                <a:spcPct val="120000"/>
              </a:lnSpc>
            </a:pPr>
            <a:endParaRPr lang="en-US" altLang="zh-CN" sz="2000" dirty="0"/>
          </a:p>
        </p:txBody>
      </p:sp>
      <p:sp>
        <p:nvSpPr>
          <p:cNvPr id="5" name="动作按钮: 帮助 4">
            <a:hlinkClick r:id="" action="ppaction://noaction" highlightClick="1"/>
          </p:cNvPr>
          <p:cNvSpPr/>
          <p:nvPr/>
        </p:nvSpPr>
        <p:spPr bwMode="auto">
          <a:xfrm>
            <a:off x="4319972" y="4869160"/>
            <a:ext cx="504056" cy="648072"/>
          </a:xfrm>
          <a:prstGeom prst="actionButtonHelp">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pPr>
            <a:endParaRPr kumimoji="0" lang="zh-CN" altLang="en-US" sz="1800" b="0" i="0" u="none" strike="noStrike" cap="none" normalizeH="0" baseline="0" smtClean="0">
              <a:ln>
                <a:noFill/>
              </a:ln>
              <a:solidFill>
                <a:schemeClr val="tx1"/>
              </a:solidFill>
              <a:effectLst/>
              <a:latin typeface="Tahoma" panose="020B0604030504040204" pitchFamily="34" charset="0"/>
              <a:ea typeface="宋体" panose="02010600030101010101" pitchFamily="2" charset="-122"/>
            </a:endParaRPr>
          </a:p>
        </p:txBody>
      </p:sp>
    </p:spTree>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文件访问控制列表简介</a:t>
            </a:r>
          </a:p>
        </p:txBody>
      </p:sp>
      <p:sp>
        <p:nvSpPr>
          <p:cNvPr id="3" name="内容占位符 2"/>
          <p:cNvSpPr>
            <a:spLocks noGrp="1"/>
          </p:cNvSpPr>
          <p:nvPr>
            <p:ph idx="1"/>
          </p:nvPr>
        </p:nvSpPr>
        <p:spPr>
          <a:xfrm>
            <a:off x="827584" y="1484784"/>
            <a:ext cx="7992888" cy="5040560"/>
          </a:xfrm>
        </p:spPr>
        <p:txBody>
          <a:bodyPr/>
          <a:lstStyle/>
          <a:p>
            <a:pPr>
              <a:lnSpc>
                <a:spcPct val="120000"/>
              </a:lnSpc>
            </a:pPr>
            <a:r>
              <a:rPr lang="en-US" altLang="zh-CN" sz="2400" dirty="0"/>
              <a:t>IEEE POSIX 1003.1e </a:t>
            </a:r>
            <a:r>
              <a:rPr lang="zh-CN" altLang="en-US" sz="2400" dirty="0"/>
              <a:t>制定了</a:t>
            </a:r>
            <a:r>
              <a:rPr lang="en-US" altLang="zh-CN" sz="2400" dirty="0"/>
              <a:t>ACL</a:t>
            </a:r>
            <a:r>
              <a:rPr lang="zh-CN" altLang="en-US" sz="2400" dirty="0"/>
              <a:t>标准。</a:t>
            </a:r>
            <a:endParaRPr lang="en-US" altLang="zh-CN" sz="2400" dirty="0"/>
          </a:p>
          <a:p>
            <a:pPr>
              <a:lnSpc>
                <a:spcPct val="120000"/>
              </a:lnSpc>
            </a:pPr>
            <a:r>
              <a:rPr lang="en-US" altLang="zh-CN" sz="2400" dirty="0" smtClean="0"/>
              <a:t>ACL</a:t>
            </a:r>
            <a:r>
              <a:rPr lang="zh-CN" altLang="en-US" sz="2400" dirty="0"/>
              <a:t>是文件</a:t>
            </a:r>
            <a:r>
              <a:rPr lang="zh-CN" altLang="en-US" sz="2400" b="1" dirty="0">
                <a:solidFill>
                  <a:srgbClr val="FF0000"/>
                </a:solidFill>
              </a:rPr>
              <a:t>访问控制列表</a:t>
            </a:r>
            <a:r>
              <a:rPr lang="zh-CN" altLang="en-US" sz="2400" dirty="0"/>
              <a:t>（</a:t>
            </a:r>
            <a:r>
              <a:rPr lang="en-US" altLang="zh-CN" sz="2400" dirty="0"/>
              <a:t>File Access Control Lists</a:t>
            </a:r>
            <a:r>
              <a:rPr lang="zh-CN" altLang="en-US" sz="2400" dirty="0"/>
              <a:t>）的缩写，简称 </a:t>
            </a:r>
            <a:r>
              <a:rPr lang="en-US" altLang="zh-CN" sz="2400" dirty="0"/>
              <a:t>ACL</a:t>
            </a:r>
          </a:p>
          <a:p>
            <a:pPr>
              <a:lnSpc>
                <a:spcPct val="120000"/>
              </a:lnSpc>
            </a:pPr>
            <a:r>
              <a:rPr lang="en-US" altLang="zh-CN" sz="2400" dirty="0"/>
              <a:t>ACL</a:t>
            </a:r>
            <a:r>
              <a:rPr lang="zh-CN" altLang="en-US" sz="2400" dirty="0"/>
              <a:t>给予用户和管理员</a:t>
            </a:r>
            <a:r>
              <a:rPr lang="zh-CN" altLang="en-US" sz="2400" b="1" dirty="0">
                <a:solidFill>
                  <a:srgbClr val="FF0000"/>
                </a:solidFill>
              </a:rPr>
              <a:t>更灵活</a:t>
            </a:r>
            <a:r>
              <a:rPr lang="zh-CN" altLang="en-US" sz="2400" dirty="0"/>
              <a:t>的控制文件读写和权限赋予的能力。</a:t>
            </a:r>
            <a:endParaRPr lang="en-US" altLang="zh-CN" sz="2400" dirty="0"/>
          </a:p>
          <a:p>
            <a:pPr lvl="1">
              <a:lnSpc>
                <a:spcPct val="120000"/>
              </a:lnSpc>
            </a:pPr>
            <a:r>
              <a:rPr lang="en-US" altLang="zh-CN" sz="2000" dirty="0"/>
              <a:t>ACL </a:t>
            </a:r>
            <a:r>
              <a:rPr lang="zh-CN" altLang="en-US" sz="2000" dirty="0"/>
              <a:t>是标准</a:t>
            </a:r>
            <a:r>
              <a:rPr lang="en-US" altLang="zh-CN" sz="2000" dirty="0"/>
              <a:t>UNIX</a:t>
            </a:r>
            <a:r>
              <a:rPr lang="zh-CN" altLang="en-US" sz="2000" dirty="0"/>
              <a:t>文件属性（</a:t>
            </a:r>
            <a:r>
              <a:rPr lang="en-US" altLang="zh-CN" sz="2000" dirty="0"/>
              <a:t>r</a:t>
            </a:r>
            <a:r>
              <a:rPr lang="zh-CN" altLang="en-US" sz="2000" dirty="0"/>
              <a:t>，</a:t>
            </a:r>
            <a:r>
              <a:rPr lang="en-US" altLang="zh-CN" sz="2000" dirty="0"/>
              <a:t>w</a:t>
            </a:r>
            <a:r>
              <a:rPr lang="zh-CN" altLang="en-US" sz="2000" dirty="0"/>
              <a:t>，</a:t>
            </a:r>
            <a:r>
              <a:rPr lang="en-US" altLang="zh-CN" sz="2000" dirty="0"/>
              <a:t>x</a:t>
            </a:r>
            <a:r>
              <a:rPr lang="zh-CN" altLang="en-US" sz="2000" dirty="0"/>
              <a:t>）的</a:t>
            </a:r>
            <a:r>
              <a:rPr lang="zh-CN" altLang="en-US" sz="2000" dirty="0">
                <a:solidFill>
                  <a:srgbClr val="FF0000"/>
                </a:solidFill>
              </a:rPr>
              <a:t>附加扩展</a:t>
            </a:r>
          </a:p>
          <a:p>
            <a:pPr lvl="1">
              <a:lnSpc>
                <a:spcPct val="120000"/>
              </a:lnSpc>
            </a:pPr>
            <a:r>
              <a:rPr lang="en-US" altLang="zh-CN" sz="2000" dirty="0"/>
              <a:t>ACL </a:t>
            </a:r>
            <a:r>
              <a:rPr lang="zh-CN" altLang="en-US" sz="2000" dirty="0"/>
              <a:t>可以针对</a:t>
            </a:r>
            <a:r>
              <a:rPr lang="zh-CN" altLang="en-US" sz="2000" dirty="0">
                <a:solidFill>
                  <a:srgbClr val="FF0000"/>
                </a:solidFill>
              </a:rPr>
              <a:t>任意</a:t>
            </a:r>
            <a:r>
              <a:rPr lang="zh-CN" altLang="en-US" sz="2000" dirty="0"/>
              <a:t>指定的</a:t>
            </a:r>
            <a:r>
              <a:rPr lang="zh-CN" altLang="en-US" sz="2000" dirty="0">
                <a:solidFill>
                  <a:srgbClr val="FF0000"/>
                </a:solidFill>
              </a:rPr>
              <a:t>用户</a:t>
            </a:r>
            <a:r>
              <a:rPr lang="en-US" altLang="zh-CN" sz="2000" dirty="0">
                <a:solidFill>
                  <a:srgbClr val="FF0000"/>
                </a:solidFill>
              </a:rPr>
              <a:t>/</a:t>
            </a:r>
            <a:r>
              <a:rPr lang="zh-CN" altLang="en-US" sz="2000" dirty="0">
                <a:solidFill>
                  <a:srgbClr val="FF0000"/>
                </a:solidFill>
              </a:rPr>
              <a:t>组</a:t>
            </a:r>
            <a:r>
              <a:rPr lang="zh-CN" altLang="en-US" sz="2000" dirty="0"/>
              <a:t>分配</a:t>
            </a:r>
            <a:r>
              <a:rPr lang="en-US" altLang="zh-CN" sz="2000" dirty="0"/>
              <a:t>RWX</a:t>
            </a:r>
            <a:r>
              <a:rPr lang="zh-CN" altLang="en-US" sz="2000" dirty="0"/>
              <a:t>权限</a:t>
            </a:r>
            <a:endParaRPr lang="en-US" altLang="zh-CN" sz="2000" dirty="0"/>
          </a:p>
          <a:p>
            <a:pPr lvl="1">
              <a:lnSpc>
                <a:spcPct val="120000"/>
              </a:lnSpc>
            </a:pPr>
            <a:r>
              <a:rPr lang="en-US" altLang="zh-CN" sz="2000" dirty="0"/>
              <a:t>ACL </a:t>
            </a:r>
            <a:r>
              <a:rPr lang="zh-CN" altLang="en-US" sz="2000" dirty="0"/>
              <a:t>允许用户共享文件</a:t>
            </a:r>
            <a:r>
              <a:rPr lang="zh-CN" altLang="en-US" sz="2000" dirty="0">
                <a:solidFill>
                  <a:srgbClr val="FF0000"/>
                </a:solidFill>
              </a:rPr>
              <a:t>避免</a:t>
            </a:r>
            <a:r>
              <a:rPr lang="zh-CN" altLang="en-US" sz="2000" dirty="0"/>
              <a:t>使用冒险的 </a:t>
            </a:r>
            <a:r>
              <a:rPr lang="en-US" altLang="zh-CN" sz="2000" dirty="0">
                <a:solidFill>
                  <a:srgbClr val="FF0000"/>
                </a:solidFill>
              </a:rPr>
              <a:t>777</a:t>
            </a:r>
            <a:r>
              <a:rPr lang="en-US" altLang="zh-CN" sz="2000" dirty="0"/>
              <a:t> </a:t>
            </a:r>
            <a:r>
              <a:rPr lang="zh-CN" altLang="en-US" sz="2000" dirty="0"/>
              <a:t>权限</a:t>
            </a:r>
            <a:endParaRPr lang="en-US" altLang="zh-CN" sz="2000" dirty="0"/>
          </a:p>
          <a:p>
            <a:pPr>
              <a:lnSpc>
                <a:spcPct val="120000"/>
              </a:lnSpc>
            </a:pPr>
            <a:r>
              <a:rPr lang="zh-CN" altLang="en-US" sz="2400" dirty="0"/>
              <a:t>支持</a:t>
            </a:r>
            <a:r>
              <a:rPr lang="en-US" altLang="zh-CN" sz="2400" dirty="0">
                <a:solidFill>
                  <a:srgbClr val="FF0000"/>
                </a:solidFill>
              </a:rPr>
              <a:t>FACL</a:t>
            </a:r>
            <a:r>
              <a:rPr lang="zh-CN" altLang="en-US" sz="2400" dirty="0">
                <a:solidFill>
                  <a:srgbClr val="FF0000"/>
                </a:solidFill>
              </a:rPr>
              <a:t>的操作系统</a:t>
            </a:r>
            <a:endParaRPr lang="en-US" altLang="zh-CN" sz="2400" dirty="0">
              <a:solidFill>
                <a:srgbClr val="FF0000"/>
              </a:solidFill>
            </a:endParaRPr>
          </a:p>
          <a:p>
            <a:pPr lvl="1">
              <a:lnSpc>
                <a:spcPct val="120000"/>
              </a:lnSpc>
            </a:pPr>
            <a:r>
              <a:rPr lang="zh-CN" altLang="en-US" sz="2000" dirty="0"/>
              <a:t>主流的商业 </a:t>
            </a:r>
            <a:r>
              <a:rPr lang="en-US" altLang="zh-CN" sz="2000" dirty="0"/>
              <a:t>UNIX </a:t>
            </a:r>
            <a:r>
              <a:rPr lang="zh-CN" altLang="en-US" sz="2000" dirty="0"/>
              <a:t>系统</a:t>
            </a:r>
            <a:endParaRPr lang="en-US" altLang="zh-CN" sz="2000" dirty="0"/>
          </a:p>
          <a:p>
            <a:pPr lvl="1">
              <a:lnSpc>
                <a:spcPct val="120000"/>
              </a:lnSpc>
            </a:pPr>
            <a:r>
              <a:rPr lang="en-US" altLang="zh-CN" sz="2000" dirty="0"/>
              <a:t>FreeBSD</a:t>
            </a:r>
            <a:r>
              <a:rPr lang="zh-CN" altLang="en-US" sz="2000" dirty="0"/>
              <a:t>、</a:t>
            </a:r>
            <a:r>
              <a:rPr lang="en-US" altLang="zh-CN" sz="2000" dirty="0"/>
              <a:t>Linux </a:t>
            </a:r>
            <a:r>
              <a:rPr lang="zh-CN" altLang="en-US" sz="2000" dirty="0"/>
              <a:t>系统</a:t>
            </a:r>
            <a:endParaRPr lang="en-US" altLang="zh-CN" sz="2000" dirty="0"/>
          </a:p>
        </p:txBody>
      </p:sp>
    </p:spTree>
    <p:extLst>
      <p:ext uri="{BB962C8B-B14F-4D97-AF65-F5344CB8AC3E}">
        <p14:creationId xmlns:p14="http://schemas.microsoft.com/office/powerpoint/2010/main" val="226800973"/>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的</a:t>
            </a:r>
            <a:r>
              <a:rPr lang="en-US" altLang="zh-CN" dirty="0"/>
              <a:t>FACL</a:t>
            </a:r>
            <a:r>
              <a:rPr lang="zh-CN" altLang="en-US" dirty="0"/>
              <a:t>支持</a:t>
            </a:r>
          </a:p>
        </p:txBody>
      </p:sp>
      <p:sp>
        <p:nvSpPr>
          <p:cNvPr id="3" name="内容占位符 2"/>
          <p:cNvSpPr>
            <a:spLocks noGrp="1"/>
          </p:cNvSpPr>
          <p:nvPr>
            <p:ph idx="1"/>
          </p:nvPr>
        </p:nvSpPr>
        <p:spPr>
          <a:xfrm>
            <a:off x="611560" y="1340768"/>
            <a:ext cx="8229600" cy="5256584"/>
          </a:xfrm>
        </p:spPr>
        <p:txBody>
          <a:bodyPr/>
          <a:lstStyle/>
          <a:p>
            <a:r>
              <a:rPr lang="en-US" altLang="zh-CN" dirty="0"/>
              <a:t>ACL</a:t>
            </a:r>
            <a:r>
              <a:rPr lang="zh-CN" altLang="en-US" dirty="0"/>
              <a:t>需要内核和文件系统的同时支持</a:t>
            </a:r>
            <a:endParaRPr lang="en-US" altLang="zh-CN" dirty="0"/>
          </a:p>
          <a:p>
            <a:pPr lvl="1"/>
            <a:r>
              <a:rPr lang="en-US" altLang="zh-CN" sz="2400" dirty="0">
                <a:solidFill>
                  <a:srgbClr val="FF0000"/>
                </a:solidFill>
              </a:rPr>
              <a:t>Linux</a:t>
            </a:r>
            <a:r>
              <a:rPr lang="zh-CN" altLang="en-US" sz="2400" dirty="0">
                <a:solidFill>
                  <a:srgbClr val="FF0000"/>
                </a:solidFill>
              </a:rPr>
              <a:t>从</a:t>
            </a:r>
            <a:r>
              <a:rPr lang="en-US" altLang="zh-CN" sz="2400" dirty="0">
                <a:solidFill>
                  <a:srgbClr val="FF0000"/>
                </a:solidFill>
              </a:rPr>
              <a:t>2.6</a:t>
            </a:r>
            <a:r>
              <a:rPr lang="zh-CN" altLang="en-US" sz="2400" dirty="0">
                <a:solidFill>
                  <a:srgbClr val="FF0000"/>
                </a:solidFill>
              </a:rPr>
              <a:t>内核开始提供了对</a:t>
            </a:r>
            <a:r>
              <a:rPr lang="en-US" altLang="zh-CN" sz="2400" dirty="0">
                <a:solidFill>
                  <a:srgbClr val="FF0000"/>
                </a:solidFill>
              </a:rPr>
              <a:t>EXT2/EXT3, JFS, XFS, </a:t>
            </a:r>
            <a:r>
              <a:rPr lang="en-US" altLang="zh-CN" sz="2400" dirty="0" err="1">
                <a:solidFill>
                  <a:srgbClr val="FF0000"/>
                </a:solidFill>
              </a:rPr>
              <a:t>ReiserFS</a:t>
            </a:r>
            <a:r>
              <a:rPr lang="zh-CN" altLang="en-US" sz="2400" dirty="0">
                <a:solidFill>
                  <a:srgbClr val="FF0000"/>
                </a:solidFill>
              </a:rPr>
              <a:t>等文件系统的</a:t>
            </a:r>
            <a:r>
              <a:rPr lang="en-US" altLang="zh-CN" sz="2400" dirty="0">
                <a:solidFill>
                  <a:srgbClr val="FF0000"/>
                </a:solidFill>
              </a:rPr>
              <a:t>ACL</a:t>
            </a:r>
            <a:r>
              <a:rPr lang="zh-CN" altLang="en-US" sz="2400" dirty="0">
                <a:solidFill>
                  <a:srgbClr val="FF0000"/>
                </a:solidFill>
              </a:rPr>
              <a:t>支持</a:t>
            </a:r>
            <a:endParaRPr lang="en-US" altLang="zh-CN" sz="2400" dirty="0">
              <a:solidFill>
                <a:srgbClr val="FF0000"/>
              </a:solidFill>
            </a:endParaRPr>
          </a:p>
          <a:p>
            <a:r>
              <a:rPr lang="en-US" altLang="zh-CN" dirty="0"/>
              <a:t>ACL</a:t>
            </a:r>
            <a:r>
              <a:rPr lang="zh-CN" altLang="en-US" dirty="0"/>
              <a:t>的文件系统支持</a:t>
            </a:r>
            <a:endParaRPr lang="en-US" altLang="zh-CN" dirty="0"/>
          </a:p>
          <a:p>
            <a:pPr lvl="1"/>
            <a:r>
              <a:rPr lang="zh-CN" altLang="en-US" dirty="0"/>
              <a:t>通过文件系统的</a:t>
            </a:r>
            <a:r>
              <a:rPr lang="zh-CN" altLang="en-US" dirty="0">
                <a:solidFill>
                  <a:srgbClr val="FF0000"/>
                </a:solidFill>
              </a:rPr>
              <a:t>挂装选项</a:t>
            </a:r>
            <a:r>
              <a:rPr lang="zh-CN" altLang="en-US" dirty="0"/>
              <a:t>实现 </a:t>
            </a:r>
            <a:r>
              <a:rPr lang="en-US" altLang="zh-CN" dirty="0"/>
              <a:t>ACL </a:t>
            </a:r>
            <a:r>
              <a:rPr lang="zh-CN" altLang="en-US" dirty="0"/>
              <a:t>支持</a:t>
            </a:r>
          </a:p>
          <a:p>
            <a:pPr lvl="1">
              <a:buNone/>
            </a:pPr>
            <a:r>
              <a:rPr lang="en-US" altLang="zh-CN" sz="2200" dirty="0">
                <a:solidFill>
                  <a:schemeClr val="accent6"/>
                </a:solidFill>
              </a:rPr>
              <a:t># mount -t ext4 -o </a:t>
            </a:r>
            <a:r>
              <a:rPr lang="en-US" altLang="zh-CN" sz="2200" dirty="0" err="1">
                <a:solidFill>
                  <a:schemeClr val="accent6"/>
                </a:solidFill>
              </a:rPr>
              <a:t>acl</a:t>
            </a:r>
            <a:r>
              <a:rPr lang="en-US" altLang="zh-CN" sz="2200" dirty="0">
                <a:solidFill>
                  <a:schemeClr val="accent6"/>
                </a:solidFill>
              </a:rPr>
              <a:t> &lt;device name&gt; &lt;partition&gt;</a:t>
            </a:r>
            <a:endParaRPr lang="en-US" altLang="zh-CN" sz="2200" dirty="0">
              <a:solidFill>
                <a:schemeClr val="accent6">
                  <a:lumMod val="75000"/>
                </a:schemeClr>
              </a:solidFill>
            </a:endParaRPr>
          </a:p>
          <a:p>
            <a:pPr lvl="1"/>
            <a:r>
              <a:rPr lang="zh-CN" altLang="en-US" dirty="0"/>
              <a:t>或</a:t>
            </a:r>
            <a:r>
              <a:rPr lang="zh-CN" altLang="en-US" dirty="0">
                <a:solidFill>
                  <a:srgbClr val="FF0000"/>
                </a:solidFill>
              </a:rPr>
              <a:t>修改 </a:t>
            </a:r>
            <a:r>
              <a:rPr lang="en-US" altLang="zh-CN" dirty="0">
                <a:solidFill>
                  <a:srgbClr val="FF0000"/>
                </a:solidFill>
              </a:rPr>
              <a:t>/</a:t>
            </a:r>
            <a:r>
              <a:rPr lang="en-US" altLang="zh-CN" dirty="0" err="1">
                <a:solidFill>
                  <a:srgbClr val="FF0000"/>
                </a:solidFill>
              </a:rPr>
              <a:t>etc</a:t>
            </a:r>
            <a:r>
              <a:rPr lang="en-US" altLang="zh-CN" dirty="0">
                <a:solidFill>
                  <a:srgbClr val="FF0000"/>
                </a:solidFill>
              </a:rPr>
              <a:t>/</a:t>
            </a:r>
            <a:r>
              <a:rPr lang="en-US" altLang="zh-CN" dirty="0" err="1">
                <a:solidFill>
                  <a:srgbClr val="FF0000"/>
                </a:solidFill>
              </a:rPr>
              <a:t>fstab</a:t>
            </a:r>
            <a:r>
              <a:rPr lang="en-US" altLang="zh-CN" dirty="0"/>
              <a:t> </a:t>
            </a:r>
            <a:r>
              <a:rPr lang="zh-CN" altLang="en-US" dirty="0"/>
              <a:t>的挂装选项</a:t>
            </a:r>
          </a:p>
          <a:p>
            <a:pPr lvl="1"/>
            <a:r>
              <a:rPr lang="zh-CN" altLang="en-US" dirty="0"/>
              <a:t>查看</a:t>
            </a:r>
            <a:r>
              <a:rPr lang="en-US" altLang="zh-CN" dirty="0"/>
              <a:t>ext4</a:t>
            </a:r>
            <a:r>
              <a:rPr lang="zh-CN" altLang="en-US" dirty="0"/>
              <a:t>文件系统的默认选项</a:t>
            </a:r>
            <a:endParaRPr lang="en-US" altLang="zh-CN" dirty="0"/>
          </a:p>
          <a:p>
            <a:pPr lvl="1">
              <a:buNone/>
            </a:pPr>
            <a:r>
              <a:rPr lang="en-US" altLang="zh-CN" sz="2400" dirty="0">
                <a:solidFill>
                  <a:schemeClr val="accent6"/>
                </a:solidFill>
              </a:rPr>
              <a:t># tune2fs -l /dev/sda1 | </a:t>
            </a:r>
            <a:r>
              <a:rPr lang="en-US" altLang="zh-CN" sz="2400" dirty="0" err="1">
                <a:solidFill>
                  <a:schemeClr val="accent6"/>
                </a:solidFill>
              </a:rPr>
              <a:t>grep</a:t>
            </a:r>
            <a:r>
              <a:rPr lang="en-US" altLang="zh-CN" sz="2400" dirty="0">
                <a:solidFill>
                  <a:schemeClr val="accent6"/>
                </a:solidFill>
              </a:rPr>
              <a:t> options</a:t>
            </a:r>
          </a:p>
          <a:p>
            <a:pPr lvl="1">
              <a:buNone/>
            </a:pPr>
            <a:r>
              <a:rPr lang="en-US" altLang="zh-CN" sz="2400" dirty="0"/>
              <a:t>Default mount options:    </a:t>
            </a:r>
            <a:r>
              <a:rPr lang="en-US" altLang="zh-CN" sz="2400" dirty="0" err="1"/>
              <a:t>user_xattr</a:t>
            </a:r>
            <a:r>
              <a:rPr lang="en-US" altLang="zh-CN" sz="2400" dirty="0"/>
              <a:t> </a:t>
            </a:r>
            <a:r>
              <a:rPr lang="en-US" altLang="zh-CN" sz="2400" dirty="0" err="1">
                <a:solidFill>
                  <a:srgbClr val="C00000"/>
                </a:solidFill>
              </a:rPr>
              <a:t>acl</a:t>
            </a:r>
            <a:endParaRPr lang="en-US" altLang="zh-CN" sz="2400" dirty="0">
              <a:solidFill>
                <a:srgbClr val="C00000"/>
              </a:solidFill>
            </a:endParaRPr>
          </a:p>
          <a:p>
            <a:pPr lvl="1">
              <a:buNone/>
            </a:pPr>
            <a:r>
              <a:rPr lang="en-US" altLang="zh-CN" sz="2400" dirty="0">
                <a:solidFill>
                  <a:srgbClr val="C00000"/>
                </a:solidFill>
              </a:rPr>
              <a:t>(</a:t>
            </a:r>
            <a:r>
              <a:rPr lang="zh-CN" altLang="en-US" sz="2400" dirty="0">
                <a:solidFill>
                  <a:srgbClr val="C00000"/>
                </a:solidFill>
              </a:rPr>
              <a:t>在</a:t>
            </a:r>
            <a:r>
              <a:rPr lang="en-US" altLang="zh-CN" sz="2400" dirty="0">
                <a:solidFill>
                  <a:srgbClr val="C00000"/>
                </a:solidFill>
              </a:rPr>
              <a:t>RHEL/</a:t>
            </a:r>
            <a:r>
              <a:rPr lang="en-US" altLang="zh-CN" sz="2400" dirty="0" err="1">
                <a:solidFill>
                  <a:srgbClr val="C00000"/>
                </a:solidFill>
              </a:rPr>
              <a:t>CentOS</a:t>
            </a:r>
            <a:r>
              <a:rPr lang="zh-CN" altLang="en-US" sz="2400" dirty="0">
                <a:solidFill>
                  <a:srgbClr val="C00000"/>
                </a:solidFill>
              </a:rPr>
              <a:t>中，</a:t>
            </a:r>
            <a:r>
              <a:rPr lang="en-US" altLang="zh-CN" sz="2400" dirty="0">
                <a:solidFill>
                  <a:srgbClr val="C00000"/>
                </a:solidFill>
              </a:rPr>
              <a:t>ACL</a:t>
            </a:r>
            <a:r>
              <a:rPr lang="zh-CN" altLang="en-US" sz="2400" dirty="0">
                <a:solidFill>
                  <a:srgbClr val="C00000"/>
                </a:solidFill>
              </a:rPr>
              <a:t>是默认挂装选项</a:t>
            </a:r>
            <a:r>
              <a:rPr lang="en-US" altLang="zh-CN" sz="2400" dirty="0">
                <a:solidFill>
                  <a:srgbClr val="C00000"/>
                </a:solidFill>
              </a:rPr>
              <a:t>)</a:t>
            </a:r>
          </a:p>
        </p:txBody>
      </p:sp>
      <p:sp>
        <p:nvSpPr>
          <p:cNvPr id="4" name="矩形 3"/>
          <p:cNvSpPr/>
          <p:nvPr/>
        </p:nvSpPr>
        <p:spPr>
          <a:xfrm>
            <a:off x="6651010" y="4941168"/>
            <a:ext cx="2492990" cy="400110"/>
          </a:xfrm>
          <a:prstGeom prst="rect">
            <a:avLst/>
          </a:prstGeom>
        </p:spPr>
        <p:txBody>
          <a:bodyPr wrap="none">
            <a:spAutoFit/>
          </a:bodyPr>
          <a:lstStyle/>
          <a:p>
            <a:r>
              <a:rPr lang="zh-CN" altLang="en-US" sz="2000" dirty="0"/>
              <a:t>显示设备的详细信息</a:t>
            </a:r>
          </a:p>
        </p:txBody>
      </p:sp>
    </p:spTree>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ACL</a:t>
            </a:r>
            <a:r>
              <a:rPr lang="zh-CN" altLang="en-US" dirty="0"/>
              <a:t>类型</a:t>
            </a:r>
          </a:p>
        </p:txBody>
      </p:sp>
      <p:sp>
        <p:nvSpPr>
          <p:cNvPr id="3" name="内容占位符 2"/>
          <p:cNvSpPr>
            <a:spLocks noGrp="1"/>
          </p:cNvSpPr>
          <p:nvPr>
            <p:ph idx="1"/>
          </p:nvPr>
        </p:nvSpPr>
        <p:spPr>
          <a:xfrm>
            <a:off x="647564" y="1628800"/>
            <a:ext cx="7848872" cy="4114800"/>
          </a:xfrm>
        </p:spPr>
        <p:txBody>
          <a:bodyPr/>
          <a:lstStyle/>
          <a:p>
            <a:r>
              <a:rPr lang="zh-CN" altLang="en-US" dirty="0">
                <a:solidFill>
                  <a:srgbClr val="FF0000"/>
                </a:solidFill>
              </a:rPr>
              <a:t>存取 </a:t>
            </a:r>
            <a:r>
              <a:rPr lang="en-US" altLang="zh-CN" dirty="0"/>
              <a:t>ACL</a:t>
            </a:r>
            <a:r>
              <a:rPr lang="zh-CN" altLang="en-US" dirty="0"/>
              <a:t>（</a:t>
            </a:r>
            <a:r>
              <a:rPr lang="en-US" altLang="zh-CN" dirty="0"/>
              <a:t>access ACLs</a:t>
            </a:r>
            <a:r>
              <a:rPr lang="zh-CN" altLang="en-US" dirty="0"/>
              <a:t>） </a:t>
            </a:r>
          </a:p>
          <a:p>
            <a:pPr lvl="1"/>
            <a:r>
              <a:rPr lang="zh-CN" altLang="en-US" dirty="0"/>
              <a:t>是对</a:t>
            </a:r>
            <a:r>
              <a:rPr lang="zh-CN" altLang="en-US" dirty="0">
                <a:solidFill>
                  <a:srgbClr val="FF0000"/>
                </a:solidFill>
              </a:rPr>
              <a:t>指定文件或目录</a:t>
            </a:r>
            <a:r>
              <a:rPr lang="zh-CN" altLang="en-US" dirty="0"/>
              <a:t>的存取控制列表 </a:t>
            </a:r>
          </a:p>
          <a:p>
            <a:r>
              <a:rPr lang="zh-CN" altLang="en-US" dirty="0">
                <a:solidFill>
                  <a:srgbClr val="FF0000"/>
                </a:solidFill>
              </a:rPr>
              <a:t>默认 </a:t>
            </a:r>
            <a:r>
              <a:rPr lang="en-US" altLang="zh-CN" dirty="0"/>
              <a:t>ACL</a:t>
            </a:r>
            <a:r>
              <a:rPr lang="zh-CN" altLang="en-US" dirty="0"/>
              <a:t>（</a:t>
            </a:r>
            <a:r>
              <a:rPr lang="en-US" altLang="zh-CN" dirty="0"/>
              <a:t>default ACLs</a:t>
            </a:r>
            <a:r>
              <a:rPr lang="zh-CN" altLang="en-US" dirty="0"/>
              <a:t>）</a:t>
            </a:r>
            <a:endParaRPr lang="en-US" altLang="zh-CN" dirty="0"/>
          </a:p>
          <a:p>
            <a:pPr lvl="1"/>
            <a:r>
              <a:rPr lang="zh-CN" altLang="en-US" dirty="0"/>
              <a:t>只能和</a:t>
            </a:r>
            <a:r>
              <a:rPr lang="zh-CN" altLang="en-US" dirty="0">
                <a:solidFill>
                  <a:srgbClr val="FF0000"/>
                </a:solidFill>
              </a:rPr>
              <a:t>目录</a:t>
            </a:r>
            <a:r>
              <a:rPr lang="zh-CN" altLang="en-US" dirty="0"/>
              <a:t>相关 </a:t>
            </a:r>
          </a:p>
          <a:p>
            <a:pPr lvl="1"/>
            <a:r>
              <a:rPr lang="zh-CN" altLang="en-US" dirty="0"/>
              <a:t>若目录中的文件没有存取 </a:t>
            </a:r>
            <a:r>
              <a:rPr lang="en-US" altLang="zh-CN" dirty="0"/>
              <a:t>ACL</a:t>
            </a:r>
            <a:r>
              <a:rPr lang="zh-CN" altLang="en-US" dirty="0"/>
              <a:t>，就会使用该目录的默认 </a:t>
            </a:r>
            <a:r>
              <a:rPr lang="en-US" altLang="zh-CN" dirty="0"/>
              <a:t>ACL</a:t>
            </a:r>
            <a:r>
              <a:rPr lang="zh-CN" altLang="en-US" dirty="0"/>
              <a:t>，但访问</a:t>
            </a:r>
            <a:r>
              <a:rPr lang="en-US" altLang="zh-CN" dirty="0"/>
              <a:t>ACL</a:t>
            </a:r>
            <a:r>
              <a:rPr lang="zh-CN" altLang="en-US" dirty="0"/>
              <a:t>的优先级更高</a:t>
            </a:r>
          </a:p>
          <a:p>
            <a:pPr lvl="1"/>
            <a:r>
              <a:rPr lang="zh-CN" altLang="en-US" dirty="0"/>
              <a:t>默认 </a:t>
            </a:r>
            <a:r>
              <a:rPr lang="en-US" altLang="zh-CN" dirty="0"/>
              <a:t>ACL </a:t>
            </a:r>
            <a:r>
              <a:rPr lang="zh-CN" altLang="en-US" dirty="0"/>
              <a:t>是可选的</a:t>
            </a:r>
          </a:p>
        </p:txBody>
      </p:sp>
    </p:spTree>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ACL</a:t>
            </a:r>
            <a:r>
              <a:rPr lang="zh-CN" altLang="en-US" dirty="0"/>
              <a:t>工具</a:t>
            </a:r>
          </a:p>
        </p:txBody>
      </p:sp>
      <p:sp>
        <p:nvSpPr>
          <p:cNvPr id="3" name="内容占位符 2"/>
          <p:cNvSpPr>
            <a:spLocks noGrp="1"/>
          </p:cNvSpPr>
          <p:nvPr>
            <p:ph idx="1"/>
          </p:nvPr>
        </p:nvSpPr>
        <p:spPr>
          <a:xfrm>
            <a:off x="611560" y="1556792"/>
            <a:ext cx="8229600" cy="4574133"/>
          </a:xfrm>
        </p:spPr>
        <p:txBody>
          <a:bodyPr/>
          <a:lstStyle/>
          <a:p>
            <a:r>
              <a:rPr lang="zh-CN" altLang="en-US" dirty="0"/>
              <a:t>在</a:t>
            </a:r>
            <a:r>
              <a:rPr lang="en-US" altLang="zh-CN" dirty="0"/>
              <a:t>RHEL/</a:t>
            </a:r>
            <a:r>
              <a:rPr lang="en-US" altLang="zh-CN" dirty="0" err="1"/>
              <a:t>CentOS</a:t>
            </a:r>
            <a:r>
              <a:rPr lang="zh-CN" altLang="en-US" dirty="0"/>
              <a:t>中由 </a:t>
            </a:r>
            <a:r>
              <a:rPr lang="en-US" altLang="zh-CN" dirty="0" err="1">
                <a:solidFill>
                  <a:schemeClr val="accent6">
                    <a:lumMod val="75000"/>
                  </a:schemeClr>
                </a:solidFill>
              </a:rPr>
              <a:t>acl</a:t>
            </a:r>
            <a:r>
              <a:rPr lang="en-US" altLang="zh-CN" dirty="0">
                <a:solidFill>
                  <a:schemeClr val="accent6">
                    <a:lumMod val="75000"/>
                  </a:schemeClr>
                </a:solidFill>
              </a:rPr>
              <a:t> </a:t>
            </a:r>
            <a:r>
              <a:rPr lang="zh-CN" altLang="en-US" dirty="0"/>
              <a:t>软件包提供</a:t>
            </a:r>
            <a:endParaRPr lang="en-US" altLang="zh-CN" dirty="0"/>
          </a:p>
          <a:p>
            <a:pPr lvl="1"/>
            <a:r>
              <a:rPr lang="en-US" altLang="zh-CN" dirty="0" err="1">
                <a:solidFill>
                  <a:srgbClr val="FF0000"/>
                </a:solidFill>
              </a:rPr>
              <a:t>getfacl</a:t>
            </a:r>
            <a:r>
              <a:rPr lang="en-US" altLang="zh-CN" dirty="0">
                <a:solidFill>
                  <a:srgbClr val="FF0000"/>
                </a:solidFill>
              </a:rPr>
              <a:t> </a:t>
            </a:r>
            <a:r>
              <a:rPr lang="en-US" altLang="zh-CN" dirty="0"/>
              <a:t>– </a:t>
            </a:r>
            <a:r>
              <a:rPr lang="zh-CN" altLang="en-US" dirty="0">
                <a:solidFill>
                  <a:srgbClr val="FF0000"/>
                </a:solidFill>
              </a:rPr>
              <a:t>获取</a:t>
            </a:r>
            <a:r>
              <a:rPr lang="zh-CN" altLang="en-US" dirty="0"/>
              <a:t>文件的</a:t>
            </a:r>
            <a:r>
              <a:rPr lang="en-US" altLang="zh-CN" dirty="0"/>
              <a:t>FACL</a:t>
            </a:r>
            <a:r>
              <a:rPr lang="zh-CN" altLang="en-US" dirty="0"/>
              <a:t>信息</a:t>
            </a:r>
            <a:endParaRPr lang="en-US" altLang="zh-CN" dirty="0"/>
          </a:p>
          <a:p>
            <a:pPr lvl="1">
              <a:buNone/>
            </a:pPr>
            <a:r>
              <a:rPr lang="en-US" altLang="zh-CN" dirty="0">
                <a:solidFill>
                  <a:schemeClr val="accent6">
                    <a:lumMod val="75000"/>
                  </a:schemeClr>
                </a:solidFill>
              </a:rPr>
              <a:t>    </a:t>
            </a:r>
            <a:r>
              <a:rPr lang="en-US" altLang="zh-CN" dirty="0" err="1">
                <a:solidFill>
                  <a:schemeClr val="accent6">
                    <a:lumMod val="75000"/>
                  </a:schemeClr>
                </a:solidFill>
              </a:rPr>
              <a:t>getfacl</a:t>
            </a:r>
            <a:r>
              <a:rPr lang="en-US" altLang="zh-CN" dirty="0">
                <a:solidFill>
                  <a:schemeClr val="accent6">
                    <a:lumMod val="75000"/>
                  </a:schemeClr>
                </a:solidFill>
              </a:rPr>
              <a:t>  &lt;</a:t>
            </a:r>
            <a:r>
              <a:rPr lang="en-US" altLang="zh-CN" dirty="0" err="1">
                <a:solidFill>
                  <a:schemeClr val="accent6">
                    <a:lumMod val="75000"/>
                  </a:schemeClr>
                </a:solidFill>
              </a:rPr>
              <a:t>file|directory</a:t>
            </a:r>
            <a:r>
              <a:rPr lang="en-US" altLang="zh-CN" dirty="0">
                <a:solidFill>
                  <a:schemeClr val="accent6">
                    <a:lumMod val="75000"/>
                  </a:schemeClr>
                </a:solidFill>
              </a:rPr>
              <a:t>&gt;</a:t>
            </a:r>
            <a:endParaRPr lang="zh-CN" altLang="en-US" dirty="0">
              <a:solidFill>
                <a:schemeClr val="accent6">
                  <a:lumMod val="75000"/>
                </a:schemeClr>
              </a:solidFill>
            </a:endParaRPr>
          </a:p>
          <a:p>
            <a:pPr lvl="1"/>
            <a:r>
              <a:rPr lang="en-US" altLang="zh-CN" dirty="0" err="1">
                <a:solidFill>
                  <a:srgbClr val="FF0000"/>
                </a:solidFill>
              </a:rPr>
              <a:t>setfacl</a:t>
            </a:r>
            <a:r>
              <a:rPr lang="en-US" altLang="zh-CN" dirty="0">
                <a:solidFill>
                  <a:srgbClr val="FF0000"/>
                </a:solidFill>
              </a:rPr>
              <a:t> </a:t>
            </a:r>
            <a:r>
              <a:rPr lang="en-US" altLang="zh-CN" dirty="0"/>
              <a:t>– </a:t>
            </a:r>
            <a:r>
              <a:rPr lang="zh-CN" altLang="en-US" dirty="0">
                <a:solidFill>
                  <a:srgbClr val="FF0000"/>
                </a:solidFill>
              </a:rPr>
              <a:t>设置</a:t>
            </a:r>
            <a:r>
              <a:rPr lang="zh-CN" altLang="en-US" dirty="0"/>
              <a:t>文件的</a:t>
            </a:r>
            <a:r>
              <a:rPr lang="en-US" altLang="zh-CN" dirty="0"/>
              <a:t>FACL</a:t>
            </a:r>
            <a:r>
              <a:rPr lang="zh-CN" altLang="en-US" dirty="0"/>
              <a:t>信息</a:t>
            </a:r>
            <a:endParaRPr lang="en-US" altLang="zh-CN" dirty="0"/>
          </a:p>
          <a:p>
            <a:r>
              <a:rPr lang="zh-CN" altLang="en-US" dirty="0"/>
              <a:t>自动获得</a:t>
            </a:r>
            <a:r>
              <a:rPr lang="en-US" altLang="zh-CN" dirty="0"/>
              <a:t>ACL</a:t>
            </a:r>
            <a:r>
              <a:rPr lang="zh-CN" altLang="en-US" dirty="0"/>
              <a:t>权限</a:t>
            </a:r>
            <a:endParaRPr lang="en-US" altLang="zh-CN" dirty="0"/>
          </a:p>
          <a:p>
            <a:pPr lvl="1"/>
            <a:r>
              <a:rPr lang="zh-CN" altLang="en-US" dirty="0"/>
              <a:t>若</a:t>
            </a:r>
            <a:r>
              <a:rPr lang="zh-CN" altLang="en-US" dirty="0">
                <a:solidFill>
                  <a:srgbClr val="FF0000"/>
                </a:solidFill>
              </a:rPr>
              <a:t>目录已设置了默认</a:t>
            </a:r>
            <a:r>
              <a:rPr lang="en-US" altLang="zh-CN" dirty="0">
                <a:solidFill>
                  <a:srgbClr val="FF0000"/>
                </a:solidFill>
              </a:rPr>
              <a:t>ACL</a:t>
            </a:r>
            <a:r>
              <a:rPr lang="zh-CN" altLang="en-US" dirty="0"/>
              <a:t>，则</a:t>
            </a:r>
            <a:r>
              <a:rPr lang="zh-CN" altLang="en-US" dirty="0">
                <a:solidFill>
                  <a:srgbClr val="FF0000"/>
                </a:solidFill>
              </a:rPr>
              <a:t>新创建的文件</a:t>
            </a:r>
            <a:r>
              <a:rPr lang="zh-CN" altLang="en-US" dirty="0"/>
              <a:t>将从其目录</a:t>
            </a:r>
            <a:r>
              <a:rPr lang="zh-CN" altLang="en-US" dirty="0">
                <a:solidFill>
                  <a:srgbClr val="FF0000"/>
                </a:solidFill>
              </a:rPr>
              <a:t>继承</a:t>
            </a:r>
            <a:r>
              <a:rPr lang="zh-CN" altLang="en-US" dirty="0"/>
              <a:t>默认</a:t>
            </a:r>
            <a:r>
              <a:rPr lang="en-US" altLang="zh-CN" dirty="0"/>
              <a:t>ACL</a:t>
            </a:r>
            <a:r>
              <a:rPr lang="zh-CN" altLang="en-US" dirty="0"/>
              <a:t>设置</a:t>
            </a:r>
          </a:p>
          <a:p>
            <a:pPr lvl="1"/>
            <a:r>
              <a:rPr lang="zh-CN" altLang="en-US" dirty="0"/>
              <a:t>使用 </a:t>
            </a:r>
            <a:r>
              <a:rPr lang="en-US" altLang="zh-CN" dirty="0" err="1">
                <a:solidFill>
                  <a:srgbClr val="FF0000"/>
                </a:solidFill>
              </a:rPr>
              <a:t>mv</a:t>
            </a:r>
            <a:r>
              <a:rPr lang="en-US" altLang="zh-CN" dirty="0"/>
              <a:t> </a:t>
            </a:r>
            <a:r>
              <a:rPr lang="zh-CN" altLang="en-US" dirty="0"/>
              <a:t>命令和 </a:t>
            </a:r>
            <a:r>
              <a:rPr lang="en-US" altLang="zh-CN" dirty="0">
                <a:solidFill>
                  <a:srgbClr val="FF0000"/>
                </a:solidFill>
              </a:rPr>
              <a:t>cp -p</a:t>
            </a:r>
            <a:r>
              <a:rPr lang="en-US" altLang="zh-CN" dirty="0"/>
              <a:t> </a:t>
            </a:r>
            <a:r>
              <a:rPr lang="zh-CN" altLang="en-US" dirty="0"/>
              <a:t>命令操作文件时将</a:t>
            </a:r>
            <a:r>
              <a:rPr lang="zh-CN" altLang="en-US" dirty="0">
                <a:solidFill>
                  <a:srgbClr val="FF0000"/>
                </a:solidFill>
              </a:rPr>
              <a:t>保持 </a:t>
            </a:r>
            <a:r>
              <a:rPr lang="en-US" altLang="zh-CN" dirty="0">
                <a:solidFill>
                  <a:srgbClr val="FF0000"/>
                </a:solidFill>
              </a:rPr>
              <a:t>ACL </a:t>
            </a:r>
            <a:r>
              <a:rPr lang="zh-CN" altLang="en-US" dirty="0">
                <a:solidFill>
                  <a:srgbClr val="FF0000"/>
                </a:solidFill>
              </a:rPr>
              <a:t>设置</a:t>
            </a:r>
          </a:p>
        </p:txBody>
      </p:sp>
    </p:spTree>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setfacl</a:t>
            </a:r>
            <a:r>
              <a:rPr lang="zh-CN" altLang="en-US" dirty="0"/>
              <a:t>命令</a:t>
            </a:r>
          </a:p>
        </p:txBody>
      </p:sp>
      <p:sp>
        <p:nvSpPr>
          <p:cNvPr id="3" name="内容占位符 2"/>
          <p:cNvSpPr>
            <a:spLocks noGrp="1"/>
          </p:cNvSpPr>
          <p:nvPr>
            <p:ph idx="1"/>
          </p:nvPr>
        </p:nvSpPr>
        <p:spPr/>
        <p:txBody>
          <a:bodyPr/>
          <a:lstStyle/>
          <a:p>
            <a:r>
              <a:rPr lang="zh-CN" altLang="en-US" dirty="0"/>
              <a:t>语法</a:t>
            </a:r>
          </a:p>
          <a:p>
            <a:pPr lvl="1"/>
            <a:r>
              <a:rPr lang="en-US" altLang="zh-CN" b="1" dirty="0" err="1">
                <a:solidFill>
                  <a:schemeClr val="accent2">
                    <a:lumMod val="75000"/>
                  </a:schemeClr>
                </a:solidFill>
              </a:rPr>
              <a:t>setfacl</a:t>
            </a:r>
            <a:r>
              <a:rPr lang="en-US" altLang="zh-CN" b="1" dirty="0">
                <a:solidFill>
                  <a:schemeClr val="accent2">
                    <a:lumMod val="75000"/>
                  </a:schemeClr>
                </a:solidFill>
              </a:rPr>
              <a:t> [-R] {-m|-x} &lt;rules&gt; &lt;files or directory&gt;</a:t>
            </a:r>
          </a:p>
          <a:p>
            <a:r>
              <a:rPr lang="zh-CN" altLang="en-US" dirty="0"/>
              <a:t>说明</a:t>
            </a:r>
          </a:p>
          <a:p>
            <a:pPr lvl="1"/>
            <a:r>
              <a:rPr lang="en-US" altLang="zh-CN" dirty="0"/>
              <a:t>-R</a:t>
            </a:r>
            <a:r>
              <a:rPr lang="zh-CN" altLang="en-US" dirty="0"/>
              <a:t>   于对目录进行递归操作</a:t>
            </a:r>
          </a:p>
          <a:p>
            <a:pPr lvl="1"/>
            <a:r>
              <a:rPr lang="en-US" altLang="zh-CN" dirty="0">
                <a:solidFill>
                  <a:srgbClr val="FF0000"/>
                </a:solidFill>
              </a:rPr>
              <a:t>-m</a:t>
            </a:r>
            <a:r>
              <a:rPr lang="zh-CN" altLang="en-US" dirty="0">
                <a:solidFill>
                  <a:srgbClr val="FF0000"/>
                </a:solidFill>
              </a:rPr>
              <a:t>  修改</a:t>
            </a:r>
            <a:r>
              <a:rPr lang="en-US" altLang="zh-CN" dirty="0"/>
              <a:t>ACL</a:t>
            </a:r>
            <a:r>
              <a:rPr lang="zh-CN" altLang="en-US" dirty="0"/>
              <a:t>权限 设置参数</a:t>
            </a:r>
            <a:endParaRPr lang="en-US" altLang="zh-CN" dirty="0"/>
          </a:p>
          <a:p>
            <a:pPr lvl="1"/>
            <a:r>
              <a:rPr lang="en-US" altLang="zh-CN" dirty="0">
                <a:solidFill>
                  <a:srgbClr val="FF0000"/>
                </a:solidFill>
              </a:rPr>
              <a:t>-x</a:t>
            </a:r>
            <a:r>
              <a:rPr lang="zh-CN" altLang="en-US" dirty="0"/>
              <a:t>   </a:t>
            </a:r>
            <a:r>
              <a:rPr lang="zh-CN" altLang="en-US" dirty="0">
                <a:solidFill>
                  <a:srgbClr val="FF0000"/>
                </a:solidFill>
              </a:rPr>
              <a:t>删除</a:t>
            </a:r>
            <a:r>
              <a:rPr lang="en-US" altLang="zh-CN" dirty="0"/>
              <a:t>ACL</a:t>
            </a:r>
            <a:r>
              <a:rPr lang="zh-CN" altLang="en-US" dirty="0"/>
              <a:t>权限 删除参数</a:t>
            </a:r>
            <a:endParaRPr lang="en-US" altLang="zh-CN" dirty="0"/>
          </a:p>
          <a:p>
            <a:pPr lvl="1"/>
            <a:r>
              <a:rPr lang="en-US" altLang="zh-CN" dirty="0">
                <a:solidFill>
                  <a:srgbClr val="FF0000"/>
                </a:solidFill>
              </a:rPr>
              <a:t>rules</a:t>
            </a:r>
            <a:r>
              <a:rPr lang="zh-CN" altLang="en-US" dirty="0"/>
              <a:t>    要设置的</a:t>
            </a:r>
            <a:r>
              <a:rPr lang="en-US" altLang="zh-CN" dirty="0">
                <a:solidFill>
                  <a:srgbClr val="FF0000"/>
                </a:solidFill>
              </a:rPr>
              <a:t>ACL</a:t>
            </a:r>
            <a:r>
              <a:rPr lang="zh-CN" altLang="en-US" dirty="0">
                <a:solidFill>
                  <a:srgbClr val="FF0000"/>
                </a:solidFill>
              </a:rPr>
              <a:t>规则</a:t>
            </a:r>
          </a:p>
        </p:txBody>
      </p:sp>
    </p:spTree>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setfacl</a:t>
            </a:r>
            <a:r>
              <a:rPr lang="zh-CN" altLang="en-US" dirty="0"/>
              <a:t>命令中的</a:t>
            </a:r>
            <a:r>
              <a:rPr lang="en-US" altLang="zh-CN" dirty="0"/>
              <a:t>ACL</a:t>
            </a:r>
            <a:r>
              <a:rPr lang="zh-CN" altLang="en-US" dirty="0"/>
              <a:t>规则</a:t>
            </a:r>
          </a:p>
        </p:txBody>
      </p:sp>
      <p:sp>
        <p:nvSpPr>
          <p:cNvPr id="3" name="内容占位符 2"/>
          <p:cNvSpPr>
            <a:spLocks noGrp="1"/>
          </p:cNvSpPr>
          <p:nvPr>
            <p:ph idx="1"/>
          </p:nvPr>
        </p:nvSpPr>
        <p:spPr>
          <a:xfrm>
            <a:off x="566011" y="3506152"/>
            <a:ext cx="8229600" cy="2269877"/>
          </a:xfrm>
        </p:spPr>
        <p:txBody>
          <a:bodyPr/>
          <a:lstStyle/>
          <a:p>
            <a:r>
              <a:rPr lang="zh-CN" altLang="en-US" dirty="0"/>
              <a:t>当使用</a:t>
            </a:r>
            <a:r>
              <a:rPr lang="en-US" altLang="zh-CN" dirty="0"/>
              <a:t>d:</a:t>
            </a:r>
            <a:r>
              <a:rPr lang="zh-CN" altLang="en-US" dirty="0"/>
              <a:t>前缀时用于设置默认</a:t>
            </a:r>
            <a:r>
              <a:rPr lang="en-US" altLang="zh-CN" dirty="0"/>
              <a:t>ACL</a:t>
            </a:r>
            <a:r>
              <a:rPr lang="zh-CN" altLang="en-US" dirty="0"/>
              <a:t>，当使用</a:t>
            </a:r>
            <a:r>
              <a:rPr lang="en-US" altLang="zh-CN" dirty="0">
                <a:solidFill>
                  <a:srgbClr val="FF0000"/>
                </a:solidFill>
              </a:rPr>
              <a:t>d:</a:t>
            </a:r>
            <a:r>
              <a:rPr lang="zh-CN" altLang="en-US" dirty="0"/>
              <a:t>前缀时</a:t>
            </a:r>
            <a:r>
              <a:rPr lang="zh-CN" altLang="en-US" dirty="0">
                <a:solidFill>
                  <a:srgbClr val="FF0000"/>
                </a:solidFill>
              </a:rPr>
              <a:t>只</a:t>
            </a:r>
            <a:r>
              <a:rPr lang="zh-CN" altLang="en-US" dirty="0"/>
              <a:t>能对</a:t>
            </a:r>
            <a:r>
              <a:rPr lang="zh-CN" altLang="en-US" dirty="0">
                <a:solidFill>
                  <a:srgbClr val="FF0000"/>
                </a:solidFill>
              </a:rPr>
              <a:t>目录</a:t>
            </a:r>
            <a:r>
              <a:rPr lang="zh-CN" altLang="en-US" dirty="0" smtClean="0">
                <a:solidFill>
                  <a:srgbClr val="FF0000"/>
                </a:solidFill>
              </a:rPr>
              <a:t>设置；（</a:t>
            </a:r>
            <a:r>
              <a:rPr lang="zh-CN" altLang="en-US" u="sng" dirty="0" smtClean="0">
                <a:solidFill>
                  <a:srgbClr val="FF0000"/>
                </a:solidFill>
              </a:rPr>
              <a:t>目录下创建文件</a:t>
            </a:r>
            <a:r>
              <a:rPr lang="en-US" altLang="zh-CN" u="sng" dirty="0" smtClean="0">
                <a:solidFill>
                  <a:srgbClr val="FF0000"/>
                </a:solidFill>
              </a:rPr>
              <a:t>/</a:t>
            </a:r>
            <a:r>
              <a:rPr lang="zh-CN" altLang="en-US" u="sng" dirty="0" smtClean="0">
                <a:solidFill>
                  <a:srgbClr val="FF0000"/>
                </a:solidFill>
              </a:rPr>
              <a:t>目录时，能够继承</a:t>
            </a:r>
            <a:r>
              <a:rPr lang="en-US" altLang="zh-CN" u="sng" dirty="0" smtClean="0">
                <a:solidFill>
                  <a:srgbClr val="FF0000"/>
                </a:solidFill>
              </a:rPr>
              <a:t>ACL</a:t>
            </a:r>
            <a:r>
              <a:rPr lang="zh-CN" altLang="en-US" u="sng" dirty="0" smtClean="0">
                <a:solidFill>
                  <a:srgbClr val="FF0000"/>
                </a:solidFill>
              </a:rPr>
              <a:t>目录的功能</a:t>
            </a:r>
            <a:r>
              <a:rPr lang="zh-CN" altLang="en-US" dirty="0" smtClean="0">
                <a:solidFill>
                  <a:srgbClr val="FF0000"/>
                </a:solidFill>
              </a:rPr>
              <a:t>）</a:t>
            </a:r>
            <a:endParaRPr lang="zh-CN" altLang="en-US" dirty="0">
              <a:solidFill>
                <a:srgbClr val="FF0000"/>
              </a:solidFill>
            </a:endParaRPr>
          </a:p>
          <a:p>
            <a:r>
              <a:rPr lang="en-US" altLang="zh-CN" dirty="0"/>
              <a:t>perms</a:t>
            </a:r>
            <a:r>
              <a:rPr lang="zh-CN" altLang="en-US" dirty="0"/>
              <a:t>为</a:t>
            </a:r>
            <a:r>
              <a:rPr lang="en-US" altLang="zh-CN" dirty="0">
                <a:solidFill>
                  <a:srgbClr val="FF0000"/>
                </a:solidFill>
              </a:rPr>
              <a:t>r</a:t>
            </a:r>
            <a:r>
              <a:rPr lang="zh-CN" altLang="en-US" dirty="0">
                <a:solidFill>
                  <a:srgbClr val="FF0000"/>
                </a:solidFill>
              </a:rPr>
              <a:t>、</a:t>
            </a:r>
            <a:r>
              <a:rPr lang="en-US" altLang="zh-CN" dirty="0">
                <a:solidFill>
                  <a:srgbClr val="FF0000"/>
                </a:solidFill>
              </a:rPr>
              <a:t>w</a:t>
            </a:r>
            <a:r>
              <a:rPr lang="zh-CN" altLang="en-US" dirty="0">
                <a:solidFill>
                  <a:srgbClr val="FF0000"/>
                </a:solidFill>
              </a:rPr>
              <a:t>、</a:t>
            </a:r>
            <a:r>
              <a:rPr lang="en-US" altLang="zh-CN" dirty="0">
                <a:solidFill>
                  <a:srgbClr val="FF0000"/>
                </a:solidFill>
              </a:rPr>
              <a:t>x</a:t>
            </a:r>
            <a:r>
              <a:rPr lang="zh-CN" altLang="en-US" dirty="0">
                <a:solidFill>
                  <a:srgbClr val="FF0000"/>
                </a:solidFill>
              </a:rPr>
              <a:t>、</a:t>
            </a:r>
            <a:r>
              <a:rPr lang="en-US" altLang="zh-CN" dirty="0">
                <a:solidFill>
                  <a:srgbClr val="FF0000"/>
                </a:solidFill>
              </a:rPr>
              <a:t>-</a:t>
            </a:r>
            <a:r>
              <a:rPr lang="zh-CN" altLang="en-US" dirty="0">
                <a:solidFill>
                  <a:srgbClr val="FF0000"/>
                </a:solidFill>
              </a:rPr>
              <a:t>或其组合</a:t>
            </a:r>
          </a:p>
        </p:txBody>
      </p:sp>
      <p:sp>
        <p:nvSpPr>
          <p:cNvPr id="7" name="TextBox 6"/>
          <p:cNvSpPr txBox="1"/>
          <p:nvPr/>
        </p:nvSpPr>
        <p:spPr>
          <a:xfrm>
            <a:off x="566011" y="1844824"/>
            <a:ext cx="8229600" cy="1323439"/>
          </a:xfrm>
          <a:prstGeom prst="rect">
            <a:avLst/>
          </a:prstGeom>
        </p:spPr>
        <p:style>
          <a:lnRef idx="1">
            <a:schemeClr val="accent2"/>
          </a:lnRef>
          <a:fillRef idx="3">
            <a:schemeClr val="accent2"/>
          </a:fillRef>
          <a:effectRef idx="2">
            <a:schemeClr val="accent2"/>
          </a:effectRef>
          <a:fontRef idx="minor">
            <a:schemeClr val="lt1"/>
          </a:fontRef>
        </p:style>
        <p:txBody>
          <a:bodyPr wrap="square" rtlCol="0">
            <a:spAutoFit/>
          </a:bodyPr>
          <a:lstStyle/>
          <a:p>
            <a:r>
              <a:rPr lang="en-US" altLang="zh-CN" sz="2000" dirty="0">
                <a:solidFill>
                  <a:srgbClr val="FF0000"/>
                </a:solidFill>
              </a:rPr>
              <a:t>[d:]</a:t>
            </a:r>
            <a:r>
              <a:rPr lang="en-US" altLang="zh-CN" sz="2000" dirty="0" err="1">
                <a:solidFill>
                  <a:srgbClr val="FF0000"/>
                </a:solidFill>
              </a:rPr>
              <a:t>u:uid:perms</a:t>
            </a:r>
            <a:r>
              <a:rPr lang="en-US" altLang="zh-CN" sz="2000" dirty="0">
                <a:solidFill>
                  <a:srgbClr val="FF0000"/>
                </a:solidFill>
              </a:rPr>
              <a:t>   — </a:t>
            </a:r>
            <a:r>
              <a:rPr lang="zh-CN" altLang="en-US" sz="2000" dirty="0">
                <a:solidFill>
                  <a:srgbClr val="FF0000"/>
                </a:solidFill>
              </a:rPr>
              <a:t>为指定的用户（使用 </a:t>
            </a:r>
            <a:r>
              <a:rPr lang="en-US" altLang="zh-CN" sz="2000" dirty="0">
                <a:solidFill>
                  <a:srgbClr val="FF0000"/>
                </a:solidFill>
              </a:rPr>
              <a:t>UID </a:t>
            </a:r>
            <a:r>
              <a:rPr lang="zh-CN" altLang="en-US" sz="2000" dirty="0">
                <a:solidFill>
                  <a:srgbClr val="FF0000"/>
                </a:solidFill>
              </a:rPr>
              <a:t>或用户名）设置</a:t>
            </a:r>
            <a:r>
              <a:rPr lang="en-US" altLang="zh-CN" sz="2000" dirty="0">
                <a:solidFill>
                  <a:srgbClr val="FF0000"/>
                </a:solidFill>
              </a:rPr>
              <a:t>ACL</a:t>
            </a:r>
            <a:r>
              <a:rPr lang="zh-CN" altLang="en-US" sz="2000" dirty="0">
                <a:solidFill>
                  <a:srgbClr val="FF0000"/>
                </a:solidFill>
              </a:rPr>
              <a:t>权限</a:t>
            </a:r>
          </a:p>
          <a:p>
            <a:r>
              <a:rPr lang="en-US" altLang="zh-CN" sz="2000" dirty="0">
                <a:solidFill>
                  <a:srgbClr val="FF0000"/>
                </a:solidFill>
              </a:rPr>
              <a:t>[d:]g:gid:perms	  — </a:t>
            </a:r>
            <a:r>
              <a:rPr lang="zh-CN" altLang="en-US" sz="2000" dirty="0">
                <a:solidFill>
                  <a:srgbClr val="FF0000"/>
                </a:solidFill>
              </a:rPr>
              <a:t>为指定的组（使用 </a:t>
            </a:r>
            <a:r>
              <a:rPr lang="en-US" altLang="zh-CN" sz="2000" dirty="0">
                <a:solidFill>
                  <a:srgbClr val="FF0000"/>
                </a:solidFill>
              </a:rPr>
              <a:t>GID </a:t>
            </a:r>
            <a:r>
              <a:rPr lang="zh-CN" altLang="en-US" sz="2000" dirty="0">
                <a:solidFill>
                  <a:srgbClr val="FF0000"/>
                </a:solidFill>
              </a:rPr>
              <a:t>或组名）设置</a:t>
            </a:r>
            <a:r>
              <a:rPr lang="en-US" altLang="zh-CN" sz="2000" dirty="0">
                <a:solidFill>
                  <a:srgbClr val="FF0000"/>
                </a:solidFill>
              </a:rPr>
              <a:t>ACL</a:t>
            </a:r>
            <a:r>
              <a:rPr lang="zh-CN" altLang="en-US" sz="2000" dirty="0">
                <a:solidFill>
                  <a:srgbClr val="FF0000"/>
                </a:solidFill>
              </a:rPr>
              <a:t>权限</a:t>
            </a:r>
          </a:p>
          <a:p>
            <a:r>
              <a:rPr lang="en-US" altLang="zh-CN" sz="2000" dirty="0">
                <a:solidFill>
                  <a:srgbClr val="FF0000"/>
                </a:solidFill>
              </a:rPr>
              <a:t>[d:]o:[:]perms	  — </a:t>
            </a:r>
            <a:r>
              <a:rPr lang="zh-CN" altLang="en-US" sz="2000" dirty="0">
                <a:solidFill>
                  <a:srgbClr val="FF0000"/>
                </a:solidFill>
              </a:rPr>
              <a:t>为其他用户设置</a:t>
            </a:r>
            <a:r>
              <a:rPr lang="en-US" altLang="zh-CN" sz="2000" dirty="0">
                <a:solidFill>
                  <a:srgbClr val="FF0000"/>
                </a:solidFill>
              </a:rPr>
              <a:t>ACL</a:t>
            </a:r>
            <a:r>
              <a:rPr lang="zh-CN" altLang="en-US" sz="2000" dirty="0">
                <a:solidFill>
                  <a:srgbClr val="FF0000"/>
                </a:solidFill>
              </a:rPr>
              <a:t>权限</a:t>
            </a:r>
          </a:p>
          <a:p>
            <a:r>
              <a:rPr lang="en-US" altLang="zh-CN" sz="2000" dirty="0">
                <a:solidFill>
                  <a:srgbClr val="FF0000"/>
                </a:solidFill>
              </a:rPr>
              <a:t>[d:]m:[:]perms	  — </a:t>
            </a:r>
            <a:r>
              <a:rPr lang="zh-CN" altLang="en-US" sz="2000" dirty="0">
                <a:solidFill>
                  <a:srgbClr val="FF0000"/>
                </a:solidFill>
              </a:rPr>
              <a:t>设置有效的访问掩码</a:t>
            </a:r>
          </a:p>
        </p:txBody>
      </p:sp>
    </p:spTree>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setfacl</a:t>
            </a:r>
            <a:r>
              <a:rPr lang="zh-CN" altLang="en-US" dirty="0"/>
              <a:t>命令举例</a:t>
            </a:r>
          </a:p>
        </p:txBody>
      </p:sp>
      <p:sp>
        <p:nvSpPr>
          <p:cNvPr id="3" name="内容占位符 2"/>
          <p:cNvSpPr>
            <a:spLocks noGrp="1"/>
          </p:cNvSpPr>
          <p:nvPr>
            <p:ph idx="1"/>
          </p:nvPr>
        </p:nvSpPr>
        <p:spPr/>
        <p:txBody>
          <a:bodyPr/>
          <a:lstStyle/>
          <a:p>
            <a:r>
              <a:rPr lang="en-US" altLang="zh-CN" dirty="0" err="1">
                <a:solidFill>
                  <a:schemeClr val="accent6">
                    <a:lumMod val="75000"/>
                  </a:schemeClr>
                </a:solidFill>
              </a:rPr>
              <a:t>setfacl</a:t>
            </a:r>
            <a:r>
              <a:rPr lang="en-US" altLang="zh-CN" dirty="0">
                <a:solidFill>
                  <a:schemeClr val="accent6">
                    <a:lumMod val="75000"/>
                  </a:schemeClr>
                </a:solidFill>
              </a:rPr>
              <a:t> -m  u:gandolf:rwx </a:t>
            </a:r>
            <a:r>
              <a:rPr lang="en-US" altLang="zh-CN" dirty="0" err="1">
                <a:solidFill>
                  <a:schemeClr val="accent6">
                    <a:lumMod val="75000"/>
                  </a:schemeClr>
                </a:solidFill>
              </a:rPr>
              <a:t>file|directory</a:t>
            </a:r>
            <a:endParaRPr lang="en-US" altLang="zh-CN" dirty="0">
              <a:solidFill>
                <a:schemeClr val="accent6">
                  <a:lumMod val="75000"/>
                </a:schemeClr>
              </a:solidFill>
            </a:endParaRPr>
          </a:p>
          <a:p>
            <a:r>
              <a:rPr lang="en-US" altLang="zh-CN" dirty="0" err="1">
                <a:solidFill>
                  <a:schemeClr val="accent6">
                    <a:lumMod val="75000"/>
                  </a:schemeClr>
                </a:solidFill>
              </a:rPr>
              <a:t>setfacl</a:t>
            </a:r>
            <a:r>
              <a:rPr lang="en-US" altLang="zh-CN" dirty="0">
                <a:solidFill>
                  <a:schemeClr val="accent6">
                    <a:lumMod val="75000"/>
                  </a:schemeClr>
                </a:solidFill>
              </a:rPr>
              <a:t> -m  g:nazgul:rw </a:t>
            </a:r>
            <a:r>
              <a:rPr lang="en-US" altLang="zh-CN" dirty="0" err="1">
                <a:solidFill>
                  <a:schemeClr val="accent6">
                    <a:lumMod val="75000"/>
                  </a:schemeClr>
                </a:solidFill>
              </a:rPr>
              <a:t>file|directory</a:t>
            </a:r>
            <a:endParaRPr lang="en-US" altLang="zh-CN" dirty="0">
              <a:solidFill>
                <a:schemeClr val="accent6">
                  <a:lumMod val="75000"/>
                </a:schemeClr>
              </a:solidFill>
            </a:endParaRPr>
          </a:p>
          <a:p>
            <a:r>
              <a:rPr lang="en-US" altLang="zh-CN" dirty="0" err="1">
                <a:solidFill>
                  <a:schemeClr val="accent6">
                    <a:lumMod val="75000"/>
                  </a:schemeClr>
                </a:solidFill>
              </a:rPr>
              <a:t>setfacl</a:t>
            </a:r>
            <a:r>
              <a:rPr lang="en-US" altLang="zh-CN" dirty="0">
                <a:solidFill>
                  <a:schemeClr val="accent6">
                    <a:lumMod val="75000"/>
                  </a:schemeClr>
                </a:solidFill>
              </a:rPr>
              <a:t> -m  d:u:frodo:rw  directory</a:t>
            </a:r>
          </a:p>
          <a:p>
            <a:r>
              <a:rPr lang="en-US" altLang="zh-CN" dirty="0" err="1">
                <a:solidFill>
                  <a:schemeClr val="accent6">
                    <a:lumMod val="75000"/>
                  </a:schemeClr>
                </a:solidFill>
              </a:rPr>
              <a:t>setfacl</a:t>
            </a:r>
            <a:r>
              <a:rPr lang="en-US" altLang="zh-CN" dirty="0">
                <a:solidFill>
                  <a:schemeClr val="accent6">
                    <a:lumMod val="75000"/>
                  </a:schemeClr>
                </a:solidFill>
              </a:rPr>
              <a:t> -x  u:samwise  </a:t>
            </a:r>
            <a:r>
              <a:rPr lang="en-US" altLang="zh-CN" dirty="0" err="1">
                <a:solidFill>
                  <a:schemeClr val="accent6">
                    <a:lumMod val="75000"/>
                  </a:schemeClr>
                </a:solidFill>
              </a:rPr>
              <a:t>file|directory</a:t>
            </a:r>
            <a:endParaRPr lang="en-US" altLang="zh-CN" dirty="0">
              <a:solidFill>
                <a:schemeClr val="accent6">
                  <a:lumMod val="75000"/>
                </a:schemeClr>
              </a:solidFill>
            </a:endParaRPr>
          </a:p>
          <a:p>
            <a:r>
              <a:rPr lang="en-US" altLang="zh-CN" dirty="0" err="1">
                <a:solidFill>
                  <a:schemeClr val="accent6">
                    <a:lumMod val="75000"/>
                  </a:schemeClr>
                </a:solidFill>
              </a:rPr>
              <a:t>setfacl</a:t>
            </a:r>
            <a:r>
              <a:rPr lang="en-US" altLang="zh-CN" dirty="0">
                <a:solidFill>
                  <a:schemeClr val="accent6">
                    <a:lumMod val="75000"/>
                  </a:schemeClr>
                </a:solidFill>
              </a:rPr>
              <a:t> -R -m g:doc:rwx,d:g:doc:rwx,g:everyone:--- /data/share/</a:t>
            </a:r>
            <a:endParaRPr lang="zh-CN" altLang="en-US"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setfacl</a:t>
            </a:r>
            <a:r>
              <a:rPr lang="zh-CN" altLang="en-US" dirty="0"/>
              <a:t>命令举例</a:t>
            </a:r>
          </a:p>
        </p:txBody>
      </p:sp>
      <p:sp>
        <p:nvSpPr>
          <p:cNvPr id="8" name="文本框 7">
            <a:extLst>
              <a:ext uri="{FF2B5EF4-FFF2-40B4-BE49-F238E27FC236}">
                <a16:creationId xmlns:a16="http://schemas.microsoft.com/office/drawing/2014/main" id="{6DEBB6DA-64A6-444F-9B06-5450844A3FC8}"/>
              </a:ext>
            </a:extLst>
          </p:cNvPr>
          <p:cNvSpPr txBox="1"/>
          <p:nvPr/>
        </p:nvSpPr>
        <p:spPr>
          <a:xfrm>
            <a:off x="1160885" y="1403306"/>
            <a:ext cx="7344816" cy="5262979"/>
          </a:xfrm>
          <a:prstGeom prst="rect">
            <a:avLst/>
          </a:prstGeom>
          <a:solidFill>
            <a:schemeClr val="accent2">
              <a:lumMod val="40000"/>
              <a:lumOff val="60000"/>
            </a:schemeClr>
          </a:solidFill>
        </p:spPr>
        <p:txBody>
          <a:bodyPr wrap="square">
            <a:spAutoFit/>
          </a:bodyPr>
          <a:lstStyle/>
          <a:p>
            <a:r>
              <a:rPr lang="en-US" altLang="zh-CN" sz="2400" dirty="0"/>
              <a:t>[</a:t>
            </a:r>
            <a:r>
              <a:rPr lang="en-US" altLang="zh-CN" sz="2400" dirty="0" err="1"/>
              <a:t>lily@localhost</a:t>
            </a:r>
            <a:r>
              <a:rPr lang="en-US" altLang="zh-CN" sz="2400" dirty="0"/>
              <a:t> ~]$ </a:t>
            </a:r>
            <a:r>
              <a:rPr lang="en-US" altLang="zh-CN" sz="2400" dirty="0" err="1">
                <a:solidFill>
                  <a:srgbClr val="FF0000"/>
                </a:solidFill>
              </a:rPr>
              <a:t>ll</a:t>
            </a:r>
            <a:r>
              <a:rPr lang="en-US" altLang="zh-CN" sz="2400" dirty="0">
                <a:solidFill>
                  <a:srgbClr val="FF0000"/>
                </a:solidFill>
              </a:rPr>
              <a:t> </a:t>
            </a:r>
            <a:r>
              <a:rPr lang="en-US" altLang="zh-CN" sz="2400" dirty="0" err="1">
                <a:solidFill>
                  <a:srgbClr val="FF0000"/>
                </a:solidFill>
              </a:rPr>
              <a:t>testacl</a:t>
            </a:r>
            <a:endParaRPr lang="en-US" altLang="zh-CN" sz="2400" dirty="0">
              <a:solidFill>
                <a:srgbClr val="FF0000"/>
              </a:solidFill>
            </a:endParaRPr>
          </a:p>
          <a:p>
            <a:r>
              <a:rPr lang="en-US" altLang="zh-CN" sz="2400" dirty="0"/>
              <a:t>-</a:t>
            </a:r>
            <a:r>
              <a:rPr lang="en-US" altLang="zh-CN" sz="2400" dirty="0" err="1"/>
              <a:t>rw</a:t>
            </a:r>
            <a:r>
              <a:rPr lang="en-US" altLang="zh-CN" sz="2400" dirty="0"/>
              <a:t>-</a:t>
            </a:r>
            <a:r>
              <a:rPr lang="en-US" altLang="zh-CN" sz="2400" dirty="0" err="1"/>
              <a:t>rw</a:t>
            </a:r>
            <a:r>
              <a:rPr lang="en-US" altLang="zh-CN" sz="2400" dirty="0"/>
              <a:t>-r--. 1 lily </a:t>
            </a:r>
            <a:r>
              <a:rPr lang="en-US" altLang="zh-CN" sz="2400" dirty="0" err="1"/>
              <a:t>lily</a:t>
            </a:r>
            <a:r>
              <a:rPr lang="en-US" altLang="zh-CN" sz="2400" dirty="0"/>
              <a:t> 0 4</a:t>
            </a:r>
            <a:r>
              <a:rPr lang="zh-CN" altLang="en-US" sz="2400" dirty="0"/>
              <a:t>月  </a:t>
            </a:r>
            <a:r>
              <a:rPr lang="en-US" altLang="zh-CN" sz="2400" dirty="0"/>
              <a:t>29 11:03 </a:t>
            </a:r>
            <a:r>
              <a:rPr lang="en-US" altLang="zh-CN" sz="2400" dirty="0" err="1"/>
              <a:t>testacl</a:t>
            </a:r>
            <a:endParaRPr lang="en-US" altLang="zh-CN" sz="2400" dirty="0"/>
          </a:p>
          <a:p>
            <a:r>
              <a:rPr lang="en-US" altLang="zh-CN" sz="2400" dirty="0"/>
              <a:t>[</a:t>
            </a:r>
            <a:r>
              <a:rPr lang="en-US" altLang="zh-CN" sz="2400" dirty="0" err="1"/>
              <a:t>lily@localhost</a:t>
            </a:r>
            <a:r>
              <a:rPr lang="en-US" altLang="zh-CN" sz="2400" dirty="0"/>
              <a:t> ~]$ </a:t>
            </a:r>
            <a:r>
              <a:rPr lang="en-US" altLang="zh-CN" sz="2400" dirty="0" err="1">
                <a:solidFill>
                  <a:srgbClr val="FF0000"/>
                </a:solidFill>
              </a:rPr>
              <a:t>setfacl</a:t>
            </a:r>
            <a:r>
              <a:rPr lang="en-US" altLang="zh-CN" sz="2400" dirty="0">
                <a:solidFill>
                  <a:srgbClr val="FF0000"/>
                </a:solidFill>
              </a:rPr>
              <a:t> -m u:lily2:rx </a:t>
            </a:r>
            <a:r>
              <a:rPr lang="en-US" altLang="zh-CN" sz="2400" dirty="0" err="1">
                <a:solidFill>
                  <a:srgbClr val="FF0000"/>
                </a:solidFill>
              </a:rPr>
              <a:t>testacl</a:t>
            </a:r>
            <a:endParaRPr lang="en-US" altLang="zh-CN" sz="2400" dirty="0">
              <a:solidFill>
                <a:srgbClr val="FF0000"/>
              </a:solidFill>
            </a:endParaRPr>
          </a:p>
          <a:p>
            <a:r>
              <a:rPr lang="en-US" altLang="zh-CN" sz="2400" dirty="0"/>
              <a:t>[</a:t>
            </a:r>
            <a:r>
              <a:rPr lang="en-US" altLang="zh-CN" sz="2400" dirty="0" err="1"/>
              <a:t>lily@localhost</a:t>
            </a:r>
            <a:r>
              <a:rPr lang="en-US" altLang="zh-CN" sz="2400" dirty="0"/>
              <a:t> ~]$ </a:t>
            </a:r>
            <a:r>
              <a:rPr lang="en-US" altLang="zh-CN" sz="2400" dirty="0" err="1">
                <a:solidFill>
                  <a:srgbClr val="FF0000"/>
                </a:solidFill>
              </a:rPr>
              <a:t>ll</a:t>
            </a:r>
            <a:r>
              <a:rPr lang="en-US" altLang="zh-CN" sz="2400" dirty="0">
                <a:solidFill>
                  <a:srgbClr val="FF0000"/>
                </a:solidFill>
              </a:rPr>
              <a:t> </a:t>
            </a:r>
            <a:r>
              <a:rPr lang="en-US" altLang="zh-CN" sz="2400" dirty="0" err="1">
                <a:solidFill>
                  <a:srgbClr val="FF0000"/>
                </a:solidFill>
              </a:rPr>
              <a:t>testacl</a:t>
            </a:r>
            <a:endParaRPr lang="en-US" altLang="zh-CN" sz="2400" dirty="0">
              <a:solidFill>
                <a:srgbClr val="FF0000"/>
              </a:solidFill>
            </a:endParaRPr>
          </a:p>
          <a:p>
            <a:r>
              <a:rPr lang="en-US" altLang="zh-CN" sz="2400" dirty="0">
                <a:solidFill>
                  <a:srgbClr val="0000CC"/>
                </a:solidFill>
              </a:rPr>
              <a:t>-</a:t>
            </a:r>
            <a:r>
              <a:rPr lang="en-US" altLang="zh-CN" sz="2400" dirty="0" err="1">
                <a:solidFill>
                  <a:srgbClr val="0000CC"/>
                </a:solidFill>
              </a:rPr>
              <a:t>rw</a:t>
            </a:r>
            <a:r>
              <a:rPr lang="en-US" altLang="zh-CN" sz="2400" dirty="0">
                <a:solidFill>
                  <a:srgbClr val="0000CC"/>
                </a:solidFill>
              </a:rPr>
              <a:t>-</a:t>
            </a:r>
            <a:r>
              <a:rPr lang="en-US" altLang="zh-CN" sz="2400" dirty="0" err="1">
                <a:solidFill>
                  <a:srgbClr val="0000CC"/>
                </a:solidFill>
              </a:rPr>
              <a:t>rwxr</a:t>
            </a:r>
            <a:r>
              <a:rPr lang="en-US" altLang="zh-CN" sz="2400" dirty="0">
                <a:solidFill>
                  <a:srgbClr val="0000CC"/>
                </a:solidFill>
              </a:rPr>
              <a:t>--+ 1 </a:t>
            </a:r>
            <a:r>
              <a:rPr lang="en-US" altLang="zh-CN" sz="2400" dirty="0"/>
              <a:t>lily </a:t>
            </a:r>
            <a:r>
              <a:rPr lang="en-US" altLang="zh-CN" sz="2400" dirty="0" err="1"/>
              <a:t>lily</a:t>
            </a:r>
            <a:r>
              <a:rPr lang="en-US" altLang="zh-CN" sz="2400" dirty="0"/>
              <a:t> 0 4</a:t>
            </a:r>
            <a:r>
              <a:rPr lang="zh-CN" altLang="en-US" sz="2400" dirty="0"/>
              <a:t>月  </a:t>
            </a:r>
            <a:r>
              <a:rPr lang="en-US" altLang="zh-CN" sz="2400" dirty="0"/>
              <a:t>29 11:03 </a:t>
            </a:r>
            <a:r>
              <a:rPr lang="en-US" altLang="zh-CN" sz="2400" dirty="0" err="1"/>
              <a:t>testacl</a:t>
            </a:r>
            <a:endParaRPr lang="en-US" altLang="zh-CN" sz="2400" dirty="0"/>
          </a:p>
          <a:p>
            <a:r>
              <a:rPr lang="en-US" altLang="zh-CN" sz="2400" dirty="0"/>
              <a:t>[</a:t>
            </a:r>
            <a:r>
              <a:rPr lang="en-US" altLang="zh-CN" sz="2400" dirty="0" err="1"/>
              <a:t>lily@localhost</a:t>
            </a:r>
            <a:r>
              <a:rPr lang="en-US" altLang="zh-CN" sz="2400" dirty="0"/>
              <a:t> ~]$ </a:t>
            </a:r>
            <a:r>
              <a:rPr lang="en-US" altLang="zh-CN" sz="2400" dirty="0" err="1">
                <a:solidFill>
                  <a:srgbClr val="FF0000"/>
                </a:solidFill>
              </a:rPr>
              <a:t>getfacl</a:t>
            </a:r>
            <a:r>
              <a:rPr lang="en-US" altLang="zh-CN" sz="2400" dirty="0">
                <a:solidFill>
                  <a:srgbClr val="FF0000"/>
                </a:solidFill>
              </a:rPr>
              <a:t> </a:t>
            </a:r>
            <a:r>
              <a:rPr lang="en-US" altLang="zh-CN" sz="2400" dirty="0" err="1">
                <a:solidFill>
                  <a:srgbClr val="FF0000"/>
                </a:solidFill>
              </a:rPr>
              <a:t>testacl</a:t>
            </a:r>
            <a:endParaRPr lang="en-US" altLang="zh-CN" sz="2400" dirty="0">
              <a:solidFill>
                <a:srgbClr val="FF0000"/>
              </a:solidFill>
            </a:endParaRPr>
          </a:p>
          <a:p>
            <a:r>
              <a:rPr lang="en-US" altLang="zh-CN" sz="2400" dirty="0"/>
              <a:t># file: </a:t>
            </a:r>
            <a:r>
              <a:rPr lang="en-US" altLang="zh-CN" sz="2400" dirty="0" err="1"/>
              <a:t>testacl</a:t>
            </a:r>
            <a:endParaRPr lang="en-US" altLang="zh-CN" sz="2400" dirty="0"/>
          </a:p>
          <a:p>
            <a:r>
              <a:rPr lang="en-US" altLang="zh-CN" sz="2400" dirty="0"/>
              <a:t># owner: lily</a:t>
            </a:r>
          </a:p>
          <a:p>
            <a:r>
              <a:rPr lang="en-US" altLang="zh-CN" sz="2400" dirty="0"/>
              <a:t># group: lily</a:t>
            </a:r>
          </a:p>
          <a:p>
            <a:r>
              <a:rPr lang="en-US" altLang="zh-CN" sz="2400" dirty="0"/>
              <a:t>user::</a:t>
            </a:r>
            <a:r>
              <a:rPr lang="en-US" altLang="zh-CN" sz="2400" dirty="0" err="1"/>
              <a:t>rw</a:t>
            </a:r>
            <a:r>
              <a:rPr lang="en-US" altLang="zh-CN" sz="2400" dirty="0"/>
              <a:t>-</a:t>
            </a:r>
          </a:p>
          <a:p>
            <a:r>
              <a:rPr lang="en-US" altLang="zh-CN" sz="2400" dirty="0">
                <a:solidFill>
                  <a:srgbClr val="FF0000"/>
                </a:solidFill>
              </a:rPr>
              <a:t>user:lily2:r-x</a:t>
            </a:r>
          </a:p>
          <a:p>
            <a:r>
              <a:rPr lang="en-US" altLang="zh-CN" sz="2400" dirty="0"/>
              <a:t>group::</a:t>
            </a:r>
            <a:r>
              <a:rPr lang="en-US" altLang="zh-CN" sz="2400" dirty="0" err="1"/>
              <a:t>rw</a:t>
            </a:r>
            <a:r>
              <a:rPr lang="en-US" altLang="zh-CN" sz="2400" dirty="0"/>
              <a:t>-</a:t>
            </a:r>
          </a:p>
          <a:p>
            <a:r>
              <a:rPr lang="en-US" altLang="zh-CN" sz="2400" dirty="0">
                <a:solidFill>
                  <a:srgbClr val="FF0000"/>
                </a:solidFill>
              </a:rPr>
              <a:t>mask::</a:t>
            </a:r>
            <a:r>
              <a:rPr lang="en-US" altLang="zh-CN" sz="2400" dirty="0" err="1">
                <a:solidFill>
                  <a:srgbClr val="FF0000"/>
                </a:solidFill>
              </a:rPr>
              <a:t>rwx</a:t>
            </a:r>
            <a:endParaRPr lang="en-US" altLang="zh-CN" sz="2400" dirty="0">
              <a:solidFill>
                <a:srgbClr val="FF0000"/>
              </a:solidFill>
            </a:endParaRPr>
          </a:p>
          <a:p>
            <a:r>
              <a:rPr lang="en-US" altLang="zh-CN" sz="2400" dirty="0"/>
              <a:t>other::r--</a:t>
            </a:r>
          </a:p>
        </p:txBody>
      </p:sp>
      <p:sp>
        <p:nvSpPr>
          <p:cNvPr id="3" name="矩形 2"/>
          <p:cNvSpPr/>
          <p:nvPr/>
        </p:nvSpPr>
        <p:spPr>
          <a:xfrm>
            <a:off x="3563888" y="4357961"/>
            <a:ext cx="4941813" cy="1754326"/>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pPr marL="285750" indent="-285750" algn="just">
              <a:buFont typeface="Arial" panose="020B0604020202020204" pitchFamily="34" charset="0"/>
              <a:buChar char="•"/>
            </a:pPr>
            <a:r>
              <a:rPr lang="en-US" altLang="zh-CN" dirty="0"/>
              <a:t>GNU ls</a:t>
            </a:r>
            <a:r>
              <a:rPr lang="zh-CN" altLang="en-US" dirty="0"/>
              <a:t>使用</a:t>
            </a:r>
            <a:r>
              <a:rPr lang="en-US" altLang="zh-CN" dirty="0"/>
              <a:t>.</a:t>
            </a:r>
            <a:r>
              <a:rPr lang="zh-CN" altLang="en-US" dirty="0"/>
              <a:t>字符以指示具有</a:t>
            </a:r>
            <a:r>
              <a:rPr lang="en-US" altLang="zh-CN" dirty="0" err="1"/>
              <a:t>SELinux</a:t>
            </a:r>
            <a:r>
              <a:rPr lang="zh-CN" altLang="en-US" dirty="0"/>
              <a:t>安全上下文但没有其他替代访问方法的</a:t>
            </a:r>
            <a:r>
              <a:rPr lang="zh-CN" altLang="en-US" dirty="0" smtClean="0"/>
              <a:t>文件；</a:t>
            </a:r>
            <a:endParaRPr lang="zh-CN" altLang="en-US" dirty="0"/>
          </a:p>
          <a:p>
            <a:pPr marL="288000" algn="just">
              <a:spcBef>
                <a:spcPts val="0"/>
              </a:spcBef>
            </a:pPr>
            <a:r>
              <a:rPr lang="zh-CN" altLang="en-US" dirty="0" smtClean="0"/>
              <a:t>具有</a:t>
            </a:r>
            <a:r>
              <a:rPr lang="zh-CN" altLang="en-US" dirty="0"/>
              <a:t>任何其他替代访问方法组合的</a:t>
            </a:r>
            <a:r>
              <a:rPr lang="zh-CN" altLang="en-US" dirty="0" smtClean="0"/>
              <a:t>文件将</a:t>
            </a:r>
            <a:r>
              <a:rPr lang="zh-CN" altLang="en-US" dirty="0"/>
              <a:t>使用</a:t>
            </a:r>
            <a:r>
              <a:rPr lang="en-US" altLang="zh-CN" dirty="0"/>
              <a:t>+</a:t>
            </a:r>
            <a:r>
              <a:rPr lang="zh-CN" altLang="en-US" dirty="0"/>
              <a:t>字符进行标记</a:t>
            </a:r>
            <a:r>
              <a:rPr lang="zh-CN" altLang="en-US" dirty="0" smtClean="0"/>
              <a:t>。</a:t>
            </a:r>
            <a:endParaRPr lang="en-US" altLang="zh-CN" dirty="0" smtClean="0"/>
          </a:p>
          <a:p>
            <a:pPr marL="285750" indent="-285750" algn="just">
              <a:buFont typeface="Arial" panose="020B0604020202020204" pitchFamily="34" charset="0"/>
              <a:buChar char="•"/>
            </a:pPr>
            <a:endParaRPr lang="en-US" altLang="zh-CN" dirty="0"/>
          </a:p>
          <a:p>
            <a:pPr marL="285750" indent="-285750" algn="just">
              <a:buFont typeface="Arial" panose="020B0604020202020204" pitchFamily="34" charset="0"/>
              <a:buChar char="•"/>
            </a:pPr>
            <a:r>
              <a:rPr lang="en-US" altLang="zh-CN" dirty="0"/>
              <a:t>mask</a:t>
            </a:r>
            <a:r>
              <a:rPr lang="zh-CN" altLang="en-US" dirty="0"/>
              <a:t>一行即为最大有效访问</a:t>
            </a:r>
            <a:r>
              <a:rPr lang="zh-CN" altLang="en-US" dirty="0" smtClean="0"/>
              <a:t>权限。</a:t>
            </a:r>
            <a:endParaRPr lang="zh-CN" altLang="en-US" dirty="0"/>
          </a:p>
        </p:txBody>
      </p:sp>
    </p:spTree>
    <p:extLst>
      <p:ext uri="{BB962C8B-B14F-4D97-AF65-F5344CB8AC3E}">
        <p14:creationId xmlns:p14="http://schemas.microsoft.com/office/powerpoint/2010/main" val="1274208659"/>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setfacl</a:t>
            </a:r>
            <a:r>
              <a:rPr lang="zh-CN" altLang="en-US" dirty="0"/>
              <a:t>命令举例</a:t>
            </a:r>
          </a:p>
        </p:txBody>
      </p:sp>
      <p:sp>
        <p:nvSpPr>
          <p:cNvPr id="8" name="文本框 7">
            <a:extLst>
              <a:ext uri="{FF2B5EF4-FFF2-40B4-BE49-F238E27FC236}">
                <a16:creationId xmlns:a16="http://schemas.microsoft.com/office/drawing/2014/main" id="{6DEBB6DA-64A6-444F-9B06-5450844A3FC8}"/>
              </a:ext>
            </a:extLst>
          </p:cNvPr>
          <p:cNvSpPr txBox="1"/>
          <p:nvPr/>
        </p:nvSpPr>
        <p:spPr>
          <a:xfrm>
            <a:off x="429090" y="2060848"/>
            <a:ext cx="8551614" cy="4524315"/>
          </a:xfrm>
          <a:prstGeom prst="rect">
            <a:avLst/>
          </a:prstGeom>
          <a:solidFill>
            <a:schemeClr val="accent2">
              <a:lumMod val="40000"/>
              <a:lumOff val="60000"/>
            </a:schemeClr>
          </a:solidFill>
        </p:spPr>
        <p:txBody>
          <a:bodyPr wrap="square">
            <a:spAutoFit/>
          </a:bodyPr>
          <a:lstStyle/>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a:t>touch /</a:t>
            </a:r>
            <a:r>
              <a:rPr lang="en-US" altLang="zh-CN" sz="2400" dirty="0" err="1"/>
              <a:t>tmp</a:t>
            </a:r>
            <a:r>
              <a:rPr lang="en-US" altLang="zh-CN" sz="2400" dirty="0"/>
              <a:t>/</a:t>
            </a:r>
            <a:r>
              <a:rPr lang="en-US" altLang="zh-CN" sz="2400" dirty="0" err="1"/>
              <a:t>testacl</a:t>
            </a:r>
            <a:endParaRPr lang="en-US" altLang="zh-CN" sz="2400" dirty="0"/>
          </a:p>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err="1"/>
              <a:t>setfacl</a:t>
            </a:r>
            <a:r>
              <a:rPr lang="en-US" altLang="zh-CN" sz="2400" dirty="0"/>
              <a:t> -m u:zhangsan:rx /</a:t>
            </a:r>
            <a:r>
              <a:rPr lang="en-US" altLang="zh-CN" sz="2400" dirty="0" err="1"/>
              <a:t>tmp</a:t>
            </a:r>
            <a:r>
              <a:rPr lang="en-US" altLang="zh-CN" sz="2400" dirty="0"/>
              <a:t>/</a:t>
            </a:r>
            <a:r>
              <a:rPr lang="en-US" altLang="zh-CN" sz="2400" dirty="0" err="1"/>
              <a:t>testacl</a:t>
            </a:r>
            <a:endParaRPr lang="en-US" altLang="zh-CN" sz="2400" dirty="0"/>
          </a:p>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a:t>ls -l /</a:t>
            </a:r>
            <a:r>
              <a:rPr lang="en-US" altLang="zh-CN" sz="2400" dirty="0" err="1"/>
              <a:t>tmp</a:t>
            </a:r>
            <a:r>
              <a:rPr lang="en-US" altLang="zh-CN" sz="2400" dirty="0"/>
              <a:t>/</a:t>
            </a:r>
            <a:r>
              <a:rPr lang="en-US" altLang="zh-CN" sz="2400" dirty="0" err="1"/>
              <a:t>testacl</a:t>
            </a:r>
            <a:endParaRPr lang="en-US" altLang="zh-CN" sz="2400" dirty="0"/>
          </a:p>
          <a:p>
            <a:r>
              <a:rPr lang="en-US" altLang="zh-CN" sz="2400" dirty="0"/>
              <a:t>-</a:t>
            </a:r>
            <a:r>
              <a:rPr lang="en-US" altLang="zh-CN" sz="2400" dirty="0" err="1"/>
              <a:t>rw</a:t>
            </a:r>
            <a:r>
              <a:rPr lang="en-US" altLang="zh-CN" sz="2400" dirty="0"/>
              <a:t>-</a:t>
            </a:r>
            <a:r>
              <a:rPr lang="en-US" altLang="zh-CN" sz="2400" dirty="0" err="1"/>
              <a:t>rwxr</a:t>
            </a:r>
            <a:r>
              <a:rPr lang="en-US" altLang="zh-CN" sz="2400" dirty="0"/>
              <a:t>--+ 1 xl </a:t>
            </a:r>
            <a:r>
              <a:rPr lang="en-US" altLang="zh-CN" sz="2400" dirty="0" err="1"/>
              <a:t>xl</a:t>
            </a:r>
            <a:r>
              <a:rPr lang="en-US" altLang="zh-CN" sz="2400" dirty="0"/>
              <a:t> 0 Apr 18 05:42 /</a:t>
            </a:r>
            <a:r>
              <a:rPr lang="en-US" altLang="zh-CN" sz="2400" dirty="0" err="1" smtClean="0"/>
              <a:t>tmp</a:t>
            </a:r>
            <a:r>
              <a:rPr lang="en-US" altLang="zh-CN" sz="2400" dirty="0" smtClean="0"/>
              <a:t>/</a:t>
            </a:r>
            <a:r>
              <a:rPr lang="en-US" altLang="zh-CN" sz="2400" dirty="0" err="1" smtClean="0"/>
              <a:t>testacl</a:t>
            </a:r>
            <a:endParaRPr lang="en-US" altLang="zh-CN" sz="2400" dirty="0" smtClean="0"/>
          </a:p>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err="1"/>
              <a:t>su</a:t>
            </a:r>
            <a:r>
              <a:rPr lang="en-US" altLang="zh-CN" sz="2400" dirty="0"/>
              <a:t> - </a:t>
            </a:r>
            <a:r>
              <a:rPr lang="en-US" altLang="zh-CN" sz="2400" dirty="0" err="1"/>
              <a:t>zhangsan</a:t>
            </a:r>
            <a:endParaRPr lang="en-US" altLang="zh-CN" sz="2400" dirty="0"/>
          </a:p>
          <a:p>
            <a:r>
              <a:rPr lang="en-US" altLang="zh-CN" sz="2400" dirty="0">
                <a:solidFill>
                  <a:srgbClr val="0000FF"/>
                </a:solidFill>
              </a:rPr>
              <a:t>[</a:t>
            </a:r>
            <a:r>
              <a:rPr lang="en-US" altLang="zh-CN" sz="2400" dirty="0" err="1">
                <a:solidFill>
                  <a:srgbClr val="0000FF"/>
                </a:solidFill>
              </a:rPr>
              <a:t>zhangsan@localhost</a:t>
            </a:r>
            <a:r>
              <a:rPr lang="en-US" altLang="zh-CN" sz="2400" dirty="0">
                <a:solidFill>
                  <a:srgbClr val="0000FF"/>
                </a:solidFill>
              </a:rPr>
              <a:t> ~]$ </a:t>
            </a:r>
            <a:r>
              <a:rPr lang="en-US" altLang="zh-CN" sz="2400" dirty="0"/>
              <a:t>/</a:t>
            </a:r>
            <a:r>
              <a:rPr lang="en-US" altLang="zh-CN" sz="2400" dirty="0" err="1"/>
              <a:t>tmp</a:t>
            </a:r>
            <a:r>
              <a:rPr lang="en-US" altLang="zh-CN" sz="2400" dirty="0"/>
              <a:t>/</a:t>
            </a:r>
            <a:r>
              <a:rPr lang="en-US" altLang="zh-CN" sz="2400" dirty="0" err="1"/>
              <a:t>testacl</a:t>
            </a:r>
            <a:endParaRPr lang="en-US" altLang="zh-CN" sz="2400" dirty="0"/>
          </a:p>
          <a:p>
            <a:r>
              <a:rPr lang="en-US" altLang="zh-CN" sz="2400" dirty="0"/>
              <a:t>this is a test string</a:t>
            </a:r>
            <a:r>
              <a:rPr lang="en-US" altLang="zh-CN" sz="2400" dirty="0" smtClean="0"/>
              <a:t>...</a:t>
            </a:r>
          </a:p>
          <a:p>
            <a:r>
              <a:rPr lang="en-US" altLang="zh-CN" sz="2400" dirty="0">
                <a:solidFill>
                  <a:srgbClr val="0000FF"/>
                </a:solidFill>
              </a:rPr>
              <a:t>[</a:t>
            </a:r>
            <a:r>
              <a:rPr lang="en-US" altLang="zh-CN" sz="2400" dirty="0" err="1">
                <a:solidFill>
                  <a:srgbClr val="0000FF"/>
                </a:solidFill>
              </a:rPr>
              <a:t>zhangsan@localhost</a:t>
            </a:r>
            <a:r>
              <a:rPr lang="en-US" altLang="zh-CN" sz="2400" dirty="0">
                <a:solidFill>
                  <a:srgbClr val="0000FF"/>
                </a:solidFill>
              </a:rPr>
              <a:t> ~]$ </a:t>
            </a:r>
            <a:r>
              <a:rPr lang="en-US" altLang="zh-CN" sz="2400" dirty="0" smtClean="0"/>
              <a:t>exit</a:t>
            </a:r>
            <a:endParaRPr lang="en-US" altLang="zh-CN" sz="2400" dirty="0"/>
          </a:p>
          <a:p>
            <a:r>
              <a:rPr lang="en-US" altLang="zh-CN" sz="2400" dirty="0" smtClean="0"/>
              <a:t>[</a:t>
            </a:r>
            <a:r>
              <a:rPr lang="en-US" altLang="zh-CN" sz="2400" dirty="0" err="1"/>
              <a:t>xl@localhost</a:t>
            </a:r>
            <a:r>
              <a:rPr lang="en-US" altLang="zh-CN" sz="2400" dirty="0"/>
              <a:t> ~]$ </a:t>
            </a:r>
            <a:r>
              <a:rPr lang="en-US" altLang="zh-CN" sz="2400" dirty="0" err="1"/>
              <a:t>su</a:t>
            </a:r>
            <a:r>
              <a:rPr lang="en-US" altLang="zh-CN" sz="2400" dirty="0"/>
              <a:t> - zhangsan1</a:t>
            </a:r>
          </a:p>
          <a:p>
            <a:r>
              <a:rPr lang="en-US" altLang="zh-CN" sz="2400" dirty="0">
                <a:solidFill>
                  <a:srgbClr val="0000FF"/>
                </a:solidFill>
              </a:rPr>
              <a:t>[zhangsan1@localhost ~]$ </a:t>
            </a:r>
            <a:r>
              <a:rPr lang="en-US" altLang="zh-CN" sz="2400" dirty="0"/>
              <a:t>/</a:t>
            </a:r>
            <a:r>
              <a:rPr lang="en-US" altLang="zh-CN" sz="2400" dirty="0" err="1"/>
              <a:t>tmp</a:t>
            </a:r>
            <a:r>
              <a:rPr lang="en-US" altLang="zh-CN" sz="2400" dirty="0"/>
              <a:t>/</a:t>
            </a:r>
            <a:r>
              <a:rPr lang="en-US" altLang="zh-CN" sz="2400" dirty="0" err="1"/>
              <a:t>testacl</a:t>
            </a:r>
            <a:endParaRPr lang="en-US" altLang="zh-CN" sz="2400" dirty="0"/>
          </a:p>
          <a:p>
            <a:r>
              <a:rPr lang="en-US" altLang="zh-CN" sz="2400" dirty="0"/>
              <a:t>-bash: /</a:t>
            </a:r>
            <a:r>
              <a:rPr lang="en-US" altLang="zh-CN" sz="2400" dirty="0" err="1"/>
              <a:t>tmp</a:t>
            </a:r>
            <a:r>
              <a:rPr lang="en-US" altLang="zh-CN" sz="2400" dirty="0"/>
              <a:t>/</a:t>
            </a:r>
            <a:r>
              <a:rPr lang="en-US" altLang="zh-CN" sz="2400" dirty="0" err="1"/>
              <a:t>testacl</a:t>
            </a:r>
            <a:r>
              <a:rPr lang="en-US" altLang="zh-CN" sz="2400" dirty="0"/>
              <a:t>: Permission denied</a:t>
            </a:r>
          </a:p>
          <a:p>
            <a:endParaRPr lang="en-US" altLang="zh-CN" sz="2400" dirty="0"/>
          </a:p>
        </p:txBody>
      </p:sp>
      <p:sp>
        <p:nvSpPr>
          <p:cNvPr id="4" name="矩形 3"/>
          <p:cNvSpPr/>
          <p:nvPr/>
        </p:nvSpPr>
        <p:spPr>
          <a:xfrm>
            <a:off x="4704896" y="717971"/>
            <a:ext cx="4275807" cy="1200329"/>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US" altLang="zh-CN" sz="2400" dirty="0"/>
              <a:t>#!/bin/bash</a:t>
            </a:r>
          </a:p>
          <a:p>
            <a:r>
              <a:rPr lang="en-US" altLang="zh-CN" sz="2400" dirty="0"/>
              <a:t># </a:t>
            </a:r>
            <a:r>
              <a:rPr lang="en-US" altLang="zh-CN" sz="2400" dirty="0" smtClean="0"/>
              <a:t>description:/</a:t>
            </a:r>
            <a:r>
              <a:rPr lang="en-US" altLang="zh-CN" sz="2400" dirty="0" err="1" smtClean="0"/>
              <a:t>tmp</a:t>
            </a:r>
            <a:r>
              <a:rPr lang="en-US" altLang="zh-CN" sz="2400" dirty="0" smtClean="0"/>
              <a:t>/</a:t>
            </a:r>
            <a:r>
              <a:rPr lang="en-US" altLang="zh-CN" sz="2400" dirty="0" err="1" smtClean="0"/>
              <a:t>testacl</a:t>
            </a:r>
            <a:r>
              <a:rPr lang="en-US" altLang="zh-CN" sz="2400" dirty="0" smtClean="0"/>
              <a:t> </a:t>
            </a:r>
            <a:r>
              <a:rPr lang="en-US" altLang="zh-CN" sz="2400" dirty="0"/>
              <a:t>file</a:t>
            </a:r>
          </a:p>
          <a:p>
            <a:r>
              <a:rPr lang="en-US" altLang="zh-CN" sz="2400" dirty="0"/>
              <a:t>echo "this is a test string..."</a:t>
            </a:r>
          </a:p>
        </p:txBody>
      </p:sp>
    </p:spTree>
    <p:extLst>
      <p:ext uri="{BB962C8B-B14F-4D97-AF65-F5344CB8AC3E}">
        <p14:creationId xmlns:p14="http://schemas.microsoft.com/office/powerpoint/2010/main" val="640131424"/>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思考</a:t>
            </a:r>
          </a:p>
        </p:txBody>
      </p:sp>
      <p:sp>
        <p:nvSpPr>
          <p:cNvPr id="3" name="内容占位符 2"/>
          <p:cNvSpPr>
            <a:spLocks noGrp="1"/>
          </p:cNvSpPr>
          <p:nvPr>
            <p:ph idx="1"/>
          </p:nvPr>
        </p:nvSpPr>
        <p:spPr>
          <a:xfrm>
            <a:off x="827584" y="1628800"/>
            <a:ext cx="7992888" cy="4114800"/>
          </a:xfrm>
        </p:spPr>
        <p:txBody>
          <a:bodyPr/>
          <a:lstStyle/>
          <a:p>
            <a:pPr marL="0" indent="0" algn="ctr" eaLnBrk="1" hangingPunct="1">
              <a:lnSpc>
                <a:spcPct val="130000"/>
              </a:lnSpc>
              <a:spcBef>
                <a:spcPts val="600"/>
              </a:spcBef>
              <a:buClrTx/>
              <a:buSzTx/>
              <a:buNone/>
            </a:pPr>
            <a:r>
              <a:rPr lang="en-US" altLang="zh-CN" b="1" dirty="0">
                <a:solidFill>
                  <a:srgbClr val="C00000"/>
                </a:solidFill>
                <a:latin typeface="微软雅黑" panose="020B0503020204020204" pitchFamily="34" charset="-122"/>
                <a:ea typeface="微软雅黑" panose="020B0503020204020204" pitchFamily="34" charset="-122"/>
              </a:rPr>
              <a:t>Linux</a:t>
            </a:r>
            <a:r>
              <a:rPr lang="zh-CN" altLang="en-US" b="1" dirty="0">
                <a:solidFill>
                  <a:srgbClr val="C00000"/>
                </a:solidFill>
                <a:latin typeface="微软雅黑" panose="020B0503020204020204" pitchFamily="34" charset="-122"/>
                <a:ea typeface="微软雅黑" panose="020B0503020204020204" pitchFamily="34" charset="-122"/>
              </a:rPr>
              <a:t>文件系统的三种基本权限是什么？</a:t>
            </a:r>
          </a:p>
          <a:p>
            <a:pPr marL="0" indent="0" algn="ctr" eaLnBrk="1" hangingPunct="1">
              <a:lnSpc>
                <a:spcPct val="130000"/>
              </a:lnSpc>
              <a:spcBef>
                <a:spcPts val="600"/>
              </a:spcBef>
              <a:buClrTx/>
              <a:buSzTx/>
              <a:buNone/>
            </a:pPr>
            <a:r>
              <a:rPr lang="en-US" altLang="zh-CN" b="1" dirty="0">
                <a:solidFill>
                  <a:srgbClr val="C00000"/>
                </a:solidFill>
                <a:latin typeface="微软雅黑" panose="020B0503020204020204" pitchFamily="34" charset="-122"/>
                <a:ea typeface="微软雅黑" panose="020B0503020204020204" pitchFamily="34" charset="-122"/>
              </a:rPr>
              <a:t>Linux</a:t>
            </a:r>
            <a:r>
              <a:rPr lang="zh-CN" altLang="en-US" b="1" dirty="0">
                <a:solidFill>
                  <a:srgbClr val="C00000"/>
                </a:solidFill>
                <a:latin typeface="微软雅黑" panose="020B0503020204020204" pitchFamily="34" charset="-122"/>
                <a:ea typeface="微软雅黑" panose="020B0503020204020204" pitchFamily="34" charset="-122"/>
              </a:rPr>
              <a:t>文件系统的三种特殊权限是什么？何时使用它们？</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简述</a:t>
            </a:r>
            <a:r>
              <a:rPr lang="en-US" altLang="zh-CN" b="1" dirty="0">
                <a:solidFill>
                  <a:srgbClr val="C00000"/>
                </a:solidFill>
                <a:latin typeface="微软雅黑" panose="020B0503020204020204" pitchFamily="34" charset="-122"/>
                <a:ea typeface="微软雅黑" panose="020B0503020204020204" pitchFamily="34" charset="-122"/>
              </a:rPr>
              <a:t>chmod</a:t>
            </a:r>
            <a:r>
              <a:rPr lang="zh-CN" altLang="en-US" b="1" dirty="0">
                <a:solidFill>
                  <a:srgbClr val="C00000"/>
                </a:solidFill>
                <a:latin typeface="微软雅黑" panose="020B0503020204020204" pitchFamily="34" charset="-122"/>
                <a:ea typeface="微软雅黑" panose="020B0503020204020204" pitchFamily="34" charset="-122"/>
              </a:rPr>
              <a:t>命令的两种设置权限的方法。</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如何更改文件或目录的属主和</a:t>
            </a:r>
            <a:r>
              <a:rPr lang="en-US" altLang="zh-CN" b="1" dirty="0">
                <a:solidFill>
                  <a:srgbClr val="C00000"/>
                </a:solidFill>
                <a:latin typeface="微软雅黑" panose="020B0503020204020204" pitchFamily="34" charset="-122"/>
                <a:ea typeface="微软雅黑" panose="020B0503020204020204" pitchFamily="34" charset="-122"/>
              </a:rPr>
              <a:t>/</a:t>
            </a:r>
            <a:r>
              <a:rPr lang="zh-CN" altLang="en-US" b="1" dirty="0">
                <a:solidFill>
                  <a:srgbClr val="C00000"/>
                </a:solidFill>
                <a:latin typeface="微软雅黑" panose="020B0503020204020204" pitchFamily="34" charset="-122"/>
                <a:ea typeface="微软雅黑" panose="020B0503020204020204" pitchFamily="34" charset="-122"/>
              </a:rPr>
              <a:t>或同组人？</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为什么使用</a:t>
            </a:r>
            <a:r>
              <a:rPr lang="en-US" altLang="zh-CN" b="1" dirty="0">
                <a:solidFill>
                  <a:srgbClr val="C00000"/>
                </a:solidFill>
                <a:latin typeface="微软雅黑" panose="020B0503020204020204" pitchFamily="34" charset="-122"/>
                <a:ea typeface="微软雅黑" panose="020B0503020204020204" pitchFamily="34" charset="-122"/>
              </a:rPr>
              <a:t>ACL</a:t>
            </a:r>
            <a:r>
              <a:rPr lang="zh-CN" altLang="en-US" b="1" dirty="0">
                <a:solidFill>
                  <a:srgbClr val="C00000"/>
                </a:solidFill>
                <a:latin typeface="微软雅黑" panose="020B0503020204020204" pitchFamily="34" charset="-122"/>
                <a:ea typeface="微软雅黑" panose="020B0503020204020204" pitchFamily="34" charset="-122"/>
              </a:rPr>
              <a:t>？</a:t>
            </a:r>
            <a:r>
              <a:rPr lang="en-US" altLang="zh-CN" b="1" dirty="0">
                <a:solidFill>
                  <a:srgbClr val="C00000"/>
                </a:solidFill>
                <a:latin typeface="微软雅黑" panose="020B0503020204020204" pitchFamily="34" charset="-122"/>
                <a:ea typeface="微软雅黑" panose="020B0503020204020204" pitchFamily="34" charset="-122"/>
              </a:rPr>
              <a:t>ACL</a:t>
            </a:r>
            <a:r>
              <a:rPr lang="zh-CN" altLang="en-US" b="1" dirty="0">
                <a:solidFill>
                  <a:srgbClr val="C00000"/>
                </a:solidFill>
                <a:latin typeface="微软雅黑" panose="020B0503020204020204" pitchFamily="34" charset="-122"/>
                <a:ea typeface="微软雅黑" panose="020B0503020204020204" pitchFamily="34" charset="-122"/>
              </a:rPr>
              <a:t>的两种类型及其作用。</a:t>
            </a:r>
          </a:p>
          <a:p>
            <a:endParaRPr lang="zh-CN" altLang="en-US" dirty="0"/>
          </a:p>
        </p:txBody>
      </p:sp>
    </p:spTree>
    <p:extLst>
      <p:ext uri="{BB962C8B-B14F-4D97-AF65-F5344CB8AC3E}">
        <p14:creationId xmlns:p14="http://schemas.microsoft.com/office/powerpoint/2010/main" val="1821430132"/>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标题 4">
            <a:extLst>
              <a:ext uri="{FF2B5EF4-FFF2-40B4-BE49-F238E27FC236}">
                <a16:creationId xmlns:a16="http://schemas.microsoft.com/office/drawing/2014/main" id="{9AD9A78A-609F-4797-AA52-6B1406C11E73}"/>
              </a:ext>
            </a:extLst>
          </p:cNvPr>
          <p:cNvSpPr>
            <a:spLocks noGrp="1" noChangeArrowheads="1"/>
          </p:cNvSpPr>
          <p:nvPr>
            <p:ph type="title"/>
          </p:nvPr>
        </p:nvSpPr>
        <p:spPr>
          <a:xfrm>
            <a:off x="1223987" y="71399"/>
            <a:ext cx="7793037" cy="1204515"/>
          </a:xfrm>
        </p:spPr>
        <p:txBody>
          <a:bodyPr/>
          <a:lstStyle/>
          <a:p>
            <a:r>
              <a:rPr lang="zh-CN" altLang="en-US" dirty="0">
                <a:latin typeface="黑体" panose="02010609060101010101" pitchFamily="49" charset="-122"/>
                <a:ea typeface="黑体" panose="02010609060101010101" pitchFamily="49" charset="-122"/>
              </a:rPr>
              <a:t>本章内容要点</a:t>
            </a:r>
          </a:p>
        </p:txBody>
      </p:sp>
      <p:sp>
        <p:nvSpPr>
          <p:cNvPr id="2" name="圆角矩形 1">
            <a:extLst>
              <a:ext uri="{FF2B5EF4-FFF2-40B4-BE49-F238E27FC236}">
                <a16:creationId xmlns:a16="http://schemas.microsoft.com/office/drawing/2014/main" id="{24F68058-A272-4A0C-AC8E-6E614A1DCF7B}"/>
              </a:ext>
            </a:extLst>
          </p:cNvPr>
          <p:cNvSpPr/>
          <p:nvPr/>
        </p:nvSpPr>
        <p:spPr>
          <a:xfrm>
            <a:off x="833406" y="4911743"/>
            <a:ext cx="7808777" cy="1667871"/>
          </a:xfrm>
          <a:prstGeom prst="round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Tahoma"/>
              <a:ea typeface="宋体"/>
              <a:cs typeface="+mn-cs"/>
            </a:endParaRPr>
          </a:p>
        </p:txBody>
      </p:sp>
      <p:pic>
        <p:nvPicPr>
          <p:cNvPr id="9221" name="Picture 8">
            <a:extLst>
              <a:ext uri="{FF2B5EF4-FFF2-40B4-BE49-F238E27FC236}">
                <a16:creationId xmlns:a16="http://schemas.microsoft.com/office/drawing/2014/main" id="{30CF9F7C-A188-429C-86A1-CC0CA6E8556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80312" y="49014"/>
            <a:ext cx="1574994" cy="1507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a:extLst>
              <a:ext uri="{FF2B5EF4-FFF2-40B4-BE49-F238E27FC236}">
                <a16:creationId xmlns:a16="http://schemas.microsoft.com/office/drawing/2014/main" id="{D35220A3-8319-42A1-BF3C-A9D0A093B9DF}"/>
              </a:ext>
            </a:extLst>
          </p:cNvPr>
          <p:cNvSpPr txBox="1">
            <a:spLocks noChangeArrowheads="1"/>
          </p:cNvSpPr>
          <p:nvPr/>
        </p:nvSpPr>
        <p:spPr>
          <a:xfrm>
            <a:off x="833406" y="1581667"/>
            <a:ext cx="7882441" cy="4709205"/>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2000" kern="1200">
                <a:solidFill>
                  <a:schemeClr val="tx1">
                    <a:tint val="75000"/>
                  </a:schemeClr>
                </a:solidFill>
                <a:latin typeface="Broadway" panose="04040905080B02020502" pitchFamily="82" charset="0"/>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账户管理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schemeClr val="tx1"/>
                </a:solidFill>
              </a:rPr>
              <a:t>账户实质，账户</a:t>
            </a:r>
            <a:r>
              <a:rPr lang="en-US" altLang="zh-CN" dirty="0">
                <a:solidFill>
                  <a:schemeClr val="tx1"/>
                </a:solidFill>
              </a:rPr>
              <a:t>id</a:t>
            </a:r>
            <a:r>
              <a:rPr lang="zh-CN" altLang="en-US" dirty="0">
                <a:solidFill>
                  <a:schemeClr val="tx1"/>
                </a:solidFill>
              </a:rPr>
              <a:t>，账户文件，账户设置，口令管理</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权限管理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基本操作权限，特殊权限，设置</a:t>
            </a:r>
            <a:r>
              <a:rPr lang="en-US" altLang="zh-CN" dirty="0">
                <a:solidFill>
                  <a:prstClr val="black"/>
                </a:solidFill>
              </a:rPr>
              <a:t>ext2/3/4 </a:t>
            </a:r>
            <a:r>
              <a:rPr lang="zh-CN" altLang="en-US" dirty="0">
                <a:solidFill>
                  <a:prstClr val="black"/>
                </a:solidFill>
              </a:rPr>
              <a:t>的文件扩展属性，设置</a:t>
            </a:r>
            <a:r>
              <a:rPr lang="en-US" altLang="zh-CN" dirty="0">
                <a:solidFill>
                  <a:prstClr val="black"/>
                </a:solidFill>
              </a:rPr>
              <a:t>FACL</a:t>
            </a:r>
            <a:r>
              <a:rPr lang="zh-CN" altLang="en-US" dirty="0">
                <a:solidFill>
                  <a:prstClr val="black"/>
                </a:solidFill>
              </a:rPr>
              <a:t>权限</a:t>
            </a:r>
            <a:endParaRPr lang="en-US" altLang="zh-CN" dirty="0">
              <a:solidFill>
                <a:schemeClr val="tx1"/>
              </a:solidFill>
            </a:endParaRPr>
          </a:p>
          <a:p>
            <a:pPr marL="342900" indent="-342900" algn="l">
              <a:spcBef>
                <a:spcPts val="600"/>
              </a:spcBef>
              <a:spcAft>
                <a:spcPts val="600"/>
              </a:spcAft>
              <a:buFont typeface="Wingdings" panose="05000000000000000000" pitchFamily="2" charset="2"/>
              <a:buChar char="Ø"/>
            </a:pPr>
            <a:r>
              <a:rPr lang="zh-CN" altLang="en-US" sz="3200" dirty="0">
                <a:solidFill>
                  <a:schemeClr val="tx1"/>
                </a:solidFill>
              </a:rPr>
              <a:t> 进程管理</a:t>
            </a:r>
            <a:endParaRPr lang="en-US" altLang="zh-CN" sz="3200" dirty="0">
              <a:solidFill>
                <a:schemeClr val="tx1"/>
              </a:solidFill>
            </a:endParaRPr>
          </a:p>
          <a:p>
            <a:pPr lvl="1" algn="l">
              <a:lnSpc>
                <a:spcPct val="110000"/>
              </a:lnSpc>
              <a:spcBef>
                <a:spcPts val="600"/>
              </a:spcBef>
              <a:spcAft>
                <a:spcPts val="600"/>
              </a:spcAft>
            </a:pPr>
            <a:r>
              <a:rPr lang="zh-CN" altLang="en-US" dirty="0">
                <a:solidFill>
                  <a:prstClr val="black"/>
                </a:solidFill>
              </a:rPr>
              <a:t>进程概述，后台进程，进程管理，作业控制</a:t>
            </a:r>
          </a:p>
        </p:txBody>
      </p:sp>
    </p:spTree>
    <p:extLst>
      <p:ext uri="{BB962C8B-B14F-4D97-AF65-F5344CB8AC3E}">
        <p14:creationId xmlns:p14="http://schemas.microsoft.com/office/powerpoint/2010/main" val="4231614412"/>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历史回顾</a:t>
            </a:r>
            <a:endParaRPr lang="zh-CN" altLang="en-US" dirty="0"/>
          </a:p>
        </p:txBody>
      </p:sp>
      <p:sp>
        <p:nvSpPr>
          <p:cNvPr id="4" name="矩形 3"/>
          <p:cNvSpPr/>
          <p:nvPr/>
        </p:nvSpPr>
        <p:spPr>
          <a:xfrm>
            <a:off x="668706" y="1231108"/>
            <a:ext cx="8496944" cy="5539978"/>
          </a:xfrm>
          <a:prstGeom prst="rect">
            <a:avLst/>
          </a:prstGeom>
        </p:spPr>
        <p:txBody>
          <a:bodyPr wrap="square">
            <a:spAutoFit/>
          </a:bodyPr>
          <a:lstStyle/>
          <a:p>
            <a:pPr marL="342900" indent="-342900">
              <a:buFont typeface="Arial" panose="020B0604020202020204" pitchFamily="34" charset="0"/>
              <a:buChar char="•"/>
            </a:pPr>
            <a:r>
              <a:rPr lang="zh-CN" altLang="en-US" sz="2400" dirty="0"/>
              <a:t>口令文件 </a:t>
            </a:r>
            <a:r>
              <a:rPr lang="en-US" altLang="zh-CN" sz="2400" dirty="0"/>
              <a:t>/</a:t>
            </a:r>
            <a:r>
              <a:rPr lang="en-US" altLang="zh-CN" sz="2400" dirty="0" err="1"/>
              <a:t>etc</a:t>
            </a:r>
            <a:r>
              <a:rPr lang="en-US" altLang="zh-CN" sz="2400" dirty="0"/>
              <a:t>/</a:t>
            </a:r>
            <a:r>
              <a:rPr lang="en-US" altLang="zh-CN" sz="2400" dirty="0" err="1"/>
              <a:t>passwd</a:t>
            </a:r>
            <a:r>
              <a:rPr lang="en-US" altLang="zh-CN" sz="2400" dirty="0"/>
              <a:t> </a:t>
            </a:r>
          </a:p>
          <a:p>
            <a:pPr marL="342900" indent="-342900">
              <a:buFont typeface="Arial" panose="020B0604020202020204" pitchFamily="34" charset="0"/>
              <a:buChar char="•"/>
            </a:pPr>
            <a:r>
              <a:rPr lang="zh-CN" altLang="en-US" sz="2400" dirty="0" smtClean="0"/>
              <a:t>影子</a:t>
            </a:r>
            <a:r>
              <a:rPr lang="zh-CN" altLang="en-US" sz="2400" dirty="0"/>
              <a:t>口令文件 </a:t>
            </a:r>
            <a:r>
              <a:rPr lang="en-US" altLang="zh-CN" sz="2400" dirty="0"/>
              <a:t>/</a:t>
            </a:r>
            <a:r>
              <a:rPr lang="en-US" altLang="zh-CN" sz="2400" dirty="0" err="1"/>
              <a:t>etc</a:t>
            </a:r>
            <a:r>
              <a:rPr lang="en-US" altLang="zh-CN" sz="2400" dirty="0"/>
              <a:t>/shadow</a:t>
            </a:r>
          </a:p>
          <a:p>
            <a:pPr marL="342900" indent="-342900">
              <a:buFont typeface="Arial" panose="020B0604020202020204" pitchFamily="34" charset="0"/>
              <a:buChar char="•"/>
            </a:pPr>
            <a:r>
              <a:rPr lang="zh-CN" altLang="en-US" sz="2400" dirty="0" smtClean="0"/>
              <a:t>组</a:t>
            </a:r>
            <a:r>
              <a:rPr lang="zh-CN" altLang="en-US" sz="2400" dirty="0"/>
              <a:t>账号文件 </a:t>
            </a:r>
            <a:r>
              <a:rPr lang="en-US" altLang="zh-CN" sz="2400" dirty="0"/>
              <a:t>/</a:t>
            </a:r>
            <a:r>
              <a:rPr lang="en-US" altLang="zh-CN" sz="2400" dirty="0" err="1"/>
              <a:t>etc</a:t>
            </a:r>
            <a:r>
              <a:rPr lang="en-US" altLang="zh-CN" sz="2400" dirty="0"/>
              <a:t>/group</a:t>
            </a:r>
          </a:p>
          <a:p>
            <a:pPr marL="342900" indent="-342900">
              <a:buFont typeface="Arial" panose="020B0604020202020204" pitchFamily="34" charset="0"/>
              <a:buChar char="•"/>
            </a:pPr>
            <a:r>
              <a:rPr lang="zh-CN" altLang="en-US" sz="2400" dirty="0" smtClean="0"/>
              <a:t>组</a:t>
            </a:r>
            <a:r>
              <a:rPr lang="zh-CN" altLang="en-US" sz="2400" dirty="0"/>
              <a:t>口令文件 </a:t>
            </a:r>
            <a:r>
              <a:rPr lang="en-US" altLang="zh-CN" sz="2400" dirty="0"/>
              <a:t>/</a:t>
            </a:r>
            <a:r>
              <a:rPr lang="en-US" altLang="zh-CN" sz="2400" dirty="0" err="1" smtClean="0"/>
              <a:t>etc</a:t>
            </a:r>
            <a:r>
              <a:rPr lang="en-US" altLang="zh-CN" sz="2400" dirty="0" smtClean="0"/>
              <a:t>/</a:t>
            </a:r>
            <a:r>
              <a:rPr lang="en-US" altLang="zh-CN" sz="2400" dirty="0" err="1" smtClean="0"/>
              <a:t>gshadow</a:t>
            </a:r>
            <a:endParaRPr lang="en-US" altLang="zh-CN" sz="2400" dirty="0" smtClean="0"/>
          </a:p>
          <a:p>
            <a:pPr marL="342900" indent="-342900">
              <a:buFont typeface="Arial" panose="020B0604020202020204" pitchFamily="34" charset="0"/>
              <a:buChar char="•"/>
            </a:pPr>
            <a:endParaRPr lang="en-US" altLang="zh-CN" sz="1400" dirty="0" smtClean="0"/>
          </a:p>
          <a:p>
            <a:pPr marL="342900" indent="-342900">
              <a:buFont typeface="Arial" panose="020B0604020202020204" pitchFamily="34" charset="0"/>
              <a:buChar char="•"/>
            </a:pPr>
            <a:r>
              <a:rPr lang="en-US" altLang="zh-CN" sz="2400" dirty="0" err="1" smtClean="0"/>
              <a:t>chmod</a:t>
            </a:r>
            <a:r>
              <a:rPr lang="en-US" altLang="zh-CN" sz="2400" dirty="0" smtClean="0"/>
              <a:t> </a:t>
            </a:r>
            <a:r>
              <a:rPr lang="zh-CN" altLang="en-US" sz="2400" dirty="0"/>
              <a:t>改变文件或目录的权限</a:t>
            </a:r>
          </a:p>
          <a:p>
            <a:pPr marL="342900" indent="-342900">
              <a:buFont typeface="Arial" panose="020B0604020202020204" pitchFamily="34" charset="0"/>
              <a:buChar char="•"/>
            </a:pPr>
            <a:r>
              <a:rPr lang="en-US" altLang="zh-CN" sz="2400" dirty="0" err="1"/>
              <a:t>chown</a:t>
            </a:r>
            <a:r>
              <a:rPr lang="en-US" altLang="zh-CN" sz="2400" dirty="0"/>
              <a:t> </a:t>
            </a:r>
            <a:r>
              <a:rPr lang="zh-CN" altLang="en-US" sz="2400" dirty="0"/>
              <a:t>改变文件或目录的属主（所有者）</a:t>
            </a:r>
          </a:p>
          <a:p>
            <a:pPr marL="342900" indent="-342900">
              <a:buFont typeface="Arial" panose="020B0604020202020204" pitchFamily="34" charset="0"/>
              <a:buChar char="•"/>
            </a:pPr>
            <a:r>
              <a:rPr lang="en-US" altLang="zh-CN" sz="2400" dirty="0" err="1"/>
              <a:t>chgrp</a:t>
            </a:r>
            <a:r>
              <a:rPr lang="en-US" altLang="zh-CN" sz="2400" dirty="0"/>
              <a:t> </a:t>
            </a:r>
            <a:r>
              <a:rPr lang="zh-CN" altLang="en-US" sz="2400" dirty="0"/>
              <a:t>改变文件或目录所属的组</a:t>
            </a:r>
          </a:p>
          <a:p>
            <a:pPr marL="342900" indent="-342900">
              <a:buFont typeface="Arial" panose="020B0604020202020204" pitchFamily="34" charset="0"/>
              <a:buChar char="•"/>
            </a:pPr>
            <a:r>
              <a:rPr lang="en-US" altLang="zh-CN" sz="2400" dirty="0" err="1"/>
              <a:t>umask</a:t>
            </a:r>
            <a:r>
              <a:rPr lang="en-US" altLang="zh-CN" sz="2400" dirty="0"/>
              <a:t> </a:t>
            </a:r>
            <a:r>
              <a:rPr lang="zh-CN" altLang="en-US" sz="2400" dirty="0"/>
              <a:t>设置文件的缺省生成</a:t>
            </a:r>
            <a:r>
              <a:rPr lang="zh-CN" altLang="en-US" sz="2400" dirty="0" smtClean="0"/>
              <a:t>掩码</a:t>
            </a:r>
            <a:endParaRPr lang="en-US" altLang="zh-CN" sz="2400" dirty="0" smtClean="0"/>
          </a:p>
          <a:p>
            <a:pPr marL="342900" indent="-342900">
              <a:buFont typeface="Arial" panose="020B0604020202020204" pitchFamily="34" charset="0"/>
              <a:buChar char="•"/>
            </a:pPr>
            <a:r>
              <a:rPr lang="zh-CN" altLang="en-US" sz="2400" dirty="0"/>
              <a:t>特殊权限：文件（</a:t>
            </a:r>
            <a:r>
              <a:rPr lang="en-US" altLang="zh-CN" sz="2400" dirty="0" err="1"/>
              <a:t>suid</a:t>
            </a:r>
            <a:r>
              <a:rPr lang="zh-CN" altLang="en-US" sz="2400" dirty="0"/>
              <a:t>、</a:t>
            </a:r>
            <a:r>
              <a:rPr lang="en-US" altLang="zh-CN" sz="2400" dirty="0" err="1"/>
              <a:t>sgid</a:t>
            </a:r>
            <a:r>
              <a:rPr lang="zh-CN" altLang="en-US" sz="2400" dirty="0"/>
              <a:t>），目录（</a:t>
            </a:r>
            <a:r>
              <a:rPr lang="en-US" altLang="zh-CN" sz="2400" dirty="0" err="1"/>
              <a:t>sgid</a:t>
            </a:r>
            <a:r>
              <a:rPr lang="zh-CN" altLang="en-US" sz="2400" dirty="0"/>
              <a:t>、</a:t>
            </a:r>
            <a:r>
              <a:rPr lang="en-US" altLang="zh-CN" sz="2400" dirty="0"/>
              <a:t> sticky-bit </a:t>
            </a:r>
            <a:r>
              <a:rPr lang="zh-CN" altLang="en-US" sz="2400" dirty="0"/>
              <a:t>）</a:t>
            </a:r>
            <a:endParaRPr lang="en-US" altLang="zh-CN" sz="2400" dirty="0"/>
          </a:p>
          <a:p>
            <a:pPr marL="342900" indent="-342900">
              <a:buFont typeface="Arial" panose="020B0604020202020204" pitchFamily="34" charset="0"/>
              <a:buChar char="•"/>
            </a:pPr>
            <a:endParaRPr lang="en-US" altLang="zh-CN" sz="1400" dirty="0" smtClean="0"/>
          </a:p>
          <a:p>
            <a:pPr marL="342900" indent="-342900">
              <a:buFont typeface="Arial" panose="020B0604020202020204" pitchFamily="34" charset="0"/>
              <a:buChar char="•"/>
            </a:pPr>
            <a:r>
              <a:rPr lang="en-US" altLang="zh-CN" sz="2400" dirty="0" err="1" smtClean="0"/>
              <a:t>useradd</a:t>
            </a:r>
            <a:r>
              <a:rPr lang="en-US" altLang="zh-CN" sz="2400" dirty="0" smtClean="0"/>
              <a:t> </a:t>
            </a:r>
            <a:r>
              <a:rPr lang="zh-CN" altLang="en-US" sz="2400" dirty="0"/>
              <a:t>添加用户</a:t>
            </a:r>
            <a:endParaRPr lang="en-US" altLang="zh-CN" sz="2400" dirty="0"/>
          </a:p>
          <a:p>
            <a:pPr marL="342900" indent="-342900">
              <a:buFont typeface="Arial" panose="020B0604020202020204" pitchFamily="34" charset="0"/>
              <a:buChar char="•"/>
            </a:pPr>
            <a:r>
              <a:rPr lang="en-US" altLang="zh-CN" sz="2400" dirty="0" err="1"/>
              <a:t>passwd</a:t>
            </a:r>
            <a:r>
              <a:rPr lang="en-US" altLang="zh-CN" sz="2400" dirty="0"/>
              <a:t> </a:t>
            </a:r>
            <a:r>
              <a:rPr lang="zh-CN" altLang="en-US" sz="2400" dirty="0"/>
              <a:t>修改密码</a:t>
            </a:r>
            <a:endParaRPr lang="en-US" altLang="zh-CN" sz="2400" dirty="0"/>
          </a:p>
          <a:p>
            <a:pPr marL="342900" indent="-342900">
              <a:buFont typeface="Arial" panose="020B0604020202020204" pitchFamily="34" charset="0"/>
              <a:buChar char="•"/>
            </a:pPr>
            <a:r>
              <a:rPr lang="en-US" altLang="zh-CN" sz="2400" dirty="0" err="1"/>
              <a:t>userdel</a:t>
            </a:r>
            <a:r>
              <a:rPr lang="en-US" altLang="zh-CN" sz="2400" dirty="0"/>
              <a:t> </a:t>
            </a:r>
            <a:r>
              <a:rPr lang="zh-CN" altLang="en-US" sz="2400" dirty="0"/>
              <a:t>删除</a:t>
            </a:r>
            <a:r>
              <a:rPr lang="zh-CN" altLang="en-US" sz="2400" dirty="0" smtClean="0"/>
              <a:t>用户</a:t>
            </a:r>
            <a:endParaRPr lang="en-US" altLang="zh-CN" sz="2400" dirty="0" smtClean="0"/>
          </a:p>
          <a:p>
            <a:pPr marL="342900" indent="-342900">
              <a:buFont typeface="Arial" panose="020B0604020202020204" pitchFamily="34" charset="0"/>
              <a:buChar char="•"/>
            </a:pPr>
            <a:endParaRPr lang="en-US" altLang="zh-CN" sz="1400" dirty="0" smtClean="0"/>
          </a:p>
          <a:p>
            <a:pPr marL="342900" indent="-342900">
              <a:buFont typeface="Arial" panose="020B0604020202020204" pitchFamily="34" charset="0"/>
              <a:buChar char="•"/>
            </a:pPr>
            <a:r>
              <a:rPr lang="en-US" altLang="zh-CN" sz="2400" dirty="0" err="1" smtClean="0"/>
              <a:t>setfacl</a:t>
            </a:r>
            <a:r>
              <a:rPr lang="en-US" altLang="zh-CN" sz="2400" dirty="0" smtClean="0"/>
              <a:t> </a:t>
            </a:r>
            <a:r>
              <a:rPr lang="zh-CN" altLang="en-US" sz="2400" dirty="0"/>
              <a:t>文件访问控制</a:t>
            </a:r>
            <a:r>
              <a:rPr lang="zh-CN" altLang="en-US" sz="2400" dirty="0" smtClean="0"/>
              <a:t>列表</a:t>
            </a:r>
            <a:endParaRPr lang="zh-CN" altLang="en-US" sz="2400" dirty="0"/>
          </a:p>
        </p:txBody>
      </p:sp>
    </p:spTree>
    <p:extLst>
      <p:ext uri="{BB962C8B-B14F-4D97-AF65-F5344CB8AC3E}">
        <p14:creationId xmlns:p14="http://schemas.microsoft.com/office/powerpoint/2010/main" val="3300232645"/>
      </p:ext>
    </p:extLst>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历史回顾</a:t>
            </a:r>
            <a:endParaRPr lang="zh-CN" altLang="en-US" dirty="0"/>
          </a:p>
        </p:txBody>
      </p:sp>
      <p:sp>
        <p:nvSpPr>
          <p:cNvPr id="4" name="矩形 3"/>
          <p:cNvSpPr/>
          <p:nvPr/>
        </p:nvSpPr>
        <p:spPr>
          <a:xfrm>
            <a:off x="611560" y="1340768"/>
            <a:ext cx="8263582" cy="5262979"/>
          </a:xfrm>
          <a:prstGeom prst="rect">
            <a:avLst/>
          </a:prstGeom>
        </p:spPr>
        <p:txBody>
          <a:bodyPr wrap="square">
            <a:spAutoFit/>
          </a:bodyPr>
          <a:lstStyle/>
          <a:p>
            <a:r>
              <a:rPr lang="en-US" altLang="zh-CN" sz="2400" dirty="0">
                <a:solidFill>
                  <a:srgbClr val="0000FF"/>
                </a:solidFill>
              </a:rPr>
              <a:t>[</a:t>
            </a:r>
            <a:r>
              <a:rPr lang="en-US" altLang="zh-CN" sz="2400" dirty="0" err="1">
                <a:solidFill>
                  <a:srgbClr val="0000FF"/>
                </a:solidFill>
              </a:rPr>
              <a:t>root@localhost</a:t>
            </a:r>
            <a:r>
              <a:rPr lang="en-US" altLang="zh-CN" sz="2400" dirty="0">
                <a:solidFill>
                  <a:srgbClr val="0000FF"/>
                </a:solidFill>
              </a:rPr>
              <a:t> ~]# </a:t>
            </a:r>
            <a:r>
              <a:rPr lang="en-US" altLang="zh-CN" sz="2400" dirty="0" err="1"/>
              <a:t>umask</a:t>
            </a:r>
            <a:endParaRPr lang="en-US" altLang="zh-CN" sz="2400" dirty="0"/>
          </a:p>
          <a:p>
            <a:r>
              <a:rPr lang="en-US" altLang="zh-CN" sz="2400" dirty="0"/>
              <a:t>0022</a:t>
            </a:r>
          </a:p>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err="1"/>
              <a:t>umask</a:t>
            </a:r>
            <a:endParaRPr lang="en-US" altLang="zh-CN" sz="2400" dirty="0"/>
          </a:p>
          <a:p>
            <a:r>
              <a:rPr lang="en-US" altLang="zh-CN" sz="2400" dirty="0" smtClean="0"/>
              <a:t>0002</a:t>
            </a:r>
          </a:p>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a:t>ls -</a:t>
            </a:r>
            <a:r>
              <a:rPr lang="en-US" altLang="zh-CN" sz="2400" dirty="0" err="1"/>
              <a:t>ld</a:t>
            </a:r>
            <a:r>
              <a:rPr lang="en-US" altLang="zh-CN" sz="2400" dirty="0"/>
              <a:t> f1 </a:t>
            </a:r>
            <a:r>
              <a:rPr lang="en-US" altLang="zh-CN" sz="2400" dirty="0" err="1"/>
              <a:t>mydir</a:t>
            </a:r>
            <a:endParaRPr lang="en-US" altLang="zh-CN" sz="2400" dirty="0"/>
          </a:p>
          <a:p>
            <a:r>
              <a:rPr lang="en-US" altLang="zh-CN" sz="2400" dirty="0"/>
              <a:t>-</a:t>
            </a:r>
            <a:r>
              <a:rPr lang="en-US" altLang="zh-CN" sz="2400" dirty="0" err="1"/>
              <a:t>rw</a:t>
            </a:r>
            <a:r>
              <a:rPr lang="en-US" altLang="zh-CN" sz="2400" dirty="0"/>
              <a:t>-</a:t>
            </a:r>
            <a:r>
              <a:rPr lang="en-US" altLang="zh-CN" sz="2400" dirty="0" err="1"/>
              <a:t>rw</a:t>
            </a:r>
            <a:r>
              <a:rPr lang="en-US" altLang="zh-CN" sz="2400" dirty="0"/>
              <a:t>-r--. 1 xl </a:t>
            </a:r>
            <a:r>
              <a:rPr lang="en-US" altLang="zh-CN" sz="2400" dirty="0" err="1"/>
              <a:t>xl</a:t>
            </a:r>
            <a:r>
              <a:rPr lang="en-US" altLang="zh-CN" sz="2400" dirty="0"/>
              <a:t> 29 4</a:t>
            </a:r>
            <a:r>
              <a:rPr lang="zh-CN" altLang="en-US" sz="2400" dirty="0"/>
              <a:t>月  </a:t>
            </a:r>
            <a:r>
              <a:rPr lang="en-US" altLang="zh-CN" sz="2400" dirty="0"/>
              <a:t>28 01:27 f1</a:t>
            </a:r>
          </a:p>
          <a:p>
            <a:r>
              <a:rPr lang="en-US" altLang="zh-CN" sz="2400" dirty="0" err="1"/>
              <a:t>drwxrwxr</a:t>
            </a:r>
            <a:r>
              <a:rPr lang="en-US" altLang="zh-CN" sz="2400" dirty="0"/>
              <a:t>-x. 2 xl </a:t>
            </a:r>
            <a:r>
              <a:rPr lang="en-US" altLang="zh-CN" sz="2400" dirty="0" err="1"/>
              <a:t>xl</a:t>
            </a:r>
            <a:r>
              <a:rPr lang="en-US" altLang="zh-CN" sz="2400" dirty="0"/>
              <a:t>  6 5</a:t>
            </a:r>
            <a:r>
              <a:rPr lang="zh-CN" altLang="en-US" sz="2400" dirty="0"/>
              <a:t>月   </a:t>
            </a:r>
            <a:r>
              <a:rPr lang="en-US" altLang="zh-CN" sz="2400" dirty="0"/>
              <a:t>8 12:58 </a:t>
            </a:r>
            <a:r>
              <a:rPr lang="en-US" altLang="zh-CN" sz="2400" dirty="0" err="1" smtClean="0"/>
              <a:t>mydir</a:t>
            </a:r>
            <a:endParaRPr lang="en-US" altLang="zh-CN" sz="2400" dirty="0" smtClean="0"/>
          </a:p>
          <a:p>
            <a:endParaRPr lang="en-US" altLang="zh-CN" sz="2400" dirty="0"/>
          </a:p>
          <a:p>
            <a:r>
              <a:rPr lang="en-US" altLang="zh-CN" sz="2400" dirty="0">
                <a:solidFill>
                  <a:srgbClr val="0000FF"/>
                </a:solidFill>
              </a:rPr>
              <a:t>[</a:t>
            </a:r>
            <a:r>
              <a:rPr lang="en-US" altLang="zh-CN" sz="2400" dirty="0" err="1">
                <a:solidFill>
                  <a:srgbClr val="0000FF"/>
                </a:solidFill>
              </a:rPr>
              <a:t>xl@localhost</a:t>
            </a:r>
            <a:r>
              <a:rPr lang="en-US" altLang="zh-CN" sz="2400" dirty="0">
                <a:solidFill>
                  <a:srgbClr val="0000FF"/>
                </a:solidFill>
              </a:rPr>
              <a:t> ~]$ </a:t>
            </a:r>
            <a:r>
              <a:rPr lang="en-US" altLang="zh-CN" sz="2400" dirty="0"/>
              <a:t>ls -</a:t>
            </a:r>
            <a:r>
              <a:rPr lang="en-US" altLang="zh-CN" sz="2400" dirty="0" err="1"/>
              <a:t>ld</a:t>
            </a:r>
            <a:r>
              <a:rPr lang="en-US" altLang="zh-CN" sz="2400" dirty="0"/>
              <a:t> /home/xl /root</a:t>
            </a:r>
          </a:p>
          <a:p>
            <a:r>
              <a:rPr lang="en-US" altLang="zh-CN" sz="2400" dirty="0" err="1"/>
              <a:t>drwx</a:t>
            </a:r>
            <a:r>
              <a:rPr lang="en-US" altLang="zh-CN" sz="2400" dirty="0"/>
              <a:t>------. 16 xl   </a:t>
            </a:r>
            <a:r>
              <a:rPr lang="en-US" altLang="zh-CN" sz="2400" dirty="0" err="1"/>
              <a:t>xl</a:t>
            </a:r>
            <a:r>
              <a:rPr lang="en-US" altLang="zh-CN" sz="2400" dirty="0"/>
              <a:t>   4096 5</a:t>
            </a:r>
            <a:r>
              <a:rPr lang="zh-CN" altLang="en-US" sz="2400" dirty="0"/>
              <a:t>月   </a:t>
            </a:r>
            <a:r>
              <a:rPr lang="en-US" altLang="zh-CN" sz="2400" dirty="0"/>
              <a:t>8 12:58 /home/xl</a:t>
            </a:r>
          </a:p>
          <a:p>
            <a:r>
              <a:rPr lang="en-US" altLang="zh-CN" sz="2400" dirty="0" err="1"/>
              <a:t>dr</a:t>
            </a:r>
            <a:r>
              <a:rPr lang="en-US" altLang="zh-CN" sz="2400" dirty="0"/>
              <a:t>-</a:t>
            </a:r>
            <a:r>
              <a:rPr lang="en-US" altLang="zh-CN" sz="2400" dirty="0" err="1"/>
              <a:t>xr</a:t>
            </a:r>
            <a:r>
              <a:rPr lang="en-US" altLang="zh-CN" sz="2400" dirty="0"/>
              <a:t>-x---.  6 root </a:t>
            </a:r>
            <a:r>
              <a:rPr lang="en-US" altLang="zh-CN" sz="2400" dirty="0" err="1"/>
              <a:t>root</a:t>
            </a:r>
            <a:r>
              <a:rPr lang="en-US" altLang="zh-CN" sz="2400" dirty="0"/>
              <a:t>  229 5</a:t>
            </a:r>
            <a:r>
              <a:rPr lang="zh-CN" altLang="en-US" sz="2400" dirty="0"/>
              <a:t>月   </a:t>
            </a:r>
            <a:r>
              <a:rPr lang="en-US" altLang="zh-CN" sz="2400" dirty="0"/>
              <a:t>8 12:49 /root</a:t>
            </a:r>
          </a:p>
          <a:p>
            <a:endParaRPr lang="en-US" altLang="zh-CN" sz="2400" dirty="0" smtClean="0"/>
          </a:p>
          <a:p>
            <a:r>
              <a:rPr lang="nl-NL" altLang="zh-CN" sz="2400" dirty="0">
                <a:solidFill>
                  <a:srgbClr val="0000FF"/>
                </a:solidFill>
              </a:rPr>
              <a:t>[xl@localhost ~]$ </a:t>
            </a:r>
            <a:r>
              <a:rPr lang="nl-NL" altLang="zh-CN" sz="2400" dirty="0"/>
              <a:t>ls -ld /tmp</a:t>
            </a:r>
          </a:p>
          <a:p>
            <a:r>
              <a:rPr lang="nl-NL" altLang="zh-CN" sz="2400" dirty="0"/>
              <a:t>drwxrwxrwt. 16 root root 4096 5</a:t>
            </a:r>
            <a:r>
              <a:rPr lang="zh-CN" altLang="en-US" sz="2400" dirty="0"/>
              <a:t>月   </a:t>
            </a:r>
            <a:r>
              <a:rPr lang="en-US" altLang="zh-CN" sz="2400" dirty="0"/>
              <a:t>8 12:58 /</a:t>
            </a:r>
            <a:r>
              <a:rPr lang="nl-NL" altLang="zh-CN" sz="2400" dirty="0" smtClean="0"/>
              <a:t>tmp</a:t>
            </a:r>
            <a:endParaRPr lang="nl-NL" altLang="zh-CN" sz="2400" dirty="0"/>
          </a:p>
        </p:txBody>
      </p:sp>
    </p:spTree>
    <p:extLst>
      <p:ext uri="{BB962C8B-B14F-4D97-AF65-F5344CB8AC3E}">
        <p14:creationId xmlns:p14="http://schemas.microsoft.com/office/powerpoint/2010/main" val="3096704016"/>
      </p:ext>
    </p:extLst>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一 程序、进程和作业</a:t>
            </a:r>
            <a:endParaRPr lang="zh-CN" altLang="en-US" dirty="0"/>
          </a:p>
        </p:txBody>
      </p:sp>
      <p:sp>
        <p:nvSpPr>
          <p:cNvPr id="3" name="内容占位符 2"/>
          <p:cNvSpPr>
            <a:spLocks noGrp="1"/>
          </p:cNvSpPr>
          <p:nvPr>
            <p:ph idx="1"/>
          </p:nvPr>
        </p:nvSpPr>
        <p:spPr>
          <a:xfrm>
            <a:off x="395536" y="1484784"/>
            <a:ext cx="8523097" cy="4790157"/>
          </a:xfrm>
        </p:spPr>
        <p:txBody>
          <a:bodyPr/>
          <a:lstStyle/>
          <a:p>
            <a:r>
              <a:rPr lang="zh-CN" altLang="en-US" dirty="0"/>
              <a:t>程序（</a:t>
            </a:r>
            <a:r>
              <a:rPr lang="en-US" altLang="zh-CN" sz="3200" dirty="0">
                <a:solidFill>
                  <a:srgbClr val="0000CC"/>
                </a:solidFill>
                <a:ea typeface="黑体" pitchFamily="49" charset="-122"/>
              </a:rPr>
              <a:t> program</a:t>
            </a:r>
            <a:r>
              <a:rPr lang="zh-CN" altLang="en-US" dirty="0"/>
              <a:t>）</a:t>
            </a:r>
          </a:p>
          <a:p>
            <a:pPr lvl="1"/>
            <a:r>
              <a:rPr lang="zh-CN" altLang="en-US" dirty="0"/>
              <a:t>机器指令的集合， </a:t>
            </a:r>
            <a:r>
              <a:rPr lang="zh-CN" altLang="en-US" dirty="0">
                <a:solidFill>
                  <a:srgbClr val="FF0000"/>
                </a:solidFill>
              </a:rPr>
              <a:t>二进制文件</a:t>
            </a:r>
            <a:r>
              <a:rPr lang="zh-CN" altLang="en-US" dirty="0"/>
              <a:t>形式存储</a:t>
            </a:r>
          </a:p>
          <a:p>
            <a:r>
              <a:rPr lang="zh-CN" altLang="en-US" dirty="0"/>
              <a:t>进程（</a:t>
            </a:r>
            <a:r>
              <a:rPr lang="en-US" altLang="zh-CN" sz="3200" dirty="0">
                <a:solidFill>
                  <a:srgbClr val="0000CC"/>
                </a:solidFill>
                <a:ea typeface="黑体" pitchFamily="49" charset="-122"/>
              </a:rPr>
              <a:t> process </a:t>
            </a:r>
            <a:r>
              <a:rPr lang="zh-CN" altLang="en-US" dirty="0"/>
              <a:t>）</a:t>
            </a:r>
          </a:p>
          <a:p>
            <a:pPr lvl="1"/>
            <a:r>
              <a:rPr lang="zh-CN" altLang="en-US" dirty="0"/>
              <a:t>一个程序在其自身的虚拟地址空间中的一次执行活动</a:t>
            </a:r>
            <a:r>
              <a:rPr lang="en-US" altLang="zh-CN" dirty="0"/>
              <a:t>——</a:t>
            </a:r>
            <a:r>
              <a:rPr lang="zh-CN" altLang="en-US" dirty="0">
                <a:solidFill>
                  <a:srgbClr val="FF0000"/>
                </a:solidFill>
              </a:rPr>
              <a:t>加载到内存中的程序</a:t>
            </a:r>
          </a:p>
          <a:p>
            <a:r>
              <a:rPr lang="zh-CN" altLang="en-US" dirty="0"/>
              <a:t>作业</a:t>
            </a:r>
            <a:r>
              <a:rPr lang="en-US" altLang="zh-CN" dirty="0"/>
              <a:t>/</a:t>
            </a:r>
            <a:r>
              <a:rPr lang="zh-CN" altLang="en-US" dirty="0"/>
              <a:t>任务（</a:t>
            </a:r>
            <a:r>
              <a:rPr lang="en-US" altLang="zh-CN" sz="3200" dirty="0">
                <a:solidFill>
                  <a:srgbClr val="0000CC"/>
                </a:solidFill>
                <a:ea typeface="黑体" pitchFamily="49" charset="-122"/>
              </a:rPr>
              <a:t> job/task </a:t>
            </a:r>
            <a:r>
              <a:rPr lang="zh-CN" altLang="en-US" dirty="0"/>
              <a:t>）</a:t>
            </a:r>
          </a:p>
          <a:p>
            <a:pPr lvl="1"/>
            <a:r>
              <a:rPr lang="zh-CN" altLang="en-US" dirty="0"/>
              <a:t>用户通过操作系统用户接口（</a:t>
            </a:r>
            <a:r>
              <a:rPr lang="en-US" altLang="zh-CN" dirty="0"/>
              <a:t>Shell</a:t>
            </a:r>
            <a:r>
              <a:rPr lang="zh-CN" altLang="en-US" dirty="0"/>
              <a:t>或</a:t>
            </a:r>
            <a:r>
              <a:rPr lang="en-US" altLang="zh-CN" dirty="0"/>
              <a:t>X</a:t>
            </a:r>
            <a:r>
              <a:rPr lang="zh-CN" altLang="en-US" dirty="0"/>
              <a:t>环境）</a:t>
            </a:r>
            <a:r>
              <a:rPr lang="zh-CN" altLang="en-US" dirty="0">
                <a:solidFill>
                  <a:srgbClr val="FF0000"/>
                </a:solidFill>
              </a:rPr>
              <a:t>提交给计算机加工处理的程序</a:t>
            </a:r>
            <a:r>
              <a:rPr lang="zh-CN" altLang="en-US" dirty="0"/>
              <a:t>，如：用户发出一个打印命令，就产生一个打印作业</a:t>
            </a:r>
            <a:r>
              <a:rPr lang="en-US" altLang="zh-CN" dirty="0"/>
              <a:t>/</a:t>
            </a:r>
            <a:r>
              <a:rPr lang="zh-CN" altLang="en-US" dirty="0"/>
              <a:t>任务</a:t>
            </a:r>
          </a:p>
          <a:p>
            <a:endParaRPr lang="zh-CN" altLang="en-US" dirty="0"/>
          </a:p>
        </p:txBody>
      </p:sp>
    </p:spTree>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程序被加载成为程序以及相关数据的示意图">
            <a:extLst>
              <a:ext uri="{FF2B5EF4-FFF2-40B4-BE49-F238E27FC236}">
                <a16:creationId xmlns:a16="http://schemas.microsoft.com/office/drawing/2014/main" id="{5CC0A48C-5C9E-4198-8997-7F0831A41CE7}"/>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sharpenSoften amount="50000"/>
                    </a14:imgEffect>
                    <a14:imgEffect>
                      <a14:colorTemperature colorTemp="5300"/>
                    </a14:imgEffect>
                  </a14:imgLayer>
                </a14:imgProps>
              </a:ext>
              <a:ext uri="{28A0092B-C50C-407E-A947-70E740481C1C}">
                <a14:useLocalDpi xmlns:a14="http://schemas.microsoft.com/office/drawing/2010/main" val="0"/>
              </a:ext>
            </a:extLst>
          </a:blip>
          <a:srcRect/>
          <a:stretch>
            <a:fillRect/>
          </a:stretch>
        </p:blipFill>
        <p:spPr bwMode="auto">
          <a:xfrm>
            <a:off x="107504" y="94774"/>
            <a:ext cx="5400600" cy="3828908"/>
          </a:xfrm>
          <a:prstGeom prst="rect">
            <a:avLst/>
          </a:prstGeom>
          <a:noFill/>
          <a:extLst>
            <a:ext uri="{909E8E84-426E-40DD-AFC4-6F175D3DCCD1}">
              <a14:hiddenFill xmlns:a14="http://schemas.microsoft.com/office/drawing/2010/main">
                <a:solidFill>
                  <a:srgbClr val="FFFFFF"/>
                </a:solidFill>
              </a14:hiddenFill>
            </a:ext>
          </a:extLst>
        </p:spPr>
      </p:pic>
      <p:pic>
        <p:nvPicPr>
          <p:cNvPr id="11266" name="Picture 2" descr="程序与程序之间的差异">
            <a:extLst>
              <a:ext uri="{FF2B5EF4-FFF2-40B4-BE49-F238E27FC236}">
                <a16:creationId xmlns:a16="http://schemas.microsoft.com/office/drawing/2014/main" id="{E1E79970-93D3-4EFC-A100-BBD454C15AD1}"/>
              </a:ext>
            </a:extLst>
          </p:cNvPr>
          <p:cNvPicPr>
            <a:picLocks noChangeAspect="1" noChangeArrowheads="1"/>
          </p:cNvPicPr>
          <p:nvPr/>
        </p:nvPicPr>
        <p:blipFill>
          <a:blip r:embed="rId4">
            <a:duotone>
              <a:prstClr val="black"/>
              <a:schemeClr val="accent6">
                <a:tint val="45000"/>
                <a:satMod val="400000"/>
              </a:schemeClr>
            </a:duotone>
            <a:extLst>
              <a:ext uri="{BEBA8EAE-BF5A-486C-A8C5-ECC9F3942E4B}">
                <a14:imgProps xmlns:a14="http://schemas.microsoft.com/office/drawing/2010/main">
                  <a14:imgLayer r:embed="rId5">
                    <a14:imgEffect>
                      <a14:sharpenSoften amount="50000"/>
                    </a14:imgEffect>
                  </a14:imgLayer>
                </a14:imgProps>
              </a:ext>
              <a:ext uri="{28A0092B-C50C-407E-A947-70E740481C1C}">
                <a14:useLocalDpi xmlns:a14="http://schemas.microsoft.com/office/drawing/2010/main" val="0"/>
              </a:ext>
            </a:extLst>
          </a:blip>
          <a:srcRect/>
          <a:stretch>
            <a:fillRect/>
          </a:stretch>
        </p:blipFill>
        <p:spPr bwMode="auto">
          <a:xfrm>
            <a:off x="2987824" y="4005064"/>
            <a:ext cx="5958964" cy="267367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EF393154-8E8D-47C0-A6C3-E4BF84C96EE8}"/>
              </a:ext>
            </a:extLst>
          </p:cNvPr>
          <p:cNvSpPr txBox="1"/>
          <p:nvPr/>
        </p:nvSpPr>
        <p:spPr>
          <a:xfrm>
            <a:off x="5652120" y="1844824"/>
            <a:ext cx="2664296" cy="707886"/>
          </a:xfrm>
          <a:prstGeom prst="rect">
            <a:avLst/>
          </a:prstGeom>
          <a:solidFill>
            <a:schemeClr val="bg2">
              <a:lumMod val="10000"/>
              <a:lumOff val="90000"/>
            </a:schemeClr>
          </a:solidFill>
        </p:spPr>
        <p:txBody>
          <a:bodyPr wrap="square">
            <a:spAutoFit/>
          </a:bodyPr>
          <a:lstStyle/>
          <a:p>
            <a:r>
              <a:rPr lang="zh-CN" altLang="en-US" sz="2000" b="1" i="0" dirty="0">
                <a:solidFill>
                  <a:srgbClr val="0000CC"/>
                </a:solidFill>
                <a:effectLst/>
                <a:latin typeface="新细明体"/>
              </a:rPr>
              <a:t>程序被加载到内存成为程序以及相关数据</a:t>
            </a:r>
            <a:endParaRPr lang="zh-CN" altLang="en-US" sz="2000" b="1" dirty="0">
              <a:solidFill>
                <a:srgbClr val="0000CC"/>
              </a:solidFill>
            </a:endParaRPr>
          </a:p>
        </p:txBody>
      </p:sp>
      <p:sp>
        <p:nvSpPr>
          <p:cNvPr id="10" name="文本框 9">
            <a:extLst>
              <a:ext uri="{FF2B5EF4-FFF2-40B4-BE49-F238E27FC236}">
                <a16:creationId xmlns:a16="http://schemas.microsoft.com/office/drawing/2014/main" id="{EAA2D569-B49B-403E-B508-FF3BCFD595BF}"/>
              </a:ext>
            </a:extLst>
          </p:cNvPr>
          <p:cNvSpPr txBox="1"/>
          <p:nvPr/>
        </p:nvSpPr>
        <p:spPr>
          <a:xfrm>
            <a:off x="468372" y="5141844"/>
            <a:ext cx="2339432" cy="400110"/>
          </a:xfrm>
          <a:prstGeom prst="rect">
            <a:avLst/>
          </a:prstGeom>
          <a:solidFill>
            <a:schemeClr val="bg2">
              <a:lumMod val="10000"/>
              <a:lumOff val="90000"/>
            </a:schemeClr>
          </a:solidFill>
        </p:spPr>
        <p:txBody>
          <a:bodyPr wrap="square">
            <a:spAutoFit/>
          </a:bodyPr>
          <a:lstStyle/>
          <a:p>
            <a:r>
              <a:rPr lang="zh-CN" altLang="en-US" sz="2000" b="1" i="0" dirty="0">
                <a:solidFill>
                  <a:srgbClr val="0000CC"/>
                </a:solidFill>
                <a:effectLst/>
                <a:latin typeface="新细明体"/>
              </a:rPr>
              <a:t>程序与</a:t>
            </a:r>
            <a:r>
              <a:rPr lang="zh-CN" altLang="en-US" sz="2000" b="1" dirty="0">
                <a:solidFill>
                  <a:srgbClr val="0000CC"/>
                </a:solidFill>
                <a:latin typeface="新细明体"/>
              </a:rPr>
              <a:t>进程</a:t>
            </a:r>
            <a:r>
              <a:rPr lang="zh-CN" altLang="en-US" sz="2000" b="1" i="0" dirty="0">
                <a:solidFill>
                  <a:srgbClr val="0000CC"/>
                </a:solidFill>
                <a:effectLst/>
                <a:latin typeface="新细明体"/>
              </a:rPr>
              <a:t>的差异</a:t>
            </a:r>
            <a:endParaRPr lang="zh-CN" altLang="en-US" sz="2000" b="1" dirty="0">
              <a:solidFill>
                <a:srgbClr val="0000CC"/>
              </a:solidFill>
            </a:endParaRPr>
          </a:p>
        </p:txBody>
      </p:sp>
      <p:pic>
        <p:nvPicPr>
          <p:cNvPr id="3" name="图片 2">
            <a:extLst>
              <a:ext uri="{FF2B5EF4-FFF2-40B4-BE49-F238E27FC236}">
                <a16:creationId xmlns:a16="http://schemas.microsoft.com/office/drawing/2014/main" id="{E7E8B97E-5B2F-4D02-BD84-589E56E3A1C2}"/>
              </a:ext>
            </a:extLst>
          </p:cNvPr>
          <p:cNvPicPr>
            <a:picLocks noChangeAspect="1"/>
          </p:cNvPicPr>
          <p:nvPr/>
        </p:nvPicPr>
        <p:blipFill>
          <a:blip r:embed="rId6"/>
          <a:stretch>
            <a:fillRect/>
          </a:stretch>
        </p:blipFill>
        <p:spPr>
          <a:xfrm>
            <a:off x="3635896" y="2198767"/>
            <a:ext cx="1152128" cy="1170607"/>
          </a:xfrm>
          <a:prstGeom prst="rect">
            <a:avLst/>
          </a:prstGeom>
        </p:spPr>
      </p:pic>
      <p:pic>
        <p:nvPicPr>
          <p:cNvPr id="8" name="图片 7">
            <a:extLst>
              <a:ext uri="{FF2B5EF4-FFF2-40B4-BE49-F238E27FC236}">
                <a16:creationId xmlns:a16="http://schemas.microsoft.com/office/drawing/2014/main" id="{D28678F2-D993-4125-B587-35F007261BED}"/>
              </a:ext>
            </a:extLst>
          </p:cNvPr>
          <p:cNvPicPr>
            <a:picLocks noChangeAspect="1"/>
          </p:cNvPicPr>
          <p:nvPr/>
        </p:nvPicPr>
        <p:blipFill>
          <a:blip r:embed="rId6"/>
          <a:stretch>
            <a:fillRect/>
          </a:stretch>
        </p:blipFill>
        <p:spPr>
          <a:xfrm>
            <a:off x="3635896" y="1420203"/>
            <a:ext cx="1152128" cy="534729"/>
          </a:xfrm>
          <a:prstGeom prst="rect">
            <a:avLst/>
          </a:prstGeom>
        </p:spPr>
      </p:pic>
      <p:sp>
        <p:nvSpPr>
          <p:cNvPr id="4" name="文本框 3">
            <a:extLst>
              <a:ext uri="{FF2B5EF4-FFF2-40B4-BE49-F238E27FC236}">
                <a16:creationId xmlns:a16="http://schemas.microsoft.com/office/drawing/2014/main" id="{1174969C-8F55-4CC5-B6B7-DAC23959247A}"/>
              </a:ext>
            </a:extLst>
          </p:cNvPr>
          <p:cNvSpPr txBox="1"/>
          <p:nvPr/>
        </p:nvSpPr>
        <p:spPr>
          <a:xfrm>
            <a:off x="3491880" y="2286313"/>
            <a:ext cx="1440160" cy="923330"/>
          </a:xfrm>
          <a:prstGeom prst="rect">
            <a:avLst/>
          </a:prstGeom>
          <a:noFill/>
        </p:spPr>
        <p:txBody>
          <a:bodyPr wrap="square" rtlCol="0">
            <a:spAutoFit/>
          </a:bodyPr>
          <a:lstStyle/>
          <a:p>
            <a:pPr algn="ctr"/>
            <a:r>
              <a:rPr lang="zh-CN" altLang="en-US" dirty="0"/>
              <a:t>程序所需程</a:t>
            </a:r>
            <a:r>
              <a:rPr lang="zh-CN" altLang="en-US" dirty="0">
                <a:solidFill>
                  <a:srgbClr val="FF0000"/>
                </a:solidFill>
              </a:rPr>
              <a:t>序代码</a:t>
            </a:r>
            <a:r>
              <a:rPr lang="zh-CN" altLang="en-US" dirty="0"/>
              <a:t>与</a:t>
            </a:r>
            <a:r>
              <a:rPr lang="zh-CN" altLang="en-US" dirty="0">
                <a:solidFill>
                  <a:srgbClr val="FF0000"/>
                </a:solidFill>
              </a:rPr>
              <a:t>相关数据</a:t>
            </a:r>
          </a:p>
        </p:txBody>
      </p:sp>
      <p:sp>
        <p:nvSpPr>
          <p:cNvPr id="11" name="文本框 10">
            <a:extLst>
              <a:ext uri="{FF2B5EF4-FFF2-40B4-BE49-F238E27FC236}">
                <a16:creationId xmlns:a16="http://schemas.microsoft.com/office/drawing/2014/main" id="{072D4504-20E6-4AFC-8B1C-E3D1AC9DDD2A}"/>
              </a:ext>
            </a:extLst>
          </p:cNvPr>
          <p:cNvSpPr txBox="1"/>
          <p:nvPr/>
        </p:nvSpPr>
        <p:spPr>
          <a:xfrm>
            <a:off x="3491880" y="1386745"/>
            <a:ext cx="1440160" cy="646331"/>
          </a:xfrm>
          <a:prstGeom prst="rect">
            <a:avLst/>
          </a:prstGeom>
          <a:noFill/>
        </p:spPr>
        <p:txBody>
          <a:bodyPr wrap="square" rtlCol="0">
            <a:spAutoFit/>
          </a:bodyPr>
          <a:lstStyle/>
          <a:p>
            <a:pPr algn="ctr"/>
            <a:r>
              <a:rPr lang="zh-CN" altLang="en-US" dirty="0"/>
              <a:t>执行者的</a:t>
            </a:r>
            <a:r>
              <a:rPr lang="zh-CN" altLang="en-US" dirty="0">
                <a:solidFill>
                  <a:srgbClr val="FF0000"/>
                </a:solidFill>
              </a:rPr>
              <a:t>权限属性</a:t>
            </a:r>
            <a:r>
              <a:rPr lang="zh-CN" altLang="en-US" dirty="0"/>
              <a:t>参数</a:t>
            </a:r>
          </a:p>
        </p:txBody>
      </p:sp>
      <p:pic>
        <p:nvPicPr>
          <p:cNvPr id="6" name="图片 5">
            <a:extLst>
              <a:ext uri="{FF2B5EF4-FFF2-40B4-BE49-F238E27FC236}">
                <a16:creationId xmlns:a16="http://schemas.microsoft.com/office/drawing/2014/main" id="{B8B4DF51-BB50-484F-AAE2-010987F8697F}"/>
              </a:ext>
            </a:extLst>
          </p:cNvPr>
          <p:cNvPicPr>
            <a:picLocks noChangeAspect="1"/>
          </p:cNvPicPr>
          <p:nvPr/>
        </p:nvPicPr>
        <p:blipFill>
          <a:blip r:embed="rId7"/>
          <a:stretch>
            <a:fillRect/>
          </a:stretch>
        </p:blipFill>
        <p:spPr>
          <a:xfrm rot="20151736">
            <a:off x="1014237" y="2026932"/>
            <a:ext cx="342900" cy="266700"/>
          </a:xfrm>
          <a:prstGeom prst="rect">
            <a:avLst/>
          </a:prstGeom>
        </p:spPr>
      </p:pic>
      <p:pic>
        <p:nvPicPr>
          <p:cNvPr id="12" name="图片 11">
            <a:extLst>
              <a:ext uri="{FF2B5EF4-FFF2-40B4-BE49-F238E27FC236}">
                <a16:creationId xmlns:a16="http://schemas.microsoft.com/office/drawing/2014/main" id="{07788003-1E70-45CA-8F45-995FC15EA0D2}"/>
              </a:ext>
            </a:extLst>
          </p:cNvPr>
          <p:cNvPicPr>
            <a:picLocks noChangeAspect="1"/>
          </p:cNvPicPr>
          <p:nvPr/>
        </p:nvPicPr>
        <p:blipFill>
          <a:blip r:embed="rId7"/>
          <a:stretch>
            <a:fillRect/>
          </a:stretch>
        </p:blipFill>
        <p:spPr>
          <a:xfrm>
            <a:off x="3320430" y="179266"/>
            <a:ext cx="1827634" cy="441422"/>
          </a:xfrm>
          <a:prstGeom prst="rect">
            <a:avLst/>
          </a:prstGeom>
        </p:spPr>
      </p:pic>
      <p:pic>
        <p:nvPicPr>
          <p:cNvPr id="14" name="图片 13">
            <a:extLst>
              <a:ext uri="{FF2B5EF4-FFF2-40B4-BE49-F238E27FC236}">
                <a16:creationId xmlns:a16="http://schemas.microsoft.com/office/drawing/2014/main" id="{1116FD78-B377-4B35-9EA7-0579EA8EBFB5}"/>
              </a:ext>
            </a:extLst>
          </p:cNvPr>
          <p:cNvPicPr>
            <a:picLocks noChangeAspect="1"/>
          </p:cNvPicPr>
          <p:nvPr/>
        </p:nvPicPr>
        <p:blipFill>
          <a:blip r:embed="rId7"/>
          <a:stretch>
            <a:fillRect/>
          </a:stretch>
        </p:blipFill>
        <p:spPr>
          <a:xfrm rot="19375998">
            <a:off x="2023480" y="1629172"/>
            <a:ext cx="939607" cy="241279"/>
          </a:xfrm>
          <a:prstGeom prst="rect">
            <a:avLst/>
          </a:prstGeom>
        </p:spPr>
      </p:pic>
      <p:sp>
        <p:nvSpPr>
          <p:cNvPr id="17" name="文本框 16">
            <a:extLst>
              <a:ext uri="{FF2B5EF4-FFF2-40B4-BE49-F238E27FC236}">
                <a16:creationId xmlns:a16="http://schemas.microsoft.com/office/drawing/2014/main" id="{51C48269-1FA6-483E-A919-D12207E942D1}"/>
              </a:ext>
            </a:extLst>
          </p:cNvPr>
          <p:cNvSpPr txBox="1"/>
          <p:nvPr/>
        </p:nvSpPr>
        <p:spPr>
          <a:xfrm rot="20210793">
            <a:off x="801837" y="1969676"/>
            <a:ext cx="795685" cy="369332"/>
          </a:xfrm>
          <a:prstGeom prst="rect">
            <a:avLst/>
          </a:prstGeom>
          <a:noFill/>
        </p:spPr>
        <p:txBody>
          <a:bodyPr wrap="square" rtlCol="0">
            <a:spAutoFit/>
          </a:bodyPr>
          <a:lstStyle/>
          <a:p>
            <a:pPr algn="ctr"/>
            <a:r>
              <a:rPr lang="zh-CN" altLang="en-US" dirty="0"/>
              <a:t>执行</a:t>
            </a:r>
          </a:p>
        </p:txBody>
      </p:sp>
      <p:sp>
        <p:nvSpPr>
          <p:cNvPr id="18" name="文本框 17">
            <a:extLst>
              <a:ext uri="{FF2B5EF4-FFF2-40B4-BE49-F238E27FC236}">
                <a16:creationId xmlns:a16="http://schemas.microsoft.com/office/drawing/2014/main" id="{BCEB63AE-740A-491B-AD74-642FCC198FE2}"/>
              </a:ext>
            </a:extLst>
          </p:cNvPr>
          <p:cNvSpPr txBox="1"/>
          <p:nvPr/>
        </p:nvSpPr>
        <p:spPr>
          <a:xfrm rot="19588961">
            <a:off x="1889603" y="1591624"/>
            <a:ext cx="1109343" cy="369332"/>
          </a:xfrm>
          <a:prstGeom prst="rect">
            <a:avLst/>
          </a:prstGeom>
          <a:noFill/>
        </p:spPr>
        <p:txBody>
          <a:bodyPr wrap="square" rtlCol="0">
            <a:spAutoFit/>
          </a:bodyPr>
          <a:lstStyle/>
          <a:p>
            <a:pPr algn="ctr"/>
            <a:r>
              <a:rPr lang="zh-CN" altLang="en-US" dirty="0"/>
              <a:t>载入内存</a:t>
            </a:r>
          </a:p>
        </p:txBody>
      </p:sp>
      <p:pic>
        <p:nvPicPr>
          <p:cNvPr id="16" name="图片 15">
            <a:extLst>
              <a:ext uri="{FF2B5EF4-FFF2-40B4-BE49-F238E27FC236}">
                <a16:creationId xmlns:a16="http://schemas.microsoft.com/office/drawing/2014/main" id="{2B699CA4-72BD-4414-9657-78C2DDE02ACA}"/>
              </a:ext>
            </a:extLst>
          </p:cNvPr>
          <p:cNvPicPr>
            <a:picLocks noChangeAspect="1"/>
          </p:cNvPicPr>
          <p:nvPr/>
        </p:nvPicPr>
        <p:blipFill>
          <a:blip r:embed="rId8"/>
          <a:stretch>
            <a:fillRect/>
          </a:stretch>
        </p:blipFill>
        <p:spPr>
          <a:xfrm>
            <a:off x="922452" y="2708920"/>
            <a:ext cx="1440160" cy="275176"/>
          </a:xfrm>
          <a:prstGeom prst="rect">
            <a:avLst/>
          </a:prstGeom>
        </p:spPr>
      </p:pic>
      <p:sp>
        <p:nvSpPr>
          <p:cNvPr id="21" name="文本框 20">
            <a:extLst>
              <a:ext uri="{FF2B5EF4-FFF2-40B4-BE49-F238E27FC236}">
                <a16:creationId xmlns:a16="http://schemas.microsoft.com/office/drawing/2014/main" id="{0E46E2B2-BA00-4E10-8477-812258BAAD14}"/>
              </a:ext>
            </a:extLst>
          </p:cNvPr>
          <p:cNvSpPr txBox="1"/>
          <p:nvPr/>
        </p:nvSpPr>
        <p:spPr>
          <a:xfrm>
            <a:off x="827584" y="2695792"/>
            <a:ext cx="1584176" cy="369332"/>
          </a:xfrm>
          <a:prstGeom prst="rect">
            <a:avLst/>
          </a:prstGeom>
          <a:noFill/>
        </p:spPr>
        <p:txBody>
          <a:bodyPr wrap="square" rtlCol="0">
            <a:spAutoFit/>
          </a:bodyPr>
          <a:lstStyle/>
          <a:p>
            <a:pPr algn="ctr"/>
            <a:r>
              <a:rPr lang="zh-CN" altLang="en-US" dirty="0"/>
              <a:t>磁盘中的程序</a:t>
            </a:r>
          </a:p>
        </p:txBody>
      </p:sp>
    </p:spTree>
    <p:extLst>
      <p:ext uri="{BB962C8B-B14F-4D97-AF65-F5344CB8AC3E}">
        <p14:creationId xmlns:p14="http://schemas.microsoft.com/office/powerpoint/2010/main" val="641625781"/>
      </p:ext>
    </p:extLst>
  </p:cSld>
  <p:clrMapOvr>
    <a:masterClrMapping/>
  </p:clrMapOvr>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GB" sz="4400" dirty="0"/>
              <a:t>进程和程序</a:t>
            </a:r>
            <a:r>
              <a:rPr lang="zh-CN" altLang="en-US" sz="4400" dirty="0"/>
              <a:t>的</a:t>
            </a:r>
            <a:r>
              <a:rPr lang="zh-CN" altLang="en-GB" sz="4400" dirty="0"/>
              <a:t>比较</a:t>
            </a:r>
            <a:endParaRPr lang="zh-CN" altLang="en-US" dirty="0"/>
          </a:p>
        </p:txBody>
      </p:sp>
      <p:sp>
        <p:nvSpPr>
          <p:cNvPr id="3" name="内容占位符 2"/>
          <p:cNvSpPr>
            <a:spLocks noGrp="1"/>
          </p:cNvSpPr>
          <p:nvPr>
            <p:ph idx="1"/>
          </p:nvPr>
        </p:nvSpPr>
        <p:spPr>
          <a:xfrm>
            <a:off x="372620" y="1271273"/>
            <a:ext cx="8582508" cy="5328592"/>
          </a:xfrm>
        </p:spPr>
        <p:txBody>
          <a:bodyPr/>
          <a:lstStyle/>
          <a:p>
            <a:pPr>
              <a:lnSpc>
                <a:spcPct val="110000"/>
              </a:lnSpc>
            </a:pPr>
            <a:r>
              <a:rPr lang="zh-CN" altLang="en-US" sz="2800" dirty="0"/>
              <a:t>程序只是一个</a:t>
            </a:r>
            <a:r>
              <a:rPr lang="zh-CN" altLang="en-US" sz="2800" dirty="0">
                <a:solidFill>
                  <a:srgbClr val="C00000"/>
                </a:solidFill>
              </a:rPr>
              <a:t>静态的指令集合</a:t>
            </a:r>
            <a:r>
              <a:rPr lang="zh-CN" altLang="en-US" sz="2800" dirty="0"/>
              <a:t>；而进程是一个程序的</a:t>
            </a:r>
            <a:r>
              <a:rPr lang="zh-CN" altLang="en-US" sz="2800" dirty="0">
                <a:solidFill>
                  <a:srgbClr val="C00000"/>
                </a:solidFill>
              </a:rPr>
              <a:t>动态执行过程</a:t>
            </a:r>
            <a:r>
              <a:rPr lang="zh-CN" altLang="en-US" sz="2800" dirty="0"/>
              <a:t>，它具有生命期，是动态的产生和消亡的</a:t>
            </a:r>
          </a:p>
          <a:p>
            <a:pPr>
              <a:lnSpc>
                <a:spcPct val="110000"/>
              </a:lnSpc>
            </a:pPr>
            <a:r>
              <a:rPr lang="zh-CN" altLang="en-US" sz="2800" dirty="0">
                <a:solidFill>
                  <a:srgbClr val="0000CC"/>
                </a:solidFill>
              </a:rPr>
              <a:t>进程</a:t>
            </a:r>
            <a:r>
              <a:rPr lang="zh-CN" altLang="en-US" sz="2800" dirty="0"/>
              <a:t>是</a:t>
            </a:r>
            <a:r>
              <a:rPr lang="zh-CN" altLang="en-US" sz="2800" dirty="0">
                <a:solidFill>
                  <a:srgbClr val="C00000"/>
                </a:solidFill>
              </a:rPr>
              <a:t>资源申请、调度和独立运行的单位</a:t>
            </a:r>
            <a:r>
              <a:rPr lang="zh-CN" altLang="en-US" sz="2800" dirty="0"/>
              <a:t>，因此，它</a:t>
            </a:r>
            <a:r>
              <a:rPr lang="zh-CN" altLang="en-US" sz="2800" dirty="0">
                <a:solidFill>
                  <a:srgbClr val="C00000"/>
                </a:solidFill>
              </a:rPr>
              <a:t>使用</a:t>
            </a:r>
            <a:r>
              <a:rPr lang="zh-CN" altLang="en-US" sz="2800" dirty="0"/>
              <a:t>系统中的</a:t>
            </a:r>
            <a:r>
              <a:rPr lang="zh-CN" altLang="en-US" sz="2800" dirty="0">
                <a:solidFill>
                  <a:srgbClr val="C00000"/>
                </a:solidFill>
              </a:rPr>
              <a:t>运行资源</a:t>
            </a:r>
            <a:r>
              <a:rPr lang="zh-CN" altLang="en-US" sz="2800" dirty="0"/>
              <a:t>；而</a:t>
            </a:r>
            <a:r>
              <a:rPr lang="zh-CN" altLang="en-US" sz="2800" dirty="0">
                <a:solidFill>
                  <a:srgbClr val="0000CC"/>
                </a:solidFill>
              </a:rPr>
              <a:t>程序</a:t>
            </a:r>
            <a:r>
              <a:rPr lang="zh-CN" altLang="en-US" sz="2800" dirty="0">
                <a:solidFill>
                  <a:srgbClr val="C00000"/>
                </a:solidFill>
              </a:rPr>
              <a:t>不能申请系统资源、不能被系统调度、也不能作为独立运行的单位</a:t>
            </a:r>
            <a:r>
              <a:rPr lang="zh-CN" altLang="en-US" sz="2800" dirty="0"/>
              <a:t>，因此，它</a:t>
            </a:r>
            <a:r>
              <a:rPr lang="zh-CN" altLang="en-US" sz="2800" dirty="0">
                <a:solidFill>
                  <a:srgbClr val="C00000"/>
                </a:solidFill>
              </a:rPr>
              <a:t>不占用</a:t>
            </a:r>
            <a:r>
              <a:rPr lang="zh-CN" altLang="en-US" sz="2800" dirty="0"/>
              <a:t>系统的</a:t>
            </a:r>
            <a:r>
              <a:rPr lang="zh-CN" altLang="en-US" sz="2800" dirty="0">
                <a:solidFill>
                  <a:srgbClr val="C00000"/>
                </a:solidFill>
              </a:rPr>
              <a:t>运行资源</a:t>
            </a:r>
          </a:p>
          <a:p>
            <a:pPr>
              <a:lnSpc>
                <a:spcPct val="110000"/>
              </a:lnSpc>
            </a:pPr>
            <a:r>
              <a:rPr lang="zh-CN" altLang="en-US" sz="2800" dirty="0"/>
              <a:t>程序和进程</a:t>
            </a:r>
            <a:r>
              <a:rPr lang="zh-CN" altLang="en-US" sz="2800" dirty="0">
                <a:solidFill>
                  <a:srgbClr val="C00000"/>
                </a:solidFill>
              </a:rPr>
              <a:t>无一一对应的关系</a:t>
            </a:r>
            <a:r>
              <a:rPr lang="zh-CN" altLang="en-US" sz="2800" dirty="0"/>
              <a:t>。一方面</a:t>
            </a:r>
            <a:r>
              <a:rPr lang="zh-CN" altLang="en-US" sz="2800" dirty="0">
                <a:solidFill>
                  <a:srgbClr val="C00000"/>
                </a:solidFill>
              </a:rPr>
              <a:t>一个程序</a:t>
            </a:r>
            <a:r>
              <a:rPr lang="zh-CN" altLang="en-US" sz="2800" dirty="0"/>
              <a:t>可以由</a:t>
            </a:r>
            <a:r>
              <a:rPr lang="zh-CN" altLang="en-US" sz="2800" dirty="0">
                <a:solidFill>
                  <a:srgbClr val="C00000"/>
                </a:solidFill>
              </a:rPr>
              <a:t>多个进程</a:t>
            </a:r>
            <a:r>
              <a:rPr lang="zh-CN" altLang="en-US" sz="2800" dirty="0"/>
              <a:t>所共用，即一个程序在运行过程中可以产生多个进程；另一方面，</a:t>
            </a:r>
            <a:r>
              <a:rPr lang="zh-CN" altLang="en-US" sz="2800" dirty="0">
                <a:solidFill>
                  <a:srgbClr val="C00000"/>
                </a:solidFill>
              </a:rPr>
              <a:t>一个进程</a:t>
            </a:r>
            <a:r>
              <a:rPr lang="zh-CN" altLang="en-US" sz="2800" dirty="0"/>
              <a:t>在生命期内可以顺序的</a:t>
            </a:r>
            <a:r>
              <a:rPr lang="zh-CN" altLang="en-US" sz="2800" dirty="0">
                <a:solidFill>
                  <a:srgbClr val="C00000"/>
                </a:solidFill>
              </a:rPr>
              <a:t>执行若干个程序</a:t>
            </a:r>
          </a:p>
        </p:txBody>
      </p:sp>
    </p:spTree>
  </p:cSld>
  <p:clrMapOvr>
    <a:masterClrMapping/>
  </p:clrMapOvr>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进程</a:t>
            </a:r>
          </a:p>
        </p:txBody>
      </p:sp>
      <p:sp>
        <p:nvSpPr>
          <p:cNvPr id="3" name="内容占位符 2"/>
          <p:cNvSpPr>
            <a:spLocks noGrp="1"/>
          </p:cNvSpPr>
          <p:nvPr>
            <p:ph idx="1"/>
          </p:nvPr>
        </p:nvSpPr>
        <p:spPr>
          <a:xfrm>
            <a:off x="467544" y="1484784"/>
            <a:ext cx="8479606" cy="4114800"/>
          </a:xfrm>
        </p:spPr>
        <p:txBody>
          <a:bodyPr/>
          <a:lstStyle/>
          <a:p>
            <a:r>
              <a:rPr lang="zh-CN" altLang="en-US" dirty="0"/>
              <a:t>进程是一个</a:t>
            </a:r>
            <a:r>
              <a:rPr lang="zh-CN" altLang="en-US" dirty="0">
                <a:solidFill>
                  <a:srgbClr val="C00000"/>
                </a:solidFill>
              </a:rPr>
              <a:t>动态实体</a:t>
            </a:r>
            <a:endParaRPr lang="zh-CN" altLang="en-US" dirty="0"/>
          </a:p>
          <a:p>
            <a:r>
              <a:rPr lang="zh-CN" altLang="en-US" dirty="0"/>
              <a:t>进程是处理器通过</a:t>
            </a:r>
            <a:r>
              <a:rPr lang="zh-CN" altLang="en-US" dirty="0">
                <a:solidFill>
                  <a:srgbClr val="C00000"/>
                </a:solidFill>
              </a:rPr>
              <a:t>操作系统调度</a:t>
            </a:r>
            <a:r>
              <a:rPr lang="zh-CN" altLang="en-US" dirty="0"/>
              <a:t>的</a:t>
            </a:r>
            <a:r>
              <a:rPr lang="zh-CN" altLang="en-US" dirty="0">
                <a:solidFill>
                  <a:srgbClr val="C00000"/>
                </a:solidFill>
              </a:rPr>
              <a:t>基本单位</a:t>
            </a:r>
            <a:r>
              <a:rPr lang="zh-CN" altLang="en-US" dirty="0"/>
              <a:t> </a:t>
            </a:r>
          </a:p>
          <a:p>
            <a:r>
              <a:rPr lang="zh-CN" altLang="en-US" dirty="0">
                <a:solidFill>
                  <a:srgbClr val="C00000"/>
                </a:solidFill>
              </a:rPr>
              <a:t>每个进程</a:t>
            </a:r>
            <a:r>
              <a:rPr lang="zh-CN" altLang="en-US" dirty="0"/>
              <a:t>的</a:t>
            </a:r>
            <a:r>
              <a:rPr lang="zh-CN" altLang="en-US" dirty="0">
                <a:solidFill>
                  <a:srgbClr val="C00000"/>
                </a:solidFill>
              </a:rPr>
              <a:t>执行</a:t>
            </a:r>
            <a:r>
              <a:rPr lang="zh-CN" altLang="en-US" dirty="0"/>
              <a:t>都</a:t>
            </a:r>
            <a:r>
              <a:rPr lang="zh-CN" altLang="en-US" dirty="0">
                <a:solidFill>
                  <a:srgbClr val="C00000"/>
                </a:solidFill>
              </a:rPr>
              <a:t>独立</a:t>
            </a:r>
            <a:r>
              <a:rPr lang="zh-CN" altLang="en-US" dirty="0"/>
              <a:t>于系统中的其它进程</a:t>
            </a:r>
          </a:p>
          <a:p>
            <a:r>
              <a:rPr lang="zh-CN" altLang="en-US" dirty="0"/>
              <a:t>进程之间可以通过</a:t>
            </a:r>
            <a:r>
              <a:rPr lang="zh-CN" altLang="en-US" dirty="0">
                <a:solidFill>
                  <a:srgbClr val="C00000"/>
                </a:solidFill>
              </a:rPr>
              <a:t>进程间通信（</a:t>
            </a:r>
            <a:r>
              <a:rPr lang="en-US" altLang="zh-CN" dirty="0">
                <a:solidFill>
                  <a:srgbClr val="C00000"/>
                </a:solidFill>
              </a:rPr>
              <a:t>IPC</a:t>
            </a:r>
            <a:r>
              <a:rPr lang="zh-CN" altLang="en-US" dirty="0">
                <a:solidFill>
                  <a:srgbClr val="C00000"/>
                </a:solidFill>
              </a:rPr>
              <a:t>）</a:t>
            </a:r>
            <a:r>
              <a:rPr lang="zh-CN" altLang="en-US" dirty="0"/>
              <a:t>机制进行交互</a:t>
            </a:r>
            <a:endParaRPr lang="en-US" altLang="zh-CN" dirty="0"/>
          </a:p>
          <a:p>
            <a:r>
              <a:rPr lang="zh-CN" altLang="en-US" dirty="0"/>
              <a:t>当进程之间</a:t>
            </a:r>
            <a:r>
              <a:rPr lang="zh-CN" altLang="en-US" dirty="0">
                <a:solidFill>
                  <a:srgbClr val="C00000"/>
                </a:solidFill>
              </a:rPr>
              <a:t>共享数据</a:t>
            </a:r>
            <a:r>
              <a:rPr lang="zh-CN" altLang="en-US" dirty="0"/>
              <a:t>时，操作系统使用了</a:t>
            </a:r>
            <a:r>
              <a:rPr lang="zh-CN" altLang="en-US" dirty="0">
                <a:solidFill>
                  <a:srgbClr val="C00000"/>
                </a:solidFill>
              </a:rPr>
              <a:t>同步技术</a:t>
            </a:r>
            <a:r>
              <a:rPr lang="zh-CN" altLang="en-US" dirty="0"/>
              <a:t>来保证共享的合法性</a:t>
            </a:r>
          </a:p>
        </p:txBody>
      </p:sp>
    </p:spTree>
  </p:cSld>
  <p:clrMapOvr>
    <a:masterClrMapping/>
  </p:clrMapOvr>
  <p:timing>
    <p:tnLst>
      <p:par>
        <p:cT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是多用户多任务系统</a:t>
            </a:r>
          </a:p>
        </p:txBody>
      </p:sp>
      <p:sp>
        <p:nvSpPr>
          <p:cNvPr id="3" name="内容占位符 2"/>
          <p:cNvSpPr>
            <a:spLocks noGrp="1"/>
          </p:cNvSpPr>
          <p:nvPr>
            <p:ph idx="1"/>
          </p:nvPr>
        </p:nvSpPr>
        <p:spPr>
          <a:xfrm>
            <a:off x="539552" y="1412776"/>
            <a:ext cx="8229600" cy="5006181"/>
          </a:xfrm>
        </p:spPr>
        <p:txBody>
          <a:bodyPr/>
          <a:lstStyle/>
          <a:p>
            <a:r>
              <a:rPr lang="zh-CN" altLang="en-US" sz="2600" dirty="0">
                <a:latin typeface="黑体" panose="02010609060101010101" pitchFamily="49" charset="-122"/>
                <a:ea typeface="黑体" panose="02010609060101010101" pitchFamily="49" charset="-122"/>
              </a:rPr>
              <a:t>当多个用户同时在一个系统上工作时，</a:t>
            </a:r>
            <a:r>
              <a:rPr lang="en-US" altLang="zh-CN" sz="2600" dirty="0">
                <a:latin typeface="黑体" panose="02010609060101010101" pitchFamily="49" charset="-122"/>
                <a:ea typeface="黑体" panose="02010609060101010101" pitchFamily="49" charset="-122"/>
              </a:rPr>
              <a:t>Linux </a:t>
            </a:r>
            <a:r>
              <a:rPr lang="zh-CN" altLang="en-US" sz="2600" dirty="0">
                <a:latin typeface="黑体" panose="02010609060101010101" pitchFamily="49" charset="-122"/>
                <a:ea typeface="黑体" panose="02010609060101010101" pitchFamily="49" charset="-122"/>
              </a:rPr>
              <a:t>要能够同时满足用户们的要求，而且还要使用户感觉不到系统在同时为多个用户服务，就好像每一个用户都单独拥有整个系统一样</a:t>
            </a:r>
            <a:endParaRPr lang="en-US" altLang="zh-CN" sz="2600" dirty="0">
              <a:latin typeface="黑体" panose="02010609060101010101" pitchFamily="49" charset="-122"/>
              <a:ea typeface="黑体" panose="02010609060101010101" pitchFamily="49" charset="-122"/>
            </a:endParaRPr>
          </a:p>
          <a:p>
            <a:r>
              <a:rPr lang="zh-CN" altLang="en-US" sz="2600" dirty="0">
                <a:ea typeface="黑体" pitchFamily="49" charset="-122"/>
              </a:rPr>
              <a:t>每个用户均可同时运行多个程序。为了</a:t>
            </a:r>
            <a:r>
              <a:rPr lang="zh-CN" altLang="en-US" sz="2600" dirty="0">
                <a:solidFill>
                  <a:srgbClr val="C00000"/>
                </a:solidFill>
                <a:ea typeface="黑体" pitchFamily="49" charset="-122"/>
              </a:rPr>
              <a:t>区分每一个运行的程序</a:t>
            </a:r>
            <a:r>
              <a:rPr lang="zh-CN" altLang="en-US" sz="2600" dirty="0">
                <a:ea typeface="黑体" pitchFamily="49" charset="-122"/>
              </a:rPr>
              <a:t>，</a:t>
            </a:r>
            <a:r>
              <a:rPr lang="en-US" altLang="zh-CN" sz="2600" dirty="0">
                <a:ea typeface="黑体" pitchFamily="49" charset="-122"/>
              </a:rPr>
              <a:t>Linux </a:t>
            </a:r>
            <a:r>
              <a:rPr lang="zh-CN" altLang="en-US" sz="2600" dirty="0">
                <a:ea typeface="黑体" pitchFamily="49" charset="-122"/>
              </a:rPr>
              <a:t>给每个进程都做了标识，称为</a:t>
            </a:r>
            <a:r>
              <a:rPr lang="zh-CN" altLang="en-US" sz="2600" dirty="0">
                <a:solidFill>
                  <a:srgbClr val="C00000"/>
                </a:solidFill>
                <a:ea typeface="黑体" pitchFamily="49" charset="-122"/>
              </a:rPr>
              <a:t>进程号</a:t>
            </a:r>
            <a:r>
              <a:rPr lang="zh-CN" altLang="en-US" sz="2600" dirty="0">
                <a:ea typeface="黑体" pitchFamily="49" charset="-122"/>
              </a:rPr>
              <a:t>（</a:t>
            </a:r>
            <a:r>
              <a:rPr lang="en-US" altLang="zh-CN" sz="2600" dirty="0">
                <a:solidFill>
                  <a:srgbClr val="0000CC"/>
                </a:solidFill>
                <a:ea typeface="黑体" pitchFamily="49" charset="-122"/>
              </a:rPr>
              <a:t>process ID</a:t>
            </a:r>
            <a:r>
              <a:rPr lang="en-US" altLang="zh-CN" sz="2600" dirty="0">
                <a:ea typeface="黑体" pitchFamily="49" charset="-122"/>
              </a:rPr>
              <a:t>），</a:t>
            </a:r>
            <a:r>
              <a:rPr lang="zh-CN" altLang="en-US" sz="2600" dirty="0">
                <a:ea typeface="黑体" pitchFamily="49" charset="-122"/>
              </a:rPr>
              <a:t>每个进程的</a:t>
            </a:r>
            <a:r>
              <a:rPr lang="zh-CN" altLang="en-US" sz="2600" dirty="0">
                <a:solidFill>
                  <a:srgbClr val="C00000"/>
                </a:solidFill>
                <a:ea typeface="黑体" pitchFamily="49" charset="-122"/>
              </a:rPr>
              <a:t>进程号</a:t>
            </a:r>
            <a:r>
              <a:rPr lang="zh-CN" altLang="en-US" sz="2600" dirty="0">
                <a:ea typeface="黑体" pitchFamily="49" charset="-122"/>
              </a:rPr>
              <a:t>是</a:t>
            </a:r>
            <a:r>
              <a:rPr lang="zh-CN" altLang="en-US" sz="2600" dirty="0">
                <a:solidFill>
                  <a:srgbClr val="C00000"/>
                </a:solidFill>
                <a:ea typeface="黑体" pitchFamily="49" charset="-122"/>
              </a:rPr>
              <a:t>唯一</a:t>
            </a:r>
            <a:r>
              <a:rPr lang="zh-CN" altLang="en-US" sz="2600" dirty="0" smtClean="0">
                <a:ea typeface="黑体" pitchFamily="49" charset="-122"/>
              </a:rPr>
              <a:t>的。</a:t>
            </a:r>
            <a:endParaRPr lang="en-US" altLang="zh-CN" sz="2600" dirty="0">
              <a:ea typeface="黑体" pitchFamily="49" charset="-122"/>
            </a:endParaRPr>
          </a:p>
          <a:p>
            <a:r>
              <a:rPr lang="en-US" altLang="zh-CN" sz="2600" dirty="0">
                <a:ea typeface="黑体" pitchFamily="49" charset="-122"/>
              </a:rPr>
              <a:t>Linux </a:t>
            </a:r>
            <a:r>
              <a:rPr lang="zh-CN" altLang="en-US" sz="2600" dirty="0">
                <a:ea typeface="黑体" pitchFamily="49" charset="-122"/>
              </a:rPr>
              <a:t>给每个进程都打上了运行者的标志，</a:t>
            </a:r>
            <a:r>
              <a:rPr lang="zh-CN" altLang="en-US" sz="2600" dirty="0">
                <a:solidFill>
                  <a:srgbClr val="0000CC"/>
                </a:solidFill>
                <a:ea typeface="黑体" pitchFamily="49" charset="-122"/>
              </a:rPr>
              <a:t>用户可以控制自己的进程</a:t>
            </a:r>
            <a:r>
              <a:rPr lang="zh-CN" altLang="en-US" sz="2600" dirty="0">
                <a:ea typeface="黑体" pitchFamily="49" charset="-122"/>
              </a:rPr>
              <a:t>：给自己的进程</a:t>
            </a:r>
            <a:r>
              <a:rPr lang="zh-CN" altLang="en-US" sz="2600" dirty="0">
                <a:solidFill>
                  <a:srgbClr val="C00000"/>
                </a:solidFill>
                <a:ea typeface="黑体" pitchFamily="49" charset="-122"/>
              </a:rPr>
              <a:t>分配</a:t>
            </a:r>
            <a:r>
              <a:rPr lang="zh-CN" altLang="en-US" sz="2600" dirty="0">
                <a:ea typeface="黑体" pitchFamily="49" charset="-122"/>
              </a:rPr>
              <a:t>不同的</a:t>
            </a:r>
            <a:r>
              <a:rPr lang="zh-CN" altLang="en-US" sz="2600" dirty="0">
                <a:solidFill>
                  <a:srgbClr val="C00000"/>
                </a:solidFill>
                <a:ea typeface="黑体" pitchFamily="49" charset="-122"/>
              </a:rPr>
              <a:t>优先级</a:t>
            </a:r>
            <a:r>
              <a:rPr lang="zh-CN" altLang="en-US" sz="2600" dirty="0">
                <a:ea typeface="黑体" pitchFamily="49" charset="-122"/>
              </a:rPr>
              <a:t>，也可以随时</a:t>
            </a:r>
            <a:r>
              <a:rPr lang="zh-CN" altLang="en-US" sz="2600" dirty="0">
                <a:solidFill>
                  <a:srgbClr val="C00000"/>
                </a:solidFill>
                <a:ea typeface="黑体" pitchFamily="49" charset="-122"/>
              </a:rPr>
              <a:t>终止</a:t>
            </a:r>
            <a:r>
              <a:rPr lang="zh-CN" altLang="en-US" sz="2600" dirty="0">
                <a:ea typeface="黑体" pitchFamily="49" charset="-122"/>
              </a:rPr>
              <a:t>自己的</a:t>
            </a:r>
            <a:r>
              <a:rPr lang="zh-CN" altLang="en-US" sz="2600" dirty="0">
                <a:solidFill>
                  <a:srgbClr val="C00000"/>
                </a:solidFill>
                <a:ea typeface="黑体" pitchFamily="49" charset="-122"/>
              </a:rPr>
              <a:t>进程</a:t>
            </a:r>
            <a:endParaRPr lang="en-US" altLang="zh-CN" sz="2600" dirty="0">
              <a:ea typeface="黑体" pitchFamily="49" charset="-122"/>
            </a:endParaRPr>
          </a:p>
          <a:p>
            <a:r>
              <a:rPr lang="zh-CN" altLang="en-US" sz="2600" b="1" dirty="0">
                <a:latin typeface="黑体" panose="02010609060101010101" pitchFamily="49" charset="-122"/>
                <a:ea typeface="黑体" panose="02010609060101010101" pitchFamily="49" charset="-122"/>
              </a:rPr>
              <a:t>进程</a:t>
            </a:r>
            <a:r>
              <a:rPr lang="zh-CN" altLang="en-US" sz="2600" b="1" dirty="0">
                <a:solidFill>
                  <a:srgbClr val="C00000"/>
                </a:solidFill>
                <a:latin typeface="黑体" panose="02010609060101010101" pitchFamily="49" charset="-122"/>
                <a:ea typeface="黑体" panose="02010609060101010101" pitchFamily="49" charset="-122"/>
              </a:rPr>
              <a:t>从执行它的用户处继承</a:t>
            </a:r>
            <a:r>
              <a:rPr lang="en-US" altLang="zh-CN" sz="2600" b="1" dirty="0">
                <a:solidFill>
                  <a:srgbClr val="C00000"/>
                </a:solidFill>
                <a:latin typeface="黑体" panose="02010609060101010101" pitchFamily="49" charset="-122"/>
                <a:ea typeface="黑体" panose="02010609060101010101" pitchFamily="49" charset="-122"/>
              </a:rPr>
              <a:t>UID</a:t>
            </a:r>
            <a:r>
              <a:rPr lang="zh-CN" altLang="en-US" sz="2600" b="1" dirty="0">
                <a:solidFill>
                  <a:srgbClr val="C00000"/>
                </a:solidFill>
                <a:latin typeface="黑体" panose="02010609060101010101" pitchFamily="49" charset="-122"/>
                <a:ea typeface="黑体" panose="02010609060101010101" pitchFamily="49" charset="-122"/>
              </a:rPr>
              <a:t>、</a:t>
            </a:r>
            <a:r>
              <a:rPr lang="en-US" altLang="zh-CN" sz="2600" b="1" dirty="0">
                <a:solidFill>
                  <a:srgbClr val="C00000"/>
                </a:solidFill>
                <a:latin typeface="黑体" panose="02010609060101010101" pitchFamily="49" charset="-122"/>
                <a:ea typeface="黑体" panose="02010609060101010101" pitchFamily="49" charset="-122"/>
              </a:rPr>
              <a:t>GID</a:t>
            </a:r>
            <a:r>
              <a:rPr lang="zh-CN" altLang="en-US" sz="2600" b="1" dirty="0">
                <a:latin typeface="黑体" panose="02010609060101010101" pitchFamily="49" charset="-122"/>
                <a:ea typeface="黑体" panose="02010609060101010101" pitchFamily="49" charset="-122"/>
              </a:rPr>
              <a:t>，从而决定对文件系统的存取和访问</a:t>
            </a:r>
          </a:p>
        </p:txBody>
      </p:sp>
    </p:spTree>
  </p:cSld>
  <p:clrMapOvr>
    <a:masterClrMapping/>
  </p:clrMapOvr>
  <p:timing>
    <p:tnLst>
      <p:par>
        <p:cT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多任务实现</a:t>
            </a:r>
            <a:r>
              <a:rPr lang="en-US" altLang="zh-CN" dirty="0"/>
              <a:t>—</a:t>
            </a:r>
            <a:r>
              <a:rPr lang="zh-CN" altLang="en-US" dirty="0"/>
              <a:t>分时技术</a:t>
            </a:r>
          </a:p>
        </p:txBody>
      </p:sp>
      <p:sp>
        <p:nvSpPr>
          <p:cNvPr id="3" name="内容占位符 2"/>
          <p:cNvSpPr>
            <a:spLocks noGrp="1"/>
          </p:cNvSpPr>
          <p:nvPr>
            <p:ph idx="1"/>
          </p:nvPr>
        </p:nvSpPr>
        <p:spPr>
          <a:xfrm>
            <a:off x="539552" y="1248556"/>
            <a:ext cx="8064896" cy="5348796"/>
          </a:xfrm>
        </p:spPr>
        <p:txBody>
          <a:bodyPr/>
          <a:lstStyle/>
          <a:p>
            <a:r>
              <a:rPr lang="en-US" altLang="zh-CN" sz="3600" dirty="0">
                <a:ea typeface="黑体" pitchFamily="49" charset="-122"/>
              </a:rPr>
              <a:t>Linux</a:t>
            </a:r>
            <a:r>
              <a:rPr lang="en-US" altLang="zh-CN" dirty="0">
                <a:ea typeface="黑体" pitchFamily="49" charset="-122"/>
              </a:rPr>
              <a:t> </a:t>
            </a:r>
            <a:r>
              <a:rPr lang="zh-CN" altLang="en-US" dirty="0">
                <a:ea typeface="黑体" pitchFamily="49" charset="-122"/>
              </a:rPr>
              <a:t>不可能在一个</a:t>
            </a:r>
            <a:r>
              <a:rPr lang="zh-CN" altLang="en-US" sz="2800" dirty="0">
                <a:ea typeface="黑体" pitchFamily="49" charset="-122"/>
              </a:rPr>
              <a:t> </a:t>
            </a:r>
            <a:r>
              <a:rPr lang="en-US" altLang="zh-CN" sz="2800" dirty="0">
                <a:ea typeface="黑体" pitchFamily="49" charset="-122"/>
              </a:rPr>
              <a:t>CPU </a:t>
            </a:r>
            <a:r>
              <a:rPr lang="zh-CN" altLang="en-US" dirty="0">
                <a:ea typeface="黑体" pitchFamily="49" charset="-122"/>
              </a:rPr>
              <a:t>上同时处理多个任务（作业）请求，而是采用 “</a:t>
            </a:r>
            <a:r>
              <a:rPr lang="zh-CN" altLang="en-US" dirty="0">
                <a:solidFill>
                  <a:srgbClr val="0000CC"/>
                </a:solidFill>
                <a:ea typeface="黑体" pitchFamily="49" charset="-122"/>
              </a:rPr>
              <a:t>分时</a:t>
            </a:r>
            <a:r>
              <a:rPr lang="zh-CN" altLang="en-US" dirty="0">
                <a:ea typeface="黑体" pitchFamily="49" charset="-122"/>
              </a:rPr>
              <a:t>” </a:t>
            </a:r>
            <a:r>
              <a:rPr lang="zh-CN" altLang="en-US" dirty="0">
                <a:solidFill>
                  <a:srgbClr val="0000CC"/>
                </a:solidFill>
                <a:ea typeface="黑体" pitchFamily="49" charset="-122"/>
              </a:rPr>
              <a:t>技术</a:t>
            </a:r>
            <a:r>
              <a:rPr lang="zh-CN" altLang="en-US" dirty="0">
                <a:ea typeface="黑体" pitchFamily="49" charset="-122"/>
              </a:rPr>
              <a:t>来处理这些任务请求。</a:t>
            </a:r>
            <a:endParaRPr lang="en-US" altLang="zh-CN" dirty="0">
              <a:ea typeface="黑体" pitchFamily="49" charset="-122"/>
            </a:endParaRPr>
          </a:p>
          <a:p>
            <a:r>
              <a:rPr lang="zh-CN" altLang="en-US" dirty="0"/>
              <a:t>分时技术</a:t>
            </a:r>
          </a:p>
          <a:p>
            <a:pPr lvl="1"/>
            <a:r>
              <a:rPr lang="zh-CN" altLang="en-US" dirty="0"/>
              <a:t>所有的任务请求被排成一个</a:t>
            </a:r>
            <a:r>
              <a:rPr lang="zh-CN" altLang="en-US" dirty="0">
                <a:solidFill>
                  <a:srgbClr val="FF0000"/>
                </a:solidFill>
              </a:rPr>
              <a:t>队列</a:t>
            </a:r>
            <a:r>
              <a:rPr lang="zh-CN" altLang="en-US" dirty="0"/>
              <a:t>，系统按顺序每次从这个队列中抽取一个任务来执行，这个任务执行</a:t>
            </a:r>
            <a:r>
              <a:rPr lang="zh-CN" altLang="en-US" dirty="0">
                <a:solidFill>
                  <a:srgbClr val="FF0000"/>
                </a:solidFill>
              </a:rPr>
              <a:t>很短的时间</a:t>
            </a:r>
            <a:r>
              <a:rPr lang="zh-CN" altLang="en-US" dirty="0"/>
              <a:t>（几毫秒）后，系统就将它排到任务队列的末尾，然后读入队列中的下一个任务，以同样的方式执行。这样经过一段时间后，任务队列中的所有任务都被执行一次，然后又开始下一轮</a:t>
            </a:r>
            <a:r>
              <a:rPr lang="zh-CN" altLang="en-US" dirty="0">
                <a:solidFill>
                  <a:srgbClr val="FF0000"/>
                </a:solidFill>
              </a:rPr>
              <a:t>循环</a:t>
            </a:r>
            <a:r>
              <a:rPr lang="zh-CN" altLang="en-US" dirty="0"/>
              <a:t>。</a:t>
            </a:r>
          </a:p>
        </p:txBody>
      </p:sp>
    </p:spTree>
  </p:cSld>
  <p:clrMapOvr>
    <a:masterClrMapping/>
  </p:clrMapOvr>
  <p:timing>
    <p:tnLst>
      <p:par>
        <p:cT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中的进程识别</a:t>
            </a:r>
          </a:p>
        </p:txBody>
      </p:sp>
      <p:sp>
        <p:nvSpPr>
          <p:cNvPr id="3" name="内容占位符 2"/>
          <p:cNvSpPr>
            <a:spLocks noGrp="1"/>
          </p:cNvSpPr>
          <p:nvPr>
            <p:ph idx="1"/>
          </p:nvPr>
        </p:nvSpPr>
        <p:spPr>
          <a:xfrm>
            <a:off x="457200" y="1412776"/>
            <a:ext cx="8489950" cy="5184576"/>
          </a:xfrm>
        </p:spPr>
        <p:txBody>
          <a:bodyPr/>
          <a:lstStyle/>
          <a:p>
            <a:r>
              <a:rPr lang="en-US" altLang="zh-CN" dirty="0" smtClean="0"/>
              <a:t>Linux</a:t>
            </a:r>
            <a:r>
              <a:rPr lang="zh-CN" altLang="en-US" dirty="0" smtClean="0"/>
              <a:t>启动后</a:t>
            </a:r>
            <a:endParaRPr lang="en-US" altLang="zh-CN" dirty="0" smtClean="0"/>
          </a:p>
        </p:txBody>
      </p:sp>
      <p:graphicFrame>
        <p:nvGraphicFramePr>
          <p:cNvPr id="4" name="图示 3"/>
          <p:cNvGraphicFramePr/>
          <p:nvPr>
            <p:extLst>
              <p:ext uri="{D42A27DB-BD31-4B8C-83A1-F6EECF244321}">
                <p14:modId xmlns:p14="http://schemas.microsoft.com/office/powerpoint/2010/main" val="1882102275"/>
              </p:ext>
            </p:extLst>
          </p:nvPr>
        </p:nvGraphicFramePr>
        <p:xfrm>
          <a:off x="1154113" y="2060848"/>
          <a:ext cx="6096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iming>
    <p:tnLst>
      <p:par>
        <p:cTn id="1" dur="indefinite" restart="never" nodeType="tmRoot"/>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Linux</a:t>
            </a:r>
            <a:r>
              <a:rPr lang="zh-CN" altLang="en-US" dirty="0"/>
              <a:t>中的进程识别</a:t>
            </a:r>
          </a:p>
        </p:txBody>
      </p:sp>
      <p:sp>
        <p:nvSpPr>
          <p:cNvPr id="3" name="内容占位符 2"/>
          <p:cNvSpPr>
            <a:spLocks noGrp="1"/>
          </p:cNvSpPr>
          <p:nvPr>
            <p:ph idx="1"/>
          </p:nvPr>
        </p:nvSpPr>
        <p:spPr>
          <a:xfrm>
            <a:off x="457200" y="1412776"/>
            <a:ext cx="8489950" cy="5184576"/>
          </a:xfrm>
        </p:spPr>
        <p:txBody>
          <a:bodyPr/>
          <a:lstStyle/>
          <a:p>
            <a:r>
              <a:rPr lang="zh-CN" altLang="en-US" sz="3200" dirty="0"/>
              <a:t>使用</a:t>
            </a:r>
            <a:r>
              <a:rPr lang="en-US" altLang="zh-CN" sz="3200" dirty="0">
                <a:solidFill>
                  <a:srgbClr val="FF0000"/>
                </a:solidFill>
              </a:rPr>
              <a:t>PID</a:t>
            </a:r>
            <a:r>
              <a:rPr lang="zh-CN" altLang="en-US" sz="3200" dirty="0"/>
              <a:t>区分不同的进程</a:t>
            </a:r>
            <a:endParaRPr lang="en-US" altLang="zh-CN" sz="3200" dirty="0"/>
          </a:p>
          <a:p>
            <a:pPr lvl="1"/>
            <a:r>
              <a:rPr lang="zh-CN" altLang="en-US" sz="2400" dirty="0"/>
              <a:t>系统启动后的</a:t>
            </a:r>
            <a:r>
              <a:rPr lang="zh-CN" altLang="en-US" sz="2400" dirty="0">
                <a:solidFill>
                  <a:srgbClr val="FF0000"/>
                </a:solidFill>
              </a:rPr>
              <a:t>第一个</a:t>
            </a:r>
            <a:r>
              <a:rPr lang="zh-CN" altLang="en-US" sz="2400" dirty="0"/>
              <a:t>进程是</a:t>
            </a:r>
            <a:r>
              <a:rPr lang="en-US" altLang="zh-CN" sz="2400" dirty="0" err="1">
                <a:solidFill>
                  <a:srgbClr val="FF0000"/>
                </a:solidFill>
              </a:rPr>
              <a:t>systemd</a:t>
            </a:r>
            <a:r>
              <a:rPr lang="zh-CN" altLang="en-US" sz="2400" dirty="0"/>
              <a:t>，</a:t>
            </a:r>
            <a:r>
              <a:rPr lang="en-US" altLang="zh-CN" sz="2400" dirty="0">
                <a:solidFill>
                  <a:srgbClr val="FF0000"/>
                </a:solidFill>
              </a:rPr>
              <a:t>PID</a:t>
            </a:r>
            <a:r>
              <a:rPr lang="zh-CN" altLang="en-US" sz="2400" dirty="0"/>
              <a:t>是</a:t>
            </a:r>
            <a:r>
              <a:rPr lang="en-US" altLang="zh-CN" sz="2400" dirty="0">
                <a:solidFill>
                  <a:srgbClr val="FF0000"/>
                </a:solidFill>
              </a:rPr>
              <a:t>1</a:t>
            </a:r>
          </a:p>
          <a:p>
            <a:pPr lvl="1"/>
            <a:r>
              <a:rPr lang="en-US" altLang="zh-CN" sz="2400" dirty="0" err="1">
                <a:solidFill>
                  <a:srgbClr val="FF0000"/>
                </a:solidFill>
              </a:rPr>
              <a:t>systemd</a:t>
            </a:r>
            <a:r>
              <a:rPr lang="zh-CN" altLang="zh-CN" sz="2400" dirty="0"/>
              <a:t>是</a:t>
            </a:r>
            <a:r>
              <a:rPr lang="zh-CN" altLang="zh-CN" sz="2400" dirty="0">
                <a:solidFill>
                  <a:srgbClr val="FF0000"/>
                </a:solidFill>
              </a:rPr>
              <a:t>唯一一个</a:t>
            </a:r>
            <a:r>
              <a:rPr lang="zh-CN" altLang="zh-CN" sz="2400" dirty="0"/>
              <a:t>由系统</a:t>
            </a:r>
            <a:r>
              <a:rPr lang="zh-CN" altLang="zh-CN" sz="2400" dirty="0">
                <a:solidFill>
                  <a:srgbClr val="FF0000"/>
                </a:solidFill>
              </a:rPr>
              <a:t>内核直接运行</a:t>
            </a:r>
            <a:r>
              <a:rPr lang="zh-CN" altLang="zh-CN" sz="2400" dirty="0"/>
              <a:t>的进程</a:t>
            </a:r>
            <a:endParaRPr lang="en-US" altLang="zh-CN" sz="2400" dirty="0"/>
          </a:p>
          <a:p>
            <a:pPr lvl="1"/>
            <a:r>
              <a:rPr lang="zh-CN" altLang="en-US" sz="2400" dirty="0"/>
              <a:t>除</a:t>
            </a:r>
            <a:r>
              <a:rPr lang="en-US" altLang="zh-CN" sz="2400" dirty="0" err="1">
                <a:solidFill>
                  <a:srgbClr val="FF0000"/>
                </a:solidFill>
              </a:rPr>
              <a:t>systemd</a:t>
            </a:r>
            <a:r>
              <a:rPr lang="zh-CN" altLang="en-US" sz="2400" dirty="0"/>
              <a:t>外，每个进程都有</a:t>
            </a:r>
            <a:r>
              <a:rPr lang="zh-CN" altLang="en-US" sz="2400" dirty="0">
                <a:solidFill>
                  <a:srgbClr val="FF0000"/>
                </a:solidFill>
              </a:rPr>
              <a:t>父进程</a:t>
            </a:r>
            <a:r>
              <a:rPr lang="zh-CN" altLang="en-US" sz="2400" dirty="0"/>
              <a:t>（</a:t>
            </a:r>
            <a:r>
              <a:rPr lang="en-US" altLang="zh-CN" sz="2400" dirty="0">
                <a:solidFill>
                  <a:srgbClr val="FF0000"/>
                </a:solidFill>
              </a:rPr>
              <a:t>PPID</a:t>
            </a:r>
            <a:r>
              <a:rPr lang="zh-CN" altLang="en-US" sz="2400" dirty="0">
                <a:solidFill>
                  <a:srgbClr val="FF0000"/>
                </a:solidFill>
              </a:rPr>
              <a:t>标识</a:t>
            </a:r>
            <a:r>
              <a:rPr lang="zh-CN" altLang="en-US" sz="2400" dirty="0"/>
              <a:t>）</a:t>
            </a:r>
            <a:endParaRPr lang="en-US" altLang="zh-CN" sz="2400" dirty="0"/>
          </a:p>
          <a:p>
            <a:r>
              <a:rPr lang="zh-CN" altLang="en-US" sz="3200" dirty="0"/>
              <a:t>每个进程还有</a:t>
            </a:r>
            <a:r>
              <a:rPr lang="zh-CN" altLang="en-US" sz="3200" dirty="0">
                <a:solidFill>
                  <a:srgbClr val="FF0000"/>
                </a:solidFill>
              </a:rPr>
              <a:t>四个</a:t>
            </a:r>
            <a:r>
              <a:rPr lang="zh-CN" altLang="en-US" sz="3200" dirty="0"/>
              <a:t>与</a:t>
            </a:r>
            <a:r>
              <a:rPr lang="zh-CN" altLang="en-US" sz="3200" dirty="0">
                <a:solidFill>
                  <a:srgbClr val="FF0000"/>
                </a:solidFill>
              </a:rPr>
              <a:t>用户和组</a:t>
            </a:r>
            <a:r>
              <a:rPr lang="zh-CN" altLang="en-US" sz="3200" dirty="0"/>
              <a:t>相关的</a:t>
            </a:r>
            <a:r>
              <a:rPr lang="zh-CN" altLang="en-US" sz="3200" dirty="0">
                <a:solidFill>
                  <a:srgbClr val="FF0000"/>
                </a:solidFill>
              </a:rPr>
              <a:t>识别号</a:t>
            </a:r>
            <a:r>
              <a:rPr lang="en-US" altLang="zh-CN" sz="3200" dirty="0">
                <a:solidFill>
                  <a:srgbClr val="FF0000"/>
                </a:solidFill>
              </a:rPr>
              <a:t>——</a:t>
            </a:r>
            <a:r>
              <a:rPr lang="zh-CN" altLang="en-US" dirty="0">
                <a:solidFill>
                  <a:srgbClr val="FF0000"/>
                </a:solidFill>
              </a:rPr>
              <a:t>位于进程控制模块</a:t>
            </a:r>
            <a:endParaRPr lang="en-US" altLang="zh-CN" sz="3200" dirty="0">
              <a:solidFill>
                <a:srgbClr val="FF0000"/>
              </a:solidFill>
            </a:endParaRPr>
          </a:p>
          <a:p>
            <a:pPr lvl="1"/>
            <a:r>
              <a:rPr lang="zh-CN" altLang="en-US" dirty="0">
                <a:solidFill>
                  <a:srgbClr val="FF0000"/>
                </a:solidFill>
              </a:rPr>
              <a:t>实际用户</a:t>
            </a:r>
            <a:r>
              <a:rPr lang="zh-CN" altLang="en-US" dirty="0"/>
              <a:t>识别号</a:t>
            </a:r>
            <a:r>
              <a:rPr lang="en-US" altLang="zh-CN" dirty="0"/>
              <a:t>	</a:t>
            </a:r>
            <a:r>
              <a:rPr lang="zh-CN" altLang="en-US" dirty="0"/>
              <a:t>（</a:t>
            </a:r>
            <a:r>
              <a:rPr lang="en-US" altLang="zh-CN" dirty="0"/>
              <a:t>real user ID</a:t>
            </a:r>
            <a:r>
              <a:rPr lang="zh-CN" altLang="en-US" dirty="0"/>
              <a:t>，</a:t>
            </a:r>
            <a:r>
              <a:rPr lang="en-US" altLang="zh-CN" dirty="0"/>
              <a:t>RUID</a:t>
            </a:r>
            <a:r>
              <a:rPr lang="zh-CN" altLang="en-US" dirty="0"/>
              <a:t>）</a:t>
            </a:r>
          </a:p>
          <a:p>
            <a:pPr lvl="1"/>
            <a:r>
              <a:rPr lang="zh-CN" altLang="en-US" dirty="0">
                <a:solidFill>
                  <a:srgbClr val="FF0000"/>
                </a:solidFill>
              </a:rPr>
              <a:t>实际组</a:t>
            </a:r>
            <a:r>
              <a:rPr lang="zh-CN" altLang="en-US" dirty="0"/>
              <a:t>识别号     （</a:t>
            </a:r>
            <a:r>
              <a:rPr lang="en-US" altLang="zh-CN" dirty="0"/>
              <a:t>real group ID</a:t>
            </a:r>
            <a:r>
              <a:rPr lang="zh-CN" altLang="en-US" dirty="0"/>
              <a:t>，</a:t>
            </a:r>
            <a:r>
              <a:rPr lang="en-US" altLang="zh-CN" dirty="0"/>
              <a:t>RGID</a:t>
            </a:r>
            <a:r>
              <a:rPr lang="zh-CN" altLang="en-US" dirty="0"/>
              <a:t>）</a:t>
            </a:r>
          </a:p>
          <a:p>
            <a:pPr lvl="1"/>
            <a:r>
              <a:rPr lang="zh-CN" altLang="en-US" dirty="0">
                <a:solidFill>
                  <a:srgbClr val="FF0000"/>
                </a:solidFill>
              </a:rPr>
              <a:t>有效用户</a:t>
            </a:r>
            <a:r>
              <a:rPr lang="zh-CN" altLang="en-US" dirty="0"/>
              <a:t>识别号 （</a:t>
            </a:r>
            <a:r>
              <a:rPr lang="en-US" altLang="zh-CN" dirty="0"/>
              <a:t>effect user ID</a:t>
            </a:r>
            <a:r>
              <a:rPr lang="zh-CN" altLang="en-US" dirty="0"/>
              <a:t>，</a:t>
            </a:r>
            <a:r>
              <a:rPr lang="en-US" altLang="zh-CN" dirty="0"/>
              <a:t>EUID</a:t>
            </a:r>
            <a:r>
              <a:rPr lang="zh-CN" altLang="en-US" dirty="0"/>
              <a:t>）</a:t>
            </a:r>
          </a:p>
          <a:p>
            <a:pPr lvl="1"/>
            <a:r>
              <a:rPr lang="zh-CN" altLang="en-US" dirty="0">
                <a:solidFill>
                  <a:srgbClr val="FF0000"/>
                </a:solidFill>
              </a:rPr>
              <a:t>有效组</a:t>
            </a:r>
            <a:r>
              <a:rPr lang="zh-CN" altLang="en-US" dirty="0"/>
              <a:t>识别号  （</a:t>
            </a:r>
            <a:r>
              <a:rPr lang="en-US" altLang="zh-CN" dirty="0"/>
              <a:t>effect group ID</a:t>
            </a:r>
            <a:r>
              <a:rPr lang="zh-CN" altLang="en-US" dirty="0"/>
              <a:t>，</a:t>
            </a:r>
            <a:r>
              <a:rPr lang="en-US" altLang="zh-CN" dirty="0"/>
              <a:t>EGID</a:t>
            </a:r>
            <a:r>
              <a:rPr lang="zh-CN" altLang="en-US" dirty="0"/>
              <a:t>）</a:t>
            </a:r>
          </a:p>
        </p:txBody>
      </p:sp>
    </p:spTree>
    <p:extLst>
      <p:ext uri="{BB962C8B-B14F-4D97-AF65-F5344CB8AC3E}">
        <p14:creationId xmlns:p14="http://schemas.microsoft.com/office/powerpoint/2010/main" val="2679818322"/>
      </p:ext>
    </p:extLst>
  </p:cSld>
  <p:clrMapOvr>
    <a:masterClrMapping/>
  </p:clrMapOvr>
  <p:timing>
    <p:tnLst>
      <p:par>
        <p:cTn id="1" dur="indefinite" restart="never" nodeType="tmRoot"/>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用户、进程与权限</a:t>
            </a:r>
          </a:p>
        </p:txBody>
      </p:sp>
      <p:sp>
        <p:nvSpPr>
          <p:cNvPr id="3" name="内容占位符 2"/>
          <p:cNvSpPr>
            <a:spLocks noGrp="1"/>
          </p:cNvSpPr>
          <p:nvPr>
            <p:ph idx="1"/>
          </p:nvPr>
        </p:nvSpPr>
        <p:spPr>
          <a:xfrm>
            <a:off x="323528" y="1556792"/>
            <a:ext cx="8623622" cy="4896544"/>
          </a:xfrm>
        </p:spPr>
        <p:txBody>
          <a:bodyPr/>
          <a:lstStyle/>
          <a:p>
            <a:r>
              <a:rPr lang="en-US" altLang="zh-CN" sz="3200" dirty="0">
                <a:solidFill>
                  <a:srgbClr val="FF0000"/>
                </a:solidFill>
              </a:rPr>
              <a:t>RUID</a:t>
            </a:r>
            <a:r>
              <a:rPr lang="zh-CN" altLang="en-US" sz="3200" dirty="0"/>
              <a:t>和</a:t>
            </a:r>
            <a:r>
              <a:rPr lang="en-US" altLang="zh-CN" sz="3200" dirty="0">
                <a:solidFill>
                  <a:srgbClr val="FF0000"/>
                </a:solidFill>
              </a:rPr>
              <a:t>RGID</a:t>
            </a:r>
            <a:r>
              <a:rPr lang="zh-CN" altLang="en-US" sz="3200" dirty="0"/>
              <a:t>的作用</a:t>
            </a:r>
            <a:endParaRPr lang="en-US" altLang="zh-CN" sz="3200" dirty="0"/>
          </a:p>
          <a:p>
            <a:pPr lvl="1"/>
            <a:r>
              <a:rPr lang="zh-CN" altLang="en-US" sz="2800" dirty="0">
                <a:solidFill>
                  <a:srgbClr val="FF0000"/>
                </a:solidFill>
              </a:rPr>
              <a:t>识别</a:t>
            </a:r>
            <a:r>
              <a:rPr lang="zh-CN" altLang="en-US" sz="2800" dirty="0"/>
              <a:t>正在</a:t>
            </a:r>
            <a:r>
              <a:rPr lang="zh-CN" altLang="en-US" sz="2800" dirty="0">
                <a:solidFill>
                  <a:srgbClr val="FF0000"/>
                </a:solidFill>
              </a:rPr>
              <a:t>运行</a:t>
            </a:r>
            <a:r>
              <a:rPr lang="zh-CN" altLang="en-US" sz="2800" dirty="0"/>
              <a:t>此进程的</a:t>
            </a:r>
            <a:r>
              <a:rPr lang="zh-CN" altLang="en-US" sz="2800" dirty="0">
                <a:solidFill>
                  <a:srgbClr val="FF0000"/>
                </a:solidFill>
              </a:rPr>
              <a:t>用户和组</a:t>
            </a:r>
            <a:endParaRPr lang="en-US" altLang="zh-CN" sz="2800" dirty="0">
              <a:solidFill>
                <a:srgbClr val="FF0000"/>
              </a:solidFill>
            </a:endParaRPr>
          </a:p>
          <a:p>
            <a:pPr lvl="2"/>
            <a:r>
              <a:rPr lang="zh-CN" altLang="en-US" sz="2400" dirty="0"/>
              <a:t>进程的</a:t>
            </a:r>
            <a:r>
              <a:rPr lang="en-US" altLang="zh-CN" sz="2400" dirty="0">
                <a:solidFill>
                  <a:srgbClr val="FF0000"/>
                </a:solidFill>
              </a:rPr>
              <a:t>RUID</a:t>
            </a:r>
            <a:r>
              <a:rPr lang="zh-CN" altLang="en-US" sz="2400" dirty="0"/>
              <a:t>和</a:t>
            </a:r>
            <a:r>
              <a:rPr lang="en-US" altLang="zh-CN" sz="2400" dirty="0">
                <a:solidFill>
                  <a:srgbClr val="FF0000"/>
                </a:solidFill>
              </a:rPr>
              <a:t>RGID</a:t>
            </a:r>
            <a:r>
              <a:rPr lang="zh-CN" altLang="en-US" sz="2400" dirty="0"/>
              <a:t>就是</a:t>
            </a:r>
            <a:r>
              <a:rPr lang="zh-CN" altLang="en-US" sz="2400" dirty="0">
                <a:solidFill>
                  <a:srgbClr val="FF0000"/>
                </a:solidFill>
              </a:rPr>
              <a:t>运行</a:t>
            </a:r>
            <a:r>
              <a:rPr lang="zh-CN" altLang="en-US" sz="2400" dirty="0"/>
              <a:t>此进程的</a:t>
            </a:r>
            <a:r>
              <a:rPr lang="en-US" altLang="zh-CN" sz="2400" dirty="0">
                <a:solidFill>
                  <a:srgbClr val="FF0000"/>
                </a:solidFill>
              </a:rPr>
              <a:t>UID</a:t>
            </a:r>
            <a:r>
              <a:rPr lang="zh-CN" altLang="en-US" sz="2400" dirty="0"/>
              <a:t>和</a:t>
            </a:r>
            <a:r>
              <a:rPr lang="en-US" altLang="zh-CN" sz="2400" dirty="0">
                <a:solidFill>
                  <a:srgbClr val="FF0000"/>
                </a:solidFill>
              </a:rPr>
              <a:t>GID</a:t>
            </a:r>
          </a:p>
          <a:p>
            <a:r>
              <a:rPr lang="en-US" altLang="zh-CN" sz="3200" dirty="0">
                <a:solidFill>
                  <a:srgbClr val="FF0000"/>
                </a:solidFill>
              </a:rPr>
              <a:t>EUID</a:t>
            </a:r>
            <a:r>
              <a:rPr lang="zh-CN" altLang="en-US" sz="3200" dirty="0"/>
              <a:t>和</a:t>
            </a:r>
            <a:r>
              <a:rPr lang="en-US" altLang="zh-CN" sz="3200" dirty="0">
                <a:solidFill>
                  <a:srgbClr val="FF0000"/>
                </a:solidFill>
              </a:rPr>
              <a:t>EGID</a:t>
            </a:r>
            <a:r>
              <a:rPr lang="zh-CN" altLang="en-US" sz="3200" dirty="0"/>
              <a:t>的作用</a:t>
            </a:r>
            <a:endParaRPr lang="en-US" altLang="zh-CN" sz="3200" dirty="0"/>
          </a:p>
          <a:p>
            <a:pPr lvl="1"/>
            <a:r>
              <a:rPr lang="zh-CN" altLang="en-US" dirty="0">
                <a:solidFill>
                  <a:srgbClr val="FF0000"/>
                </a:solidFill>
              </a:rPr>
              <a:t>确定</a:t>
            </a:r>
            <a:r>
              <a:rPr lang="zh-CN" altLang="en-US" dirty="0"/>
              <a:t>一个进程对其</a:t>
            </a:r>
            <a:r>
              <a:rPr lang="zh-CN" altLang="en-US" dirty="0" smtClean="0">
                <a:solidFill>
                  <a:srgbClr val="FF0000"/>
                </a:solidFill>
              </a:rPr>
              <a:t>访问</a:t>
            </a:r>
            <a:r>
              <a:rPr lang="zh-CN" altLang="en-US" dirty="0">
                <a:solidFill>
                  <a:srgbClr val="FF0000"/>
                </a:solidFill>
              </a:rPr>
              <a:t>的</a:t>
            </a:r>
            <a:r>
              <a:rPr lang="zh-CN" altLang="en-US" dirty="0" smtClean="0">
                <a:solidFill>
                  <a:srgbClr val="FF0000"/>
                </a:solidFill>
              </a:rPr>
              <a:t>文件</a:t>
            </a:r>
            <a:r>
              <a:rPr lang="zh-CN" altLang="en-US" dirty="0"/>
              <a:t>的</a:t>
            </a:r>
            <a:r>
              <a:rPr lang="zh-CN" altLang="en-US" dirty="0" smtClean="0"/>
              <a:t>权限和优先级。</a:t>
            </a:r>
            <a:endParaRPr lang="zh-CN" altLang="en-US" dirty="0"/>
          </a:p>
          <a:p>
            <a:pPr lvl="2"/>
            <a:r>
              <a:rPr lang="zh-CN" altLang="en-US" dirty="0"/>
              <a:t>若产生进程的程序</a:t>
            </a:r>
            <a:r>
              <a:rPr lang="zh-CN" altLang="en-US" dirty="0">
                <a:solidFill>
                  <a:srgbClr val="FF0000"/>
                </a:solidFill>
              </a:rPr>
              <a:t>未被设置</a:t>
            </a:r>
            <a:r>
              <a:rPr lang="en-US" altLang="zh-CN" dirty="0">
                <a:solidFill>
                  <a:srgbClr val="FF0000"/>
                </a:solidFill>
              </a:rPr>
              <a:t>SUID</a:t>
            </a:r>
            <a:r>
              <a:rPr lang="zh-CN" altLang="en-US" dirty="0">
                <a:solidFill>
                  <a:srgbClr val="FF0000"/>
                </a:solidFill>
              </a:rPr>
              <a:t>和</a:t>
            </a:r>
            <a:r>
              <a:rPr lang="en-US" altLang="zh-CN" dirty="0">
                <a:solidFill>
                  <a:srgbClr val="FF0000"/>
                </a:solidFill>
              </a:rPr>
              <a:t>SGID</a:t>
            </a:r>
            <a:r>
              <a:rPr lang="zh-CN" altLang="en-US" dirty="0">
                <a:solidFill>
                  <a:srgbClr val="FF0000"/>
                </a:solidFill>
              </a:rPr>
              <a:t>权限位</a:t>
            </a:r>
            <a:r>
              <a:rPr lang="zh-CN" altLang="en-US" dirty="0"/>
              <a:t>，</a:t>
            </a:r>
            <a:r>
              <a:rPr lang="zh-CN" altLang="en-US" dirty="0">
                <a:solidFill>
                  <a:srgbClr val="FF0000"/>
                </a:solidFill>
              </a:rPr>
              <a:t>一般</a:t>
            </a:r>
            <a:r>
              <a:rPr lang="en-US" altLang="zh-CN" dirty="0">
                <a:solidFill>
                  <a:srgbClr val="FF0000"/>
                </a:solidFill>
              </a:rPr>
              <a:t>EUID</a:t>
            </a:r>
            <a:r>
              <a:rPr lang="zh-CN" altLang="en-US" dirty="0"/>
              <a:t>、</a:t>
            </a:r>
            <a:r>
              <a:rPr lang="en-US" altLang="zh-CN" dirty="0">
                <a:solidFill>
                  <a:srgbClr val="FF0000"/>
                </a:solidFill>
              </a:rPr>
              <a:t>EGID</a:t>
            </a:r>
            <a:r>
              <a:rPr lang="zh-CN" altLang="en-US" dirty="0"/>
              <a:t>和</a:t>
            </a:r>
            <a:r>
              <a:rPr lang="en-US" altLang="zh-CN" dirty="0">
                <a:solidFill>
                  <a:srgbClr val="FF0000"/>
                </a:solidFill>
              </a:rPr>
              <a:t>RUID</a:t>
            </a:r>
            <a:r>
              <a:rPr lang="zh-CN" altLang="en-US" dirty="0"/>
              <a:t>、</a:t>
            </a:r>
            <a:r>
              <a:rPr lang="en-US" altLang="zh-CN" dirty="0">
                <a:solidFill>
                  <a:srgbClr val="FF0000"/>
                </a:solidFill>
              </a:rPr>
              <a:t>RGID</a:t>
            </a:r>
            <a:r>
              <a:rPr lang="zh-CN" altLang="en-US" dirty="0">
                <a:solidFill>
                  <a:srgbClr val="FF0000"/>
                </a:solidFill>
              </a:rPr>
              <a:t>相同</a:t>
            </a:r>
            <a:endParaRPr lang="zh-CN" altLang="en-US" dirty="0"/>
          </a:p>
          <a:p>
            <a:pPr lvl="2"/>
            <a:r>
              <a:rPr lang="zh-CN" altLang="en-US" dirty="0"/>
              <a:t>若程序被</a:t>
            </a:r>
            <a:r>
              <a:rPr lang="zh-CN" altLang="en-US" dirty="0">
                <a:solidFill>
                  <a:srgbClr val="FF0000"/>
                </a:solidFill>
              </a:rPr>
              <a:t>设置了</a:t>
            </a:r>
            <a:r>
              <a:rPr lang="en-US" altLang="zh-CN" dirty="0">
                <a:solidFill>
                  <a:srgbClr val="FF0000"/>
                </a:solidFill>
              </a:rPr>
              <a:t>SUID</a:t>
            </a:r>
            <a:r>
              <a:rPr lang="zh-CN" altLang="en-US" dirty="0">
                <a:solidFill>
                  <a:srgbClr val="FF0000"/>
                </a:solidFill>
              </a:rPr>
              <a:t>或</a:t>
            </a:r>
            <a:r>
              <a:rPr lang="en-US" altLang="zh-CN" dirty="0">
                <a:solidFill>
                  <a:srgbClr val="FF0000"/>
                </a:solidFill>
              </a:rPr>
              <a:t>SGID</a:t>
            </a:r>
            <a:r>
              <a:rPr lang="zh-CN" altLang="en-US" dirty="0">
                <a:solidFill>
                  <a:srgbClr val="FF0000"/>
                </a:solidFill>
              </a:rPr>
              <a:t>权限位</a:t>
            </a:r>
            <a:r>
              <a:rPr lang="zh-CN" altLang="en-US" dirty="0"/>
              <a:t>，则此进程相应的</a:t>
            </a:r>
            <a:r>
              <a:rPr lang="en-US" altLang="zh-CN" dirty="0"/>
              <a:t>EUID</a:t>
            </a:r>
            <a:r>
              <a:rPr lang="zh-CN" altLang="en-US" dirty="0"/>
              <a:t>和</a:t>
            </a:r>
            <a:r>
              <a:rPr lang="en-US" altLang="zh-CN" dirty="0"/>
              <a:t>EGID</a:t>
            </a:r>
            <a:r>
              <a:rPr lang="zh-CN" altLang="en-US" dirty="0"/>
              <a:t>，将和运行此进程的文件的</a:t>
            </a:r>
            <a:r>
              <a:rPr lang="zh-CN" altLang="en-US" dirty="0">
                <a:solidFill>
                  <a:srgbClr val="FF0000"/>
                </a:solidFill>
              </a:rPr>
              <a:t>所属用户的</a:t>
            </a:r>
            <a:r>
              <a:rPr lang="en-US" altLang="zh-CN" dirty="0">
                <a:solidFill>
                  <a:srgbClr val="FF0000"/>
                </a:solidFill>
              </a:rPr>
              <a:t>UID</a:t>
            </a:r>
            <a:r>
              <a:rPr lang="zh-CN" altLang="en-US" dirty="0"/>
              <a:t>或</a:t>
            </a:r>
            <a:r>
              <a:rPr lang="zh-CN" altLang="en-US" dirty="0">
                <a:solidFill>
                  <a:srgbClr val="FF0000"/>
                </a:solidFill>
              </a:rPr>
              <a:t>所属组的</a:t>
            </a:r>
            <a:r>
              <a:rPr lang="en-US" altLang="zh-CN" dirty="0">
                <a:solidFill>
                  <a:srgbClr val="FF0000"/>
                </a:solidFill>
              </a:rPr>
              <a:t>GID</a:t>
            </a:r>
            <a:r>
              <a:rPr lang="zh-CN" altLang="en-US" dirty="0">
                <a:solidFill>
                  <a:srgbClr val="FF0000"/>
                </a:solidFill>
              </a:rPr>
              <a:t>相同</a:t>
            </a:r>
            <a:endParaRPr lang="zh-CN" altLang="en-US" dirty="0"/>
          </a:p>
        </p:txBody>
      </p:sp>
    </p:spTree>
  </p:cSld>
  <p:clrMapOvr>
    <a:masterClrMapping/>
  </p:clrMapOvr>
  <p:timing>
    <p:tnLst>
      <p:par>
        <p:cTn id="1" dur="indefinite" restart="never" nodeType="tmRoot"/>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进程类型</a:t>
            </a:r>
          </a:p>
        </p:txBody>
      </p:sp>
      <p:sp>
        <p:nvSpPr>
          <p:cNvPr id="3" name="内容占位符 2"/>
          <p:cNvSpPr>
            <a:spLocks noGrp="1"/>
          </p:cNvSpPr>
          <p:nvPr>
            <p:ph idx="1"/>
          </p:nvPr>
        </p:nvSpPr>
        <p:spPr>
          <a:xfrm>
            <a:off x="611560" y="1484784"/>
            <a:ext cx="8208912" cy="5153744"/>
          </a:xfrm>
        </p:spPr>
        <p:txBody>
          <a:bodyPr/>
          <a:lstStyle/>
          <a:p>
            <a:r>
              <a:rPr lang="zh-CN" altLang="en-US" dirty="0">
                <a:solidFill>
                  <a:srgbClr val="FF0000"/>
                </a:solidFill>
                <a:latin typeface="黑体" pitchFamily="49" charset="-122"/>
                <a:ea typeface="黑体" pitchFamily="49" charset="-122"/>
              </a:rPr>
              <a:t>交互</a:t>
            </a:r>
            <a:r>
              <a:rPr lang="zh-CN" altLang="en-US" dirty="0">
                <a:latin typeface="黑体" pitchFamily="49" charset="-122"/>
                <a:ea typeface="黑体" pitchFamily="49" charset="-122"/>
              </a:rPr>
              <a:t>进程</a:t>
            </a:r>
          </a:p>
          <a:p>
            <a:pPr lvl="1"/>
            <a:r>
              <a:rPr lang="zh-CN" altLang="en-US" dirty="0"/>
              <a:t>由一个</a:t>
            </a:r>
            <a:r>
              <a:rPr lang="en-US" altLang="zh-CN" dirty="0">
                <a:solidFill>
                  <a:srgbClr val="FF0000"/>
                </a:solidFill>
              </a:rPr>
              <a:t>Shell</a:t>
            </a:r>
            <a:r>
              <a:rPr lang="zh-CN" altLang="en-US" dirty="0">
                <a:solidFill>
                  <a:srgbClr val="FF0000"/>
                </a:solidFill>
              </a:rPr>
              <a:t>启动</a:t>
            </a:r>
            <a:r>
              <a:rPr lang="zh-CN" altLang="en-US" dirty="0"/>
              <a:t>的进程</a:t>
            </a:r>
            <a:endParaRPr lang="en-US" altLang="zh-CN" dirty="0"/>
          </a:p>
          <a:p>
            <a:pPr lvl="1"/>
            <a:r>
              <a:rPr lang="zh-CN" altLang="en-US" dirty="0"/>
              <a:t>交互进程既可以在</a:t>
            </a:r>
            <a:r>
              <a:rPr lang="zh-CN" altLang="en-US" dirty="0">
                <a:solidFill>
                  <a:srgbClr val="FF0000"/>
                </a:solidFill>
              </a:rPr>
              <a:t>前台</a:t>
            </a:r>
            <a:r>
              <a:rPr lang="zh-CN" altLang="en-US" dirty="0"/>
              <a:t>运行，也可以在</a:t>
            </a:r>
            <a:r>
              <a:rPr lang="zh-CN" altLang="en-US" dirty="0">
                <a:solidFill>
                  <a:srgbClr val="FF0000"/>
                </a:solidFill>
              </a:rPr>
              <a:t>后台</a:t>
            </a:r>
            <a:r>
              <a:rPr lang="zh-CN" altLang="en-US" dirty="0"/>
              <a:t>运行  </a:t>
            </a:r>
          </a:p>
          <a:p>
            <a:r>
              <a:rPr lang="zh-CN" altLang="en-US" dirty="0">
                <a:solidFill>
                  <a:srgbClr val="FF0000"/>
                </a:solidFill>
                <a:latin typeface="黑体" pitchFamily="49" charset="-122"/>
                <a:ea typeface="黑体" pitchFamily="49" charset="-122"/>
              </a:rPr>
              <a:t>批处理</a:t>
            </a:r>
            <a:r>
              <a:rPr lang="zh-CN" altLang="en-US" dirty="0">
                <a:latin typeface="黑体" pitchFamily="49" charset="-122"/>
                <a:ea typeface="黑体" pitchFamily="49" charset="-122"/>
              </a:rPr>
              <a:t>进程</a:t>
            </a:r>
          </a:p>
          <a:p>
            <a:pPr lvl="1"/>
            <a:r>
              <a:rPr lang="zh-CN" altLang="en-US" dirty="0"/>
              <a:t>不与特定的终端相关联，</a:t>
            </a:r>
            <a:r>
              <a:rPr lang="zh-CN" altLang="en-US" dirty="0">
                <a:solidFill>
                  <a:srgbClr val="FF0000"/>
                </a:solidFill>
              </a:rPr>
              <a:t>提交到等待队列中</a:t>
            </a:r>
            <a:r>
              <a:rPr lang="zh-CN" altLang="en-US" dirty="0"/>
              <a:t>顺序执行的进程</a:t>
            </a:r>
          </a:p>
          <a:p>
            <a:r>
              <a:rPr lang="zh-CN" altLang="en-US" dirty="0">
                <a:solidFill>
                  <a:srgbClr val="FF0000"/>
                </a:solidFill>
                <a:latin typeface="黑体" pitchFamily="49" charset="-122"/>
                <a:ea typeface="黑体" pitchFamily="49" charset="-122"/>
              </a:rPr>
              <a:t>守护</a:t>
            </a:r>
            <a:r>
              <a:rPr lang="zh-CN" altLang="en-US" dirty="0">
                <a:latin typeface="黑体" pitchFamily="49" charset="-122"/>
                <a:ea typeface="黑体" pitchFamily="49" charset="-122"/>
              </a:rPr>
              <a:t>进程</a:t>
            </a:r>
            <a:r>
              <a:rPr lang="zh-CN" altLang="en-US" dirty="0"/>
              <a:t>（</a:t>
            </a:r>
            <a:r>
              <a:rPr lang="en-US" altLang="zh-CN" dirty="0">
                <a:solidFill>
                  <a:srgbClr val="002060"/>
                </a:solidFill>
              </a:rPr>
              <a:t>Daemon</a:t>
            </a:r>
            <a:r>
              <a:rPr lang="zh-CN" altLang="en-US" dirty="0"/>
              <a:t>）</a:t>
            </a:r>
          </a:p>
          <a:p>
            <a:pPr lvl="1"/>
            <a:r>
              <a:rPr lang="zh-CN" altLang="en-US" dirty="0"/>
              <a:t>在</a:t>
            </a:r>
            <a:r>
              <a:rPr lang="en-US" altLang="zh-CN" dirty="0"/>
              <a:t>Linux</a:t>
            </a:r>
            <a:r>
              <a:rPr lang="zh-CN" altLang="en-US" dirty="0"/>
              <a:t>在启动时</a:t>
            </a:r>
            <a:r>
              <a:rPr lang="zh-CN" altLang="en-US" dirty="0">
                <a:solidFill>
                  <a:srgbClr val="FF0000"/>
                </a:solidFill>
              </a:rPr>
              <a:t>初始化</a:t>
            </a:r>
            <a:r>
              <a:rPr lang="zh-CN" altLang="en-US" dirty="0"/>
              <a:t>，需要时运行于</a:t>
            </a:r>
            <a:r>
              <a:rPr lang="zh-CN" altLang="en-US" dirty="0">
                <a:solidFill>
                  <a:srgbClr val="FF0000"/>
                </a:solidFill>
              </a:rPr>
              <a:t>后台</a:t>
            </a:r>
            <a:r>
              <a:rPr lang="zh-CN" altLang="en-US" dirty="0"/>
              <a:t>的进程  </a:t>
            </a:r>
          </a:p>
        </p:txBody>
      </p:sp>
    </p:spTree>
  </p:cSld>
  <p:clrMapOvr>
    <a:masterClrMapping/>
  </p:clrMapOvr>
  <p:timing>
    <p:tnLst>
      <p:par>
        <p:cTn id="1" dur="indefinite" restart="never" nodeType="tmRoot"/>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进程的启动方式</a:t>
            </a:r>
          </a:p>
        </p:txBody>
      </p:sp>
      <p:sp>
        <p:nvSpPr>
          <p:cNvPr id="3" name="内容占位符 2"/>
          <p:cNvSpPr>
            <a:spLocks noGrp="1"/>
          </p:cNvSpPr>
          <p:nvPr>
            <p:ph idx="1"/>
          </p:nvPr>
        </p:nvSpPr>
        <p:spPr>
          <a:xfrm>
            <a:off x="899592" y="1484784"/>
            <a:ext cx="7488832" cy="4536604"/>
          </a:xfrm>
        </p:spPr>
        <p:txBody>
          <a:bodyPr/>
          <a:lstStyle/>
          <a:p>
            <a:r>
              <a:rPr lang="zh-CN" altLang="en-US" dirty="0">
                <a:solidFill>
                  <a:srgbClr val="FF0000"/>
                </a:solidFill>
              </a:rPr>
              <a:t>手工</a:t>
            </a:r>
            <a:r>
              <a:rPr lang="zh-CN" altLang="en-US" dirty="0"/>
              <a:t>方式：用户使用操作系统提供的用户接口输入命令启动进程</a:t>
            </a:r>
          </a:p>
          <a:p>
            <a:pPr lvl="1"/>
            <a:r>
              <a:rPr lang="zh-CN" altLang="en-US" dirty="0">
                <a:solidFill>
                  <a:srgbClr val="FF0000"/>
                </a:solidFill>
              </a:rPr>
              <a:t>前台</a:t>
            </a:r>
            <a:r>
              <a:rPr lang="zh-CN" altLang="en-US" dirty="0"/>
              <a:t>      “</a:t>
            </a:r>
            <a:r>
              <a:rPr lang="en-US" altLang="zh-CN" dirty="0"/>
              <a:t>ls -l</a:t>
            </a:r>
            <a:r>
              <a:rPr lang="zh-CN" altLang="en-US" dirty="0"/>
              <a:t>”</a:t>
            </a:r>
          </a:p>
          <a:p>
            <a:pPr lvl="1"/>
            <a:r>
              <a:rPr lang="zh-CN" altLang="en-US" dirty="0">
                <a:solidFill>
                  <a:srgbClr val="FF0000"/>
                </a:solidFill>
              </a:rPr>
              <a:t>后台</a:t>
            </a:r>
            <a:r>
              <a:rPr lang="zh-CN" altLang="en-US" dirty="0"/>
              <a:t> </a:t>
            </a:r>
            <a:r>
              <a:rPr lang="zh-CN" altLang="en-US" dirty="0">
                <a:solidFill>
                  <a:srgbClr val="FF0000"/>
                </a:solidFill>
              </a:rPr>
              <a:t>（</a:t>
            </a:r>
            <a:r>
              <a:rPr lang="en-US" altLang="zh-CN" dirty="0">
                <a:solidFill>
                  <a:srgbClr val="FF0000"/>
                </a:solidFill>
              </a:rPr>
              <a:t>&amp;</a:t>
            </a:r>
            <a:r>
              <a:rPr lang="zh-CN" altLang="en-US" dirty="0">
                <a:solidFill>
                  <a:srgbClr val="FF0000"/>
                </a:solidFill>
              </a:rPr>
              <a:t>） </a:t>
            </a:r>
            <a:r>
              <a:rPr lang="zh-CN" altLang="en-US" dirty="0"/>
              <a:t>“</a:t>
            </a:r>
            <a:r>
              <a:rPr lang="en-US" altLang="zh-CN" dirty="0"/>
              <a:t>ls –R/&gt;list</a:t>
            </a:r>
            <a:r>
              <a:rPr lang="zh-CN" altLang="en-US" dirty="0"/>
              <a:t> </a:t>
            </a:r>
            <a:r>
              <a:rPr lang="en-US" altLang="zh-CN" dirty="0"/>
              <a:t>&amp;</a:t>
            </a:r>
            <a:r>
              <a:rPr lang="zh-CN" altLang="en-US" dirty="0"/>
              <a:t>”</a:t>
            </a:r>
          </a:p>
          <a:p>
            <a:r>
              <a:rPr lang="zh-CN" altLang="en-US" dirty="0">
                <a:solidFill>
                  <a:srgbClr val="FF0000"/>
                </a:solidFill>
              </a:rPr>
              <a:t>调度</a:t>
            </a:r>
            <a:r>
              <a:rPr lang="zh-CN" altLang="en-US" dirty="0"/>
              <a:t>方式：按照预先指定的时间执行</a:t>
            </a:r>
          </a:p>
          <a:p>
            <a:pPr lvl="1"/>
            <a:r>
              <a:rPr lang="en-US" altLang="zh-CN" dirty="0"/>
              <a:t>at         </a:t>
            </a:r>
            <a:r>
              <a:rPr lang="zh-CN" altLang="en-US" dirty="0"/>
              <a:t>一次性任务</a:t>
            </a:r>
            <a:endParaRPr lang="en-US" altLang="zh-CN" dirty="0"/>
          </a:p>
          <a:p>
            <a:pPr lvl="1"/>
            <a:r>
              <a:rPr lang="en-US" altLang="zh-CN" dirty="0"/>
              <a:t>batch   </a:t>
            </a:r>
            <a:r>
              <a:rPr lang="zh-CN" altLang="en-US" dirty="0"/>
              <a:t>一次性任务</a:t>
            </a:r>
            <a:endParaRPr lang="en-US" altLang="zh-CN" dirty="0"/>
          </a:p>
          <a:p>
            <a:pPr lvl="1"/>
            <a:r>
              <a:rPr lang="en-US" altLang="zh-CN" dirty="0" err="1"/>
              <a:t>cron</a:t>
            </a:r>
            <a:r>
              <a:rPr lang="en-US" altLang="zh-CN" dirty="0"/>
              <a:t>     </a:t>
            </a:r>
            <a:r>
              <a:rPr lang="zh-CN" altLang="en-US" dirty="0"/>
              <a:t>周期性任务</a:t>
            </a:r>
            <a:endParaRPr lang="en-US" altLang="zh-CN" dirty="0"/>
          </a:p>
          <a:p>
            <a:endParaRPr lang="zh-CN" altLang="en-US" dirty="0"/>
          </a:p>
        </p:txBody>
      </p:sp>
    </p:spTree>
  </p:cSld>
  <p:clrMapOvr>
    <a:masterClrMapping/>
  </p:clrMapOvr>
  <p:timing>
    <p:tnLst>
      <p:par>
        <p:cT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前台与后台</a:t>
            </a:r>
          </a:p>
        </p:txBody>
      </p:sp>
      <p:sp>
        <p:nvSpPr>
          <p:cNvPr id="3" name="内容占位符 2"/>
          <p:cNvSpPr>
            <a:spLocks noGrp="1"/>
          </p:cNvSpPr>
          <p:nvPr>
            <p:ph idx="1"/>
          </p:nvPr>
        </p:nvSpPr>
        <p:spPr>
          <a:xfrm>
            <a:off x="899592" y="1335740"/>
            <a:ext cx="7710028" cy="5397113"/>
          </a:xfrm>
        </p:spPr>
        <p:txBody>
          <a:bodyPr/>
          <a:lstStyle/>
          <a:p>
            <a:r>
              <a:rPr lang="zh-CN" altLang="en-US" dirty="0">
                <a:solidFill>
                  <a:srgbClr val="0000CC"/>
                </a:solidFill>
                <a:ea typeface="黑体" pitchFamily="49" charset="-122"/>
              </a:rPr>
              <a:t> 前台进程</a:t>
            </a:r>
            <a:endParaRPr lang="en-US" altLang="zh-CN" dirty="0">
              <a:solidFill>
                <a:srgbClr val="0000CC"/>
              </a:solidFill>
              <a:ea typeface="黑体" pitchFamily="49" charset="-122"/>
            </a:endParaRPr>
          </a:p>
          <a:p>
            <a:pPr lvl="1"/>
            <a:r>
              <a:rPr lang="zh-CN" altLang="en-US" dirty="0">
                <a:ea typeface="黑体" pitchFamily="49" charset="-122"/>
              </a:rPr>
              <a:t>指一个</a:t>
            </a:r>
            <a:r>
              <a:rPr lang="zh-CN" altLang="en-US" dirty="0">
                <a:solidFill>
                  <a:srgbClr val="C00000"/>
                </a:solidFill>
                <a:ea typeface="黑体" pitchFamily="49" charset="-122"/>
              </a:rPr>
              <a:t>程序控制着标准输入</a:t>
            </a:r>
            <a:r>
              <a:rPr lang="zh-CN" altLang="en-US" dirty="0">
                <a:solidFill>
                  <a:srgbClr val="C00000"/>
                </a:solidFill>
                <a:latin typeface="Courier New" pitchFamily="49" charset="0"/>
                <a:ea typeface="黑体" pitchFamily="49" charset="-122"/>
              </a:rPr>
              <a:t>/</a:t>
            </a:r>
            <a:r>
              <a:rPr lang="zh-CN" altLang="en-US" dirty="0">
                <a:solidFill>
                  <a:srgbClr val="C00000"/>
                </a:solidFill>
                <a:ea typeface="黑体" pitchFamily="49" charset="-122"/>
              </a:rPr>
              <a:t>输出</a:t>
            </a:r>
            <a:r>
              <a:rPr lang="zh-CN" altLang="en-US" dirty="0">
                <a:ea typeface="黑体" pitchFamily="49" charset="-122"/>
              </a:rPr>
              <a:t>，在程序运行时，</a:t>
            </a:r>
            <a:r>
              <a:rPr lang="en-US" altLang="zh-CN" dirty="0">
                <a:ea typeface="黑体" pitchFamily="49" charset="-122"/>
              </a:rPr>
              <a:t>shell </a:t>
            </a:r>
            <a:r>
              <a:rPr lang="zh-CN" altLang="en-US" dirty="0">
                <a:ea typeface="黑体" pitchFamily="49" charset="-122"/>
              </a:rPr>
              <a:t>被暂时挂起，直到该程序运行结束后，才退回到 </a:t>
            </a:r>
            <a:r>
              <a:rPr lang="en-US" altLang="zh-CN" dirty="0">
                <a:ea typeface="黑体" pitchFamily="49" charset="-122"/>
              </a:rPr>
              <a:t>shell</a:t>
            </a:r>
          </a:p>
          <a:p>
            <a:pPr lvl="1"/>
            <a:r>
              <a:rPr lang="zh-CN" altLang="en-US" dirty="0">
                <a:ea typeface="黑体" pitchFamily="49" charset="-122"/>
              </a:rPr>
              <a:t>在这个过程中，用户</a:t>
            </a:r>
            <a:r>
              <a:rPr lang="zh-CN" altLang="en-US" dirty="0">
                <a:solidFill>
                  <a:srgbClr val="C00000"/>
                </a:solidFill>
                <a:ea typeface="黑体" pitchFamily="49" charset="-122"/>
              </a:rPr>
              <a:t>不能再执行其它程序</a:t>
            </a:r>
          </a:p>
          <a:p>
            <a:r>
              <a:rPr lang="zh-CN" altLang="en-US" dirty="0">
                <a:solidFill>
                  <a:srgbClr val="0000CC"/>
                </a:solidFill>
                <a:ea typeface="黑体" pitchFamily="49" charset="-122"/>
              </a:rPr>
              <a:t> 后台进程</a:t>
            </a:r>
            <a:endParaRPr lang="en-US" altLang="zh-CN" dirty="0">
              <a:ea typeface="黑体" pitchFamily="49" charset="-122"/>
            </a:endParaRPr>
          </a:p>
          <a:p>
            <a:pPr lvl="1"/>
            <a:r>
              <a:rPr lang="zh-CN" altLang="en-US" dirty="0">
                <a:ea typeface="黑体" pitchFamily="49" charset="-122"/>
              </a:rPr>
              <a:t>用户</a:t>
            </a:r>
            <a:r>
              <a:rPr lang="zh-CN" altLang="en-US" dirty="0">
                <a:solidFill>
                  <a:srgbClr val="C00000"/>
                </a:solidFill>
                <a:ea typeface="黑体" pitchFamily="49" charset="-122"/>
              </a:rPr>
              <a:t>不必等待程序运行结束</a:t>
            </a:r>
            <a:r>
              <a:rPr lang="zh-CN" altLang="en-US" dirty="0">
                <a:ea typeface="黑体" pitchFamily="49" charset="-122"/>
              </a:rPr>
              <a:t>就可以</a:t>
            </a:r>
            <a:r>
              <a:rPr lang="zh-CN" altLang="en-US" dirty="0">
                <a:solidFill>
                  <a:srgbClr val="C00000"/>
                </a:solidFill>
                <a:ea typeface="黑体" pitchFamily="49" charset="-122"/>
              </a:rPr>
              <a:t>执行其它程序</a:t>
            </a:r>
            <a:endParaRPr lang="en-US" altLang="zh-CN" dirty="0">
              <a:solidFill>
                <a:srgbClr val="C00000"/>
              </a:solidFill>
              <a:ea typeface="黑体" pitchFamily="49" charset="-122"/>
            </a:endParaRPr>
          </a:p>
          <a:p>
            <a:pPr lvl="1"/>
            <a:r>
              <a:rPr lang="zh-CN" altLang="en-US" dirty="0">
                <a:latin typeface="黑体" pitchFamily="49" charset="-122"/>
                <a:ea typeface="黑体" pitchFamily="49" charset="-122"/>
              </a:rPr>
              <a:t>运行后台进程的方法是在</a:t>
            </a:r>
            <a:r>
              <a:rPr lang="zh-CN" altLang="en-US" dirty="0">
                <a:solidFill>
                  <a:srgbClr val="C00000"/>
                </a:solidFill>
                <a:latin typeface="黑体" pitchFamily="49" charset="-122"/>
                <a:ea typeface="黑体" pitchFamily="49" charset="-122"/>
              </a:rPr>
              <a:t>命令行</a:t>
            </a:r>
            <a:r>
              <a:rPr lang="zh-CN" altLang="en-US" dirty="0">
                <a:latin typeface="黑体" pitchFamily="49" charset="-122"/>
                <a:ea typeface="黑体" pitchFamily="49" charset="-122"/>
              </a:rPr>
              <a:t>最后加上 </a:t>
            </a:r>
            <a:r>
              <a:rPr lang="zh-CN" altLang="en-US" dirty="0">
                <a:solidFill>
                  <a:srgbClr val="C00000"/>
                </a:solidFill>
              </a:rPr>
              <a:t>“</a:t>
            </a:r>
            <a:r>
              <a:rPr lang="en-US" altLang="zh-CN" dirty="0">
                <a:solidFill>
                  <a:srgbClr val="C00000"/>
                </a:solidFill>
              </a:rPr>
              <a:t>&amp;”</a:t>
            </a:r>
          </a:p>
          <a:p>
            <a:pPr lvl="2"/>
            <a:r>
              <a:rPr lang="en-US" altLang="zh-CN" dirty="0">
                <a:solidFill>
                  <a:schemeClr val="accent6">
                    <a:lumMod val="75000"/>
                  </a:schemeClr>
                </a:solidFill>
              </a:rPr>
              <a:t>$ sleep 10000 &amp;</a:t>
            </a:r>
            <a:endParaRPr lang="zh-CN" altLang="en-US" dirty="0">
              <a:solidFill>
                <a:schemeClr val="accent6">
                  <a:lumMod val="75000"/>
                </a:schemeClr>
              </a:solidFill>
            </a:endParaRPr>
          </a:p>
        </p:txBody>
      </p:sp>
      <p:sp>
        <p:nvSpPr>
          <p:cNvPr id="7" name="TextBox 6"/>
          <p:cNvSpPr txBox="1"/>
          <p:nvPr/>
        </p:nvSpPr>
        <p:spPr>
          <a:xfrm>
            <a:off x="4716330" y="5963413"/>
            <a:ext cx="4392174" cy="769441"/>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zh-CN" altLang="en-US" sz="2200" dirty="0">
                <a:ea typeface="黑体" pitchFamily="49" charset="-122"/>
              </a:rPr>
              <a:t>在</a:t>
            </a:r>
            <a:r>
              <a:rPr lang="zh-CN" altLang="en-US" sz="2200" dirty="0">
                <a:solidFill>
                  <a:srgbClr val="C00000"/>
                </a:solidFill>
                <a:ea typeface="黑体" pitchFamily="49" charset="-122"/>
              </a:rPr>
              <a:t>一个终端</a:t>
            </a:r>
            <a:r>
              <a:rPr lang="zh-CN" altLang="en-US" sz="2200" dirty="0">
                <a:ea typeface="黑体" pitchFamily="49" charset="-122"/>
              </a:rPr>
              <a:t>里只能同时存在</a:t>
            </a:r>
            <a:r>
              <a:rPr lang="zh-CN" altLang="en-US" sz="2200" dirty="0">
                <a:solidFill>
                  <a:srgbClr val="C00000"/>
                </a:solidFill>
                <a:ea typeface="黑体" pitchFamily="49" charset="-122"/>
              </a:rPr>
              <a:t>一个前台任务</a:t>
            </a:r>
            <a:r>
              <a:rPr lang="zh-CN" altLang="en-US" sz="2200" dirty="0">
                <a:ea typeface="黑体" pitchFamily="49" charset="-122"/>
              </a:rPr>
              <a:t>，但可以有</a:t>
            </a:r>
            <a:r>
              <a:rPr lang="zh-CN" altLang="en-US" sz="2200" dirty="0">
                <a:solidFill>
                  <a:srgbClr val="C00000"/>
                </a:solidFill>
                <a:ea typeface="黑体" pitchFamily="49" charset="-122"/>
              </a:rPr>
              <a:t>多个后台任务</a:t>
            </a:r>
            <a:endParaRPr lang="zh-CN" altLang="en-US" sz="2200" dirty="0">
              <a:solidFill>
                <a:srgbClr val="C00000"/>
              </a:solidFill>
            </a:endParaRPr>
          </a:p>
        </p:txBody>
      </p:sp>
    </p:spTree>
  </p:cSld>
  <p:clrMapOvr>
    <a:masterClrMapping/>
  </p:clrMapOvr>
  <p:timing>
    <p:tnLst>
      <p:par>
        <p:cTn id="1" dur="indefinite" restart="never" nodeType="tmRoot"/>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 进程管理</a:t>
            </a:r>
            <a:r>
              <a:rPr lang="en-US" altLang="zh-CN" dirty="0"/>
              <a:t>—</a:t>
            </a:r>
            <a:r>
              <a:rPr lang="zh-CN" altLang="en-US" dirty="0"/>
              <a:t>查看进程</a:t>
            </a:r>
          </a:p>
        </p:txBody>
      </p:sp>
      <p:sp>
        <p:nvSpPr>
          <p:cNvPr id="3" name="内容占位符 2"/>
          <p:cNvSpPr>
            <a:spLocks noGrp="1"/>
          </p:cNvSpPr>
          <p:nvPr>
            <p:ph idx="1"/>
          </p:nvPr>
        </p:nvSpPr>
        <p:spPr>
          <a:xfrm>
            <a:off x="694147" y="1484784"/>
            <a:ext cx="7982309" cy="4718149"/>
          </a:xfrm>
        </p:spPr>
        <p:txBody>
          <a:bodyPr/>
          <a:lstStyle/>
          <a:p>
            <a:r>
              <a:rPr lang="zh-CN" altLang="en-US" dirty="0"/>
              <a:t>使用</a:t>
            </a:r>
            <a:r>
              <a:rPr lang="en-US" altLang="zh-CN" dirty="0"/>
              <a:t>ps</a:t>
            </a:r>
            <a:r>
              <a:rPr lang="zh-CN" altLang="en-US" dirty="0"/>
              <a:t>命令查看进程状态信息</a:t>
            </a:r>
            <a:endParaRPr lang="en-US" altLang="zh-CN" dirty="0"/>
          </a:p>
          <a:p>
            <a:pPr lvl="1"/>
            <a:r>
              <a:rPr lang="zh-CN" altLang="en-US" dirty="0"/>
              <a:t>显示哪些进程</a:t>
            </a:r>
            <a:r>
              <a:rPr lang="zh-CN" altLang="en-US" dirty="0">
                <a:solidFill>
                  <a:srgbClr val="FF0000"/>
                </a:solidFill>
              </a:rPr>
              <a:t>正在执行和执行的状态</a:t>
            </a:r>
          </a:p>
          <a:p>
            <a:pPr lvl="1"/>
            <a:r>
              <a:rPr lang="zh-CN" altLang="en-US" dirty="0"/>
              <a:t>进程是否</a:t>
            </a:r>
            <a:r>
              <a:rPr lang="zh-CN" altLang="en-US" dirty="0">
                <a:solidFill>
                  <a:srgbClr val="FF0000"/>
                </a:solidFill>
              </a:rPr>
              <a:t>结束</a:t>
            </a:r>
            <a:r>
              <a:rPr lang="zh-CN" altLang="en-US" dirty="0"/>
              <a:t>、进程有没有</a:t>
            </a:r>
            <a:r>
              <a:rPr lang="zh-CN" altLang="en-US" dirty="0">
                <a:solidFill>
                  <a:srgbClr val="FF0000"/>
                </a:solidFill>
              </a:rPr>
              <a:t>僵死</a:t>
            </a:r>
          </a:p>
          <a:p>
            <a:pPr lvl="1"/>
            <a:r>
              <a:rPr lang="zh-CN" altLang="en-US" dirty="0"/>
              <a:t>哪些进程</a:t>
            </a:r>
            <a:r>
              <a:rPr lang="zh-CN" altLang="en-US" dirty="0">
                <a:solidFill>
                  <a:srgbClr val="FF0000"/>
                </a:solidFill>
              </a:rPr>
              <a:t>占用</a:t>
            </a:r>
            <a:r>
              <a:rPr lang="zh-CN" altLang="en-US" dirty="0"/>
              <a:t>了过多的</a:t>
            </a:r>
            <a:r>
              <a:rPr lang="zh-CN" altLang="en-US" dirty="0">
                <a:solidFill>
                  <a:srgbClr val="FF0000"/>
                </a:solidFill>
              </a:rPr>
              <a:t>系统资源</a:t>
            </a:r>
            <a:r>
              <a:rPr lang="zh-CN" altLang="en-US" dirty="0" smtClean="0"/>
              <a:t>等</a:t>
            </a:r>
            <a:endParaRPr lang="en-US" altLang="zh-CN" dirty="0"/>
          </a:p>
        </p:txBody>
      </p:sp>
    </p:spTree>
  </p:cSld>
  <p:clrMapOvr>
    <a:masterClrMapping/>
  </p:clrMapOvr>
  <p:timing>
    <p:tnLst>
      <p:par>
        <p:cTn id="1" dur="indefinite" restart="never" nodeType="tmRoot"/>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查看</a:t>
            </a:r>
            <a:r>
              <a:rPr lang="zh-CN" altLang="en-US" dirty="0"/>
              <a:t>进程</a:t>
            </a:r>
          </a:p>
        </p:txBody>
      </p:sp>
      <p:sp>
        <p:nvSpPr>
          <p:cNvPr id="3" name="内容占位符 2"/>
          <p:cNvSpPr>
            <a:spLocks noGrp="1"/>
          </p:cNvSpPr>
          <p:nvPr>
            <p:ph idx="1"/>
          </p:nvPr>
        </p:nvSpPr>
        <p:spPr>
          <a:xfrm>
            <a:off x="467544" y="1484784"/>
            <a:ext cx="8479605" cy="4718149"/>
          </a:xfrm>
        </p:spPr>
        <p:txBody>
          <a:bodyPr/>
          <a:lstStyle/>
          <a:p>
            <a:r>
              <a:rPr lang="en-US" altLang="zh-CN" dirty="0" smtClean="0"/>
              <a:t>ps</a:t>
            </a:r>
            <a:r>
              <a:rPr lang="zh-CN" altLang="en-US" dirty="0"/>
              <a:t>（</a:t>
            </a:r>
            <a:r>
              <a:rPr lang="en-US" altLang="zh-CN" dirty="0"/>
              <a:t> Process Status </a:t>
            </a:r>
            <a:r>
              <a:rPr lang="zh-CN" altLang="en-US" dirty="0"/>
              <a:t>）命令格式</a:t>
            </a:r>
            <a:endParaRPr lang="en-US" altLang="zh-CN" dirty="0"/>
          </a:p>
          <a:p>
            <a:pPr lvl="1"/>
            <a:r>
              <a:rPr lang="en-US" altLang="zh-CN" dirty="0">
                <a:solidFill>
                  <a:schemeClr val="accent6">
                    <a:lumMod val="75000"/>
                  </a:schemeClr>
                </a:solidFill>
              </a:rPr>
              <a:t>ps [</a:t>
            </a:r>
            <a:r>
              <a:rPr lang="zh-CN" altLang="en-US" dirty="0">
                <a:solidFill>
                  <a:schemeClr val="accent6">
                    <a:lumMod val="75000"/>
                  </a:schemeClr>
                </a:solidFill>
              </a:rPr>
              <a:t>选项</a:t>
            </a:r>
            <a:r>
              <a:rPr lang="en-US" altLang="zh-CN" dirty="0">
                <a:solidFill>
                  <a:schemeClr val="accent6">
                    <a:lumMod val="75000"/>
                  </a:schemeClr>
                </a:solidFill>
              </a:rPr>
              <a:t>]</a:t>
            </a:r>
          </a:p>
          <a:p>
            <a:pPr lvl="1"/>
            <a:r>
              <a:rPr lang="zh-CN" altLang="en-US" dirty="0"/>
              <a:t>不带任何选项的</a:t>
            </a:r>
            <a:r>
              <a:rPr lang="en-US" altLang="zh-CN" dirty="0"/>
              <a:t>ps</a:t>
            </a:r>
            <a:r>
              <a:rPr lang="zh-CN" altLang="en-US" dirty="0"/>
              <a:t>命令</a:t>
            </a:r>
            <a:endParaRPr lang="en-US" altLang="zh-CN" dirty="0"/>
          </a:p>
          <a:p>
            <a:pPr lvl="2"/>
            <a:r>
              <a:rPr lang="zh-CN" altLang="en-US" dirty="0"/>
              <a:t>显示当前用户所在</a:t>
            </a:r>
            <a:r>
              <a:rPr lang="zh-CN" altLang="en-US" dirty="0">
                <a:solidFill>
                  <a:srgbClr val="FF0000"/>
                </a:solidFill>
              </a:rPr>
              <a:t>终端中的所有进程</a:t>
            </a:r>
            <a:endParaRPr lang="en-US" altLang="zh-CN" dirty="0">
              <a:solidFill>
                <a:srgbClr val="FF0000"/>
              </a:solidFill>
            </a:endParaRPr>
          </a:p>
          <a:p>
            <a:pPr lvl="2"/>
            <a:r>
              <a:rPr lang="zh-CN" altLang="en-US" dirty="0"/>
              <a:t>输出项包括：识别号</a:t>
            </a:r>
            <a:r>
              <a:rPr lang="en-US" altLang="zh-CN" dirty="0"/>
              <a:t>(</a:t>
            </a:r>
            <a:r>
              <a:rPr lang="en-US" altLang="zh-CN" dirty="0">
                <a:solidFill>
                  <a:srgbClr val="FF0000"/>
                </a:solidFill>
              </a:rPr>
              <a:t>PID</a:t>
            </a:r>
            <a:r>
              <a:rPr lang="en-US" altLang="zh-CN" dirty="0"/>
              <a:t>)</a:t>
            </a:r>
            <a:r>
              <a:rPr lang="zh-CN" altLang="en-US" dirty="0"/>
              <a:t>、终端</a:t>
            </a:r>
            <a:r>
              <a:rPr lang="en-US" altLang="zh-CN" dirty="0"/>
              <a:t>(</a:t>
            </a:r>
            <a:r>
              <a:rPr lang="en-US" altLang="zh-CN" dirty="0">
                <a:solidFill>
                  <a:srgbClr val="FF0000"/>
                </a:solidFill>
              </a:rPr>
              <a:t>TTY</a:t>
            </a:r>
            <a:r>
              <a:rPr lang="en-US" altLang="zh-CN" dirty="0"/>
              <a:t>)</a:t>
            </a:r>
            <a:r>
              <a:rPr lang="zh-CN" altLang="en-US" dirty="0"/>
              <a:t>、运行时间</a:t>
            </a:r>
            <a:r>
              <a:rPr lang="en-US" altLang="zh-CN" dirty="0"/>
              <a:t>(</a:t>
            </a:r>
            <a:r>
              <a:rPr lang="en-US" altLang="zh-CN" dirty="0">
                <a:solidFill>
                  <a:srgbClr val="FF0000"/>
                </a:solidFill>
              </a:rPr>
              <a:t>TIME</a:t>
            </a:r>
            <a:r>
              <a:rPr lang="en-US" altLang="zh-CN" dirty="0"/>
              <a:t>)</a:t>
            </a:r>
            <a:r>
              <a:rPr lang="zh-CN" altLang="en-US" dirty="0"/>
              <a:t>、产生该进程所运行的命令</a:t>
            </a:r>
            <a:r>
              <a:rPr lang="en-US" altLang="zh-CN" dirty="0"/>
              <a:t>(</a:t>
            </a:r>
            <a:r>
              <a:rPr lang="en-US" altLang="zh-CN" dirty="0">
                <a:solidFill>
                  <a:srgbClr val="FF0000"/>
                </a:solidFill>
              </a:rPr>
              <a:t>CMD</a:t>
            </a:r>
            <a:r>
              <a:rPr lang="en-US" altLang="zh-CN" dirty="0"/>
              <a:t>)</a:t>
            </a:r>
            <a:endParaRPr lang="zh-CN" altLang="en-US" dirty="0"/>
          </a:p>
        </p:txBody>
      </p:sp>
      <p:pic>
        <p:nvPicPr>
          <p:cNvPr id="4" name="图片 3"/>
          <p:cNvPicPr>
            <a:picLocks noChangeAspect="1"/>
          </p:cNvPicPr>
          <p:nvPr/>
        </p:nvPicPr>
        <p:blipFill>
          <a:blip r:embed="rId3"/>
          <a:stretch>
            <a:fillRect/>
          </a:stretch>
        </p:blipFill>
        <p:spPr>
          <a:xfrm>
            <a:off x="1171217" y="4509120"/>
            <a:ext cx="7771605" cy="1837729"/>
          </a:xfrm>
          <a:prstGeom prst="rect">
            <a:avLst/>
          </a:prstGeom>
        </p:spPr>
      </p:pic>
    </p:spTree>
    <p:extLst>
      <p:ext uri="{BB962C8B-B14F-4D97-AF65-F5344CB8AC3E}">
        <p14:creationId xmlns:p14="http://schemas.microsoft.com/office/powerpoint/2010/main" val="4252646591"/>
      </p:ext>
    </p:extLst>
  </p:cSld>
  <p:clrMapOvr>
    <a:masterClrMapping/>
  </p:clrMapOvr>
  <p:timing>
    <p:tnLst>
      <p:par>
        <p:cT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ps</a:t>
            </a:r>
            <a:r>
              <a:rPr lang="zh-CN" altLang="en-US" dirty="0"/>
              <a:t>命令的常用选项</a:t>
            </a:r>
          </a:p>
        </p:txBody>
      </p:sp>
      <p:graphicFrame>
        <p:nvGraphicFramePr>
          <p:cNvPr id="7" name="内容占位符 6"/>
          <p:cNvGraphicFramePr>
            <a:graphicFrameLocks noGrp="1"/>
          </p:cNvGraphicFramePr>
          <p:nvPr>
            <p:ph idx="1"/>
            <p:extLst>
              <p:ext uri="{D42A27DB-BD31-4B8C-83A1-F6EECF244321}">
                <p14:modId xmlns:p14="http://schemas.microsoft.com/office/powerpoint/2010/main" val="85480860"/>
              </p:ext>
            </p:extLst>
          </p:nvPr>
        </p:nvGraphicFramePr>
        <p:xfrm>
          <a:off x="323528" y="1628800"/>
          <a:ext cx="8496944" cy="4678680"/>
        </p:xfrm>
        <a:graphic>
          <a:graphicData uri="http://schemas.openxmlformats.org/drawingml/2006/table">
            <a:tbl>
              <a:tblPr firstRow="1" bandRow="1">
                <a:tableStyleId>{93296810-A885-4BE3-A3E7-6D5BEEA58F35}</a:tableStyleId>
              </a:tblPr>
              <a:tblGrid>
                <a:gridCol w="2007374">
                  <a:extLst>
                    <a:ext uri="{9D8B030D-6E8A-4147-A177-3AD203B41FA5}">
                      <a16:colId xmlns:a16="http://schemas.microsoft.com/office/drawing/2014/main" val="20000"/>
                    </a:ext>
                  </a:extLst>
                </a:gridCol>
                <a:gridCol w="6489570">
                  <a:extLst>
                    <a:ext uri="{9D8B030D-6E8A-4147-A177-3AD203B41FA5}">
                      <a16:colId xmlns:a16="http://schemas.microsoft.com/office/drawing/2014/main" val="20001"/>
                    </a:ext>
                  </a:extLst>
                </a:gridCol>
              </a:tblGrid>
              <a:tr h="370840">
                <a:tc>
                  <a:txBody>
                    <a:bodyPr/>
                    <a:lstStyle/>
                    <a:p>
                      <a:pPr algn="ctr"/>
                      <a:r>
                        <a:rPr lang="zh-CN" altLang="en-US" sz="1800" dirty="0">
                          <a:solidFill>
                            <a:srgbClr val="C00000"/>
                          </a:solidFill>
                        </a:rPr>
                        <a:t>选项</a:t>
                      </a:r>
                    </a:p>
                  </a:txBody>
                  <a:tcPr/>
                </a:tc>
                <a:tc>
                  <a:txBody>
                    <a:bodyPr/>
                    <a:lstStyle/>
                    <a:p>
                      <a:pPr algn="ctr"/>
                      <a:r>
                        <a:rPr lang="zh-CN" altLang="en-US" sz="1800" dirty="0">
                          <a:solidFill>
                            <a:srgbClr val="C00000"/>
                          </a:solidFill>
                        </a:rPr>
                        <a:t>说明</a:t>
                      </a:r>
                    </a:p>
                  </a:txBody>
                  <a:tcPr/>
                </a:tc>
                <a:extLst>
                  <a:ext uri="{0D108BD9-81ED-4DB2-BD59-A6C34878D82A}">
                    <a16:rowId xmlns:a16="http://schemas.microsoft.com/office/drawing/2014/main" val="10000"/>
                  </a:ext>
                </a:extLst>
              </a:tr>
              <a:tr h="370840">
                <a:tc>
                  <a:txBody>
                    <a:bodyPr/>
                    <a:lstStyle/>
                    <a:p>
                      <a:r>
                        <a:rPr lang="en-US" altLang="zh-CN" sz="1800" b="1" dirty="0">
                          <a:solidFill>
                            <a:srgbClr val="FF0000"/>
                          </a:solidFill>
                        </a:rPr>
                        <a:t>-e</a:t>
                      </a:r>
                      <a:endParaRPr lang="zh-CN" altLang="en-US" sz="1800" b="1" dirty="0">
                        <a:solidFill>
                          <a:srgbClr val="FF0000"/>
                        </a:solidFill>
                      </a:endParaRPr>
                    </a:p>
                  </a:txBody>
                  <a:tcPr/>
                </a:tc>
                <a:tc>
                  <a:txBody>
                    <a:bodyPr/>
                    <a:lstStyle/>
                    <a:p>
                      <a:r>
                        <a:rPr lang="zh-CN" altLang="en-US" sz="1800" dirty="0"/>
                        <a:t>显示所有进程，等价于 </a:t>
                      </a:r>
                      <a:r>
                        <a:rPr lang="en-US" altLang="zh-CN" sz="1800" dirty="0"/>
                        <a:t>-A</a:t>
                      </a:r>
                      <a:endParaRPr lang="zh-CN" altLang="en-US" sz="1800" dirty="0"/>
                    </a:p>
                  </a:txBody>
                  <a:tcPr/>
                </a:tc>
                <a:extLst>
                  <a:ext uri="{0D108BD9-81ED-4DB2-BD59-A6C34878D82A}">
                    <a16:rowId xmlns:a16="http://schemas.microsoft.com/office/drawing/2014/main" val="10001"/>
                  </a:ext>
                </a:extLst>
              </a:tr>
              <a:tr h="185420">
                <a:tc>
                  <a:txBody>
                    <a:bodyPr/>
                    <a:lstStyle/>
                    <a:p>
                      <a:r>
                        <a:rPr lang="en-US" altLang="zh-CN" sz="1800" b="1" dirty="0">
                          <a:solidFill>
                            <a:srgbClr val="FF0000"/>
                          </a:solidFill>
                        </a:rPr>
                        <a:t>-f</a:t>
                      </a:r>
                      <a:endParaRPr lang="zh-CN" altLang="en-US" sz="1800" b="1" dirty="0">
                        <a:solidFill>
                          <a:srgbClr val="FF0000"/>
                        </a:solidFill>
                      </a:endParaRPr>
                    </a:p>
                  </a:txBody>
                  <a:tcPr/>
                </a:tc>
                <a:tc>
                  <a:txBody>
                    <a:bodyPr/>
                    <a:lstStyle/>
                    <a:p>
                      <a:r>
                        <a:rPr lang="zh-CN" altLang="en-US" sz="1800" dirty="0"/>
                        <a:t>完全（</a:t>
                      </a:r>
                      <a:r>
                        <a:rPr lang="en-US" altLang="zh-CN" sz="1800" dirty="0"/>
                        <a:t>FULL</a:t>
                      </a:r>
                      <a:r>
                        <a:rPr lang="zh-CN" altLang="en-US" sz="1800" dirty="0"/>
                        <a:t>）显示，增加显示用户名、</a:t>
                      </a:r>
                      <a:r>
                        <a:rPr lang="en-US" altLang="zh-CN" sz="1800" dirty="0"/>
                        <a:t>PPID</a:t>
                      </a:r>
                      <a:r>
                        <a:rPr lang="zh-CN" altLang="en-US" sz="1800" dirty="0"/>
                        <a:t>、进程起始时间</a:t>
                      </a:r>
                    </a:p>
                  </a:txBody>
                  <a:tcPr/>
                </a:tc>
                <a:extLst>
                  <a:ext uri="{0D108BD9-81ED-4DB2-BD59-A6C34878D82A}">
                    <a16:rowId xmlns:a16="http://schemas.microsoft.com/office/drawing/2014/main" val="10002"/>
                  </a:ext>
                </a:extLst>
              </a:tr>
              <a:tr h="185420">
                <a:tc>
                  <a:txBody>
                    <a:bodyPr/>
                    <a:lstStyle/>
                    <a:p>
                      <a:r>
                        <a:rPr lang="en-US" altLang="zh-CN" sz="1800" b="1" dirty="0">
                          <a:solidFill>
                            <a:srgbClr val="002060"/>
                          </a:solidFill>
                        </a:rPr>
                        <a:t> f/-H</a:t>
                      </a:r>
                      <a:endParaRPr lang="zh-CN" altLang="en-US" sz="1800" b="1" dirty="0">
                        <a:solidFill>
                          <a:srgbClr val="002060"/>
                        </a:solidFill>
                      </a:endParaRPr>
                    </a:p>
                  </a:txBody>
                  <a:tcPr/>
                </a:tc>
                <a:tc>
                  <a:txBody>
                    <a:bodyPr/>
                    <a:lstStyle/>
                    <a:p>
                      <a:r>
                        <a:rPr lang="zh-CN" altLang="en-US" sz="1800" dirty="0"/>
                        <a:t>显示进程树，等价于 </a:t>
                      </a:r>
                      <a:r>
                        <a:rPr lang="en-US" altLang="zh-CN" sz="1800" dirty="0"/>
                        <a:t>--forest</a:t>
                      </a:r>
                      <a:endParaRPr lang="zh-CN" altLang="en-US" sz="1800" dirty="0"/>
                    </a:p>
                  </a:txBody>
                  <a:tcPr/>
                </a:tc>
                <a:extLst>
                  <a:ext uri="{0D108BD9-81ED-4DB2-BD59-A6C34878D82A}">
                    <a16:rowId xmlns:a16="http://schemas.microsoft.com/office/drawing/2014/main" val="10003"/>
                  </a:ext>
                </a:extLst>
              </a:tr>
              <a:tr h="123613">
                <a:tc>
                  <a:txBody>
                    <a:bodyPr/>
                    <a:lstStyle/>
                    <a:p>
                      <a:r>
                        <a:rPr lang="en-US" altLang="zh-CN" sz="1800" b="1" dirty="0">
                          <a:solidFill>
                            <a:srgbClr val="FF0000"/>
                          </a:solidFill>
                        </a:rPr>
                        <a:t> a</a:t>
                      </a:r>
                      <a:endParaRPr lang="zh-CN" altLang="en-US" sz="1800" b="1" dirty="0">
                        <a:solidFill>
                          <a:srgbClr val="FF0000"/>
                        </a:solidFill>
                      </a:endParaRPr>
                    </a:p>
                  </a:txBody>
                  <a:tcPr/>
                </a:tc>
                <a:tc>
                  <a:txBody>
                    <a:bodyPr/>
                    <a:lstStyle/>
                    <a:p>
                      <a:r>
                        <a:rPr lang="zh-CN" altLang="en-US" sz="1800" dirty="0"/>
                        <a:t>显示终端上的所有进程，包括其他用户的进程</a:t>
                      </a:r>
                    </a:p>
                  </a:txBody>
                  <a:tcPr/>
                </a:tc>
                <a:extLst>
                  <a:ext uri="{0D108BD9-81ED-4DB2-BD59-A6C34878D82A}">
                    <a16:rowId xmlns:a16="http://schemas.microsoft.com/office/drawing/2014/main" val="10004"/>
                  </a:ext>
                </a:extLst>
              </a:tr>
              <a:tr h="242147">
                <a:tc>
                  <a:txBody>
                    <a:bodyPr/>
                    <a:lstStyle/>
                    <a:p>
                      <a:r>
                        <a:rPr lang="en-US" altLang="zh-CN" sz="1800" b="1" dirty="0">
                          <a:solidFill>
                            <a:srgbClr val="FF0000"/>
                          </a:solidFill>
                        </a:rPr>
                        <a:t> x</a:t>
                      </a:r>
                      <a:endParaRPr lang="zh-CN" altLang="en-US" sz="1800" b="1" dirty="0">
                        <a:solidFill>
                          <a:srgbClr val="FF0000"/>
                        </a:solidFill>
                      </a:endParaRPr>
                    </a:p>
                  </a:txBody>
                  <a:tcPr/>
                </a:tc>
                <a:tc>
                  <a:txBody>
                    <a:bodyPr/>
                    <a:lstStyle/>
                    <a:p>
                      <a:r>
                        <a:rPr lang="zh-CN" altLang="en-US" sz="1800" dirty="0"/>
                        <a:t>显示没有控制终端的进程</a:t>
                      </a:r>
                    </a:p>
                  </a:txBody>
                  <a:tcPr/>
                </a:tc>
                <a:extLst>
                  <a:ext uri="{0D108BD9-81ED-4DB2-BD59-A6C34878D82A}">
                    <a16:rowId xmlns:a16="http://schemas.microsoft.com/office/drawing/2014/main" val="10005"/>
                  </a:ext>
                </a:extLst>
              </a:tr>
              <a:tr h="123613">
                <a:tc>
                  <a:txBody>
                    <a:bodyPr/>
                    <a:lstStyle/>
                    <a:p>
                      <a:r>
                        <a:rPr lang="en-US" altLang="zh-CN" sz="1800" b="1" baseline="0" dirty="0">
                          <a:solidFill>
                            <a:srgbClr val="FF0000"/>
                          </a:solidFill>
                        </a:rPr>
                        <a:t> u</a:t>
                      </a:r>
                      <a:endParaRPr lang="zh-CN" altLang="en-US" sz="1800" b="1" dirty="0">
                        <a:solidFill>
                          <a:srgbClr val="FF0000"/>
                        </a:solidFill>
                      </a:endParaRPr>
                    </a:p>
                  </a:txBody>
                  <a:tcPr/>
                </a:tc>
                <a:tc>
                  <a:txBody>
                    <a:bodyPr/>
                    <a:lstStyle/>
                    <a:p>
                      <a:r>
                        <a:rPr lang="zh-CN" altLang="en-US" sz="1800" dirty="0"/>
                        <a:t>面向用户的显示格式，增加显示用户名，进程起始时间，</a:t>
                      </a:r>
                      <a:r>
                        <a:rPr lang="en-US" altLang="zh-CN" sz="1800" dirty="0"/>
                        <a:t>CPU </a:t>
                      </a:r>
                      <a:r>
                        <a:rPr lang="zh-CN" altLang="en-US" sz="1800" dirty="0"/>
                        <a:t>和内存占用百分比等信息</a:t>
                      </a:r>
                    </a:p>
                  </a:txBody>
                  <a:tcPr/>
                </a:tc>
                <a:extLst>
                  <a:ext uri="{0D108BD9-81ED-4DB2-BD59-A6C34878D82A}">
                    <a16:rowId xmlns:a16="http://schemas.microsoft.com/office/drawing/2014/main" val="10006"/>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1" dirty="0">
                          <a:solidFill>
                            <a:srgbClr val="FF0000"/>
                          </a:solidFill>
                        </a:rPr>
                        <a:t>-u &lt;username&gt;</a:t>
                      </a:r>
                      <a:endParaRPr lang="zh-CN" altLang="en-US" sz="1800" b="1" dirty="0">
                        <a:solidFill>
                          <a:srgbClr val="FF0000"/>
                        </a:solidFill>
                      </a:endParaRPr>
                    </a:p>
                  </a:txBody>
                  <a:tcPr/>
                </a:tc>
                <a:tc>
                  <a:txBody>
                    <a:bodyPr/>
                    <a:lstStyle/>
                    <a:p>
                      <a:r>
                        <a:rPr lang="zh-CN" altLang="en-US" sz="1800" dirty="0"/>
                        <a:t>仅显示指定用户的进程</a:t>
                      </a:r>
                    </a:p>
                  </a:txBody>
                  <a:tcPr/>
                </a:tc>
                <a:extLst>
                  <a:ext uri="{0D108BD9-81ED-4DB2-BD59-A6C34878D82A}">
                    <a16:rowId xmlns:a16="http://schemas.microsoft.com/office/drawing/2014/main" val="10007"/>
                  </a:ext>
                </a:extLst>
              </a:tr>
              <a:tr h="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1" dirty="0">
                          <a:solidFill>
                            <a:srgbClr val="002060"/>
                          </a:solidFill>
                        </a:rPr>
                        <a:t>l/-l</a:t>
                      </a:r>
                      <a:endParaRPr lang="zh-CN" altLang="en-US" sz="1800" b="1" dirty="0">
                        <a:solidFill>
                          <a:srgbClr val="002060"/>
                        </a:solidFill>
                      </a:endParaRPr>
                    </a:p>
                  </a:txBody>
                  <a:tcPr/>
                </a:tc>
                <a:tc>
                  <a:txBody>
                    <a:bodyPr/>
                    <a:lstStyle/>
                    <a:p>
                      <a:r>
                        <a:rPr lang="zh-CN" altLang="en-US" sz="1800" dirty="0"/>
                        <a:t>长格式显示，增加显示进程的</a:t>
                      </a:r>
                      <a:r>
                        <a:rPr lang="en-US" altLang="zh-CN" sz="1800" dirty="0"/>
                        <a:t>UID</a:t>
                      </a:r>
                      <a:r>
                        <a:rPr lang="zh-CN" altLang="en-US" sz="1800" dirty="0"/>
                        <a:t>、</a:t>
                      </a:r>
                      <a:r>
                        <a:rPr lang="en-US" altLang="zh-CN" sz="1800" dirty="0"/>
                        <a:t>PPID</a:t>
                      </a:r>
                      <a:r>
                        <a:rPr lang="zh-CN" altLang="en-US" sz="1800" dirty="0"/>
                        <a:t>和优先权值</a:t>
                      </a:r>
                    </a:p>
                  </a:txBody>
                  <a:tcPr/>
                </a:tc>
                <a:extLst>
                  <a:ext uri="{0D108BD9-81ED-4DB2-BD59-A6C34878D82A}">
                    <a16:rowId xmlns:a16="http://schemas.microsoft.com/office/drawing/2014/main" val="10008"/>
                  </a:ext>
                </a:extLst>
              </a:tr>
              <a:tr h="273050">
                <a:tc>
                  <a:txBody>
                    <a:bodyPr/>
                    <a:lstStyle/>
                    <a:p>
                      <a:r>
                        <a:rPr lang="en-US" altLang="zh-CN" sz="1800" b="1" dirty="0">
                          <a:solidFill>
                            <a:srgbClr val="002060"/>
                          </a:solidFill>
                        </a:rPr>
                        <a:t>w[w]/-w[w]</a:t>
                      </a:r>
                      <a:endParaRPr lang="zh-CN" altLang="en-US" sz="1800" b="1" dirty="0">
                        <a:solidFill>
                          <a:srgbClr val="002060"/>
                        </a:solidFill>
                      </a:endParaRPr>
                    </a:p>
                  </a:txBody>
                  <a:tcPr/>
                </a:tc>
                <a:tc>
                  <a:txBody>
                    <a:bodyPr/>
                    <a:lstStyle/>
                    <a:p>
                      <a:r>
                        <a:rPr lang="zh-CN" altLang="en-US" sz="1800" dirty="0"/>
                        <a:t>加宽显示，通常用于显示完整的命令行</a:t>
                      </a:r>
                    </a:p>
                  </a:txBody>
                  <a:tcPr/>
                </a:tc>
                <a:extLst>
                  <a:ext uri="{0D108BD9-81ED-4DB2-BD59-A6C34878D82A}">
                    <a16:rowId xmlns:a16="http://schemas.microsoft.com/office/drawing/2014/main" val="10009"/>
                  </a:ext>
                </a:extLst>
              </a:tr>
              <a:tr h="18288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1" dirty="0">
                          <a:solidFill>
                            <a:srgbClr val="FF0000"/>
                          </a:solidFill>
                        </a:rPr>
                        <a:t>o/-o &lt;format&gt;</a:t>
                      </a:r>
                      <a:endParaRPr lang="zh-CN" altLang="en-US" sz="1800" b="1" dirty="0">
                        <a:solidFill>
                          <a:srgbClr val="FF0000"/>
                        </a:solidFill>
                      </a:endParaRPr>
                    </a:p>
                  </a:txBody>
                  <a:tcPr/>
                </a:tc>
                <a:tc>
                  <a:txBody>
                    <a:bodyPr/>
                    <a:lstStyle/>
                    <a:p>
                      <a:r>
                        <a:rPr lang="zh-CN" altLang="en-US" sz="1800" dirty="0"/>
                        <a:t>由用户自定义输出列</a:t>
                      </a:r>
                    </a:p>
                  </a:txBody>
                  <a:tcPr/>
                </a:tc>
                <a:extLst>
                  <a:ext uri="{0D108BD9-81ED-4DB2-BD59-A6C34878D82A}">
                    <a16:rowId xmlns:a16="http://schemas.microsoft.com/office/drawing/2014/main" val="10010"/>
                  </a:ext>
                </a:extLst>
              </a:tr>
              <a:tr h="18288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1" dirty="0">
                          <a:solidFill>
                            <a:srgbClr val="FF0000"/>
                          </a:solidFill>
                        </a:rPr>
                        <a:t>--sort &lt;order&gt;</a:t>
                      </a:r>
                      <a:endParaRPr lang="zh-CN" altLang="en-US" sz="1800" b="1" dirty="0">
                        <a:solidFill>
                          <a:srgbClr val="FF0000"/>
                        </a:solidFill>
                      </a:endParaRPr>
                    </a:p>
                  </a:txBody>
                  <a:tcPr/>
                </a:tc>
                <a:tc>
                  <a:txBody>
                    <a:bodyPr/>
                    <a:lstStyle/>
                    <a:p>
                      <a:r>
                        <a:rPr lang="zh-CN" altLang="en-US" sz="1800" dirty="0"/>
                        <a:t>指定按哪</a:t>
                      </a:r>
                      <a:r>
                        <a:rPr lang="en-US" altLang="zh-CN" sz="1800" dirty="0"/>
                        <a:t>/</a:t>
                      </a:r>
                      <a:r>
                        <a:rPr lang="zh-CN" altLang="en-US" sz="1800" dirty="0"/>
                        <a:t>哪些列排序，</a:t>
                      </a:r>
                      <a:r>
                        <a:rPr lang="en-US" altLang="zh-CN" sz="1800" dirty="0"/>
                        <a:t>order</a:t>
                      </a:r>
                      <a:r>
                        <a:rPr lang="zh-CN" altLang="en-US" sz="1800" dirty="0"/>
                        <a:t>格式为：</a:t>
                      </a:r>
                      <a:r>
                        <a:rPr lang="en-US" altLang="zh-CN" sz="1800" dirty="0"/>
                        <a:t>[+|-]key[,[+|-]key[,...]]</a:t>
                      </a:r>
                      <a:endParaRPr lang="zh-CN" altLang="en-US" sz="1800" dirty="0"/>
                    </a:p>
                  </a:txBody>
                  <a:tcPr/>
                </a:tc>
                <a:extLst>
                  <a:ext uri="{0D108BD9-81ED-4DB2-BD59-A6C34878D82A}">
                    <a16:rowId xmlns:a16="http://schemas.microsoft.com/office/drawing/2014/main" val="10011"/>
                  </a:ext>
                </a:extLst>
              </a:tr>
            </a:tbl>
          </a:graphicData>
        </a:graphic>
      </p:graphicFrame>
    </p:spTree>
  </p:cSld>
  <p:clrMapOvr>
    <a:masterClrMapping/>
  </p:clrMapOvr>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ps</a:t>
            </a:r>
            <a:r>
              <a:rPr lang="zh-CN" altLang="en-US" dirty="0"/>
              <a:t>命令使用举例</a:t>
            </a:r>
            <a:r>
              <a:rPr lang="en-US" altLang="zh-CN" dirty="0"/>
              <a:t>1</a:t>
            </a:r>
            <a:endParaRPr lang="zh-CN" altLang="en-US" dirty="0"/>
          </a:p>
        </p:txBody>
      </p:sp>
      <p:sp>
        <p:nvSpPr>
          <p:cNvPr id="3" name="内容占位符 2"/>
          <p:cNvSpPr>
            <a:spLocks noGrp="1"/>
          </p:cNvSpPr>
          <p:nvPr>
            <p:ph idx="1"/>
          </p:nvPr>
        </p:nvSpPr>
        <p:spPr>
          <a:xfrm>
            <a:off x="1331640" y="1556792"/>
            <a:ext cx="5760640" cy="4790157"/>
          </a:xfrm>
        </p:spPr>
        <p:txBody>
          <a:bodyPr/>
          <a:lstStyle/>
          <a:p>
            <a:pPr>
              <a:buNone/>
            </a:pPr>
            <a:r>
              <a:rPr lang="fr-FR" altLang="zh-CN" sz="2800" dirty="0">
                <a:solidFill>
                  <a:srgbClr val="002060"/>
                </a:solidFill>
              </a:rPr>
              <a:t>$ ps -e</a:t>
            </a:r>
          </a:p>
          <a:p>
            <a:pPr>
              <a:buNone/>
            </a:pPr>
            <a:r>
              <a:rPr lang="fr-FR" altLang="zh-CN" sz="2800" dirty="0">
                <a:solidFill>
                  <a:srgbClr val="C00000"/>
                </a:solidFill>
              </a:rPr>
              <a:t>$ ps -ef      </a:t>
            </a:r>
            <a:r>
              <a:rPr lang="en-US" altLang="zh-CN" sz="2800" dirty="0">
                <a:solidFill>
                  <a:srgbClr val="C00000"/>
                </a:solidFill>
                <a:sym typeface="Wingdings" panose="05000000000000000000" pitchFamily="2" charset="2"/>
              </a:rPr>
              <a:t></a:t>
            </a:r>
            <a:r>
              <a:rPr lang="zh-CN" altLang="en-US" sz="2800" dirty="0">
                <a:solidFill>
                  <a:srgbClr val="C00000"/>
                </a:solidFill>
                <a:sym typeface="Wingdings" panose="05000000000000000000" pitchFamily="2" charset="2"/>
              </a:rPr>
              <a:t>查看系统所有的进程</a:t>
            </a:r>
            <a:endParaRPr lang="fr-FR" altLang="zh-CN" sz="2800" dirty="0">
              <a:solidFill>
                <a:srgbClr val="C00000"/>
              </a:solidFill>
            </a:endParaRPr>
          </a:p>
          <a:p>
            <a:pPr>
              <a:buNone/>
            </a:pPr>
            <a:r>
              <a:rPr lang="fr-FR" altLang="zh-CN" sz="2800" dirty="0">
                <a:solidFill>
                  <a:srgbClr val="002060"/>
                </a:solidFill>
              </a:rPr>
              <a:t>$ ps -eH</a:t>
            </a:r>
          </a:p>
          <a:p>
            <a:pPr>
              <a:buNone/>
            </a:pPr>
            <a:r>
              <a:rPr lang="fr-FR" altLang="zh-CN" sz="2800" dirty="0">
                <a:solidFill>
                  <a:srgbClr val="002060"/>
                </a:solidFill>
              </a:rPr>
              <a:t>$ ps -elw</a:t>
            </a:r>
          </a:p>
          <a:p>
            <a:pPr>
              <a:buNone/>
            </a:pPr>
            <a:endParaRPr lang="fr-FR" altLang="zh-CN" sz="2800" dirty="0">
              <a:solidFill>
                <a:srgbClr val="002060"/>
              </a:solidFill>
            </a:endParaRPr>
          </a:p>
          <a:p>
            <a:pPr>
              <a:buNone/>
            </a:pPr>
            <a:r>
              <a:rPr lang="fr-FR" altLang="zh-CN" sz="2800" dirty="0">
                <a:solidFill>
                  <a:srgbClr val="002060"/>
                </a:solidFill>
              </a:rPr>
              <a:t>$ ps au</a:t>
            </a:r>
          </a:p>
          <a:p>
            <a:pPr>
              <a:buNone/>
            </a:pPr>
            <a:r>
              <a:rPr lang="fr-FR" altLang="zh-CN" sz="2800" dirty="0">
                <a:solidFill>
                  <a:srgbClr val="C00000"/>
                </a:solidFill>
              </a:rPr>
              <a:t>$ ps aux </a:t>
            </a:r>
            <a:r>
              <a:rPr lang="en-US" altLang="zh-CN" sz="2800" dirty="0">
                <a:solidFill>
                  <a:srgbClr val="C00000"/>
                </a:solidFill>
              </a:rPr>
              <a:t>   </a:t>
            </a:r>
            <a:r>
              <a:rPr lang="en-US" altLang="zh-CN" sz="2800" dirty="0">
                <a:solidFill>
                  <a:srgbClr val="C00000"/>
                </a:solidFill>
                <a:sym typeface="Wingdings" panose="05000000000000000000" pitchFamily="2" charset="2"/>
              </a:rPr>
              <a:t></a:t>
            </a:r>
            <a:r>
              <a:rPr lang="zh-CN" altLang="en-US" sz="2800" dirty="0">
                <a:solidFill>
                  <a:srgbClr val="C00000"/>
                </a:solidFill>
                <a:sym typeface="Wingdings" panose="05000000000000000000" pitchFamily="2" charset="2"/>
              </a:rPr>
              <a:t>查看系统所有的进程</a:t>
            </a:r>
            <a:endParaRPr lang="fr-FR" altLang="zh-CN" sz="2800" dirty="0">
              <a:solidFill>
                <a:srgbClr val="C00000"/>
              </a:solidFill>
            </a:endParaRPr>
          </a:p>
          <a:p>
            <a:pPr>
              <a:buNone/>
            </a:pPr>
            <a:r>
              <a:rPr lang="fr-FR" altLang="zh-CN" sz="2800" dirty="0">
                <a:solidFill>
                  <a:srgbClr val="002060"/>
                </a:solidFill>
              </a:rPr>
              <a:t>$ ps axf</a:t>
            </a:r>
          </a:p>
          <a:p>
            <a:pPr>
              <a:buNone/>
            </a:pPr>
            <a:r>
              <a:rPr lang="fr-FR" altLang="zh-CN" sz="2800" dirty="0">
                <a:solidFill>
                  <a:srgbClr val="002060"/>
                </a:solidFill>
              </a:rPr>
              <a:t>$ ps auxw</a:t>
            </a:r>
            <a:endParaRPr lang="zh-CN" altLang="en-US" sz="2800" dirty="0">
              <a:solidFill>
                <a:srgbClr val="002060"/>
              </a:solidFill>
            </a:endParaRPr>
          </a:p>
        </p:txBody>
      </p:sp>
    </p:spTree>
  </p:cSld>
  <p:clrMapOvr>
    <a:masterClrMapping/>
  </p:clrMapOvr>
  <p:timing>
    <p:tnLst>
      <p:par>
        <p:cT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b="1" dirty="0">
                <a:solidFill>
                  <a:srgbClr val="0000CC"/>
                </a:solidFill>
              </a:rPr>
              <a:t>ps</a:t>
            </a:r>
            <a:r>
              <a:rPr kumimoji="1" lang="zh-CN" altLang="en-US" dirty="0"/>
              <a:t>常见的输出标记</a:t>
            </a:r>
            <a:endParaRPr lang="zh-CN" altLang="en-US" dirty="0"/>
          </a:p>
        </p:txBody>
      </p:sp>
      <p:graphicFrame>
        <p:nvGraphicFramePr>
          <p:cNvPr id="7" name="Group 92"/>
          <p:cNvGraphicFramePr>
            <a:graphicFrameLocks noGrp="1"/>
          </p:cNvGraphicFramePr>
          <p:nvPr>
            <p:extLst>
              <p:ext uri="{D42A27DB-BD31-4B8C-83A1-F6EECF244321}">
                <p14:modId xmlns:p14="http://schemas.microsoft.com/office/powerpoint/2010/main" val="1219812128"/>
              </p:ext>
            </p:extLst>
          </p:nvPr>
        </p:nvGraphicFramePr>
        <p:xfrm>
          <a:off x="224185" y="3429000"/>
          <a:ext cx="8695630" cy="3200400"/>
        </p:xfrm>
        <a:graphic>
          <a:graphicData uri="http://schemas.openxmlformats.org/drawingml/2006/table">
            <a:tbl>
              <a:tblPr>
                <a:tableStyleId>{3C2FFA5D-87B4-456A-9821-1D502468CF0F}</a:tableStyleId>
              </a:tblPr>
              <a:tblGrid>
                <a:gridCol w="957993">
                  <a:extLst>
                    <a:ext uri="{9D8B030D-6E8A-4147-A177-3AD203B41FA5}">
                      <a16:colId xmlns:a16="http://schemas.microsoft.com/office/drawing/2014/main" val="20000"/>
                    </a:ext>
                  </a:extLst>
                </a:gridCol>
                <a:gridCol w="2758088">
                  <a:extLst>
                    <a:ext uri="{9D8B030D-6E8A-4147-A177-3AD203B41FA5}">
                      <a16:colId xmlns:a16="http://schemas.microsoft.com/office/drawing/2014/main" val="20001"/>
                    </a:ext>
                  </a:extLst>
                </a:gridCol>
                <a:gridCol w="1226307">
                  <a:extLst>
                    <a:ext uri="{9D8B030D-6E8A-4147-A177-3AD203B41FA5}">
                      <a16:colId xmlns:a16="http://schemas.microsoft.com/office/drawing/2014/main" val="20002"/>
                    </a:ext>
                  </a:extLst>
                </a:gridCol>
                <a:gridCol w="3753242">
                  <a:extLst>
                    <a:ext uri="{9D8B030D-6E8A-4147-A177-3AD203B41FA5}">
                      <a16:colId xmlns:a16="http://schemas.microsoft.com/office/drawing/2014/main" val="20003"/>
                    </a:ext>
                  </a:extLst>
                </a:gridCol>
              </a:tblGrid>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UID</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用户 </a:t>
                      </a:r>
                      <a:r>
                        <a:rPr kumimoji="1" lang="en-US" altLang="zh-CN" sz="2000" u="none" strike="noStrike" cap="none" normalizeH="0" baseline="0" dirty="0">
                          <a:ln>
                            <a:noFill/>
                          </a:ln>
                          <a:solidFill>
                            <a:srgbClr val="FF0000"/>
                          </a:solidFill>
                          <a:effectLst/>
                        </a:rPr>
                        <a:t>ID</a:t>
                      </a:r>
                      <a:endParaRPr kumimoji="1" lang="en-US" altLang="zh-CN"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START</a:t>
                      </a:r>
                      <a:endParaRPr kumimoji="1" lang="zh-CN" altLang="en-US" sz="2400" b="1" i="0" u="none" strike="noStrike" kern="1200" cap="none" normalizeH="0" baseline="0" dirty="0">
                        <a:ln>
                          <a:noFill/>
                        </a:ln>
                        <a:solidFill>
                          <a:srgbClr val="0000CC"/>
                        </a:solidFill>
                        <a:effectLst/>
                        <a:latin typeface="Courier New" pitchFamily="49" charset="0"/>
                        <a:ea typeface="宋体" charset="-122"/>
                        <a:cs typeface="+mn-cs"/>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a:ln>
                            <a:noFill/>
                          </a:ln>
                          <a:effectLst/>
                        </a:rPr>
                        <a:t>进程启动时间</a:t>
                      </a:r>
                      <a:endParaRPr kumimoji="1" lang="zh-CN" altLang="en-US" sz="2000" b="0" i="0" u="none" strike="noStrike" cap="none" normalizeH="0" baseline="0">
                        <a:ln>
                          <a:noFill/>
                        </a:ln>
                        <a:solidFill>
                          <a:schemeClr val="tx1"/>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0"/>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USER</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effectLst/>
                        </a:rPr>
                        <a:t>用户名</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TIME</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执行时间</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1"/>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PID</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进程 </a:t>
                      </a:r>
                      <a:r>
                        <a:rPr kumimoji="1" lang="en-US" altLang="zh-CN" sz="2000" u="none" strike="noStrike" cap="none" normalizeH="0" baseline="0" dirty="0">
                          <a:ln>
                            <a:noFill/>
                          </a:ln>
                          <a:solidFill>
                            <a:srgbClr val="FF0000"/>
                          </a:solidFill>
                          <a:effectLst/>
                        </a:rPr>
                        <a:t>ID</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STAT</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进程状态</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2"/>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PPID</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父进程的 </a:t>
                      </a:r>
                      <a:r>
                        <a:rPr kumimoji="1" lang="en-US" altLang="zh-CN" sz="2000" u="none" strike="noStrike" cap="none" normalizeH="0" baseline="0" dirty="0">
                          <a:ln>
                            <a:noFill/>
                          </a:ln>
                          <a:solidFill>
                            <a:srgbClr val="FF0000"/>
                          </a:solidFill>
                          <a:effectLst/>
                        </a:rPr>
                        <a:t>ID</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NI</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solidFill>
                            <a:srgbClr val="FF0000"/>
                          </a:solidFill>
                          <a:effectLst/>
                        </a:rPr>
                        <a:t>优先权值 </a:t>
                      </a:r>
                      <a:r>
                        <a:rPr kumimoji="1" lang="en-US" altLang="zh-CN" sz="2000" u="none" strike="noStrike" cap="none" normalizeH="0" baseline="0" dirty="0">
                          <a:ln>
                            <a:noFill/>
                          </a:ln>
                          <a:solidFill>
                            <a:srgbClr val="FF0000"/>
                          </a:solidFill>
                          <a:effectLst/>
                        </a:rPr>
                        <a:t>/ nice </a:t>
                      </a:r>
                      <a:r>
                        <a:rPr kumimoji="1" lang="zh-CN" altLang="en-US" sz="2000" u="none" strike="noStrike" cap="none" normalizeH="0" baseline="0" dirty="0">
                          <a:ln>
                            <a:noFill/>
                          </a:ln>
                          <a:solidFill>
                            <a:srgbClr val="FF0000"/>
                          </a:solidFill>
                          <a:effectLst/>
                        </a:rPr>
                        <a:t>值</a:t>
                      </a:r>
                      <a:endParaRPr kumimoji="1" lang="zh-CN" altLang="en-US" sz="2000" b="0" i="0" u="none" strike="noStrike" cap="none" normalizeH="0" baseline="0" dirty="0">
                        <a:ln>
                          <a:noFill/>
                        </a:ln>
                        <a:solidFill>
                          <a:srgbClr val="FF0000"/>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3"/>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TTY</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effectLst/>
                        </a:rPr>
                        <a:t>启动进程的终端</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CMD</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a:ln>
                            <a:noFill/>
                          </a:ln>
                          <a:effectLst/>
                        </a:rPr>
                        <a:t>命令名（</a:t>
                      </a:r>
                      <a:r>
                        <a:rPr kumimoji="1" lang="en-US" altLang="zh-CN" sz="2000" u="none" strike="noStrike" cap="none" normalizeH="0" baseline="0">
                          <a:ln>
                            <a:noFill/>
                          </a:ln>
                          <a:effectLst/>
                        </a:rPr>
                        <a:t>COMMAND）</a:t>
                      </a:r>
                      <a:endParaRPr kumimoji="1" lang="zh-CN" altLang="en-US" sz="2000" b="0" i="0" u="none" strike="noStrike" cap="none" normalizeH="0" baseline="0">
                        <a:ln>
                          <a:noFill/>
                        </a:ln>
                        <a:solidFill>
                          <a:schemeClr val="tx1"/>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4"/>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RSS</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effectLst/>
                        </a:rPr>
                        <a:t>进程所用内存块数</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FF0000"/>
                          </a:solidFill>
                          <a:effectLst/>
                          <a:latin typeface="Courier New" pitchFamily="49" charset="0"/>
                          <a:ea typeface="宋体" charset="-122"/>
                          <a:cs typeface="+mn-cs"/>
                        </a:rPr>
                        <a:t>%CPU</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defRPr/>
                      </a:pPr>
                      <a:r>
                        <a:rPr kumimoji="1" lang="zh-CN" altLang="en-US" sz="2000" u="none" strike="noStrike" cap="none" normalizeH="0" baseline="0" dirty="0">
                          <a:ln>
                            <a:noFill/>
                          </a:ln>
                          <a:effectLst/>
                        </a:rPr>
                        <a:t>进程所用</a:t>
                      </a:r>
                      <a:r>
                        <a:rPr kumimoji="1" lang="en-US" altLang="zh-CN" sz="2000" u="none" strike="noStrike" cap="none" normalizeH="0" baseline="0" dirty="0">
                          <a:ln>
                            <a:noFill/>
                          </a:ln>
                          <a:solidFill>
                            <a:srgbClr val="FF0000"/>
                          </a:solidFill>
                          <a:effectLst/>
                        </a:rPr>
                        <a:t>CPU</a:t>
                      </a:r>
                      <a:r>
                        <a:rPr kumimoji="1" lang="zh-CN" altLang="en-US" sz="2000" u="none" strike="noStrike" cap="none" normalizeH="0" baseline="0" dirty="0">
                          <a:ln>
                            <a:noFill/>
                          </a:ln>
                          <a:solidFill>
                            <a:srgbClr val="FF0000"/>
                          </a:solidFill>
                          <a:effectLst/>
                        </a:rPr>
                        <a:t>时间百分比</a:t>
                      </a:r>
                      <a:r>
                        <a:rPr kumimoji="1" lang="en-US" altLang="zh-CN" sz="2000" b="1" i="0" u="none" strike="noStrike" kern="1200" cap="none" normalizeH="0" baseline="0" dirty="0">
                          <a:ln>
                            <a:noFill/>
                          </a:ln>
                          <a:solidFill>
                            <a:srgbClr val="0000CC"/>
                          </a:solidFill>
                          <a:effectLst/>
                          <a:latin typeface="Courier New" pitchFamily="49" charset="0"/>
                          <a:ea typeface="宋体" charset="-122"/>
                          <a:cs typeface="+mn-cs"/>
                        </a:rPr>
                        <a:t>(</a:t>
                      </a:r>
                      <a:r>
                        <a:rPr kumimoji="1" lang="en-US" altLang="zh-CN" sz="2000" b="1" i="0" u="none" strike="noStrike" kern="1200" cap="none" normalizeH="0" baseline="0" dirty="0" err="1">
                          <a:ln>
                            <a:noFill/>
                          </a:ln>
                          <a:solidFill>
                            <a:srgbClr val="0000CC"/>
                          </a:solidFill>
                          <a:effectLst/>
                          <a:latin typeface="Courier New" pitchFamily="49" charset="0"/>
                          <a:ea typeface="宋体" charset="-122"/>
                          <a:cs typeface="+mn-cs"/>
                        </a:rPr>
                        <a:t>pcpu</a:t>
                      </a:r>
                      <a:r>
                        <a:rPr kumimoji="1" lang="en-US" altLang="zh-CN" sz="2000" b="1" i="0" u="none" strike="noStrike" kern="1200" cap="none" normalizeH="0" baseline="0" dirty="0">
                          <a:ln>
                            <a:noFill/>
                          </a:ln>
                          <a:solidFill>
                            <a:srgbClr val="0000CC"/>
                          </a:solidFill>
                          <a:effectLst/>
                          <a:latin typeface="Courier New" pitchFamily="49" charset="0"/>
                          <a:ea typeface="宋体" charset="-122"/>
                          <a:cs typeface="+mn-cs"/>
                        </a:rPr>
                        <a:t>)</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5"/>
                  </a:ext>
                </a:extLst>
              </a:tr>
              <a:tr h="0">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VSZ</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000" u="none" strike="noStrike" cap="none" normalizeH="0" baseline="0" dirty="0">
                          <a:ln>
                            <a:noFill/>
                          </a:ln>
                          <a:effectLst/>
                        </a:rPr>
                        <a:t>进程所用虚拟内存块数</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pPr>
                      <a:r>
                        <a:rPr kumimoji="1" lang="zh-CN" altLang="en-US" sz="2400" b="1" i="0" u="none" strike="noStrike" kern="1200" cap="none" normalizeH="0" baseline="0" dirty="0">
                          <a:ln>
                            <a:noFill/>
                          </a:ln>
                          <a:solidFill>
                            <a:srgbClr val="0000CC"/>
                          </a:solidFill>
                          <a:effectLst/>
                          <a:latin typeface="Courier New" pitchFamily="49" charset="0"/>
                          <a:ea typeface="宋体" charset="-122"/>
                          <a:cs typeface="+mn-cs"/>
                        </a:rPr>
                        <a:t>%</a:t>
                      </a:r>
                      <a:r>
                        <a:rPr kumimoji="1" lang="en-US" altLang="zh-CN" sz="2400" b="1" i="0" u="none" strike="noStrike" kern="1200" cap="none" normalizeH="0" baseline="0" dirty="0">
                          <a:ln>
                            <a:noFill/>
                          </a:ln>
                          <a:solidFill>
                            <a:srgbClr val="0000CC"/>
                          </a:solidFill>
                          <a:effectLst/>
                          <a:latin typeface="Courier New" pitchFamily="49" charset="0"/>
                          <a:ea typeface="宋体" charset="-122"/>
                          <a:cs typeface="+mn-cs"/>
                        </a:rPr>
                        <a:t>MEM</a:t>
                      </a:r>
                    </a:p>
                  </a:txBody>
                  <a:tcPr horzOverflow="overflow"/>
                </a:tc>
                <a:tc>
                  <a:txBody>
                    <a:bodyPr/>
                    <a:lstStyle/>
                    <a:p>
                      <a:pPr marL="0" marR="0" lvl="0" indent="0" algn="l" defTabSz="914400" rtl="0" eaLnBrk="1" fontAlgn="base" latinLnBrk="0" hangingPunct="1">
                        <a:lnSpc>
                          <a:spcPct val="100000"/>
                        </a:lnSpc>
                        <a:spcBef>
                          <a:spcPts val="0"/>
                        </a:spcBef>
                        <a:spcAft>
                          <a:spcPct val="0"/>
                        </a:spcAft>
                        <a:buClr>
                          <a:schemeClr val="folHlink"/>
                        </a:buClr>
                        <a:buSzPct val="60000"/>
                        <a:buFont typeface="Wingdings" pitchFamily="2" charset="2"/>
                        <a:buNone/>
                        <a:tabLst/>
                        <a:defRPr/>
                      </a:pPr>
                      <a:r>
                        <a:rPr kumimoji="1" lang="zh-CN" altLang="en-US" sz="2000" u="none" strike="noStrike" cap="none" normalizeH="0" baseline="0" dirty="0">
                          <a:ln>
                            <a:noFill/>
                          </a:ln>
                          <a:effectLst/>
                        </a:rPr>
                        <a:t>进程所有</a:t>
                      </a:r>
                      <a:r>
                        <a:rPr kumimoji="1" lang="en-US" altLang="zh-CN" sz="2000" u="none" strike="noStrike" cap="none" normalizeH="0" baseline="0" dirty="0">
                          <a:ln>
                            <a:noFill/>
                          </a:ln>
                          <a:effectLst/>
                        </a:rPr>
                        <a:t>MEM</a:t>
                      </a:r>
                      <a:r>
                        <a:rPr kumimoji="1" lang="zh-CN" altLang="en-US" sz="2000" u="none" strike="noStrike" cap="none" normalizeH="0" baseline="0" dirty="0">
                          <a:ln>
                            <a:noFill/>
                          </a:ln>
                          <a:effectLst/>
                        </a:rPr>
                        <a:t>百分比</a:t>
                      </a:r>
                      <a:r>
                        <a:rPr kumimoji="1" lang="en-US" altLang="zh-CN" sz="2000" b="1" i="0" u="none" strike="noStrike" kern="1200" cap="none" normalizeH="0" baseline="0" dirty="0">
                          <a:ln>
                            <a:noFill/>
                          </a:ln>
                          <a:solidFill>
                            <a:srgbClr val="0000CC"/>
                          </a:solidFill>
                          <a:effectLst/>
                          <a:latin typeface="Courier New" pitchFamily="49" charset="0"/>
                          <a:ea typeface="宋体" charset="-122"/>
                          <a:cs typeface="+mn-cs"/>
                        </a:rPr>
                        <a:t>(</a:t>
                      </a:r>
                      <a:r>
                        <a:rPr kumimoji="1" lang="en-US" altLang="zh-CN" sz="2000" b="1" i="0" u="none" strike="noStrike" kern="1200" cap="none" normalizeH="0" baseline="0" dirty="0" err="1">
                          <a:ln>
                            <a:noFill/>
                          </a:ln>
                          <a:solidFill>
                            <a:srgbClr val="0000CC"/>
                          </a:solidFill>
                          <a:effectLst/>
                          <a:latin typeface="Courier New" pitchFamily="49" charset="0"/>
                          <a:ea typeface="宋体" charset="-122"/>
                          <a:cs typeface="+mn-cs"/>
                        </a:rPr>
                        <a:t>pmem</a:t>
                      </a:r>
                      <a:r>
                        <a:rPr kumimoji="1" lang="en-US" altLang="zh-CN" sz="2000" b="1" i="0" u="none" strike="noStrike" kern="1200" cap="none" normalizeH="0" baseline="0" dirty="0">
                          <a:ln>
                            <a:noFill/>
                          </a:ln>
                          <a:solidFill>
                            <a:srgbClr val="0000CC"/>
                          </a:solidFill>
                          <a:effectLst/>
                          <a:latin typeface="Courier New" pitchFamily="49" charset="0"/>
                          <a:ea typeface="宋体" charset="-122"/>
                          <a:cs typeface="+mn-cs"/>
                        </a:rPr>
                        <a:t>)</a:t>
                      </a:r>
                      <a:endParaRPr kumimoji="1" lang="zh-CN" altLang="en-US" sz="2000" b="0" i="0" u="none" strike="noStrike" cap="none" normalizeH="0" baseline="0" dirty="0">
                        <a:ln>
                          <a:noFill/>
                        </a:ln>
                        <a:solidFill>
                          <a:schemeClr val="tx1"/>
                        </a:solidFill>
                        <a:effectLst/>
                        <a:latin typeface="Times New Roman" pitchFamily="18" charset="0"/>
                        <a:ea typeface="黑体" pitchFamily="2" charset="-122"/>
                      </a:endParaRPr>
                    </a:p>
                  </a:txBody>
                  <a:tcPr horzOverflow="overflow"/>
                </a:tc>
                <a:extLst>
                  <a:ext uri="{0D108BD9-81ED-4DB2-BD59-A6C34878D82A}">
                    <a16:rowId xmlns:a16="http://schemas.microsoft.com/office/drawing/2014/main" val="10006"/>
                  </a:ext>
                </a:extLst>
              </a:tr>
            </a:tbl>
          </a:graphicData>
        </a:graphic>
      </p:graphicFrame>
      <p:sp>
        <p:nvSpPr>
          <p:cNvPr id="8" name="Rectangle 3"/>
          <p:cNvSpPr>
            <a:spLocks noChangeArrowheads="1"/>
          </p:cNvSpPr>
          <p:nvPr/>
        </p:nvSpPr>
        <p:spPr bwMode="auto">
          <a:xfrm>
            <a:off x="755576" y="1401944"/>
            <a:ext cx="7924800" cy="1075103"/>
          </a:xfrm>
          <a:prstGeom prst="rect">
            <a:avLst/>
          </a:prstGeom>
          <a:noFill/>
          <a:ln w="9525">
            <a:noFill/>
            <a:miter lim="800000"/>
            <a:headEnd/>
            <a:tailEnd/>
          </a:ln>
          <a:effectLst/>
        </p:spPr>
        <p:txBody>
          <a:bodyPr>
            <a:spAutoFit/>
          </a:bodyPr>
          <a:lstStyle/>
          <a:p>
            <a:pPr>
              <a:lnSpc>
                <a:spcPct val="120000"/>
              </a:lnSpc>
              <a:buClr>
                <a:schemeClr val="hlink"/>
              </a:buClr>
              <a:buFont typeface="Wingdings" pitchFamily="2" charset="2"/>
              <a:buChar char="q"/>
            </a:pPr>
            <a:r>
              <a:rPr lang="en-US" altLang="zh-CN" sz="2800" b="0" dirty="0">
                <a:solidFill>
                  <a:schemeClr val="tx1"/>
                </a:solidFill>
                <a:ea typeface="黑体" pitchFamily="2" charset="-122"/>
              </a:rPr>
              <a:t> </a:t>
            </a:r>
            <a:r>
              <a:rPr lang="en-US" altLang="zh-CN" sz="2800" dirty="0">
                <a:solidFill>
                  <a:srgbClr val="006600"/>
                </a:solidFill>
                <a:latin typeface="Courier New" pitchFamily="49" charset="0"/>
                <a:ea typeface="黑体" pitchFamily="2" charset="-122"/>
              </a:rPr>
              <a:t>ps</a:t>
            </a:r>
            <a:r>
              <a:rPr lang="en-US" altLang="zh-CN" sz="2800" b="0" dirty="0">
                <a:solidFill>
                  <a:schemeClr val="tx1"/>
                </a:solidFill>
                <a:ea typeface="黑体" pitchFamily="2" charset="-122"/>
              </a:rPr>
              <a:t> </a:t>
            </a:r>
            <a:r>
              <a:rPr lang="zh-CN" altLang="en-US" sz="2800" b="0" dirty="0">
                <a:solidFill>
                  <a:schemeClr val="tx1"/>
                </a:solidFill>
                <a:ea typeface="黑体" pitchFamily="2" charset="-122"/>
              </a:rPr>
              <a:t>的输出</a:t>
            </a:r>
            <a:endParaRPr lang="en-US" altLang="zh-CN" sz="2800" b="0" dirty="0">
              <a:solidFill>
                <a:schemeClr val="tx1"/>
              </a:solidFill>
              <a:ea typeface="黑体" pitchFamily="2" charset="-122"/>
            </a:endParaRPr>
          </a:p>
          <a:p>
            <a:pPr marL="914400" lvl="1" indent="-457200">
              <a:lnSpc>
                <a:spcPct val="120000"/>
              </a:lnSpc>
              <a:buClr>
                <a:schemeClr val="hlink"/>
              </a:buClr>
              <a:buFont typeface="Wingdings" panose="05000000000000000000" pitchFamily="2" charset="2"/>
              <a:buChar char="l"/>
            </a:pPr>
            <a:r>
              <a:rPr lang="zh-CN" altLang="en-US" sz="2800" b="0" dirty="0">
                <a:solidFill>
                  <a:schemeClr val="tx1"/>
                </a:solidFill>
                <a:ea typeface="黑体" pitchFamily="2" charset="-122"/>
              </a:rPr>
              <a:t>依赖于用户所给的选项</a:t>
            </a:r>
          </a:p>
        </p:txBody>
      </p:sp>
      <p:pic>
        <p:nvPicPr>
          <p:cNvPr id="3" name="图片 2"/>
          <p:cNvPicPr>
            <a:picLocks noChangeAspect="1"/>
          </p:cNvPicPr>
          <p:nvPr/>
        </p:nvPicPr>
        <p:blipFill rotWithShape="1">
          <a:blip r:embed="rId3"/>
          <a:srcRect t="25322" r="11303" b="8648"/>
          <a:stretch/>
        </p:blipFill>
        <p:spPr>
          <a:xfrm>
            <a:off x="0" y="2634763"/>
            <a:ext cx="9162545" cy="722229"/>
          </a:xfrm>
          <a:prstGeom prst="rect">
            <a:avLst/>
          </a:prstGeom>
        </p:spPr>
      </p:pic>
    </p:spTree>
  </p:cSld>
  <p:clrMapOvr>
    <a:masterClrMapping/>
  </p:clrMapOvr>
  <p:timing>
    <p:tnLst>
      <p:par>
        <p:cT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ps</a:t>
            </a:r>
            <a:r>
              <a:rPr lang="zh-CN" altLang="en-US" dirty="0"/>
              <a:t>命令的进程状态列</a:t>
            </a:r>
          </a:p>
        </p:txBody>
      </p:sp>
      <p:graphicFrame>
        <p:nvGraphicFramePr>
          <p:cNvPr id="7" name="Group 45"/>
          <p:cNvGraphicFramePr>
            <a:graphicFrameLocks noGrp="1"/>
          </p:cNvGraphicFramePr>
          <p:nvPr>
            <p:ph idx="1"/>
            <p:extLst>
              <p:ext uri="{D42A27DB-BD31-4B8C-83A1-F6EECF244321}">
                <p14:modId xmlns:p14="http://schemas.microsoft.com/office/powerpoint/2010/main" val="1682688629"/>
              </p:ext>
            </p:extLst>
          </p:nvPr>
        </p:nvGraphicFramePr>
        <p:xfrm>
          <a:off x="906057" y="2420888"/>
          <a:ext cx="7331885" cy="3840480"/>
        </p:xfrm>
        <a:graphic>
          <a:graphicData uri="http://schemas.openxmlformats.org/drawingml/2006/table">
            <a:tbl>
              <a:tblPr>
                <a:tableStyleId>{284E427A-3D55-4303-BF80-6455036E1DE7}</a:tableStyleId>
              </a:tblPr>
              <a:tblGrid>
                <a:gridCol w="879475">
                  <a:extLst>
                    <a:ext uri="{9D8B030D-6E8A-4147-A177-3AD203B41FA5}">
                      <a16:colId xmlns:a16="http://schemas.microsoft.com/office/drawing/2014/main" val="20000"/>
                    </a:ext>
                  </a:extLst>
                </a:gridCol>
                <a:gridCol w="6452410">
                  <a:extLst>
                    <a:ext uri="{9D8B030D-6E8A-4147-A177-3AD203B41FA5}">
                      <a16:colId xmlns:a16="http://schemas.microsoft.com/office/drawing/2014/main" val="20001"/>
                    </a:ext>
                  </a:extLst>
                </a:gridCol>
              </a:tblGrid>
              <a:tr h="39052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dirty="0">
                          <a:ln>
                            <a:noFill/>
                          </a:ln>
                          <a:solidFill>
                            <a:srgbClr val="0000CC"/>
                          </a:solidFill>
                          <a:effectLst/>
                        </a:rPr>
                        <a:t>R</a:t>
                      </a:r>
                      <a:endParaRPr kumimoji="0" lang="en-US" altLang="zh-CN" sz="2200" b="0" i="0" u="none" strike="noStrike" cap="none" normalizeH="0" baseline="0" dirty="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chemeClr val="tx1"/>
                          </a:solidFill>
                          <a:effectLst/>
                        </a:rPr>
                        <a:t>正在</a:t>
                      </a:r>
                      <a:r>
                        <a:rPr kumimoji="0" lang="zh-CN" altLang="en-US" sz="2200" b="1" u="none" strike="noStrike" cap="none" normalizeH="0" baseline="0" dirty="0">
                          <a:ln>
                            <a:noFill/>
                          </a:ln>
                          <a:solidFill>
                            <a:srgbClr val="FF0000"/>
                          </a:solidFill>
                          <a:effectLst/>
                        </a:rPr>
                        <a:t>运行</a:t>
                      </a:r>
                      <a:r>
                        <a:rPr kumimoji="0" lang="zh-CN" altLang="en-US" sz="2200" b="1" u="none" strike="noStrike" cap="none" normalizeH="0" baseline="0" dirty="0">
                          <a:ln>
                            <a:noFill/>
                          </a:ln>
                          <a:solidFill>
                            <a:schemeClr val="tx1"/>
                          </a:solidFill>
                          <a:effectLst/>
                        </a:rPr>
                        <a:t>或处在运行队列中</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dirty="0">
                          <a:ln>
                            <a:noFill/>
                          </a:ln>
                          <a:solidFill>
                            <a:srgbClr val="0000CC"/>
                          </a:solidFill>
                          <a:effectLst/>
                        </a:rPr>
                        <a:t>S</a:t>
                      </a:r>
                      <a:endParaRPr kumimoji="0" lang="en-US" altLang="zh-CN" sz="2200" b="0" i="0" u="none" strike="noStrike" cap="none" normalizeH="0" baseline="0" dirty="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rgbClr val="FF0000"/>
                          </a:solidFill>
                          <a:effectLst/>
                        </a:rPr>
                        <a:t>休眠，</a:t>
                      </a:r>
                      <a:r>
                        <a:rPr kumimoji="0" lang="zh-CN" altLang="en-US" sz="2200" b="1" u="none" strike="noStrike" cap="none" normalizeH="0" baseline="0" dirty="0">
                          <a:ln>
                            <a:noFill/>
                          </a:ln>
                          <a:solidFill>
                            <a:schemeClr val="tx1"/>
                          </a:solidFill>
                          <a:effectLst/>
                        </a:rPr>
                        <a:t>可以被</a:t>
                      </a:r>
                      <a:r>
                        <a:rPr kumimoji="0" lang="zh-CN" altLang="en-US" sz="2200" b="1" u="none" strike="noStrike" cap="none" normalizeH="0" baseline="0" dirty="0">
                          <a:ln>
                            <a:noFill/>
                          </a:ln>
                          <a:solidFill>
                            <a:srgbClr val="FF0000"/>
                          </a:solidFill>
                          <a:effectLst/>
                        </a:rPr>
                        <a:t>唤醒</a:t>
                      </a:r>
                      <a:endParaRPr kumimoji="0" lang="zh-CN" altLang="en-US" sz="2200" b="1" i="0" u="none" strike="noStrike" cap="none" normalizeH="0" baseline="0" dirty="0">
                        <a:ln>
                          <a:noFill/>
                        </a:ln>
                        <a:solidFill>
                          <a:srgbClr val="FF0000"/>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T</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rgbClr val="FF0000"/>
                          </a:solidFill>
                          <a:effectLst/>
                        </a:rPr>
                        <a:t>停止</a:t>
                      </a:r>
                      <a:r>
                        <a:rPr kumimoji="0" lang="zh-CN" altLang="en-US" sz="2200" b="1" u="none" strike="noStrike" cap="none" normalizeH="0" baseline="0" dirty="0">
                          <a:ln>
                            <a:noFill/>
                          </a:ln>
                          <a:solidFill>
                            <a:schemeClr val="tx1"/>
                          </a:solidFill>
                          <a:effectLst/>
                        </a:rPr>
                        <a:t>或被追踪</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W</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chemeClr val="tx1"/>
                          </a:solidFill>
                          <a:effectLst/>
                        </a:rPr>
                        <a:t>进程在 </a:t>
                      </a:r>
                      <a:r>
                        <a:rPr kumimoji="0" lang="en-US" altLang="zh-CN" sz="2200" b="1" u="none" strike="noStrike" cap="none" normalizeH="0" baseline="0" dirty="0">
                          <a:ln>
                            <a:noFill/>
                          </a:ln>
                          <a:solidFill>
                            <a:schemeClr val="tx1"/>
                          </a:solidFill>
                          <a:effectLst/>
                        </a:rPr>
                        <a:t>RAM </a:t>
                      </a:r>
                      <a:r>
                        <a:rPr kumimoji="0" lang="zh-CN" altLang="en-US" sz="2200" b="1" u="none" strike="noStrike" cap="none" normalizeH="0" baseline="0" dirty="0">
                          <a:ln>
                            <a:noFill/>
                          </a:ln>
                          <a:solidFill>
                            <a:schemeClr val="tx1"/>
                          </a:solidFill>
                          <a:effectLst/>
                        </a:rPr>
                        <a:t>中没有驻留页（</a:t>
                      </a:r>
                      <a:r>
                        <a:rPr kumimoji="0" lang="en-US" altLang="en-US" sz="2200" b="0" u="none" strike="noStrike" cap="none" normalizeH="0" baseline="0" dirty="0">
                          <a:ln>
                            <a:noFill/>
                          </a:ln>
                          <a:solidFill>
                            <a:schemeClr val="tx1"/>
                          </a:solidFill>
                          <a:effectLst/>
                        </a:rPr>
                        <a:t>2.6.xx </a:t>
                      </a:r>
                      <a:r>
                        <a:rPr kumimoji="0" lang="en-US" altLang="zh-CN" sz="2200" b="0" u="none" strike="noStrike" cap="none" normalizeH="0" baseline="0" dirty="0">
                          <a:ln>
                            <a:noFill/>
                          </a:ln>
                          <a:solidFill>
                            <a:schemeClr val="tx1"/>
                          </a:solidFill>
                          <a:effectLst/>
                        </a:rPr>
                        <a:t> </a:t>
                      </a:r>
                      <a:r>
                        <a:rPr kumimoji="0" lang="zh-CN" altLang="en-US" sz="2200" b="0" u="none" strike="noStrike" cap="none" normalizeH="0" baseline="0" dirty="0">
                          <a:ln>
                            <a:noFill/>
                          </a:ln>
                          <a:solidFill>
                            <a:schemeClr val="tx1"/>
                          </a:solidFill>
                          <a:effectLst/>
                        </a:rPr>
                        <a:t>的内核无效）</a:t>
                      </a:r>
                      <a:endParaRPr kumimoji="0" lang="en-US" altLang="zh-CN"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D</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rgbClr val="FF0000"/>
                          </a:solidFill>
                          <a:effectLst/>
                        </a:rPr>
                        <a:t>不可中断的睡眠</a:t>
                      </a:r>
                      <a:r>
                        <a:rPr kumimoji="0" lang="zh-CN" altLang="en-US" sz="2200" b="1" u="none" strike="noStrike" cap="none" normalizeH="0" baseline="0" dirty="0">
                          <a:ln>
                            <a:noFill/>
                          </a:ln>
                          <a:solidFill>
                            <a:schemeClr val="tx1"/>
                          </a:solidFill>
                          <a:effectLst/>
                        </a:rPr>
                        <a:t>，通常指在</a:t>
                      </a:r>
                      <a:r>
                        <a:rPr kumimoji="0" lang="zh-CN" altLang="en-US" sz="2200" b="1" u="none" strike="noStrike" cap="none" normalizeH="0" baseline="0" dirty="0">
                          <a:ln>
                            <a:noFill/>
                          </a:ln>
                          <a:solidFill>
                            <a:srgbClr val="FF0000"/>
                          </a:solidFill>
                          <a:effectLst/>
                        </a:rPr>
                        <a:t>等待  </a:t>
                      </a:r>
                      <a:r>
                        <a:rPr kumimoji="0" lang="en-US" altLang="zh-CN" sz="2200" b="1" u="none" strike="noStrike" cap="none" normalizeH="0" baseline="0" dirty="0">
                          <a:ln>
                            <a:noFill/>
                          </a:ln>
                          <a:solidFill>
                            <a:srgbClr val="FF0000"/>
                          </a:solidFill>
                          <a:effectLst/>
                        </a:rPr>
                        <a:t>I</a:t>
                      </a:r>
                      <a:r>
                        <a:rPr kumimoji="0" lang="en-US" altLang="zh-CN" sz="2200" b="0" u="none" strike="noStrike" cap="none" normalizeH="0" baseline="0" dirty="0">
                          <a:ln>
                            <a:noFill/>
                          </a:ln>
                          <a:solidFill>
                            <a:srgbClr val="FF0000"/>
                          </a:solidFill>
                          <a:effectLst/>
                        </a:rPr>
                        <a:t>/</a:t>
                      </a:r>
                      <a:r>
                        <a:rPr kumimoji="0" lang="en-US" altLang="zh-CN" sz="2200" b="1" u="none" strike="noStrike" cap="none" normalizeH="0" baseline="0" dirty="0">
                          <a:ln>
                            <a:noFill/>
                          </a:ln>
                          <a:solidFill>
                            <a:srgbClr val="FF0000"/>
                          </a:solidFill>
                          <a:effectLst/>
                        </a:rPr>
                        <a:t>O</a:t>
                      </a:r>
                      <a:endParaRPr kumimoji="0" lang="en-US" altLang="zh-CN" sz="2200" b="1" i="0" u="none" strike="noStrike" cap="none" normalizeH="0" baseline="0" dirty="0">
                        <a:ln>
                          <a:noFill/>
                        </a:ln>
                        <a:solidFill>
                          <a:srgbClr val="FF0000"/>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Z</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rgbClr val="FF0000"/>
                          </a:solidFill>
                          <a:effectLst/>
                        </a:rPr>
                        <a:t>僵尸</a:t>
                      </a:r>
                      <a:r>
                        <a:rPr kumimoji="0" lang="zh-CN" altLang="en-US" sz="2200" b="1" u="none" strike="noStrike" cap="none" normalizeH="0" baseline="0" dirty="0">
                          <a:ln>
                            <a:noFill/>
                          </a:ln>
                          <a:solidFill>
                            <a:schemeClr val="tx1"/>
                          </a:solidFill>
                          <a:effectLst/>
                        </a:rPr>
                        <a:t>进程（已结束但未被父进程收回）</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X</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chemeClr val="tx1"/>
                          </a:solidFill>
                          <a:effectLst/>
                        </a:rPr>
                        <a:t>已死进程 （这个状态不会出现）</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&lt;</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a:ln>
                            <a:noFill/>
                          </a:ln>
                          <a:solidFill>
                            <a:schemeClr val="tx1"/>
                          </a:solidFill>
                          <a:effectLst/>
                        </a:rPr>
                        <a:t>具有最高优先权</a:t>
                      </a:r>
                      <a:endParaRPr kumimoji="0" lang="zh-CN" altLang="en-US" sz="2200" b="1" i="0" u="none" strike="noStrike" cap="none" normalizeH="0" baseline="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180975">
                <a:tc>
                  <a:txBody>
                    <a:body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en-US" altLang="zh-CN" sz="2200" b="0" u="none" strike="noStrike" cap="none" normalizeH="0" baseline="0">
                          <a:ln>
                            <a:noFill/>
                          </a:ln>
                          <a:solidFill>
                            <a:srgbClr val="0000CC"/>
                          </a:solidFill>
                          <a:effectLst/>
                        </a:rPr>
                        <a:t>N</a:t>
                      </a:r>
                      <a:endParaRPr kumimoji="0" lang="en-US" altLang="zh-CN" sz="2200" b="0" i="0" u="none" strike="noStrike" cap="none" normalizeH="0" baseline="0">
                        <a:ln>
                          <a:noFill/>
                        </a:ln>
                        <a:solidFill>
                          <a:srgbClr val="0000CC"/>
                        </a:solidFill>
                        <a:effectLst/>
                        <a:latin typeface="Courier New" pitchFamily="49" charset="0"/>
                        <a:ea typeface="宋体"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itchFamily="2" charset="2"/>
                        <a:buNone/>
                        <a:tabLst/>
                      </a:pPr>
                      <a:r>
                        <a:rPr kumimoji="0" lang="zh-CN" altLang="en-US" sz="2200" b="1" u="none" strike="noStrike" cap="none" normalizeH="0" baseline="0" dirty="0">
                          <a:ln>
                            <a:noFill/>
                          </a:ln>
                          <a:solidFill>
                            <a:schemeClr val="tx1"/>
                          </a:solidFill>
                          <a:effectLst/>
                        </a:rPr>
                        <a:t>具有较低的优先权</a:t>
                      </a:r>
                      <a:endParaRPr kumimoji="0" lang="zh-CN" altLang="en-US" sz="2200" b="1" i="0" u="none" strike="noStrike" cap="none" normalizeH="0" baseline="0" dirty="0">
                        <a:ln>
                          <a:noFill/>
                        </a:ln>
                        <a:solidFill>
                          <a:schemeClr val="tx1"/>
                        </a:solidFill>
                        <a:effectLst/>
                        <a:latin typeface="Times New Roman" pitchFamily="18" charset="0"/>
                        <a:ea typeface="黑体" pitchFamily="2" charset="-122"/>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8" name="Rectangle 3"/>
          <p:cNvSpPr>
            <a:spLocks noChangeArrowheads="1"/>
          </p:cNvSpPr>
          <p:nvPr/>
        </p:nvSpPr>
        <p:spPr bwMode="auto">
          <a:xfrm>
            <a:off x="906057" y="1506731"/>
            <a:ext cx="7924800" cy="651653"/>
          </a:xfrm>
          <a:prstGeom prst="rect">
            <a:avLst/>
          </a:prstGeom>
          <a:noFill/>
          <a:ln w="9525">
            <a:noFill/>
            <a:miter lim="800000"/>
            <a:headEnd/>
            <a:tailEnd/>
          </a:ln>
          <a:effectLst/>
        </p:spPr>
        <p:txBody>
          <a:bodyPr>
            <a:spAutoFit/>
          </a:bodyPr>
          <a:lstStyle/>
          <a:p>
            <a:pPr>
              <a:lnSpc>
                <a:spcPct val="120000"/>
              </a:lnSpc>
              <a:buClr>
                <a:schemeClr val="hlink"/>
              </a:buClr>
              <a:buFont typeface="Wingdings" pitchFamily="2" charset="2"/>
              <a:buChar char="q"/>
            </a:pPr>
            <a:r>
              <a:rPr lang="en-US" altLang="zh-CN" sz="3200" b="0" dirty="0">
                <a:solidFill>
                  <a:schemeClr val="tx1"/>
                </a:solidFill>
                <a:ea typeface="黑体" pitchFamily="2" charset="-122"/>
              </a:rPr>
              <a:t> </a:t>
            </a:r>
            <a:r>
              <a:rPr lang="en-US" altLang="zh-CN" sz="3200" dirty="0">
                <a:solidFill>
                  <a:srgbClr val="006600"/>
                </a:solidFill>
                <a:latin typeface="Courier New" pitchFamily="49" charset="0"/>
                <a:ea typeface="黑体" pitchFamily="2" charset="-122"/>
              </a:rPr>
              <a:t>“STAT” </a:t>
            </a:r>
            <a:r>
              <a:rPr lang="zh-CN" altLang="en-US" sz="3200" dirty="0">
                <a:solidFill>
                  <a:srgbClr val="006600"/>
                </a:solidFill>
                <a:latin typeface="Courier New" pitchFamily="49" charset="0"/>
                <a:ea typeface="黑体" pitchFamily="2" charset="-122"/>
              </a:rPr>
              <a:t>或 </a:t>
            </a:r>
            <a:r>
              <a:rPr lang="en-US" altLang="zh-CN" sz="3200" dirty="0">
                <a:solidFill>
                  <a:srgbClr val="006600"/>
                </a:solidFill>
                <a:latin typeface="Courier New" pitchFamily="49" charset="0"/>
                <a:ea typeface="黑体" pitchFamily="2" charset="-122"/>
              </a:rPr>
              <a:t>“S” </a:t>
            </a:r>
            <a:r>
              <a:rPr lang="zh-CN" altLang="en-US" sz="3200" dirty="0">
                <a:solidFill>
                  <a:srgbClr val="006600"/>
                </a:solidFill>
                <a:latin typeface="Courier New" pitchFamily="49" charset="0"/>
                <a:ea typeface="黑体" pitchFamily="2" charset="-122"/>
              </a:rPr>
              <a:t>状态列的输出</a:t>
            </a:r>
            <a:endParaRPr lang="zh-CN" altLang="en-US" sz="3200" b="0" dirty="0">
              <a:solidFill>
                <a:schemeClr val="tx1"/>
              </a:solidFill>
              <a:ea typeface="黑体" pitchFamily="2" charset="-122"/>
            </a:endParaRPr>
          </a:p>
        </p:txBody>
      </p:sp>
    </p:spTree>
  </p:cSld>
  <p:clrMapOvr>
    <a:masterClrMapping/>
  </p:clrMapOvr>
  <p:timing>
    <p:tnLst>
      <p:par>
        <p:cTn id="1" dur="indefinite" restart="never" nodeType="tmRoot"/>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ps</a:t>
            </a:r>
            <a:r>
              <a:rPr lang="zh-CN" altLang="en-US" dirty="0"/>
              <a:t>命令使用</a:t>
            </a:r>
            <a:r>
              <a:rPr lang="zh-CN" altLang="en-US" strike="sngStrike" dirty="0"/>
              <a:t>举例</a:t>
            </a:r>
            <a:r>
              <a:rPr lang="en-US" altLang="zh-CN" strike="sngStrike" dirty="0" smtClean="0"/>
              <a:t>2 </a:t>
            </a:r>
            <a:r>
              <a:rPr lang="en-US" altLang="zh-CN" dirty="0" smtClean="0">
                <a:solidFill>
                  <a:srgbClr val="C00000"/>
                </a:solidFill>
              </a:rPr>
              <a:t>X</a:t>
            </a:r>
            <a:endParaRPr lang="zh-CN" altLang="en-US" dirty="0">
              <a:solidFill>
                <a:srgbClr val="C00000"/>
              </a:solidFill>
            </a:endParaRPr>
          </a:p>
        </p:txBody>
      </p:sp>
      <p:sp>
        <p:nvSpPr>
          <p:cNvPr id="3" name="内容占位符 2"/>
          <p:cNvSpPr>
            <a:spLocks noGrp="1"/>
          </p:cNvSpPr>
          <p:nvPr>
            <p:ph idx="1"/>
          </p:nvPr>
        </p:nvSpPr>
        <p:spPr>
          <a:xfrm>
            <a:off x="827584" y="1484783"/>
            <a:ext cx="7772400" cy="5181501"/>
          </a:xfrm>
        </p:spPr>
        <p:txBody>
          <a:bodyPr/>
          <a:lstStyle/>
          <a:p>
            <a:r>
              <a:rPr lang="zh-CN" altLang="en-US" dirty="0"/>
              <a:t>指定</a:t>
            </a:r>
            <a:r>
              <a:rPr lang="zh-CN" altLang="en-US" dirty="0">
                <a:solidFill>
                  <a:srgbClr val="FF0000"/>
                </a:solidFill>
              </a:rPr>
              <a:t>输出列</a:t>
            </a:r>
            <a:endParaRPr lang="en-US" altLang="zh-CN" dirty="0">
              <a:solidFill>
                <a:srgbClr val="FF0000"/>
              </a:solidFill>
            </a:endParaRPr>
          </a:p>
          <a:p>
            <a:pPr lvl="1">
              <a:buNone/>
            </a:pPr>
            <a:r>
              <a:rPr lang="en-US" altLang="zh-CN" sz="2000" dirty="0">
                <a:solidFill>
                  <a:schemeClr val="accent6">
                    <a:lumMod val="75000"/>
                  </a:schemeClr>
                </a:solidFill>
              </a:rPr>
              <a:t>$ ps </a:t>
            </a:r>
            <a:r>
              <a:rPr lang="en-US" altLang="zh-CN" sz="2000" dirty="0">
                <a:solidFill>
                  <a:srgbClr val="FF0000"/>
                </a:solidFill>
              </a:rPr>
              <a:t>o</a:t>
            </a:r>
            <a:r>
              <a:rPr lang="en-US" altLang="zh-CN" sz="2000" dirty="0">
                <a:solidFill>
                  <a:schemeClr val="accent6">
                    <a:lumMod val="75000"/>
                  </a:schemeClr>
                </a:solidFill>
              </a:rPr>
              <a:t> </a:t>
            </a:r>
            <a:r>
              <a:rPr lang="en-US" altLang="zh-CN" sz="2000" dirty="0" err="1">
                <a:solidFill>
                  <a:schemeClr val="accent6">
                    <a:lumMod val="75000"/>
                  </a:schemeClr>
                </a:solidFill>
              </a:rPr>
              <a:t>user,pid,ppid,pcpu,pmem,nice,cmd</a:t>
            </a:r>
            <a:endParaRPr lang="en-US" altLang="zh-CN" sz="2000" dirty="0">
              <a:solidFill>
                <a:schemeClr val="accent6">
                  <a:lumMod val="75000"/>
                </a:schemeClr>
              </a:solidFill>
            </a:endParaRPr>
          </a:p>
          <a:p>
            <a:pPr lvl="1">
              <a:buNone/>
            </a:pPr>
            <a:r>
              <a:rPr lang="en-US" altLang="zh-CN" sz="2000" dirty="0">
                <a:solidFill>
                  <a:schemeClr val="accent6">
                    <a:lumMod val="75000"/>
                  </a:schemeClr>
                </a:solidFill>
              </a:rPr>
              <a:t>$ ps -</a:t>
            </a:r>
            <a:r>
              <a:rPr lang="en-US" altLang="zh-CN" sz="2000" dirty="0" err="1">
                <a:solidFill>
                  <a:schemeClr val="accent6">
                    <a:lumMod val="75000"/>
                  </a:schemeClr>
                </a:solidFill>
              </a:rPr>
              <a:t>e</a:t>
            </a:r>
            <a:r>
              <a:rPr lang="en-US" altLang="zh-CN" sz="2000" dirty="0" err="1">
                <a:solidFill>
                  <a:srgbClr val="FF0000"/>
                </a:solidFill>
              </a:rPr>
              <a:t>o</a:t>
            </a:r>
            <a:r>
              <a:rPr lang="en-US" altLang="zh-CN" sz="2000" dirty="0">
                <a:solidFill>
                  <a:schemeClr val="accent6">
                    <a:lumMod val="75000"/>
                  </a:schemeClr>
                </a:solidFill>
              </a:rPr>
              <a:t> pid,tid,class,rtprio,ni,pri,psr,pcpu,stat,wchan:14,comm</a:t>
            </a:r>
          </a:p>
          <a:p>
            <a:pPr lvl="1">
              <a:buNone/>
            </a:pPr>
            <a:r>
              <a:rPr lang="en-US" altLang="zh-CN" sz="2000" dirty="0">
                <a:solidFill>
                  <a:schemeClr val="accent6">
                    <a:lumMod val="75000"/>
                  </a:schemeClr>
                </a:solidFill>
              </a:rPr>
              <a:t>$ ps </a:t>
            </a:r>
            <a:r>
              <a:rPr lang="en-US" altLang="zh-CN" sz="2000" dirty="0" err="1">
                <a:solidFill>
                  <a:schemeClr val="accent6">
                    <a:lumMod val="75000"/>
                  </a:schemeClr>
                </a:solidFill>
              </a:rPr>
              <a:t>ax</a:t>
            </a:r>
            <a:r>
              <a:rPr lang="en-US" altLang="zh-CN" sz="2000" dirty="0" err="1">
                <a:solidFill>
                  <a:srgbClr val="FF0000"/>
                </a:solidFill>
              </a:rPr>
              <a:t>o</a:t>
            </a:r>
            <a:r>
              <a:rPr lang="en-US" altLang="zh-CN" sz="2000" dirty="0">
                <a:solidFill>
                  <a:schemeClr val="accent6">
                    <a:lumMod val="75000"/>
                  </a:schemeClr>
                </a:solidFill>
              </a:rPr>
              <a:t> </a:t>
            </a:r>
            <a:r>
              <a:rPr lang="en-US" altLang="zh-CN" sz="2000" dirty="0" err="1">
                <a:solidFill>
                  <a:schemeClr val="accent6">
                    <a:lumMod val="75000"/>
                  </a:schemeClr>
                </a:solidFill>
              </a:rPr>
              <a:t>stat,euid,ruid,tty,tpgid,sess,pgrp,ppid,pid,pcpu,comm</a:t>
            </a:r>
            <a:endParaRPr lang="en-US" altLang="zh-CN" sz="2000" dirty="0">
              <a:solidFill>
                <a:schemeClr val="accent6">
                  <a:lumMod val="75000"/>
                </a:schemeClr>
              </a:solidFill>
            </a:endParaRPr>
          </a:p>
          <a:p>
            <a:pPr lvl="1">
              <a:buNone/>
            </a:pPr>
            <a:r>
              <a:rPr lang="en-US" altLang="zh-CN" sz="2000" dirty="0">
                <a:solidFill>
                  <a:schemeClr val="accent6">
                    <a:lumMod val="75000"/>
                  </a:schemeClr>
                </a:solidFill>
              </a:rPr>
              <a:t>$ ps -</a:t>
            </a:r>
            <a:r>
              <a:rPr lang="en-US" altLang="zh-CN" sz="2000" dirty="0" err="1">
                <a:solidFill>
                  <a:schemeClr val="accent6">
                    <a:lumMod val="75000"/>
                  </a:schemeClr>
                </a:solidFill>
              </a:rPr>
              <a:t>e</a:t>
            </a:r>
            <a:r>
              <a:rPr lang="en-US" altLang="zh-CN" sz="2000" dirty="0" err="1">
                <a:solidFill>
                  <a:srgbClr val="FF0000"/>
                </a:solidFill>
              </a:rPr>
              <a:t>o</a:t>
            </a:r>
            <a:r>
              <a:rPr lang="en-US" altLang="zh-CN" sz="2000" dirty="0">
                <a:solidFill>
                  <a:schemeClr val="accent6">
                    <a:lumMod val="75000"/>
                  </a:schemeClr>
                </a:solidFill>
              </a:rPr>
              <a:t> “%p %y %x %n %c“       —— AIX</a:t>
            </a:r>
            <a:r>
              <a:rPr lang="zh-CN" altLang="en-US" sz="2000" dirty="0">
                <a:solidFill>
                  <a:schemeClr val="accent6">
                    <a:lumMod val="75000"/>
                  </a:schemeClr>
                </a:solidFill>
              </a:rPr>
              <a:t>风格</a:t>
            </a:r>
            <a:endParaRPr lang="en-US" altLang="zh-CN" sz="2000" dirty="0">
              <a:solidFill>
                <a:schemeClr val="accent6">
                  <a:lumMod val="75000"/>
                </a:schemeClr>
              </a:solidFill>
            </a:endParaRPr>
          </a:p>
          <a:p>
            <a:r>
              <a:rPr lang="zh-CN" altLang="en-US" dirty="0"/>
              <a:t>指</a:t>
            </a:r>
            <a:r>
              <a:rPr lang="zh-CN" altLang="en-US" dirty="0">
                <a:solidFill>
                  <a:srgbClr val="FF0000"/>
                </a:solidFill>
              </a:rPr>
              <a:t>定列排序</a:t>
            </a:r>
            <a:endParaRPr lang="en-US" altLang="zh-CN" dirty="0">
              <a:solidFill>
                <a:srgbClr val="FF0000"/>
              </a:solidFill>
            </a:endParaRPr>
          </a:p>
          <a:p>
            <a:pPr lvl="1">
              <a:buNone/>
            </a:pPr>
            <a:r>
              <a:rPr lang="en-US" altLang="zh-CN" sz="2000" dirty="0">
                <a:solidFill>
                  <a:schemeClr val="accent6">
                    <a:lumMod val="75000"/>
                  </a:schemeClr>
                </a:solidFill>
              </a:rPr>
              <a:t>$ ps -</a:t>
            </a:r>
            <a:r>
              <a:rPr lang="en-US" altLang="zh-CN" sz="2000" dirty="0" err="1">
                <a:solidFill>
                  <a:schemeClr val="accent6">
                    <a:lumMod val="75000"/>
                  </a:schemeClr>
                </a:solidFill>
              </a:rPr>
              <a:t>ef</a:t>
            </a:r>
            <a:r>
              <a:rPr lang="en-US" altLang="zh-CN" sz="2000" dirty="0">
                <a:solidFill>
                  <a:schemeClr val="accent6">
                    <a:lumMod val="75000"/>
                  </a:schemeClr>
                </a:solidFill>
              </a:rPr>
              <a:t> </a:t>
            </a:r>
            <a:r>
              <a:rPr lang="en-US" altLang="zh-CN" sz="2000" dirty="0">
                <a:solidFill>
                  <a:srgbClr val="FF0000"/>
                </a:solidFill>
              </a:rPr>
              <a:t>--sort </a:t>
            </a:r>
            <a:r>
              <a:rPr lang="en-US" altLang="zh-CN" sz="2000" dirty="0">
                <a:solidFill>
                  <a:schemeClr val="accent6">
                    <a:lumMod val="75000"/>
                  </a:schemeClr>
                </a:solidFill>
              </a:rPr>
              <a:t>user,-time</a:t>
            </a:r>
          </a:p>
          <a:p>
            <a:pPr lvl="1">
              <a:buNone/>
            </a:pPr>
            <a:r>
              <a:rPr lang="en-US" altLang="zh-CN" sz="2000" dirty="0">
                <a:solidFill>
                  <a:schemeClr val="accent6">
                    <a:lumMod val="75000"/>
                  </a:schemeClr>
                </a:solidFill>
              </a:rPr>
              <a:t>$ ps aux </a:t>
            </a:r>
            <a:r>
              <a:rPr lang="en-US" altLang="zh-CN" sz="2000" dirty="0">
                <a:solidFill>
                  <a:srgbClr val="FF0000"/>
                </a:solidFill>
              </a:rPr>
              <a:t>--sort </a:t>
            </a:r>
            <a:r>
              <a:rPr lang="en-US" altLang="zh-CN" sz="2000" dirty="0">
                <a:solidFill>
                  <a:schemeClr val="accent6">
                    <a:lumMod val="75000"/>
                  </a:schemeClr>
                </a:solidFill>
              </a:rPr>
              <a:t>-</a:t>
            </a:r>
            <a:r>
              <a:rPr lang="en-US" altLang="zh-CN" sz="2000" dirty="0" err="1">
                <a:solidFill>
                  <a:schemeClr val="accent6">
                    <a:lumMod val="75000"/>
                  </a:schemeClr>
                </a:solidFill>
              </a:rPr>
              <a:t>pcpu</a:t>
            </a:r>
            <a:endParaRPr lang="en-US" altLang="zh-CN" sz="2000" dirty="0">
              <a:solidFill>
                <a:schemeClr val="accent6">
                  <a:lumMod val="75000"/>
                </a:schemeClr>
              </a:solidFill>
            </a:endParaRPr>
          </a:p>
          <a:p>
            <a:pPr lvl="1">
              <a:buNone/>
            </a:pPr>
            <a:r>
              <a:rPr lang="en-US" altLang="zh-CN" sz="2000" dirty="0">
                <a:solidFill>
                  <a:schemeClr val="accent6">
                    <a:lumMod val="75000"/>
                  </a:schemeClr>
                </a:solidFill>
              </a:rPr>
              <a:t>$ </a:t>
            </a:r>
            <a:r>
              <a:rPr lang="en-US" altLang="zh-CN" sz="2000" dirty="0" err="1">
                <a:solidFill>
                  <a:schemeClr val="accent6">
                    <a:lumMod val="75000"/>
                  </a:schemeClr>
                </a:solidFill>
              </a:rPr>
              <a:t>ps</a:t>
            </a:r>
            <a:r>
              <a:rPr lang="en-US" altLang="zh-CN" sz="2000" dirty="0">
                <a:solidFill>
                  <a:schemeClr val="accent6">
                    <a:lumMod val="75000"/>
                  </a:schemeClr>
                </a:solidFill>
              </a:rPr>
              <a:t> aux </a:t>
            </a:r>
            <a:r>
              <a:rPr lang="en-US" altLang="zh-CN" sz="2000" dirty="0">
                <a:solidFill>
                  <a:srgbClr val="FF0000"/>
                </a:solidFill>
              </a:rPr>
              <a:t>--sort </a:t>
            </a:r>
            <a:r>
              <a:rPr lang="en-US" altLang="zh-CN" sz="2000" dirty="0">
                <a:solidFill>
                  <a:schemeClr val="accent6">
                    <a:lumMod val="75000"/>
                  </a:schemeClr>
                </a:solidFill>
              </a:rPr>
              <a:t>-</a:t>
            </a:r>
            <a:r>
              <a:rPr lang="en-US" altLang="zh-CN" sz="2000" dirty="0" err="1">
                <a:solidFill>
                  <a:schemeClr val="accent6">
                    <a:lumMod val="75000"/>
                  </a:schemeClr>
                </a:solidFill>
              </a:rPr>
              <a:t>pmem</a:t>
            </a:r>
            <a:endParaRPr lang="en-US" altLang="zh-CN" sz="2000" dirty="0">
              <a:solidFill>
                <a:schemeClr val="accent6">
                  <a:lumMod val="75000"/>
                </a:schemeClr>
              </a:solidFill>
            </a:endParaRPr>
          </a:p>
          <a:p>
            <a:pPr lvl="1">
              <a:buNone/>
            </a:pPr>
            <a:r>
              <a:rPr lang="en-US" altLang="zh-CN" sz="2000" dirty="0">
                <a:solidFill>
                  <a:schemeClr val="accent6">
                    <a:lumMod val="75000"/>
                  </a:schemeClr>
                </a:solidFill>
              </a:rPr>
              <a:t>$ ps o </a:t>
            </a:r>
            <a:r>
              <a:rPr lang="en-US" altLang="zh-CN" sz="2000" dirty="0" err="1">
                <a:solidFill>
                  <a:schemeClr val="accent6">
                    <a:lumMod val="75000"/>
                  </a:schemeClr>
                </a:solidFill>
              </a:rPr>
              <a:t>user,pid,ppid,pcpu,pmem,nice,cmd</a:t>
            </a:r>
            <a:r>
              <a:rPr lang="en-US" altLang="zh-CN" sz="2000" dirty="0">
                <a:solidFill>
                  <a:schemeClr val="accent6">
                    <a:lumMod val="75000"/>
                  </a:schemeClr>
                </a:solidFill>
              </a:rPr>
              <a:t> </a:t>
            </a:r>
            <a:r>
              <a:rPr lang="en-US" altLang="zh-CN" sz="2000" dirty="0">
                <a:solidFill>
                  <a:srgbClr val="FF0000"/>
                </a:solidFill>
              </a:rPr>
              <a:t>--sort </a:t>
            </a:r>
            <a:r>
              <a:rPr lang="en-US" altLang="zh-CN" sz="2000" dirty="0">
                <a:solidFill>
                  <a:schemeClr val="accent6">
                    <a:lumMod val="75000"/>
                  </a:schemeClr>
                </a:solidFill>
              </a:rPr>
              <a:t>nice </a:t>
            </a:r>
          </a:p>
          <a:p>
            <a:endParaRPr lang="en-US" altLang="zh-CN" dirty="0"/>
          </a:p>
          <a:p>
            <a:pPr lvl="1">
              <a:buNone/>
            </a:pPr>
            <a:endParaRPr lang="zh-CN" altLang="en-US" dirty="0"/>
          </a:p>
        </p:txBody>
      </p:sp>
    </p:spTree>
  </p:cSld>
  <p:clrMapOvr>
    <a:masterClrMapping/>
  </p:clrMapOvr>
  <p:timing>
    <p:tnLst>
      <p:par>
        <p:cTn id="1" dur="indefinite" restart="never" nodeType="tmRoot"/>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搜索进程</a:t>
            </a:r>
          </a:p>
        </p:txBody>
      </p:sp>
      <p:sp>
        <p:nvSpPr>
          <p:cNvPr id="3" name="内容占位符 2"/>
          <p:cNvSpPr>
            <a:spLocks noGrp="1"/>
          </p:cNvSpPr>
          <p:nvPr>
            <p:ph idx="1"/>
          </p:nvPr>
        </p:nvSpPr>
        <p:spPr>
          <a:xfrm>
            <a:off x="935831" y="1412776"/>
            <a:ext cx="8229600" cy="4646141"/>
          </a:xfrm>
        </p:spPr>
        <p:txBody>
          <a:bodyPr/>
          <a:lstStyle/>
          <a:p>
            <a:r>
              <a:rPr lang="zh-CN" altLang="en-US" dirty="0"/>
              <a:t>搜索指定的</a:t>
            </a:r>
            <a:r>
              <a:rPr lang="zh-CN" altLang="en-US" dirty="0">
                <a:solidFill>
                  <a:srgbClr val="FF0000"/>
                </a:solidFill>
              </a:rPr>
              <a:t>进程信息</a:t>
            </a:r>
            <a:endParaRPr lang="en-US" altLang="zh-CN" dirty="0">
              <a:solidFill>
                <a:srgbClr val="FF0000"/>
              </a:solidFill>
            </a:endParaRPr>
          </a:p>
          <a:p>
            <a:pPr lvl="1">
              <a:buNone/>
            </a:pPr>
            <a:r>
              <a:rPr lang="en-US" altLang="zh-CN" dirty="0">
                <a:solidFill>
                  <a:schemeClr val="accent6">
                    <a:lumMod val="75000"/>
                  </a:schemeClr>
                </a:solidFill>
              </a:rPr>
              <a:t>$ ps aux | </a:t>
            </a:r>
            <a:r>
              <a:rPr lang="en-US" altLang="zh-CN" dirty="0" err="1">
                <a:solidFill>
                  <a:srgbClr val="FF0000"/>
                </a:solidFill>
              </a:rPr>
              <a:t>grep</a:t>
            </a:r>
            <a:r>
              <a:rPr lang="en-US" altLang="zh-CN" dirty="0">
                <a:solidFill>
                  <a:schemeClr val="accent6">
                    <a:lumMod val="75000"/>
                  </a:schemeClr>
                </a:solidFill>
              </a:rPr>
              <a:t> </a:t>
            </a:r>
            <a:r>
              <a:rPr lang="en-US" altLang="zh-CN" dirty="0" err="1">
                <a:solidFill>
                  <a:schemeClr val="accent6">
                    <a:lumMod val="75000"/>
                  </a:schemeClr>
                </a:solidFill>
              </a:rPr>
              <a:t>httpd</a:t>
            </a:r>
            <a:endParaRPr lang="en-US" altLang="zh-CN" dirty="0">
              <a:solidFill>
                <a:schemeClr val="accent6">
                  <a:lumMod val="75000"/>
                </a:schemeClr>
              </a:solidFill>
            </a:endParaRPr>
          </a:p>
          <a:p>
            <a:pPr lvl="1">
              <a:buNone/>
            </a:pPr>
            <a:r>
              <a:rPr lang="en-US" altLang="zh-CN" dirty="0">
                <a:solidFill>
                  <a:schemeClr val="accent6">
                    <a:lumMod val="75000"/>
                  </a:schemeClr>
                </a:solidFill>
              </a:rPr>
              <a:t>$ ps -</a:t>
            </a:r>
            <a:r>
              <a:rPr lang="en-US" altLang="zh-CN" dirty="0" err="1">
                <a:solidFill>
                  <a:schemeClr val="accent6">
                    <a:lumMod val="75000"/>
                  </a:schemeClr>
                </a:solidFill>
              </a:rPr>
              <a:t>fp</a:t>
            </a:r>
            <a:r>
              <a:rPr lang="en-US" altLang="zh-CN" dirty="0">
                <a:solidFill>
                  <a:schemeClr val="accent6">
                    <a:lumMod val="75000"/>
                  </a:schemeClr>
                </a:solidFill>
              </a:rPr>
              <a:t> </a:t>
            </a:r>
            <a:r>
              <a:rPr lang="en-US" altLang="zh-CN" dirty="0" smtClean="0"/>
              <a:t>$(</a:t>
            </a:r>
            <a:r>
              <a:rPr lang="en-US" altLang="zh-CN" dirty="0" err="1" smtClean="0"/>
              <a:t>p</a:t>
            </a:r>
            <a:r>
              <a:rPr lang="en-US" altLang="zh-CN" dirty="0" err="1" smtClean="0">
                <a:solidFill>
                  <a:srgbClr val="002060"/>
                </a:solidFill>
              </a:rPr>
              <a:t>grep</a:t>
            </a:r>
            <a:r>
              <a:rPr lang="en-US" altLang="zh-CN" dirty="0" smtClean="0">
                <a:solidFill>
                  <a:srgbClr val="002060"/>
                </a:solidFill>
              </a:rPr>
              <a:t> </a:t>
            </a:r>
            <a:r>
              <a:rPr lang="en-US" altLang="zh-CN" dirty="0">
                <a:solidFill>
                  <a:srgbClr val="002060"/>
                </a:solidFill>
              </a:rPr>
              <a:t>-d, -x </a:t>
            </a:r>
            <a:r>
              <a:rPr lang="en-US" altLang="zh-CN" dirty="0" err="1">
                <a:solidFill>
                  <a:srgbClr val="002060"/>
                </a:solidFill>
              </a:rPr>
              <a:t>httpd</a:t>
            </a:r>
            <a:r>
              <a:rPr lang="en-US" altLang="zh-CN" dirty="0"/>
              <a:t>)</a:t>
            </a:r>
            <a:endParaRPr lang="en-US" altLang="zh-CN" dirty="0">
              <a:solidFill>
                <a:schemeClr val="accent6">
                  <a:lumMod val="75000"/>
                </a:schemeClr>
              </a:solidFill>
            </a:endParaRPr>
          </a:p>
          <a:p>
            <a:r>
              <a:rPr lang="zh-CN" altLang="en-US" dirty="0"/>
              <a:t>查找符合条件的</a:t>
            </a:r>
            <a:r>
              <a:rPr lang="zh-CN" altLang="en-US" dirty="0">
                <a:solidFill>
                  <a:srgbClr val="FF0000"/>
                </a:solidFill>
              </a:rPr>
              <a:t>进程</a:t>
            </a:r>
            <a:r>
              <a:rPr lang="en-US" altLang="zh-CN" dirty="0">
                <a:solidFill>
                  <a:srgbClr val="FF0000"/>
                </a:solidFill>
              </a:rPr>
              <a:t>PID</a:t>
            </a:r>
          </a:p>
          <a:p>
            <a:pPr lvl="1">
              <a:buNone/>
            </a:pPr>
            <a:r>
              <a:rPr lang="nl-NL" altLang="zh-CN" dirty="0">
                <a:solidFill>
                  <a:schemeClr val="accent2">
                    <a:lumMod val="75000"/>
                  </a:schemeClr>
                </a:solidFill>
              </a:rPr>
              <a:t>$ pgrep httpd</a:t>
            </a:r>
          </a:p>
          <a:p>
            <a:pPr lvl="1">
              <a:buNone/>
            </a:pPr>
            <a:r>
              <a:rPr lang="en-US" altLang="zh-CN" dirty="0">
                <a:solidFill>
                  <a:schemeClr val="accent6">
                    <a:lumMod val="75000"/>
                  </a:schemeClr>
                </a:solidFill>
              </a:rPr>
              <a:t>$ </a:t>
            </a:r>
            <a:r>
              <a:rPr lang="en-US" altLang="zh-CN" dirty="0" err="1">
                <a:solidFill>
                  <a:schemeClr val="accent6">
                    <a:lumMod val="75000"/>
                  </a:schemeClr>
                </a:solidFill>
              </a:rPr>
              <a:t>pidof</a:t>
            </a:r>
            <a:r>
              <a:rPr lang="en-US" altLang="zh-CN" dirty="0">
                <a:solidFill>
                  <a:schemeClr val="accent6">
                    <a:lumMod val="75000"/>
                  </a:schemeClr>
                </a:solidFill>
              </a:rPr>
              <a:t> </a:t>
            </a:r>
            <a:r>
              <a:rPr lang="en-US" altLang="zh-CN" dirty="0" err="1">
                <a:solidFill>
                  <a:schemeClr val="accent6">
                    <a:lumMod val="75000"/>
                  </a:schemeClr>
                </a:solidFill>
              </a:rPr>
              <a:t>httpd</a:t>
            </a:r>
            <a:endParaRPr lang="nl-NL" altLang="zh-CN" dirty="0">
              <a:solidFill>
                <a:schemeClr val="accent6">
                  <a:lumMod val="75000"/>
                </a:schemeClr>
              </a:solidFill>
            </a:endParaRPr>
          </a:p>
          <a:p>
            <a:pPr lvl="1">
              <a:buNone/>
            </a:pPr>
            <a:r>
              <a:rPr lang="nl-NL" altLang="zh-CN" dirty="0"/>
              <a:t>$ </a:t>
            </a:r>
            <a:r>
              <a:rPr lang="pt-BR" altLang="zh-CN" dirty="0">
                <a:solidFill>
                  <a:schemeClr val="tx2">
                    <a:lumMod val="50000"/>
                  </a:schemeClr>
                </a:solidFill>
              </a:rPr>
              <a:t>ps -C httpd -o pid=</a:t>
            </a:r>
            <a:endParaRPr lang="nl-NL" altLang="zh-CN" dirty="0">
              <a:solidFill>
                <a:schemeClr val="tx2">
                  <a:lumMod val="50000"/>
                </a:schemeClr>
              </a:solidFill>
            </a:endParaRPr>
          </a:p>
          <a:p>
            <a:pPr lvl="1">
              <a:buNone/>
            </a:pPr>
            <a:r>
              <a:rPr lang="nl-NL" altLang="zh-CN" dirty="0">
                <a:solidFill>
                  <a:srgbClr val="002060"/>
                </a:solidFill>
              </a:rPr>
              <a:t>$ pgrep -U apache httpd</a:t>
            </a:r>
          </a:p>
          <a:p>
            <a:pPr lvl="1">
              <a:buNone/>
            </a:pPr>
            <a:r>
              <a:rPr lang="nl-NL" altLang="zh-CN" dirty="0">
                <a:solidFill>
                  <a:srgbClr val="002060"/>
                </a:solidFill>
              </a:rPr>
              <a:t>$ pgrep -G student -l</a:t>
            </a:r>
            <a:endParaRPr lang="zh-CN" altLang="en-US" dirty="0"/>
          </a:p>
        </p:txBody>
      </p:sp>
      <p:sp>
        <p:nvSpPr>
          <p:cNvPr id="4" name="矩形 3"/>
          <p:cNvSpPr/>
          <p:nvPr/>
        </p:nvSpPr>
        <p:spPr>
          <a:xfrm>
            <a:off x="6516216" y="1244228"/>
            <a:ext cx="2292615" cy="400110"/>
          </a:xfrm>
          <a:prstGeom prst="rect">
            <a:avLst/>
          </a:prstGeom>
        </p:spPr>
        <p:txBody>
          <a:bodyPr wrap="none">
            <a:spAutoFit/>
          </a:bodyPr>
          <a:lstStyle/>
          <a:p>
            <a:r>
              <a:rPr lang="en-US" altLang="zh-CN" sz="2000" dirty="0" smtClean="0"/>
              <a:t>-p</a:t>
            </a:r>
            <a:r>
              <a:rPr lang="zh-CN" altLang="en-US" sz="2000" dirty="0" smtClean="0"/>
              <a:t>：</a:t>
            </a:r>
            <a:r>
              <a:rPr lang="en-US" altLang="zh-CN" sz="2000" dirty="0" smtClean="0"/>
              <a:t>Select </a:t>
            </a:r>
            <a:r>
              <a:rPr lang="en-US" altLang="zh-CN" sz="2000" dirty="0"/>
              <a:t>by PID.</a:t>
            </a:r>
            <a:endParaRPr lang="zh-CN" altLang="en-US" sz="2000" dirty="0"/>
          </a:p>
        </p:txBody>
      </p:sp>
    </p:spTree>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 注销后继续运行进程</a:t>
            </a:r>
          </a:p>
        </p:txBody>
      </p:sp>
      <p:sp>
        <p:nvSpPr>
          <p:cNvPr id="3" name="内容占位符 2"/>
          <p:cNvSpPr>
            <a:spLocks noGrp="1"/>
          </p:cNvSpPr>
          <p:nvPr>
            <p:ph idx="1"/>
          </p:nvPr>
        </p:nvSpPr>
        <p:spPr>
          <a:xfrm>
            <a:off x="683965" y="1412776"/>
            <a:ext cx="8136507" cy="2116832"/>
          </a:xfrm>
        </p:spPr>
        <p:txBody>
          <a:bodyPr/>
          <a:lstStyle/>
          <a:p>
            <a:r>
              <a:rPr kumimoji="1" lang="zh-CN" altLang="en-US" sz="2800" dirty="0"/>
              <a:t>通常当</a:t>
            </a:r>
            <a:r>
              <a:rPr kumimoji="1" lang="zh-CN" altLang="en-US" sz="2800" dirty="0">
                <a:solidFill>
                  <a:srgbClr val="FF0000"/>
                </a:solidFill>
              </a:rPr>
              <a:t>用户注销</a:t>
            </a:r>
            <a:r>
              <a:rPr kumimoji="1" lang="zh-CN" altLang="en-US" sz="2800" dirty="0"/>
              <a:t>后，所有属于该用户的</a:t>
            </a:r>
            <a:r>
              <a:rPr kumimoji="1" lang="zh-CN" altLang="en-US" sz="2800" dirty="0">
                <a:solidFill>
                  <a:srgbClr val="FF0000"/>
                </a:solidFill>
              </a:rPr>
              <a:t>进程</a:t>
            </a:r>
            <a:r>
              <a:rPr kumimoji="1" lang="zh-CN" altLang="en-US" sz="2800" dirty="0"/>
              <a:t>将全部被</a:t>
            </a:r>
            <a:r>
              <a:rPr kumimoji="1" lang="zh-CN" altLang="en-US" sz="2800" dirty="0">
                <a:solidFill>
                  <a:srgbClr val="FF0000"/>
                </a:solidFill>
              </a:rPr>
              <a:t>终止</a:t>
            </a:r>
          </a:p>
          <a:p>
            <a:r>
              <a:rPr kumimoji="1" lang="zh-CN" altLang="en-US" sz="2800" dirty="0"/>
              <a:t>如果希望程序在退出系统后仍然能够继续运行，可以使用 </a:t>
            </a:r>
            <a:r>
              <a:rPr kumimoji="1" lang="en-US" altLang="zh-CN" sz="2800" b="1" dirty="0">
                <a:solidFill>
                  <a:srgbClr val="006600"/>
                </a:solidFill>
              </a:rPr>
              <a:t>nohup</a:t>
            </a:r>
            <a:r>
              <a:rPr kumimoji="1" lang="en-US" altLang="zh-CN" sz="2800" dirty="0"/>
              <a:t> </a:t>
            </a:r>
            <a:r>
              <a:rPr kumimoji="1" lang="zh-CN" altLang="en-US" sz="2800" dirty="0"/>
              <a:t>命令启动该进程</a:t>
            </a:r>
            <a:endParaRPr kumimoji="1" lang="en-US" altLang="zh-CN" sz="2800" dirty="0"/>
          </a:p>
          <a:p>
            <a:endParaRPr kumimoji="1" lang="en-US" altLang="zh-CN" dirty="0"/>
          </a:p>
          <a:p>
            <a:r>
              <a:rPr kumimoji="1" lang="zh-CN" altLang="en-US" sz="2800" dirty="0"/>
              <a:t>例如：</a:t>
            </a:r>
            <a:endParaRPr kumimoji="1" lang="en-US" altLang="zh-CN" sz="2800" dirty="0"/>
          </a:p>
          <a:p>
            <a:pPr lvl="1">
              <a:buNone/>
            </a:pPr>
            <a:r>
              <a:rPr lang="en-US" altLang="zh-CN" sz="2400" dirty="0">
                <a:solidFill>
                  <a:schemeClr val="accent6">
                    <a:lumMod val="75000"/>
                  </a:schemeClr>
                </a:solidFill>
              </a:rPr>
              <a:t>$ nohup </a:t>
            </a:r>
            <a:r>
              <a:rPr lang="en-US" altLang="zh-CN" sz="2400" dirty="0">
                <a:solidFill>
                  <a:srgbClr val="002060"/>
                </a:solidFill>
              </a:rPr>
              <a:t>~/bin/mirror_yumrepo_with_rsync.sh --centos  --arch i386 --exclude-iso </a:t>
            </a:r>
            <a:r>
              <a:rPr lang="en-US" altLang="zh-CN" sz="2400" dirty="0">
                <a:solidFill>
                  <a:schemeClr val="accent6">
                    <a:lumMod val="75000"/>
                  </a:schemeClr>
                </a:solidFill>
              </a:rPr>
              <a:t>&amp;</a:t>
            </a:r>
          </a:p>
          <a:p>
            <a:pPr lvl="1">
              <a:lnSpc>
                <a:spcPct val="110000"/>
              </a:lnSpc>
            </a:pPr>
            <a:r>
              <a:rPr lang="zh-CN" altLang="en-US" sz="2100" dirty="0"/>
              <a:t>若</a:t>
            </a:r>
            <a:r>
              <a:rPr lang="zh-CN" altLang="en-US" sz="2100" dirty="0">
                <a:solidFill>
                  <a:srgbClr val="FF0000"/>
                </a:solidFill>
              </a:rPr>
              <a:t>程序有结果输出</a:t>
            </a:r>
            <a:r>
              <a:rPr lang="zh-CN" altLang="en-US" sz="2100" dirty="0"/>
              <a:t>，输出结果将会被</a:t>
            </a:r>
            <a:r>
              <a:rPr lang="zh-CN" altLang="en-US" sz="2100" dirty="0">
                <a:solidFill>
                  <a:srgbClr val="FF0000"/>
                </a:solidFill>
              </a:rPr>
              <a:t>保存</a:t>
            </a:r>
            <a:r>
              <a:rPr lang="zh-CN" altLang="en-US" sz="2100" dirty="0"/>
              <a:t>到当前目录下的一个文件名为 </a:t>
            </a:r>
            <a:r>
              <a:rPr lang="en-US" altLang="zh-CN" sz="2100" dirty="0" err="1">
                <a:solidFill>
                  <a:srgbClr val="FF0000"/>
                </a:solidFill>
              </a:rPr>
              <a:t>nohup.out</a:t>
            </a:r>
            <a:r>
              <a:rPr lang="en-US" altLang="zh-CN" sz="2100" dirty="0">
                <a:solidFill>
                  <a:srgbClr val="FF0000"/>
                </a:solidFill>
              </a:rPr>
              <a:t> </a:t>
            </a:r>
            <a:r>
              <a:rPr lang="zh-CN" altLang="en-US" sz="2100" dirty="0"/>
              <a:t>的文件中， </a:t>
            </a:r>
          </a:p>
          <a:p>
            <a:pPr lvl="1">
              <a:lnSpc>
                <a:spcPct val="110000"/>
              </a:lnSpc>
            </a:pPr>
            <a:r>
              <a:rPr lang="zh-CN" altLang="en-US" sz="2100" dirty="0"/>
              <a:t>若用户在当前目录</a:t>
            </a:r>
            <a:r>
              <a:rPr lang="zh-CN" altLang="en-US" sz="2100" dirty="0">
                <a:solidFill>
                  <a:srgbClr val="FF0000"/>
                </a:solidFill>
              </a:rPr>
              <a:t>没有写的权限</a:t>
            </a:r>
            <a:r>
              <a:rPr lang="zh-CN" altLang="en-US" sz="2100" dirty="0"/>
              <a:t>，则结果将会被保存到</a:t>
            </a:r>
            <a:r>
              <a:rPr lang="zh-CN" altLang="en-US" sz="2100" dirty="0">
                <a:solidFill>
                  <a:srgbClr val="FF0000"/>
                </a:solidFill>
              </a:rPr>
              <a:t>用户主目录</a:t>
            </a:r>
            <a:r>
              <a:rPr lang="zh-CN" altLang="en-US" sz="2100" dirty="0"/>
              <a:t>下的 </a:t>
            </a:r>
            <a:r>
              <a:rPr lang="en-US" altLang="zh-CN" sz="2100" dirty="0" err="1">
                <a:solidFill>
                  <a:srgbClr val="FF0000"/>
                </a:solidFill>
              </a:rPr>
              <a:t>nohup.out</a:t>
            </a:r>
            <a:r>
              <a:rPr lang="en-US" altLang="zh-CN" sz="2100" dirty="0">
                <a:solidFill>
                  <a:srgbClr val="FF0000"/>
                </a:solidFill>
              </a:rPr>
              <a:t> </a:t>
            </a:r>
            <a:r>
              <a:rPr lang="zh-CN" altLang="en-US" sz="2100" dirty="0"/>
              <a:t>文件中。</a:t>
            </a:r>
          </a:p>
        </p:txBody>
      </p:sp>
      <p:sp>
        <p:nvSpPr>
          <p:cNvPr id="7" name="Rectangle 4"/>
          <p:cNvSpPr>
            <a:spLocks noChangeArrowheads="1"/>
          </p:cNvSpPr>
          <p:nvPr/>
        </p:nvSpPr>
        <p:spPr bwMode="auto">
          <a:xfrm>
            <a:off x="1018543" y="3284984"/>
            <a:ext cx="7560443" cy="581762"/>
          </a:xfrm>
          <a:prstGeom prst="rect">
            <a:avLst/>
          </a:prstGeom>
          <a:noFill/>
          <a:ln w="9525">
            <a:solidFill>
              <a:schemeClr val="tx1"/>
            </a:solidFill>
            <a:miter lim="800000"/>
            <a:headEnd/>
            <a:tailEnd/>
          </a:ln>
          <a:effectLst/>
        </p:spPr>
        <p:txBody>
          <a:bodyPr wrap="square">
            <a:spAutoFit/>
          </a:bodyPr>
          <a:lstStyle/>
          <a:p>
            <a:pPr>
              <a:lnSpc>
                <a:spcPct val="120000"/>
              </a:lnSpc>
              <a:buClr>
                <a:schemeClr val="hlink"/>
              </a:buClr>
              <a:buFont typeface="Wingdings" pitchFamily="2" charset="2"/>
              <a:buNone/>
            </a:pPr>
            <a:r>
              <a:rPr lang="en-US" altLang="zh-CN" sz="2800" b="1" dirty="0">
                <a:solidFill>
                  <a:srgbClr val="006600"/>
                </a:solidFill>
                <a:latin typeface="Courier New" pitchFamily="49" charset="0"/>
              </a:rPr>
              <a:t>nohup </a:t>
            </a:r>
            <a:r>
              <a:rPr lang="zh-CN" altLang="en-US" sz="2800" b="1" dirty="0">
                <a:solidFill>
                  <a:srgbClr val="0000CC"/>
                </a:solidFill>
                <a:latin typeface="Courier New" pitchFamily="49" charset="0"/>
              </a:rPr>
              <a:t>命令 [选项] [参数] [输出文件] </a:t>
            </a:r>
            <a:r>
              <a:rPr lang="zh-CN" altLang="en-US" sz="2800" b="1" dirty="0">
                <a:solidFill>
                  <a:srgbClr val="006600"/>
                </a:solidFill>
                <a:latin typeface="Courier New" pitchFamily="49" charset="0"/>
              </a:rPr>
              <a:t>&amp;</a:t>
            </a:r>
          </a:p>
        </p:txBody>
      </p:sp>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四 </a:t>
            </a:r>
            <a:r>
              <a:rPr lang="zh-CN" altLang="en-US" sz="4400" strike="sngStrike" dirty="0"/>
              <a:t>进程调度的优先权</a:t>
            </a:r>
            <a:endParaRPr lang="zh-CN" altLang="en-US" strike="sngStrike" dirty="0"/>
          </a:p>
        </p:txBody>
      </p:sp>
      <p:sp>
        <p:nvSpPr>
          <p:cNvPr id="3" name="内容占位符 2"/>
          <p:cNvSpPr>
            <a:spLocks noGrp="1"/>
          </p:cNvSpPr>
          <p:nvPr>
            <p:ph idx="1"/>
          </p:nvPr>
        </p:nvSpPr>
        <p:spPr>
          <a:xfrm>
            <a:off x="905529" y="1484784"/>
            <a:ext cx="8229600" cy="4646141"/>
          </a:xfrm>
        </p:spPr>
        <p:txBody>
          <a:bodyPr/>
          <a:lstStyle/>
          <a:p>
            <a:r>
              <a:rPr lang="zh-CN" altLang="en-US" dirty="0"/>
              <a:t>进程的</a:t>
            </a:r>
            <a:r>
              <a:rPr lang="zh-CN" altLang="en-US" dirty="0">
                <a:solidFill>
                  <a:srgbClr val="FF0000"/>
                </a:solidFill>
              </a:rPr>
              <a:t>优先权</a:t>
            </a:r>
            <a:r>
              <a:rPr lang="zh-CN" altLang="en-US" dirty="0"/>
              <a:t>决定对</a:t>
            </a:r>
            <a:r>
              <a:rPr lang="en-US" altLang="zh-CN" dirty="0"/>
              <a:t>CPU</a:t>
            </a:r>
            <a:r>
              <a:rPr lang="zh-CN" altLang="en-US" dirty="0"/>
              <a:t>的使用</a:t>
            </a:r>
          </a:p>
          <a:p>
            <a:r>
              <a:rPr lang="zh-CN" altLang="en-US" dirty="0"/>
              <a:t>进程在运行时可以享有</a:t>
            </a:r>
            <a:r>
              <a:rPr lang="zh-CN" altLang="en-US" dirty="0">
                <a:solidFill>
                  <a:srgbClr val="FF0000"/>
                </a:solidFill>
              </a:rPr>
              <a:t>不同等</a:t>
            </a:r>
            <a:r>
              <a:rPr lang="zh-CN" altLang="en-US" dirty="0"/>
              <a:t>的</a:t>
            </a:r>
            <a:r>
              <a:rPr lang="zh-CN" altLang="en-US" dirty="0">
                <a:solidFill>
                  <a:srgbClr val="FF0000"/>
                </a:solidFill>
              </a:rPr>
              <a:t>优先权</a:t>
            </a:r>
          </a:p>
          <a:p>
            <a:r>
              <a:rPr lang="zh-CN" altLang="en-US" dirty="0"/>
              <a:t>进程的优先权受进程的</a:t>
            </a:r>
            <a:r>
              <a:rPr lang="en-US" altLang="zh-CN" dirty="0">
                <a:solidFill>
                  <a:srgbClr val="FF0000"/>
                </a:solidFill>
              </a:rPr>
              <a:t>nice</a:t>
            </a:r>
            <a:r>
              <a:rPr lang="zh-CN" altLang="en-US" dirty="0">
                <a:solidFill>
                  <a:srgbClr val="FF0000"/>
                </a:solidFill>
              </a:rPr>
              <a:t>值</a:t>
            </a:r>
            <a:r>
              <a:rPr lang="zh-CN" altLang="en-US" dirty="0"/>
              <a:t>的影响 </a:t>
            </a:r>
          </a:p>
          <a:p>
            <a:pPr lvl="1"/>
            <a:r>
              <a:rPr lang="zh-CN" altLang="en-US" dirty="0"/>
              <a:t>这个值的</a:t>
            </a:r>
            <a:r>
              <a:rPr lang="zh-CN" altLang="en-US" dirty="0">
                <a:solidFill>
                  <a:srgbClr val="FF0000"/>
                </a:solidFill>
              </a:rPr>
              <a:t>范围</a:t>
            </a:r>
            <a:r>
              <a:rPr lang="zh-CN" altLang="en-US" dirty="0"/>
              <a:t>是 </a:t>
            </a:r>
            <a:r>
              <a:rPr lang="en-US" altLang="zh-CN" dirty="0">
                <a:solidFill>
                  <a:srgbClr val="FF0000"/>
                </a:solidFill>
              </a:rPr>
              <a:t>-20</a:t>
            </a:r>
            <a:r>
              <a:rPr lang="zh-CN" altLang="en-US" dirty="0">
                <a:solidFill>
                  <a:srgbClr val="FF0000"/>
                </a:solidFill>
              </a:rPr>
              <a:t>到</a:t>
            </a:r>
            <a:r>
              <a:rPr lang="en-US" altLang="zh-CN" dirty="0">
                <a:solidFill>
                  <a:srgbClr val="FF0000"/>
                </a:solidFill>
              </a:rPr>
              <a:t>19</a:t>
            </a:r>
            <a:r>
              <a:rPr lang="zh-CN" altLang="en-US" dirty="0"/>
              <a:t>，</a:t>
            </a:r>
            <a:r>
              <a:rPr lang="zh-CN" altLang="en-US" dirty="0">
                <a:solidFill>
                  <a:srgbClr val="002060"/>
                </a:solidFill>
              </a:rPr>
              <a:t>默认是 </a:t>
            </a:r>
            <a:r>
              <a:rPr lang="en-US" altLang="zh-CN" dirty="0">
                <a:solidFill>
                  <a:srgbClr val="002060"/>
                </a:solidFill>
              </a:rPr>
              <a:t>0 </a:t>
            </a:r>
          </a:p>
          <a:p>
            <a:pPr lvl="1"/>
            <a:r>
              <a:rPr lang="zh-CN" altLang="en-US" dirty="0">
                <a:solidFill>
                  <a:srgbClr val="FF0000"/>
                </a:solidFill>
              </a:rPr>
              <a:t>值越小</a:t>
            </a:r>
            <a:r>
              <a:rPr lang="zh-CN" altLang="en-US" dirty="0"/>
              <a:t>说明对</a:t>
            </a:r>
            <a:r>
              <a:rPr lang="en-US" altLang="zh-CN" dirty="0"/>
              <a:t>CPU</a:t>
            </a:r>
            <a:r>
              <a:rPr lang="zh-CN" altLang="en-US" dirty="0"/>
              <a:t>的使用</a:t>
            </a:r>
            <a:r>
              <a:rPr lang="zh-CN" altLang="en-US" dirty="0">
                <a:solidFill>
                  <a:srgbClr val="FF0000"/>
                </a:solidFill>
              </a:rPr>
              <a:t>越优先 </a:t>
            </a:r>
          </a:p>
          <a:p>
            <a:r>
              <a:rPr lang="zh-CN" altLang="en-US" dirty="0"/>
              <a:t>查看进程优先级（看 </a:t>
            </a:r>
            <a:r>
              <a:rPr lang="en-US" altLang="zh-CN" dirty="0">
                <a:solidFill>
                  <a:srgbClr val="002060"/>
                </a:solidFill>
              </a:rPr>
              <a:t>NI</a:t>
            </a:r>
            <a:r>
              <a:rPr lang="en-US" altLang="zh-CN" dirty="0"/>
              <a:t> </a:t>
            </a:r>
            <a:r>
              <a:rPr lang="zh-CN" altLang="en-US" dirty="0"/>
              <a:t>列的值）</a:t>
            </a:r>
          </a:p>
          <a:p>
            <a:pPr lvl="1"/>
            <a:r>
              <a:rPr lang="en-US" altLang="zh-CN" dirty="0">
                <a:solidFill>
                  <a:srgbClr val="002060"/>
                </a:solidFill>
              </a:rPr>
              <a:t>ps -l </a:t>
            </a:r>
          </a:p>
          <a:p>
            <a:pPr lvl="1"/>
            <a:r>
              <a:rPr lang="en-US" altLang="zh-CN" dirty="0">
                <a:solidFill>
                  <a:srgbClr val="002060"/>
                </a:solidFill>
              </a:rPr>
              <a:t>ps -o </a:t>
            </a:r>
            <a:r>
              <a:rPr lang="en-US" altLang="zh-CN" dirty="0" err="1">
                <a:solidFill>
                  <a:srgbClr val="002060"/>
                </a:solidFill>
              </a:rPr>
              <a:t>comm,nice</a:t>
            </a:r>
            <a:endParaRPr lang="zh-CN" altLang="en-US" dirty="0">
              <a:solidFill>
                <a:srgbClr val="002060"/>
              </a:solidFill>
            </a:endParaRPr>
          </a:p>
        </p:txBody>
      </p:sp>
    </p:spTree>
  </p:cSld>
  <p:clrMapOvr>
    <a:masterClrMapping/>
  </p:clrMapOvr>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4400" dirty="0"/>
              <a:t>四 进程调度的优先权</a:t>
            </a:r>
            <a:endParaRPr lang="zh-CN" altLang="en-US" dirty="0"/>
          </a:p>
        </p:txBody>
      </p:sp>
      <p:pic>
        <p:nvPicPr>
          <p:cNvPr id="5" name="图片 4">
            <a:extLst>
              <a:ext uri="{FF2B5EF4-FFF2-40B4-BE49-F238E27FC236}">
                <a16:creationId xmlns:a16="http://schemas.microsoft.com/office/drawing/2014/main" id="{3B88BECE-4321-4F12-8D57-B3D351C397F3}"/>
              </a:ext>
            </a:extLst>
          </p:cNvPr>
          <p:cNvPicPr>
            <a:picLocks noChangeAspect="1"/>
          </p:cNvPicPr>
          <p:nvPr/>
        </p:nvPicPr>
        <p:blipFill>
          <a:blip r:embed="rId2"/>
          <a:stretch>
            <a:fillRect/>
          </a:stretch>
        </p:blipFill>
        <p:spPr>
          <a:xfrm>
            <a:off x="1190828" y="1366579"/>
            <a:ext cx="6762344" cy="2078335"/>
          </a:xfrm>
          <a:prstGeom prst="rect">
            <a:avLst/>
          </a:prstGeom>
        </p:spPr>
      </p:pic>
      <p:pic>
        <p:nvPicPr>
          <p:cNvPr id="6" name="图片 5">
            <a:extLst>
              <a:ext uri="{FF2B5EF4-FFF2-40B4-BE49-F238E27FC236}">
                <a16:creationId xmlns:a16="http://schemas.microsoft.com/office/drawing/2014/main" id="{1F64D4FE-4458-4E80-83EE-9EB161159278}"/>
              </a:ext>
            </a:extLst>
          </p:cNvPr>
          <p:cNvPicPr>
            <a:picLocks noChangeAspect="1"/>
          </p:cNvPicPr>
          <p:nvPr/>
        </p:nvPicPr>
        <p:blipFill>
          <a:blip r:embed="rId3"/>
          <a:stretch>
            <a:fillRect/>
          </a:stretch>
        </p:blipFill>
        <p:spPr>
          <a:xfrm>
            <a:off x="1691679" y="3924039"/>
            <a:ext cx="6074933" cy="2536785"/>
          </a:xfrm>
          <a:prstGeom prst="rect">
            <a:avLst/>
          </a:prstGeom>
        </p:spPr>
      </p:pic>
      <p:sp>
        <p:nvSpPr>
          <p:cNvPr id="10" name="文本框 9">
            <a:extLst>
              <a:ext uri="{FF2B5EF4-FFF2-40B4-BE49-F238E27FC236}">
                <a16:creationId xmlns:a16="http://schemas.microsoft.com/office/drawing/2014/main" id="{E5B544E4-4967-4896-9AA6-446F98404C25}"/>
              </a:ext>
            </a:extLst>
          </p:cNvPr>
          <p:cNvSpPr txBox="1"/>
          <p:nvPr/>
        </p:nvSpPr>
        <p:spPr>
          <a:xfrm>
            <a:off x="2373695" y="6444044"/>
            <a:ext cx="4572000" cy="369332"/>
          </a:xfrm>
          <a:prstGeom prst="rect">
            <a:avLst/>
          </a:prstGeom>
          <a:noFill/>
        </p:spPr>
        <p:txBody>
          <a:bodyPr wrap="square">
            <a:spAutoFit/>
          </a:bodyPr>
          <a:lstStyle/>
          <a:p>
            <a:r>
              <a:rPr lang="zh-CN" altLang="en-US" b="0" i="0" dirty="0">
                <a:solidFill>
                  <a:srgbClr val="000000"/>
                </a:solidFill>
                <a:effectLst/>
                <a:latin typeface="新细明体"/>
              </a:rPr>
              <a:t>具有优先顺序的进程队列示意图</a:t>
            </a:r>
            <a:endParaRPr lang="zh-CN" altLang="en-US" dirty="0"/>
          </a:p>
        </p:txBody>
      </p:sp>
      <p:sp>
        <p:nvSpPr>
          <p:cNvPr id="11" name="文本框 10">
            <a:extLst>
              <a:ext uri="{FF2B5EF4-FFF2-40B4-BE49-F238E27FC236}">
                <a16:creationId xmlns:a16="http://schemas.microsoft.com/office/drawing/2014/main" id="{577BD44B-2D74-4E0C-AB3F-290136180DE0}"/>
              </a:ext>
            </a:extLst>
          </p:cNvPr>
          <p:cNvSpPr txBox="1"/>
          <p:nvPr/>
        </p:nvSpPr>
        <p:spPr>
          <a:xfrm>
            <a:off x="2302474" y="3467331"/>
            <a:ext cx="4572000" cy="369332"/>
          </a:xfrm>
          <a:prstGeom prst="rect">
            <a:avLst/>
          </a:prstGeom>
          <a:noFill/>
        </p:spPr>
        <p:txBody>
          <a:bodyPr wrap="square">
            <a:spAutoFit/>
          </a:bodyPr>
          <a:lstStyle/>
          <a:p>
            <a:r>
              <a:rPr lang="zh-CN" altLang="en-US" dirty="0">
                <a:solidFill>
                  <a:srgbClr val="000000"/>
                </a:solidFill>
                <a:latin typeface="新细明体"/>
              </a:rPr>
              <a:t>没</a:t>
            </a:r>
            <a:r>
              <a:rPr lang="zh-CN" altLang="en-US" b="0" i="0" dirty="0">
                <a:solidFill>
                  <a:srgbClr val="000000"/>
                </a:solidFill>
                <a:effectLst/>
                <a:latin typeface="新细明体"/>
              </a:rPr>
              <a:t>有优先顺序的进程队列示意图</a:t>
            </a:r>
            <a:endParaRPr lang="zh-CN" altLang="en-US" dirty="0"/>
          </a:p>
        </p:txBody>
      </p:sp>
      <p:pic>
        <p:nvPicPr>
          <p:cNvPr id="9" name="图片 8">
            <a:extLst>
              <a:ext uri="{FF2B5EF4-FFF2-40B4-BE49-F238E27FC236}">
                <a16:creationId xmlns:a16="http://schemas.microsoft.com/office/drawing/2014/main" id="{2E2A3FD5-3371-4F60-B79E-0C7B5225CE98}"/>
              </a:ext>
            </a:extLst>
          </p:cNvPr>
          <p:cNvPicPr>
            <a:picLocks noChangeAspect="1"/>
          </p:cNvPicPr>
          <p:nvPr/>
        </p:nvPicPr>
        <p:blipFill>
          <a:blip r:embed="rId4"/>
          <a:stretch>
            <a:fillRect/>
          </a:stretch>
        </p:blipFill>
        <p:spPr>
          <a:xfrm>
            <a:off x="1905643" y="2193289"/>
            <a:ext cx="936104" cy="200882"/>
          </a:xfrm>
          <a:prstGeom prst="rect">
            <a:avLst/>
          </a:prstGeom>
        </p:spPr>
      </p:pic>
      <p:sp>
        <p:nvSpPr>
          <p:cNvPr id="12" name="文本框 11">
            <a:extLst>
              <a:ext uri="{FF2B5EF4-FFF2-40B4-BE49-F238E27FC236}">
                <a16:creationId xmlns:a16="http://schemas.microsoft.com/office/drawing/2014/main" id="{8ABA7A7C-3ED0-461A-8469-4AEEA15C9C0E}"/>
              </a:ext>
            </a:extLst>
          </p:cNvPr>
          <p:cNvSpPr txBox="1"/>
          <p:nvPr/>
        </p:nvSpPr>
        <p:spPr>
          <a:xfrm>
            <a:off x="1819697" y="2036414"/>
            <a:ext cx="1107996" cy="369332"/>
          </a:xfrm>
          <a:prstGeom prst="rect">
            <a:avLst/>
          </a:prstGeom>
          <a:noFill/>
        </p:spPr>
        <p:txBody>
          <a:bodyPr wrap="none" rtlCol="0">
            <a:spAutoFit/>
          </a:bodyPr>
          <a:lstStyle/>
          <a:p>
            <a:r>
              <a:rPr lang="zh-CN" altLang="en-US" dirty="0"/>
              <a:t>工作队列</a:t>
            </a:r>
          </a:p>
        </p:txBody>
      </p:sp>
      <p:pic>
        <p:nvPicPr>
          <p:cNvPr id="14" name="图片 13">
            <a:extLst>
              <a:ext uri="{FF2B5EF4-FFF2-40B4-BE49-F238E27FC236}">
                <a16:creationId xmlns:a16="http://schemas.microsoft.com/office/drawing/2014/main" id="{31BB078A-1373-4D19-BCB3-724B58E4446A}"/>
              </a:ext>
            </a:extLst>
          </p:cNvPr>
          <p:cNvPicPr>
            <a:picLocks noChangeAspect="1"/>
          </p:cNvPicPr>
          <p:nvPr/>
        </p:nvPicPr>
        <p:blipFill>
          <a:blip r:embed="rId4"/>
          <a:stretch>
            <a:fillRect/>
          </a:stretch>
        </p:blipFill>
        <p:spPr>
          <a:xfrm flipV="1">
            <a:off x="2074870" y="4056872"/>
            <a:ext cx="1305643" cy="229928"/>
          </a:xfrm>
          <a:prstGeom prst="rect">
            <a:avLst/>
          </a:prstGeom>
        </p:spPr>
      </p:pic>
      <p:sp>
        <p:nvSpPr>
          <p:cNvPr id="17" name="文本框 16">
            <a:extLst>
              <a:ext uri="{FF2B5EF4-FFF2-40B4-BE49-F238E27FC236}">
                <a16:creationId xmlns:a16="http://schemas.microsoft.com/office/drawing/2014/main" id="{6D13E05F-4A75-4312-BF01-4E90D261D213}"/>
              </a:ext>
            </a:extLst>
          </p:cNvPr>
          <p:cNvSpPr txBox="1"/>
          <p:nvPr/>
        </p:nvSpPr>
        <p:spPr>
          <a:xfrm>
            <a:off x="2097317" y="3963704"/>
            <a:ext cx="1107996" cy="369332"/>
          </a:xfrm>
          <a:prstGeom prst="rect">
            <a:avLst/>
          </a:prstGeom>
          <a:noFill/>
        </p:spPr>
        <p:txBody>
          <a:bodyPr wrap="none" rtlCol="0">
            <a:spAutoFit/>
          </a:bodyPr>
          <a:lstStyle/>
          <a:p>
            <a:r>
              <a:rPr lang="zh-CN" altLang="en-US" dirty="0"/>
              <a:t>工作队列</a:t>
            </a:r>
          </a:p>
        </p:txBody>
      </p:sp>
      <p:pic>
        <p:nvPicPr>
          <p:cNvPr id="16" name="图片 15">
            <a:extLst>
              <a:ext uri="{FF2B5EF4-FFF2-40B4-BE49-F238E27FC236}">
                <a16:creationId xmlns:a16="http://schemas.microsoft.com/office/drawing/2014/main" id="{25AFC772-BB55-473D-A095-B364A4F2D938}"/>
              </a:ext>
            </a:extLst>
          </p:cNvPr>
          <p:cNvPicPr>
            <a:picLocks noChangeAspect="1"/>
          </p:cNvPicPr>
          <p:nvPr/>
        </p:nvPicPr>
        <p:blipFill>
          <a:blip r:embed="rId5"/>
          <a:stretch>
            <a:fillRect/>
          </a:stretch>
        </p:blipFill>
        <p:spPr>
          <a:xfrm>
            <a:off x="4950618" y="2405745"/>
            <a:ext cx="413470" cy="226551"/>
          </a:xfrm>
          <a:prstGeom prst="rect">
            <a:avLst/>
          </a:prstGeom>
        </p:spPr>
      </p:pic>
      <p:pic>
        <p:nvPicPr>
          <p:cNvPr id="21" name="图片 20">
            <a:extLst>
              <a:ext uri="{FF2B5EF4-FFF2-40B4-BE49-F238E27FC236}">
                <a16:creationId xmlns:a16="http://schemas.microsoft.com/office/drawing/2014/main" id="{EB30ABD9-3E65-4B72-B6A8-A1FA741BF4B1}"/>
              </a:ext>
            </a:extLst>
          </p:cNvPr>
          <p:cNvPicPr>
            <a:picLocks noChangeAspect="1"/>
          </p:cNvPicPr>
          <p:nvPr/>
        </p:nvPicPr>
        <p:blipFill>
          <a:blip r:embed="rId5"/>
          <a:stretch>
            <a:fillRect/>
          </a:stretch>
        </p:blipFill>
        <p:spPr>
          <a:xfrm>
            <a:off x="5116064" y="4333036"/>
            <a:ext cx="413470" cy="226551"/>
          </a:xfrm>
          <a:prstGeom prst="rect">
            <a:avLst/>
          </a:prstGeom>
        </p:spPr>
      </p:pic>
      <p:pic>
        <p:nvPicPr>
          <p:cNvPr id="22" name="图片 21">
            <a:extLst>
              <a:ext uri="{FF2B5EF4-FFF2-40B4-BE49-F238E27FC236}">
                <a16:creationId xmlns:a16="http://schemas.microsoft.com/office/drawing/2014/main" id="{B915154A-CAFD-4561-9106-C508000EBA4C}"/>
              </a:ext>
            </a:extLst>
          </p:cNvPr>
          <p:cNvPicPr>
            <a:picLocks noChangeAspect="1"/>
          </p:cNvPicPr>
          <p:nvPr/>
        </p:nvPicPr>
        <p:blipFill>
          <a:blip r:embed="rId5"/>
          <a:stretch>
            <a:fillRect/>
          </a:stretch>
        </p:blipFill>
        <p:spPr>
          <a:xfrm>
            <a:off x="6843929" y="2150949"/>
            <a:ext cx="771449" cy="422697"/>
          </a:xfrm>
          <a:prstGeom prst="rect">
            <a:avLst/>
          </a:prstGeom>
        </p:spPr>
      </p:pic>
      <p:pic>
        <p:nvPicPr>
          <p:cNvPr id="23" name="图片 22">
            <a:extLst>
              <a:ext uri="{FF2B5EF4-FFF2-40B4-BE49-F238E27FC236}">
                <a16:creationId xmlns:a16="http://schemas.microsoft.com/office/drawing/2014/main" id="{C7870183-E0FD-46B8-B3B5-116708E6B456}"/>
              </a:ext>
            </a:extLst>
          </p:cNvPr>
          <p:cNvPicPr>
            <a:picLocks noChangeAspect="1"/>
          </p:cNvPicPr>
          <p:nvPr/>
        </p:nvPicPr>
        <p:blipFill>
          <a:blip r:embed="rId5"/>
          <a:stretch>
            <a:fillRect/>
          </a:stretch>
        </p:blipFill>
        <p:spPr>
          <a:xfrm>
            <a:off x="6802426" y="4104439"/>
            <a:ext cx="771449" cy="422697"/>
          </a:xfrm>
          <a:prstGeom prst="rect">
            <a:avLst/>
          </a:prstGeom>
        </p:spPr>
      </p:pic>
      <p:sp>
        <p:nvSpPr>
          <p:cNvPr id="19" name="文本框 18">
            <a:extLst>
              <a:ext uri="{FF2B5EF4-FFF2-40B4-BE49-F238E27FC236}">
                <a16:creationId xmlns:a16="http://schemas.microsoft.com/office/drawing/2014/main" id="{BD8C050B-58EC-4F38-B974-C7C94A505026}"/>
              </a:ext>
            </a:extLst>
          </p:cNvPr>
          <p:cNvSpPr txBox="1"/>
          <p:nvPr/>
        </p:nvSpPr>
        <p:spPr>
          <a:xfrm>
            <a:off x="5050631" y="4261645"/>
            <a:ext cx="646331" cy="369332"/>
          </a:xfrm>
          <a:prstGeom prst="rect">
            <a:avLst/>
          </a:prstGeom>
          <a:noFill/>
        </p:spPr>
        <p:txBody>
          <a:bodyPr wrap="none" rtlCol="0">
            <a:spAutoFit/>
          </a:bodyPr>
          <a:lstStyle/>
          <a:p>
            <a:r>
              <a:rPr lang="zh-CN" altLang="en-US" dirty="0"/>
              <a:t>运行</a:t>
            </a:r>
          </a:p>
        </p:txBody>
      </p:sp>
      <p:sp>
        <p:nvSpPr>
          <p:cNvPr id="25" name="文本框 24">
            <a:extLst>
              <a:ext uri="{FF2B5EF4-FFF2-40B4-BE49-F238E27FC236}">
                <a16:creationId xmlns:a16="http://schemas.microsoft.com/office/drawing/2014/main" id="{AB7C28E6-75CF-428E-9CD4-E82A11EB7860}"/>
              </a:ext>
            </a:extLst>
          </p:cNvPr>
          <p:cNvSpPr txBox="1"/>
          <p:nvPr/>
        </p:nvSpPr>
        <p:spPr>
          <a:xfrm>
            <a:off x="4834187" y="2388980"/>
            <a:ext cx="646331" cy="369332"/>
          </a:xfrm>
          <a:prstGeom prst="rect">
            <a:avLst/>
          </a:prstGeom>
          <a:noFill/>
        </p:spPr>
        <p:txBody>
          <a:bodyPr wrap="none" rtlCol="0">
            <a:spAutoFit/>
          </a:bodyPr>
          <a:lstStyle/>
          <a:p>
            <a:r>
              <a:rPr lang="zh-CN" altLang="en-US" dirty="0"/>
              <a:t>运行</a:t>
            </a:r>
          </a:p>
        </p:txBody>
      </p:sp>
      <p:sp>
        <p:nvSpPr>
          <p:cNvPr id="26" name="文本框 25">
            <a:extLst>
              <a:ext uri="{FF2B5EF4-FFF2-40B4-BE49-F238E27FC236}">
                <a16:creationId xmlns:a16="http://schemas.microsoft.com/office/drawing/2014/main" id="{971ED1C4-E0B2-49D2-A907-1CC971F95AD5}"/>
              </a:ext>
            </a:extLst>
          </p:cNvPr>
          <p:cNvSpPr txBox="1"/>
          <p:nvPr/>
        </p:nvSpPr>
        <p:spPr>
          <a:xfrm>
            <a:off x="6684359" y="2222605"/>
            <a:ext cx="1107996" cy="369332"/>
          </a:xfrm>
          <a:prstGeom prst="rect">
            <a:avLst/>
          </a:prstGeom>
          <a:noFill/>
        </p:spPr>
        <p:txBody>
          <a:bodyPr wrap="none" rtlCol="0">
            <a:spAutoFit/>
          </a:bodyPr>
          <a:lstStyle/>
          <a:p>
            <a:r>
              <a:rPr lang="zh-CN" altLang="en-US" dirty="0"/>
              <a:t>结束离开</a:t>
            </a:r>
          </a:p>
        </p:txBody>
      </p:sp>
      <p:sp>
        <p:nvSpPr>
          <p:cNvPr id="28" name="文本框 27">
            <a:extLst>
              <a:ext uri="{FF2B5EF4-FFF2-40B4-BE49-F238E27FC236}">
                <a16:creationId xmlns:a16="http://schemas.microsoft.com/office/drawing/2014/main" id="{1222036B-1771-4B24-AE83-1EF38A700B69}"/>
              </a:ext>
            </a:extLst>
          </p:cNvPr>
          <p:cNvSpPr txBox="1"/>
          <p:nvPr/>
        </p:nvSpPr>
        <p:spPr>
          <a:xfrm>
            <a:off x="6611051" y="4121222"/>
            <a:ext cx="1107996" cy="369332"/>
          </a:xfrm>
          <a:prstGeom prst="rect">
            <a:avLst/>
          </a:prstGeom>
          <a:noFill/>
        </p:spPr>
        <p:txBody>
          <a:bodyPr wrap="none" rtlCol="0">
            <a:spAutoFit/>
          </a:bodyPr>
          <a:lstStyle/>
          <a:p>
            <a:r>
              <a:rPr lang="zh-CN" altLang="en-US" dirty="0"/>
              <a:t>结束离开</a:t>
            </a:r>
          </a:p>
        </p:txBody>
      </p:sp>
      <p:sp>
        <p:nvSpPr>
          <p:cNvPr id="29" name="文本框 28">
            <a:extLst>
              <a:ext uri="{FF2B5EF4-FFF2-40B4-BE49-F238E27FC236}">
                <a16:creationId xmlns:a16="http://schemas.microsoft.com/office/drawing/2014/main" id="{8BF53F5B-45EB-48D7-AD1D-6F7716DDED29}"/>
              </a:ext>
            </a:extLst>
          </p:cNvPr>
          <p:cNvSpPr txBox="1"/>
          <p:nvPr/>
        </p:nvSpPr>
        <p:spPr>
          <a:xfrm>
            <a:off x="3491880" y="1538687"/>
            <a:ext cx="646331" cy="369332"/>
          </a:xfrm>
          <a:prstGeom prst="rect">
            <a:avLst/>
          </a:prstGeom>
          <a:solidFill>
            <a:schemeClr val="bg1"/>
          </a:solidFill>
        </p:spPr>
        <p:txBody>
          <a:bodyPr wrap="none" rtlCol="0">
            <a:spAutoFit/>
          </a:bodyPr>
          <a:lstStyle/>
          <a:p>
            <a:r>
              <a:rPr lang="zh-CN" altLang="en-US" dirty="0"/>
              <a:t>执行</a:t>
            </a:r>
          </a:p>
        </p:txBody>
      </p:sp>
      <p:sp>
        <p:nvSpPr>
          <p:cNvPr id="30" name="文本框 29">
            <a:extLst>
              <a:ext uri="{FF2B5EF4-FFF2-40B4-BE49-F238E27FC236}">
                <a16:creationId xmlns:a16="http://schemas.microsoft.com/office/drawing/2014/main" id="{A8A855B1-5743-4D20-B780-1A395AF95D26}"/>
              </a:ext>
            </a:extLst>
          </p:cNvPr>
          <p:cNvSpPr txBox="1"/>
          <p:nvPr/>
        </p:nvSpPr>
        <p:spPr>
          <a:xfrm>
            <a:off x="3230931" y="2976470"/>
            <a:ext cx="1125045" cy="369332"/>
          </a:xfrm>
          <a:prstGeom prst="rect">
            <a:avLst/>
          </a:prstGeom>
          <a:solidFill>
            <a:schemeClr val="bg1"/>
          </a:solidFill>
        </p:spPr>
        <p:txBody>
          <a:bodyPr wrap="square" rtlCol="0">
            <a:spAutoFit/>
          </a:bodyPr>
          <a:lstStyle/>
          <a:p>
            <a:r>
              <a:rPr lang="zh-CN" altLang="en-US" dirty="0"/>
              <a:t>返回队列</a:t>
            </a:r>
          </a:p>
        </p:txBody>
      </p:sp>
    </p:spTree>
    <p:extLst>
      <p:ext uri="{BB962C8B-B14F-4D97-AF65-F5344CB8AC3E}">
        <p14:creationId xmlns:p14="http://schemas.microsoft.com/office/powerpoint/2010/main" val="289643193"/>
      </p:ext>
    </p:extLst>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改变进程调度优先权</a:t>
            </a:r>
          </a:p>
        </p:txBody>
      </p:sp>
      <p:sp>
        <p:nvSpPr>
          <p:cNvPr id="3" name="内容占位符 2"/>
          <p:cNvSpPr>
            <a:spLocks noGrp="1"/>
          </p:cNvSpPr>
          <p:nvPr>
            <p:ph idx="1"/>
          </p:nvPr>
        </p:nvSpPr>
        <p:spPr>
          <a:xfrm>
            <a:off x="717550" y="1405756"/>
            <a:ext cx="8229600" cy="676672"/>
          </a:xfrm>
        </p:spPr>
        <p:txBody>
          <a:bodyPr/>
          <a:lstStyle/>
          <a:p>
            <a:r>
              <a:rPr lang="zh-CN" altLang="en-US" dirty="0">
                <a:solidFill>
                  <a:srgbClr val="0000CC"/>
                </a:solidFill>
                <a:latin typeface="+mn-ea"/>
              </a:rPr>
              <a:t>在</a:t>
            </a:r>
            <a:r>
              <a:rPr lang="zh-CN" altLang="en-US" dirty="0">
                <a:solidFill>
                  <a:srgbClr val="FF0000"/>
                </a:solidFill>
                <a:latin typeface="+mn-ea"/>
              </a:rPr>
              <a:t>启动进程时</a:t>
            </a:r>
            <a:r>
              <a:rPr lang="zh-CN" altLang="en-US" dirty="0">
                <a:solidFill>
                  <a:srgbClr val="0000CC"/>
                </a:solidFill>
                <a:latin typeface="+mn-ea"/>
              </a:rPr>
              <a:t>就指定优先级：</a:t>
            </a:r>
            <a:r>
              <a:rPr lang="zh-CN" altLang="en-US" b="1" dirty="0">
                <a:solidFill>
                  <a:srgbClr val="0000CC"/>
                </a:solidFill>
                <a:latin typeface="+mn-ea"/>
              </a:rPr>
              <a:t> </a:t>
            </a:r>
            <a:r>
              <a:rPr lang="en-US" altLang="zh-CN" sz="3600" b="1" dirty="0">
                <a:solidFill>
                  <a:srgbClr val="990000"/>
                </a:solidFill>
                <a:latin typeface="Courier New" pitchFamily="49" charset="0"/>
                <a:ea typeface="黑体" pitchFamily="2" charset="-122"/>
              </a:rPr>
              <a:t>nice</a:t>
            </a:r>
            <a:endParaRPr lang="zh-CN" altLang="en-US" b="1" dirty="0"/>
          </a:p>
        </p:txBody>
      </p:sp>
      <p:sp>
        <p:nvSpPr>
          <p:cNvPr id="7" name="Rectangle 5"/>
          <p:cNvSpPr>
            <a:spLocks noChangeArrowheads="1"/>
          </p:cNvSpPr>
          <p:nvPr/>
        </p:nvSpPr>
        <p:spPr bwMode="auto">
          <a:xfrm>
            <a:off x="1043632" y="2204864"/>
            <a:ext cx="7239000" cy="535531"/>
          </a:xfrm>
          <a:prstGeom prst="rect">
            <a:avLst/>
          </a:prstGeom>
          <a:gradFill flip="none" rotWithShape="1">
            <a:gsLst>
              <a:gs pos="0">
                <a:schemeClr val="accent1">
                  <a:lumMod val="40000"/>
                  <a:lumOff val="60000"/>
                  <a:tint val="66000"/>
                  <a:satMod val="160000"/>
                </a:schemeClr>
              </a:gs>
              <a:gs pos="50000">
                <a:schemeClr val="accent1">
                  <a:lumMod val="40000"/>
                  <a:lumOff val="60000"/>
                  <a:tint val="44500"/>
                  <a:satMod val="160000"/>
                </a:schemeClr>
              </a:gs>
              <a:gs pos="100000">
                <a:schemeClr val="accent1">
                  <a:lumMod val="40000"/>
                  <a:lumOff val="60000"/>
                  <a:tint val="23500"/>
                  <a:satMod val="160000"/>
                </a:schemeClr>
              </a:gs>
            </a:gsLst>
            <a:lin ang="5400000" scaled="1"/>
            <a:tileRect/>
          </a:gradFill>
          <a:ln w="9525">
            <a:solidFill>
              <a:schemeClr val="tx1"/>
            </a:solidFill>
            <a:miter lim="800000"/>
            <a:headEnd/>
            <a:tailEnd/>
          </a:ln>
          <a:effectLst/>
        </p:spPr>
        <p:txBody>
          <a:bodyPr>
            <a:spAutoFit/>
          </a:bodyPr>
          <a:lstStyle/>
          <a:p>
            <a:pPr>
              <a:lnSpc>
                <a:spcPct val="120000"/>
              </a:lnSpc>
              <a:buClr>
                <a:schemeClr val="hlink"/>
              </a:buClr>
              <a:buFont typeface="Wingdings" pitchFamily="2" charset="2"/>
              <a:buNone/>
            </a:pPr>
            <a:r>
              <a:rPr lang="en-US" altLang="zh-CN" sz="2400" b="1" dirty="0">
                <a:solidFill>
                  <a:srgbClr val="006600"/>
                </a:solidFill>
                <a:latin typeface="Courier New" pitchFamily="49" charset="0"/>
              </a:rPr>
              <a:t>nice</a:t>
            </a:r>
            <a:r>
              <a:rPr lang="en-US" altLang="zh-CN" sz="2400" dirty="0">
                <a:solidFill>
                  <a:srgbClr val="006600"/>
                </a:solidFill>
                <a:latin typeface="Courier New" pitchFamily="49" charset="0"/>
              </a:rPr>
              <a:t> –</a:t>
            </a:r>
            <a:r>
              <a:rPr lang="zh-CN" altLang="en-US" sz="2400" b="0" dirty="0">
                <a:solidFill>
                  <a:schemeClr val="tx1"/>
                </a:solidFill>
                <a:latin typeface="Courier New" pitchFamily="49" charset="0"/>
                <a:ea typeface="黑体" pitchFamily="2" charset="-122"/>
              </a:rPr>
              <a:t>优先级改变量</a:t>
            </a:r>
            <a:r>
              <a:rPr lang="zh-CN" altLang="en-US" sz="2400" dirty="0">
                <a:solidFill>
                  <a:srgbClr val="006600"/>
                </a:solidFill>
                <a:latin typeface="Courier New" pitchFamily="49" charset="0"/>
              </a:rPr>
              <a:t> </a:t>
            </a:r>
            <a:r>
              <a:rPr lang="zh-CN" altLang="en-US" sz="2400" dirty="0">
                <a:solidFill>
                  <a:srgbClr val="0000CC"/>
                </a:solidFill>
                <a:latin typeface="Courier New" pitchFamily="49" charset="0"/>
              </a:rPr>
              <a:t>命令</a:t>
            </a:r>
            <a:r>
              <a:rPr lang="zh-CN" altLang="en-US" sz="2400" dirty="0">
                <a:solidFill>
                  <a:srgbClr val="006600"/>
                </a:solidFill>
                <a:latin typeface="Courier New" pitchFamily="49" charset="0"/>
              </a:rPr>
              <a:t> </a:t>
            </a:r>
            <a:r>
              <a:rPr lang="en-US" altLang="zh-CN" sz="2400" dirty="0">
                <a:solidFill>
                  <a:srgbClr val="006600"/>
                </a:solidFill>
                <a:latin typeface="Courier New" pitchFamily="49" charset="0"/>
              </a:rPr>
              <a:t>[</a:t>
            </a:r>
            <a:r>
              <a:rPr lang="zh-CN" altLang="en-US" sz="2400" dirty="0">
                <a:solidFill>
                  <a:srgbClr val="006600"/>
                </a:solidFill>
                <a:latin typeface="Courier New" pitchFamily="49" charset="0"/>
              </a:rPr>
              <a:t>&amp;</a:t>
            </a:r>
            <a:r>
              <a:rPr lang="en-US" altLang="zh-CN" sz="2400" dirty="0">
                <a:solidFill>
                  <a:srgbClr val="006600"/>
                </a:solidFill>
                <a:latin typeface="Courier New" pitchFamily="49" charset="0"/>
              </a:rPr>
              <a:t>]</a:t>
            </a:r>
            <a:endParaRPr lang="zh-CN" altLang="en-US" sz="2400" dirty="0">
              <a:solidFill>
                <a:srgbClr val="006600"/>
              </a:solidFill>
              <a:latin typeface="Courier New" pitchFamily="49" charset="0"/>
            </a:endParaRPr>
          </a:p>
        </p:txBody>
      </p:sp>
      <p:sp>
        <p:nvSpPr>
          <p:cNvPr id="8" name="Line 8"/>
          <p:cNvSpPr>
            <a:spLocks noChangeShapeType="1"/>
          </p:cNvSpPr>
          <p:nvPr/>
        </p:nvSpPr>
        <p:spPr bwMode="auto">
          <a:xfrm>
            <a:off x="2915294" y="2636664"/>
            <a:ext cx="0" cy="792162"/>
          </a:xfrm>
          <a:prstGeom prst="line">
            <a:avLst/>
          </a:prstGeom>
          <a:noFill/>
          <a:ln w="28575">
            <a:solidFill>
              <a:srgbClr val="FF3300"/>
            </a:solidFill>
            <a:miter lim="800000"/>
            <a:headEnd/>
            <a:tailEnd type="triangle" w="lg" len="lg"/>
          </a:ln>
          <a:effectLst/>
        </p:spPr>
        <p:txBody>
          <a:bodyPr wrap="none"/>
          <a:lstStyle/>
          <a:p>
            <a:endParaRPr lang="zh-CN" altLang="en-US"/>
          </a:p>
        </p:txBody>
      </p:sp>
      <p:sp>
        <p:nvSpPr>
          <p:cNvPr id="9" name="Text Box 9"/>
          <p:cNvSpPr txBox="1">
            <a:spLocks noChangeArrowheads="1"/>
          </p:cNvSpPr>
          <p:nvPr/>
        </p:nvSpPr>
        <p:spPr bwMode="auto">
          <a:xfrm>
            <a:off x="970607" y="3355801"/>
            <a:ext cx="7489825" cy="1951038"/>
          </a:xfrm>
          <a:prstGeom prst="rect">
            <a:avLst/>
          </a:prstGeom>
          <a:gradFill flip="none" rotWithShape="1">
            <a:gsLst>
              <a:gs pos="0">
                <a:schemeClr val="accent1">
                  <a:lumMod val="40000"/>
                  <a:lumOff val="60000"/>
                  <a:tint val="66000"/>
                  <a:satMod val="160000"/>
                </a:schemeClr>
              </a:gs>
              <a:gs pos="50000">
                <a:schemeClr val="accent1">
                  <a:lumMod val="40000"/>
                  <a:lumOff val="60000"/>
                  <a:tint val="44500"/>
                  <a:satMod val="160000"/>
                </a:schemeClr>
              </a:gs>
              <a:gs pos="100000">
                <a:schemeClr val="accent1">
                  <a:lumMod val="40000"/>
                  <a:lumOff val="60000"/>
                  <a:tint val="23500"/>
                  <a:satMod val="160000"/>
                </a:schemeClr>
              </a:gs>
            </a:gsLst>
            <a:lin ang="5400000" scaled="1"/>
            <a:tileRect/>
          </a:gradFill>
          <a:ln w="9525">
            <a:solidFill>
              <a:schemeClr val="tx1"/>
            </a:solidFill>
            <a:miter lim="800000"/>
            <a:headEnd/>
            <a:tailEnd/>
          </a:ln>
          <a:effectLst/>
        </p:spPr>
        <p:txBody>
          <a:bodyPr>
            <a:spAutoFit/>
          </a:bodyPr>
          <a:lstStyle/>
          <a:p>
            <a:pPr>
              <a:lnSpc>
                <a:spcPct val="115000"/>
              </a:lnSpc>
              <a:spcBef>
                <a:spcPct val="15000"/>
              </a:spcBef>
              <a:buClr>
                <a:schemeClr val="hlink"/>
              </a:buClr>
              <a:buSzPct val="80000"/>
              <a:buFont typeface="Wingdings" pitchFamily="2" charset="2"/>
              <a:buNone/>
            </a:pPr>
            <a:r>
              <a:rPr lang="zh-CN" altLang="en-US" sz="2400" b="0" dirty="0">
                <a:solidFill>
                  <a:schemeClr val="tx1"/>
                </a:solidFill>
                <a:ea typeface="黑体" pitchFamily="2" charset="-122"/>
              </a:rPr>
              <a:t>是指</a:t>
            </a:r>
            <a:r>
              <a:rPr lang="zh-CN" altLang="en-US" sz="2400" b="0" dirty="0">
                <a:solidFill>
                  <a:srgbClr val="FF0000"/>
                </a:solidFill>
                <a:ea typeface="黑体" pitchFamily="2" charset="-122"/>
              </a:rPr>
              <a:t>优先级的增量</a:t>
            </a:r>
          </a:p>
          <a:p>
            <a:pPr>
              <a:lnSpc>
                <a:spcPct val="115000"/>
              </a:lnSpc>
              <a:spcBef>
                <a:spcPct val="15000"/>
              </a:spcBef>
              <a:buClr>
                <a:schemeClr val="hlink"/>
              </a:buClr>
              <a:buSzPct val="80000"/>
              <a:buFont typeface="Wingdings" pitchFamily="2" charset="2"/>
              <a:buChar char="u"/>
            </a:pPr>
            <a:r>
              <a:rPr lang="zh-CN" altLang="en-US" sz="2400" b="0" dirty="0">
                <a:solidFill>
                  <a:schemeClr val="tx1"/>
                </a:solidFill>
                <a:ea typeface="黑体" pitchFamily="2" charset="-122"/>
              </a:rPr>
              <a:t> 若为</a:t>
            </a:r>
            <a:r>
              <a:rPr lang="zh-CN" altLang="en-US" sz="2400" b="0" dirty="0">
                <a:solidFill>
                  <a:srgbClr val="FF0000"/>
                </a:solidFill>
                <a:ea typeface="黑体" pitchFamily="2" charset="-122"/>
              </a:rPr>
              <a:t>正</a:t>
            </a:r>
            <a:r>
              <a:rPr lang="zh-CN" altLang="en-US" sz="2400" b="0" dirty="0">
                <a:solidFill>
                  <a:schemeClr val="tx1"/>
                </a:solidFill>
                <a:ea typeface="黑体" pitchFamily="2" charset="-122"/>
              </a:rPr>
              <a:t>，表示增加</a:t>
            </a:r>
            <a:r>
              <a:rPr lang="en-US" altLang="zh-CN" sz="2400" b="0" dirty="0">
                <a:solidFill>
                  <a:schemeClr val="tx1"/>
                </a:solidFill>
                <a:ea typeface="黑体" pitchFamily="2" charset="-122"/>
              </a:rPr>
              <a:t>nice</a:t>
            </a:r>
            <a:r>
              <a:rPr lang="zh-CN" altLang="en-US" sz="2400" b="0" dirty="0">
                <a:solidFill>
                  <a:schemeClr val="tx1"/>
                </a:solidFill>
                <a:ea typeface="黑体" pitchFamily="2" charset="-122"/>
              </a:rPr>
              <a:t>值，即</a:t>
            </a:r>
            <a:r>
              <a:rPr lang="zh-CN" altLang="en-US" sz="2400" b="0" dirty="0">
                <a:solidFill>
                  <a:srgbClr val="FF0000"/>
                </a:solidFill>
                <a:ea typeface="黑体" pitchFamily="2" charset="-122"/>
              </a:rPr>
              <a:t>降低</a:t>
            </a:r>
            <a:r>
              <a:rPr lang="zh-CN" altLang="en-US" sz="2400" b="0" dirty="0">
                <a:solidFill>
                  <a:schemeClr val="tx1"/>
                </a:solidFill>
                <a:ea typeface="黑体" pitchFamily="2" charset="-122"/>
              </a:rPr>
              <a:t>进程</a:t>
            </a:r>
            <a:r>
              <a:rPr lang="zh-CN" altLang="en-US" sz="2400" b="0" dirty="0">
                <a:solidFill>
                  <a:srgbClr val="FF0000"/>
                </a:solidFill>
                <a:ea typeface="黑体" pitchFamily="2" charset="-122"/>
              </a:rPr>
              <a:t>优先权</a:t>
            </a:r>
            <a:endParaRPr lang="en-US" altLang="zh-CN" sz="2400" b="0" dirty="0">
              <a:solidFill>
                <a:srgbClr val="FF0000"/>
              </a:solidFill>
              <a:ea typeface="黑体" pitchFamily="2" charset="-122"/>
            </a:endParaRPr>
          </a:p>
          <a:p>
            <a:pPr>
              <a:lnSpc>
                <a:spcPct val="115000"/>
              </a:lnSpc>
              <a:spcBef>
                <a:spcPct val="15000"/>
              </a:spcBef>
              <a:buClr>
                <a:schemeClr val="hlink"/>
              </a:buClr>
              <a:buSzPct val="80000"/>
              <a:buFont typeface="Wingdings" pitchFamily="2" charset="2"/>
              <a:buChar char="u"/>
            </a:pPr>
            <a:r>
              <a:rPr lang="zh-CN" altLang="en-US" sz="2400" b="0" dirty="0">
                <a:solidFill>
                  <a:schemeClr val="tx1"/>
                </a:solidFill>
                <a:ea typeface="黑体" pitchFamily="2" charset="-122"/>
              </a:rPr>
              <a:t> 若为</a:t>
            </a:r>
            <a:r>
              <a:rPr lang="zh-CN" altLang="en-US" sz="2400" b="0" dirty="0">
                <a:solidFill>
                  <a:srgbClr val="FF0000"/>
                </a:solidFill>
                <a:ea typeface="黑体" pitchFamily="2" charset="-122"/>
              </a:rPr>
              <a:t>负</a:t>
            </a:r>
            <a:r>
              <a:rPr lang="zh-CN" altLang="en-US" sz="2400" b="0" dirty="0">
                <a:solidFill>
                  <a:schemeClr val="tx1"/>
                </a:solidFill>
                <a:ea typeface="黑体" pitchFamily="2" charset="-122"/>
              </a:rPr>
              <a:t>，表示减小</a:t>
            </a:r>
            <a:r>
              <a:rPr lang="en-US" altLang="zh-CN" sz="2400" b="0" dirty="0">
                <a:solidFill>
                  <a:schemeClr val="tx1"/>
                </a:solidFill>
                <a:ea typeface="黑体" pitchFamily="2" charset="-122"/>
              </a:rPr>
              <a:t>nice</a:t>
            </a:r>
            <a:r>
              <a:rPr lang="zh-CN" altLang="en-US" sz="2400" b="0" dirty="0">
                <a:solidFill>
                  <a:schemeClr val="tx1"/>
                </a:solidFill>
                <a:ea typeface="黑体" pitchFamily="2" charset="-122"/>
              </a:rPr>
              <a:t>值，即</a:t>
            </a:r>
            <a:r>
              <a:rPr lang="zh-CN" altLang="en-US" sz="2400" b="0" dirty="0">
                <a:solidFill>
                  <a:srgbClr val="FF0000"/>
                </a:solidFill>
                <a:ea typeface="黑体" pitchFamily="2" charset="-122"/>
              </a:rPr>
              <a:t>提高优先权</a:t>
            </a:r>
          </a:p>
          <a:p>
            <a:pPr>
              <a:lnSpc>
                <a:spcPct val="115000"/>
              </a:lnSpc>
              <a:spcBef>
                <a:spcPct val="15000"/>
              </a:spcBef>
              <a:buClr>
                <a:schemeClr val="hlink"/>
              </a:buClr>
              <a:buSzPct val="80000"/>
              <a:buFont typeface="Wingdings" pitchFamily="2" charset="2"/>
              <a:buChar char="u"/>
            </a:pPr>
            <a:r>
              <a:rPr lang="zh-CN" altLang="en-US" sz="2400" b="0" dirty="0">
                <a:solidFill>
                  <a:schemeClr val="tx1"/>
                </a:solidFill>
                <a:ea typeface="黑体" pitchFamily="2" charset="-122"/>
              </a:rPr>
              <a:t> 若</a:t>
            </a:r>
            <a:r>
              <a:rPr lang="zh-CN" altLang="en-US" sz="2400" b="0" dirty="0">
                <a:solidFill>
                  <a:srgbClr val="FF0000"/>
                </a:solidFill>
                <a:ea typeface="黑体" pitchFamily="2" charset="-122"/>
              </a:rPr>
              <a:t>缺省</a:t>
            </a:r>
            <a:r>
              <a:rPr lang="zh-CN" altLang="en-US" sz="2400" b="0" dirty="0">
                <a:solidFill>
                  <a:schemeClr val="tx1"/>
                </a:solidFill>
                <a:ea typeface="黑体" pitchFamily="2" charset="-122"/>
              </a:rPr>
              <a:t>，则默认为 </a:t>
            </a:r>
            <a:r>
              <a:rPr lang="en-US" altLang="zh-CN" sz="2400" b="0" dirty="0">
                <a:solidFill>
                  <a:srgbClr val="FF0000"/>
                </a:solidFill>
                <a:ea typeface="黑体" pitchFamily="2" charset="-122"/>
              </a:rPr>
              <a:t>10</a:t>
            </a:r>
            <a:r>
              <a:rPr lang="zh-CN" altLang="en-US" sz="2400" b="0" dirty="0">
                <a:solidFill>
                  <a:schemeClr val="tx1"/>
                </a:solidFill>
                <a:ea typeface="黑体" pitchFamily="2" charset="-122"/>
              </a:rPr>
              <a:t>，即 </a:t>
            </a:r>
            <a:r>
              <a:rPr lang="en-US" altLang="zh-CN" sz="2400" b="0" dirty="0">
                <a:solidFill>
                  <a:schemeClr val="tx1"/>
                </a:solidFill>
                <a:ea typeface="黑体" pitchFamily="2" charset="-122"/>
              </a:rPr>
              <a:t>nice</a:t>
            </a:r>
            <a:r>
              <a:rPr lang="zh-CN" altLang="en-US" sz="2400" b="0" dirty="0">
                <a:solidFill>
                  <a:schemeClr val="tx1"/>
                </a:solidFill>
                <a:ea typeface="黑体" pitchFamily="2" charset="-122"/>
              </a:rPr>
              <a:t>值 增加 </a:t>
            </a:r>
            <a:r>
              <a:rPr lang="en-US" altLang="zh-CN" sz="2400" b="0" dirty="0">
                <a:solidFill>
                  <a:schemeClr val="tx1"/>
                </a:solidFill>
                <a:ea typeface="黑体" pitchFamily="2" charset="-122"/>
              </a:rPr>
              <a:t>10</a:t>
            </a:r>
            <a:endParaRPr lang="zh-CN" altLang="en-US" sz="2400" b="0" dirty="0">
              <a:solidFill>
                <a:schemeClr val="tx1"/>
              </a:solidFill>
              <a:ea typeface="黑体" pitchFamily="2" charset="-122"/>
            </a:endParaRPr>
          </a:p>
        </p:txBody>
      </p:sp>
      <p:sp>
        <p:nvSpPr>
          <p:cNvPr id="10" name="内容占位符 2">
            <a:extLst>
              <a:ext uri="{FF2B5EF4-FFF2-40B4-BE49-F238E27FC236}">
                <a16:creationId xmlns:a16="http://schemas.microsoft.com/office/drawing/2014/main" id="{D389ADE1-BD8B-426A-9277-428EADC39D0C}"/>
              </a:ext>
            </a:extLst>
          </p:cNvPr>
          <p:cNvSpPr txBox="1">
            <a:spLocks/>
          </p:cNvSpPr>
          <p:nvPr/>
        </p:nvSpPr>
        <p:spPr bwMode="auto">
          <a:xfrm>
            <a:off x="740366" y="5452243"/>
            <a:ext cx="8229600" cy="12140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b="0" i="0" kern="1200" baseline="0">
                <a:solidFill>
                  <a:schemeClr val="tx1"/>
                </a:solidFill>
                <a:latin typeface="Tahoma" panose="020B0604030504040204" pitchFamily="34" charset="0"/>
                <a:ea typeface="楷体_GB2312"/>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l"/>
              <a:defRPr sz="2800" b="1" i="0" kern="1200" baseline="0">
                <a:solidFill>
                  <a:schemeClr val="tx1"/>
                </a:solidFill>
                <a:latin typeface="Tahoma" panose="020B0604030504040204" pitchFamily="34" charset="0"/>
                <a:ea typeface="楷体_GB2312"/>
                <a:cs typeface="+mn-cs"/>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u"/>
              <a:defRPr sz="2400" b="1" kern="1200" baseline="0">
                <a:solidFill>
                  <a:schemeClr val="tx1"/>
                </a:solidFill>
                <a:latin typeface="Tahoma" panose="020B0604030504040204" pitchFamily="34" charset="0"/>
                <a:ea typeface="楷体_GB2312"/>
                <a:cs typeface="+mn-cs"/>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solidFill>
                  <a:srgbClr val="0000CC"/>
                </a:solidFill>
                <a:latin typeface="+mn-ea"/>
              </a:rPr>
              <a:t>优先级</a:t>
            </a:r>
            <a:r>
              <a:rPr lang="en-US" altLang="zh-CN" dirty="0">
                <a:solidFill>
                  <a:srgbClr val="0000CC"/>
                </a:solidFill>
                <a:latin typeface="+mn-ea"/>
              </a:rPr>
              <a:t>PRI</a:t>
            </a:r>
            <a:r>
              <a:rPr lang="zh-CN" altLang="en-US" dirty="0">
                <a:solidFill>
                  <a:srgbClr val="0000CC"/>
                </a:solidFill>
                <a:latin typeface="+mn-ea"/>
              </a:rPr>
              <a:t>：</a:t>
            </a:r>
            <a:r>
              <a:rPr lang="zh-CN" altLang="en-US" b="1" dirty="0">
                <a:solidFill>
                  <a:srgbClr val="0000CC"/>
                </a:solidFill>
                <a:latin typeface="+mn-ea"/>
              </a:rPr>
              <a:t> </a:t>
            </a:r>
            <a:r>
              <a:rPr lang="en-US" altLang="zh-CN" b="1" dirty="0">
                <a:solidFill>
                  <a:srgbClr val="0000CC"/>
                </a:solidFill>
                <a:latin typeface="+mn-ea"/>
              </a:rPr>
              <a:t>PRI(new)=PRI(old)+nice</a:t>
            </a:r>
          </a:p>
          <a:p>
            <a:pPr lvl="1"/>
            <a:r>
              <a:rPr lang="en-US" altLang="zh-CN" sz="2400" dirty="0">
                <a:solidFill>
                  <a:srgbClr val="0000CC"/>
                </a:solidFill>
                <a:latin typeface="+mn-ea"/>
              </a:rPr>
              <a:t>PRI</a:t>
            </a:r>
            <a:r>
              <a:rPr lang="zh-CN" altLang="en-US" sz="2400" dirty="0">
                <a:solidFill>
                  <a:srgbClr val="0000CC"/>
                </a:solidFill>
                <a:latin typeface="+mn-ea"/>
              </a:rPr>
              <a:t>由系统内核动态调整，用户无法直接调整</a:t>
            </a:r>
            <a:r>
              <a:rPr lang="en-US" altLang="zh-CN" sz="2400" dirty="0">
                <a:solidFill>
                  <a:srgbClr val="0000CC"/>
                </a:solidFill>
                <a:latin typeface="+mn-ea"/>
              </a:rPr>
              <a:t>PRI</a:t>
            </a:r>
            <a:endParaRPr lang="zh-CN" alt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up)">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4"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down)">
                                      <p:cBhvr>
                                        <p:cTn id="1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autoUpdateAnimBg="0"/>
      <p:bldP spid="10"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trike="sngStrike" dirty="0"/>
              <a:t>nice</a:t>
            </a:r>
            <a:r>
              <a:rPr lang="zh-CN" altLang="en-US" strike="sngStrike" dirty="0"/>
              <a:t>命令举例</a:t>
            </a:r>
          </a:p>
        </p:txBody>
      </p:sp>
      <p:sp>
        <p:nvSpPr>
          <p:cNvPr id="11" name="Rectangle 2"/>
          <p:cNvSpPr>
            <a:spLocks noChangeArrowheads="1"/>
          </p:cNvSpPr>
          <p:nvPr/>
        </p:nvSpPr>
        <p:spPr bwMode="auto">
          <a:xfrm>
            <a:off x="914400" y="1981200"/>
            <a:ext cx="7157074" cy="517065"/>
          </a:xfrm>
          <a:prstGeom prst="rect">
            <a:avLst/>
          </a:prstGeom>
          <a:noFill/>
          <a:ln w="9525">
            <a:solidFill>
              <a:schemeClr val="tx1"/>
            </a:solidFill>
            <a:miter lim="800000"/>
            <a:headEnd/>
            <a:tailEnd/>
          </a:ln>
          <a:effectLst/>
        </p:spPr>
        <p:txBody>
          <a:bodyPr wrap="square">
            <a:spAutoFit/>
          </a:bodyPr>
          <a:lstStyle/>
          <a:p>
            <a:pPr algn="just">
              <a:lnSpc>
                <a:spcPct val="120000"/>
              </a:lnSpc>
              <a:buClr>
                <a:schemeClr val="hlink"/>
              </a:buClr>
              <a:buFont typeface="Wingdings" pitchFamily="2" charset="2"/>
              <a:buNone/>
            </a:pPr>
            <a:r>
              <a:rPr lang="en-US" altLang="zh-CN" sz="2400" dirty="0">
                <a:solidFill>
                  <a:srgbClr val="006600"/>
                </a:solidFill>
                <a:latin typeface="Courier New" pitchFamily="49" charset="0"/>
              </a:rPr>
              <a:t>nice –5  </a:t>
            </a:r>
            <a:r>
              <a:rPr lang="en-US" altLang="zh-CN" sz="2400" dirty="0" err="1">
                <a:solidFill>
                  <a:srgbClr val="0000CC"/>
                </a:solidFill>
                <a:latin typeface="Courier New" pitchFamily="49" charset="0"/>
              </a:rPr>
              <a:t>lp</a:t>
            </a:r>
            <a:r>
              <a:rPr lang="en-US" altLang="zh-CN" sz="2400" dirty="0">
                <a:solidFill>
                  <a:srgbClr val="0000CC"/>
                </a:solidFill>
                <a:latin typeface="Courier New" pitchFamily="49" charset="0"/>
              </a:rPr>
              <a:t>  paper.pdf </a:t>
            </a:r>
            <a:r>
              <a:rPr lang="en-US" altLang="zh-CN" sz="2400" dirty="0">
                <a:solidFill>
                  <a:srgbClr val="006600"/>
                </a:solidFill>
                <a:latin typeface="Courier New" pitchFamily="49" charset="0"/>
              </a:rPr>
              <a:t>&amp;</a:t>
            </a:r>
          </a:p>
        </p:txBody>
      </p:sp>
      <p:sp>
        <p:nvSpPr>
          <p:cNvPr id="12" name="Rectangle 3" descr="蓝色砂纸"/>
          <p:cNvSpPr>
            <a:spLocks noChangeArrowheads="1"/>
          </p:cNvSpPr>
          <p:nvPr/>
        </p:nvSpPr>
        <p:spPr bwMode="auto">
          <a:xfrm>
            <a:off x="914400" y="2819400"/>
            <a:ext cx="7233213" cy="511807"/>
          </a:xfrm>
          <a:prstGeom prst="rect">
            <a:avLst/>
          </a:prstGeom>
          <a:noFill/>
          <a:ln w="9525">
            <a:solidFill>
              <a:schemeClr val="tx1"/>
            </a:solidFill>
            <a:miter lim="800000"/>
            <a:headEnd/>
            <a:tailEnd/>
          </a:ln>
          <a:effectLst/>
        </p:spPr>
        <p:txBody>
          <a:bodyPr wrap="square">
            <a:spAutoFit/>
          </a:bodyPr>
          <a:lstStyle/>
          <a:p>
            <a:pPr algn="just">
              <a:lnSpc>
                <a:spcPct val="120000"/>
              </a:lnSpc>
              <a:buClr>
                <a:schemeClr val="hlink"/>
              </a:buClr>
              <a:buFont typeface="Wingdings" pitchFamily="2" charset="2"/>
              <a:buNone/>
            </a:pPr>
            <a:r>
              <a:rPr lang="zh-CN" altLang="en-US" sz="2400" b="0" dirty="0">
                <a:solidFill>
                  <a:srgbClr val="0000CC"/>
                </a:solidFill>
                <a:ea typeface="黑体" pitchFamily="2" charset="-122"/>
              </a:rPr>
              <a:t>注：</a:t>
            </a:r>
            <a:r>
              <a:rPr lang="zh-CN" altLang="en-US" sz="2400" b="0" dirty="0">
                <a:solidFill>
                  <a:srgbClr val="006600"/>
                </a:solidFill>
                <a:ea typeface="黑体" pitchFamily="2" charset="-122"/>
              </a:rPr>
              <a:t>使用 </a:t>
            </a:r>
            <a:r>
              <a:rPr lang="en-US" altLang="zh-CN" sz="2400" dirty="0">
                <a:solidFill>
                  <a:srgbClr val="006600"/>
                </a:solidFill>
                <a:latin typeface="Courier New" pitchFamily="49" charset="0"/>
                <a:ea typeface="黑体" pitchFamily="2" charset="-122"/>
              </a:rPr>
              <a:t>nice</a:t>
            </a:r>
            <a:r>
              <a:rPr lang="en-US" altLang="zh-CN" sz="2400" b="0" dirty="0">
                <a:solidFill>
                  <a:srgbClr val="006600"/>
                </a:solidFill>
                <a:ea typeface="黑体" pitchFamily="2" charset="-122"/>
              </a:rPr>
              <a:t> </a:t>
            </a:r>
            <a:r>
              <a:rPr lang="zh-CN" altLang="en-US" sz="2400" b="0" dirty="0">
                <a:solidFill>
                  <a:srgbClr val="006600"/>
                </a:solidFill>
                <a:ea typeface="黑体" pitchFamily="2" charset="-122"/>
              </a:rPr>
              <a:t>同样可以改变前台任务的优先级。</a:t>
            </a:r>
          </a:p>
        </p:txBody>
      </p:sp>
      <p:grpSp>
        <p:nvGrpSpPr>
          <p:cNvPr id="3" name="Group 12"/>
          <p:cNvGrpSpPr>
            <a:grpSpLocks/>
          </p:cNvGrpSpPr>
          <p:nvPr/>
        </p:nvGrpSpPr>
        <p:grpSpPr bwMode="auto">
          <a:xfrm>
            <a:off x="914400" y="3657600"/>
            <a:ext cx="7258593" cy="1279525"/>
            <a:chOff x="576" y="2304"/>
            <a:chExt cx="4576" cy="806"/>
          </a:xfrm>
        </p:grpSpPr>
        <p:sp>
          <p:nvSpPr>
            <p:cNvPr id="14" name="Rectangle 4"/>
            <p:cNvSpPr>
              <a:spLocks noChangeArrowheads="1"/>
            </p:cNvSpPr>
            <p:nvPr/>
          </p:nvSpPr>
          <p:spPr bwMode="auto">
            <a:xfrm>
              <a:off x="576" y="2304"/>
              <a:ext cx="4576" cy="310"/>
            </a:xfrm>
            <a:prstGeom prst="rect">
              <a:avLst/>
            </a:prstGeom>
            <a:noFill/>
            <a:ln w="9525">
              <a:noFill/>
              <a:miter lim="800000"/>
              <a:headEnd/>
              <a:tailEnd/>
            </a:ln>
            <a:effectLst/>
          </p:spPr>
          <p:txBody>
            <a:bodyPr wrap="square">
              <a:spAutoFit/>
            </a:bodyPr>
            <a:lstStyle/>
            <a:p>
              <a:pPr algn="just">
                <a:lnSpc>
                  <a:spcPct val="120000"/>
                </a:lnSpc>
                <a:buClr>
                  <a:schemeClr val="hlink"/>
                </a:buClr>
                <a:buFont typeface="Wingdings" pitchFamily="2" charset="2"/>
                <a:buNone/>
              </a:pPr>
              <a:r>
                <a:rPr lang="zh-CN" altLang="en-US" sz="2400" b="0" dirty="0">
                  <a:solidFill>
                    <a:srgbClr val="0000CC"/>
                  </a:solidFill>
                  <a:ea typeface="黑体" pitchFamily="2" charset="-122"/>
                </a:rPr>
                <a:t>例：超级用户（</a:t>
              </a:r>
              <a:r>
                <a:rPr lang="en-US" altLang="zh-CN" sz="2400" b="0" dirty="0">
                  <a:solidFill>
                    <a:srgbClr val="0000CC"/>
                  </a:solidFill>
                  <a:ea typeface="黑体" pitchFamily="2" charset="-122"/>
                </a:rPr>
                <a:t>root）</a:t>
              </a:r>
              <a:r>
                <a:rPr lang="zh-CN" altLang="en-US" sz="2400" b="0" dirty="0">
                  <a:solidFill>
                    <a:srgbClr val="0000CC"/>
                  </a:solidFill>
                  <a:ea typeface="黑体" pitchFamily="2" charset="-122"/>
                </a:rPr>
                <a:t>忙着打印一份演讲稿：</a:t>
              </a:r>
              <a:endParaRPr lang="zh-CN" altLang="en-US" sz="2400" b="0" dirty="0">
                <a:solidFill>
                  <a:srgbClr val="990000"/>
                </a:solidFill>
                <a:ea typeface="黑体" pitchFamily="2" charset="-122"/>
              </a:endParaRPr>
            </a:p>
          </p:txBody>
        </p:sp>
        <p:sp>
          <p:nvSpPr>
            <p:cNvPr id="15" name="Rectangle 5"/>
            <p:cNvSpPr>
              <a:spLocks noChangeArrowheads="1"/>
            </p:cNvSpPr>
            <p:nvPr/>
          </p:nvSpPr>
          <p:spPr bwMode="auto">
            <a:xfrm>
              <a:off x="624" y="2784"/>
              <a:ext cx="4512" cy="326"/>
            </a:xfrm>
            <a:prstGeom prst="rect">
              <a:avLst/>
            </a:prstGeom>
            <a:noFill/>
            <a:ln w="9525">
              <a:solidFill>
                <a:schemeClr val="tx1"/>
              </a:solidFill>
              <a:miter lim="800000"/>
              <a:headEnd/>
              <a:tailEnd/>
            </a:ln>
            <a:effectLst/>
          </p:spPr>
          <p:txBody>
            <a:bodyPr>
              <a:spAutoFit/>
            </a:bodyPr>
            <a:lstStyle/>
            <a:p>
              <a:pPr algn="just">
                <a:lnSpc>
                  <a:spcPct val="120000"/>
                </a:lnSpc>
                <a:buClr>
                  <a:schemeClr val="hlink"/>
                </a:buClr>
                <a:buFont typeface="Wingdings" pitchFamily="2" charset="2"/>
                <a:buNone/>
              </a:pPr>
              <a:r>
                <a:rPr lang="en-US" altLang="zh-CN" sz="2400" dirty="0">
                  <a:solidFill>
                    <a:srgbClr val="006600"/>
                  </a:solidFill>
                  <a:latin typeface="Courier New" pitchFamily="49" charset="0"/>
                </a:rPr>
                <a:t>nice –-10 </a:t>
              </a:r>
              <a:r>
                <a:rPr lang="en-US" altLang="zh-CN" sz="2400" dirty="0" err="1">
                  <a:solidFill>
                    <a:srgbClr val="0000CC"/>
                  </a:solidFill>
                  <a:latin typeface="Courier New" pitchFamily="49" charset="0"/>
                </a:rPr>
                <a:t>lp</a:t>
              </a:r>
              <a:r>
                <a:rPr lang="en-US" altLang="zh-CN" sz="2400" dirty="0">
                  <a:solidFill>
                    <a:srgbClr val="0000CC"/>
                  </a:solidFill>
                  <a:latin typeface="Courier New" pitchFamily="49" charset="0"/>
                </a:rPr>
                <a:t> report.pdf</a:t>
              </a:r>
            </a:p>
          </p:txBody>
        </p:sp>
      </p:grpSp>
      <p:sp>
        <p:nvSpPr>
          <p:cNvPr id="16" name="Rectangle 7" descr="蓝色砂纸"/>
          <p:cNvSpPr>
            <a:spLocks noChangeArrowheads="1"/>
          </p:cNvSpPr>
          <p:nvPr/>
        </p:nvSpPr>
        <p:spPr bwMode="auto">
          <a:xfrm>
            <a:off x="990600" y="5257800"/>
            <a:ext cx="7233213" cy="491481"/>
          </a:xfrm>
          <a:prstGeom prst="rect">
            <a:avLst/>
          </a:prstGeom>
          <a:noFill/>
          <a:ln w="9525">
            <a:solidFill>
              <a:schemeClr val="tx1"/>
            </a:solidFill>
            <a:miter lim="800000"/>
            <a:headEnd/>
            <a:tailEnd/>
          </a:ln>
          <a:effectLst/>
        </p:spPr>
        <p:txBody>
          <a:bodyPr wrap="square">
            <a:spAutoFit/>
          </a:bodyPr>
          <a:lstStyle/>
          <a:p>
            <a:pPr algn="just">
              <a:lnSpc>
                <a:spcPct val="120000"/>
              </a:lnSpc>
              <a:buClr>
                <a:schemeClr val="hlink"/>
              </a:buClr>
              <a:buFont typeface="Wingdings" pitchFamily="2" charset="2"/>
              <a:buNone/>
            </a:pPr>
            <a:r>
              <a:rPr lang="zh-CN" altLang="en-US" sz="2400" b="0" dirty="0">
                <a:solidFill>
                  <a:srgbClr val="0000CC"/>
                </a:solidFill>
                <a:ea typeface="黑体" pitchFamily="2" charset="-122"/>
              </a:rPr>
              <a:t>注：</a:t>
            </a:r>
            <a:r>
              <a:rPr lang="zh-CN" altLang="en-US" sz="2400" b="0" dirty="0">
                <a:solidFill>
                  <a:srgbClr val="006600"/>
                </a:solidFill>
                <a:ea typeface="黑体" pitchFamily="2" charset="-122"/>
              </a:rPr>
              <a:t>只有 </a:t>
            </a:r>
            <a:r>
              <a:rPr lang="en-US" altLang="zh-CN" sz="2400" b="0" dirty="0">
                <a:solidFill>
                  <a:srgbClr val="006600"/>
                </a:solidFill>
                <a:ea typeface="黑体" pitchFamily="2" charset="-122"/>
              </a:rPr>
              <a:t>root </a:t>
            </a:r>
            <a:r>
              <a:rPr lang="zh-CN" altLang="en-US" sz="2400" b="0" dirty="0">
                <a:solidFill>
                  <a:srgbClr val="006600"/>
                </a:solidFill>
                <a:ea typeface="黑体" pitchFamily="2" charset="-122"/>
              </a:rPr>
              <a:t>才有权限提高一个进程的优先权。</a:t>
            </a:r>
          </a:p>
        </p:txBody>
      </p:sp>
      <p:sp>
        <p:nvSpPr>
          <p:cNvPr id="17" name="Rectangle 8"/>
          <p:cNvSpPr>
            <a:spLocks noChangeArrowheads="1"/>
          </p:cNvSpPr>
          <p:nvPr/>
        </p:nvSpPr>
        <p:spPr bwMode="auto">
          <a:xfrm>
            <a:off x="899592" y="1412776"/>
            <a:ext cx="7272808" cy="504056"/>
          </a:xfrm>
          <a:prstGeom prst="rect">
            <a:avLst/>
          </a:prstGeom>
          <a:noFill/>
          <a:ln w="9525">
            <a:noFill/>
            <a:miter lim="800000"/>
            <a:headEnd/>
            <a:tailEnd/>
          </a:ln>
          <a:effectLst/>
        </p:spPr>
        <p:txBody>
          <a:bodyPr anchor="b"/>
          <a:lstStyle/>
          <a:p>
            <a:r>
              <a:rPr lang="zh-CN" altLang="en-US" sz="2800" dirty="0">
                <a:solidFill>
                  <a:srgbClr val="0000CC"/>
                </a:solidFill>
              </a:rPr>
              <a:t>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slide(fromBottom)">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checkerboard(across)">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3" presetClass="entr" presetSubtype="16"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 calcmode="lin" valueType="num">
                                      <p:cBhvr>
                                        <p:cTn id="17" dur="500" fill="hold"/>
                                        <p:tgtEl>
                                          <p:spTgt spid="16"/>
                                        </p:tgtEl>
                                        <p:attrNameLst>
                                          <p:attrName>ppt_w</p:attrName>
                                        </p:attrNameLst>
                                      </p:cBhvr>
                                      <p:tavLst>
                                        <p:tav tm="0">
                                          <p:val>
                                            <p:fltVal val="0"/>
                                          </p:val>
                                        </p:tav>
                                        <p:tav tm="100000">
                                          <p:val>
                                            <p:strVal val="#ppt_w"/>
                                          </p:val>
                                        </p:tav>
                                      </p:tavLst>
                                    </p:anim>
                                    <p:anim calcmode="lin" valueType="num">
                                      <p:cBhvr>
                                        <p:cTn id="18"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trike="sngStrike" dirty="0"/>
              <a:t>改变进程调度优先权</a:t>
            </a:r>
          </a:p>
        </p:txBody>
      </p:sp>
      <p:sp>
        <p:nvSpPr>
          <p:cNvPr id="3" name="内容占位符 2"/>
          <p:cNvSpPr>
            <a:spLocks noGrp="1"/>
          </p:cNvSpPr>
          <p:nvPr>
            <p:ph idx="1"/>
          </p:nvPr>
        </p:nvSpPr>
        <p:spPr>
          <a:xfrm>
            <a:off x="457200" y="1563864"/>
            <a:ext cx="8229600" cy="1972816"/>
          </a:xfrm>
        </p:spPr>
        <p:txBody>
          <a:bodyPr/>
          <a:lstStyle/>
          <a:p>
            <a:r>
              <a:rPr lang="zh-CN" altLang="en-US" dirty="0">
                <a:solidFill>
                  <a:srgbClr val="FF0000"/>
                </a:solidFill>
                <a:latin typeface="+mn-ea"/>
              </a:rPr>
              <a:t>进程运行中</a:t>
            </a:r>
            <a:r>
              <a:rPr lang="zh-CN" altLang="en-US" dirty="0">
                <a:solidFill>
                  <a:srgbClr val="0000CC"/>
                </a:solidFill>
                <a:latin typeface="+mn-ea"/>
              </a:rPr>
              <a:t>调整优先级：</a:t>
            </a:r>
            <a:r>
              <a:rPr lang="zh-CN" altLang="en-US" sz="3600" dirty="0">
                <a:solidFill>
                  <a:srgbClr val="0000CC"/>
                </a:solidFill>
                <a:latin typeface="+mn-ea"/>
              </a:rPr>
              <a:t> </a:t>
            </a:r>
            <a:r>
              <a:rPr lang="en-US" altLang="zh-CN" sz="3600" b="1" dirty="0" err="1">
                <a:solidFill>
                  <a:srgbClr val="006600"/>
                </a:solidFill>
                <a:latin typeface="Courier New" pitchFamily="49" charset="0"/>
              </a:rPr>
              <a:t>renice</a:t>
            </a:r>
            <a:endParaRPr lang="en-US" altLang="zh-CN" sz="3600" b="1" dirty="0">
              <a:solidFill>
                <a:srgbClr val="006600"/>
              </a:solidFill>
              <a:latin typeface="Courier New" pitchFamily="49" charset="0"/>
            </a:endParaRPr>
          </a:p>
          <a:p>
            <a:pPr lvl="1"/>
            <a:r>
              <a:rPr lang="zh-CN" altLang="en-US" sz="2400" b="1" dirty="0">
                <a:latin typeface="+mj-ea"/>
                <a:ea typeface="+mj-ea"/>
              </a:rPr>
              <a:t>在系统资源紧张时，可以通过降低其它不着急的进程的优先权，从而使得急用的进程分得更多的 </a:t>
            </a:r>
            <a:r>
              <a:rPr lang="en-US" altLang="zh-CN" sz="2400" b="1" dirty="0">
                <a:latin typeface="+mj-ea"/>
                <a:ea typeface="+mj-ea"/>
              </a:rPr>
              <a:t>CPU </a:t>
            </a:r>
            <a:r>
              <a:rPr lang="zh-CN" altLang="en-US" sz="2400" b="1" dirty="0">
                <a:latin typeface="+mj-ea"/>
                <a:ea typeface="+mj-ea"/>
              </a:rPr>
              <a:t>时间</a:t>
            </a:r>
            <a:endParaRPr lang="en-US" altLang="zh-CN" sz="2400" b="1" dirty="0">
              <a:latin typeface="+mj-ea"/>
              <a:ea typeface="+mj-ea"/>
            </a:endParaRPr>
          </a:p>
          <a:p>
            <a:pPr lvl="1"/>
            <a:r>
              <a:rPr lang="en-US" altLang="zh-CN" sz="2400" b="1" dirty="0">
                <a:latin typeface="+mj-ea"/>
                <a:ea typeface="+mj-ea"/>
              </a:rPr>
              <a:t>root </a:t>
            </a:r>
            <a:r>
              <a:rPr lang="zh-CN" altLang="en-US" sz="2400" b="1" dirty="0">
                <a:latin typeface="+mj-ea"/>
                <a:ea typeface="+mj-ea"/>
              </a:rPr>
              <a:t>可以提高进程的优先权，但普通用户没这个权限</a:t>
            </a:r>
          </a:p>
        </p:txBody>
      </p:sp>
      <p:grpSp>
        <p:nvGrpSpPr>
          <p:cNvPr id="7" name="Group 12"/>
          <p:cNvGrpSpPr>
            <a:grpSpLocks/>
          </p:cNvGrpSpPr>
          <p:nvPr/>
        </p:nvGrpSpPr>
        <p:grpSpPr bwMode="auto">
          <a:xfrm>
            <a:off x="539552" y="3501010"/>
            <a:ext cx="7849443" cy="997428"/>
            <a:chOff x="704" y="2659"/>
            <a:chExt cx="4808" cy="506"/>
          </a:xfrm>
        </p:grpSpPr>
        <p:sp>
          <p:nvSpPr>
            <p:cNvPr id="8" name="Rectangle 3"/>
            <p:cNvSpPr>
              <a:spLocks noChangeArrowheads="1"/>
            </p:cNvSpPr>
            <p:nvPr/>
          </p:nvSpPr>
          <p:spPr bwMode="auto">
            <a:xfrm>
              <a:off x="749" y="2931"/>
              <a:ext cx="4763" cy="234"/>
            </a:xfrm>
            <a:prstGeom prst="rect">
              <a:avLst/>
            </a:prstGeom>
            <a:gradFill flip="none" rotWithShape="1">
              <a:gsLst>
                <a:gs pos="0">
                  <a:schemeClr val="accent1">
                    <a:lumMod val="40000"/>
                    <a:lumOff val="60000"/>
                    <a:tint val="66000"/>
                    <a:satMod val="160000"/>
                  </a:schemeClr>
                </a:gs>
                <a:gs pos="50000">
                  <a:schemeClr val="accent1">
                    <a:lumMod val="40000"/>
                    <a:lumOff val="60000"/>
                    <a:tint val="44500"/>
                    <a:satMod val="160000"/>
                  </a:schemeClr>
                </a:gs>
                <a:gs pos="100000">
                  <a:schemeClr val="accent1">
                    <a:lumMod val="40000"/>
                    <a:lumOff val="60000"/>
                    <a:tint val="23500"/>
                    <a:satMod val="160000"/>
                  </a:schemeClr>
                </a:gs>
              </a:gsLst>
              <a:lin ang="5400000" scaled="1"/>
              <a:tileRect/>
            </a:gradFill>
            <a:ln w="9525">
              <a:solidFill>
                <a:schemeClr val="hlink"/>
              </a:solidFill>
              <a:miter lim="800000"/>
              <a:headEnd/>
              <a:tailEnd/>
            </a:ln>
            <a:effectLst/>
          </p:spPr>
          <p:txBody>
            <a:bodyPr wrap="square">
              <a:spAutoFit/>
            </a:bodyPr>
            <a:lstStyle/>
            <a:p>
              <a:pPr>
                <a:buClr>
                  <a:schemeClr val="hlink"/>
                </a:buClr>
                <a:buFont typeface="Wingdings" pitchFamily="2" charset="2"/>
                <a:buNone/>
              </a:pPr>
              <a:r>
                <a:rPr lang="en-US" altLang="zh-CN" sz="2400" b="1" dirty="0" err="1">
                  <a:solidFill>
                    <a:srgbClr val="006600"/>
                  </a:solidFill>
                  <a:latin typeface="Courier New" pitchFamily="49" charset="0"/>
                </a:rPr>
                <a:t>renice</a:t>
              </a:r>
              <a:r>
                <a:rPr lang="en-US" altLang="zh-CN" sz="2400" dirty="0">
                  <a:solidFill>
                    <a:srgbClr val="006600"/>
                  </a:solidFill>
                  <a:latin typeface="Courier New" pitchFamily="49" charset="0"/>
                </a:rPr>
                <a:t> </a:t>
              </a:r>
              <a:r>
                <a:rPr lang="zh-CN" altLang="en-US" sz="2400" b="0" dirty="0">
                  <a:solidFill>
                    <a:srgbClr val="FF0000"/>
                  </a:solidFill>
                  <a:latin typeface="Courier New" pitchFamily="49" charset="0"/>
                  <a:ea typeface="黑体" pitchFamily="2" charset="-122"/>
                </a:rPr>
                <a:t>优先级</a:t>
              </a:r>
              <a:r>
                <a:rPr lang="zh-CN" altLang="en-US" sz="2400" dirty="0">
                  <a:solidFill>
                    <a:srgbClr val="006600"/>
                  </a:solidFill>
                  <a:latin typeface="Courier New" pitchFamily="49" charset="0"/>
                </a:rPr>
                <a:t> </a:t>
              </a:r>
              <a:r>
                <a:rPr lang="en-US" altLang="zh-CN" sz="2400" dirty="0">
                  <a:solidFill>
                    <a:srgbClr val="0000CC"/>
                  </a:solidFill>
                  <a:latin typeface="Courier New" pitchFamily="49" charset="0"/>
                </a:rPr>
                <a:t>[-p </a:t>
              </a:r>
              <a:r>
                <a:rPr lang="en-US" altLang="zh-CN" sz="2400" dirty="0" err="1">
                  <a:solidFill>
                    <a:srgbClr val="0000CC"/>
                  </a:solidFill>
                  <a:latin typeface="Courier New" pitchFamily="49" charset="0"/>
                </a:rPr>
                <a:t>pid</a:t>
              </a:r>
              <a:r>
                <a:rPr lang="en-US" altLang="zh-CN" sz="2400" dirty="0">
                  <a:solidFill>
                    <a:srgbClr val="0000CC"/>
                  </a:solidFill>
                  <a:latin typeface="Courier New" pitchFamily="49" charset="0"/>
                </a:rPr>
                <a:t>] [-u user] [-g </a:t>
              </a:r>
              <a:r>
                <a:rPr lang="en-US" altLang="zh-CN" sz="2400" dirty="0" err="1">
                  <a:solidFill>
                    <a:srgbClr val="0000CC"/>
                  </a:solidFill>
                  <a:latin typeface="Courier New" pitchFamily="49" charset="0"/>
                </a:rPr>
                <a:t>gid</a:t>
              </a:r>
              <a:r>
                <a:rPr lang="en-US" altLang="zh-CN" sz="2400" dirty="0">
                  <a:solidFill>
                    <a:srgbClr val="0000CC"/>
                  </a:solidFill>
                  <a:latin typeface="Courier New" pitchFamily="49" charset="0"/>
                </a:rPr>
                <a:t>]</a:t>
              </a:r>
              <a:endParaRPr lang="zh-CN" altLang="en-US" sz="2400" dirty="0">
                <a:solidFill>
                  <a:srgbClr val="0000CC"/>
                </a:solidFill>
                <a:latin typeface="Courier New" pitchFamily="49" charset="0"/>
              </a:endParaRPr>
            </a:p>
          </p:txBody>
        </p:sp>
        <p:sp>
          <p:nvSpPr>
            <p:cNvPr id="9" name="Text Box 4"/>
            <p:cNvSpPr txBox="1">
              <a:spLocks noChangeArrowheads="1"/>
            </p:cNvSpPr>
            <p:nvPr/>
          </p:nvSpPr>
          <p:spPr bwMode="auto">
            <a:xfrm>
              <a:off x="704" y="2659"/>
              <a:ext cx="4368" cy="288"/>
            </a:xfrm>
            <a:prstGeom prst="rect">
              <a:avLst/>
            </a:prstGeom>
            <a:noFill/>
            <a:ln w="9525">
              <a:noFill/>
              <a:miter lim="800000"/>
              <a:headEnd/>
              <a:tailEnd/>
            </a:ln>
            <a:effectLst/>
          </p:spPr>
          <p:txBody>
            <a:bodyPr>
              <a:spAutoFit/>
            </a:bodyPr>
            <a:lstStyle/>
            <a:p>
              <a:r>
                <a:rPr lang="zh-CN" altLang="en-US" sz="2400" b="0" dirty="0">
                  <a:solidFill>
                    <a:srgbClr val="0000CC"/>
                  </a:solidFill>
                  <a:ea typeface="黑体" pitchFamily="2" charset="-122"/>
                </a:rPr>
                <a:t>调整指定进程的优先级</a:t>
              </a:r>
            </a:p>
          </p:txBody>
        </p:sp>
      </p:grpSp>
      <p:sp>
        <p:nvSpPr>
          <p:cNvPr id="10" name="Rectangle 6"/>
          <p:cNvSpPr>
            <a:spLocks noChangeArrowheads="1"/>
          </p:cNvSpPr>
          <p:nvPr/>
        </p:nvSpPr>
        <p:spPr bwMode="auto">
          <a:xfrm>
            <a:off x="616024" y="4653136"/>
            <a:ext cx="7772400" cy="466725"/>
          </a:xfrm>
          <a:prstGeom prst="rect">
            <a:avLst/>
          </a:prstGeom>
          <a:noFill/>
          <a:ln w="9525">
            <a:solidFill>
              <a:schemeClr val="tx1"/>
            </a:solidFill>
            <a:miter lim="800000"/>
            <a:headEnd/>
            <a:tailEnd/>
          </a:ln>
          <a:effectLst/>
        </p:spPr>
        <p:txBody>
          <a:bodyPr>
            <a:spAutoFit/>
          </a:bodyPr>
          <a:lstStyle/>
          <a:p>
            <a:pPr>
              <a:buClr>
                <a:schemeClr val="hlink"/>
              </a:buClr>
              <a:buFont typeface="Wingdings" pitchFamily="2" charset="2"/>
              <a:buNone/>
            </a:pPr>
            <a:r>
              <a:rPr lang="en-US" altLang="zh-CN" sz="2400" b="1" dirty="0" err="1">
                <a:solidFill>
                  <a:srgbClr val="006600"/>
                </a:solidFill>
                <a:latin typeface="Courier New" pitchFamily="49" charset="0"/>
              </a:rPr>
              <a:t>renice</a:t>
            </a:r>
            <a:r>
              <a:rPr lang="en-US" altLang="zh-CN" sz="2400" dirty="0">
                <a:solidFill>
                  <a:srgbClr val="006600"/>
                </a:solidFill>
                <a:latin typeface="Courier New" pitchFamily="49" charset="0"/>
              </a:rPr>
              <a:t> </a:t>
            </a:r>
            <a:r>
              <a:rPr lang="zh-CN" altLang="en-US" sz="2400" dirty="0">
                <a:solidFill>
                  <a:schemeClr val="tx1"/>
                </a:solidFill>
                <a:latin typeface="Courier New" pitchFamily="49" charset="0"/>
              </a:rPr>
              <a:t>5 </a:t>
            </a:r>
            <a:r>
              <a:rPr lang="en-US" altLang="zh-CN" sz="2400" dirty="0">
                <a:solidFill>
                  <a:srgbClr val="0000CC"/>
                </a:solidFill>
                <a:latin typeface="Courier New" pitchFamily="49" charset="0"/>
              </a:rPr>
              <a:t>–p</a:t>
            </a:r>
            <a:r>
              <a:rPr lang="en-US" altLang="zh-CN" sz="2400" dirty="0">
                <a:solidFill>
                  <a:schemeClr val="tx1"/>
                </a:solidFill>
                <a:latin typeface="Courier New" pitchFamily="49" charset="0"/>
              </a:rPr>
              <a:t> 2345      # -p </a:t>
            </a:r>
            <a:r>
              <a:rPr lang="zh-CN" altLang="en-US" sz="2400" dirty="0">
                <a:solidFill>
                  <a:schemeClr val="tx1"/>
                </a:solidFill>
                <a:latin typeface="Courier New" pitchFamily="49" charset="0"/>
                <a:ea typeface="楷体_GB2312" pitchFamily="49" charset="-122"/>
              </a:rPr>
              <a:t>可以省略</a:t>
            </a:r>
          </a:p>
        </p:txBody>
      </p:sp>
      <p:sp>
        <p:nvSpPr>
          <p:cNvPr id="11" name="Rectangle 7" descr="蓝色砂纸"/>
          <p:cNvSpPr>
            <a:spLocks noChangeArrowheads="1"/>
          </p:cNvSpPr>
          <p:nvPr/>
        </p:nvSpPr>
        <p:spPr bwMode="auto">
          <a:xfrm>
            <a:off x="538806" y="5229919"/>
            <a:ext cx="8065641" cy="904875"/>
          </a:xfrm>
          <a:prstGeom prst="rect">
            <a:avLst/>
          </a:prstGeom>
          <a:gradFill flip="none" rotWithShape="1">
            <a:gsLst>
              <a:gs pos="0">
                <a:schemeClr val="accent1">
                  <a:lumMod val="40000"/>
                  <a:lumOff val="60000"/>
                  <a:tint val="66000"/>
                  <a:satMod val="160000"/>
                </a:schemeClr>
              </a:gs>
              <a:gs pos="50000">
                <a:schemeClr val="accent1">
                  <a:lumMod val="40000"/>
                  <a:lumOff val="60000"/>
                  <a:tint val="44500"/>
                  <a:satMod val="160000"/>
                </a:schemeClr>
              </a:gs>
              <a:gs pos="100000">
                <a:schemeClr val="accent1">
                  <a:lumMod val="40000"/>
                  <a:lumOff val="60000"/>
                  <a:tint val="23500"/>
                  <a:satMod val="160000"/>
                </a:schemeClr>
              </a:gs>
            </a:gsLst>
            <a:path path="circle">
              <a:fillToRect l="50000" t="50000" r="50000" b="50000"/>
            </a:path>
            <a:tileRect/>
          </a:gradFill>
          <a:ln w="9525">
            <a:solidFill>
              <a:schemeClr val="tx1"/>
            </a:solidFill>
            <a:miter lim="800000"/>
            <a:headEnd/>
            <a:tailEnd/>
          </a:ln>
          <a:effectLst/>
        </p:spPr>
        <p:txBody>
          <a:bodyPr wrap="square">
            <a:spAutoFit/>
          </a:bodyPr>
          <a:lstStyle/>
          <a:p>
            <a:pPr algn="just">
              <a:lnSpc>
                <a:spcPct val="110000"/>
              </a:lnSpc>
              <a:buClr>
                <a:schemeClr val="hlink"/>
              </a:buClr>
              <a:buFont typeface="Wingdings" pitchFamily="2" charset="2"/>
              <a:buNone/>
            </a:pPr>
            <a:r>
              <a:rPr lang="zh-CN" altLang="en-US" sz="2400" b="0" dirty="0">
                <a:solidFill>
                  <a:schemeClr val="tx1"/>
                </a:solidFill>
                <a:ea typeface="黑体" pitchFamily="2" charset="-122"/>
              </a:rPr>
              <a:t>注：普通用户一旦增加某个进程的优先级 </a:t>
            </a:r>
            <a:r>
              <a:rPr lang="en-US" altLang="zh-CN" sz="2400" b="0" dirty="0">
                <a:solidFill>
                  <a:schemeClr val="tx1"/>
                </a:solidFill>
                <a:ea typeface="黑体" pitchFamily="2" charset="-122"/>
              </a:rPr>
              <a:t>(</a:t>
            </a:r>
            <a:r>
              <a:rPr lang="zh-CN" altLang="en-US" sz="2400" b="0" dirty="0">
                <a:solidFill>
                  <a:schemeClr val="tx1"/>
                </a:solidFill>
                <a:ea typeface="黑体" pitchFamily="2" charset="-122"/>
              </a:rPr>
              <a:t>即降低优先值</a:t>
            </a:r>
            <a:r>
              <a:rPr lang="en-US" altLang="zh-CN" sz="2400" b="0" dirty="0">
                <a:solidFill>
                  <a:schemeClr val="tx1"/>
                </a:solidFill>
                <a:ea typeface="黑体" pitchFamily="2" charset="-122"/>
              </a:rPr>
              <a:t>) </a:t>
            </a:r>
            <a:r>
              <a:rPr lang="zh-CN" altLang="en-US" sz="2400" b="0" dirty="0">
                <a:solidFill>
                  <a:schemeClr val="tx1"/>
                </a:solidFill>
                <a:ea typeface="黑体" pitchFamily="2" charset="-122"/>
              </a:rPr>
              <a:t>后，就无法再回复到原来的优先级</a:t>
            </a:r>
            <a:r>
              <a:rPr lang="zh-CN" altLang="en-US" sz="2400" b="0" dirty="0">
                <a:solidFill>
                  <a:schemeClr val="tx1"/>
                </a:solidFill>
                <a:latin typeface="Courier New" pitchFamily="49" charset="0"/>
                <a:ea typeface="黑体" pitchFamily="2" charset="-12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slide(fromBottom)">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box(in)">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slide(fromBottom)">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 进程信号（</a:t>
            </a:r>
            <a:r>
              <a:rPr lang="en-US" altLang="zh-CN" dirty="0"/>
              <a:t>signal</a:t>
            </a:r>
            <a:r>
              <a:rPr lang="zh-CN" altLang="en-US" dirty="0"/>
              <a:t>）</a:t>
            </a:r>
          </a:p>
        </p:txBody>
      </p:sp>
      <p:sp>
        <p:nvSpPr>
          <p:cNvPr id="3" name="内容占位符 2"/>
          <p:cNvSpPr>
            <a:spLocks noGrp="1"/>
          </p:cNvSpPr>
          <p:nvPr>
            <p:ph idx="1"/>
          </p:nvPr>
        </p:nvSpPr>
        <p:spPr>
          <a:xfrm>
            <a:off x="717550" y="1340768"/>
            <a:ext cx="8229600" cy="5006181"/>
          </a:xfrm>
        </p:spPr>
        <p:txBody>
          <a:bodyPr/>
          <a:lstStyle/>
          <a:p>
            <a:r>
              <a:rPr lang="zh-CN" altLang="en-US" dirty="0"/>
              <a:t>进程信号是在软件层次上对</a:t>
            </a:r>
            <a:r>
              <a:rPr lang="zh-CN" altLang="en-US" dirty="0">
                <a:solidFill>
                  <a:srgbClr val="FF0000"/>
                </a:solidFill>
              </a:rPr>
              <a:t>中断机制</a:t>
            </a:r>
            <a:r>
              <a:rPr lang="zh-CN" altLang="en-US" dirty="0"/>
              <a:t>的一种模拟，在原理上，一个进程收到一个信号与处理器收到一个中断请求是一样的</a:t>
            </a:r>
            <a:endParaRPr lang="en-US" altLang="zh-CN" dirty="0"/>
          </a:p>
          <a:p>
            <a:r>
              <a:rPr lang="zh-CN" altLang="en-US" dirty="0"/>
              <a:t>进程信号是</a:t>
            </a:r>
            <a:r>
              <a:rPr lang="zh-CN" altLang="en-US" dirty="0">
                <a:solidFill>
                  <a:srgbClr val="FF0000"/>
                </a:solidFill>
              </a:rPr>
              <a:t>最基本</a:t>
            </a:r>
            <a:r>
              <a:rPr lang="zh-CN" altLang="en-US" dirty="0"/>
              <a:t>的</a:t>
            </a:r>
            <a:r>
              <a:rPr lang="zh-CN" altLang="en-US" dirty="0">
                <a:solidFill>
                  <a:srgbClr val="FF0000"/>
                </a:solidFill>
              </a:rPr>
              <a:t>进程间通讯方式</a:t>
            </a:r>
            <a:endParaRPr lang="en-US" altLang="zh-CN" dirty="0">
              <a:solidFill>
                <a:srgbClr val="FF0000"/>
              </a:solidFill>
            </a:endParaRPr>
          </a:p>
          <a:p>
            <a:pPr lvl="1"/>
            <a:r>
              <a:rPr lang="zh-CN" altLang="en-US" dirty="0"/>
              <a:t>可以在</a:t>
            </a:r>
            <a:r>
              <a:rPr lang="zh-CN" altLang="en-US" dirty="0">
                <a:solidFill>
                  <a:srgbClr val="FF0000"/>
                </a:solidFill>
              </a:rPr>
              <a:t>进程之间直接发送</a:t>
            </a:r>
            <a:r>
              <a:rPr lang="zh-CN" altLang="en-US" dirty="0"/>
              <a:t>，而不需要用户界面</a:t>
            </a:r>
            <a:endParaRPr lang="en-US" altLang="zh-CN" dirty="0"/>
          </a:p>
          <a:p>
            <a:pPr lvl="1"/>
            <a:r>
              <a:rPr lang="zh-CN" altLang="en-US" dirty="0"/>
              <a:t>可以在</a:t>
            </a:r>
            <a:r>
              <a:rPr lang="en-US" altLang="zh-CN" dirty="0"/>
              <a:t>Shell</a:t>
            </a:r>
            <a:r>
              <a:rPr lang="zh-CN" altLang="en-US" dirty="0"/>
              <a:t>中通过</a:t>
            </a:r>
            <a:r>
              <a:rPr lang="en-US" altLang="zh-CN" dirty="0">
                <a:solidFill>
                  <a:srgbClr val="FF0000"/>
                </a:solidFill>
              </a:rPr>
              <a:t>kill</a:t>
            </a:r>
            <a:r>
              <a:rPr lang="zh-CN" altLang="en-US" dirty="0">
                <a:solidFill>
                  <a:srgbClr val="FF0000"/>
                </a:solidFill>
              </a:rPr>
              <a:t>命令</a:t>
            </a:r>
            <a:r>
              <a:rPr lang="zh-CN" altLang="en-US" dirty="0"/>
              <a:t>发送给进程</a:t>
            </a:r>
            <a:endParaRPr lang="en-US" altLang="zh-CN" dirty="0"/>
          </a:p>
          <a:p>
            <a:r>
              <a:rPr lang="zh-CN" altLang="en-US" dirty="0"/>
              <a:t>每种</a:t>
            </a:r>
            <a:r>
              <a:rPr lang="zh-CN" altLang="en-US" dirty="0">
                <a:solidFill>
                  <a:srgbClr val="FF0000"/>
                </a:solidFill>
              </a:rPr>
              <a:t>进程信号</a:t>
            </a:r>
            <a:r>
              <a:rPr lang="zh-CN" altLang="en-US" dirty="0"/>
              <a:t>都规定了</a:t>
            </a:r>
            <a:r>
              <a:rPr lang="zh-CN" altLang="en-US" dirty="0">
                <a:solidFill>
                  <a:srgbClr val="FF0000"/>
                </a:solidFill>
              </a:rPr>
              <a:t>默认关联动作</a:t>
            </a:r>
            <a:endParaRPr lang="en-US" altLang="zh-CN" dirty="0">
              <a:solidFill>
                <a:srgbClr val="FF0000"/>
              </a:solidFill>
            </a:endParaRPr>
          </a:p>
          <a:p>
            <a:r>
              <a:rPr lang="zh-CN" altLang="en-US" dirty="0">
                <a:solidFill>
                  <a:srgbClr val="FF0000"/>
                </a:solidFill>
              </a:rPr>
              <a:t>查看</a:t>
            </a:r>
            <a:r>
              <a:rPr lang="zh-CN" altLang="en-US" dirty="0"/>
              <a:t>可用的</a:t>
            </a:r>
            <a:r>
              <a:rPr lang="zh-CN" altLang="en-US" dirty="0">
                <a:solidFill>
                  <a:srgbClr val="FF0000"/>
                </a:solidFill>
              </a:rPr>
              <a:t>进程信号</a:t>
            </a:r>
            <a:endParaRPr lang="en-US" altLang="zh-CN" dirty="0">
              <a:solidFill>
                <a:srgbClr val="FF0000"/>
              </a:solidFill>
            </a:endParaRPr>
          </a:p>
          <a:p>
            <a:pPr lvl="1">
              <a:buNone/>
            </a:pPr>
            <a:r>
              <a:rPr lang="en-US" altLang="zh-CN" dirty="0">
                <a:solidFill>
                  <a:schemeClr val="accent6">
                    <a:lumMod val="75000"/>
                  </a:schemeClr>
                </a:solidFill>
              </a:rPr>
              <a:t>$ kill  -l</a:t>
            </a:r>
          </a:p>
          <a:p>
            <a:pPr lvl="1">
              <a:buNone/>
            </a:pPr>
            <a:r>
              <a:rPr lang="en-US" altLang="zh-CN" dirty="0">
                <a:solidFill>
                  <a:schemeClr val="accent6">
                    <a:lumMod val="75000"/>
                  </a:schemeClr>
                </a:solidFill>
              </a:rPr>
              <a:t>$ man 7 signal</a:t>
            </a:r>
            <a:endParaRPr lang="zh-CN" altLang="en-US" dirty="0">
              <a:solidFill>
                <a:schemeClr val="accent6">
                  <a:lumMod val="75000"/>
                </a:schemeClr>
              </a:solidFill>
            </a:endParaRPr>
          </a:p>
        </p:txBody>
      </p:sp>
    </p:spTree>
  </p:cSld>
  <p:clrMapOvr>
    <a:masterClrMapping/>
  </p:clrMapOvr>
  <p:timing>
    <p:tnLst>
      <p:par>
        <p:cTn id="1" dur="indefinite" restart="never" nodeType="tmRoot"/>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进程</a:t>
            </a:r>
            <a:r>
              <a:rPr lang="zh-CN" altLang="en-US" dirty="0"/>
              <a:t>信号（</a:t>
            </a:r>
            <a:r>
              <a:rPr lang="en-US" altLang="zh-CN" dirty="0"/>
              <a:t>signal</a:t>
            </a:r>
            <a:r>
              <a:rPr lang="zh-CN" altLang="en-US" dirty="0"/>
              <a:t>）</a:t>
            </a:r>
          </a:p>
        </p:txBody>
      </p:sp>
      <p:sp>
        <p:nvSpPr>
          <p:cNvPr id="3" name="内容占位符 2"/>
          <p:cNvSpPr>
            <a:spLocks noGrp="1"/>
          </p:cNvSpPr>
          <p:nvPr>
            <p:ph idx="1"/>
          </p:nvPr>
        </p:nvSpPr>
        <p:spPr>
          <a:xfrm>
            <a:off x="323528" y="1340768"/>
            <a:ext cx="8424936" cy="5006181"/>
          </a:xfrm>
        </p:spPr>
        <p:txBody>
          <a:bodyPr/>
          <a:lstStyle/>
          <a:p>
            <a:r>
              <a:rPr lang="zh-CN" altLang="en-US" dirty="0" smtClean="0">
                <a:solidFill>
                  <a:srgbClr val="FF0000"/>
                </a:solidFill>
              </a:rPr>
              <a:t>查看</a:t>
            </a:r>
            <a:r>
              <a:rPr lang="zh-CN" altLang="en-US" dirty="0"/>
              <a:t>可用的</a:t>
            </a:r>
            <a:r>
              <a:rPr lang="zh-CN" altLang="en-US" dirty="0">
                <a:solidFill>
                  <a:srgbClr val="FF0000"/>
                </a:solidFill>
              </a:rPr>
              <a:t>进程信号</a:t>
            </a:r>
            <a:endParaRPr lang="en-US" altLang="zh-CN" dirty="0">
              <a:solidFill>
                <a:srgbClr val="FF0000"/>
              </a:solidFill>
            </a:endParaRPr>
          </a:p>
          <a:p>
            <a:pPr lvl="1">
              <a:buNone/>
            </a:pPr>
            <a:r>
              <a:rPr lang="en-US" altLang="zh-CN" dirty="0">
                <a:solidFill>
                  <a:schemeClr val="accent6">
                    <a:lumMod val="75000"/>
                  </a:schemeClr>
                </a:solidFill>
              </a:rPr>
              <a:t>$ kill  </a:t>
            </a:r>
            <a:r>
              <a:rPr lang="en-US" altLang="zh-CN" dirty="0" smtClean="0">
                <a:solidFill>
                  <a:schemeClr val="accent6">
                    <a:lumMod val="75000"/>
                  </a:schemeClr>
                </a:solidFill>
              </a:rPr>
              <a:t>-l</a:t>
            </a:r>
            <a:endParaRPr lang="en-US" altLang="zh-CN" dirty="0">
              <a:solidFill>
                <a:schemeClr val="accent6">
                  <a:lumMod val="75000"/>
                </a:schemeClr>
              </a:solidFill>
            </a:endParaRPr>
          </a:p>
          <a:p>
            <a:pPr lvl="1">
              <a:buNone/>
            </a:pPr>
            <a:r>
              <a:rPr lang="en-US" altLang="zh-CN" dirty="0">
                <a:solidFill>
                  <a:schemeClr val="accent6">
                    <a:lumMod val="75000"/>
                  </a:schemeClr>
                </a:solidFill>
              </a:rPr>
              <a:t>$ man 7 </a:t>
            </a:r>
            <a:r>
              <a:rPr lang="en-US" altLang="zh-CN" dirty="0" smtClean="0">
                <a:solidFill>
                  <a:schemeClr val="accent6">
                    <a:lumMod val="75000"/>
                  </a:schemeClr>
                </a:solidFill>
              </a:rPr>
              <a:t>signal</a:t>
            </a:r>
          </a:p>
          <a:p>
            <a:pPr lvl="1">
              <a:buNone/>
            </a:pPr>
            <a:endParaRPr lang="en-US" altLang="zh-CN" dirty="0">
              <a:solidFill>
                <a:schemeClr val="accent6">
                  <a:lumMod val="75000"/>
                </a:schemeClr>
              </a:solidFill>
            </a:endParaRPr>
          </a:p>
          <a:p>
            <a:r>
              <a:rPr lang="zh-CN" altLang="en-US" dirty="0"/>
              <a:t>常见的进程信号</a:t>
            </a:r>
            <a:endParaRPr lang="en-US" altLang="zh-CN" dirty="0"/>
          </a:p>
          <a:p>
            <a:pPr lvl="1"/>
            <a:r>
              <a:rPr lang="en-US" altLang="zh-CN" sz="2400" dirty="0">
                <a:solidFill>
                  <a:srgbClr val="002060"/>
                </a:solidFill>
              </a:rPr>
              <a:t>SIGTERM </a:t>
            </a:r>
            <a:r>
              <a:rPr lang="en-US" altLang="zh-CN" sz="2400" dirty="0"/>
              <a:t>| </a:t>
            </a:r>
            <a:r>
              <a:rPr lang="en-US" altLang="zh-CN" sz="2400" dirty="0">
                <a:solidFill>
                  <a:schemeClr val="tx2">
                    <a:lumMod val="75000"/>
                  </a:schemeClr>
                </a:solidFill>
              </a:rPr>
              <a:t>TERM </a:t>
            </a:r>
            <a:r>
              <a:rPr lang="zh-CN" altLang="en-US" sz="2400" dirty="0"/>
              <a:t>（</a:t>
            </a:r>
            <a:r>
              <a:rPr lang="en-US" altLang="zh-CN" sz="2400" dirty="0">
                <a:solidFill>
                  <a:srgbClr val="FF0000"/>
                </a:solidFill>
              </a:rPr>
              <a:t>15</a:t>
            </a:r>
            <a:r>
              <a:rPr lang="zh-CN" altLang="en-US" sz="2400" dirty="0"/>
              <a:t>） </a:t>
            </a:r>
            <a:r>
              <a:rPr lang="en-US" altLang="zh-CN" sz="2400" dirty="0"/>
              <a:t>—— </a:t>
            </a:r>
            <a:r>
              <a:rPr lang="zh-CN" altLang="en-US" sz="2400" dirty="0">
                <a:solidFill>
                  <a:srgbClr val="FF0000"/>
                </a:solidFill>
              </a:rPr>
              <a:t>正常终止 </a:t>
            </a:r>
            <a:r>
              <a:rPr lang="en-US" altLang="zh-CN" sz="2400" dirty="0"/>
              <a:t>(</a:t>
            </a:r>
            <a:r>
              <a:rPr lang="zh-CN" altLang="en-US" sz="2400" dirty="0"/>
              <a:t>默认</a:t>
            </a:r>
            <a:r>
              <a:rPr lang="en-US" altLang="zh-CN" sz="2400" dirty="0"/>
              <a:t>)</a:t>
            </a:r>
            <a:endParaRPr lang="zh-CN" altLang="en-US" sz="2400" dirty="0"/>
          </a:p>
          <a:p>
            <a:pPr lvl="1"/>
            <a:r>
              <a:rPr lang="en-US" altLang="zh-CN" sz="2400" dirty="0">
                <a:solidFill>
                  <a:srgbClr val="002060"/>
                </a:solidFill>
              </a:rPr>
              <a:t>SIGKILL </a:t>
            </a:r>
            <a:r>
              <a:rPr lang="en-US" altLang="zh-CN" sz="2400" dirty="0"/>
              <a:t>| </a:t>
            </a:r>
            <a:r>
              <a:rPr lang="en-US" altLang="zh-CN" sz="2400" dirty="0">
                <a:solidFill>
                  <a:srgbClr val="002060"/>
                </a:solidFill>
              </a:rPr>
              <a:t>KILL</a:t>
            </a:r>
            <a:r>
              <a:rPr lang="en-US" altLang="zh-CN" sz="2400" dirty="0"/>
              <a:t>     </a:t>
            </a:r>
            <a:r>
              <a:rPr lang="zh-CN" altLang="en-US" sz="2400" dirty="0"/>
              <a:t>（</a:t>
            </a:r>
            <a:r>
              <a:rPr lang="en-US" altLang="zh-CN" sz="2400" dirty="0">
                <a:solidFill>
                  <a:srgbClr val="FF0000"/>
                </a:solidFill>
              </a:rPr>
              <a:t>9</a:t>
            </a:r>
            <a:r>
              <a:rPr lang="zh-CN" altLang="en-US" sz="2400" dirty="0"/>
              <a:t>）  </a:t>
            </a:r>
            <a:r>
              <a:rPr lang="en-US" altLang="zh-CN" sz="2400" dirty="0"/>
              <a:t>—— </a:t>
            </a:r>
            <a:r>
              <a:rPr lang="zh-CN" altLang="en-US" sz="2400" dirty="0"/>
              <a:t>立即</a:t>
            </a:r>
            <a:r>
              <a:rPr lang="zh-CN" altLang="en-US" sz="2400" dirty="0">
                <a:solidFill>
                  <a:srgbClr val="FF0000"/>
                </a:solidFill>
              </a:rPr>
              <a:t>终止</a:t>
            </a:r>
          </a:p>
          <a:p>
            <a:pPr lvl="1"/>
            <a:r>
              <a:rPr lang="en-US" altLang="zh-CN" sz="2400" dirty="0">
                <a:solidFill>
                  <a:srgbClr val="002060"/>
                </a:solidFill>
              </a:rPr>
              <a:t>SIGHUP </a:t>
            </a:r>
            <a:r>
              <a:rPr lang="en-US" altLang="zh-CN" sz="2400" dirty="0"/>
              <a:t>| </a:t>
            </a:r>
            <a:r>
              <a:rPr lang="en-US" altLang="zh-CN" sz="2400" dirty="0">
                <a:solidFill>
                  <a:srgbClr val="002060"/>
                </a:solidFill>
              </a:rPr>
              <a:t>HUP</a:t>
            </a:r>
            <a:r>
              <a:rPr lang="en-US" altLang="zh-CN" sz="2400" dirty="0"/>
              <a:t>      </a:t>
            </a:r>
            <a:r>
              <a:rPr lang="zh-CN" altLang="en-US" sz="2400" dirty="0"/>
              <a:t>（</a:t>
            </a:r>
            <a:r>
              <a:rPr lang="en-US" altLang="zh-CN" sz="2400" dirty="0">
                <a:solidFill>
                  <a:srgbClr val="FF0000"/>
                </a:solidFill>
              </a:rPr>
              <a:t>1</a:t>
            </a:r>
            <a:r>
              <a:rPr lang="zh-CN" altLang="en-US" sz="2400" dirty="0"/>
              <a:t>）  </a:t>
            </a:r>
            <a:r>
              <a:rPr lang="en-US" altLang="zh-CN" sz="2400" dirty="0"/>
              <a:t>—— </a:t>
            </a:r>
            <a:r>
              <a:rPr lang="zh-CN" altLang="en-US" sz="2400" dirty="0">
                <a:solidFill>
                  <a:srgbClr val="FF0000"/>
                </a:solidFill>
              </a:rPr>
              <a:t>重读配置文件</a:t>
            </a:r>
            <a:r>
              <a:rPr lang="en-US" altLang="zh-CN" sz="2400" dirty="0"/>
              <a:t>(</a:t>
            </a:r>
            <a:r>
              <a:rPr lang="zh-CN" altLang="en-US" sz="2400" dirty="0"/>
              <a:t>重启）</a:t>
            </a:r>
            <a:endParaRPr lang="en-US" altLang="zh-CN" sz="2400" dirty="0"/>
          </a:p>
          <a:p>
            <a:pPr lvl="1">
              <a:buNone/>
            </a:pPr>
            <a:endParaRPr lang="zh-CN" altLang="en-US" dirty="0">
              <a:solidFill>
                <a:schemeClr val="accent6">
                  <a:lumMod val="75000"/>
                </a:schemeClr>
              </a:solidFill>
            </a:endParaRPr>
          </a:p>
        </p:txBody>
      </p:sp>
    </p:spTree>
    <p:extLst>
      <p:ext uri="{BB962C8B-B14F-4D97-AF65-F5344CB8AC3E}">
        <p14:creationId xmlns:p14="http://schemas.microsoft.com/office/powerpoint/2010/main" val="910556626"/>
      </p:ext>
    </p:extLst>
  </p:cSld>
  <p:clrMapOvr>
    <a:masterClrMapping/>
  </p:clrMapOvr>
  <p:timing>
    <p:tnLst>
      <p:par>
        <p:cTn id="1" dur="indefinite" restart="never" nodeType="tmRoot"/>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进程信号的发送</a:t>
            </a:r>
            <a:endParaRPr lang="zh-CN" altLang="en-US" dirty="0"/>
          </a:p>
        </p:txBody>
      </p:sp>
      <p:sp>
        <p:nvSpPr>
          <p:cNvPr id="3" name="内容占位符 2"/>
          <p:cNvSpPr>
            <a:spLocks noGrp="1"/>
          </p:cNvSpPr>
          <p:nvPr>
            <p:ph idx="1"/>
          </p:nvPr>
        </p:nvSpPr>
        <p:spPr>
          <a:xfrm>
            <a:off x="395536" y="1412776"/>
            <a:ext cx="8291264" cy="4718149"/>
          </a:xfrm>
        </p:spPr>
        <p:txBody>
          <a:bodyPr/>
          <a:lstStyle/>
          <a:p>
            <a:r>
              <a:rPr lang="zh-CN" altLang="en-US" dirty="0" smtClean="0"/>
              <a:t>给</a:t>
            </a:r>
            <a:r>
              <a:rPr lang="zh-CN" altLang="en-US" dirty="0"/>
              <a:t>进程发送信号</a:t>
            </a:r>
            <a:endParaRPr lang="en-US" altLang="zh-CN" dirty="0"/>
          </a:p>
          <a:p>
            <a:pPr lvl="1"/>
            <a:r>
              <a:rPr lang="zh-CN" altLang="en-US" dirty="0"/>
              <a:t>按</a:t>
            </a:r>
            <a:r>
              <a:rPr lang="en-US" altLang="zh-CN" dirty="0">
                <a:solidFill>
                  <a:srgbClr val="FF0000"/>
                </a:solidFill>
              </a:rPr>
              <a:t>PID</a:t>
            </a:r>
            <a:r>
              <a:rPr lang="zh-CN" altLang="en-US" dirty="0"/>
              <a:t>：  </a:t>
            </a:r>
            <a:r>
              <a:rPr lang="en-US" altLang="zh-CN" dirty="0">
                <a:solidFill>
                  <a:schemeClr val="accent6">
                    <a:lumMod val="75000"/>
                  </a:schemeClr>
                </a:solidFill>
              </a:rPr>
              <a:t>kill  [-</a:t>
            </a:r>
            <a:r>
              <a:rPr lang="zh-CN" altLang="en-US" dirty="0">
                <a:solidFill>
                  <a:schemeClr val="accent6">
                    <a:lumMod val="75000"/>
                  </a:schemeClr>
                </a:solidFill>
              </a:rPr>
              <a:t>信号</a:t>
            </a:r>
            <a:r>
              <a:rPr lang="en-US" altLang="zh-CN" dirty="0">
                <a:solidFill>
                  <a:schemeClr val="accent6">
                    <a:lumMod val="75000"/>
                  </a:schemeClr>
                </a:solidFill>
              </a:rPr>
              <a:t>]  PID … </a:t>
            </a:r>
          </a:p>
          <a:p>
            <a:pPr lvl="1"/>
            <a:r>
              <a:rPr lang="zh-CN" altLang="en-US" dirty="0"/>
              <a:t>按</a:t>
            </a:r>
            <a:r>
              <a:rPr lang="zh-CN" altLang="en-US" dirty="0">
                <a:solidFill>
                  <a:srgbClr val="FF0000"/>
                </a:solidFill>
              </a:rPr>
              <a:t>名称</a:t>
            </a:r>
            <a:r>
              <a:rPr lang="zh-CN" altLang="en-US" dirty="0"/>
              <a:t>：</a:t>
            </a:r>
            <a:r>
              <a:rPr lang="en-US" altLang="zh-CN" dirty="0" err="1">
                <a:solidFill>
                  <a:schemeClr val="accent6">
                    <a:lumMod val="75000"/>
                  </a:schemeClr>
                </a:solidFill>
              </a:rPr>
              <a:t>killall</a:t>
            </a:r>
            <a:r>
              <a:rPr lang="en-US" altLang="zh-CN" dirty="0">
                <a:solidFill>
                  <a:schemeClr val="accent6">
                    <a:lumMod val="75000"/>
                  </a:schemeClr>
                </a:solidFill>
              </a:rPr>
              <a:t>  [-</a:t>
            </a:r>
            <a:r>
              <a:rPr lang="zh-CN" altLang="en-US" dirty="0">
                <a:solidFill>
                  <a:schemeClr val="accent6">
                    <a:lumMod val="75000"/>
                  </a:schemeClr>
                </a:solidFill>
              </a:rPr>
              <a:t>信号</a:t>
            </a:r>
            <a:r>
              <a:rPr lang="en-US" altLang="zh-CN" dirty="0">
                <a:solidFill>
                  <a:schemeClr val="accent6">
                    <a:lumMod val="75000"/>
                  </a:schemeClr>
                </a:solidFill>
              </a:rPr>
              <a:t>] COMM … </a:t>
            </a:r>
          </a:p>
          <a:p>
            <a:pPr lvl="1"/>
            <a:r>
              <a:rPr lang="zh-CN" altLang="en-US" dirty="0"/>
              <a:t>按</a:t>
            </a:r>
            <a:r>
              <a:rPr lang="zh-CN" altLang="en-US" dirty="0">
                <a:solidFill>
                  <a:srgbClr val="FF0000"/>
                </a:solidFill>
              </a:rPr>
              <a:t>模式</a:t>
            </a:r>
            <a:r>
              <a:rPr lang="zh-CN" altLang="en-US" dirty="0"/>
              <a:t>：</a:t>
            </a:r>
            <a:r>
              <a:rPr lang="en-US" altLang="zh-CN" dirty="0">
                <a:solidFill>
                  <a:schemeClr val="accent6">
                    <a:lumMod val="75000"/>
                  </a:schemeClr>
                </a:solidFill>
              </a:rPr>
              <a:t>pkill  [-</a:t>
            </a:r>
            <a:r>
              <a:rPr lang="zh-CN" altLang="en-US" dirty="0">
                <a:solidFill>
                  <a:schemeClr val="accent6">
                    <a:lumMod val="75000"/>
                  </a:schemeClr>
                </a:solidFill>
              </a:rPr>
              <a:t>信号</a:t>
            </a:r>
            <a:r>
              <a:rPr lang="en-US" altLang="zh-CN" dirty="0">
                <a:solidFill>
                  <a:schemeClr val="accent6">
                    <a:lumMod val="75000"/>
                  </a:schemeClr>
                </a:solidFill>
              </a:rPr>
              <a:t>] </a:t>
            </a:r>
            <a:r>
              <a:rPr lang="zh-CN" altLang="en-US" dirty="0">
                <a:solidFill>
                  <a:schemeClr val="accent6">
                    <a:lumMod val="75000"/>
                  </a:schemeClr>
                </a:solidFill>
              </a:rPr>
              <a:t>模式</a:t>
            </a:r>
            <a:endParaRPr lang="en-US" altLang="zh-CN" dirty="0">
              <a:solidFill>
                <a:schemeClr val="accent6">
                  <a:lumMod val="75000"/>
                </a:schemeClr>
              </a:solidFill>
            </a:endParaRPr>
          </a:p>
          <a:p>
            <a:r>
              <a:rPr lang="zh-CN" altLang="en-US" dirty="0">
                <a:solidFill>
                  <a:srgbClr val="002060"/>
                </a:solidFill>
              </a:rPr>
              <a:t>发送信号可以使用</a:t>
            </a:r>
            <a:r>
              <a:rPr lang="zh-CN" altLang="en-US" dirty="0">
                <a:solidFill>
                  <a:srgbClr val="FF0000"/>
                </a:solidFill>
              </a:rPr>
              <a:t>名称或数字号码</a:t>
            </a:r>
          </a:p>
        </p:txBody>
      </p:sp>
      <p:sp>
        <p:nvSpPr>
          <p:cNvPr id="5" name="矩形 4"/>
          <p:cNvSpPr/>
          <p:nvPr/>
        </p:nvSpPr>
        <p:spPr>
          <a:xfrm>
            <a:off x="395536" y="4174729"/>
            <a:ext cx="7920880" cy="2062103"/>
          </a:xfrm>
          <a:prstGeom prst="rect">
            <a:avLst/>
          </a:prstGeom>
        </p:spPr>
        <p:txBody>
          <a:bodyPr wrap="square">
            <a:spAutoFit/>
          </a:bodyPr>
          <a:lstStyle/>
          <a:p>
            <a:pPr marL="342900" indent="-342900" eaLnBrk="0" hangingPunct="0">
              <a:spcBef>
                <a:spcPct val="20000"/>
              </a:spcBef>
              <a:buClr>
                <a:schemeClr val="folHlink"/>
              </a:buClr>
              <a:buSzPct val="60000"/>
              <a:buFont typeface="Wingdings" panose="05000000000000000000" pitchFamily="2" charset="2"/>
              <a:buChar char="n"/>
            </a:pPr>
            <a:r>
              <a:rPr lang="zh-CN" altLang="en-US" sz="3200" dirty="0" smtClean="0">
                <a:solidFill>
                  <a:srgbClr val="002060"/>
                </a:solidFill>
                <a:latin typeface="Tahoma" panose="020B0604030504040204" pitchFamily="34" charset="0"/>
                <a:ea typeface="楷体_GB2312"/>
              </a:rPr>
              <a:t>命令</a:t>
            </a:r>
            <a:r>
              <a:rPr lang="zh-CN" altLang="en-US" sz="3200" dirty="0">
                <a:solidFill>
                  <a:srgbClr val="002060"/>
                </a:solidFill>
                <a:latin typeface="Tahoma" panose="020B0604030504040204" pitchFamily="34" charset="0"/>
                <a:ea typeface="楷体_GB2312"/>
              </a:rPr>
              <a:t>举例</a:t>
            </a:r>
            <a:endParaRPr lang="en-US" altLang="zh-CN" sz="3200" dirty="0">
              <a:solidFill>
                <a:srgbClr val="002060"/>
              </a:solidFill>
              <a:latin typeface="Tahoma" panose="020B0604030504040204" pitchFamily="34" charset="0"/>
              <a:ea typeface="楷体_GB2312"/>
            </a:endParaRPr>
          </a:p>
          <a:p>
            <a:pPr lvl="1">
              <a:buNone/>
            </a:pPr>
            <a:r>
              <a:rPr lang="en-US" altLang="zh-CN" sz="2400" dirty="0" smtClean="0">
                <a:solidFill>
                  <a:srgbClr val="002060"/>
                </a:solidFill>
              </a:rPr>
              <a:t>$ </a:t>
            </a:r>
            <a:r>
              <a:rPr lang="en-US" altLang="zh-CN" sz="2400" dirty="0">
                <a:solidFill>
                  <a:srgbClr val="002060"/>
                </a:solidFill>
              </a:rPr>
              <a:t>kill 1234        </a:t>
            </a:r>
            <a:r>
              <a:rPr lang="en-US" altLang="zh-CN" sz="2400" dirty="0" smtClean="0">
                <a:solidFill>
                  <a:srgbClr val="002060"/>
                </a:solidFill>
              </a:rPr>
              <a:t>      </a:t>
            </a:r>
            <a:r>
              <a:rPr lang="en-US" altLang="zh-CN" sz="2400" dirty="0"/>
              <a:t>OR     </a:t>
            </a:r>
            <a:r>
              <a:rPr lang="en-US" altLang="zh-CN" sz="2400" dirty="0" smtClean="0"/>
              <a:t>   </a:t>
            </a:r>
            <a:r>
              <a:rPr lang="en-US" altLang="zh-CN" sz="2400" dirty="0">
                <a:solidFill>
                  <a:srgbClr val="002060"/>
                </a:solidFill>
              </a:rPr>
              <a:t>$ kill  -9 1234</a:t>
            </a:r>
            <a:endParaRPr lang="zh-CN" altLang="en-US" sz="2400" dirty="0">
              <a:solidFill>
                <a:srgbClr val="002060"/>
              </a:solidFill>
            </a:endParaRPr>
          </a:p>
          <a:p>
            <a:pPr lvl="1">
              <a:buNone/>
            </a:pPr>
            <a:r>
              <a:rPr lang="en-US" altLang="zh-CN" sz="2400" dirty="0">
                <a:solidFill>
                  <a:srgbClr val="002060"/>
                </a:solidFill>
              </a:rPr>
              <a:t>$ </a:t>
            </a:r>
            <a:r>
              <a:rPr lang="en-US" altLang="zh-CN" sz="2400" dirty="0" err="1">
                <a:solidFill>
                  <a:srgbClr val="002060"/>
                </a:solidFill>
              </a:rPr>
              <a:t>killall</a:t>
            </a:r>
            <a:r>
              <a:rPr lang="en-US" altLang="zh-CN" sz="2400" dirty="0">
                <a:solidFill>
                  <a:srgbClr val="002060"/>
                </a:solidFill>
              </a:rPr>
              <a:t>  </a:t>
            </a:r>
            <a:r>
              <a:rPr lang="en-US" altLang="zh-CN" sz="2400" dirty="0" err="1">
                <a:solidFill>
                  <a:srgbClr val="002060"/>
                </a:solidFill>
              </a:rPr>
              <a:t>myprog</a:t>
            </a:r>
            <a:r>
              <a:rPr lang="en-US" altLang="zh-CN" sz="2400" dirty="0">
                <a:solidFill>
                  <a:srgbClr val="002060"/>
                </a:solidFill>
              </a:rPr>
              <a:t>     </a:t>
            </a:r>
            <a:r>
              <a:rPr lang="en-US" altLang="zh-CN" sz="2400" dirty="0"/>
              <a:t>OR       </a:t>
            </a:r>
            <a:r>
              <a:rPr lang="en-US" altLang="zh-CN" sz="2400" dirty="0">
                <a:solidFill>
                  <a:srgbClr val="002060"/>
                </a:solidFill>
              </a:rPr>
              <a:t>$ </a:t>
            </a:r>
            <a:r>
              <a:rPr lang="en-US" altLang="zh-CN" sz="2400" dirty="0" err="1">
                <a:solidFill>
                  <a:srgbClr val="002060"/>
                </a:solidFill>
              </a:rPr>
              <a:t>killall</a:t>
            </a:r>
            <a:r>
              <a:rPr lang="en-US" altLang="zh-CN" sz="2400" dirty="0">
                <a:solidFill>
                  <a:srgbClr val="002060"/>
                </a:solidFill>
              </a:rPr>
              <a:t>  -9 </a:t>
            </a:r>
            <a:r>
              <a:rPr lang="en-US" altLang="zh-CN" sz="2400" dirty="0" err="1" smtClean="0">
                <a:solidFill>
                  <a:srgbClr val="002060"/>
                </a:solidFill>
              </a:rPr>
              <a:t>myprog</a:t>
            </a:r>
            <a:endParaRPr lang="en-US" altLang="zh-CN" sz="2400" dirty="0" smtClean="0">
              <a:solidFill>
                <a:srgbClr val="002060"/>
              </a:solidFill>
            </a:endParaRPr>
          </a:p>
          <a:p>
            <a:pPr lvl="1"/>
            <a:r>
              <a:rPr lang="en-US" altLang="zh-CN" sz="2400" dirty="0">
                <a:solidFill>
                  <a:srgbClr val="002060"/>
                </a:solidFill>
              </a:rPr>
              <a:t>$ </a:t>
            </a:r>
            <a:r>
              <a:rPr lang="en-US" altLang="zh-CN" sz="2400" dirty="0" smtClean="0">
                <a:solidFill>
                  <a:srgbClr val="002060"/>
                </a:solidFill>
              </a:rPr>
              <a:t>pkill </a:t>
            </a:r>
            <a:r>
              <a:rPr lang="en-US" altLang="zh-CN" sz="2400" dirty="0">
                <a:solidFill>
                  <a:srgbClr val="002060"/>
                </a:solidFill>
              </a:rPr>
              <a:t>-u </a:t>
            </a:r>
            <a:r>
              <a:rPr lang="en-US" altLang="zh-CN" sz="2400" dirty="0" err="1" smtClean="0">
                <a:solidFill>
                  <a:srgbClr val="002060"/>
                </a:solidFill>
              </a:rPr>
              <a:t>osmod</a:t>
            </a:r>
            <a:r>
              <a:rPr lang="en-US" altLang="zh-CN" sz="2400" dirty="0" smtClean="0">
                <a:solidFill>
                  <a:srgbClr val="002060"/>
                </a:solidFill>
              </a:rPr>
              <a:t>     OR      $ </a:t>
            </a:r>
            <a:r>
              <a:rPr lang="en-US" altLang="zh-CN" sz="2400" dirty="0">
                <a:solidFill>
                  <a:srgbClr val="002060"/>
                </a:solidFill>
              </a:rPr>
              <a:t>pkill -9 -u </a:t>
            </a:r>
            <a:r>
              <a:rPr lang="en-US" altLang="zh-CN" sz="2400" dirty="0" err="1">
                <a:solidFill>
                  <a:srgbClr val="002060"/>
                </a:solidFill>
              </a:rPr>
              <a:t>osmod</a:t>
            </a:r>
            <a:endParaRPr lang="en-US" altLang="zh-CN" sz="2400" dirty="0">
              <a:solidFill>
                <a:srgbClr val="002060"/>
              </a:solidFill>
            </a:endParaRPr>
          </a:p>
          <a:p>
            <a:pPr lvl="1">
              <a:buNone/>
            </a:pPr>
            <a:endParaRPr lang="zh-CN" altLang="en-US" sz="2400" dirty="0">
              <a:solidFill>
                <a:srgbClr val="002060"/>
              </a:solidFill>
            </a:endParaRPr>
          </a:p>
        </p:txBody>
      </p:sp>
    </p:spTree>
  </p:cSld>
  <p:clrMapOvr>
    <a:masterClrMapping/>
  </p:clrMapOvr>
  <p:timing>
    <p:tnLst>
      <p:par>
        <p:cTn id="1" dur="indefinite" restart="never" nodeType="tmRoot"/>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杀死进程</a:t>
            </a:r>
          </a:p>
        </p:txBody>
      </p:sp>
      <p:sp>
        <p:nvSpPr>
          <p:cNvPr id="3" name="内容占位符 2"/>
          <p:cNvSpPr>
            <a:spLocks noGrp="1"/>
          </p:cNvSpPr>
          <p:nvPr>
            <p:ph idx="1"/>
          </p:nvPr>
        </p:nvSpPr>
        <p:spPr>
          <a:xfrm>
            <a:off x="712322" y="1340768"/>
            <a:ext cx="8229600" cy="3816425"/>
          </a:xfrm>
        </p:spPr>
        <p:txBody>
          <a:bodyPr/>
          <a:lstStyle/>
          <a:p>
            <a:pPr>
              <a:lnSpc>
                <a:spcPct val="93000"/>
              </a:lnSpc>
            </a:pPr>
            <a:r>
              <a:rPr lang="zh-CN" altLang="en-GB" sz="2800" dirty="0"/>
              <a:t>为什么要杀死进程</a:t>
            </a:r>
          </a:p>
          <a:p>
            <a:pPr lvl="1"/>
            <a:r>
              <a:rPr lang="zh-CN" altLang="en-GB" sz="2400" dirty="0"/>
              <a:t>该进程</a:t>
            </a:r>
            <a:r>
              <a:rPr lang="zh-CN" altLang="en-GB" sz="2400" dirty="0">
                <a:solidFill>
                  <a:srgbClr val="FF0000"/>
                </a:solidFill>
              </a:rPr>
              <a:t>占用</a:t>
            </a:r>
            <a:r>
              <a:rPr lang="zh-CN" altLang="en-GB" sz="2400" dirty="0"/>
              <a:t>了</a:t>
            </a:r>
            <a:r>
              <a:rPr lang="zh-CN" altLang="en-GB" sz="2400" dirty="0">
                <a:solidFill>
                  <a:srgbClr val="FF0000"/>
                </a:solidFill>
              </a:rPr>
              <a:t>过多的</a:t>
            </a:r>
            <a:r>
              <a:rPr lang="en-GB" altLang="zh-CN" sz="2400" dirty="0">
                <a:solidFill>
                  <a:srgbClr val="FF0000"/>
                </a:solidFill>
              </a:rPr>
              <a:t>CPU</a:t>
            </a:r>
            <a:r>
              <a:rPr lang="zh-CN" altLang="en-GB" sz="2400" dirty="0"/>
              <a:t>时间</a:t>
            </a:r>
          </a:p>
          <a:p>
            <a:pPr lvl="1"/>
            <a:r>
              <a:rPr lang="zh-CN" altLang="en-GB" sz="2400" dirty="0"/>
              <a:t>该进程锁住了一个终端，使</a:t>
            </a:r>
            <a:r>
              <a:rPr lang="zh-CN" altLang="en-GB" sz="2400" dirty="0">
                <a:solidFill>
                  <a:srgbClr val="FF0000"/>
                </a:solidFill>
              </a:rPr>
              <a:t>其他前台进程无法运行</a:t>
            </a:r>
          </a:p>
          <a:p>
            <a:pPr lvl="1"/>
            <a:r>
              <a:rPr lang="zh-CN" altLang="en-GB" sz="2400" dirty="0"/>
              <a:t>运行时间过长，但没有预期效果</a:t>
            </a:r>
            <a:r>
              <a:rPr lang="zh-CN" altLang="en-US" sz="2400" dirty="0"/>
              <a:t>或</a:t>
            </a:r>
            <a:r>
              <a:rPr lang="zh-CN" altLang="en-GB" sz="2400" dirty="0">
                <a:solidFill>
                  <a:srgbClr val="FF0000"/>
                </a:solidFill>
              </a:rPr>
              <a:t>无法正常退出</a:t>
            </a:r>
          </a:p>
          <a:p>
            <a:pPr lvl="1"/>
            <a:r>
              <a:rPr lang="zh-CN" altLang="en-GB" sz="2400" dirty="0">
                <a:solidFill>
                  <a:srgbClr val="FF0000"/>
                </a:solidFill>
              </a:rPr>
              <a:t>产生</a:t>
            </a:r>
            <a:r>
              <a:rPr lang="zh-CN" altLang="en-GB" sz="2400" dirty="0"/>
              <a:t>了</a:t>
            </a:r>
            <a:r>
              <a:rPr lang="zh-CN" altLang="en-GB" sz="2400" dirty="0">
                <a:solidFill>
                  <a:srgbClr val="FF0000"/>
                </a:solidFill>
              </a:rPr>
              <a:t>过多</a:t>
            </a:r>
            <a:r>
              <a:rPr lang="zh-CN" altLang="en-GB" sz="2400" dirty="0"/>
              <a:t>到屏幕或磁盘文件的</a:t>
            </a:r>
            <a:r>
              <a:rPr lang="zh-CN" altLang="en-GB" sz="2400" dirty="0" smtClean="0">
                <a:solidFill>
                  <a:srgbClr val="FF0000"/>
                </a:solidFill>
              </a:rPr>
              <a:t>输出</a:t>
            </a:r>
            <a:endParaRPr lang="zh-CN" altLang="en-GB" sz="2400" dirty="0">
              <a:solidFill>
                <a:srgbClr val="FF0000"/>
              </a:solidFill>
            </a:endParaRPr>
          </a:p>
        </p:txBody>
      </p:sp>
      <p:sp>
        <p:nvSpPr>
          <p:cNvPr id="5" name="Rectangle 10"/>
          <p:cNvSpPr>
            <a:spLocks noChangeArrowheads="1"/>
          </p:cNvSpPr>
          <p:nvPr/>
        </p:nvSpPr>
        <p:spPr bwMode="auto">
          <a:xfrm>
            <a:off x="539552" y="4149080"/>
            <a:ext cx="8229600" cy="1200329"/>
          </a:xfrm>
          <a:prstGeom prst="rect">
            <a:avLst/>
          </a:prstGeom>
          <a:noFill/>
          <a:ln w="28575">
            <a:solidFill>
              <a:schemeClr val="hlink"/>
            </a:solidFill>
            <a:miter lim="800000"/>
            <a:headEnd/>
            <a:tailEnd/>
          </a:ln>
          <a:effectLst/>
        </p:spPr>
        <p:txBody>
          <a:bodyPr wrap="square">
            <a:spAutoFit/>
          </a:bodyPr>
          <a:lstStyle/>
          <a:p>
            <a:pPr>
              <a:lnSpc>
                <a:spcPct val="120000"/>
              </a:lnSpc>
              <a:buClr>
                <a:schemeClr val="hlink"/>
              </a:buClr>
              <a:buFont typeface="Wingdings" pitchFamily="2" charset="2"/>
              <a:buNone/>
            </a:pPr>
            <a:r>
              <a:rPr lang="zh-CN" altLang="en-US" sz="2000" b="0" dirty="0">
                <a:solidFill>
                  <a:srgbClr val="0000CC"/>
                </a:solidFill>
                <a:ea typeface="黑体" pitchFamily="2" charset="-122"/>
              </a:rPr>
              <a:t>注：</a:t>
            </a:r>
            <a:r>
              <a:rPr lang="en-US" altLang="zh-CN" sz="2000" b="0" dirty="0">
                <a:solidFill>
                  <a:srgbClr val="0000CC"/>
                </a:solidFill>
                <a:ea typeface="黑体" pitchFamily="2" charset="-122"/>
              </a:rPr>
              <a:t>(1) </a:t>
            </a:r>
            <a:r>
              <a:rPr lang="zh-CN" altLang="en-US" sz="2000" b="0" dirty="0">
                <a:solidFill>
                  <a:srgbClr val="0000CC"/>
                </a:solidFill>
                <a:ea typeface="黑体" pitchFamily="2" charset="-122"/>
              </a:rPr>
              <a:t>使用 </a:t>
            </a:r>
            <a:r>
              <a:rPr lang="en-US" altLang="zh-CN" sz="2000" b="1" dirty="0">
                <a:solidFill>
                  <a:srgbClr val="006600"/>
                </a:solidFill>
                <a:latin typeface="Courier New" pitchFamily="49" charset="0"/>
                <a:ea typeface="黑体" pitchFamily="2" charset="-122"/>
              </a:rPr>
              <a:t>kill</a:t>
            </a:r>
            <a:r>
              <a:rPr lang="en-US" altLang="zh-CN" sz="2000" b="0" dirty="0">
                <a:solidFill>
                  <a:srgbClr val="006600"/>
                </a:solidFill>
                <a:ea typeface="黑体" pitchFamily="2" charset="-122"/>
              </a:rPr>
              <a:t> </a:t>
            </a:r>
            <a:r>
              <a:rPr lang="zh-CN" altLang="en-US" sz="2000" b="0" dirty="0">
                <a:solidFill>
                  <a:srgbClr val="0000CC"/>
                </a:solidFill>
                <a:ea typeface="黑体" pitchFamily="2" charset="-122"/>
              </a:rPr>
              <a:t>前需要先用 </a:t>
            </a:r>
            <a:r>
              <a:rPr lang="en-US" altLang="zh-CN" sz="2000" b="1" dirty="0">
                <a:solidFill>
                  <a:srgbClr val="006600"/>
                </a:solidFill>
                <a:latin typeface="Courier New" pitchFamily="49" charset="0"/>
                <a:ea typeface="黑体" pitchFamily="2" charset="-122"/>
              </a:rPr>
              <a:t>ps</a:t>
            </a:r>
            <a:r>
              <a:rPr lang="en-US" altLang="zh-CN" sz="2000" b="0" dirty="0">
                <a:solidFill>
                  <a:srgbClr val="006600"/>
                </a:solidFill>
                <a:ea typeface="黑体" pitchFamily="2" charset="-122"/>
              </a:rPr>
              <a:t> </a:t>
            </a:r>
            <a:r>
              <a:rPr lang="zh-CN" altLang="en-US" sz="2000" b="0" dirty="0">
                <a:solidFill>
                  <a:srgbClr val="0000CC"/>
                </a:solidFill>
                <a:ea typeface="黑体" pitchFamily="2" charset="-122"/>
              </a:rPr>
              <a:t>查看需要终止的进程的</a:t>
            </a:r>
            <a:r>
              <a:rPr lang="en-US" altLang="zh-CN" sz="2000" dirty="0" err="1">
                <a:solidFill>
                  <a:srgbClr val="0000CC"/>
                </a:solidFill>
                <a:latin typeface="Courier New" pitchFamily="49" charset="0"/>
                <a:ea typeface="黑体" pitchFamily="2" charset="-122"/>
              </a:rPr>
              <a:t>pid</a:t>
            </a:r>
            <a:r>
              <a:rPr lang="en-US" altLang="zh-CN" sz="2000" b="0" dirty="0">
                <a:solidFill>
                  <a:srgbClr val="0000CC"/>
                </a:solidFill>
                <a:ea typeface="黑体" pitchFamily="2" charset="-122"/>
              </a:rPr>
              <a:t>；</a:t>
            </a:r>
          </a:p>
          <a:p>
            <a:pPr>
              <a:lnSpc>
                <a:spcPct val="120000"/>
              </a:lnSpc>
              <a:buClr>
                <a:schemeClr val="hlink"/>
              </a:buClr>
              <a:buFont typeface="Wingdings" pitchFamily="2" charset="2"/>
              <a:buNone/>
            </a:pPr>
            <a:r>
              <a:rPr lang="en-US" altLang="zh-CN" sz="2000" b="0" dirty="0">
                <a:solidFill>
                  <a:srgbClr val="0000CC"/>
                </a:solidFill>
                <a:ea typeface="黑体" pitchFamily="2" charset="-122"/>
              </a:rPr>
              <a:t>        (2) </a:t>
            </a:r>
            <a:r>
              <a:rPr lang="en-US" altLang="zh-CN" sz="2000" b="1" dirty="0">
                <a:solidFill>
                  <a:srgbClr val="006600"/>
                </a:solidFill>
                <a:latin typeface="Courier New" pitchFamily="49" charset="0"/>
                <a:ea typeface="黑体" pitchFamily="2" charset="-122"/>
              </a:rPr>
              <a:t>kill –9</a:t>
            </a:r>
            <a:r>
              <a:rPr lang="en-US" altLang="zh-CN" sz="2000" b="1" dirty="0">
                <a:solidFill>
                  <a:srgbClr val="0000CC"/>
                </a:solidFill>
                <a:ea typeface="黑体" pitchFamily="2" charset="-122"/>
              </a:rPr>
              <a:t> </a:t>
            </a:r>
            <a:r>
              <a:rPr lang="zh-CN" altLang="en-US" sz="2000" b="0" dirty="0">
                <a:solidFill>
                  <a:srgbClr val="0000CC"/>
                </a:solidFill>
                <a:ea typeface="黑体" pitchFamily="2" charset="-122"/>
              </a:rPr>
              <a:t>很霸道，它在杀死一个进程的同时，将杀死其所有子进程，使用时要谨慎。如错杀 </a:t>
            </a:r>
            <a:r>
              <a:rPr lang="en-US" altLang="zh-CN" sz="2000" b="0" dirty="0">
                <a:solidFill>
                  <a:srgbClr val="0000CC"/>
                </a:solidFill>
                <a:ea typeface="黑体" pitchFamily="2" charset="-122"/>
              </a:rPr>
              <a:t>login </a:t>
            </a:r>
            <a:r>
              <a:rPr lang="zh-CN" altLang="en-US" sz="2000" b="0" dirty="0">
                <a:solidFill>
                  <a:srgbClr val="0000CC"/>
                </a:solidFill>
                <a:ea typeface="黑体" pitchFamily="2" charset="-122"/>
              </a:rPr>
              <a:t>进程或 </a:t>
            </a:r>
            <a:r>
              <a:rPr lang="en-US" altLang="zh-CN" sz="2000" b="0" dirty="0">
                <a:solidFill>
                  <a:srgbClr val="0000CC"/>
                </a:solidFill>
                <a:ea typeface="黑体" pitchFamily="2" charset="-122"/>
              </a:rPr>
              <a:t>shell </a:t>
            </a:r>
            <a:r>
              <a:rPr lang="zh-CN" altLang="en-US" sz="2000" b="0" dirty="0">
                <a:solidFill>
                  <a:srgbClr val="0000CC"/>
                </a:solidFill>
                <a:ea typeface="黑体" pitchFamily="2" charset="-122"/>
              </a:rPr>
              <a:t>进程等。</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autoUpdateAnimBg="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六 作业控制</a:t>
            </a:r>
          </a:p>
        </p:txBody>
      </p:sp>
      <p:sp>
        <p:nvSpPr>
          <p:cNvPr id="3" name="内容占位符 2"/>
          <p:cNvSpPr>
            <a:spLocks noGrp="1"/>
          </p:cNvSpPr>
          <p:nvPr>
            <p:ph idx="1"/>
          </p:nvPr>
        </p:nvSpPr>
        <p:spPr>
          <a:xfrm>
            <a:off x="611560" y="1484784"/>
            <a:ext cx="8229600" cy="4718149"/>
          </a:xfrm>
        </p:spPr>
        <p:txBody>
          <a:bodyPr/>
          <a:lstStyle/>
          <a:p>
            <a:r>
              <a:rPr lang="zh-CN" altLang="en-US" dirty="0"/>
              <a:t>作业控制是指控制当前正在运行的进程的行为，也被称为进程控制</a:t>
            </a:r>
            <a:endParaRPr lang="en-US" altLang="zh-CN" dirty="0"/>
          </a:p>
          <a:p>
            <a:r>
              <a:rPr lang="zh-CN" altLang="en-US" dirty="0">
                <a:solidFill>
                  <a:srgbClr val="FF0000"/>
                </a:solidFill>
              </a:rPr>
              <a:t>暂时停止（挂起）</a:t>
            </a:r>
            <a:r>
              <a:rPr lang="zh-CN" altLang="en-US" dirty="0"/>
              <a:t>某个运行程序 </a:t>
            </a:r>
          </a:p>
          <a:p>
            <a:pPr lvl="1"/>
            <a:r>
              <a:rPr lang="zh-CN" altLang="en-US" dirty="0"/>
              <a:t>使用</a:t>
            </a:r>
            <a:r>
              <a:rPr lang="en-US" altLang="zh-CN" dirty="0">
                <a:solidFill>
                  <a:srgbClr val="002060"/>
                </a:solidFill>
              </a:rPr>
              <a:t>Ctrl-z</a:t>
            </a:r>
            <a:r>
              <a:rPr lang="zh-CN" altLang="en-US" dirty="0"/>
              <a:t>或发送信号 </a:t>
            </a:r>
            <a:r>
              <a:rPr lang="en-US" altLang="zh-CN" dirty="0"/>
              <a:t>17 </a:t>
            </a:r>
            <a:r>
              <a:rPr lang="zh-CN" altLang="en-US" dirty="0"/>
              <a:t>（</a:t>
            </a:r>
            <a:r>
              <a:rPr lang="en-US" altLang="zh-CN" dirty="0"/>
              <a:t>STOP</a:t>
            </a:r>
            <a:r>
              <a:rPr lang="zh-CN" altLang="en-US" dirty="0"/>
              <a:t>） </a:t>
            </a:r>
          </a:p>
          <a:p>
            <a:r>
              <a:rPr lang="zh-CN" altLang="en-US" dirty="0"/>
              <a:t>管理后台作业或暂停的作业 </a:t>
            </a:r>
          </a:p>
          <a:p>
            <a:pPr lvl="1"/>
            <a:r>
              <a:rPr lang="zh-CN" altLang="en-US" dirty="0">
                <a:solidFill>
                  <a:srgbClr val="FF0000"/>
                </a:solidFill>
              </a:rPr>
              <a:t>显示</a:t>
            </a:r>
            <a:r>
              <a:rPr lang="zh-CN" altLang="en-US" dirty="0"/>
              <a:t>后台作业和被挂起的进程：</a:t>
            </a:r>
            <a:r>
              <a:rPr lang="en-US" altLang="zh-CN" dirty="0">
                <a:solidFill>
                  <a:srgbClr val="002060"/>
                </a:solidFill>
              </a:rPr>
              <a:t>jobs </a:t>
            </a:r>
            <a:r>
              <a:rPr lang="zh-CN" altLang="en-US" dirty="0">
                <a:solidFill>
                  <a:srgbClr val="002060"/>
                </a:solidFill>
              </a:rPr>
              <a:t>命令</a:t>
            </a:r>
            <a:endParaRPr lang="en-US" altLang="zh-CN" dirty="0">
              <a:solidFill>
                <a:srgbClr val="002060"/>
              </a:solidFill>
            </a:endParaRPr>
          </a:p>
          <a:p>
            <a:pPr lvl="1"/>
            <a:r>
              <a:rPr lang="zh-CN" altLang="en-US" dirty="0"/>
              <a:t>在</a:t>
            </a:r>
            <a:r>
              <a:rPr lang="zh-CN" altLang="en-US" dirty="0">
                <a:solidFill>
                  <a:srgbClr val="FF0000"/>
                </a:solidFill>
              </a:rPr>
              <a:t>后台恢复</a:t>
            </a:r>
            <a:r>
              <a:rPr lang="zh-CN" altLang="en-US" dirty="0"/>
              <a:t>运行：</a:t>
            </a:r>
            <a:r>
              <a:rPr lang="en-US" altLang="zh-CN" dirty="0" err="1">
                <a:solidFill>
                  <a:srgbClr val="FF0000"/>
                </a:solidFill>
              </a:rPr>
              <a:t>bg</a:t>
            </a:r>
            <a:r>
              <a:rPr lang="en-US" altLang="zh-CN" dirty="0">
                <a:solidFill>
                  <a:srgbClr val="002060"/>
                </a:solidFill>
              </a:rPr>
              <a:t> [%</a:t>
            </a:r>
            <a:r>
              <a:rPr lang="zh-CN" altLang="en-US" dirty="0">
                <a:solidFill>
                  <a:srgbClr val="002060"/>
                </a:solidFill>
              </a:rPr>
              <a:t>作业号</a:t>
            </a:r>
            <a:r>
              <a:rPr lang="en-US" altLang="zh-CN" dirty="0">
                <a:solidFill>
                  <a:srgbClr val="002060"/>
                </a:solidFill>
              </a:rPr>
              <a:t>] </a:t>
            </a:r>
          </a:p>
          <a:p>
            <a:pPr lvl="1"/>
            <a:r>
              <a:rPr lang="zh-CN" altLang="en-US" dirty="0"/>
              <a:t>在</a:t>
            </a:r>
            <a:r>
              <a:rPr lang="zh-CN" altLang="en-US" dirty="0">
                <a:solidFill>
                  <a:srgbClr val="FF0000"/>
                </a:solidFill>
              </a:rPr>
              <a:t>前台恢复</a:t>
            </a:r>
            <a:r>
              <a:rPr lang="zh-CN" altLang="en-US" dirty="0"/>
              <a:t>运行：</a:t>
            </a:r>
            <a:r>
              <a:rPr lang="en-US" altLang="zh-CN" dirty="0" err="1">
                <a:solidFill>
                  <a:srgbClr val="FF0000"/>
                </a:solidFill>
              </a:rPr>
              <a:t>fg</a:t>
            </a:r>
            <a:r>
              <a:rPr lang="en-US" altLang="zh-CN" dirty="0">
                <a:solidFill>
                  <a:srgbClr val="002060"/>
                </a:solidFill>
              </a:rPr>
              <a:t> [%</a:t>
            </a:r>
            <a:r>
              <a:rPr lang="zh-CN" altLang="en-US" dirty="0">
                <a:solidFill>
                  <a:srgbClr val="002060"/>
                </a:solidFill>
              </a:rPr>
              <a:t>作业号</a:t>
            </a:r>
            <a:r>
              <a:rPr lang="en-US" altLang="zh-CN" dirty="0">
                <a:solidFill>
                  <a:srgbClr val="002060"/>
                </a:solidFill>
              </a:rPr>
              <a:t>] </a:t>
            </a:r>
          </a:p>
          <a:p>
            <a:pPr lvl="1"/>
            <a:r>
              <a:rPr lang="zh-CN" altLang="en-US" dirty="0">
                <a:solidFill>
                  <a:srgbClr val="FF0000"/>
                </a:solidFill>
              </a:rPr>
              <a:t>管理后台任务</a:t>
            </a:r>
            <a:r>
              <a:rPr lang="zh-CN" altLang="en-US" dirty="0"/>
              <a:t>：</a:t>
            </a:r>
            <a:r>
              <a:rPr lang="en-US" altLang="zh-CN" dirty="0">
                <a:solidFill>
                  <a:srgbClr val="002060"/>
                </a:solidFill>
              </a:rPr>
              <a:t>kill -[</a:t>
            </a:r>
            <a:r>
              <a:rPr lang="zh-CN" altLang="en-US" dirty="0">
                <a:solidFill>
                  <a:srgbClr val="002060"/>
                </a:solidFill>
              </a:rPr>
              <a:t>信号</a:t>
            </a:r>
            <a:r>
              <a:rPr lang="en-US" altLang="zh-CN" dirty="0">
                <a:solidFill>
                  <a:srgbClr val="002060"/>
                </a:solidFill>
              </a:rPr>
              <a:t>] [</a:t>
            </a:r>
            <a:r>
              <a:rPr lang="zh-CN" altLang="en-US" dirty="0">
                <a:solidFill>
                  <a:srgbClr val="002060"/>
                </a:solidFill>
              </a:rPr>
              <a:t>％作业号</a:t>
            </a:r>
            <a:r>
              <a:rPr lang="en-US" altLang="zh-CN" dirty="0">
                <a:solidFill>
                  <a:srgbClr val="002060"/>
                </a:solidFill>
              </a:rPr>
              <a:t>]</a:t>
            </a:r>
            <a:endParaRPr lang="zh-CN" altLang="en-US" dirty="0">
              <a:solidFill>
                <a:srgbClr val="002060"/>
              </a:solidFill>
            </a:endParaRPr>
          </a:p>
        </p:txBody>
      </p:sp>
    </p:spTree>
  </p:cSld>
  <p:clrMapOvr>
    <a:masterClrMapping/>
  </p:clrMapOvr>
  <p:timing>
    <p:tnLst>
      <p:par>
        <p:cTn id="1" dur="indefinite" restart="never" nodeType="tmRoot"/>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思考</a:t>
            </a:r>
          </a:p>
        </p:txBody>
      </p:sp>
      <p:sp>
        <p:nvSpPr>
          <p:cNvPr id="3" name="内容占位符 2"/>
          <p:cNvSpPr>
            <a:spLocks noGrp="1"/>
          </p:cNvSpPr>
          <p:nvPr>
            <p:ph idx="1"/>
          </p:nvPr>
        </p:nvSpPr>
        <p:spPr>
          <a:xfrm>
            <a:off x="539552" y="1484784"/>
            <a:ext cx="8191574" cy="4968552"/>
          </a:xfrm>
        </p:spPr>
        <p:txBody>
          <a:bodyPr/>
          <a:lstStyle/>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什么是进程？它与程序有何关系？</a:t>
            </a:r>
            <a:endParaRPr lang="en-US" altLang="zh-CN" b="1" dirty="0">
              <a:solidFill>
                <a:srgbClr val="C00000"/>
              </a:solidFill>
              <a:latin typeface="微软雅黑" panose="020B0503020204020204" pitchFamily="34" charset="-122"/>
              <a:ea typeface="微软雅黑" panose="020B0503020204020204" pitchFamily="34" charset="-122"/>
            </a:endParaRP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进程的类型？进程的启动方式？</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什么是前台进程？什么是后台进程？</a:t>
            </a:r>
            <a:endParaRPr lang="en-US" altLang="zh-CN" b="1" dirty="0">
              <a:solidFill>
                <a:srgbClr val="C00000"/>
              </a:solidFill>
              <a:latin typeface="微软雅黑" panose="020B0503020204020204" pitchFamily="34" charset="-122"/>
              <a:ea typeface="微软雅黑" panose="020B0503020204020204" pitchFamily="34" charset="-122"/>
            </a:endParaRP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如何查看进程？</a:t>
            </a:r>
            <a:endParaRPr lang="en-US" altLang="zh-CN" b="1" dirty="0">
              <a:solidFill>
                <a:srgbClr val="C00000"/>
              </a:solidFill>
              <a:latin typeface="微软雅黑" panose="020B0503020204020204" pitchFamily="34" charset="-122"/>
              <a:ea typeface="微软雅黑" panose="020B0503020204020204" pitchFamily="34" charset="-122"/>
            </a:endParaRP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如何删除进程？</a:t>
            </a:r>
            <a:endParaRPr lang="en-US" altLang="zh-CN" b="1" dirty="0">
              <a:solidFill>
                <a:srgbClr val="C00000"/>
              </a:solidFill>
              <a:latin typeface="微软雅黑" panose="020B0503020204020204" pitchFamily="34" charset="-122"/>
              <a:ea typeface="微软雅黑" panose="020B0503020204020204" pitchFamily="34" charset="-122"/>
            </a:endParaRP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如何更改进程优先级？</a:t>
            </a:r>
          </a:p>
          <a:p>
            <a:pPr marL="0" indent="0" algn="ctr" eaLnBrk="1" hangingPunct="1">
              <a:lnSpc>
                <a:spcPct val="130000"/>
              </a:lnSpc>
              <a:spcBef>
                <a:spcPts val="600"/>
              </a:spcBef>
              <a:buClrTx/>
              <a:buSzTx/>
              <a:buNone/>
            </a:pPr>
            <a:r>
              <a:rPr lang="zh-CN" altLang="en-US" b="1" dirty="0">
                <a:solidFill>
                  <a:srgbClr val="C00000"/>
                </a:solidFill>
                <a:latin typeface="微软雅黑" panose="020B0503020204020204" pitchFamily="34" charset="-122"/>
                <a:ea typeface="微软雅黑" panose="020B0503020204020204" pitchFamily="34" charset="-122"/>
              </a:rPr>
              <a:t>什么是作业控制？</a:t>
            </a:r>
          </a:p>
          <a:p>
            <a:endParaRPr lang="zh-CN" altLang="en-US"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ahoma"/>
        <a:ea typeface="宋体"/>
        <a:cs typeface=""/>
      </a:majorFont>
      <a:minorFont>
        <a:latin typeface="Tahoma"/>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kumimoji="0" lang="zh-CN" altLang="zh-CN" sz="1800" b="0" i="0" u="none" strike="noStrike" cap="none" normalizeH="0" baseline="0" smtClean="0">
            <a:ln>
              <a:noFill/>
            </a:ln>
            <a:solidFill>
              <a:schemeClr val="tx1"/>
            </a:solidFill>
            <a:effectLst/>
            <a:latin typeface="Tahoma" panose="020B060403050404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kumimoji="0" lang="zh-CN" altLang="zh-CN" sz="1800" b="0" i="0" u="none" strike="noStrike" cap="none" normalizeH="0" baseline="0" smtClean="0">
            <a:ln>
              <a:noFill/>
            </a:ln>
            <a:solidFill>
              <a:schemeClr val="tx1"/>
            </a:solidFill>
            <a:effectLst/>
            <a:latin typeface="Tahoma" panose="020B0604030504040204" pitchFamily="34" charset="0"/>
            <a:ea typeface="宋体" panose="02010600030101010101" pitchFamily="2" charset="-122"/>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17991</TotalTime>
  <Words>16185</Words>
  <Application>Microsoft Office PowerPoint</Application>
  <PresentationFormat>全屏显示(4:3)</PresentationFormat>
  <Paragraphs>1793</Paragraphs>
  <Slides>144</Slides>
  <Notes>77</Notes>
  <HiddenSlides>0</HiddenSlides>
  <MMClips>0</MMClips>
  <ScaleCrop>false</ScaleCrop>
  <HeadingPairs>
    <vt:vector size="6" baseType="variant">
      <vt:variant>
        <vt:lpstr>已用的字体</vt:lpstr>
      </vt:variant>
      <vt:variant>
        <vt:i4>22</vt:i4>
      </vt:variant>
      <vt:variant>
        <vt:lpstr>主题</vt:lpstr>
      </vt:variant>
      <vt:variant>
        <vt:i4>1</vt:i4>
      </vt:variant>
      <vt:variant>
        <vt:lpstr>幻灯片标题</vt:lpstr>
      </vt:variant>
      <vt:variant>
        <vt:i4>144</vt:i4>
      </vt:variant>
    </vt:vector>
  </HeadingPairs>
  <TitlesOfParts>
    <vt:vector size="167" baseType="lpstr">
      <vt:lpstr>-apple-system</vt:lpstr>
      <vt:lpstr>Arial Unicode MS</vt:lpstr>
      <vt:lpstr>Helvetica Neue</vt:lpstr>
      <vt:lpstr>方正粗倩简体</vt:lpstr>
      <vt:lpstr>仿宋</vt:lpstr>
      <vt:lpstr>黑体</vt:lpstr>
      <vt:lpstr>华文行楷</vt:lpstr>
      <vt:lpstr>楷体_GB2312</vt:lpstr>
      <vt:lpstr>宋体</vt:lpstr>
      <vt:lpstr>微软雅黑</vt:lpstr>
      <vt:lpstr>细明体</vt:lpstr>
      <vt:lpstr>新细明体</vt:lpstr>
      <vt:lpstr>Arial</vt:lpstr>
      <vt:lpstr>Arial</vt:lpstr>
      <vt:lpstr>Broadway</vt:lpstr>
      <vt:lpstr>Calibri</vt:lpstr>
      <vt:lpstr>Courier New</vt:lpstr>
      <vt:lpstr>helvetica</vt:lpstr>
      <vt:lpstr>Microsoft Sans Serif</vt:lpstr>
      <vt:lpstr>Tahoma</vt:lpstr>
      <vt:lpstr>Times New Roman</vt:lpstr>
      <vt:lpstr>Wingdings</vt:lpstr>
      <vt:lpstr>Blends</vt:lpstr>
      <vt:lpstr>     Linux操作系统</vt:lpstr>
      <vt:lpstr>引言</vt:lpstr>
      <vt:lpstr>引言</vt:lpstr>
      <vt:lpstr>本章内容要点</vt:lpstr>
      <vt:lpstr>一 账户</vt:lpstr>
      <vt:lpstr>一 用户账户</vt:lpstr>
      <vt:lpstr>一 用户账户</vt:lpstr>
      <vt:lpstr>二 用户组</vt:lpstr>
      <vt:lpstr>二 用户组</vt:lpstr>
      <vt:lpstr>用户和组的关系</vt:lpstr>
      <vt:lpstr>三 账户系统文件</vt:lpstr>
      <vt:lpstr>三 账户系统文件—/etc/passwd </vt:lpstr>
      <vt:lpstr>三 账户系统文件—/etc/passwd </vt:lpstr>
      <vt:lpstr>三 账户系统文件—/etc/shadow</vt:lpstr>
      <vt:lpstr>三 账户系统文件—/etc/shadow </vt:lpstr>
      <vt:lpstr>三 账户系统文件—/etc/shadow </vt:lpstr>
      <vt:lpstr>三 账户系统文件— /etc/group</vt:lpstr>
      <vt:lpstr>三 账户系统文件—/etc/group </vt:lpstr>
      <vt:lpstr>三 账户系统文件—/etc/gshadow</vt:lpstr>
      <vt:lpstr>三 账户系统文件—/etc/gshadow</vt:lpstr>
      <vt:lpstr>三 账户系统文件—相关性</vt:lpstr>
      <vt:lpstr>验证账号文件的一致性</vt:lpstr>
      <vt:lpstr>验证账号文件的一致性</vt:lpstr>
      <vt:lpstr>四 用户和组管理工具</vt:lpstr>
      <vt:lpstr>添加用户账号—useradd</vt:lpstr>
      <vt:lpstr>添加用户账号举例</vt:lpstr>
      <vt:lpstr>添加用户的过程—useradd</vt:lpstr>
      <vt:lpstr>useradd默认环境配置及模板</vt:lpstr>
      <vt:lpstr>用户默认环境配置及模板</vt:lpstr>
      <vt:lpstr>用户默认环境配置及模板</vt:lpstr>
      <vt:lpstr>useradd默认环境配置及模板</vt:lpstr>
      <vt:lpstr>useradd 命令参数的默认值</vt:lpstr>
      <vt:lpstr>口令管理-设置用户口令passwd</vt:lpstr>
      <vt:lpstr>设置用户口令举例</vt:lpstr>
      <vt:lpstr>用户口令维护 —passwd</vt:lpstr>
      <vt:lpstr>口令时效</vt:lpstr>
      <vt:lpstr>设置新添用户的口令时效</vt:lpstr>
      <vt:lpstr>设置已存在用户口令时效—chage</vt:lpstr>
      <vt:lpstr>设置已存在用户口令时效—chage</vt:lpstr>
      <vt:lpstr>设置已存在用户口令时效-举例</vt:lpstr>
      <vt:lpstr>修改已存在用户信息—usermod</vt:lpstr>
      <vt:lpstr>修改已存在用户信息—usermod</vt:lpstr>
      <vt:lpstr>删除用户账号—userdel</vt:lpstr>
      <vt:lpstr>添加组账号— groupadd</vt:lpstr>
      <vt:lpstr>修改组账号— groupmod</vt:lpstr>
      <vt:lpstr>删除组账号— groupdel</vt:lpstr>
      <vt:lpstr>组成员管理—gpasswd</vt:lpstr>
      <vt:lpstr>五 用户身份切换</vt:lpstr>
      <vt:lpstr>五 用户身份切换—举例1</vt:lpstr>
      <vt:lpstr>五 用户身份切换—举例2</vt:lpstr>
      <vt:lpstr>五 用户身份切换—su总结</vt:lpstr>
      <vt:lpstr>五 用户身份切换—sudo</vt:lpstr>
      <vt:lpstr>五 用户身份切换—sudo</vt:lpstr>
      <vt:lpstr>六 账户查询命令</vt:lpstr>
      <vt:lpstr>七 批量用户管理工具</vt:lpstr>
      <vt:lpstr>newusers命令</vt:lpstr>
      <vt:lpstr>chpasswd命令</vt:lpstr>
      <vt:lpstr>pwgen命令</vt:lpstr>
      <vt:lpstr>pwgen命令举例</vt:lpstr>
      <vt:lpstr>pwgen和chpasswd命令举例</vt:lpstr>
      <vt:lpstr>PowerPoint 演示文稿</vt:lpstr>
      <vt:lpstr>思考</vt:lpstr>
      <vt:lpstr>本章内容要点</vt:lpstr>
      <vt:lpstr>一 操作权限简介</vt:lpstr>
      <vt:lpstr>三种基本权限</vt:lpstr>
      <vt:lpstr>三种基本权限（续）</vt:lpstr>
      <vt:lpstr>分配三种基本权限</vt:lpstr>
      <vt:lpstr>查看文件/目录的权限</vt:lpstr>
      <vt:lpstr>文件/目录的权限</vt:lpstr>
      <vt:lpstr>常见的权限字符串及其含义</vt:lpstr>
      <vt:lpstr>二 与权限相关的命令</vt:lpstr>
      <vt:lpstr>修改文件/目录的权限—chmod</vt:lpstr>
      <vt:lpstr>chmod 的文字设定法</vt:lpstr>
      <vt:lpstr>chmod 的文字设定法举例1</vt:lpstr>
      <vt:lpstr>chmod 的文字设定法举例1</vt:lpstr>
      <vt:lpstr>chmod 的文字设定法举例1</vt:lpstr>
      <vt:lpstr>chmod 的文字设定法举例2</vt:lpstr>
      <vt:lpstr>chmod 的文字设定法举例续3</vt:lpstr>
      <vt:lpstr>chmod 的数字设定法</vt:lpstr>
      <vt:lpstr>chmod 的数字设定法举例</vt:lpstr>
      <vt:lpstr>改变文件/目录属主或组</vt:lpstr>
      <vt:lpstr>改变属主或组举例1</vt:lpstr>
      <vt:lpstr>改变属主或组举例2</vt:lpstr>
      <vt:lpstr>设置生成文件/目录时的默认权限</vt:lpstr>
      <vt:lpstr>umask命令</vt:lpstr>
      <vt:lpstr>umask命令</vt:lpstr>
      <vt:lpstr>umask 值与文件/目录权限</vt:lpstr>
      <vt:lpstr>设置umask值的方法</vt:lpstr>
      <vt:lpstr>文件权限的设置准则</vt:lpstr>
      <vt:lpstr>三 特殊权限</vt:lpstr>
      <vt:lpstr>特殊权限—文字表示方法</vt:lpstr>
      <vt:lpstr>特殊权限—数值表示方法</vt:lpstr>
      <vt:lpstr>使用chmod设置特殊权限</vt:lpstr>
      <vt:lpstr>特殊权限—SUID说明</vt:lpstr>
      <vt:lpstr>四 ext2/3/4 文件扩展属性</vt:lpstr>
      <vt:lpstr>显示ext2/3/4 文件扩展属性</vt:lpstr>
      <vt:lpstr>修改ext2/3/4 的文件扩展属性</vt:lpstr>
      <vt:lpstr>设置文件扩展属性注意事项</vt:lpstr>
      <vt:lpstr>五 文件访问控制列表简介</vt:lpstr>
      <vt:lpstr>五 文件访问控制列表简介</vt:lpstr>
      <vt:lpstr>Linux的FACL支持</vt:lpstr>
      <vt:lpstr>ACL类型</vt:lpstr>
      <vt:lpstr>ACL工具</vt:lpstr>
      <vt:lpstr>setfacl命令</vt:lpstr>
      <vt:lpstr>setfacl命令中的ACL规则</vt:lpstr>
      <vt:lpstr>setfacl命令举例</vt:lpstr>
      <vt:lpstr>setfacl命令举例</vt:lpstr>
      <vt:lpstr>setfacl命令举例</vt:lpstr>
      <vt:lpstr>思考</vt:lpstr>
      <vt:lpstr>本章内容要点</vt:lpstr>
      <vt:lpstr>历史回顾</vt:lpstr>
      <vt:lpstr>历史回顾</vt:lpstr>
      <vt:lpstr>一 程序、进程和作业</vt:lpstr>
      <vt:lpstr>PowerPoint 演示文稿</vt:lpstr>
      <vt:lpstr>进程和程序的比较</vt:lpstr>
      <vt:lpstr>进程</vt:lpstr>
      <vt:lpstr>Linux是多用户多任务系统</vt:lpstr>
      <vt:lpstr>Linux多任务实现—分时技术</vt:lpstr>
      <vt:lpstr>Linux中的进程识别</vt:lpstr>
      <vt:lpstr>Linux中的进程识别</vt:lpstr>
      <vt:lpstr>用户、进程与权限</vt:lpstr>
      <vt:lpstr>进程类型</vt:lpstr>
      <vt:lpstr>进程的启动方式</vt:lpstr>
      <vt:lpstr>前台与后台</vt:lpstr>
      <vt:lpstr>二 进程管理—查看进程</vt:lpstr>
      <vt:lpstr>查看进程</vt:lpstr>
      <vt:lpstr>ps命令的常用选项</vt:lpstr>
      <vt:lpstr>ps命令使用举例1</vt:lpstr>
      <vt:lpstr>ps常见的输出标记</vt:lpstr>
      <vt:lpstr>ps命令的进程状态列</vt:lpstr>
      <vt:lpstr>ps命令使用举例2 X</vt:lpstr>
      <vt:lpstr>搜索进程</vt:lpstr>
      <vt:lpstr>三 注销后继续运行进程</vt:lpstr>
      <vt:lpstr>四 进程调度的优先权</vt:lpstr>
      <vt:lpstr>四 进程调度的优先权</vt:lpstr>
      <vt:lpstr>改变进程调度优先权</vt:lpstr>
      <vt:lpstr>nice命令举例</vt:lpstr>
      <vt:lpstr>改变进程调度优先权</vt:lpstr>
      <vt:lpstr>五 进程信号（signal）</vt:lpstr>
      <vt:lpstr>进程信号（signal）</vt:lpstr>
      <vt:lpstr>进程信号的发送</vt:lpstr>
      <vt:lpstr>杀死进程</vt:lpstr>
      <vt:lpstr>六 作业控制</vt:lpstr>
      <vt:lpstr>思考</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第7章 账户管理和权限管理</dc:title>
  <dc:creator>osmond</dc:creator>
  <cp:lastModifiedBy>Hewlett-Packard Company</cp:lastModifiedBy>
  <cp:revision>734</cp:revision>
  <cp:lastPrinted>2022-04-30T13:39:50Z</cp:lastPrinted>
  <dcterms:created xsi:type="dcterms:W3CDTF">2011-06-12T04:43:12Z</dcterms:created>
  <dcterms:modified xsi:type="dcterms:W3CDTF">2025-05-08T05:20:20Z</dcterms:modified>
</cp:coreProperties>
</file>