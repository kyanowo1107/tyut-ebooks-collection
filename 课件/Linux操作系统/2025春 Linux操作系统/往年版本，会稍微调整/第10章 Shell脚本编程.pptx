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72"/>
  </p:notesMasterIdLst>
  <p:sldIdLst>
    <p:sldId id="548" r:id="rId2"/>
    <p:sldId id="332" r:id="rId3"/>
    <p:sldId id="343" r:id="rId4"/>
    <p:sldId id="347" r:id="rId5"/>
    <p:sldId id="348" r:id="rId6"/>
    <p:sldId id="579" r:id="rId7"/>
    <p:sldId id="580" r:id="rId8"/>
    <p:sldId id="349" r:id="rId9"/>
    <p:sldId id="362" r:id="rId10"/>
    <p:sldId id="535" r:id="rId11"/>
    <p:sldId id="549" r:id="rId12"/>
    <p:sldId id="533" r:id="rId13"/>
    <p:sldId id="537" r:id="rId14"/>
    <p:sldId id="536" r:id="rId15"/>
    <p:sldId id="534" r:id="rId16"/>
    <p:sldId id="581" r:id="rId17"/>
    <p:sldId id="370" r:id="rId18"/>
    <p:sldId id="553" r:id="rId19"/>
    <p:sldId id="337" r:id="rId20"/>
    <p:sldId id="344" r:id="rId21"/>
    <p:sldId id="355" r:id="rId22"/>
    <p:sldId id="366" r:id="rId23"/>
    <p:sldId id="554" r:id="rId24"/>
    <p:sldId id="363" r:id="rId25"/>
    <p:sldId id="364" r:id="rId26"/>
    <p:sldId id="371" r:id="rId27"/>
    <p:sldId id="365" r:id="rId28"/>
    <p:sldId id="372" r:id="rId29"/>
    <p:sldId id="373" r:id="rId30"/>
    <p:sldId id="375" r:id="rId31"/>
    <p:sldId id="376" r:id="rId32"/>
    <p:sldId id="582" r:id="rId33"/>
    <p:sldId id="387" r:id="rId34"/>
    <p:sldId id="391" r:id="rId35"/>
    <p:sldId id="388" r:id="rId36"/>
    <p:sldId id="478" r:id="rId37"/>
    <p:sldId id="380" r:id="rId38"/>
    <p:sldId id="381" r:id="rId39"/>
    <p:sldId id="384" r:id="rId40"/>
    <p:sldId id="562" r:id="rId41"/>
    <p:sldId id="385" r:id="rId42"/>
    <p:sldId id="386" r:id="rId43"/>
    <p:sldId id="382" r:id="rId44"/>
    <p:sldId id="392" r:id="rId45"/>
    <p:sldId id="393" r:id="rId46"/>
    <p:sldId id="394" r:id="rId47"/>
    <p:sldId id="383" r:id="rId48"/>
    <p:sldId id="360" r:id="rId49"/>
    <p:sldId id="389" r:id="rId50"/>
    <p:sldId id="390" r:id="rId51"/>
    <p:sldId id="357" r:id="rId52"/>
    <p:sldId id="359" r:id="rId53"/>
    <p:sldId id="358" r:id="rId54"/>
    <p:sldId id="555" r:id="rId55"/>
    <p:sldId id="377" r:id="rId56"/>
    <p:sldId id="556" r:id="rId57"/>
    <p:sldId id="557" r:id="rId58"/>
    <p:sldId id="493" r:id="rId59"/>
    <p:sldId id="361" r:id="rId60"/>
    <p:sldId id="559" r:id="rId61"/>
    <p:sldId id="378" r:id="rId62"/>
    <p:sldId id="379" r:id="rId63"/>
    <p:sldId id="503" r:id="rId64"/>
    <p:sldId id="504" r:id="rId65"/>
    <p:sldId id="587" r:id="rId66"/>
    <p:sldId id="588" r:id="rId67"/>
    <p:sldId id="505" r:id="rId68"/>
    <p:sldId id="560" r:id="rId69"/>
    <p:sldId id="398" r:id="rId70"/>
    <p:sldId id="400" r:id="rId71"/>
    <p:sldId id="586" r:id="rId72"/>
    <p:sldId id="345" r:id="rId73"/>
    <p:sldId id="346" r:id="rId74"/>
    <p:sldId id="353" r:id="rId75"/>
    <p:sldId id="483" r:id="rId76"/>
    <p:sldId id="589" r:id="rId77"/>
    <p:sldId id="354" r:id="rId78"/>
    <p:sldId id="404" r:id="rId79"/>
    <p:sldId id="369" r:id="rId80"/>
    <p:sldId id="401" r:id="rId81"/>
    <p:sldId id="399" r:id="rId82"/>
    <p:sldId id="563" r:id="rId83"/>
    <p:sldId id="402" r:id="rId84"/>
    <p:sldId id="368" r:id="rId85"/>
    <p:sldId id="403" r:id="rId86"/>
    <p:sldId id="338" r:id="rId87"/>
    <p:sldId id="341" r:id="rId88"/>
    <p:sldId id="407" r:id="rId89"/>
    <p:sldId id="406" r:id="rId90"/>
    <p:sldId id="411" r:id="rId91"/>
    <p:sldId id="405" r:id="rId92"/>
    <p:sldId id="491" r:id="rId93"/>
    <p:sldId id="409" r:id="rId94"/>
    <p:sldId id="408" r:id="rId95"/>
    <p:sldId id="412" r:id="rId96"/>
    <p:sldId id="583" r:id="rId97"/>
    <p:sldId id="471" r:id="rId98"/>
    <p:sldId id="413" r:id="rId99"/>
    <p:sldId id="414" r:id="rId100"/>
    <p:sldId id="415" r:id="rId101"/>
    <p:sldId id="416" r:id="rId102"/>
    <p:sldId id="418" r:id="rId103"/>
    <p:sldId id="421" r:id="rId104"/>
    <p:sldId id="564" r:id="rId105"/>
    <p:sldId id="419" r:id="rId106"/>
    <p:sldId id="424" r:id="rId107"/>
    <p:sldId id="422" r:id="rId108"/>
    <p:sldId id="565" r:id="rId109"/>
    <p:sldId id="426" r:id="rId110"/>
    <p:sldId id="566" r:id="rId111"/>
    <p:sldId id="425" r:id="rId112"/>
    <p:sldId id="584" r:id="rId113"/>
    <p:sldId id="423" r:id="rId114"/>
    <p:sldId id="458" r:id="rId115"/>
    <p:sldId id="460" r:id="rId116"/>
    <p:sldId id="461" r:id="rId117"/>
    <p:sldId id="459" r:id="rId118"/>
    <p:sldId id="431" r:id="rId119"/>
    <p:sldId id="464" r:id="rId120"/>
    <p:sldId id="465" r:id="rId121"/>
    <p:sldId id="567" r:id="rId122"/>
    <p:sldId id="427" r:id="rId123"/>
    <p:sldId id="428" r:id="rId124"/>
    <p:sldId id="435" r:id="rId125"/>
    <p:sldId id="568" r:id="rId126"/>
    <p:sldId id="463" r:id="rId127"/>
    <p:sldId id="429" r:id="rId128"/>
    <p:sldId id="469" r:id="rId129"/>
    <p:sldId id="569" r:id="rId130"/>
    <p:sldId id="486" r:id="rId131"/>
    <p:sldId id="470" r:id="rId132"/>
    <p:sldId id="430" r:id="rId133"/>
    <p:sldId id="477" r:id="rId134"/>
    <p:sldId id="466" r:id="rId135"/>
    <p:sldId id="467" r:id="rId136"/>
    <p:sldId id="462" r:id="rId137"/>
    <p:sldId id="472" r:id="rId138"/>
    <p:sldId id="496" r:id="rId139"/>
    <p:sldId id="585" r:id="rId140"/>
    <p:sldId id="432" r:id="rId141"/>
    <p:sldId id="457" r:id="rId142"/>
    <p:sldId id="570" r:id="rId143"/>
    <p:sldId id="499" r:id="rId144"/>
    <p:sldId id="572" r:id="rId145"/>
    <p:sldId id="578" r:id="rId146"/>
    <p:sldId id="595" r:id="rId147"/>
    <p:sldId id="596" r:id="rId148"/>
    <p:sldId id="594" r:id="rId149"/>
    <p:sldId id="510" r:id="rId150"/>
    <p:sldId id="433" r:id="rId151"/>
    <p:sldId id="434" r:id="rId152"/>
    <p:sldId id="512" r:id="rId153"/>
    <p:sldId id="590" r:id="rId154"/>
    <p:sldId id="591" r:id="rId155"/>
    <p:sldId id="500" r:id="rId156"/>
    <p:sldId id="573" r:id="rId157"/>
    <p:sldId id="515" r:id="rId158"/>
    <p:sldId id="509" r:id="rId159"/>
    <p:sldId id="574" r:id="rId160"/>
    <p:sldId id="511" r:id="rId161"/>
    <p:sldId id="575" r:id="rId162"/>
    <p:sldId id="502" r:id="rId163"/>
    <p:sldId id="592" r:id="rId164"/>
    <p:sldId id="506" r:id="rId165"/>
    <p:sldId id="501" r:id="rId166"/>
    <p:sldId id="593" r:id="rId167"/>
    <p:sldId id="513" r:id="rId168"/>
    <p:sldId id="514" r:id="rId169"/>
    <p:sldId id="577" r:id="rId170"/>
    <p:sldId id="270" r:id="rId171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 shuang" initials="xs" lastIdx="1" clrIdx="0">
    <p:extLst>
      <p:ext uri="{19B8F6BF-5375-455C-9EA6-DF929625EA0E}">
        <p15:presenceInfo xmlns:p15="http://schemas.microsoft.com/office/powerpoint/2012/main" userId="65f73c79ee4aad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4" autoAdjust="0"/>
    <p:restoredTop sz="78615" autoAdjust="0"/>
  </p:normalViewPr>
  <p:slideViewPr>
    <p:cSldViewPr>
      <p:cViewPr varScale="1">
        <p:scale>
          <a:sx n="84" d="100"/>
          <a:sy n="84" d="100"/>
        </p:scale>
        <p:origin x="23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ableStyles" Target="tableStyles.xml"/><Relationship Id="rId172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C6D6CB1-C28C-4AC0-9E57-7AED4F13BECC}" type="datetimeFigureOut">
              <a:rPr lang="zh-CN" altLang="en-US" smtClean="0"/>
              <a:pPr/>
              <a:t>2024/5/15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A5E67A7B-7D8A-4E03-B174-B330004503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5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%E5%AD%97%E7%AC%A6%E4%B8%B2&amp;spm=1001.2101.3001.7020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6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478">
              <a:defRPr/>
            </a:pPr>
            <a:r>
              <a:rPr lang="en-US" altLang="zh-CN" dirty="0"/>
              <a:t>Shell</a:t>
            </a:r>
            <a:r>
              <a:rPr lang="zh-CN" altLang="en-US" dirty="0"/>
              <a:t>功能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2060"/>
                </a:solidFill>
              </a:rPr>
              <a:t>【</a:t>
            </a:r>
            <a:r>
              <a:rPr lang="zh-CN" altLang="en-US" dirty="0">
                <a:solidFill>
                  <a:srgbClr val="002060"/>
                </a:solidFill>
              </a:rPr>
              <a:t>参见第</a:t>
            </a:r>
            <a:r>
              <a:rPr lang="en-US" altLang="zh-CN" dirty="0">
                <a:solidFill>
                  <a:srgbClr val="002060"/>
                </a:solidFill>
              </a:rPr>
              <a:t>2</a:t>
            </a:r>
            <a:r>
              <a:rPr lang="zh-CN" altLang="en-US" dirty="0">
                <a:solidFill>
                  <a:srgbClr val="002060"/>
                </a:solidFill>
              </a:rPr>
              <a:t>、</a:t>
            </a:r>
            <a:r>
              <a:rPr lang="en-US" altLang="zh-CN" dirty="0">
                <a:solidFill>
                  <a:srgbClr val="002060"/>
                </a:solidFill>
              </a:rPr>
              <a:t>3</a:t>
            </a:r>
            <a:r>
              <a:rPr lang="zh-CN" altLang="en-US" dirty="0">
                <a:solidFill>
                  <a:srgbClr val="002060"/>
                </a:solidFill>
              </a:rPr>
              <a:t>章内容</a:t>
            </a:r>
            <a:r>
              <a:rPr lang="en-US" altLang="zh-CN" dirty="0">
                <a:solidFill>
                  <a:srgbClr val="002060"/>
                </a:solidFill>
              </a:rPr>
              <a:t>】</a:t>
            </a:r>
            <a:r>
              <a:rPr lang="zh-CN" altLang="en-US" dirty="0">
                <a:solidFill>
                  <a:srgbClr val="002060"/>
                </a:solidFill>
              </a:rPr>
              <a:t>，在</a:t>
            </a:r>
            <a:r>
              <a:rPr lang="en-US" altLang="zh-CN" dirty="0">
                <a:solidFill>
                  <a:srgbClr val="002060"/>
                </a:solidFill>
              </a:rPr>
              <a:t>shell</a:t>
            </a:r>
            <a:r>
              <a:rPr lang="zh-CN" altLang="en-US" dirty="0">
                <a:solidFill>
                  <a:srgbClr val="002060"/>
                </a:solidFill>
              </a:rPr>
              <a:t>脚本中命、选项、参数间的多个空格都会被忽略掉，空白韩也会被忽略，</a:t>
            </a:r>
            <a:r>
              <a:rPr lang="en-US" altLang="zh-CN" dirty="0">
                <a:solidFill>
                  <a:srgbClr val="002060"/>
                </a:solidFill>
              </a:rPr>
              <a:t>tab</a:t>
            </a:r>
            <a:r>
              <a:rPr lang="zh-CN" altLang="en-US" dirty="0">
                <a:solidFill>
                  <a:srgbClr val="002060"/>
                </a:solidFill>
              </a:rPr>
              <a:t>键所产生的的空白也是为空格键，如果督导</a:t>
            </a:r>
            <a:r>
              <a:rPr lang="en-US" altLang="zh-CN" dirty="0">
                <a:solidFill>
                  <a:srgbClr val="002060"/>
                </a:solidFill>
              </a:rPr>
              <a:t>enter</a:t>
            </a:r>
            <a:r>
              <a:rPr lang="zh-CN" altLang="en-US" dirty="0">
                <a:solidFill>
                  <a:srgbClr val="002060"/>
                </a:solidFill>
              </a:rPr>
              <a:t>符号（</a:t>
            </a:r>
            <a:r>
              <a:rPr lang="en-US" altLang="zh-CN" dirty="0">
                <a:solidFill>
                  <a:srgbClr val="002060"/>
                </a:solidFill>
              </a:rPr>
              <a:t>CR</a:t>
            </a:r>
            <a:r>
              <a:rPr lang="zh-CN" altLang="en-US" dirty="0">
                <a:solidFill>
                  <a:srgbClr val="002060"/>
                </a:solidFill>
              </a:rPr>
              <a:t>）就开始执行该行命令，如果一行的内容太多可以使用</a:t>
            </a:r>
            <a:r>
              <a:rPr lang="en-US" altLang="zh-CN" dirty="0">
                <a:solidFill>
                  <a:srgbClr val="002060"/>
                </a:solidFill>
              </a:rPr>
              <a:t>\ENTER</a:t>
            </a:r>
            <a:r>
              <a:rPr lang="zh-CN" altLang="en-US" dirty="0">
                <a:solidFill>
                  <a:srgbClr val="002060"/>
                </a:solidFill>
              </a:rPr>
              <a:t>来扩展下一行，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是注释行，被注释的文字会被忽略。</a:t>
            </a:r>
            <a:endParaRPr lang="en-US" altLang="zh-CN" dirty="0">
              <a:solidFill>
                <a:srgbClr val="00206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61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Script-file</a:t>
            </a:r>
            <a:r>
              <a:rPr lang="zh-CN" altLang="en-US" dirty="0"/>
              <a:t>形式要求把脚本文件路径放置在</a:t>
            </a:r>
            <a:r>
              <a:rPr lang="en-US" altLang="zh-CN" dirty="0"/>
              <a:t>bin</a:t>
            </a:r>
            <a:r>
              <a:rPr lang="zh-CN" altLang="en-US" dirty="0"/>
              <a:t>目录下。绝对路径、相对路径或</a:t>
            </a:r>
            <a:r>
              <a:rPr lang="en-US" altLang="zh-CN" dirty="0"/>
              <a:t>PATH</a:t>
            </a:r>
            <a:r>
              <a:rPr lang="zh-CN" altLang="en-US" dirty="0"/>
              <a:t>路径以及</a:t>
            </a:r>
            <a:r>
              <a:rPr lang="en-US" altLang="zh-CN" dirty="0"/>
              <a:t>bash script-file</a:t>
            </a:r>
            <a:r>
              <a:rPr lang="zh-CN" altLang="en-US" dirty="0"/>
              <a:t>都是在子</a:t>
            </a:r>
            <a:r>
              <a:rPr lang="en-US" altLang="zh-CN" dirty="0"/>
              <a:t>shell</a:t>
            </a:r>
            <a:r>
              <a:rPr lang="zh-CN" altLang="en-US" dirty="0"/>
              <a:t>中运行脚本，子</a:t>
            </a:r>
            <a:r>
              <a:rPr lang="en-US" altLang="zh-CN" dirty="0"/>
              <a:t>shell</a:t>
            </a:r>
            <a:r>
              <a:rPr lang="zh-CN" altLang="en-US" dirty="0"/>
              <a:t>中声明的变量不能回传到父</a:t>
            </a:r>
            <a:r>
              <a:rPr lang="en-US" altLang="zh-CN" dirty="0"/>
              <a:t>shell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61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Script-file</a:t>
            </a:r>
            <a:r>
              <a:rPr lang="zh-CN" altLang="en-US" dirty="0"/>
              <a:t>形式要求把脚本文件路径放置在</a:t>
            </a:r>
            <a:r>
              <a:rPr lang="en-US" altLang="zh-CN" dirty="0"/>
              <a:t>bin</a:t>
            </a:r>
            <a:r>
              <a:rPr lang="zh-CN" altLang="en-US" dirty="0"/>
              <a:t>目录下。绝对路径、相对路径或</a:t>
            </a:r>
            <a:r>
              <a:rPr lang="en-US" altLang="zh-CN" dirty="0"/>
              <a:t>PATH</a:t>
            </a:r>
            <a:r>
              <a:rPr lang="zh-CN" altLang="en-US" dirty="0"/>
              <a:t>路径以及</a:t>
            </a:r>
            <a:r>
              <a:rPr lang="en-US" altLang="zh-CN" dirty="0"/>
              <a:t>bash script-file</a:t>
            </a:r>
            <a:r>
              <a:rPr lang="zh-CN" altLang="en-US" dirty="0"/>
              <a:t>都是在子</a:t>
            </a:r>
            <a:r>
              <a:rPr lang="en-US" altLang="zh-CN" dirty="0"/>
              <a:t>shell</a:t>
            </a:r>
            <a:r>
              <a:rPr lang="zh-CN" altLang="en-US" dirty="0"/>
              <a:t>中运行脚本，子</a:t>
            </a:r>
            <a:r>
              <a:rPr lang="en-US" altLang="zh-CN" dirty="0"/>
              <a:t>shell</a:t>
            </a:r>
            <a:r>
              <a:rPr lang="zh-CN" altLang="en-US" dirty="0"/>
              <a:t>中声明的变量不能回传到父</a:t>
            </a:r>
            <a:r>
              <a:rPr lang="en-US" altLang="zh-CN" dirty="0"/>
              <a:t>shell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057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Script-file</a:t>
            </a:r>
            <a:r>
              <a:rPr lang="zh-CN" altLang="en-US" dirty="0"/>
              <a:t>形式要求把脚本文件路径放置在</a:t>
            </a:r>
            <a:r>
              <a:rPr lang="en-US" altLang="zh-CN" dirty="0"/>
              <a:t>bin</a:t>
            </a:r>
            <a:r>
              <a:rPr lang="zh-CN" altLang="en-US" dirty="0"/>
              <a:t>目录下。绝对路径、相对路径或</a:t>
            </a:r>
            <a:r>
              <a:rPr lang="en-US" altLang="zh-CN" dirty="0"/>
              <a:t>PATH</a:t>
            </a:r>
            <a:r>
              <a:rPr lang="zh-CN" altLang="en-US" dirty="0"/>
              <a:t>路径以及</a:t>
            </a:r>
            <a:r>
              <a:rPr lang="en-US" altLang="zh-CN" dirty="0"/>
              <a:t>bash script-file</a:t>
            </a:r>
            <a:r>
              <a:rPr lang="zh-CN" altLang="en-US" dirty="0"/>
              <a:t>都是在子</a:t>
            </a:r>
            <a:r>
              <a:rPr lang="en-US" altLang="zh-CN" dirty="0"/>
              <a:t>shell</a:t>
            </a:r>
            <a:r>
              <a:rPr lang="zh-CN" altLang="en-US" dirty="0"/>
              <a:t>中运行脚本，子</a:t>
            </a:r>
            <a:r>
              <a:rPr lang="en-US" altLang="zh-CN" dirty="0"/>
              <a:t>shell</a:t>
            </a:r>
            <a:r>
              <a:rPr lang="zh-CN" altLang="en-US" dirty="0"/>
              <a:t>中声明的变量不能回传到父</a:t>
            </a:r>
            <a:r>
              <a:rPr lang="en-US" altLang="zh-CN" dirty="0"/>
              <a:t>shell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731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478">
              <a:defRPr/>
            </a:pPr>
            <a:r>
              <a:rPr lang="zh-CN" altLang="en-US" dirty="0">
                <a:latin typeface="宋体" charset="-122"/>
              </a:rPr>
              <a:t>以 </a:t>
            </a:r>
            <a:r>
              <a:rPr lang="en-US" altLang="zh-CN" dirty="0">
                <a:latin typeface="宋体" charset="-122"/>
              </a:rPr>
              <a:t>#! </a:t>
            </a:r>
            <a:r>
              <a:rPr lang="zh-CN" altLang="en-US" dirty="0">
                <a:latin typeface="宋体" charset="-122"/>
              </a:rPr>
              <a:t>开头：声明脚本所用的</a:t>
            </a:r>
            <a:r>
              <a:rPr lang="en-US" altLang="zh-CN" dirty="0">
                <a:latin typeface="宋体" charset="-122"/>
              </a:rPr>
              <a:t>shell</a:t>
            </a:r>
            <a:r>
              <a:rPr lang="zh-CN" altLang="en-US" dirty="0">
                <a:latin typeface="宋体" charset="-122"/>
              </a:rPr>
              <a:t>名称，通知系统用何解释器执行此脚本</a:t>
            </a:r>
            <a:endParaRPr lang="en-US" altLang="zh-CN" dirty="0">
              <a:latin typeface="宋体" charset="-122"/>
            </a:endParaRPr>
          </a:p>
          <a:p>
            <a:pPr defTabSz="990478">
              <a:defRPr/>
            </a:pPr>
            <a:endParaRPr lang="en-US" altLang="zh-CN" dirty="0">
              <a:latin typeface="宋体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Arial Unicode MS" pitchFamily="34" charset="-122"/>
              </a:rPr>
              <a:t>#!/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bin/</a:t>
            </a:r>
            <a:r>
              <a:rPr lang="en-US" altLang="zh-CN" dirty="0" err="1">
                <a:solidFill>
                  <a:srgbClr val="000000"/>
                </a:solidFill>
                <a:latin typeface="Arial Unicode MS" pitchFamily="34" charset="-122"/>
              </a:rPr>
              <a:t>sh</a:t>
            </a:r>
            <a:endParaRPr lang="en-US" altLang="zh-CN" dirty="0">
              <a:solidFill>
                <a:srgbClr val="000000"/>
              </a:solidFill>
              <a:latin typeface="Arial Unicode MS" pitchFamily="34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#!/bin/bash</a:t>
            </a:r>
          </a:p>
          <a:p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#!/usr/bin/perl</a:t>
            </a:r>
          </a:p>
          <a:p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#!/usr/bin/tcl</a:t>
            </a:r>
          </a:p>
          <a:p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#!/bin/sed -f</a:t>
            </a:r>
          </a:p>
          <a:p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</a:rPr>
              <a:t>#!/usr/awk -f</a:t>
            </a:r>
            <a:r>
              <a:rPr lang="en-US" altLang="zh-CN" dirty="0"/>
              <a:t> </a:t>
            </a:r>
          </a:p>
          <a:p>
            <a:pPr defTabSz="990478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609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aseline="0" dirty="0"/>
              <a:t> http://www.cyberciti.biz/tips/debugging-shell-script.html</a:t>
            </a:r>
          </a:p>
          <a:p>
            <a:pPr>
              <a:buFont typeface="Wingdings" pitchFamily="2" charset="2"/>
              <a:buChar char="Ø"/>
            </a:pPr>
            <a:r>
              <a:rPr lang="en-US" altLang="zh-CN" baseline="0" dirty="0"/>
              <a:t> http://www.cyberciti.biz/faq/turn-on-or-off-color-syntax-highlighting-in-vi-or-vim/</a:t>
            </a:r>
          </a:p>
          <a:p>
            <a:pPr>
              <a:buFont typeface="Wingdings" pitchFamily="2" charset="2"/>
              <a:buChar char="Ø"/>
            </a:pPr>
            <a:r>
              <a:rPr lang="en-US" altLang="zh-CN" baseline="0" dirty="0"/>
              <a:t> http://bashdb.sourceforge.net/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1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085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907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read –p </a:t>
            </a:r>
            <a:r>
              <a:rPr lang="zh-CN" altLang="en-US" dirty="0"/>
              <a:t>可以跟提示语句，</a:t>
            </a:r>
            <a:r>
              <a:rPr lang="en-US" altLang="zh-CN" dirty="0"/>
              <a:t>-t </a:t>
            </a:r>
            <a:r>
              <a:rPr lang="zh-CN" altLang="en-US" dirty="0"/>
              <a:t>跟等待时间。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133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我们在上次课给大家介绍了</a:t>
            </a:r>
            <a:r>
              <a:rPr lang="en-US" altLang="zh-CN" dirty="0"/>
              <a:t>shell</a:t>
            </a:r>
            <a:r>
              <a:rPr lang="zh-CN" altLang="en-US" dirty="0"/>
              <a:t>变量的赋值和基本的变量替换，并且已经知道</a:t>
            </a:r>
            <a:r>
              <a:rPr lang="en-US" altLang="zh-CN" dirty="0"/>
              <a:t>${var} </a:t>
            </a:r>
            <a:r>
              <a:rPr lang="zh-CN" altLang="en-US" dirty="0"/>
              <a:t>与 </a:t>
            </a:r>
            <a:r>
              <a:rPr lang="en-US" altLang="zh-CN" dirty="0"/>
              <a:t>$var</a:t>
            </a:r>
            <a:r>
              <a:rPr lang="zh-CN" altLang="en-US" dirty="0"/>
              <a:t> 的含义相同，下面介绍变量替换扩展。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65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）通常变量替换扩展作为赋值语句的右值使用，即将变量替换扩展再赋予另一个变量来使用。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）使用变量替换扩展可以将</a:t>
            </a:r>
            <a:r>
              <a:rPr lang="en-US" altLang="zh-CN" dirty="0"/>
              <a:t>Shell</a:t>
            </a:r>
            <a:r>
              <a:rPr lang="zh-CN" altLang="en-US" dirty="0"/>
              <a:t>脚本中的</a:t>
            </a:r>
            <a:r>
              <a:rPr lang="en-US" altLang="zh-CN" dirty="0"/>
              <a:t>if</a:t>
            </a:r>
            <a:r>
              <a:rPr lang="zh-CN" altLang="en-US" dirty="0"/>
              <a:t>语句简化为一个使用变量替换扩展的赋值语句。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334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）通常变量替换扩展作为赋值语句的右值使用，即将变量替换扩展再赋予另一个变量来使用。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）使用变量替换扩展可以将</a:t>
            </a:r>
            <a:r>
              <a:rPr lang="en-US" altLang="zh-CN" dirty="0"/>
              <a:t>Shell</a:t>
            </a:r>
            <a:r>
              <a:rPr lang="zh-CN" altLang="en-US" dirty="0"/>
              <a:t>脚本中的</a:t>
            </a:r>
            <a:r>
              <a:rPr lang="en-US" altLang="zh-CN" dirty="0"/>
              <a:t>if</a:t>
            </a:r>
            <a:r>
              <a:rPr lang="zh-CN" altLang="en-US" dirty="0"/>
              <a:t>语句简化为一个使用变量替换扩展的赋值语句。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297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P263</a:t>
            </a:r>
            <a:r>
              <a:rPr lang="zh-CN" altLang="en-US" dirty="0"/>
              <a:t>表</a:t>
            </a:r>
            <a:r>
              <a:rPr lang="en-US" altLang="zh-CN" dirty="0"/>
              <a:t>10-2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730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@</a:t>
            </a:r>
            <a:r>
              <a:rPr lang="zh-CN" altLang="en-US" dirty="0"/>
              <a:t>位置变量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08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794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比较：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echo $</a:t>
            </a:r>
            <a:r>
              <a:rPr lang="en-US" altLang="zh-CN" dirty="0" err="1"/>
              <a:t>myfile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eval echo $</a:t>
            </a:r>
            <a:r>
              <a:rPr lang="en-US" altLang="zh-CN" dirty="0" err="1"/>
              <a:t>myfile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eval $</a:t>
            </a:r>
            <a:r>
              <a:rPr lang="en-US" altLang="zh-CN" dirty="0" err="1"/>
              <a:t>myfile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573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比较：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echo $</a:t>
            </a:r>
            <a:r>
              <a:rPr lang="en-US" altLang="zh-CN" dirty="0" err="1"/>
              <a:t>myfile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eval echo $</a:t>
            </a:r>
            <a:r>
              <a:rPr lang="en-US" altLang="zh-CN" dirty="0" err="1"/>
              <a:t>myfile</a:t>
            </a:r>
            <a:endParaRPr lang="en-US" altLang="zh-CN" dirty="0"/>
          </a:p>
          <a:p>
            <a:r>
              <a:rPr lang="en-US" altLang="zh-CN" dirty="0" err="1"/>
              <a:t>myfile</a:t>
            </a:r>
            <a:r>
              <a:rPr lang="en-US" altLang="zh-CN" dirty="0"/>
              <a:t>=“cat file1.txt”</a:t>
            </a:r>
          </a:p>
          <a:p>
            <a:r>
              <a:rPr lang="en-US" altLang="zh-CN" dirty="0"/>
              <a:t>eval $</a:t>
            </a:r>
            <a:r>
              <a:rPr lang="en-US" altLang="zh-CN" dirty="0" err="1"/>
              <a:t>myfile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41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</a:rPr>
              <a:t>var1 var2</a:t>
            </a:r>
            <a:r>
              <a:rPr lang="zh-CN" altLang="en-US" b="1" dirty="0">
                <a:solidFill>
                  <a:srgbClr val="0000CC"/>
                </a:solidFill>
                <a:latin typeface="Courier New" pitchFamily="49" charset="0"/>
              </a:rPr>
              <a:t>为变量名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743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1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、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${ } 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与 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$</a:t>
            </a:r>
          </a:p>
          <a:p>
            <a:pPr algn="l"/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与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${ }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都是用来引用变量的，只不过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${ }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可以指定变量边界，也可用于对</a:t>
            </a:r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-apple-system"/>
                <a:hlinkClick r:id="rId3"/>
              </a:rPr>
              <a:t>字符串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变量进行截取等处理</a:t>
            </a:r>
            <a:endParaRPr lang="en-US" altLang="zh-CN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2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、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$() 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和 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``</a:t>
            </a:r>
          </a:p>
          <a:p>
            <a:pPr algn="l"/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$()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``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的作用一致，都是用来做命令替换用，一般用于将命令返回的结果传递给变量</a:t>
            </a:r>
            <a:endParaRPr lang="en-US" altLang="zh-CN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3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、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$[ ] 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和 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$(( ))</a:t>
            </a:r>
          </a:p>
          <a:p>
            <a:pPr algn="l"/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$[]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$(())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的作用一样，都是进行数学运算的，支持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±*/%,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并且在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$[ ]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$(( ))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中使用变量不需要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引用，可以直接使用变量名</a:t>
            </a:r>
            <a:endParaRPr lang="en-US" altLang="zh-CN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endParaRPr lang="en-US" altLang="zh-CN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6</a:t>
            </a:r>
            <a:r>
              <a:rPr lang="zh-CN" altLang="en-US" b="1" i="0" dirty="0">
                <a:solidFill>
                  <a:srgbClr val="B4B4B4"/>
                </a:solidFill>
                <a:effectLst/>
                <a:latin typeface="PingFang SC"/>
              </a:rPr>
              <a:t>、</a:t>
            </a:r>
            <a:r>
              <a:rPr lang="en-US" altLang="zh-CN" b="1" i="0" dirty="0">
                <a:solidFill>
                  <a:srgbClr val="B4B4B4"/>
                </a:solidFill>
                <a:effectLst/>
                <a:latin typeface="PingFang SC"/>
              </a:rPr>
              <a:t>(( ))</a:t>
            </a:r>
          </a:p>
          <a:p>
            <a:pPr algn="l"/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(( )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）的主要用法大概有三个：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与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结合使用进行数学运算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$(( ))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在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for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循环命令中控制循环，类似于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c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语言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改变变量的值，且不需要</a:t>
            </a:r>
            <a:r>
              <a:rPr lang="en-US" altLang="zh-CN" b="0" i="0" dirty="0">
                <a:solidFill>
                  <a:srgbClr val="B4B4B4"/>
                </a:solidFill>
                <a:effectLst/>
                <a:latin typeface="-apple-system"/>
              </a:rPr>
              <a:t>$</a:t>
            </a:r>
            <a:r>
              <a:rPr lang="zh-CN" altLang="en-US" b="0" i="0" dirty="0">
                <a:solidFill>
                  <a:srgbClr val="B4B4B4"/>
                </a:solidFill>
                <a:effectLst/>
                <a:latin typeface="-apple-system"/>
              </a:rPr>
              <a:t>引用</a:t>
            </a:r>
          </a:p>
          <a:p>
            <a:pPr algn="l"/>
            <a:endParaRPr lang="zh-CN" altLang="en-US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endParaRPr lang="zh-CN" altLang="en-US" b="0" i="0" dirty="0">
              <a:solidFill>
                <a:srgbClr val="B4B4B4"/>
              </a:solidFill>
              <a:effectLst/>
              <a:latin typeface="-apple-system"/>
            </a:endParaRPr>
          </a:p>
          <a:p>
            <a:pPr algn="l"/>
            <a:endParaRPr lang="zh-CN" altLang="en-US" b="0" i="0" dirty="0">
              <a:solidFill>
                <a:srgbClr val="B4B4B4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026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仅作为了解内容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054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我们给大家在上次课讲</a:t>
            </a:r>
            <a:r>
              <a:rPr lang="en-US" altLang="zh-CN" dirty="0"/>
              <a:t>shell</a:t>
            </a:r>
            <a:r>
              <a:rPr lang="zh-CN" altLang="en-US" dirty="0"/>
              <a:t>变量里说来</a:t>
            </a:r>
            <a:r>
              <a:rPr lang="en-US" altLang="zh-CN" dirty="0"/>
              <a:t>shell</a:t>
            </a:r>
            <a:r>
              <a:rPr lang="zh-CN" altLang="en-US" dirty="0"/>
              <a:t>变量分为用户自定义变量，环境变量和内置变量。位置参数变量是一组特殊的内置变量。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23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我们知道命令可以带有选项与参数，那么</a:t>
            </a:r>
            <a:r>
              <a:rPr lang="en-US" altLang="zh-CN" dirty="0"/>
              <a:t>shell</a:t>
            </a:r>
            <a:r>
              <a:rPr lang="zh-CN" altLang="en-US" dirty="0"/>
              <a:t>脚本能不能在脚本文件名后面带有参数呢？给予一定的参数让程序进行不同的任务。脚本怎么完成这个功能？其实脚本针对参数已经设置好了一些变量。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717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757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1412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# $@ expanded as "$1" "$2" "$3" ... "$n"</a:t>
            </a:r>
          </a:p>
          <a:p>
            <a:r>
              <a:rPr lang="en-US" altLang="zh-CN" dirty="0"/>
              <a:t># $* expanded as "$1y$2y$3y...$n", where y is the value of IFS variable</a:t>
            </a:r>
          </a:p>
          <a:p>
            <a:r>
              <a:rPr lang="en-US" altLang="zh-CN" dirty="0"/>
              <a:t># i.e. "$*" is one long string and $IFS act as an separator or token delimiters.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876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# $@ expanded as "$1" "$2" "$3" ... "$n"</a:t>
            </a:r>
          </a:p>
          <a:p>
            <a:r>
              <a:rPr lang="en-US" altLang="zh-CN" dirty="0"/>
              <a:t># $* expanded as "$1y$2y$3y...$n", where y is the value of IFS variable</a:t>
            </a:r>
          </a:p>
          <a:p>
            <a:r>
              <a:rPr lang="en-US" altLang="zh-CN" dirty="0"/>
              <a:t># i.e. "$*" is one long string and $IFS act as an separator or token delimiters.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480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715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# $@ expanded as "$1" "$2" "$3" ... "$n"</a:t>
            </a:r>
          </a:p>
          <a:p>
            <a:r>
              <a:rPr lang="en-US" altLang="zh-CN" dirty="0"/>
              <a:t># $* expanded as "$1y$2y$3y...$n", where y is the value of IFS variable</a:t>
            </a:r>
          </a:p>
          <a:p>
            <a:r>
              <a:rPr lang="en-US" altLang="zh-CN" dirty="0"/>
              <a:t># i.e. "$*" is one long string and $IFS act as an separator or token delimiters.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59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9233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3478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648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匹配判断语句 在失败的情况下没有反馈信息，和</a:t>
            </a:r>
            <a:r>
              <a:rPr lang="en-US" altLang="zh-CN" dirty="0"/>
              <a:t>echo</a:t>
            </a:r>
            <a:r>
              <a:rPr lang="zh-CN" altLang="en-US" dirty="0"/>
              <a:t>搭配可以返回来提示信息。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1413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匹配判断语句 在失败的情况下没有反馈信息，和</a:t>
            </a:r>
            <a:r>
              <a:rPr lang="en-US" altLang="zh-CN" dirty="0"/>
              <a:t>echo</a:t>
            </a:r>
            <a:r>
              <a:rPr lang="zh-CN" altLang="en-US" dirty="0"/>
              <a:t>搭配可以返回来提示信息。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414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300" dirty="0"/>
              <a:t>要对整数进行关系运算也可以使用</a:t>
            </a:r>
            <a:r>
              <a:rPr lang="en-US" altLang="zh-CN" sz="1300" dirty="0"/>
              <a:t>Shell</a:t>
            </a:r>
            <a:r>
              <a:rPr lang="zh-CN" altLang="en-US" sz="1300" dirty="0"/>
              <a:t>的算术运算符 </a:t>
            </a:r>
            <a:r>
              <a:rPr lang="en-US" altLang="zh-CN" sz="1300" dirty="0"/>
              <a:t>(()) </a:t>
            </a:r>
            <a:r>
              <a:rPr lang="zh-CN" altLang="en-US" sz="1300" dirty="0"/>
              <a:t>进行测试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133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29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[[ str1 =~ str2 ]] ; echo $?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[[ str1 =~ </a:t>
            </a:r>
            <a:r>
              <a:rPr lang="en-US" altLang="zh-CN" dirty="0" err="1">
                <a:solidFill>
                  <a:srgbClr val="FF0000"/>
                </a:solidFill>
              </a:rPr>
              <a:t>str</a:t>
            </a:r>
            <a:r>
              <a:rPr lang="en-US" altLang="zh-CN" dirty="0">
                <a:solidFill>
                  <a:srgbClr val="FF0000"/>
                </a:solidFill>
              </a:rPr>
              <a:t> ]]  ; echo $?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[[ str1 =~ </a:t>
            </a:r>
            <a:r>
              <a:rPr lang="en-US" altLang="zh-CN" dirty="0" err="1">
                <a:solidFill>
                  <a:srgbClr val="FF0000"/>
                </a:solidFill>
              </a:rPr>
              <a:t>tr</a:t>
            </a:r>
            <a:r>
              <a:rPr lang="en-US" altLang="zh-CN" dirty="0">
                <a:solidFill>
                  <a:srgbClr val="FF0000"/>
                </a:solidFill>
              </a:rPr>
              <a:t> ]]   ; echo $?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777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041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((</a:t>
            </a:r>
            <a:r>
              <a:rPr lang="en-US" altLang="zh-CN" baseline="0" dirty="0"/>
              <a:t> )) </a:t>
            </a:r>
            <a:r>
              <a:rPr lang="zh-CN" altLang="en-US" baseline="0" dirty="0"/>
              <a:t>只做算术运算不处理字符串，</a:t>
            </a:r>
            <a:r>
              <a:rPr lang="en-US" altLang="zh-CN" baseline="0" dirty="0"/>
              <a:t>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m</a:t>
            </a:r>
            <a:r>
              <a:rPr lang="zh-CN" altLang="en-US" baseline="0" dirty="0"/>
              <a:t> 视为变量而非字符串常量，即在</a:t>
            </a:r>
            <a:r>
              <a:rPr lang="en-US" altLang="zh-CN" baseline="0" dirty="0"/>
              <a:t>(())</a:t>
            </a:r>
            <a:r>
              <a:rPr lang="zh-CN" altLang="en-US" baseline="0" dirty="0"/>
              <a:t>中变量引用的前导</a:t>
            </a:r>
            <a:r>
              <a:rPr lang="en-US" altLang="zh-CN" baseline="0" dirty="0"/>
              <a:t>$</a:t>
            </a:r>
            <a:r>
              <a:rPr lang="zh-CN" altLang="en-US" baseline="0" dirty="0"/>
              <a:t>字符可以省略</a:t>
            </a:r>
            <a:endParaRPr lang="en-US" altLang="zh-CN" baseline="0" dirty="0"/>
          </a:p>
          <a:p>
            <a:r>
              <a:rPr lang="en-US" altLang="zh-CN" baseline="0" dirty="0"/>
              <a:t>2</a:t>
            </a:r>
            <a:r>
              <a:rPr lang="zh-CN" altLang="en-US" baseline="0" dirty="0"/>
              <a:t>、</a:t>
            </a:r>
            <a:r>
              <a:rPr lang="en-US" altLang="zh-CN" baseline="0" dirty="0"/>
              <a:t>[[ ]]</a:t>
            </a:r>
            <a:r>
              <a:rPr lang="zh-CN" altLang="en-US" baseline="0" dirty="0"/>
              <a:t>中的 </a:t>
            </a:r>
            <a:r>
              <a:rPr lang="en-US" altLang="zh-CN" baseline="0" dirty="0"/>
              <a:t>$n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$m </a:t>
            </a:r>
            <a:r>
              <a:rPr lang="zh-CN" altLang="en-US" baseline="0" dirty="0"/>
              <a:t>视为变量，</a:t>
            </a:r>
            <a:r>
              <a:rPr lang="en-US" altLang="zh-CN" baseline="0" dirty="0"/>
              <a:t>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m </a:t>
            </a:r>
            <a:r>
              <a:rPr lang="zh-CN" altLang="en-US" baseline="0" dirty="0"/>
              <a:t>视为字符串常量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0337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((</a:t>
            </a:r>
            <a:r>
              <a:rPr lang="en-US" altLang="zh-CN" baseline="0" dirty="0"/>
              <a:t> )) </a:t>
            </a:r>
            <a:r>
              <a:rPr lang="zh-CN" altLang="en-US" baseline="0" dirty="0"/>
              <a:t>只做算术运算不处理字符串，</a:t>
            </a:r>
            <a:r>
              <a:rPr lang="en-US" altLang="zh-CN" baseline="0" dirty="0"/>
              <a:t>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m</a:t>
            </a:r>
            <a:r>
              <a:rPr lang="zh-CN" altLang="en-US" baseline="0" dirty="0"/>
              <a:t> 视为变量而非字符串常量，即在</a:t>
            </a:r>
            <a:r>
              <a:rPr lang="en-US" altLang="zh-CN" baseline="0" dirty="0"/>
              <a:t>(())</a:t>
            </a:r>
            <a:r>
              <a:rPr lang="zh-CN" altLang="en-US" baseline="0" dirty="0"/>
              <a:t>中变量引用的前导</a:t>
            </a:r>
            <a:r>
              <a:rPr lang="en-US" altLang="zh-CN" baseline="0" dirty="0"/>
              <a:t>$</a:t>
            </a:r>
            <a:r>
              <a:rPr lang="zh-CN" altLang="en-US" baseline="0" dirty="0"/>
              <a:t>字符可以省略</a:t>
            </a:r>
            <a:endParaRPr lang="en-US" altLang="zh-CN" baseline="0" dirty="0"/>
          </a:p>
          <a:p>
            <a:r>
              <a:rPr lang="en-US" altLang="zh-CN" baseline="0" dirty="0"/>
              <a:t>2</a:t>
            </a:r>
            <a:r>
              <a:rPr lang="zh-CN" altLang="en-US" baseline="0" dirty="0"/>
              <a:t>、</a:t>
            </a:r>
            <a:r>
              <a:rPr lang="en-US" altLang="zh-CN" baseline="0" dirty="0"/>
              <a:t>[[ ]]</a:t>
            </a:r>
            <a:r>
              <a:rPr lang="zh-CN" altLang="en-US" baseline="0" dirty="0"/>
              <a:t>中的 </a:t>
            </a:r>
            <a:r>
              <a:rPr lang="en-US" altLang="zh-CN" baseline="0" dirty="0"/>
              <a:t>$n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$m </a:t>
            </a:r>
            <a:r>
              <a:rPr lang="zh-CN" altLang="en-US" baseline="0" dirty="0"/>
              <a:t>视为变量，</a:t>
            </a:r>
            <a:r>
              <a:rPr lang="en-US" altLang="zh-CN" baseline="0" dirty="0"/>
              <a:t>n</a:t>
            </a:r>
            <a:r>
              <a:rPr lang="zh-CN" altLang="en-US" baseline="0" dirty="0"/>
              <a:t>、</a:t>
            </a:r>
            <a:r>
              <a:rPr lang="en-US" altLang="zh-CN" baseline="0" dirty="0"/>
              <a:t>m </a:t>
            </a:r>
            <a:r>
              <a:rPr lang="zh-CN" altLang="en-US" baseline="0" dirty="0"/>
              <a:t>视为字符串常量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7483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case in  </a:t>
            </a:r>
            <a:r>
              <a:rPr lang="zh-CN" altLang="en-US" dirty="0"/>
              <a:t>；； * </a:t>
            </a:r>
            <a:r>
              <a:rPr lang="en-US" altLang="zh-CN" dirty="0" err="1"/>
              <a:t>esac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2028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|</a:t>
            </a:r>
            <a:r>
              <a:rPr lang="zh-CN" altLang="en-US" dirty="0"/>
              <a:t>逻辑或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9563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en-US" altLang="zh-CN" dirty="0" err="1"/>
              <a:t>root@www</a:t>
            </a:r>
            <a:r>
              <a:rPr lang="en-US" altLang="zh-CN" dirty="0"/>
              <a:t> scripts]# vi sh09.sh</a:t>
            </a:r>
          </a:p>
          <a:p>
            <a:r>
              <a:rPr lang="en-US" altLang="zh-CN" dirty="0"/>
              <a:t>#!/bin/bash</a:t>
            </a:r>
          </a:p>
          <a:p>
            <a:r>
              <a:rPr lang="en-US" altLang="zh-CN" dirty="0"/>
              <a:t># Program:</a:t>
            </a:r>
          </a:p>
          <a:p>
            <a:r>
              <a:rPr lang="en-US" altLang="zh-CN" dirty="0"/>
              <a:t>#	Check $1 is equal to "hello"</a:t>
            </a:r>
          </a:p>
          <a:p>
            <a:r>
              <a:rPr lang="en-US" altLang="zh-CN" dirty="0"/>
              <a:t># History:</a:t>
            </a:r>
          </a:p>
          <a:p>
            <a:r>
              <a:rPr lang="en-US" altLang="zh-CN" dirty="0"/>
              <a:t># 2005/08/28	</a:t>
            </a:r>
            <a:r>
              <a:rPr lang="en-US" altLang="zh-CN" dirty="0" err="1"/>
              <a:t>VBird</a:t>
            </a:r>
            <a:r>
              <a:rPr lang="en-US" altLang="zh-CN" dirty="0"/>
              <a:t>	First release</a:t>
            </a:r>
          </a:p>
          <a:p>
            <a:r>
              <a:rPr lang="en-US" altLang="zh-CN" dirty="0"/>
              <a:t>PATH=/bin:/</a:t>
            </a:r>
            <a:r>
              <a:rPr lang="en-US" altLang="zh-CN" dirty="0" err="1"/>
              <a:t>sbin</a:t>
            </a:r>
            <a:r>
              <a:rPr lang="en-US" altLang="zh-CN" dirty="0"/>
              <a:t>:/</a:t>
            </a:r>
            <a:r>
              <a:rPr lang="en-US" altLang="zh-CN" dirty="0" err="1"/>
              <a:t>usr</a:t>
            </a:r>
            <a:r>
              <a:rPr lang="en-US" altLang="zh-CN" dirty="0"/>
              <a:t>/bin:/</a:t>
            </a:r>
            <a:r>
              <a:rPr lang="en-US" altLang="zh-CN" dirty="0" err="1"/>
              <a:t>usr</a:t>
            </a:r>
            <a:r>
              <a:rPr lang="en-US" altLang="zh-CN" dirty="0"/>
              <a:t>/</a:t>
            </a:r>
            <a:r>
              <a:rPr lang="en-US" altLang="zh-CN" dirty="0" err="1"/>
              <a:t>sbin</a:t>
            </a:r>
            <a:r>
              <a:rPr lang="en-US" altLang="zh-CN" dirty="0"/>
              <a:t>:/</a:t>
            </a:r>
            <a:r>
              <a:rPr lang="en-US" altLang="zh-CN" dirty="0" err="1"/>
              <a:t>usr</a:t>
            </a:r>
            <a:r>
              <a:rPr lang="en-US" altLang="zh-CN" dirty="0"/>
              <a:t>/local/bin:/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sbin</a:t>
            </a:r>
            <a:r>
              <a:rPr lang="en-US" altLang="zh-CN" dirty="0"/>
              <a:t>:~/bin</a:t>
            </a:r>
          </a:p>
          <a:p>
            <a:r>
              <a:rPr lang="en-US" altLang="zh-CN" dirty="0"/>
              <a:t>export PATH</a:t>
            </a:r>
          </a:p>
          <a:p>
            <a:endParaRPr lang="en-US" altLang="zh-CN" dirty="0"/>
          </a:p>
          <a:p>
            <a:r>
              <a:rPr lang="en-US" altLang="zh-CN" dirty="0"/>
              <a:t>if [ "$1" == "hello" ]; then</a:t>
            </a:r>
          </a:p>
          <a:p>
            <a:r>
              <a:rPr lang="en-US" altLang="zh-CN" dirty="0"/>
              <a:t>	echo "Hello, how are you ?"</a:t>
            </a:r>
          </a:p>
          <a:p>
            <a:r>
              <a:rPr lang="en-US" altLang="zh-CN" dirty="0" err="1"/>
              <a:t>elif</a:t>
            </a:r>
            <a:r>
              <a:rPr lang="en-US" altLang="zh-CN" dirty="0"/>
              <a:t> [ "$1" == "" ]; then</a:t>
            </a:r>
          </a:p>
          <a:p>
            <a:r>
              <a:rPr lang="en-US" altLang="zh-CN" dirty="0"/>
              <a:t>	echo "You MUST input parameters, ex&gt; {$0 </a:t>
            </a:r>
            <a:r>
              <a:rPr lang="en-US" altLang="zh-CN" dirty="0" err="1"/>
              <a:t>someword</a:t>
            </a:r>
            <a:r>
              <a:rPr lang="en-US" altLang="zh-CN" dirty="0"/>
              <a:t>}"</a:t>
            </a:r>
          </a:p>
          <a:p>
            <a:r>
              <a:rPr lang="en-US" altLang="zh-CN" dirty="0"/>
              <a:t>else</a:t>
            </a:r>
          </a:p>
          <a:p>
            <a:r>
              <a:rPr lang="en-US" altLang="zh-CN" dirty="0"/>
              <a:t>	echo "The only parameter is 'hello', ex&gt; {$0 hello}"</a:t>
            </a:r>
          </a:p>
          <a:p>
            <a:r>
              <a:rPr lang="en-US" altLang="zh-CN" dirty="0"/>
              <a:t>fi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425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Ø"/>
            </a:pPr>
            <a:r>
              <a:rPr lang="en-US" altLang="zh-CN" dirty="0"/>
              <a:t> http://www.cyberciti.biz/faq/bash-for-loop/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47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比较内容的后者作为了一个内容。</a:t>
            </a:r>
            <a:r>
              <a:rPr lang="en-US" altLang="zh-CN" dirty="0"/>
              <a:t>du –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zh-CN" altLang="en-US" dirty="0"/>
              <a:t>以易读的方式显示指定文件（目录）已使用的磁盘空间总量的总和。 </a:t>
            </a:r>
            <a:r>
              <a:rPr lang="en-US" altLang="zh-CN" dirty="0"/>
              <a:t>df –h</a:t>
            </a:r>
            <a:r>
              <a:rPr lang="zh-CN" altLang="en-US" dirty="0"/>
              <a:t>以易读的方式显示</a:t>
            </a:r>
            <a:r>
              <a:rPr lang="zh-CN" altLang="en-US" dirty="0">
                <a:sym typeface="+mn-ea"/>
              </a:rPr>
              <a:t>文件系统磁盘空间。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eval $x eval</a:t>
            </a:r>
            <a:r>
              <a:rPr lang="zh-CN" altLang="en-US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命令是扫描两次，第一次先执行变量替换，然后再执行命令。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3245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比较内容的后者作为了一个内容。</a:t>
            </a:r>
            <a:r>
              <a:rPr lang="en-US" altLang="zh-CN" dirty="0"/>
              <a:t>du –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zh-CN" altLang="en-US" dirty="0"/>
              <a:t>以易读的方式显示指定文件（目录）已使用的磁盘空间总量的总和。 </a:t>
            </a:r>
            <a:r>
              <a:rPr lang="en-US" altLang="zh-CN" dirty="0"/>
              <a:t>df –h</a:t>
            </a:r>
            <a:r>
              <a:rPr lang="zh-CN" altLang="en-US" dirty="0"/>
              <a:t>以易读的方式显示</a:t>
            </a:r>
            <a:r>
              <a:rPr lang="zh-CN" altLang="en-US" dirty="0">
                <a:sym typeface="+mn-ea"/>
              </a:rPr>
              <a:t>文件系统磁盘空间。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eval $x eval</a:t>
            </a:r>
            <a:r>
              <a:rPr lang="zh-CN" altLang="en-US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命令是扫描两次，第一次先执行变量替换，然后再执行命令。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2863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“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Linux ‘Gnu Hurd’ FreeBSD ‘Mac OS X’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“ </a:t>
            </a:r>
            <a:r>
              <a:rPr lang="zh-CN" altLang="en-US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每个空格间隔的内容作为一个独立的值存在。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489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597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300" dirty="0"/>
              <a:t>#!/bin/bash</a:t>
            </a:r>
            <a:endParaRPr lang="zh-CN" altLang="zh-CN" sz="1300" dirty="0"/>
          </a:p>
          <a:p>
            <a:r>
              <a:rPr lang="en-US" altLang="zh-CN" sz="1300" dirty="0"/>
              <a:t># filename: change_file_SUFFIX.sh</a:t>
            </a:r>
            <a:endParaRPr lang="zh-CN" altLang="zh-CN" sz="1300" dirty="0"/>
          </a:p>
          <a:p>
            <a:r>
              <a:rPr lang="en-US" altLang="zh-CN" sz="1300" dirty="0"/>
              <a:t># </a:t>
            </a:r>
            <a:r>
              <a:rPr lang="zh-CN" altLang="zh-CN" sz="1300" dirty="0"/>
              <a:t>将当前目录下所有以（</a:t>
            </a:r>
            <a:r>
              <a:rPr lang="en-US" altLang="zh-CN" sz="1300" dirty="0"/>
              <a:t>$1</a:t>
            </a:r>
            <a:r>
              <a:rPr lang="zh-CN" altLang="zh-CN" sz="1300" dirty="0"/>
              <a:t>）为后缀的文件改为以（</a:t>
            </a:r>
            <a:r>
              <a:rPr lang="en-US" altLang="zh-CN" sz="1300" dirty="0"/>
              <a:t>$2</a:t>
            </a:r>
            <a:r>
              <a:rPr lang="zh-CN" altLang="zh-CN" sz="1300" dirty="0"/>
              <a:t>）为后缀的文件</a:t>
            </a:r>
          </a:p>
          <a:p>
            <a:r>
              <a:rPr lang="en-US" altLang="zh-CN" sz="1300" dirty="0"/>
              <a:t>if [ "$#" -</a:t>
            </a:r>
            <a:r>
              <a:rPr lang="en-US" altLang="zh-CN" sz="1300" dirty="0" err="1"/>
              <a:t>eq</a:t>
            </a:r>
            <a:r>
              <a:rPr lang="en-US" altLang="zh-CN" sz="1300" dirty="0"/>
              <a:t> "2" ]; then</a:t>
            </a:r>
            <a:endParaRPr lang="zh-CN" altLang="zh-CN" sz="1300" dirty="0"/>
          </a:p>
          <a:p>
            <a:r>
              <a:rPr lang="en-US" altLang="zh-CN" sz="1300" dirty="0"/>
              <a:t> for f in *.$1; do mv $f `basename $f .$1`.$2; done</a:t>
            </a:r>
            <a:endParaRPr lang="zh-CN" altLang="zh-CN" sz="1300" dirty="0"/>
          </a:p>
          <a:p>
            <a:r>
              <a:rPr lang="en-US" altLang="zh-CN" sz="1300" dirty="0"/>
              <a:t>else</a:t>
            </a:r>
            <a:endParaRPr lang="zh-CN" altLang="zh-CN" sz="1300" dirty="0"/>
          </a:p>
          <a:p>
            <a:r>
              <a:rPr lang="en-US" altLang="zh-CN" sz="1300" dirty="0"/>
              <a:t> echo "Usage: $0 &lt;SUFFIX1&gt; &lt;SUFFIX2&gt;"</a:t>
            </a:r>
            <a:endParaRPr lang="zh-CN" altLang="zh-CN" sz="1300" dirty="0"/>
          </a:p>
          <a:p>
            <a:r>
              <a:rPr lang="en-US" altLang="zh-CN" sz="1300" dirty="0"/>
              <a:t> echo "</a:t>
            </a:r>
            <a:r>
              <a:rPr lang="en-US" altLang="zh-CN" sz="1300" dirty="0" err="1"/>
              <a:t>Exmaple</a:t>
            </a:r>
            <a:r>
              <a:rPr lang="en-US" altLang="zh-CN" sz="1300" dirty="0"/>
              <a:t>: $0 txt doc"</a:t>
            </a:r>
            <a:endParaRPr lang="zh-CN" altLang="zh-CN" sz="1300" dirty="0"/>
          </a:p>
          <a:p>
            <a:r>
              <a:rPr lang="en-US" altLang="zh-CN" sz="1300" dirty="0" err="1"/>
              <a:t>fi</a:t>
            </a:r>
            <a:endParaRPr lang="zh-CN" altLang="zh-CN" sz="13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0368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awk</a:t>
            </a:r>
            <a:r>
              <a:rPr lang="zh-CN" altLang="en-US" dirty="0"/>
              <a:t>后接两个单引号‘’，并加上大括号</a:t>
            </a:r>
            <a:r>
              <a:rPr lang="en-US" altLang="zh-CN" dirty="0"/>
              <a:t>{}</a:t>
            </a:r>
            <a:r>
              <a:rPr lang="zh-CN" altLang="en-US" dirty="0"/>
              <a:t>，来设置想要对数据进行的处理操作 </a:t>
            </a:r>
            <a:r>
              <a:rPr lang="en-US" altLang="zh-CN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`awk -F: ‘{print $1}’ /</a:t>
            </a:r>
            <a:r>
              <a:rPr lang="en-US" altLang="zh-CN" sz="12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etc</a:t>
            </a:r>
            <a:r>
              <a:rPr lang="en-US" altLang="zh-CN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/passwd` </a:t>
            </a:r>
            <a:r>
              <a:rPr lang="zh-CN" altLang="en-US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获取</a:t>
            </a:r>
            <a:r>
              <a:rPr lang="en-US" altLang="zh-CN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</a:t>
            </a:r>
            <a:r>
              <a:rPr lang="en-US" altLang="zh-CN" sz="12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etc</a:t>
            </a:r>
            <a:r>
              <a:rPr lang="en-US" altLang="zh-CN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/passwd</a:t>
            </a:r>
            <a:r>
              <a:rPr lang="zh-CN" altLang="en-US" sz="12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第一列的数据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6121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IPAdress</a:t>
            </a:r>
            <a:r>
              <a:rPr lang="en-US" altLang="zh-CN" dirty="0"/>
              <a:t> 243: 192.168.0.243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244: 192.168.0.244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245: 192.168.0.245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246: 192.168.0.246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247: 192.168.0.247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248: 192.168.0.248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249: 192.168.0.249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250: 192.168.0.250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251: 192.168.0.251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252: 192.168.0.252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253: 192.168.0.253</a:t>
            </a:r>
          </a:p>
          <a:p>
            <a:r>
              <a:rPr lang="en-US" altLang="zh-CN" dirty="0" err="1"/>
              <a:t>IPAdress</a:t>
            </a:r>
            <a:r>
              <a:rPr lang="en-US" altLang="zh-CN" dirty="0"/>
              <a:t> 254: 192.168.0.254</a:t>
            </a:r>
          </a:p>
          <a:p>
            <a:r>
              <a:rPr lang="en-US" altLang="zh-CN" dirty="0"/>
              <a:t>Number: 1</a:t>
            </a:r>
          </a:p>
          <a:p>
            <a:r>
              <a:rPr lang="en-US" altLang="zh-CN" dirty="0"/>
              <a:t>Number: 3</a:t>
            </a:r>
          </a:p>
          <a:p>
            <a:r>
              <a:rPr lang="en-US" altLang="zh-CN" dirty="0"/>
              <a:t>Number: 5</a:t>
            </a:r>
          </a:p>
          <a:p>
            <a:r>
              <a:rPr lang="en-US" altLang="zh-CN" dirty="0"/>
              <a:t>Number: 7</a:t>
            </a:r>
          </a:p>
          <a:p>
            <a:r>
              <a:rPr lang="en-US" altLang="zh-CN" dirty="0"/>
              <a:t>Number: 9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6413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4589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9622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5225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Ø"/>
            </a:pPr>
            <a:r>
              <a:rPr lang="en-US" altLang="zh-CN" dirty="0"/>
              <a:t> http://www.cyberciti.biz/faq/bash-while-loop/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2814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Font typeface="Wingdings"/>
              <a:buChar char="Ø"/>
            </a:pPr>
            <a:r>
              <a:rPr lang="en-US" altLang="zh-CN" baseline="0" dirty="0"/>
              <a:t> http://bash.cyberciti.biz/file-management/read-a-file-line-by-line/</a:t>
            </a:r>
          </a:p>
          <a:p>
            <a:pPr>
              <a:buFont typeface="Wingdings"/>
              <a:buChar char="Ø"/>
            </a:pPr>
            <a:endParaRPr lang="en-US" altLang="zh-CN" baseline="0" dirty="0"/>
          </a:p>
          <a:p>
            <a:pPr>
              <a:buFont typeface="Wingdings"/>
              <a:buNone/>
            </a:pPr>
            <a:r>
              <a:rPr lang="en-US" altLang="zh-CN" dirty="0"/>
              <a:t>#!/bin/bash</a:t>
            </a:r>
          </a:p>
          <a:p>
            <a:pPr>
              <a:buFont typeface="Wingdings"/>
              <a:buNone/>
            </a:pPr>
            <a:r>
              <a:rPr lang="en-US" altLang="zh-CN" dirty="0"/>
              <a:t># Shell script utility to read a file line </a:t>
            </a:r>
            <a:r>
              <a:rPr lang="en-US" altLang="zh-CN" dirty="0" err="1"/>
              <a:t>line</a:t>
            </a:r>
            <a:r>
              <a:rPr lang="en-US" altLang="zh-CN" dirty="0"/>
              <a:t>.</a:t>
            </a:r>
          </a:p>
          <a:p>
            <a:pPr>
              <a:buFont typeface="Wingdings"/>
              <a:buNone/>
            </a:pPr>
            <a:r>
              <a:rPr lang="en-US" altLang="zh-CN" dirty="0"/>
              <a:t># Once line is read it can be process in </a:t>
            </a:r>
            <a:r>
              <a:rPr lang="en-US" altLang="zh-CN" dirty="0" err="1"/>
              <a:t>processLine</a:t>
            </a:r>
            <a:r>
              <a:rPr lang="en-US" altLang="zh-CN" dirty="0"/>
              <a:t>() function</a:t>
            </a:r>
          </a:p>
          <a:p>
            <a:pPr>
              <a:buFont typeface="Wingdings"/>
              <a:buNone/>
            </a:pPr>
            <a:r>
              <a:rPr lang="en-US" altLang="zh-CN" dirty="0"/>
              <a:t># You can call script as follows, to read myfile.txt:</a:t>
            </a:r>
          </a:p>
          <a:p>
            <a:pPr>
              <a:buFont typeface="Wingdings"/>
              <a:buNone/>
            </a:pPr>
            <a:r>
              <a:rPr lang="en-US" altLang="zh-CN" dirty="0"/>
              <a:t># ./</a:t>
            </a:r>
            <a:r>
              <a:rPr lang="en-US" altLang="zh-CN" dirty="0" err="1"/>
              <a:t>readline</a:t>
            </a:r>
            <a:r>
              <a:rPr lang="en-US" altLang="zh-CN" dirty="0"/>
              <a:t> myfile.txt</a:t>
            </a:r>
          </a:p>
          <a:p>
            <a:pPr>
              <a:buFont typeface="Wingdings"/>
              <a:buNone/>
            </a:pPr>
            <a:r>
              <a:rPr lang="en-US" altLang="zh-CN" dirty="0"/>
              <a:t># Following example will read line from standard input device aka keyboard:</a:t>
            </a:r>
          </a:p>
          <a:p>
            <a:pPr>
              <a:buFont typeface="Wingdings"/>
              <a:buNone/>
            </a:pPr>
            <a:r>
              <a:rPr lang="en-US" altLang="zh-CN" dirty="0"/>
              <a:t># ./</a:t>
            </a:r>
            <a:r>
              <a:rPr lang="en-US" altLang="zh-CN" dirty="0" err="1"/>
              <a:t>readline</a:t>
            </a:r>
            <a:endParaRPr lang="en-US" altLang="zh-CN" dirty="0"/>
          </a:p>
          <a:p>
            <a:pPr>
              <a:buFont typeface="Wingdings"/>
              <a:buNone/>
            </a:pPr>
            <a:r>
              <a:rPr lang="en-US" altLang="zh-CN" dirty="0"/>
              <a:t># -----------------------------------------------</a:t>
            </a:r>
          </a:p>
          <a:p>
            <a:pPr>
              <a:buFont typeface="Wingdings"/>
              <a:buNone/>
            </a:pPr>
            <a:r>
              <a:rPr lang="en-US" altLang="zh-CN" dirty="0"/>
              <a:t># Copyright (c) 2005 </a:t>
            </a:r>
            <a:r>
              <a:rPr lang="en-US" altLang="zh-CN" dirty="0" err="1"/>
              <a:t>nixCraft</a:t>
            </a:r>
            <a:r>
              <a:rPr lang="en-US" altLang="zh-CN" dirty="0"/>
              <a:t> &lt;http://cyberciti.biz/fb/&gt;</a:t>
            </a:r>
          </a:p>
          <a:p>
            <a:pPr>
              <a:buFont typeface="Wingdings"/>
              <a:buNone/>
            </a:pPr>
            <a:r>
              <a:rPr lang="en-US" altLang="zh-CN" dirty="0"/>
              <a:t># This script is licensed under GNU GPL version 2.0 or above</a:t>
            </a:r>
          </a:p>
          <a:p>
            <a:pPr>
              <a:buFont typeface="Wingdings"/>
              <a:buNone/>
            </a:pPr>
            <a:r>
              <a:rPr lang="en-US" altLang="zh-CN" dirty="0"/>
              <a:t># -------------------------------------------------------------------------</a:t>
            </a:r>
          </a:p>
          <a:p>
            <a:pPr>
              <a:buFont typeface="Wingdings"/>
              <a:buNone/>
            </a:pPr>
            <a:r>
              <a:rPr lang="en-US" altLang="zh-CN" dirty="0"/>
              <a:t># This script is part of </a:t>
            </a:r>
            <a:r>
              <a:rPr lang="en-US" altLang="zh-CN" dirty="0" err="1"/>
              <a:t>nixCraft</a:t>
            </a:r>
            <a:r>
              <a:rPr lang="en-US" altLang="zh-CN" dirty="0"/>
              <a:t> shell script collection (NSSC)</a:t>
            </a:r>
          </a:p>
          <a:p>
            <a:pPr>
              <a:buFont typeface="Wingdings"/>
              <a:buNone/>
            </a:pPr>
            <a:r>
              <a:rPr lang="en-US" altLang="zh-CN" dirty="0"/>
              <a:t># Visit http://bash.cyberciti.biz/ for more information.</a:t>
            </a:r>
          </a:p>
          <a:p>
            <a:pPr>
              <a:buFont typeface="Wingdings"/>
              <a:buNone/>
            </a:pPr>
            <a:r>
              <a:rPr lang="en-US" altLang="zh-CN" dirty="0"/>
              <a:t># -------------------------------------------------------------------------</a:t>
            </a:r>
          </a:p>
          <a:p>
            <a:pPr>
              <a:buFont typeface="Wingdings"/>
              <a:buNone/>
            </a:pPr>
            <a:r>
              <a:rPr lang="en-US" altLang="zh-CN" dirty="0"/>
              <a:t> </a:t>
            </a:r>
          </a:p>
          <a:p>
            <a:pPr>
              <a:buFont typeface="Wingdings"/>
              <a:buNone/>
            </a:pPr>
            <a:r>
              <a:rPr lang="en-US" altLang="zh-CN" dirty="0"/>
              <a:t># User define Function (UDF)</a:t>
            </a:r>
          </a:p>
          <a:p>
            <a:pPr>
              <a:buFont typeface="Wingdings"/>
              <a:buNone/>
            </a:pPr>
            <a:r>
              <a:rPr lang="en-US" altLang="zh-CN" dirty="0" err="1"/>
              <a:t>processLine</a:t>
            </a:r>
            <a:r>
              <a:rPr lang="en-US" altLang="zh-CN" dirty="0"/>
              <a:t>(){</a:t>
            </a:r>
          </a:p>
          <a:p>
            <a:pPr>
              <a:buFont typeface="Wingdings"/>
              <a:buNone/>
            </a:pPr>
            <a:r>
              <a:rPr lang="en-US" altLang="zh-CN" dirty="0"/>
              <a:t>  line="$@" # get all </a:t>
            </a:r>
            <a:r>
              <a:rPr lang="en-US" altLang="zh-CN" dirty="0" err="1"/>
              <a:t>args</a:t>
            </a:r>
            <a:endParaRPr lang="en-US" altLang="zh-CN" dirty="0"/>
          </a:p>
          <a:p>
            <a:pPr>
              <a:buFont typeface="Wingdings"/>
              <a:buNone/>
            </a:pPr>
            <a:r>
              <a:rPr lang="en-US" altLang="zh-CN" dirty="0"/>
              <a:t>  #  just echo them, but you may need to customize it according to your need</a:t>
            </a:r>
          </a:p>
          <a:p>
            <a:pPr>
              <a:buFont typeface="Wingdings"/>
              <a:buNone/>
            </a:pPr>
            <a:r>
              <a:rPr lang="en-US" altLang="zh-CN" dirty="0"/>
              <a:t>  # for example, F1 will store first field of $line, see readline2 script</a:t>
            </a:r>
          </a:p>
          <a:p>
            <a:pPr>
              <a:buFont typeface="Wingdings"/>
              <a:buNone/>
            </a:pPr>
            <a:r>
              <a:rPr lang="en-US" altLang="zh-CN" dirty="0"/>
              <a:t>  # for more examples</a:t>
            </a:r>
          </a:p>
          <a:p>
            <a:pPr>
              <a:buFont typeface="Wingdings"/>
              <a:buNone/>
            </a:pPr>
            <a:r>
              <a:rPr lang="en-US" altLang="zh-CN" dirty="0"/>
              <a:t>  # F1=$(echo $line | </a:t>
            </a:r>
            <a:r>
              <a:rPr lang="en-US" altLang="zh-CN" dirty="0" err="1"/>
              <a:t>awk</a:t>
            </a:r>
            <a:r>
              <a:rPr lang="en-US" altLang="zh-CN" dirty="0"/>
              <a:t> '{ print $1 }')</a:t>
            </a:r>
          </a:p>
          <a:p>
            <a:pPr>
              <a:buFont typeface="Wingdings"/>
              <a:buNone/>
            </a:pPr>
            <a:r>
              <a:rPr lang="en-US" altLang="zh-CN" dirty="0"/>
              <a:t>  echo $line</a:t>
            </a:r>
          </a:p>
          <a:p>
            <a:pPr>
              <a:buFont typeface="Wingdings"/>
              <a:buNone/>
            </a:pPr>
            <a:r>
              <a:rPr lang="en-US" altLang="zh-CN" dirty="0"/>
              <a:t>}</a:t>
            </a:r>
          </a:p>
          <a:p>
            <a:pPr>
              <a:buFont typeface="Wingdings"/>
              <a:buNone/>
            </a:pPr>
            <a:r>
              <a:rPr lang="en-US" altLang="zh-CN" dirty="0"/>
              <a:t> </a:t>
            </a:r>
          </a:p>
          <a:p>
            <a:pPr>
              <a:buFont typeface="Wingdings"/>
              <a:buNone/>
            </a:pPr>
            <a:r>
              <a:rPr lang="en-US" altLang="zh-CN" dirty="0"/>
              <a:t>### Main script stars here ###</a:t>
            </a:r>
          </a:p>
          <a:p>
            <a:pPr>
              <a:buFont typeface="Wingdings"/>
              <a:buNone/>
            </a:pPr>
            <a:r>
              <a:rPr lang="en-US" altLang="zh-CN" dirty="0"/>
              <a:t># Store file name</a:t>
            </a:r>
          </a:p>
          <a:p>
            <a:pPr>
              <a:buFont typeface="Wingdings"/>
              <a:buNone/>
            </a:pPr>
            <a:r>
              <a:rPr lang="en-US" altLang="zh-CN" dirty="0"/>
              <a:t>FILE=""</a:t>
            </a:r>
          </a:p>
          <a:p>
            <a:pPr>
              <a:buFont typeface="Wingdings"/>
              <a:buNone/>
            </a:pPr>
            <a:r>
              <a:rPr lang="en-US" altLang="zh-CN" dirty="0"/>
              <a:t> </a:t>
            </a:r>
          </a:p>
          <a:p>
            <a:pPr>
              <a:buFont typeface="Wingdings"/>
              <a:buNone/>
            </a:pPr>
            <a:r>
              <a:rPr lang="en-US" altLang="zh-CN" dirty="0"/>
              <a:t># Make sure we get file name as command line argument</a:t>
            </a:r>
          </a:p>
          <a:p>
            <a:pPr>
              <a:buFont typeface="Wingdings"/>
              <a:buNone/>
            </a:pPr>
            <a:r>
              <a:rPr lang="en-US" altLang="zh-CN" dirty="0"/>
              <a:t># Else read it from standard input device</a:t>
            </a:r>
          </a:p>
          <a:p>
            <a:pPr>
              <a:buFont typeface="Wingdings"/>
              <a:buNone/>
            </a:pPr>
            <a:r>
              <a:rPr lang="en-US" altLang="zh-CN" dirty="0"/>
              <a:t>if [ "$1" == "" ]; then</a:t>
            </a:r>
          </a:p>
          <a:p>
            <a:pPr>
              <a:buFont typeface="Wingdings"/>
              <a:buNone/>
            </a:pPr>
            <a:r>
              <a:rPr lang="en-US" altLang="zh-CN" dirty="0"/>
              <a:t>   FILE="/dev/</a:t>
            </a:r>
            <a:r>
              <a:rPr lang="en-US" altLang="zh-CN" dirty="0" err="1"/>
              <a:t>stdin</a:t>
            </a:r>
            <a:r>
              <a:rPr lang="en-US" altLang="zh-CN" dirty="0"/>
              <a:t>"</a:t>
            </a:r>
          </a:p>
          <a:p>
            <a:pPr>
              <a:buFont typeface="Wingdings"/>
              <a:buNone/>
            </a:pPr>
            <a:r>
              <a:rPr lang="en-US" altLang="zh-CN" dirty="0"/>
              <a:t>else</a:t>
            </a:r>
          </a:p>
          <a:p>
            <a:pPr>
              <a:buFont typeface="Wingdings"/>
              <a:buNone/>
            </a:pPr>
            <a:r>
              <a:rPr lang="en-US" altLang="zh-CN" dirty="0"/>
              <a:t>   FILE="$1"</a:t>
            </a:r>
          </a:p>
          <a:p>
            <a:pPr>
              <a:buFont typeface="Wingdings"/>
              <a:buNone/>
            </a:pPr>
            <a:r>
              <a:rPr lang="en-US" altLang="zh-CN" dirty="0"/>
              <a:t>   # make sure file exist and readable</a:t>
            </a:r>
          </a:p>
          <a:p>
            <a:pPr>
              <a:buFont typeface="Wingdings"/>
              <a:buNone/>
            </a:pPr>
            <a:r>
              <a:rPr lang="en-US" altLang="zh-CN" dirty="0"/>
              <a:t>   if [ ! -f $FILE ]; then</a:t>
            </a:r>
          </a:p>
          <a:p>
            <a:pPr>
              <a:buFont typeface="Wingdings"/>
              <a:buNone/>
            </a:pPr>
            <a:r>
              <a:rPr lang="en-US" altLang="zh-CN" dirty="0"/>
              <a:t>  	echo "$FILE : does not exists"</a:t>
            </a:r>
          </a:p>
          <a:p>
            <a:pPr>
              <a:buFont typeface="Wingdings"/>
              <a:buNone/>
            </a:pPr>
            <a:r>
              <a:rPr lang="en-US" altLang="zh-CN" dirty="0"/>
              <a:t>  	exit 1</a:t>
            </a:r>
          </a:p>
          <a:p>
            <a:pPr>
              <a:buFont typeface="Wingdings"/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elif</a:t>
            </a:r>
            <a:r>
              <a:rPr lang="en-US" altLang="zh-CN" dirty="0"/>
              <a:t> [ ! -r $FILE ]; then</a:t>
            </a:r>
          </a:p>
          <a:p>
            <a:pPr>
              <a:buFont typeface="Wingdings"/>
              <a:buNone/>
            </a:pPr>
            <a:r>
              <a:rPr lang="en-US" altLang="zh-CN" dirty="0"/>
              <a:t>  	echo "$FILE: can not read"</a:t>
            </a:r>
          </a:p>
          <a:p>
            <a:pPr>
              <a:buFont typeface="Wingdings"/>
              <a:buNone/>
            </a:pPr>
            <a:r>
              <a:rPr lang="en-US" altLang="zh-CN" dirty="0"/>
              <a:t>  	exit 2</a:t>
            </a:r>
          </a:p>
          <a:p>
            <a:pPr>
              <a:buFont typeface="Wingdings"/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fi</a:t>
            </a:r>
            <a:endParaRPr lang="en-US" altLang="zh-CN" dirty="0"/>
          </a:p>
          <a:p>
            <a:pPr>
              <a:buFont typeface="Wingdings"/>
              <a:buNone/>
            </a:pPr>
            <a:r>
              <a:rPr lang="en-US" altLang="zh-CN" dirty="0" err="1"/>
              <a:t>fi</a:t>
            </a:r>
            <a:endParaRPr lang="en-US" altLang="zh-CN" dirty="0"/>
          </a:p>
          <a:p>
            <a:pPr>
              <a:buFont typeface="Wingdings"/>
              <a:buNone/>
            </a:pPr>
            <a:r>
              <a:rPr lang="en-US" altLang="zh-CN" dirty="0"/>
              <a:t># read $FILE using the file descriptors</a:t>
            </a:r>
          </a:p>
          <a:p>
            <a:pPr>
              <a:buFont typeface="Wingdings"/>
              <a:buNone/>
            </a:pPr>
            <a:r>
              <a:rPr lang="en-US" altLang="zh-CN" dirty="0"/>
              <a:t> </a:t>
            </a:r>
          </a:p>
          <a:p>
            <a:pPr>
              <a:buFont typeface="Wingdings"/>
              <a:buNone/>
            </a:pPr>
            <a:r>
              <a:rPr lang="en-US" altLang="zh-CN" dirty="0"/>
              <a:t># Set loop separator to end of line</a:t>
            </a:r>
          </a:p>
          <a:p>
            <a:pPr>
              <a:buFont typeface="Wingdings"/>
              <a:buNone/>
            </a:pPr>
            <a:r>
              <a:rPr lang="en-US" altLang="zh-CN" dirty="0"/>
              <a:t>BAKIFS=$IFS</a:t>
            </a:r>
          </a:p>
          <a:p>
            <a:pPr>
              <a:buFont typeface="Wingdings"/>
              <a:buNone/>
            </a:pPr>
            <a:r>
              <a:rPr lang="en-US" altLang="zh-CN" dirty="0"/>
              <a:t>IFS=$(echo -en "\n\b")</a:t>
            </a:r>
          </a:p>
          <a:p>
            <a:pPr>
              <a:buFont typeface="Wingdings"/>
              <a:buNone/>
            </a:pPr>
            <a:r>
              <a:rPr lang="en-US" altLang="zh-CN" dirty="0"/>
              <a:t>exec 3&lt;&amp;0</a:t>
            </a:r>
          </a:p>
          <a:p>
            <a:pPr>
              <a:buFont typeface="Wingdings"/>
              <a:buNone/>
            </a:pPr>
            <a:r>
              <a:rPr lang="en-US" altLang="zh-CN" dirty="0"/>
              <a:t>exec 0&lt;"$FILE"</a:t>
            </a:r>
          </a:p>
          <a:p>
            <a:pPr>
              <a:buFont typeface="Wingdings"/>
              <a:buNone/>
            </a:pPr>
            <a:r>
              <a:rPr lang="en-US" altLang="zh-CN" dirty="0"/>
              <a:t>while read -r line</a:t>
            </a:r>
          </a:p>
          <a:p>
            <a:pPr>
              <a:buFont typeface="Wingdings"/>
              <a:buNone/>
            </a:pPr>
            <a:r>
              <a:rPr lang="en-US" altLang="zh-CN" dirty="0"/>
              <a:t>do</a:t>
            </a:r>
          </a:p>
          <a:p>
            <a:pPr>
              <a:buFont typeface="Wingdings"/>
              <a:buNone/>
            </a:pPr>
            <a:r>
              <a:rPr lang="en-US" altLang="zh-CN" dirty="0"/>
              <a:t>	# use $line variable to process line in </a:t>
            </a:r>
            <a:r>
              <a:rPr lang="en-US" altLang="zh-CN" dirty="0" err="1"/>
              <a:t>processLine</a:t>
            </a:r>
            <a:r>
              <a:rPr lang="en-US" altLang="zh-CN" dirty="0"/>
              <a:t>() function</a:t>
            </a:r>
          </a:p>
          <a:p>
            <a:pPr>
              <a:buFont typeface="Wingdings"/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processLine</a:t>
            </a:r>
            <a:r>
              <a:rPr lang="en-US" altLang="zh-CN" dirty="0"/>
              <a:t> $line</a:t>
            </a:r>
          </a:p>
          <a:p>
            <a:pPr>
              <a:buFont typeface="Wingdings"/>
              <a:buNone/>
            </a:pPr>
            <a:r>
              <a:rPr lang="en-US" altLang="zh-CN" dirty="0"/>
              <a:t>done</a:t>
            </a:r>
          </a:p>
          <a:p>
            <a:pPr>
              <a:buFont typeface="Wingdings"/>
              <a:buNone/>
            </a:pPr>
            <a:r>
              <a:rPr lang="en-US" altLang="zh-CN" dirty="0"/>
              <a:t>exec 0&lt;&amp;3</a:t>
            </a:r>
          </a:p>
          <a:p>
            <a:pPr>
              <a:buFont typeface="Wingdings"/>
              <a:buNone/>
            </a:pPr>
            <a:r>
              <a:rPr lang="en-US" altLang="zh-CN" dirty="0"/>
              <a:t> </a:t>
            </a:r>
          </a:p>
          <a:p>
            <a:pPr>
              <a:buFont typeface="Wingdings"/>
              <a:buNone/>
            </a:pPr>
            <a:r>
              <a:rPr lang="en-US" altLang="zh-CN" dirty="0"/>
              <a:t># restore $IFS which was used to determine what the field separators are</a:t>
            </a:r>
          </a:p>
          <a:p>
            <a:pPr>
              <a:buFont typeface="Wingdings"/>
              <a:buNone/>
            </a:pPr>
            <a:r>
              <a:rPr lang="en-US" altLang="zh-CN" dirty="0"/>
              <a:t>IFS=$BAKIFS</a:t>
            </a:r>
          </a:p>
          <a:p>
            <a:pPr>
              <a:buFont typeface="Wingdings"/>
              <a:buNone/>
            </a:pPr>
            <a:r>
              <a:rPr lang="en-US" altLang="zh-CN" dirty="0"/>
              <a:t>exit 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8575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Ctrl + C /D /Z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3997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for--C-style_sum.sh</a:t>
            </a:r>
          </a:p>
          <a:p>
            <a:endParaRPr lang="en-US" altLang="zh-CN" sz="1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s=0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i&lt;=100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i++))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let s=$s+$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r>
              <a:rPr lang="pt-BR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sum\(1..100\)=$s</a:t>
            </a:r>
          </a:p>
          <a:p>
            <a:endParaRPr lang="pt-BR" altLang="zh-CN" sz="1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((s=0</a:t>
            </a:r>
            <a:r>
              <a:rPr lang="en-US" altLang="zh-CN" sz="12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,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i=1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i&lt;=100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i++))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((s+=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))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r>
              <a:rPr lang="pt-BR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sum\(1..100\)=$s</a:t>
            </a:r>
          </a:p>
          <a:p>
            <a:endParaRPr lang="pt-BR" altLang="zh-CN" sz="1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((s=0</a:t>
            </a:r>
            <a:r>
              <a:rPr lang="en-US" altLang="zh-CN" sz="12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,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i=1;i&lt;=100;s+=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,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:  # </a:t>
            </a:r>
            <a:r>
              <a:rPr lang="zh-CN" altLang="en-US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空语句</a:t>
            </a:r>
            <a:endParaRPr lang="en-US" altLang="zh-CN" sz="1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  <a:endParaRPr lang="en-US" altLang="zh-CN" sz="1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((s=0,i=1;i&lt;=100;s+=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i,i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r>
              <a:rPr lang="pt-BR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896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Ø"/>
            </a:pPr>
            <a:r>
              <a:rPr lang="en-US" altLang="zh-CN" baseline="0" dirty="0"/>
              <a:t> http://bash.cyberciti.biz/decision-making/menu-driven-shell-script/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069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8500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2490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8970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Shell</a:t>
            </a:r>
            <a:r>
              <a:rPr lang="zh-CN" altLang="en-US" dirty="0"/>
              <a:t>的函数在其他语言中也被称为：</a:t>
            </a:r>
          </a:p>
          <a:p>
            <a:pPr>
              <a:buFont typeface="Arial" pitchFamily="34" charset="0"/>
              <a:buChar char="•"/>
            </a:pPr>
            <a:r>
              <a:rPr lang="zh-CN" altLang="en-US" dirty="0"/>
              <a:t>过程（</a:t>
            </a:r>
            <a:r>
              <a:rPr lang="en-US" altLang="zh-CN" dirty="0"/>
              <a:t>procedure</a:t>
            </a:r>
            <a:r>
              <a:rPr lang="zh-CN" altLang="en-US" dirty="0"/>
              <a:t>）</a:t>
            </a:r>
          </a:p>
          <a:p>
            <a:pPr>
              <a:buFont typeface="Arial" pitchFamily="34" charset="0"/>
              <a:buChar char="•"/>
            </a:pPr>
            <a:r>
              <a:rPr lang="zh-CN" altLang="en-US" dirty="0"/>
              <a:t>方法（</a:t>
            </a:r>
            <a:r>
              <a:rPr lang="en-US" altLang="zh-CN" dirty="0"/>
              <a:t>method</a:t>
            </a:r>
            <a:r>
              <a:rPr lang="zh-CN" altLang="en-US" dirty="0"/>
              <a:t>）</a:t>
            </a:r>
          </a:p>
          <a:p>
            <a:pPr>
              <a:buFont typeface="Arial" pitchFamily="34" charset="0"/>
              <a:buChar char="•"/>
            </a:pPr>
            <a:r>
              <a:rPr lang="en-US" altLang="zh-CN" dirty="0"/>
              <a:t>subroutine</a:t>
            </a:r>
            <a:r>
              <a:rPr lang="zh-CN" altLang="en-US" dirty="0"/>
              <a:t>（子程序）</a:t>
            </a:r>
          </a:p>
          <a:p>
            <a:pPr>
              <a:buFont typeface="Arial" pitchFamily="34" charset="0"/>
              <a:buChar char="•"/>
            </a:pPr>
            <a:r>
              <a:rPr lang="en-US" altLang="zh-CN" dirty="0"/>
              <a:t>routine</a:t>
            </a:r>
            <a:r>
              <a:rPr lang="zh-CN" altLang="en-US" dirty="0"/>
              <a:t>（例行程序）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45848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函数定义和主程序在同一个文件中。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992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函数定义和主程序在同一个文件中。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5571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函数定义和主程序在不同的文件中。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08374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=for 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in</a:t>
            </a:r>
            <a:r>
              <a:rPr lang="zh-CN" altLang="en-US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$@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258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=for </a:t>
            </a:r>
            <a:r>
              <a:rPr lang="en-US" altLang="zh-CN" sz="1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in</a:t>
            </a:r>
            <a:r>
              <a:rPr lang="zh-CN" altLang="en-US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$@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39777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aseline="0" dirty="0"/>
              <a:t> http://mail.linux.ie/pipermail/ilug/2008-March/097416.html</a:t>
            </a:r>
          </a:p>
          <a:p>
            <a:pPr>
              <a:buFont typeface="Wingdings" pitchFamily="2" charset="2"/>
              <a:buChar char="Ø"/>
            </a:pPr>
            <a:r>
              <a:rPr lang="en-US" altLang="zh-CN" baseline="0" dirty="0"/>
              <a:t> http://www.linuxjournal.com/content/return-values-bash-functions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477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命令是从左往右执行的，该函数功能是返回输入的最大值。 </a:t>
            </a:r>
            <a:r>
              <a:rPr lang="en-US" altLang="zh-CN" dirty="0"/>
              <a:t>Return </a:t>
            </a:r>
            <a:r>
              <a:rPr lang="zh-CN" altLang="en-US" dirty="0"/>
              <a:t>结束函数执行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263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命令是从左往右执行的，该函数功能是返回输入的最大值。 </a:t>
            </a:r>
            <a:r>
              <a:rPr lang="en-US" altLang="zh-CN" dirty="0"/>
              <a:t>Return </a:t>
            </a:r>
            <a:r>
              <a:rPr lang="zh-CN" altLang="en-US" dirty="0"/>
              <a:t>结束函数执行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22412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41314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&lt; </a:t>
            </a:r>
            <a:r>
              <a:rPr lang="zh-CN" altLang="en-US" dirty="0"/>
              <a:t>输入重定向 后边接上文件。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6627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&lt; </a:t>
            </a:r>
            <a:r>
              <a:rPr lang="zh-CN" altLang="en-US" dirty="0"/>
              <a:t>输入重定向 后边接上文件。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3103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67A7B-7D8A-4E03-B174-B3300045038D}" type="slidenum">
              <a:rPr lang="zh-CN" altLang="en-US" smtClean="0"/>
              <a:pPr/>
              <a:t>170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45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E5D9F43-DF7E-45C4-8526-53CE0FAE1D4A}"/>
              </a:ext>
            </a:extLst>
          </p:cNvPr>
          <p:cNvGrpSpPr>
            <a:grpSpLocks/>
          </p:cNvGrpSpPr>
          <p:nvPr/>
        </p:nvGrpSpPr>
        <p:grpSpPr bwMode="auto">
          <a:xfrm>
            <a:off x="0" y="2348880"/>
            <a:ext cx="9009063" cy="1052513"/>
            <a:chOff x="0" y="0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28D6124B-C8F5-43F5-B8AF-02DC45188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FC6FC0B-4300-43ED-BD88-44C8FACBE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F2FBD9CD-18C4-4DDE-BF26-61D9AD951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FA1DA9F-5495-4E26-B63E-B4B4E39F59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7C86019-5130-4E45-893E-F9EFE4FD3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86D58052-571E-4997-BBB1-AAF56D725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4CA959EB-FFBF-490C-836E-1272CF1BA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27FCA811-5F92-4F55-A8FF-4C5C82273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D231D0D-BC89-4928-B160-3666F4F3CE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pic>
        <p:nvPicPr>
          <p:cNvPr id="14" name="图片 23">
            <a:extLst>
              <a:ext uri="{FF2B5EF4-FFF2-40B4-BE49-F238E27FC236}">
                <a16:creationId xmlns:a16="http://schemas.microsoft.com/office/drawing/2014/main" id="{D5A3B365-2A81-401E-8C6C-CBB03DA602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14300"/>
            <a:ext cx="3235325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" descr="C:\Users\osmond\Desktop\centos5-fig\centos-logo.png">
            <a:extLst>
              <a:ext uri="{FF2B5EF4-FFF2-40B4-BE49-F238E27FC236}">
                <a16:creationId xmlns:a16="http://schemas.microsoft.com/office/drawing/2014/main" id="{CD076D5A-2FBA-4E69-AA3D-8AF6BEDDAE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88" y="754063"/>
            <a:ext cx="15843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3">
            <a:extLst>
              <a:ext uri="{FF2B5EF4-FFF2-40B4-BE49-F238E27FC236}">
                <a16:creationId xmlns:a16="http://schemas.microsoft.com/office/drawing/2014/main" id="{8D1B0D6A-BFD6-4234-AD9A-3614FE3D86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9" t="2643" b="89954"/>
          <a:stretch>
            <a:fillRect/>
          </a:stretch>
        </p:blipFill>
        <p:spPr bwMode="auto">
          <a:xfrm>
            <a:off x="6729413" y="415925"/>
            <a:ext cx="23907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E0A2116-C459-4DE2-9EAF-104A5515A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67513" y="341313"/>
            <a:ext cx="1949450" cy="369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大数据</a:t>
            </a:r>
            <a:r>
              <a:rPr lang="zh-CN" altLang="en-US" sz="900">
                <a:latin typeface="仿宋" panose="02010609060101010101" pitchFamily="49" charset="-122"/>
                <a:ea typeface="仿宋" panose="02010609060101010101" pitchFamily="49" charset="-122"/>
              </a:rPr>
              <a:t>学院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58D2EFDF-B9F1-4C80-BD8F-71E748DF65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59563" y="288925"/>
            <a:ext cx="1463675" cy="461963"/>
          </a:xfrm>
          <a:prstGeom prst="rect">
            <a:avLst/>
          </a:prstGeom>
          <a:noFill/>
          <a:ln>
            <a:noFill/>
          </a:ln>
        </p:spPr>
        <p:txBody>
          <a:bodyPr lIns="91433" tIns="45717" rIns="91433" bIns="45717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CEC609"/>
                </a:solidFill>
                <a:latin typeface="Broadway" panose="04040905080002020502" pitchFamily="82" charset="0"/>
              </a:rPr>
              <a:t>TYUT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279E14-A276-48BF-959D-D142FEC4BC30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672513" y="509588"/>
            <a:ext cx="46037" cy="53975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C0E3032-292D-4509-A7AE-CBA8C2E04C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9ACC8A9-F4FB-4D3E-9D3D-610D7285E4EB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4A0F8DC1-B1CE-4497-A7A7-F9EB6B9FC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EC997CE6-CB37-4F50-B1A9-763FFE4462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17B12D3-157F-4068-BE47-38BD3A8AF5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2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-选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 baseline="0">
                <a:latin typeface="Tahoma" panose="020B0604030504040204" pitchFamily="34" charset="0"/>
                <a:ea typeface="楷体_GB2312"/>
              </a:defRPr>
            </a:lvl1pPr>
            <a:lvl2pPr marL="742950" indent="-285750">
              <a:buFont typeface="Wingdings" panose="05000000000000000000" pitchFamily="2" charset="2"/>
              <a:buChar char="l"/>
              <a:defRPr b="1" i="0" baseline="0">
                <a:latin typeface="Tahoma" panose="020B0604030504040204" pitchFamily="34" charset="0"/>
                <a:ea typeface="楷体_GB2312"/>
              </a:defRPr>
            </a:lvl2pPr>
            <a:lvl3pPr marL="1143000" indent="-228600">
              <a:buFont typeface="Wingdings" panose="05000000000000000000" pitchFamily="2" charset="2"/>
              <a:buChar char="u"/>
              <a:defRPr b="1" baseline="0">
                <a:latin typeface="Tahoma" panose="020B0604030504040204" pitchFamily="34" charset="0"/>
                <a:ea typeface="楷体_GB231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8726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232E806-323A-48EA-B3E9-86DEA0713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839D4-A906-4B0F-BF62-40BC08955926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72050FD-51BC-41E0-977B-4A87F1A44A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C740F8-9C8E-48C7-9547-2CA4BE62FB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363AE-85D7-48F3-83E6-F38039B7DD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18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C427C5E-963F-4603-B1E3-DF589D8080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B265B-C293-4BE6-8F81-174D773A3AC0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08E827A-155D-4006-839B-B52CEC8217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15AEEF-C21C-4BFD-8535-2BF334AE7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0DE9E-9889-4936-BCB6-08152E4770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05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737658E-66E6-48D6-87D0-2ACC7A3F54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C01C4-A439-48ED-BA1F-1A7AB7FC585D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96B486E-54B6-4E81-AC36-BC25DC0020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91992F5D-A16B-485B-8A30-99D674073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D74F6-D682-47BE-A3C8-B2CA531BF0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05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D0C98E4-47A5-4437-B14C-BB896D4744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06F1B-8BF6-477D-AC87-B0907761C6F2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3CAC612-B701-4EC9-9932-F3D32E89D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2E05527-BF33-4928-9AE1-94906B548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51994-79C7-4610-A904-32FC7D243E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22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BF9C150-4D8B-43DB-919F-D881E72C0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B6BF2-1552-41C3-AB98-13F2BD6E7187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68D3D9D-612E-40B7-875D-E44D434B04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77C39F5-2E08-4B9C-B44C-C5180EF50B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10C8D-C138-4C10-A071-32060A3012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168C279-3C1E-4CE7-B243-FB9ED7973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95DE2-3068-465E-BFE0-87561C68A076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A3CCC57-5CD6-431C-AFDA-1913CD36C5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5BF406D-F480-4C89-AE22-1A0AA4568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E6F14-DBBC-4C7A-834C-B3F9521686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2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C1F0967-0544-46A5-BD97-BDE829110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81D9A-067E-4CE2-BB23-1E6937EE9584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B930C38-8A79-4D28-B8E0-CA0F08C624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C4FF2DF-FA04-4B16-8D43-EF4BAFB1FC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9C476-984E-473F-8388-E6864EFF0B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577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7E9C2AF-0E4C-4983-95ED-9904E0239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79F09-33F9-4C5C-9F8E-407D914ACE70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D0D25F7-7FF6-475E-BF01-A1168FF74A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F199A99-FC37-4747-ACC1-1B08E83BA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BB581-100E-4C34-B67E-7EEBA28697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301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83A2B5D-E716-4576-B26B-6ED1932544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1E038-7059-43C5-917A-04B2FF8C098E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8FB3226-2686-40D2-BE07-4C6B5C7E8A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615F989-5BE7-40F7-9868-E68E0998C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10F61-FAE0-4B69-BD09-48CC328586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58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A4365A7-4363-4929-A4E7-20BA396EFB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70F6-2B03-43E4-BE61-1C3CBB6001EE}" type="datetime2">
              <a:rPr lang="zh-CN" altLang="en-US" smtClean="0"/>
              <a:t>2024年5月15日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707A314-908D-4071-A745-2A247D433F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梁如军（</a:t>
            </a:r>
            <a:r>
              <a:rPr lang="en-US" altLang="zh-CN"/>
              <a:t>linuxbooks@126.com</a:t>
            </a:r>
            <a:r>
              <a:rPr lang="zh-CN" altLang="en-US"/>
              <a:t>） </a:t>
            </a:r>
            <a:r>
              <a:rPr lang="en-US" altLang="zh-CN"/>
              <a:t>Creative Commons License</a:t>
            </a:r>
            <a:r>
              <a:rPr lang="zh-CN" altLang="en-US"/>
              <a:t>（</a:t>
            </a:r>
            <a:r>
              <a:rPr lang="en-US" altLang="zh-CN"/>
              <a:t>BY-NC-SA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EBAD794-524B-4E4F-B2C0-ED7795B5B0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9604F-D62F-4770-B8BA-DB8702C7AC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8295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C69315D9-9305-422D-9A83-907BC1874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8738" y="6478588"/>
            <a:ext cx="100806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29318-31BF-4008-AC5D-2BFEC6974A78}" type="slidenum">
              <a:rPr lang="zh-CN" altLang="en-US"/>
              <a:pPr>
                <a:defRPr/>
              </a:pPr>
              <a:t>‹#›</a:t>
            </a:fld>
            <a:r>
              <a:rPr lang="zh-CN" altLang="en-US" dirty="0"/>
              <a:t> </a:t>
            </a:r>
            <a:r>
              <a:rPr lang="en-US" altLang="zh-CN" dirty="0"/>
              <a:t>/29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062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42F7A86-4457-4C44-AA23-A188BF74B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584622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584698-5801-44B2-B7AD-FCC18561F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584622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E0C6132-DC88-4BAF-A84D-7E2E7022A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006897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47C4E7-E9F1-4112-A381-FC9839854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006897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47C857-1190-4296-B7AB-6BFFF8130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933872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9CAE5DD-3506-44A8-A213-ED4D6F21B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76672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FEC8925-5AC3-44B6-AB60-3C07DF2B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267247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57BBD128-274C-4EB1-8A54-1FF695FAF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4113" y="191715"/>
            <a:ext cx="779303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0ECAAF0A-6223-44A8-8A03-959C24719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3613" y="173630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2138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3.wdp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16.png"/><Relationship Id="rId4" Type="http://schemas.microsoft.com/office/2007/relationships/hdphoto" Target="../media/hdphoto8.wdp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68776B-74CF-4543-AE65-AB6ED29B56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9632" y="1651754"/>
            <a:ext cx="7215187" cy="1462088"/>
          </a:xfrm>
        </p:spPr>
        <p:txBody>
          <a:bodyPr/>
          <a:lstStyle/>
          <a:p>
            <a:pPr algn="ctr" eaLnBrk="1" hangingPunct="1"/>
            <a:r>
              <a:rPr lang="en-US" altLang="zh-CN" sz="4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操作系统</a:t>
            </a:r>
            <a:endParaRPr lang="zh-CN" altLang="en-US" sz="4800" b="1" dirty="0">
              <a:solidFill>
                <a:srgbClr val="0070C0"/>
              </a:solidFill>
            </a:endParaRPr>
          </a:p>
        </p:txBody>
      </p:sp>
      <p:sp>
        <p:nvSpPr>
          <p:cNvPr id="6148" name="Text Box 9">
            <a:extLst>
              <a:ext uri="{FF2B5EF4-FFF2-40B4-BE49-F238E27FC236}">
                <a16:creationId xmlns:a16="http://schemas.microsoft.com/office/drawing/2014/main" id="{B2132117-E551-481D-83B1-81AEDF3EB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622160"/>
            <a:ext cx="4320480" cy="1154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3" tIns="45717" rIns="91433" bIns="45717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十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章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Bash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脚本编程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149" name="Picture 27">
            <a:extLst>
              <a:ext uri="{FF2B5EF4-FFF2-40B4-BE49-F238E27FC236}">
                <a16:creationId xmlns:a16="http://schemas.microsoft.com/office/drawing/2014/main" id="{FB74E9E8-0D01-4AA2-8A4D-FC70EFC6D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86" r="43958"/>
          <a:stretch>
            <a:fillRect/>
          </a:stretch>
        </p:blipFill>
        <p:spPr bwMode="auto">
          <a:xfrm>
            <a:off x="-828600" y="3252888"/>
            <a:ext cx="540060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 Box 9">
            <a:extLst>
              <a:ext uri="{FF2B5EF4-FFF2-40B4-BE49-F238E27FC236}">
                <a16:creationId xmlns:a16="http://schemas.microsoft.com/office/drawing/2014/main" id="{366A8360-0009-48B3-8425-941E65EFD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796" y="4310080"/>
            <a:ext cx="1823759" cy="70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3" tIns="45717" rIns="91433" bIns="45717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adway" pitchFamily="82" charset="0"/>
                <a:ea typeface="方正粗倩简体" pitchFamily="65" charset="-122"/>
                <a:cs typeface="+mn-cs"/>
              </a:rPr>
              <a:t>NO.1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微软雅黑" pitchFamily="34" charset="-122"/>
                <a:cs typeface="Times New Roman" panose="02020603050405020304" pitchFamily="18" charset="0"/>
              </a:rPr>
              <a:t>操作基础</a:t>
            </a:r>
          </a:p>
        </p:txBody>
      </p:sp>
      <p:sp>
        <p:nvSpPr>
          <p:cNvPr id="6151" name="Text Box 10">
            <a:extLst>
              <a:ext uri="{FF2B5EF4-FFF2-40B4-BE49-F238E27FC236}">
                <a16:creationId xmlns:a16="http://schemas.microsoft.com/office/drawing/2014/main" id="{FB12D547-C9F9-4BD3-A1D1-DD7AB5B72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9833" y="4609555"/>
            <a:ext cx="1821795" cy="78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3" tIns="45717" rIns="91433" bIns="45717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Broadway" panose="04040905080B02020502" pitchFamily="82" charset="0"/>
                <a:ea typeface="方正粗倩简体"/>
                <a:cs typeface="方正粗倩简体"/>
              </a:rPr>
              <a:t>NO.2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Broadway" panose="04040905080B02020502" pitchFamily="82" charset="0"/>
                <a:ea typeface="方正粗倩简体"/>
                <a:cs typeface="方正粗倩简体"/>
              </a:rPr>
              <a:t>系统与安全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52" name="Text Box 11">
            <a:extLst>
              <a:ext uri="{FF2B5EF4-FFF2-40B4-BE49-F238E27FC236}">
                <a16:creationId xmlns:a16="http://schemas.microsoft.com/office/drawing/2014/main" id="{C2F49B22-B429-49BC-8B4D-DD7FBD838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5948348"/>
            <a:ext cx="1823757" cy="70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3" tIns="45717" rIns="91433" bIns="45717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Broadway" panose="04040905080B02020502" pitchFamily="82" charset="0"/>
                <a:ea typeface="方正粗倩简体"/>
                <a:cs typeface="方正粗倩简体"/>
              </a:rPr>
              <a:t>NO.3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Broadway" panose="04040905080B02020502" pitchFamily="82" charset="0"/>
                <a:ea typeface="方正粗倩简体"/>
                <a:cs typeface="方正粗倩简体"/>
              </a:rPr>
              <a:t>网络服务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8986AA3-AB86-40A6-B519-FC370F85C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36" y="5295916"/>
            <a:ext cx="3429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主讲人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1F386AA7-D660-41A0-88D0-8B1466781745}" type="datetime2"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2024年5月15日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55CEAF2-D2ED-4171-9B2B-0AA24B62F903}"/>
              </a:ext>
            </a:extLst>
          </p:cNvPr>
          <p:cNvSpPr txBox="1">
            <a:spLocks noChangeArrowheads="1"/>
          </p:cNvSpPr>
          <p:nvPr/>
        </p:nvSpPr>
        <p:spPr>
          <a:xfrm>
            <a:off x="833406" y="1549878"/>
            <a:ext cx="7999934" cy="5121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Broadway" panose="04040905080B02020502" pitchFamily="8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Shell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脚本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编程基础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脚本简介，变量操作，特殊变量和简单脚本，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Shell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脚本跟踪与调试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分支结构和循环结构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条件测试，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if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case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while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until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for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select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函数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函数的概念，函数及其用途，函数的定义和调用，函数的使用举例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本章内容要点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4F68058-A272-4A0C-AC8E-6E614A1DCF7B}"/>
              </a:ext>
            </a:extLst>
          </p:cNvPr>
          <p:cNvSpPr/>
          <p:nvPr/>
        </p:nvSpPr>
        <p:spPr>
          <a:xfrm>
            <a:off x="723663" y="1582792"/>
            <a:ext cx="7808777" cy="150777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9014"/>
            <a:ext cx="1574994" cy="150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2060848"/>
            <a:ext cx="8108856" cy="468052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命令</a:t>
            </a:r>
            <a:r>
              <a:rPr lang="zh-CN" altLang="en-US" dirty="0"/>
              <a:t>不在命令行中执行，而是</a:t>
            </a:r>
            <a:r>
              <a:rPr lang="zh-CN" altLang="en-US" dirty="0">
                <a:solidFill>
                  <a:srgbClr val="FF0000"/>
                </a:solidFill>
              </a:rPr>
              <a:t>从一个文件中执行</a:t>
            </a:r>
            <a:r>
              <a:rPr lang="zh-CN" altLang="en-US" dirty="0"/>
              <a:t>时，该文件就称为 </a:t>
            </a:r>
            <a:r>
              <a:rPr lang="en-US" altLang="zh-CN" dirty="0">
                <a:solidFill>
                  <a:srgbClr val="FF0000"/>
                </a:solidFill>
              </a:rPr>
              <a:t>Shell </a:t>
            </a:r>
            <a:r>
              <a:rPr lang="zh-CN" altLang="en-US" dirty="0">
                <a:solidFill>
                  <a:srgbClr val="FF0000"/>
                </a:solidFill>
              </a:rPr>
              <a:t>脚本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Shell </a:t>
            </a:r>
            <a:r>
              <a:rPr lang="zh-CN" altLang="en-US" dirty="0"/>
              <a:t>脚本是</a:t>
            </a:r>
            <a:r>
              <a:rPr lang="zh-CN" altLang="en-US" dirty="0">
                <a:solidFill>
                  <a:srgbClr val="C00000"/>
                </a:solidFill>
              </a:rPr>
              <a:t>纯文本文件</a:t>
            </a:r>
          </a:p>
          <a:p>
            <a:pPr lvl="1"/>
            <a:r>
              <a:rPr lang="en-US" altLang="zh-CN" dirty="0"/>
              <a:t>Shell </a:t>
            </a:r>
            <a:r>
              <a:rPr lang="zh-CN" altLang="en-US" dirty="0"/>
              <a:t>脚本通常</a:t>
            </a:r>
            <a:r>
              <a:rPr lang="zh-CN" altLang="en-US" dirty="0">
                <a:solidFill>
                  <a:srgbClr val="C00000"/>
                </a:solidFill>
              </a:rPr>
              <a:t>以 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sh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作为后缀名</a:t>
            </a:r>
            <a:r>
              <a:rPr lang="zh-CN" altLang="en-US" dirty="0"/>
              <a:t>，非必须</a:t>
            </a:r>
            <a:endParaRPr lang="en-US" altLang="zh-CN" dirty="0"/>
          </a:p>
          <a:p>
            <a:pPr lvl="1"/>
            <a:r>
              <a:rPr lang="en-US" altLang="zh-CN" dirty="0"/>
              <a:t>Shell </a:t>
            </a:r>
            <a:r>
              <a:rPr lang="zh-CN" altLang="en-US" dirty="0"/>
              <a:t>脚本是</a:t>
            </a:r>
            <a:r>
              <a:rPr lang="zh-CN" altLang="en-US" dirty="0">
                <a:solidFill>
                  <a:srgbClr val="C00000"/>
                </a:solidFill>
              </a:rPr>
              <a:t>以行为单位</a:t>
            </a:r>
            <a:r>
              <a:rPr lang="zh-CN" altLang="en-US" dirty="0"/>
              <a:t>的，在执行脚本的时候会分解成一行一行依次执行。</a:t>
            </a:r>
            <a:endParaRPr lang="en-US" altLang="zh-CN" dirty="0"/>
          </a:p>
          <a:p>
            <a:r>
              <a:rPr lang="en-US" altLang="zh-CN" dirty="0"/>
              <a:t>Shell </a:t>
            </a:r>
            <a:r>
              <a:rPr lang="zh-CN" altLang="en-US" dirty="0"/>
              <a:t>是一种功能强大的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解释型</a:t>
            </a:r>
            <a:r>
              <a:rPr lang="zh-CN" altLang="en-US" dirty="0">
                <a:solidFill>
                  <a:srgbClr val="FF0000"/>
                </a:solidFill>
              </a:rPr>
              <a:t>编程语言</a:t>
            </a:r>
          </a:p>
          <a:p>
            <a:pPr lvl="1"/>
            <a:r>
              <a:rPr lang="zh-CN" altLang="en-US" dirty="0"/>
              <a:t>常用于完成特定的、较复杂的</a:t>
            </a:r>
            <a:r>
              <a:rPr lang="zh-CN" altLang="en-US" dirty="0">
                <a:solidFill>
                  <a:srgbClr val="C00000"/>
                </a:solidFill>
              </a:rPr>
              <a:t>系统管理任务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Shell </a:t>
            </a:r>
            <a:r>
              <a:rPr lang="zh-CN" altLang="en-US" dirty="0"/>
              <a:t>脚本语言非常擅长处理</a:t>
            </a:r>
            <a:r>
              <a:rPr lang="zh-CN" altLang="en-US" dirty="0">
                <a:solidFill>
                  <a:srgbClr val="C00000"/>
                </a:solidFill>
              </a:rPr>
              <a:t>文本类型的数据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5A899A-5A9F-4755-BBFC-907650A90F99}"/>
              </a:ext>
            </a:extLst>
          </p:cNvPr>
          <p:cNvSpPr txBox="1"/>
          <p:nvPr/>
        </p:nvSpPr>
        <p:spPr>
          <a:xfrm>
            <a:off x="755576" y="1356486"/>
            <a:ext cx="5832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en-US" altLang="zh-CN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Shell</a:t>
            </a: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脚本和</a:t>
            </a:r>
            <a:r>
              <a:rPr lang="en-US" altLang="zh-CN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Shell</a:t>
            </a: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编程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4189" y="1952114"/>
            <a:ext cx="8072884" cy="4789254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程序元素</a:t>
            </a:r>
            <a:endParaRPr lang="en-US" altLang="zh-CN" sz="3200" dirty="0">
              <a:solidFill>
                <a:srgbClr val="FF0000"/>
              </a:solidFill>
              <a:latin typeface="宋体" charset="-122"/>
            </a:endParaRPr>
          </a:p>
          <a:p>
            <a:pPr lvl="1"/>
            <a:r>
              <a:rPr lang="zh-CN" altLang="en-US" sz="2800" dirty="0">
                <a:latin typeface="宋体" charset="-122"/>
              </a:rPr>
              <a:t>保留字、运算符、表达式</a:t>
            </a:r>
          </a:p>
          <a:p>
            <a:pPr lvl="1"/>
            <a:r>
              <a:rPr lang="zh-CN" altLang="en-US" sz="2800" dirty="0">
                <a:latin typeface="宋体" charset="-122"/>
              </a:rPr>
              <a:t>变量、数组、输入输出</a:t>
            </a:r>
          </a:p>
          <a:p>
            <a:pPr lvl="1"/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控制结构</a:t>
            </a:r>
            <a:r>
              <a:rPr lang="zh-CN" altLang="en-US" sz="2800" dirty="0">
                <a:latin typeface="宋体" charset="-122"/>
              </a:rPr>
              <a:t>（顺序、分支、循环、子程序调用）</a:t>
            </a:r>
            <a:endParaRPr lang="en-US" altLang="zh-CN" sz="2800" dirty="0">
              <a:latin typeface="宋体" charset="-122"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Shell</a:t>
            </a:r>
            <a:r>
              <a:rPr lang="zh-CN" altLang="en-US" dirty="0">
                <a:solidFill>
                  <a:srgbClr val="FF0000"/>
                </a:solidFill>
              </a:rPr>
              <a:t>功能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zh-CN" altLang="en-US" sz="2800" dirty="0"/>
              <a:t>执行</a:t>
            </a:r>
            <a:r>
              <a:rPr lang="zh-CN" altLang="en-US" sz="2800" dirty="0">
                <a:solidFill>
                  <a:srgbClr val="FF0000"/>
                </a:solidFill>
              </a:rPr>
              <a:t>命令</a:t>
            </a:r>
            <a:r>
              <a:rPr lang="zh-CN" altLang="en-US" sz="2800" dirty="0"/>
              <a:t>（内置命令、外部命令、自编程序）</a:t>
            </a:r>
            <a:endParaRPr lang="en-US" altLang="zh-CN" sz="2800" dirty="0"/>
          </a:p>
          <a:p>
            <a:pPr lvl="1"/>
            <a:r>
              <a:rPr lang="zh-CN" altLang="en-US" sz="2800" b="1" dirty="0"/>
              <a:t>重定向、管道、命令替换、命令组合</a:t>
            </a:r>
            <a:endParaRPr lang="en-US" altLang="zh-CN" sz="2800" b="1" dirty="0"/>
          </a:p>
          <a:p>
            <a:pPr lvl="1"/>
            <a:r>
              <a:rPr lang="zh-CN" altLang="en-US" sz="2800" dirty="0"/>
              <a:t>通配符、</a:t>
            </a:r>
            <a:r>
              <a:rPr lang="zh-CN" altLang="en-US" sz="2800" dirty="0">
                <a:solidFill>
                  <a:srgbClr val="FF0000"/>
                </a:solidFill>
              </a:rPr>
              <a:t>注释符</a:t>
            </a:r>
            <a:r>
              <a:rPr lang="en-US" altLang="zh-CN" sz="2800" dirty="0">
                <a:solidFill>
                  <a:srgbClr val="FF0000"/>
                </a:solidFill>
              </a:rPr>
              <a:t>#</a:t>
            </a:r>
            <a:r>
              <a:rPr lang="zh-CN" altLang="en-US" sz="2800" dirty="0"/>
              <a:t>、</a:t>
            </a:r>
            <a:r>
              <a:rPr lang="en-US" altLang="zh-CN" sz="2800" dirty="0"/>
              <a:t>……</a:t>
            </a:r>
          </a:p>
          <a:p>
            <a:pPr lvl="1"/>
            <a:r>
              <a:rPr lang="en-US" altLang="zh-CN" dirty="0"/>
              <a:t>Shell</a:t>
            </a:r>
            <a:r>
              <a:rPr lang="zh-CN" altLang="en-US" dirty="0"/>
              <a:t>环境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132213-65B0-4B4A-AB78-CD03F3A403E6}"/>
              </a:ext>
            </a:extLst>
          </p:cNvPr>
          <p:cNvSpPr txBox="1"/>
          <p:nvPr/>
        </p:nvSpPr>
        <p:spPr>
          <a:xfrm>
            <a:off x="755576" y="1244228"/>
            <a:ext cx="5832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en-US" altLang="zh-CN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Shell</a:t>
            </a: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脚本成分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371600"/>
            <a:ext cx="8424936" cy="5297760"/>
          </a:xfrm>
        </p:spPr>
        <p:txBody>
          <a:bodyPr/>
          <a:lstStyle/>
          <a:p>
            <a:r>
              <a:rPr lang="en-US" altLang="zh-CN" sz="2800" dirty="0"/>
              <a:t>Shell </a:t>
            </a:r>
            <a:r>
              <a:rPr lang="zh-CN" altLang="en-US" sz="2800" dirty="0"/>
              <a:t>脚本的</a:t>
            </a:r>
            <a:r>
              <a:rPr lang="zh-CN" altLang="en-US" sz="2800" dirty="0">
                <a:solidFill>
                  <a:srgbClr val="FF0000"/>
                </a:solidFill>
              </a:rPr>
              <a:t>建立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使用</a:t>
            </a:r>
            <a:r>
              <a:rPr lang="zh-CN" altLang="en-US" sz="2200" dirty="0">
                <a:solidFill>
                  <a:srgbClr val="FF0000"/>
                </a:solidFill>
              </a:rPr>
              <a:t>文本编辑器编辑</a:t>
            </a:r>
            <a:r>
              <a:rPr lang="zh-CN" altLang="en-US" sz="2200" dirty="0"/>
              <a:t>脚本文件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vi script-file</a:t>
            </a:r>
          </a:p>
          <a:p>
            <a:pPr lvl="1"/>
            <a:r>
              <a:rPr lang="zh-CN" altLang="en-US" sz="2200" dirty="0"/>
              <a:t>为脚本文件</a:t>
            </a:r>
            <a:r>
              <a:rPr lang="zh-CN" altLang="en-US" sz="2200" dirty="0">
                <a:solidFill>
                  <a:srgbClr val="FF0000"/>
                </a:solidFill>
              </a:rPr>
              <a:t>添加可执行权限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chmod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+x script-file</a:t>
            </a:r>
          </a:p>
          <a:p>
            <a:r>
              <a:rPr lang="en-US" altLang="zh-CN" sz="2800" dirty="0"/>
              <a:t>Shell </a:t>
            </a:r>
            <a:r>
              <a:rPr lang="zh-CN" altLang="en-US" sz="2800" dirty="0"/>
              <a:t>脚本的</a:t>
            </a:r>
            <a:r>
              <a:rPr lang="zh-CN" altLang="en-US" sz="2800" dirty="0">
                <a:solidFill>
                  <a:srgbClr val="FF0000"/>
                </a:solidFill>
              </a:rPr>
              <a:t>执行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在</a:t>
            </a:r>
            <a:r>
              <a:rPr lang="zh-CN" altLang="en-US" sz="2200" dirty="0">
                <a:solidFill>
                  <a:srgbClr val="FF0000"/>
                </a:solidFill>
              </a:rPr>
              <a:t>子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/>
              <a:t>中执行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bash/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sh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script-file</a:t>
            </a: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script-file</a:t>
            </a:r>
          </a:p>
          <a:p>
            <a:pPr lvl="1"/>
            <a:r>
              <a:rPr lang="zh-CN" altLang="en-US" sz="2200" dirty="0"/>
              <a:t>在</a:t>
            </a:r>
            <a:r>
              <a:rPr lang="zh-CN" altLang="en-US" sz="2200" dirty="0">
                <a:solidFill>
                  <a:srgbClr val="FF0000"/>
                </a:solidFill>
              </a:rPr>
              <a:t>当前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/>
              <a:t>中执行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n-US" altLang="zh-CN" b="1" dirty="0">
                <a:solidFill>
                  <a:srgbClr val="FF0000"/>
                </a:solidFill>
              </a:rPr>
              <a:t>source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script-file</a:t>
            </a: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</a:t>
            </a:r>
            <a:r>
              <a:rPr lang="en-US" altLang="zh-CN" b="1" dirty="0">
                <a:solidFill>
                  <a:srgbClr val="FF0000"/>
                </a:solidFill>
              </a:rPr>
              <a:t> . 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script-file</a:t>
            </a:r>
          </a:p>
          <a:p>
            <a:pPr lvl="1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11960" y="3645024"/>
            <a:ext cx="482453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PATH </a:t>
            </a:r>
            <a:r>
              <a:rPr lang="zh-CN" altLang="en-US" dirty="0"/>
              <a:t>环境变量的默认值不包含当前目录，</a:t>
            </a:r>
            <a:endParaRPr lang="en-US" altLang="zh-CN" dirty="0"/>
          </a:p>
          <a:p>
            <a:r>
              <a:rPr lang="zh-CN" altLang="en-US" dirty="0"/>
              <a:t>若脚本文件在当前目录，应使用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./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script-file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（相对路径） 或绝对路径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11960" y="4901434"/>
            <a:ext cx="482453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PATH </a:t>
            </a:r>
            <a:r>
              <a:rPr lang="zh-CN" altLang="en-US" dirty="0"/>
              <a:t>环境变量的默认值包含 </a:t>
            </a:r>
            <a:r>
              <a:rPr lang="en-US" altLang="zh-CN" dirty="0"/>
              <a:t>~/bin </a:t>
            </a:r>
            <a:r>
              <a:rPr lang="zh-CN" altLang="en-US" dirty="0"/>
              <a:t>目录，</a:t>
            </a:r>
            <a:endParaRPr lang="en-US" altLang="zh-CN" dirty="0"/>
          </a:p>
          <a:p>
            <a:r>
              <a:rPr lang="zh-CN" altLang="en-US" dirty="0"/>
              <a:t>用户可以将自己的脚本文件存放在 </a:t>
            </a:r>
            <a:r>
              <a:rPr lang="en-US" altLang="zh-CN" dirty="0"/>
              <a:t>~/bin </a:t>
            </a:r>
            <a:r>
              <a:rPr lang="zh-CN" altLang="en-US" dirty="0"/>
              <a:t>目录，</a:t>
            </a:r>
            <a:endParaRPr lang="en-US" altLang="zh-CN" dirty="0"/>
          </a:p>
          <a:p>
            <a:r>
              <a:rPr lang="zh-CN" altLang="en-US" dirty="0"/>
              <a:t>之后即可直接调用脚本文件名执行脚本了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371600"/>
            <a:ext cx="8424936" cy="5297760"/>
          </a:xfrm>
        </p:spPr>
        <p:txBody>
          <a:bodyPr/>
          <a:lstStyle/>
          <a:p>
            <a:r>
              <a:rPr lang="en-US" altLang="zh-CN" sz="2800" dirty="0"/>
              <a:t>Shell </a:t>
            </a:r>
            <a:r>
              <a:rPr lang="zh-CN" altLang="en-US" sz="2800" dirty="0"/>
              <a:t>脚本的</a:t>
            </a:r>
            <a:r>
              <a:rPr lang="zh-CN" altLang="en-US" sz="2800" dirty="0">
                <a:solidFill>
                  <a:srgbClr val="FF0000"/>
                </a:solidFill>
              </a:rPr>
              <a:t>建立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使用</a:t>
            </a:r>
            <a:r>
              <a:rPr lang="zh-CN" altLang="en-US" sz="2200" dirty="0">
                <a:solidFill>
                  <a:srgbClr val="FF0000"/>
                </a:solidFill>
              </a:rPr>
              <a:t>文本编辑器编辑</a:t>
            </a:r>
            <a:r>
              <a:rPr lang="zh-CN" altLang="en-US" sz="2200" dirty="0"/>
              <a:t>脚本文件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vi script-file</a:t>
            </a:r>
          </a:p>
          <a:p>
            <a:pPr lvl="1"/>
            <a:r>
              <a:rPr lang="zh-CN" altLang="en-US" sz="2200" dirty="0"/>
              <a:t>为脚本文件</a:t>
            </a:r>
            <a:r>
              <a:rPr lang="zh-CN" altLang="en-US" sz="2200" dirty="0">
                <a:solidFill>
                  <a:srgbClr val="FF0000"/>
                </a:solidFill>
              </a:rPr>
              <a:t>添加可执行权限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chmod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+x script-file</a:t>
            </a:r>
          </a:p>
          <a:p>
            <a:pPr lvl="1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43608" y="3622372"/>
            <a:ext cx="7272808" cy="304698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cat &gt; myset</a:t>
            </a:r>
          </a:p>
          <a:p>
            <a:r>
              <a:rPr lang="zh-CN" altLang="en-US" sz="2400" dirty="0"/>
              <a:t>mydir = `pwd`</a:t>
            </a:r>
          </a:p>
          <a:p>
            <a:r>
              <a:rPr lang="zh-CN" altLang="en-US" sz="2400" dirty="0"/>
              <a:t>export mydir</a:t>
            </a:r>
          </a:p>
          <a:p>
            <a:r>
              <a:rPr lang="zh-CN" altLang="en-US" sz="2400" dirty="0"/>
              <a:t>^C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cat myset</a:t>
            </a:r>
          </a:p>
          <a:p>
            <a:r>
              <a:rPr lang="zh-CN" altLang="en-US" sz="2400" dirty="0"/>
              <a:t>mydir = `pwd`</a:t>
            </a:r>
          </a:p>
          <a:p>
            <a:r>
              <a:rPr lang="zh-CN" altLang="en-US" sz="2400" dirty="0"/>
              <a:t>export </a:t>
            </a:r>
            <a:r>
              <a:rPr lang="zh-CN" altLang="en-US" sz="2400" dirty="0" smtClean="0"/>
              <a:t>mydir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</a:t>
            </a:r>
            <a:r>
              <a:rPr lang="en-US" altLang="zh-CN" sz="2400" dirty="0" err="1">
                <a:solidFill>
                  <a:srgbClr val="0000FF"/>
                </a:solidFill>
              </a:rPr>
              <a:t>chmod</a:t>
            </a:r>
            <a:r>
              <a:rPr lang="en-US" altLang="zh-CN" sz="2400" dirty="0">
                <a:solidFill>
                  <a:srgbClr val="0000FF"/>
                </a:solidFill>
              </a:rPr>
              <a:t> +x </a:t>
            </a:r>
            <a:r>
              <a:rPr lang="en-US" altLang="zh-CN" sz="2400" dirty="0" err="1" smtClean="0">
                <a:solidFill>
                  <a:srgbClr val="0000FF"/>
                </a:solidFill>
              </a:rPr>
              <a:t>myset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0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340768"/>
            <a:ext cx="8424936" cy="5297760"/>
          </a:xfrm>
        </p:spPr>
        <p:txBody>
          <a:bodyPr/>
          <a:lstStyle/>
          <a:p>
            <a:r>
              <a:rPr lang="en-US" altLang="zh-CN" sz="2800" dirty="0" smtClean="0"/>
              <a:t>Shell </a:t>
            </a:r>
            <a:r>
              <a:rPr lang="zh-CN" altLang="en-US" sz="2800" dirty="0"/>
              <a:t>脚本的</a:t>
            </a:r>
            <a:r>
              <a:rPr lang="zh-CN" altLang="en-US" sz="2800" dirty="0">
                <a:solidFill>
                  <a:srgbClr val="FF0000"/>
                </a:solidFill>
              </a:rPr>
              <a:t>执行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在</a:t>
            </a:r>
            <a:r>
              <a:rPr lang="zh-CN" altLang="en-US" sz="2200" dirty="0">
                <a:solidFill>
                  <a:srgbClr val="FF0000"/>
                </a:solidFill>
              </a:rPr>
              <a:t>子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/>
              <a:t>中执行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bash/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sh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script-file</a:t>
            </a: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script-file</a:t>
            </a:r>
          </a:p>
          <a:p>
            <a:pPr lvl="1"/>
            <a:r>
              <a:rPr lang="zh-CN" altLang="en-US" sz="2200" dirty="0"/>
              <a:t>在</a:t>
            </a:r>
            <a:r>
              <a:rPr lang="zh-CN" altLang="en-US" sz="2200" dirty="0">
                <a:solidFill>
                  <a:srgbClr val="FF0000"/>
                </a:solidFill>
              </a:rPr>
              <a:t>当前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/>
              <a:t>中执行</a:t>
            </a:r>
            <a:endParaRPr lang="en-US" altLang="zh-CN" sz="2200" dirty="0"/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n-US" altLang="zh-CN" b="1" dirty="0">
                <a:solidFill>
                  <a:srgbClr val="FF0000"/>
                </a:solidFill>
              </a:rPr>
              <a:t>source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script-file</a:t>
            </a:r>
          </a:p>
          <a:p>
            <a:pPr lvl="2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</a:t>
            </a:r>
            <a:r>
              <a:rPr lang="en-US" altLang="zh-CN" b="1" dirty="0">
                <a:solidFill>
                  <a:srgbClr val="FF0000"/>
                </a:solidFill>
              </a:rPr>
              <a:t> . 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script-file</a:t>
            </a:r>
          </a:p>
          <a:p>
            <a:pPr lvl="1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4741808"/>
            <a:ext cx="8064896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PATH </a:t>
            </a:r>
            <a:r>
              <a:rPr lang="zh-CN" altLang="en-US" sz="2000" dirty="0"/>
              <a:t>环境变量的默认值不包含当前目录，</a:t>
            </a:r>
            <a:endParaRPr lang="en-US" altLang="zh-CN" sz="2000" dirty="0"/>
          </a:p>
          <a:p>
            <a:pPr algn="just"/>
            <a:r>
              <a:rPr lang="zh-CN" altLang="en-US" sz="2000" dirty="0"/>
              <a:t>若脚本文件在当前目录，应</a:t>
            </a:r>
            <a:r>
              <a:rPr lang="zh-CN" altLang="en-US" sz="2000" dirty="0">
                <a:solidFill>
                  <a:srgbClr val="FF0000"/>
                </a:solidFill>
              </a:rPr>
              <a:t>使用 </a:t>
            </a:r>
            <a:r>
              <a:rPr lang="en-US" altLang="zh-CN" sz="2000" b="1" dirty="0">
                <a:solidFill>
                  <a:srgbClr val="FF0000"/>
                </a:solidFill>
              </a:rPr>
              <a:t>./</a:t>
            </a:r>
            <a:r>
              <a:rPr lang="en-US" altLang="zh-CN" sz="2000" dirty="0">
                <a:solidFill>
                  <a:srgbClr val="FF0000"/>
                </a:solidFill>
              </a:rPr>
              <a:t>script-file</a:t>
            </a:r>
            <a:r>
              <a:rPr lang="zh-CN" altLang="en-US" sz="2000" dirty="0">
                <a:solidFill>
                  <a:srgbClr val="FF0000"/>
                </a:solidFill>
              </a:rPr>
              <a:t>（相对路径） 或绝对路径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560" y="5546234"/>
            <a:ext cx="8064896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PATH </a:t>
            </a:r>
            <a:r>
              <a:rPr lang="zh-CN" altLang="en-US" sz="2000" dirty="0"/>
              <a:t>环境变量的默认值包含 </a:t>
            </a:r>
            <a:r>
              <a:rPr lang="en-US" altLang="zh-CN" sz="2000" dirty="0"/>
              <a:t>~/bin </a:t>
            </a:r>
            <a:r>
              <a:rPr lang="zh-CN" altLang="en-US" sz="2000" dirty="0"/>
              <a:t>目录</a:t>
            </a:r>
            <a:r>
              <a:rPr lang="zh-CN" altLang="en-US" sz="2000" dirty="0" smtClean="0"/>
              <a:t>，用户</a:t>
            </a:r>
            <a:r>
              <a:rPr lang="zh-CN" altLang="en-US" sz="2000" dirty="0"/>
              <a:t>可以将自己的脚本文件存放在 </a:t>
            </a:r>
            <a:r>
              <a:rPr lang="en-US" altLang="zh-CN" sz="2000" dirty="0"/>
              <a:t>~/bin </a:t>
            </a:r>
            <a:r>
              <a:rPr lang="zh-CN" altLang="en-US" sz="2000" dirty="0"/>
              <a:t>目录</a:t>
            </a:r>
            <a:r>
              <a:rPr lang="zh-CN" altLang="en-US" sz="2000" dirty="0" smtClean="0"/>
              <a:t>，之后</a:t>
            </a:r>
            <a:r>
              <a:rPr lang="zh-CN" altLang="en-US" sz="2000" dirty="0"/>
              <a:t>即可直接调用脚本文件名执行脚本了</a:t>
            </a:r>
          </a:p>
        </p:txBody>
      </p:sp>
      <p:sp>
        <p:nvSpPr>
          <p:cNvPr id="4" name="矩形 3"/>
          <p:cNvSpPr/>
          <p:nvPr/>
        </p:nvSpPr>
        <p:spPr>
          <a:xfrm>
            <a:off x="4552538" y="1777864"/>
            <a:ext cx="4464496" cy="267765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altLang="zh-CN" sz="2400" dirty="0">
                <a:solidFill>
                  <a:srgbClr val="0000FF"/>
                </a:solidFill>
              </a:rPr>
              <a:t>[xl@localhost ~]$ ./</a:t>
            </a:r>
            <a:r>
              <a:rPr lang="es-ES" altLang="zh-CN" sz="2400" dirty="0" smtClean="0">
                <a:solidFill>
                  <a:srgbClr val="0000FF"/>
                </a:solidFill>
              </a:rPr>
              <a:t>myset</a:t>
            </a:r>
          </a:p>
          <a:p>
            <a:r>
              <a:rPr lang="es-ES" altLang="zh-CN" sz="2400" dirty="0">
                <a:solidFill>
                  <a:srgbClr val="0000FF"/>
                </a:solidFill>
              </a:rPr>
              <a:t>[xl@localhost ~]$ bash </a:t>
            </a:r>
            <a:r>
              <a:rPr lang="es-ES" altLang="zh-CN" sz="2400" dirty="0" smtClean="0">
                <a:solidFill>
                  <a:srgbClr val="0000FF"/>
                </a:solidFill>
              </a:rPr>
              <a:t>myset</a:t>
            </a:r>
          </a:p>
          <a:p>
            <a:r>
              <a:rPr lang="es-ES" altLang="zh-CN" sz="2400" dirty="0">
                <a:solidFill>
                  <a:srgbClr val="0000FF"/>
                </a:solidFill>
              </a:rPr>
              <a:t>[xl@localhost ~]$ </a:t>
            </a:r>
            <a:r>
              <a:rPr lang="en-US" altLang="zh-CN" sz="2400" dirty="0" err="1" smtClean="0">
                <a:solidFill>
                  <a:srgbClr val="0000FF"/>
                </a:solidFill>
              </a:rPr>
              <a:t>sh</a:t>
            </a:r>
            <a:r>
              <a:rPr lang="es-ES" altLang="zh-CN" sz="2400" dirty="0" smtClean="0">
                <a:solidFill>
                  <a:srgbClr val="0000FF"/>
                </a:solidFill>
              </a:rPr>
              <a:t> </a:t>
            </a:r>
            <a:r>
              <a:rPr lang="es-ES" altLang="zh-CN" sz="2400" dirty="0">
                <a:solidFill>
                  <a:srgbClr val="0000FF"/>
                </a:solidFill>
              </a:rPr>
              <a:t>myset</a:t>
            </a:r>
          </a:p>
          <a:p>
            <a:r>
              <a:rPr lang="es-ES" altLang="zh-CN" sz="2400" dirty="0" smtClean="0">
                <a:solidFill>
                  <a:srgbClr val="0000FF"/>
                </a:solidFill>
              </a:rPr>
              <a:t>[</a:t>
            </a:r>
            <a:r>
              <a:rPr lang="es-ES" altLang="zh-CN" sz="2400" dirty="0">
                <a:solidFill>
                  <a:srgbClr val="0000FF"/>
                </a:solidFill>
              </a:rPr>
              <a:t>xl@localhost ~]$ echo $</a:t>
            </a:r>
            <a:r>
              <a:rPr lang="es-ES" altLang="zh-CN" sz="2400" dirty="0" smtClean="0">
                <a:solidFill>
                  <a:srgbClr val="0000FF"/>
                </a:solidFill>
              </a:rPr>
              <a:t>mydir</a:t>
            </a:r>
          </a:p>
          <a:p>
            <a:r>
              <a:rPr lang="en-US" altLang="zh-CN" sz="2400" dirty="0" smtClean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source </a:t>
            </a:r>
            <a:r>
              <a:rPr lang="en-US" altLang="zh-CN" sz="2400" dirty="0" err="1">
                <a:solidFill>
                  <a:srgbClr val="0000FF"/>
                </a:solidFill>
              </a:rPr>
              <a:t>myset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echo $</a:t>
            </a:r>
            <a:r>
              <a:rPr lang="en-US" altLang="zh-CN" sz="2400" dirty="0" err="1">
                <a:solidFill>
                  <a:srgbClr val="0000FF"/>
                </a:solidFill>
              </a:rPr>
              <a:t>mydir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dirty="0"/>
              <a:t>/</a:t>
            </a:r>
            <a:r>
              <a:rPr lang="en-US" altLang="zh-CN" sz="2400" dirty="0" smtClean="0"/>
              <a:t>home/xl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5214607" y="203996"/>
            <a:ext cx="3625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局部变量</a:t>
            </a:r>
            <a:r>
              <a:rPr lang="zh-CN" altLang="en-US" dirty="0" smtClean="0"/>
              <a:t>作用范围是命令所在的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或当前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脚本执行过程中。</a:t>
            </a:r>
            <a:r>
              <a:rPr lang="zh-CN" altLang="en-US" b="1" dirty="0" smtClean="0"/>
              <a:t>全局变量</a:t>
            </a:r>
            <a:r>
              <a:rPr lang="zh-CN" altLang="en-US" dirty="0" smtClean="0"/>
              <a:t>的作用范围是定义该变量的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及其所有子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中。（</a:t>
            </a:r>
            <a:r>
              <a:rPr lang="en-US" altLang="zh-CN" dirty="0" smtClean="0"/>
              <a:t>p48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44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274304"/>
            <a:ext cx="8136904" cy="5395055"/>
          </a:xfrm>
        </p:spPr>
        <p:txBody>
          <a:bodyPr/>
          <a:lstStyle/>
          <a:p>
            <a:r>
              <a:rPr lang="en-US" altLang="zh-CN" dirty="0"/>
              <a:t>Shell </a:t>
            </a:r>
            <a:r>
              <a:rPr lang="zh-CN" altLang="en-US" dirty="0"/>
              <a:t>脚本的编码规范</a:t>
            </a:r>
            <a:endParaRPr lang="en-US" altLang="zh-CN" dirty="0"/>
          </a:p>
          <a:p>
            <a:pPr lvl="1"/>
            <a:r>
              <a:rPr lang="zh-CN" altLang="en-US" dirty="0">
                <a:latin typeface="宋体" charset="-122"/>
              </a:rPr>
              <a:t>以 </a:t>
            </a:r>
            <a:r>
              <a:rPr lang="en-US" altLang="zh-CN" dirty="0">
                <a:latin typeface="宋体" charset="-122"/>
              </a:rPr>
              <a:t>#! </a:t>
            </a:r>
            <a:r>
              <a:rPr lang="zh-CN" altLang="en-US" dirty="0">
                <a:latin typeface="宋体" charset="-122"/>
              </a:rPr>
              <a:t>开头：通知系统用何解释器执行此脚本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#!/bin/bash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#!/bin/ksh</a:t>
            </a:r>
          </a:p>
          <a:p>
            <a:pPr lvl="1"/>
            <a:r>
              <a:rPr lang="zh-CN" altLang="zh-CN" dirty="0">
                <a:latin typeface="宋体" charset="-122"/>
              </a:rPr>
              <a:t>以</a:t>
            </a:r>
            <a:r>
              <a:rPr lang="zh-CN" altLang="zh-CN" dirty="0">
                <a:solidFill>
                  <a:srgbClr val="FF0000"/>
                </a:solidFill>
                <a:latin typeface="宋体" charset="-122"/>
              </a:rPr>
              <a:t>注释形式说明</a:t>
            </a:r>
            <a:r>
              <a:rPr lang="zh-CN" altLang="zh-CN" dirty="0">
                <a:latin typeface="宋体" charset="-122"/>
              </a:rPr>
              <a:t>如下的内容：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000000"/>
                </a:solidFill>
                <a:ea typeface="楷体_GB2312" pitchFamily="49" charset="-122"/>
              </a:rPr>
              <a:t>脚本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名称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000000"/>
                </a:solidFill>
                <a:ea typeface="楷体_GB2312" pitchFamily="49" charset="-122"/>
              </a:rPr>
              <a:t>脚本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功能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作者</a:t>
            </a:r>
            <a:r>
              <a:rPr lang="zh-CN" altLang="zh-CN" dirty="0">
                <a:solidFill>
                  <a:srgbClr val="000000"/>
                </a:solidFill>
                <a:ea typeface="楷体_GB2312" pitchFamily="49" charset="-122"/>
              </a:rPr>
              <a:t>及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联系方式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版本更新记录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版权声明</a:t>
            </a:r>
          </a:p>
          <a:p>
            <a:pPr marL="1044000" lvl="2" indent="-342900" eaLnBrk="1" hangingPunct="1">
              <a:lnSpc>
                <a:spcPct val="130000"/>
              </a:lnSpc>
              <a:spcBef>
                <a:spcPct val="0"/>
              </a:spcBef>
              <a:buClr>
                <a:srgbClr val="0000FF"/>
              </a:buClr>
              <a:defRPr/>
            </a:pP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# </a:t>
            </a:r>
            <a:r>
              <a:rPr lang="zh-CN" altLang="zh-CN" dirty="0">
                <a:solidFill>
                  <a:srgbClr val="000000"/>
                </a:solidFill>
                <a:ea typeface="楷体_GB2312" pitchFamily="49" charset="-122"/>
              </a:rPr>
              <a:t>对算法做</a:t>
            </a:r>
            <a:r>
              <a:rPr lang="zh-CN" altLang="zh-CN" dirty="0">
                <a:solidFill>
                  <a:srgbClr val="FF0000"/>
                </a:solidFill>
                <a:ea typeface="楷体_GB2312" pitchFamily="49" charset="-122"/>
              </a:rPr>
              <a:t>简要说明</a:t>
            </a:r>
            <a:r>
              <a:rPr lang="zh-CN" altLang="zh-CN" dirty="0">
                <a:solidFill>
                  <a:srgbClr val="000000"/>
                </a:solidFill>
                <a:ea typeface="楷体_GB2312" pitchFamily="49" charset="-122"/>
              </a:rPr>
              <a:t>（如果是复杂脚本）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4186" y="1340768"/>
            <a:ext cx="7215628" cy="230832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vim hello.sh</a:t>
            </a:r>
          </a:p>
          <a:p>
            <a:r>
              <a:rPr lang="zh-CN" altLang="en-US" sz="2400" dirty="0" smtClean="0">
                <a:solidFill>
                  <a:srgbClr val="0000FF"/>
                </a:solidFill>
              </a:rPr>
              <a:t>[</a:t>
            </a:r>
            <a:r>
              <a:rPr lang="zh-CN" altLang="en-US" sz="2400" dirty="0">
                <a:solidFill>
                  <a:srgbClr val="0000FF"/>
                </a:solidFill>
              </a:rPr>
              <a:t>xl@localhost ~]$ bash hello.sh</a:t>
            </a:r>
          </a:p>
          <a:p>
            <a:r>
              <a:rPr lang="zh-CN" altLang="en-US" sz="2400" dirty="0"/>
              <a:t>Hello World!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source hello.sh</a:t>
            </a:r>
          </a:p>
          <a:p>
            <a:r>
              <a:rPr lang="zh-CN" altLang="en-US" sz="2400" dirty="0"/>
              <a:t>Hello World!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</a:t>
            </a:r>
          </a:p>
        </p:txBody>
      </p:sp>
      <p:sp>
        <p:nvSpPr>
          <p:cNvPr id="3" name="矩形 2"/>
          <p:cNvSpPr/>
          <p:nvPr/>
        </p:nvSpPr>
        <p:spPr>
          <a:xfrm>
            <a:off x="964186" y="3933056"/>
            <a:ext cx="7200800" cy="230832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#!/bin/bash</a:t>
            </a:r>
          </a:p>
          <a:p>
            <a:r>
              <a:rPr lang="en-US" altLang="zh-CN" sz="2400" dirty="0"/>
              <a:t>#Function: This is an script example</a:t>
            </a:r>
          </a:p>
          <a:p>
            <a:r>
              <a:rPr lang="en-US" altLang="zh-CN" sz="2400" dirty="0"/>
              <a:t>#Author:    name, xxx   email, xxx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str</a:t>
            </a:r>
            <a:r>
              <a:rPr lang="en-US" altLang="zh-CN" sz="2400" dirty="0"/>
              <a:t>='Hello World!'</a:t>
            </a:r>
          </a:p>
          <a:p>
            <a:r>
              <a:rPr lang="en-US" altLang="zh-CN" sz="2400" dirty="0"/>
              <a:t>echo $</a:t>
            </a:r>
            <a:r>
              <a:rPr lang="en-US" altLang="zh-CN" sz="2400" dirty="0" err="1" smtClean="0"/>
              <a:t>str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80" y="1556792"/>
            <a:ext cx="8046640" cy="4114800"/>
          </a:xfrm>
        </p:spPr>
        <p:txBody>
          <a:bodyPr/>
          <a:lstStyle/>
          <a:p>
            <a:pPr marL="0" indent="-571500">
              <a:spcBef>
                <a:spcPct val="0"/>
              </a:spcBef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</a:rPr>
              <a:t>脚本调试方法</a:t>
            </a:r>
            <a:endParaRPr lang="en-US" altLang="zh-CN" sz="4000" dirty="0">
              <a:solidFill>
                <a:srgbClr val="0000FF"/>
              </a:solidFill>
            </a:endParaRPr>
          </a:p>
          <a:p>
            <a:pPr marL="684000"/>
            <a:r>
              <a:rPr lang="zh-CN" altLang="en-US" dirty="0"/>
              <a:t>在 </a:t>
            </a:r>
            <a:r>
              <a:rPr lang="en-US" altLang="zh-CN" dirty="0">
                <a:solidFill>
                  <a:srgbClr val="FF0000"/>
                </a:solidFill>
              </a:rPr>
              <a:t>bash </a:t>
            </a:r>
            <a:r>
              <a:rPr lang="zh-CN" altLang="en-US" dirty="0">
                <a:solidFill>
                  <a:srgbClr val="FF0000"/>
                </a:solidFill>
              </a:rPr>
              <a:t>调用</a:t>
            </a:r>
            <a:r>
              <a:rPr lang="zh-CN" altLang="en-US" dirty="0"/>
              <a:t>脚本时使用参数</a:t>
            </a:r>
            <a:endParaRPr lang="en-US" altLang="zh-CN" dirty="0"/>
          </a:p>
          <a:p>
            <a:pPr marL="900000" lvl="1"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$ bash [-x] [-n] [-v]  </a:t>
            </a:r>
            <a:r>
              <a:rPr lang="en-US" altLang="zh-CN" sz="2800" b="1" dirty="0" err="1">
                <a:solidFill>
                  <a:srgbClr val="990000"/>
                </a:solidFill>
                <a:latin typeface="Courier New" pitchFamily="49" charset="0"/>
              </a:rPr>
              <a:t>scriptName</a:t>
            </a:r>
            <a:endParaRPr lang="en-US" altLang="zh-CN" sz="2800" b="1" dirty="0">
              <a:solidFill>
                <a:srgbClr val="990000"/>
              </a:solidFill>
              <a:latin typeface="Courier New" pitchFamily="49" charset="0"/>
            </a:endParaRPr>
          </a:p>
          <a:p>
            <a:pPr marL="684000"/>
            <a:r>
              <a:rPr lang="zh-CN" altLang="en-US" dirty="0"/>
              <a:t>在</a:t>
            </a:r>
            <a:r>
              <a:rPr lang="zh-CN" altLang="en-US" dirty="0" smtClean="0">
                <a:solidFill>
                  <a:srgbClr val="FF0000"/>
                </a:solidFill>
              </a:rPr>
              <a:t>脚本内容中</a:t>
            </a:r>
            <a:r>
              <a:rPr lang="zh-CN" altLang="en-US" dirty="0">
                <a:solidFill>
                  <a:srgbClr val="FF0000"/>
                </a:solidFill>
              </a:rPr>
              <a:t>使用 </a:t>
            </a:r>
            <a:r>
              <a:rPr lang="zh-CN" altLang="en-US" dirty="0" smtClean="0"/>
              <a:t>内置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2060"/>
                </a:solidFill>
              </a:rPr>
              <a:t> </a:t>
            </a:r>
            <a:r>
              <a:rPr lang="en-US" altLang="zh-CN" b="1" dirty="0">
                <a:solidFill>
                  <a:srgbClr val="002060"/>
                </a:solidFill>
              </a:rPr>
              <a:t>set </a:t>
            </a:r>
            <a:r>
              <a:rPr lang="zh-CN" altLang="en-US" dirty="0"/>
              <a:t>命令使整个或部分脚本处于调试模式</a:t>
            </a:r>
            <a:endParaRPr lang="en-US" altLang="zh-CN" dirty="0"/>
          </a:p>
          <a:p>
            <a:pPr marL="900000" lvl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Courier New" pitchFamily="49" charset="0"/>
              </a:rPr>
              <a:t>开启：</a:t>
            </a: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set [-x] [-n] [-v]</a:t>
            </a:r>
          </a:p>
          <a:p>
            <a:pPr marL="900000" lvl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Courier New" pitchFamily="49" charset="0"/>
              </a:rPr>
              <a:t>结束：</a:t>
            </a: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set [+x] [+n] [+v]</a:t>
            </a:r>
          </a:p>
          <a:p>
            <a:endParaRPr lang="zh-CN" altLang="en-US" sz="3200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脚本举例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0986" y="3573016"/>
            <a:ext cx="7597457" cy="2202141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#!/bin/bash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# This is the second Bash shell program 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# </a:t>
            </a: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Scriptname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: greetings.sh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endParaRPr lang="en-US" altLang="zh-CN" sz="2400" b="1" dirty="0">
              <a:solidFill>
                <a:srgbClr val="990000"/>
              </a:solidFill>
              <a:latin typeface="Courier New" pitchFamily="49" charset="0"/>
            </a:endParaRP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"Hello $USER at $UID"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"Your work directory is:$PWD"</a:t>
            </a:r>
          </a:p>
        </p:txBody>
      </p:sp>
      <p:sp>
        <p:nvSpPr>
          <p:cNvPr id="3" name="矩形 2"/>
          <p:cNvSpPr/>
          <p:nvPr/>
        </p:nvSpPr>
        <p:spPr>
          <a:xfrm>
            <a:off x="510986" y="1772816"/>
            <a:ext cx="7589405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ea typeface="黑体" pitchFamily="2" charset="-122"/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 ~]$ vim test.sh</a:t>
            </a:r>
          </a:p>
          <a:p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ea typeface="黑体" pitchFamily="2" charset="-122"/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 ~]$ </a:t>
            </a:r>
            <a:r>
              <a:rPr lang="en-US" altLang="zh-CN" sz="2400" dirty="0" err="1">
                <a:solidFill>
                  <a:srgbClr val="0000FF"/>
                </a:solidFill>
                <a:ea typeface="黑体" pitchFamily="2" charset="-122"/>
              </a:rPr>
              <a:t>chmod</a:t>
            </a:r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 +x test.sh</a:t>
            </a:r>
          </a:p>
          <a:p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ea typeface="黑体" pitchFamily="2" charset="-122"/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  <a:ea typeface="黑体" pitchFamily="2" charset="-122"/>
              </a:rPr>
              <a:t> ~]$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84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</a:t>
            </a:r>
            <a:r>
              <a:rPr lang="zh-CN" altLang="en-US" dirty="0" smtClean="0"/>
              <a:t>调试</a:t>
            </a:r>
            <a:r>
              <a:rPr lang="zh-CN" altLang="en-US" dirty="0"/>
              <a:t>方法</a:t>
            </a:r>
            <a:r>
              <a:rPr lang="zh-CN" altLang="en-US" dirty="0" smtClean="0"/>
              <a:t>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973832" y="1484784"/>
            <a:ext cx="7543800" cy="566309"/>
          </a:xfrm>
          <a:prstGeom prst="rect">
            <a:avLst/>
          </a:prstGeom>
          <a:noFill/>
          <a:ln w="2857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990000"/>
                </a:solidFill>
                <a:latin typeface="Courier New" pitchFamily="49" charset="0"/>
              </a:rPr>
              <a:t>bash</a:t>
            </a:r>
            <a:r>
              <a:rPr lang="en-US" altLang="zh-CN" sz="2800" b="1" dirty="0" smtClean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–x</a:t>
            </a:r>
            <a:r>
              <a:rPr lang="en-US" altLang="zh-CN" sz="2800" b="1" dirty="0">
                <a:solidFill>
                  <a:srgbClr val="FF3300"/>
                </a:solidFill>
                <a:latin typeface="Courier New" pitchFamily="49" charset="0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Courier New" pitchFamily="49" charset="0"/>
              </a:rPr>
              <a:t>脚本名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65448" y="2094385"/>
            <a:ext cx="7566992" cy="170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使用户跟踪脚本的执行，此时 </a:t>
            </a:r>
            <a:r>
              <a:rPr lang="en-US" altLang="zh-CN" sz="24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shell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对脚本中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每条命令的处理过程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为：先执行替换，然后显示，再执行它。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shell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显示脚本中的行时，会在行首添加一个加号 “ </a:t>
            </a:r>
            <a:r>
              <a:rPr lang="zh-CN" altLang="en-US" sz="24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+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”。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973832" y="3871146"/>
            <a:ext cx="7543800" cy="566309"/>
          </a:xfrm>
          <a:prstGeom prst="rect">
            <a:avLst/>
          </a:prstGeom>
          <a:noFill/>
          <a:ln w="2857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990000"/>
                </a:solidFill>
                <a:latin typeface="Courier New" pitchFamily="49" charset="0"/>
              </a:rPr>
              <a:t>bash</a:t>
            </a:r>
            <a:r>
              <a:rPr lang="en-US" altLang="zh-CN" sz="2800" b="1" dirty="0" smtClean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–v</a:t>
            </a:r>
            <a:r>
              <a:rPr lang="en-US" altLang="zh-CN" sz="2800" b="1" dirty="0">
                <a:solidFill>
                  <a:srgbClr val="FF3300"/>
                </a:solidFill>
                <a:latin typeface="Courier New" pitchFamily="49" charset="0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Courier New" pitchFamily="49" charset="0"/>
              </a:rPr>
              <a:t>脚本名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965448" y="4534536"/>
            <a:ext cx="7566992" cy="4499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在执行脚本之前，按输入的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原样打印脚本中的各行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。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973832" y="5174750"/>
            <a:ext cx="7543800" cy="566309"/>
          </a:xfrm>
          <a:prstGeom prst="rect">
            <a:avLst/>
          </a:prstGeom>
          <a:noFill/>
          <a:ln w="2857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990000"/>
                </a:solidFill>
                <a:latin typeface="Courier New" pitchFamily="49" charset="0"/>
              </a:rPr>
              <a:t>bash</a:t>
            </a:r>
            <a:r>
              <a:rPr lang="en-US" altLang="zh-CN" sz="2800" b="1" dirty="0" smtClean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–n</a:t>
            </a:r>
            <a:r>
              <a:rPr lang="en-US" altLang="zh-CN" sz="2800" b="1" dirty="0">
                <a:solidFill>
                  <a:srgbClr val="FF3300"/>
                </a:solidFill>
                <a:latin typeface="Courier New" pitchFamily="49" charset="0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Courier New" pitchFamily="49" charset="0"/>
              </a:rPr>
              <a:t>脚本名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971797" y="5883823"/>
            <a:ext cx="7793037" cy="858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对脚本进行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语法检查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，但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不执行脚本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。如果存在语法错误，</a:t>
            </a:r>
            <a:r>
              <a:rPr lang="en-US" altLang="zh-CN" sz="24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shell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会报错，如果没有错误，则不显示任何内容。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脚本调试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举例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1520" y="1225689"/>
            <a:ext cx="88924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bash -x test.sh</a:t>
            </a:r>
          </a:p>
          <a:p>
            <a:r>
              <a:rPr lang="en-US" altLang="zh-CN" sz="2400" dirty="0"/>
              <a:t>+ echo 'Hello xl at 1000'</a:t>
            </a:r>
          </a:p>
          <a:p>
            <a:r>
              <a:rPr lang="en-US" altLang="zh-CN" sz="2400" dirty="0"/>
              <a:t>Hello xl at 1000</a:t>
            </a:r>
          </a:p>
          <a:p>
            <a:r>
              <a:rPr lang="en-US" altLang="zh-CN" sz="2400" dirty="0"/>
              <a:t>+ echo 'Your work directory is:/home/xl'</a:t>
            </a:r>
          </a:p>
          <a:p>
            <a:r>
              <a:rPr lang="en-US" altLang="zh-CN" sz="2400" dirty="0"/>
              <a:t>Your work directory is:/home/xl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bash -v test.sh</a:t>
            </a:r>
          </a:p>
          <a:p>
            <a:r>
              <a:rPr lang="en-US" altLang="zh-CN" sz="2400" dirty="0"/>
              <a:t>#!/bin/bash</a:t>
            </a:r>
          </a:p>
          <a:p>
            <a:r>
              <a:rPr lang="en-US" altLang="zh-CN" sz="2400" dirty="0"/>
              <a:t># This is the second Bash shell program </a:t>
            </a:r>
          </a:p>
          <a:p>
            <a:r>
              <a:rPr lang="en-US" altLang="zh-CN" sz="2400" dirty="0"/>
              <a:t># </a:t>
            </a:r>
            <a:r>
              <a:rPr lang="en-US" altLang="zh-CN" sz="2400" dirty="0" err="1"/>
              <a:t>Scriptname</a:t>
            </a:r>
            <a:r>
              <a:rPr lang="en-US" altLang="zh-CN" sz="2400" dirty="0"/>
              <a:t>: greetings.sh</a:t>
            </a:r>
          </a:p>
          <a:p>
            <a:r>
              <a:rPr lang="en-US" altLang="zh-CN" sz="2400" dirty="0" smtClean="0"/>
              <a:t>echo </a:t>
            </a:r>
            <a:r>
              <a:rPr lang="en-US" altLang="zh-CN" sz="2400" dirty="0"/>
              <a:t>"Hello $USER at $UID"</a:t>
            </a:r>
          </a:p>
          <a:p>
            <a:r>
              <a:rPr lang="en-US" altLang="zh-CN" sz="2400" dirty="0"/>
              <a:t>Hello xl at 1000</a:t>
            </a:r>
          </a:p>
          <a:p>
            <a:r>
              <a:rPr lang="en-US" altLang="zh-CN" sz="2400" dirty="0"/>
              <a:t>echo "Your work directory is:$PWD"</a:t>
            </a:r>
          </a:p>
          <a:p>
            <a:r>
              <a:rPr lang="en-US" altLang="zh-CN" sz="2400" dirty="0"/>
              <a:t>Your work directory is:/home/xl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bash -n test.sh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</a:t>
            </a:r>
            <a:endParaRPr lang="pt-BR" altLang="zh-CN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脚本调试方法</a:t>
            </a:r>
            <a:r>
              <a:rPr lang="en-US" altLang="zh-CN" dirty="0" smtClean="0"/>
              <a:t>2 </a:t>
            </a:r>
            <a:r>
              <a:rPr lang="en-US" altLang="zh-CN" dirty="0"/>
              <a:t>— set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371600"/>
            <a:ext cx="7916416" cy="5225752"/>
          </a:xfrm>
        </p:spPr>
        <p:txBody>
          <a:bodyPr/>
          <a:lstStyle/>
          <a:p>
            <a:r>
              <a:rPr lang="zh-CN" altLang="en-US" dirty="0"/>
              <a:t>在脚本内使用</a:t>
            </a:r>
            <a:r>
              <a:rPr lang="en-US" altLang="zh-CN" dirty="0"/>
              <a:t>set</a:t>
            </a:r>
            <a:r>
              <a:rPr lang="zh-CN" altLang="en-US" dirty="0"/>
              <a:t>命令</a:t>
            </a:r>
            <a:r>
              <a:rPr lang="zh-CN" altLang="en-US" dirty="0">
                <a:solidFill>
                  <a:srgbClr val="FF0000"/>
                </a:solidFill>
              </a:rPr>
              <a:t>开启调试选项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/>
              <a:t>set -x </a:t>
            </a:r>
            <a:r>
              <a:rPr lang="zh-CN" altLang="en-US" dirty="0"/>
              <a:t>：显示由</a:t>
            </a:r>
            <a:r>
              <a:rPr lang="en-US" altLang="zh-CN" dirty="0"/>
              <a:t>shell</a:t>
            </a:r>
            <a:r>
              <a:rPr lang="zh-CN" altLang="en-US" dirty="0"/>
              <a:t>执行的命令及其参数</a:t>
            </a:r>
            <a:endParaRPr lang="en-US" altLang="zh-CN" dirty="0"/>
          </a:p>
          <a:p>
            <a:pPr lvl="1"/>
            <a:r>
              <a:rPr lang="en-US" altLang="zh-CN" b="1" dirty="0"/>
              <a:t>set -v </a:t>
            </a:r>
            <a:r>
              <a:rPr lang="zh-CN" altLang="en-US" dirty="0"/>
              <a:t>：显示由</a:t>
            </a:r>
            <a:r>
              <a:rPr lang="en-US" altLang="zh-CN" dirty="0"/>
              <a:t>shell</a:t>
            </a:r>
            <a:r>
              <a:rPr lang="zh-CN" altLang="en-US" dirty="0"/>
              <a:t>读入的命令行</a:t>
            </a:r>
            <a:endParaRPr lang="en-US" altLang="zh-CN" dirty="0"/>
          </a:p>
          <a:p>
            <a:pPr lvl="1"/>
            <a:r>
              <a:rPr lang="en-US" altLang="zh-CN" b="1" dirty="0"/>
              <a:t>set -n</a:t>
            </a:r>
            <a:r>
              <a:rPr lang="zh-CN" altLang="en-US" b="1" dirty="0"/>
              <a:t> </a:t>
            </a:r>
            <a:r>
              <a:rPr lang="zh-CN" altLang="en-US" dirty="0"/>
              <a:t>：读取命令但不执行他们，用于语法检查</a:t>
            </a:r>
            <a:endParaRPr lang="en-US" altLang="zh-CN" dirty="0"/>
          </a:p>
          <a:p>
            <a:r>
              <a:rPr lang="zh-CN" altLang="en-US" dirty="0"/>
              <a:t>在脚本内使用</a:t>
            </a:r>
            <a:r>
              <a:rPr lang="en-US" altLang="zh-CN" dirty="0"/>
              <a:t>set</a:t>
            </a:r>
            <a:r>
              <a:rPr lang="zh-CN" altLang="en-US" dirty="0"/>
              <a:t>命令</a:t>
            </a:r>
            <a:r>
              <a:rPr lang="zh-CN" altLang="en-US" dirty="0">
                <a:solidFill>
                  <a:srgbClr val="FF0000"/>
                </a:solidFill>
              </a:rPr>
              <a:t>关闭已开启的调试选项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/>
              <a:t>set +x</a:t>
            </a:r>
          </a:p>
          <a:p>
            <a:pPr lvl="1"/>
            <a:r>
              <a:rPr lang="en-US" altLang="zh-CN" b="1" dirty="0"/>
              <a:t>set +v</a:t>
            </a:r>
          </a:p>
          <a:p>
            <a:pPr lvl="1"/>
            <a:r>
              <a:rPr lang="en-US" altLang="zh-CN" b="1" dirty="0"/>
              <a:t>set +n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脚本调试举例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4240654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bash -x test.sh</a:t>
            </a:r>
          </a:p>
          <a:p>
            <a:r>
              <a:rPr lang="zh-CN" altLang="en-US" sz="2400" dirty="0"/>
              <a:t>+ set -x</a:t>
            </a:r>
          </a:p>
          <a:p>
            <a:r>
              <a:rPr lang="zh-CN" altLang="en-US" sz="2400" dirty="0"/>
              <a:t>+ echo 'Hello xl at 1000'</a:t>
            </a:r>
          </a:p>
          <a:p>
            <a:r>
              <a:rPr lang="zh-CN" altLang="en-US" sz="2400" dirty="0"/>
              <a:t>Hello xl at 1000</a:t>
            </a:r>
          </a:p>
          <a:p>
            <a:r>
              <a:rPr lang="zh-CN" altLang="en-US" sz="2400" dirty="0"/>
              <a:t>+ set +x</a:t>
            </a:r>
          </a:p>
          <a:p>
            <a:r>
              <a:rPr lang="zh-CN" altLang="en-US" sz="2400" dirty="0"/>
              <a:t>Your work directory is:/home/</a:t>
            </a:r>
            <a:r>
              <a:rPr lang="zh-CN" altLang="en-US" sz="2400" dirty="0" smtClean="0"/>
              <a:t>xl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611560" y="1412776"/>
            <a:ext cx="7992888" cy="267765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#!/bin/bash</a:t>
            </a:r>
          </a:p>
          <a:p>
            <a:r>
              <a:rPr lang="en-US" altLang="zh-CN" sz="2400" dirty="0"/>
              <a:t># This is the second Bash shell program </a:t>
            </a:r>
          </a:p>
          <a:p>
            <a:r>
              <a:rPr lang="en-US" altLang="zh-CN" sz="2400" dirty="0"/>
              <a:t># </a:t>
            </a:r>
            <a:r>
              <a:rPr lang="en-US" altLang="zh-CN" sz="2400" dirty="0" err="1"/>
              <a:t>Scriptname</a:t>
            </a:r>
            <a:r>
              <a:rPr lang="en-US" altLang="zh-CN" sz="2400" dirty="0"/>
              <a:t>: greetings.sh</a:t>
            </a:r>
          </a:p>
          <a:p>
            <a:r>
              <a:rPr lang="en-US" altLang="zh-CN" sz="2400" dirty="0" smtClean="0"/>
              <a:t>set </a:t>
            </a:r>
            <a:r>
              <a:rPr lang="en-US" altLang="zh-CN" sz="2400" dirty="0"/>
              <a:t>-x</a:t>
            </a:r>
          </a:p>
          <a:p>
            <a:r>
              <a:rPr lang="en-US" altLang="zh-CN" sz="2400" dirty="0"/>
              <a:t>echo "Hello $USER at $UID"</a:t>
            </a:r>
          </a:p>
          <a:p>
            <a:r>
              <a:rPr lang="en-US" altLang="zh-CN" sz="2400" dirty="0"/>
              <a:t>set +x</a:t>
            </a:r>
          </a:p>
          <a:p>
            <a:r>
              <a:rPr lang="en-US" altLang="zh-CN" sz="2400" dirty="0"/>
              <a:t>echo "Your work directory is:$PWD"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脚本调试举例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1484784"/>
            <a:ext cx="82089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bash -v test.sh</a:t>
            </a:r>
          </a:p>
          <a:p>
            <a:r>
              <a:rPr lang="zh-CN" altLang="en-US" sz="2400" dirty="0"/>
              <a:t>#!/bin/bash</a:t>
            </a:r>
          </a:p>
          <a:p>
            <a:r>
              <a:rPr lang="zh-CN" altLang="en-US" sz="2400" dirty="0"/>
              <a:t># This is the second Bash shell program </a:t>
            </a:r>
          </a:p>
          <a:p>
            <a:r>
              <a:rPr lang="zh-CN" altLang="en-US" sz="2400" dirty="0"/>
              <a:t># Scriptname: greetings.sh</a:t>
            </a:r>
          </a:p>
          <a:p>
            <a:r>
              <a:rPr lang="zh-CN" altLang="en-US" sz="2400" dirty="0"/>
              <a:t>set -x</a:t>
            </a:r>
          </a:p>
          <a:p>
            <a:r>
              <a:rPr lang="zh-CN" altLang="en-US" sz="2400" dirty="0"/>
              <a:t>echo "Hello $USER at $UID"</a:t>
            </a:r>
          </a:p>
          <a:p>
            <a:r>
              <a:rPr lang="zh-CN" altLang="en-US" sz="2400" dirty="0"/>
              <a:t>+ echo 'Hello xl at 1000'</a:t>
            </a:r>
          </a:p>
          <a:p>
            <a:r>
              <a:rPr lang="zh-CN" altLang="en-US" sz="2400" dirty="0"/>
              <a:t>Hello xl at 1000</a:t>
            </a:r>
          </a:p>
          <a:p>
            <a:r>
              <a:rPr lang="zh-CN" altLang="en-US" sz="2400" dirty="0"/>
              <a:t>set +x</a:t>
            </a:r>
          </a:p>
          <a:p>
            <a:r>
              <a:rPr lang="zh-CN" altLang="en-US" sz="2400" dirty="0"/>
              <a:t>+ set +x</a:t>
            </a:r>
          </a:p>
          <a:p>
            <a:r>
              <a:rPr lang="zh-CN" altLang="en-US" sz="2400" dirty="0"/>
              <a:t>echo "Your work directory is:$PWD"</a:t>
            </a:r>
          </a:p>
          <a:p>
            <a:r>
              <a:rPr lang="zh-CN" altLang="en-US" sz="2400" dirty="0"/>
              <a:t>Your work directory is:/home/</a:t>
            </a:r>
            <a:r>
              <a:rPr lang="zh-CN" altLang="en-US" sz="2400" dirty="0" smtClean="0"/>
              <a:t>xl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bash -n test.sh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0041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 </a:t>
            </a:r>
            <a:r>
              <a:rPr lang="en-US" altLang="zh-CN" dirty="0"/>
              <a:t>Shell</a:t>
            </a:r>
            <a:r>
              <a:rPr lang="zh-CN" altLang="zh-CN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308494"/>
            <a:ext cx="8839646" cy="5432874"/>
          </a:xfrm>
        </p:spPr>
        <p:txBody>
          <a:bodyPr/>
          <a:lstStyle/>
          <a:p>
            <a:pPr marL="571500" indent="-571500">
              <a:spcBef>
                <a:spcPct val="0"/>
              </a:spcBef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en-US" altLang="zh-CN" sz="4000" dirty="0">
                <a:solidFill>
                  <a:srgbClr val="0000FF"/>
                </a:solidFill>
              </a:rPr>
              <a:t>Shell</a:t>
            </a:r>
            <a:r>
              <a:rPr lang="zh-CN" altLang="en-US" sz="4000" dirty="0">
                <a:solidFill>
                  <a:srgbClr val="0000FF"/>
                </a:solidFill>
              </a:rPr>
              <a:t>脚本的类型</a:t>
            </a:r>
            <a:endParaRPr lang="en-US" altLang="zh-CN" sz="4000" dirty="0">
              <a:solidFill>
                <a:srgbClr val="0000FF"/>
              </a:solidFill>
            </a:endParaRPr>
          </a:p>
          <a:p>
            <a:r>
              <a:rPr lang="zh-CN" altLang="en-US" sz="3000" dirty="0">
                <a:solidFill>
                  <a:srgbClr val="FF0000"/>
                </a:solidFill>
              </a:rPr>
              <a:t>非交互式</a:t>
            </a:r>
            <a:r>
              <a:rPr lang="zh-CN" altLang="en-US" sz="3000" dirty="0"/>
              <a:t>脚本</a:t>
            </a:r>
            <a:endParaRPr lang="en-US" altLang="zh-CN" sz="30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不需要读取用户输入</a:t>
            </a:r>
            <a:r>
              <a:rPr lang="en-US" altLang="zh-CN" sz="2400" dirty="0"/>
              <a:t>, </a:t>
            </a:r>
            <a:r>
              <a:rPr lang="zh-CN" altLang="en-US" sz="2400" dirty="0"/>
              <a:t>也不用向用户反馈某些信息</a:t>
            </a:r>
          </a:p>
          <a:p>
            <a:pPr lvl="1"/>
            <a:r>
              <a:rPr lang="zh-CN" altLang="en-US" sz="2400" dirty="0"/>
              <a:t>每次</a:t>
            </a:r>
            <a:r>
              <a:rPr lang="zh-CN" altLang="en-US" sz="2400" dirty="0">
                <a:solidFill>
                  <a:srgbClr val="FF0000"/>
                </a:solidFill>
              </a:rPr>
              <a:t>执行</a:t>
            </a:r>
            <a:r>
              <a:rPr lang="zh-CN" altLang="en-US" sz="2400" dirty="0"/>
              <a:t>都是</a:t>
            </a:r>
            <a:r>
              <a:rPr lang="zh-CN" altLang="en-US" sz="2400" dirty="0">
                <a:solidFill>
                  <a:srgbClr val="FF0000"/>
                </a:solidFill>
              </a:rPr>
              <a:t>可预见</a:t>
            </a:r>
            <a:r>
              <a:rPr lang="zh-CN" altLang="en-US" sz="2400" dirty="0"/>
              <a:t>的</a:t>
            </a:r>
            <a:r>
              <a:rPr lang="en-US" altLang="zh-CN" sz="2400" dirty="0"/>
              <a:t>, </a:t>
            </a:r>
            <a:r>
              <a:rPr lang="zh-CN" altLang="en-US" sz="2400" dirty="0"/>
              <a:t>因为它不读取用户输入</a:t>
            </a:r>
            <a:r>
              <a:rPr lang="en-US" altLang="zh-CN" sz="2400" dirty="0"/>
              <a:t>, </a:t>
            </a:r>
            <a:r>
              <a:rPr lang="zh-CN" altLang="en-US" sz="2400" dirty="0">
                <a:solidFill>
                  <a:srgbClr val="FF0000"/>
                </a:solidFill>
              </a:rPr>
              <a:t>参数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固定</a:t>
            </a:r>
            <a:r>
              <a:rPr lang="zh-CN" altLang="en-US" sz="2400" dirty="0"/>
              <a:t>的</a:t>
            </a:r>
          </a:p>
          <a:p>
            <a:pPr lvl="1"/>
            <a:r>
              <a:rPr lang="zh-CN" altLang="en-US" sz="2400" dirty="0"/>
              <a:t>可以在后台执行</a:t>
            </a:r>
            <a:endParaRPr lang="en-US" altLang="zh-CN" sz="2400" dirty="0"/>
          </a:p>
          <a:p>
            <a:r>
              <a:rPr lang="zh-CN" altLang="en-US" sz="3000" dirty="0">
                <a:solidFill>
                  <a:srgbClr val="FF0000"/>
                </a:solidFill>
              </a:rPr>
              <a:t>交互式</a:t>
            </a:r>
            <a:r>
              <a:rPr lang="zh-CN" altLang="en-US" sz="3000" dirty="0"/>
              <a:t>脚本</a:t>
            </a:r>
            <a:endParaRPr lang="en-US" altLang="zh-CN" sz="3000" dirty="0"/>
          </a:p>
          <a:p>
            <a:pPr lvl="1"/>
            <a:r>
              <a:rPr lang="zh-CN" altLang="en-US" sz="2400" dirty="0"/>
              <a:t>可以</a:t>
            </a:r>
            <a:r>
              <a:rPr lang="zh-CN" altLang="en-US" sz="2400" dirty="0">
                <a:solidFill>
                  <a:srgbClr val="FF0000"/>
                </a:solidFill>
              </a:rPr>
              <a:t>读取用户输入</a:t>
            </a:r>
            <a:r>
              <a:rPr lang="en-US" altLang="zh-CN" sz="2400" dirty="0"/>
              <a:t>, </a:t>
            </a:r>
            <a:r>
              <a:rPr lang="zh-CN" altLang="en-US" sz="2400" dirty="0"/>
              <a:t>实时向用户反馈信息（输出某些信息）</a:t>
            </a:r>
          </a:p>
          <a:p>
            <a:pPr lvl="1"/>
            <a:r>
              <a:rPr lang="zh-CN" altLang="en-US" sz="2400" dirty="0"/>
              <a:t>脚本更灵活</a:t>
            </a:r>
            <a:r>
              <a:rPr lang="en-US" altLang="zh-CN" sz="2400" dirty="0"/>
              <a:t>, </a:t>
            </a:r>
            <a:r>
              <a:rPr lang="zh-CN" altLang="en-US" sz="2400" dirty="0"/>
              <a:t>每次执行时的</a:t>
            </a:r>
            <a:r>
              <a:rPr lang="zh-CN" altLang="en-US" sz="2400" dirty="0">
                <a:solidFill>
                  <a:srgbClr val="FF0000"/>
                </a:solidFill>
              </a:rPr>
              <a:t>参数可由用户动态设定</a:t>
            </a:r>
          </a:p>
          <a:p>
            <a:pPr lvl="1"/>
            <a:r>
              <a:rPr lang="zh-CN" altLang="en-US" sz="2400" dirty="0"/>
              <a:t>用户</a:t>
            </a:r>
            <a:r>
              <a:rPr lang="zh-CN" altLang="en-US" sz="2400" dirty="0">
                <a:solidFill>
                  <a:srgbClr val="FF0000"/>
                </a:solidFill>
              </a:rPr>
              <a:t>界面更友好</a:t>
            </a:r>
            <a:r>
              <a:rPr lang="zh-CN" altLang="en-US" sz="2400" dirty="0"/>
              <a:t>，但不适用于自动化任务（如</a:t>
            </a:r>
            <a:r>
              <a:rPr lang="en-US" altLang="zh-CN" sz="2400" dirty="0" err="1"/>
              <a:t>cron</a:t>
            </a:r>
            <a:r>
              <a:rPr lang="zh-CN" altLang="en-US" sz="2400" dirty="0"/>
              <a:t>任务）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6E34377-95EE-4426-AF01-2CEEFB9B8BD4}"/>
              </a:ext>
            </a:extLst>
          </p:cNvPr>
          <p:cNvSpPr txBox="1"/>
          <p:nvPr/>
        </p:nvSpPr>
        <p:spPr>
          <a:xfrm>
            <a:off x="287524" y="4653136"/>
            <a:ext cx="8568952" cy="189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利用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shell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脚本编程实现如下功能。采用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touch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date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read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命令，建立三个空文件，文件名最开头有用户输入决定，假设用户输入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filename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，而今天的日期是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2022/04/08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，请以前天、昨天和今天的日期来建立这三个文件，即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filename_20220408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 filename_ 20220407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 filename_ 20220406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</a:rPr>
              <a:t>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50314C-16CC-4D75-AE46-A0C623C70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0" t="15350" r="1723" b="11002"/>
          <a:stretch/>
        </p:blipFill>
        <p:spPr bwMode="auto">
          <a:xfrm>
            <a:off x="179512" y="3433992"/>
            <a:ext cx="1512168" cy="121914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051720" y="1268760"/>
            <a:ext cx="6624736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[</a:t>
            </a:r>
            <a:r>
              <a:rPr lang="en-US" altLang="zh-CN" sz="2400" dirty="0" err="1"/>
              <a:t>xl@localhost</a:t>
            </a:r>
            <a:r>
              <a:rPr lang="en-US" altLang="zh-CN" sz="2400" dirty="0"/>
              <a:t> ~]$ cat test.sh</a:t>
            </a:r>
          </a:p>
          <a:p>
            <a:r>
              <a:rPr lang="en-US" altLang="zh-CN" sz="2400" dirty="0"/>
              <a:t>#!/bin/bash</a:t>
            </a:r>
          </a:p>
          <a:p>
            <a:r>
              <a:rPr lang="en-US" altLang="zh-CN" sz="2400" dirty="0"/>
              <a:t># This is the second Bash shell program </a:t>
            </a:r>
          </a:p>
          <a:p>
            <a:r>
              <a:rPr lang="en-US" altLang="zh-CN" sz="2400" dirty="0"/>
              <a:t># </a:t>
            </a:r>
            <a:r>
              <a:rPr lang="en-US" altLang="zh-CN" sz="2400" dirty="0" err="1"/>
              <a:t>Scriptname</a:t>
            </a:r>
            <a:r>
              <a:rPr lang="en-US" altLang="zh-CN" sz="2400" dirty="0"/>
              <a:t>: greetings.sh</a:t>
            </a:r>
          </a:p>
          <a:p>
            <a:r>
              <a:rPr lang="en-US" altLang="zh-CN" sz="2400" dirty="0"/>
              <a:t>read -p "please input your name:"</a:t>
            </a:r>
          </a:p>
          <a:p>
            <a:r>
              <a:rPr lang="en-US" altLang="zh-CN" sz="2400" dirty="0" smtClean="0"/>
              <a:t>[</a:t>
            </a:r>
            <a:r>
              <a:rPr lang="en-US" altLang="zh-CN" sz="2400" dirty="0" err="1"/>
              <a:t>xl@localhost</a:t>
            </a:r>
            <a:r>
              <a:rPr lang="en-US" altLang="zh-CN" sz="2400" dirty="0"/>
              <a:t> ~]$ vim test.sh</a:t>
            </a:r>
          </a:p>
          <a:p>
            <a:r>
              <a:rPr lang="en-US" altLang="zh-CN" sz="2400" dirty="0"/>
              <a:t>[</a:t>
            </a:r>
            <a:r>
              <a:rPr lang="en-US" altLang="zh-CN" sz="2400" dirty="0" err="1"/>
              <a:t>xl@localhost</a:t>
            </a:r>
            <a:r>
              <a:rPr lang="en-US" altLang="zh-CN" sz="2400" dirty="0"/>
              <a:t> ~]$ bash test.sh</a:t>
            </a:r>
          </a:p>
          <a:p>
            <a:r>
              <a:rPr lang="en-US" altLang="zh-CN" sz="2400" dirty="0"/>
              <a:t>please input your </a:t>
            </a:r>
            <a:r>
              <a:rPr lang="en-US" altLang="zh-CN" sz="2400" dirty="0" err="1"/>
              <a:t>name:zhangsan</a:t>
            </a:r>
            <a:endParaRPr lang="en-US" altLang="zh-CN" sz="2400" dirty="0"/>
          </a:p>
          <a:p>
            <a:r>
              <a:rPr lang="en-US" altLang="zh-CN" sz="2400" dirty="0"/>
              <a:t>[</a:t>
            </a:r>
            <a:r>
              <a:rPr lang="en-US" altLang="zh-CN" sz="2400" dirty="0" err="1"/>
              <a:t>xl@localhost</a:t>
            </a:r>
            <a:r>
              <a:rPr lang="en-US" altLang="zh-CN" sz="2400" dirty="0"/>
              <a:t> ~]$ </a:t>
            </a:r>
          </a:p>
        </p:txBody>
      </p:sp>
      <p:sp>
        <p:nvSpPr>
          <p:cNvPr id="3" name="矩形 2"/>
          <p:cNvSpPr/>
          <p:nvPr/>
        </p:nvSpPr>
        <p:spPr>
          <a:xfrm>
            <a:off x="935596" y="539969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交互式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脚本实例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24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编程的前提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419776"/>
            <a:ext cx="7772400" cy="5231886"/>
          </a:xfrm>
        </p:spPr>
        <p:txBody>
          <a:bodyPr/>
          <a:lstStyle/>
          <a:p>
            <a:r>
              <a:rPr lang="zh-CN" altLang="en-US" dirty="0"/>
              <a:t>掌握一种</a:t>
            </a:r>
            <a:r>
              <a:rPr lang="zh-CN" altLang="en-US" dirty="0">
                <a:solidFill>
                  <a:srgbClr val="FF0000"/>
                </a:solidFill>
              </a:rPr>
              <a:t>文本编辑器</a:t>
            </a:r>
            <a:r>
              <a:rPr lang="zh-CN" altLang="en-US" dirty="0"/>
              <a:t>的使用（</a:t>
            </a:r>
            <a:r>
              <a:rPr lang="en-US" altLang="zh-CN" dirty="0"/>
              <a:t>Vi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熟悉 </a:t>
            </a:r>
            <a:r>
              <a:rPr lang="en-US" altLang="zh-CN" dirty="0"/>
              <a:t>Linux </a:t>
            </a:r>
            <a:r>
              <a:rPr lang="zh-CN" altLang="en-US" dirty="0">
                <a:solidFill>
                  <a:srgbClr val="FF0000"/>
                </a:solidFill>
              </a:rPr>
              <a:t>文件系统</a:t>
            </a:r>
            <a:r>
              <a:rPr lang="zh-CN" altLang="en-US" dirty="0"/>
              <a:t>的布局</a:t>
            </a:r>
            <a:endParaRPr lang="en-US" altLang="zh-CN" dirty="0"/>
          </a:p>
          <a:p>
            <a:r>
              <a:rPr lang="zh-CN" altLang="en-US" dirty="0"/>
              <a:t>学习 </a:t>
            </a:r>
            <a:r>
              <a:rPr lang="en-US" altLang="zh-CN" dirty="0">
                <a:solidFill>
                  <a:srgbClr val="FF0000"/>
                </a:solidFill>
              </a:rPr>
              <a:t>Shell</a:t>
            </a:r>
            <a:r>
              <a:rPr lang="en-US" altLang="zh-CN" dirty="0"/>
              <a:t> </a:t>
            </a:r>
            <a:r>
              <a:rPr lang="zh-CN" altLang="en-US" dirty="0"/>
              <a:t>的各种</a:t>
            </a:r>
            <a:r>
              <a:rPr lang="zh-CN" altLang="en-US" dirty="0">
                <a:solidFill>
                  <a:srgbClr val="FF0000"/>
                </a:solidFill>
              </a:rPr>
              <a:t>功能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重定向、管道、命令替换、命令聚合</a:t>
            </a:r>
            <a:endParaRPr lang="en-US" altLang="zh-CN" sz="2400" dirty="0"/>
          </a:p>
          <a:p>
            <a:r>
              <a:rPr lang="zh-CN" altLang="en-US" dirty="0"/>
              <a:t>学习各种</a:t>
            </a:r>
            <a:r>
              <a:rPr lang="zh-CN" altLang="en-US" dirty="0">
                <a:solidFill>
                  <a:srgbClr val="FF0000"/>
                </a:solidFill>
              </a:rPr>
              <a:t>管理和监视命令</a:t>
            </a:r>
            <a:r>
              <a:rPr lang="zh-CN" altLang="en-US" dirty="0"/>
              <a:t>的使用</a:t>
            </a:r>
            <a:endParaRPr lang="en-US" altLang="zh-CN" dirty="0"/>
          </a:p>
          <a:p>
            <a:pPr lvl="1"/>
            <a:r>
              <a:rPr lang="zh-CN" altLang="en-US" sz="2400" dirty="0" smtClean="0"/>
              <a:t>基本命令、用户</a:t>
            </a:r>
            <a:r>
              <a:rPr lang="zh-CN" altLang="en-US" sz="2400" dirty="0"/>
              <a:t>管理、权限管理、进程</a:t>
            </a:r>
            <a:r>
              <a:rPr lang="zh-CN" altLang="en-US" sz="2400" dirty="0" smtClean="0"/>
              <a:t>管理</a:t>
            </a:r>
            <a:r>
              <a:rPr lang="en-US" altLang="zh-CN" sz="2400" dirty="0" smtClean="0"/>
              <a:t>……</a:t>
            </a:r>
            <a:endParaRPr lang="en-US" altLang="zh-CN" sz="2400" dirty="0"/>
          </a:p>
          <a:p>
            <a:r>
              <a:rPr lang="zh-CN" altLang="en-US" dirty="0" smtClean="0"/>
              <a:t>学习</a:t>
            </a:r>
            <a:r>
              <a:rPr lang="zh-CN" altLang="en-US" dirty="0"/>
              <a:t>各种</a:t>
            </a:r>
            <a:r>
              <a:rPr lang="zh-CN" altLang="en-US" dirty="0">
                <a:solidFill>
                  <a:srgbClr val="FF0000"/>
                </a:solidFill>
              </a:rPr>
              <a:t>文本文件工具</a:t>
            </a:r>
            <a:r>
              <a:rPr lang="zh-CN" altLang="en-US" dirty="0"/>
              <a:t>的使用</a:t>
            </a:r>
            <a:endParaRPr lang="en-US" altLang="zh-CN" dirty="0"/>
          </a:p>
          <a:p>
            <a:pPr lvl="1"/>
            <a:r>
              <a:rPr lang="en-US" altLang="zh-CN" sz="2400" dirty="0"/>
              <a:t>cat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grep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tr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sed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awk</a:t>
            </a:r>
            <a:r>
              <a:rPr lang="en-US" altLang="zh-CN" sz="2400" dirty="0"/>
              <a:t> ……</a:t>
            </a:r>
          </a:p>
          <a:p>
            <a:pPr lvl="1"/>
            <a:r>
              <a:rPr lang="zh-CN" altLang="en-US" sz="2400" dirty="0"/>
              <a:t>正则表达式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20" y="5805264"/>
            <a:ext cx="516723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系统的配置文件几乎都是纯文本文件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412776"/>
            <a:ext cx="7772400" cy="5181501"/>
          </a:xfrm>
        </p:spPr>
        <p:txBody>
          <a:bodyPr/>
          <a:lstStyle/>
          <a:p>
            <a:r>
              <a:rPr lang="zh-CN" altLang="en-US" dirty="0"/>
              <a:t>变量</a:t>
            </a:r>
            <a:r>
              <a:rPr lang="zh-CN" altLang="en-US" dirty="0">
                <a:solidFill>
                  <a:srgbClr val="FF0000"/>
                </a:solidFill>
              </a:rPr>
              <a:t>替换扩展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变量</a:t>
            </a:r>
            <a:r>
              <a:rPr lang="zh-CN" altLang="en-US" dirty="0">
                <a:solidFill>
                  <a:srgbClr val="FF0000"/>
                </a:solidFill>
              </a:rPr>
              <a:t>测试</a:t>
            </a:r>
          </a:p>
          <a:p>
            <a:pPr lvl="1"/>
            <a:r>
              <a:rPr lang="zh-CN" altLang="en-US" dirty="0"/>
              <a:t>变量的</a:t>
            </a:r>
            <a:r>
              <a:rPr lang="zh-CN" altLang="en-US" dirty="0">
                <a:solidFill>
                  <a:srgbClr val="FF0000"/>
                </a:solidFill>
              </a:rPr>
              <a:t>字符串操作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变量的</a:t>
            </a:r>
            <a:r>
              <a:rPr lang="zh-CN" altLang="en-US" dirty="0">
                <a:solidFill>
                  <a:srgbClr val="FF0000"/>
                </a:solidFill>
              </a:rPr>
              <a:t>间接引用</a:t>
            </a:r>
          </a:p>
          <a:p>
            <a:r>
              <a:rPr lang="zh-CN" altLang="en-US" dirty="0"/>
              <a:t>变量的</a:t>
            </a:r>
            <a:r>
              <a:rPr lang="zh-CN" altLang="en-US" dirty="0">
                <a:solidFill>
                  <a:srgbClr val="FF0000"/>
                </a:solidFill>
              </a:rPr>
              <a:t>数值计算</a:t>
            </a:r>
          </a:p>
          <a:p>
            <a:pPr lvl="1"/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</a:rPr>
              <a:t>$[expression]  </a:t>
            </a:r>
          </a:p>
          <a:p>
            <a:pPr lvl="1"/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</a:rPr>
              <a:t>$((expression))</a:t>
            </a:r>
          </a:p>
          <a:p>
            <a:pPr lvl="1"/>
            <a:r>
              <a:rPr lang="en-US" altLang="zh-CN" b="1" dirty="0" err="1">
                <a:solidFill>
                  <a:srgbClr val="006600"/>
                </a:solidFill>
                <a:latin typeface="Courier New" pitchFamily="49" charset="0"/>
              </a:rPr>
              <a:t>expr</a:t>
            </a:r>
            <a:endParaRPr lang="en-US" altLang="zh-CN" b="1" dirty="0">
              <a:solidFill>
                <a:srgbClr val="006600"/>
              </a:solidFill>
              <a:latin typeface="Courier New" pitchFamily="49" charset="0"/>
            </a:endParaRPr>
          </a:p>
          <a:p>
            <a:pPr lvl="1"/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let</a:t>
            </a:r>
          </a:p>
          <a:p>
            <a:pPr lvl="1"/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declare -</a:t>
            </a:r>
            <a:r>
              <a:rPr lang="en-US" altLang="zh-CN" b="1" dirty="0" err="1">
                <a:solidFill>
                  <a:srgbClr val="006600"/>
                </a:solidFill>
                <a:latin typeface="Courier New" pitchFamily="49" charset="0"/>
              </a:rPr>
              <a:t>i</a:t>
            </a:r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080857" y="1412776"/>
            <a:ext cx="3745403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3200" dirty="0">
                <a:latin typeface="Tahoma" panose="020B0604030504040204" pitchFamily="34" charset="0"/>
                <a:ea typeface="楷体_GB2312"/>
              </a:rPr>
              <a:t>变量的</a:t>
            </a:r>
            <a:r>
              <a:rPr lang="zh-CN" altLang="en-US" sz="3200" dirty="0">
                <a:solidFill>
                  <a:srgbClr val="FF0000"/>
                </a:solidFill>
                <a:latin typeface="Tahoma" panose="020B0604030504040204" pitchFamily="34" charset="0"/>
                <a:ea typeface="楷体_GB2312"/>
              </a:rPr>
              <a:t>输入</a:t>
            </a:r>
            <a:endParaRPr lang="en-US" altLang="zh-CN" sz="3200" dirty="0">
              <a:solidFill>
                <a:srgbClr val="FF0000"/>
              </a:solidFill>
              <a:latin typeface="Tahoma" panose="020B0604030504040204" pitchFamily="34" charset="0"/>
              <a:ea typeface="楷体_GB2312"/>
            </a:endParaRPr>
          </a:p>
          <a:p>
            <a:pPr marL="742950" marR="0" lvl="1" indent="-28575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b="1" dirty="0">
                <a:latin typeface="Tahoma" panose="020B0604030504040204" pitchFamily="34" charset="0"/>
                <a:ea typeface="楷体_GB2312"/>
              </a:rPr>
              <a:t>变量赋值</a:t>
            </a:r>
            <a:endParaRPr lang="en-US" altLang="zh-CN" sz="2800" b="1" dirty="0">
              <a:latin typeface="Tahoma" panose="020B0604030504040204" pitchFamily="34" charset="0"/>
              <a:ea typeface="楷体_GB2312"/>
            </a:endParaRPr>
          </a:p>
          <a:p>
            <a:pPr marL="1044000" marR="0" lvl="2" indent="-342900" defTabSz="914400" latinLnBrk="0">
              <a:lnSpc>
                <a:spcPct val="130000"/>
              </a:lnSpc>
              <a:buClr>
                <a:srgbClr val="0000FF"/>
              </a:buClr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name=value</a:t>
            </a:r>
          </a:p>
          <a:p>
            <a:pPr marL="1044000" lvl="2" indent="-342900">
              <a:lnSpc>
                <a:spcPct val="130000"/>
              </a:lnSpc>
              <a:buClr>
                <a:srgbClr val="0000FF"/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lang="en-US" altLang="zh-CN" sz="2400" b="1" dirty="0" err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readonly</a:t>
            </a:r>
            <a:endParaRPr lang="en-US" altLang="zh-CN" sz="2400" b="1" dirty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742950" marR="0" lvl="1" indent="-28575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b="1" dirty="0">
                <a:latin typeface="Tahoma" panose="020B0604030504040204" pitchFamily="34" charset="0"/>
                <a:ea typeface="楷体_GB2312"/>
              </a:rPr>
              <a:t>从标准输入读取</a:t>
            </a:r>
            <a:endParaRPr lang="en-US" altLang="zh-CN" sz="2800" b="1" dirty="0">
              <a:latin typeface="Tahoma" panose="020B0604030504040204" pitchFamily="34" charset="0"/>
              <a:ea typeface="楷体_GB2312"/>
            </a:endParaRPr>
          </a:p>
          <a:p>
            <a:pPr marL="1044000" marR="0" lvl="2" indent="-342900" defTabSz="914400" eaLnBrk="1" latinLnBrk="0" hangingPunct="1">
              <a:lnSpc>
                <a:spcPct val="130000"/>
              </a:lnSpc>
              <a:buClr>
                <a:srgbClr val="0000FF"/>
              </a:buClr>
              <a:buSzPct val="60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read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latin typeface="Tahoma" panose="020B0604030504040204" pitchFamily="34" charset="0"/>
                <a:ea typeface="楷体_GB2312"/>
              </a:rPr>
              <a:t>变量的</a:t>
            </a:r>
            <a:r>
              <a:rPr lang="zh-CN" altLang="en-US" sz="3200" dirty="0">
                <a:solidFill>
                  <a:srgbClr val="FF0000"/>
                </a:solidFill>
                <a:latin typeface="Tahoma" panose="020B0604030504040204" pitchFamily="34" charset="0"/>
                <a:ea typeface="楷体_GB2312"/>
              </a:rPr>
              <a:t>输出</a:t>
            </a:r>
            <a:endParaRPr lang="en-US" altLang="zh-CN" sz="3200" dirty="0">
              <a:solidFill>
                <a:srgbClr val="FF0000"/>
              </a:solidFill>
              <a:latin typeface="Tahoma" panose="020B0604030504040204" pitchFamily="34" charset="0"/>
              <a:ea typeface="楷体_GB2312"/>
            </a:endParaRPr>
          </a:p>
          <a:p>
            <a:pPr marL="742950" marR="0" lvl="1" indent="-28575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800" b="1" dirty="0">
                <a:latin typeface="Tahoma" panose="020B0604030504040204" pitchFamily="34" charset="0"/>
                <a:ea typeface="楷体_GB2312"/>
              </a:rPr>
              <a:t>echo</a:t>
            </a:r>
          </a:p>
          <a:p>
            <a:pPr marL="742950" marR="0" lvl="1" indent="-28575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800" b="1" dirty="0" err="1">
                <a:latin typeface="Tahoma" panose="020B0604030504040204" pitchFamily="34" charset="0"/>
                <a:ea typeface="楷体_GB2312"/>
              </a:rPr>
              <a:t>printf</a:t>
            </a:r>
            <a:endParaRPr lang="en-US" altLang="zh-CN" sz="2800" b="1" dirty="0">
              <a:latin typeface="Tahoma" panose="020B0604030504040204" pitchFamily="34" charset="0"/>
              <a:ea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变量替换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83738"/>
              </p:ext>
            </p:extLst>
          </p:nvPr>
        </p:nvGraphicFramePr>
        <p:xfrm>
          <a:off x="539552" y="2252048"/>
          <a:ext cx="8274053" cy="4273296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功 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表 达 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说  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4857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使用默认值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若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存在且非空,则值为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;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若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未定义或为空值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,则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值为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，但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的值不变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赋予默认值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:=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若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存在且非空,则值为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;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若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未定义或为空值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,则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值为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word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，且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被赋值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+mn-cs"/>
                        </a:rPr>
                        <a:t>非空或未定义报错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:?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若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存在且非空,则值为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$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;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若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未定义或为空值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,则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输出信息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word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，并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终止脚本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使用另外的值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:+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word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若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存在且非空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,则值为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word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;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否则返回空值，但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的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值不变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2" charset="-122"/>
                          <a:cs typeface="+mn-cs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FB99087-B838-49DD-B556-3A3E3FB1D978}"/>
              </a:ext>
            </a:extLst>
          </p:cNvPr>
          <p:cNvSpPr txBox="1"/>
          <p:nvPr/>
        </p:nvSpPr>
        <p:spPr>
          <a:xfrm>
            <a:off x="827584" y="1394195"/>
            <a:ext cx="6696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0" hangingPunct="0">
              <a:buClr>
                <a:srgbClr val="0000FF"/>
              </a:buClr>
              <a:buSzPct val="60000"/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变量替换扩展</a:t>
            </a:r>
            <a:r>
              <a:rPr lang="en-US" altLang="zh-CN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—</a:t>
            </a: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变量测试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变量测试举例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576" y="1570310"/>
            <a:ext cx="7620000" cy="8318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blue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newcolor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=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:-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grey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576" y="2560910"/>
            <a:ext cx="7620000" cy="119697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unset color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"The sky is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:-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grey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today"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55576" y="3856310"/>
            <a:ext cx="7620000" cy="83185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"The sky is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:=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grey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today"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 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55576" y="4846910"/>
            <a:ext cx="7620000" cy="83185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"The sky is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:?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error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today"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55576" y="5837510"/>
            <a:ext cx="7620000" cy="83185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"The sky is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:+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blue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today"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color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变量测试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举例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620688"/>
            <a:ext cx="8407598" cy="58477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0000FF"/>
                </a:solidFill>
              </a:rPr>
              <a:t>[xl@localhost ~]$ echo "The sky is ${color:-gray} today"</a:t>
            </a:r>
          </a:p>
          <a:p>
            <a:r>
              <a:rPr lang="zh-CN" altLang="en-US" sz="2200" dirty="0"/>
              <a:t>The sky is gray today</a:t>
            </a:r>
          </a:p>
          <a:p>
            <a:r>
              <a:rPr lang="zh-CN" altLang="en-US" sz="2200" dirty="0">
                <a:solidFill>
                  <a:srgbClr val="0000FF"/>
                </a:solidFill>
              </a:rPr>
              <a:t>[xl@localhost ~]$ echo $color</a:t>
            </a:r>
          </a:p>
          <a:p>
            <a:endParaRPr lang="zh-CN" altLang="en-US" sz="2200" dirty="0"/>
          </a:p>
          <a:p>
            <a:r>
              <a:rPr lang="zh-CN" altLang="en-US" sz="2200" dirty="0">
                <a:solidFill>
                  <a:srgbClr val="0000FF"/>
                </a:solidFill>
              </a:rPr>
              <a:t>[xl@localhost ~]$ echo "The sky is ${color:=gray} today"</a:t>
            </a:r>
          </a:p>
          <a:p>
            <a:r>
              <a:rPr lang="zh-CN" altLang="en-US" sz="2200" dirty="0"/>
              <a:t>The sky is gray today</a:t>
            </a:r>
          </a:p>
          <a:p>
            <a:r>
              <a:rPr lang="zh-CN" altLang="en-US" sz="2200" dirty="0">
                <a:solidFill>
                  <a:srgbClr val="0000FF"/>
                </a:solidFill>
              </a:rPr>
              <a:t>[xl@localhost ~]$ echo $color</a:t>
            </a:r>
          </a:p>
          <a:p>
            <a:r>
              <a:rPr lang="zh-CN" altLang="en-US" sz="2200" dirty="0"/>
              <a:t>gray</a:t>
            </a:r>
          </a:p>
          <a:p>
            <a:r>
              <a:rPr lang="zh-CN" altLang="en-US" sz="2200" dirty="0">
                <a:solidFill>
                  <a:srgbClr val="0000FF"/>
                </a:solidFill>
              </a:rPr>
              <a:t>[xl@localhost ~]$ echo "The sky is ${color:?xxxx} today"</a:t>
            </a:r>
          </a:p>
          <a:p>
            <a:r>
              <a:rPr lang="zh-CN" altLang="en-US" sz="2200" dirty="0"/>
              <a:t>The sky is gray today</a:t>
            </a:r>
          </a:p>
          <a:p>
            <a:r>
              <a:rPr lang="zh-CN" altLang="en-US" sz="2200" dirty="0">
                <a:solidFill>
                  <a:srgbClr val="0000FF"/>
                </a:solidFill>
              </a:rPr>
              <a:t>[xl@localhost ~]$ echo $color</a:t>
            </a:r>
          </a:p>
          <a:p>
            <a:r>
              <a:rPr lang="en-US" altLang="zh-CN" sz="2200" dirty="0" smtClean="0"/>
              <a:t>g</a:t>
            </a:r>
            <a:r>
              <a:rPr lang="zh-CN" altLang="en-US" sz="2200" dirty="0" smtClean="0"/>
              <a:t>ray</a:t>
            </a:r>
            <a:endParaRPr lang="en-US" altLang="zh-CN" sz="2200" dirty="0" smtClean="0"/>
          </a:p>
          <a:p>
            <a:r>
              <a:rPr lang="en-US" altLang="zh-CN" sz="2200" dirty="0">
                <a:solidFill>
                  <a:srgbClr val="0000FF"/>
                </a:solidFill>
              </a:rPr>
              <a:t>[</a:t>
            </a:r>
            <a:r>
              <a:rPr lang="en-US" altLang="zh-CN" sz="22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200" dirty="0">
                <a:solidFill>
                  <a:srgbClr val="0000FF"/>
                </a:solidFill>
              </a:rPr>
              <a:t> ~]$ unset color</a:t>
            </a:r>
          </a:p>
          <a:p>
            <a:r>
              <a:rPr lang="en-US" altLang="zh-CN" sz="2200" dirty="0" smtClean="0">
                <a:solidFill>
                  <a:srgbClr val="0000FF"/>
                </a:solidFill>
              </a:rPr>
              <a:t>[</a:t>
            </a:r>
            <a:r>
              <a:rPr lang="en-US" altLang="zh-CN" sz="22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200" dirty="0">
                <a:solidFill>
                  <a:srgbClr val="0000FF"/>
                </a:solidFill>
              </a:rPr>
              <a:t> ~]$ echo "The sky is ${color:?</a:t>
            </a:r>
            <a:r>
              <a:rPr lang="en-US" altLang="zh-CN" sz="2200" dirty="0" err="1">
                <a:solidFill>
                  <a:srgbClr val="0000FF"/>
                </a:solidFill>
              </a:rPr>
              <a:t>xxxx</a:t>
            </a:r>
            <a:r>
              <a:rPr lang="en-US" altLang="zh-CN" sz="2200" dirty="0">
                <a:solidFill>
                  <a:srgbClr val="0000FF"/>
                </a:solidFill>
              </a:rPr>
              <a:t>} today"</a:t>
            </a:r>
          </a:p>
          <a:p>
            <a:r>
              <a:rPr lang="en-US" altLang="zh-CN" sz="2200" dirty="0"/>
              <a:t>bash: color: </a:t>
            </a:r>
            <a:r>
              <a:rPr lang="en-US" altLang="zh-CN" sz="2200" dirty="0" err="1" smtClean="0"/>
              <a:t>xxxx</a:t>
            </a:r>
            <a:endParaRPr lang="en-US" altLang="zh-CN" sz="2200" dirty="0" smtClean="0"/>
          </a:p>
          <a:p>
            <a:r>
              <a:rPr lang="en-US" altLang="zh-CN" sz="2200" dirty="0">
                <a:solidFill>
                  <a:srgbClr val="0000FF"/>
                </a:solidFill>
              </a:rPr>
              <a:t>[</a:t>
            </a:r>
            <a:r>
              <a:rPr lang="en-US" altLang="zh-CN" sz="22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200" dirty="0">
                <a:solidFill>
                  <a:srgbClr val="0000FF"/>
                </a:solidFill>
              </a:rPr>
              <a:t> ~]$ echo "The sky is ${color:+blue} today"</a:t>
            </a:r>
          </a:p>
          <a:p>
            <a:r>
              <a:rPr lang="en-US" altLang="zh-CN" sz="2200" dirty="0"/>
              <a:t>The sky is  </a:t>
            </a:r>
            <a:r>
              <a:rPr lang="en-US" altLang="zh-CN" sz="2200" dirty="0" smtClean="0"/>
              <a:t>today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480597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二 </a:t>
            </a:r>
            <a:r>
              <a:rPr lang="en-US" altLang="zh-CN" sz="4000" dirty="0"/>
              <a:t>Shell </a:t>
            </a:r>
            <a:r>
              <a:rPr lang="zh-CN" altLang="en-US" sz="4000" dirty="0"/>
              <a:t>变量操作</a:t>
            </a:r>
            <a:r>
              <a:rPr lang="en-US" altLang="zh-CN" sz="4000" dirty="0"/>
              <a:t>—</a:t>
            </a:r>
            <a:r>
              <a:rPr lang="zh-CN" altLang="en-US" sz="4000" dirty="0"/>
              <a:t>变量替换</a:t>
            </a:r>
            <a:endParaRPr lang="zh-CN" altLang="en-US" sz="3800" dirty="0"/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22948"/>
              </p:ext>
            </p:extLst>
          </p:nvPr>
        </p:nvGraphicFramePr>
        <p:xfrm>
          <a:off x="395536" y="2728304"/>
          <a:ext cx="8458200" cy="3148968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${#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返回字符串变量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的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长度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: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中从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第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个字符到最后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的部分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: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len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中从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第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个字符开始，长度为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len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的部分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删除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开头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pattern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最短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##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删除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开头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pattern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最长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%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删除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结尾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pattern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最短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%%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删除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结尾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pattern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最长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Line 39"/>
          <p:cNvSpPr>
            <a:spLocks noChangeShapeType="1"/>
          </p:cNvSpPr>
          <p:nvPr/>
        </p:nvSpPr>
        <p:spPr bwMode="auto">
          <a:xfrm flipV="1">
            <a:off x="1538536" y="2322896"/>
            <a:ext cx="2057400" cy="99060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Rectangle 40"/>
          <p:cNvSpPr>
            <a:spLocks noChangeArrowheads="1"/>
          </p:cNvSpPr>
          <p:nvPr/>
        </p:nvSpPr>
        <p:spPr bwMode="auto">
          <a:xfrm>
            <a:off x="3595936" y="2170496"/>
            <a:ext cx="3962400" cy="406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m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的取值从 0 到 </a:t>
            </a:r>
            <a:r>
              <a:rPr lang="en-US" altLang="zh-CN" sz="20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${#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var</a:t>
            </a:r>
            <a:r>
              <a:rPr lang="en-US" altLang="zh-CN" sz="20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}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-1</a:t>
            </a:r>
            <a:endParaRPr lang="zh-CN" altLang="en-US" sz="20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0" name="Line 42"/>
          <p:cNvSpPr>
            <a:spLocks noChangeShapeType="1"/>
          </p:cNvSpPr>
          <p:nvPr/>
        </p:nvSpPr>
        <p:spPr bwMode="auto">
          <a:xfrm flipV="1">
            <a:off x="1538536" y="2551496"/>
            <a:ext cx="2057400" cy="114300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Rectangle 36"/>
          <p:cNvSpPr>
            <a:spLocks noChangeArrowheads="1"/>
          </p:cNvSpPr>
          <p:nvPr/>
        </p:nvSpPr>
        <p:spPr bwMode="auto">
          <a:xfrm>
            <a:off x="1043608" y="6171426"/>
            <a:ext cx="7056784" cy="400110"/>
          </a:xfrm>
          <a:prstGeom prst="rect">
            <a:avLst/>
          </a:prstGeom>
          <a:noFill/>
          <a:ln w="57150" cmpd="thickThin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注：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pattern 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中可以使用</a:t>
            </a:r>
            <a:r>
              <a:rPr lang="zh-CN" altLang="en-US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通配符 </a:t>
            </a:r>
            <a:r>
              <a:rPr lang="en-US" altLang="zh-CN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*</a:t>
            </a:r>
            <a:r>
              <a:rPr lang="zh-CN" altLang="en-US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、？、</a:t>
            </a:r>
            <a:r>
              <a:rPr lang="en-US" altLang="zh-CN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[…]</a:t>
            </a:r>
            <a:r>
              <a:rPr lang="zh-CN" altLang="en-US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、</a:t>
            </a:r>
            <a:r>
              <a:rPr lang="en-US" altLang="zh-CN" sz="20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[!…]</a:t>
            </a:r>
            <a:r>
              <a:rPr lang="zh-CN" altLang="en-US" sz="2000" b="1" dirty="0" smtClean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。</a:t>
            </a:r>
            <a:endParaRPr lang="zh-CN" altLang="en-US" sz="2000" b="1" dirty="0">
              <a:solidFill>
                <a:srgbClr val="00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0029FF-F423-4862-8458-508F01AC8729}"/>
              </a:ext>
            </a:extLst>
          </p:cNvPr>
          <p:cNvSpPr txBox="1"/>
          <p:nvPr/>
        </p:nvSpPr>
        <p:spPr>
          <a:xfrm>
            <a:off x="564853" y="1350482"/>
            <a:ext cx="811956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0" hangingPunct="0">
              <a:buClr>
                <a:srgbClr val="0000FF"/>
              </a:buClr>
              <a:buSzPct val="60000"/>
              <a:buFont typeface="Tahoma" panose="020B0604030504040204" pitchFamily="34" charset="0"/>
              <a:buChar char="‣"/>
            </a:pPr>
            <a:r>
              <a:rPr lang="zh-CN" altLang="en-US" sz="38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变量替换扩展</a:t>
            </a:r>
            <a:r>
              <a:rPr lang="en-US" altLang="zh-CN" sz="38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—</a:t>
            </a:r>
            <a:r>
              <a:rPr lang="zh-CN" altLang="en-US" sz="38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字符串计数、截取</a:t>
            </a:r>
          </a:p>
        </p:txBody>
      </p:sp>
      <p:sp>
        <p:nvSpPr>
          <p:cNvPr id="3" name="矩形 2"/>
          <p:cNvSpPr/>
          <p:nvPr/>
        </p:nvSpPr>
        <p:spPr>
          <a:xfrm>
            <a:off x="7399160" y="6054080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ym typeface="Wingdings 2" panose="05020102010507070707" pitchFamily="18" charset="2"/>
              </a:rPr>
              <a:t></a:t>
            </a:r>
            <a:r>
              <a:rPr lang="en-US" altLang="zh-CN" dirty="0" smtClean="0"/>
              <a:t>P263</a:t>
            </a:r>
            <a:r>
              <a:rPr lang="zh-CN" altLang="en-US" dirty="0"/>
              <a:t>表</a:t>
            </a:r>
            <a:r>
              <a:rPr lang="en-US" altLang="zh-CN" dirty="0"/>
              <a:t>10-2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字符串变量计数、截取举例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71600" y="1412589"/>
            <a:ext cx="7482408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'I love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. I love UNIX too.’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71600" y="2060661"/>
            <a:ext cx="7482408" cy="2308324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{#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30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{str:13}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I love UNIX too.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{str:7:5}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endParaRPr lang="en-US" altLang="zh-CN" sz="2400" b="1" dirty="0">
              <a:solidFill>
                <a:srgbClr val="003300"/>
              </a:solidFill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971600" y="4520909"/>
            <a:ext cx="7482408" cy="224676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#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love}</a:t>
            </a:r>
            <a:endParaRPr lang="zh-CN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. I love UNIX too.</a:t>
            </a: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%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*.}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I love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. I love UN.</a:t>
            </a: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##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I*}</a:t>
            </a:r>
          </a:p>
          <a:p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sz="4400" dirty="0"/>
              <a:t>—</a:t>
            </a:r>
            <a:r>
              <a:rPr lang="zh-CN" altLang="en-US" sz="4400" dirty="0"/>
              <a:t>变量替换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163464"/>
              </p:ext>
            </p:extLst>
          </p:nvPr>
        </p:nvGraphicFramePr>
        <p:xfrm>
          <a:off x="539744" y="2492896"/>
          <a:ext cx="8208912" cy="1647508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old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new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用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new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替换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中第一次出现的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old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//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old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new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用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new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替换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中所有的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old(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全局替换)</a:t>
                      </a: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/#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old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new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用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new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替换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开头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old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匹配的部分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${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/%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old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  <a:cs typeface="+mn-cs"/>
                        </a:rPr>
                        <a:t>new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}</a:t>
                      </a:r>
                    </a:p>
                  </a:txBody>
                  <a:tcPr marL="53340" marR="533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用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new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替换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$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{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var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}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结尾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部分与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old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匹配的部分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marL="53340" marR="533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6"/>
          <p:cNvSpPr>
            <a:spLocks noChangeArrowheads="1"/>
          </p:cNvSpPr>
          <p:nvPr/>
        </p:nvSpPr>
        <p:spPr bwMode="auto">
          <a:xfrm>
            <a:off x="1259632" y="4797152"/>
            <a:ext cx="7056784" cy="1015663"/>
          </a:xfrm>
          <a:prstGeom prst="rect">
            <a:avLst/>
          </a:prstGeom>
          <a:noFill/>
          <a:ln w="57150" cmpd="thickThin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注：</a:t>
            </a:r>
            <a:endParaRPr lang="en-US" altLang="zh-CN" sz="2000" b="1" dirty="0">
              <a:solidFill>
                <a:srgbClr val="003300"/>
              </a:solidFill>
              <a:latin typeface="Courier New" pitchFamily="49" charset="0"/>
              <a:ea typeface="楷体_GB2312" pitchFamily="49" charset="-122"/>
            </a:endParaRPr>
          </a:p>
          <a:p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）</a:t>
            </a:r>
            <a:r>
              <a:rPr lang="en-US" altLang="zh-CN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old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中可以使用 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通配符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。</a:t>
            </a:r>
            <a:endParaRPr lang="en-US" altLang="zh-CN" sz="2000" b="1" dirty="0">
              <a:solidFill>
                <a:srgbClr val="003300"/>
              </a:solidFill>
              <a:latin typeface="Courier New" pitchFamily="49" charset="0"/>
              <a:ea typeface="楷体_GB2312" pitchFamily="49" charset="-122"/>
            </a:endParaRPr>
          </a:p>
          <a:p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2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）</a:t>
            </a:r>
            <a:r>
              <a:rPr lang="en-US" altLang="zh-CN" sz="2000" b="1" dirty="0" err="1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var</a:t>
            </a:r>
            <a:r>
              <a:rPr lang="en-US" altLang="zh-CN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可以是 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@</a:t>
            </a:r>
            <a:r>
              <a:rPr lang="en-US" altLang="zh-CN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或 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</a:rPr>
              <a:t>*</a:t>
            </a:r>
            <a:r>
              <a:rPr lang="zh-CN" altLang="en-US" sz="2000" b="1" dirty="0">
                <a:solidFill>
                  <a:srgbClr val="003300"/>
                </a:solidFill>
                <a:latin typeface="Courier New" pitchFamily="49" charset="0"/>
                <a:ea typeface="楷体_GB2312" pitchFamily="49" charset="-122"/>
              </a:rPr>
              <a:t>，表示对每个位置参数进行替换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2CE830-6A74-4949-9B23-68C2D2E4394C}"/>
              </a:ext>
            </a:extLst>
          </p:cNvPr>
          <p:cNvSpPr txBox="1"/>
          <p:nvPr/>
        </p:nvSpPr>
        <p:spPr>
          <a:xfrm>
            <a:off x="638788" y="1440515"/>
            <a:ext cx="8119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0" hangingPunct="0">
              <a:buClr>
                <a:srgbClr val="0000FF"/>
              </a:buClr>
              <a:buSzPct val="60000"/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变量替换扩展</a:t>
            </a:r>
            <a:r>
              <a:rPr lang="en-US" altLang="zh-CN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—</a:t>
            </a: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字符串替换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字符串变量替换举例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576" y="1700808"/>
            <a:ext cx="76200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'I love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. I love UNIX too.’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576" y="2348880"/>
            <a:ext cx="7620000" cy="4154984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/love/like}</a:t>
            </a:r>
          </a:p>
          <a:p>
            <a:pPr>
              <a:buClr>
                <a:srgbClr val="FF3300"/>
              </a:buClr>
            </a:pPr>
            <a:r>
              <a:rPr lang="nn-NO" altLang="zh-CN" sz="2200" b="1" dirty="0">
                <a:solidFill>
                  <a:srgbClr val="002060"/>
                </a:solidFill>
                <a:latin typeface="Courier New" pitchFamily="49" charset="0"/>
              </a:rPr>
              <a:t>I like linux. I love UNIX too.</a:t>
            </a:r>
            <a:endParaRPr lang="en-US" altLang="zh-CN" sz="2200" b="1" dirty="0">
              <a:solidFill>
                <a:srgbClr val="002060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love/like}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I like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</a:rPr>
              <a:t>linux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. I like UNIX too.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/I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/I like FreeBSD}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I like FreeBSD. I love UNIX too.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#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I love/"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J'aime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"}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J'aime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. I love UNIX too.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I love/"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J'aime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"}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fr-FR" altLang="zh-CN" sz="2200" b="1" dirty="0">
                <a:solidFill>
                  <a:srgbClr val="0000CC"/>
                </a:solidFill>
                <a:latin typeface="Courier New" pitchFamily="49" charset="0"/>
              </a:rPr>
              <a:t>J'aime linux. J'aime UNIX too.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str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/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%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too./also.}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I love </a:t>
            </a:r>
            <a:r>
              <a:rPr lang="en-US" altLang="zh-CN" sz="22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200" b="1" dirty="0">
                <a:solidFill>
                  <a:srgbClr val="0000CC"/>
                </a:solidFill>
                <a:latin typeface="Courier New" pitchFamily="49" charset="0"/>
              </a:rPr>
              <a:t>. I love UNIX also.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字符串变量替换举例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576" y="1628800"/>
            <a:ext cx="76200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da-DK" altLang="zh-CN" sz="2400" b="1" dirty="0">
                <a:solidFill>
                  <a:srgbClr val="0000CC"/>
                </a:solidFill>
                <a:latin typeface="Courier New" pitchFamily="49" charset="0"/>
              </a:rPr>
              <a:t>set 1v1 1v2 1v3 1v4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55576" y="2301840"/>
            <a:ext cx="7620000" cy="378565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@</a:t>
            </a:r>
            <a:endParaRPr lang="zh-CN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da-DK" altLang="zh-CN" sz="2400" b="1" dirty="0">
                <a:solidFill>
                  <a:srgbClr val="0000CC"/>
                </a:solidFill>
                <a:latin typeface="Courier New" pitchFamily="49" charset="0"/>
              </a:rPr>
              <a:t>1v1 1v2 1v3 1v4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{@/1/a}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av1 av2 av3 av4</a:t>
            </a: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{@//1/a}</a:t>
            </a:r>
          </a:p>
          <a:p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ava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av2 av3 av4</a:t>
            </a: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{@/%1/a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</a:rPr>
              <a:t>}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1va 1v2 1v3 1v4</a:t>
            </a:r>
          </a:p>
          <a:p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echo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{@/#1/a}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av1 av2 av3 av4</a:t>
            </a:r>
          </a:p>
        </p:txBody>
      </p:sp>
      <p:sp>
        <p:nvSpPr>
          <p:cNvPr id="3" name="矩形 2"/>
          <p:cNvSpPr/>
          <p:nvPr/>
        </p:nvSpPr>
        <p:spPr>
          <a:xfrm>
            <a:off x="3707904" y="2292960"/>
            <a:ext cx="46676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$@</a:t>
            </a:r>
            <a:r>
              <a:rPr lang="zh-CN" altLang="en-US" sz="2000" dirty="0" smtClean="0"/>
              <a:t>表示：传递</a:t>
            </a:r>
            <a:r>
              <a:rPr lang="zh-CN" altLang="en-US" sz="2000" dirty="0"/>
              <a:t>给函数或脚本的所有参数</a:t>
            </a:r>
          </a:p>
        </p:txBody>
      </p:sp>
      <p:sp>
        <p:nvSpPr>
          <p:cNvPr id="4" name="矩形 3"/>
          <p:cNvSpPr/>
          <p:nvPr/>
        </p:nvSpPr>
        <p:spPr>
          <a:xfrm>
            <a:off x="3711972" y="4869160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对每个位置参数进行替换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899592" y="5301208"/>
            <a:ext cx="626469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755576" y="2693070"/>
            <a:ext cx="626469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变量替换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3613" y="2060848"/>
            <a:ext cx="7772400" cy="4114800"/>
          </a:xfrm>
        </p:spPr>
        <p:txBody>
          <a:bodyPr/>
          <a:lstStyle/>
          <a:p>
            <a:r>
              <a:rPr lang="zh-CN" altLang="en-US" dirty="0">
                <a:ea typeface="黑体" pitchFamily="2" charset="-122"/>
              </a:rPr>
              <a:t>通过 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的值来引用 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</a:rPr>
              <a:t>str1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的值</a:t>
            </a:r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09600" y="2097361"/>
            <a:ext cx="7315200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str1="Hello World"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str2=str1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1560" y="3609529"/>
            <a:ext cx="3528392" cy="286232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＃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bash2.0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以上才支持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${!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endParaRPr lang="zh-CN" altLang="en-US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latin typeface="Courier New" pitchFamily="49" charset="0"/>
              </a:rPr>
              <a:t>Hello World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或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${!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latin typeface="Courier New" pitchFamily="49" charset="0"/>
              </a:rPr>
              <a:t>Hello World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457762" y="3816434"/>
            <a:ext cx="3960440" cy="249299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\$$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endParaRPr lang="zh-CN" altLang="en-US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latin typeface="Courier New" pitchFamily="49" charset="0"/>
              </a:rPr>
              <a:t>Hello World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或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echo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\$$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</a:p>
          <a:p>
            <a:pPr>
              <a:buClr>
                <a:srgbClr val="FF3300"/>
              </a:buClr>
            </a:pPr>
            <a:r>
              <a:rPr lang="en-US" altLang="zh-CN" sz="2800" b="1" dirty="0">
                <a:latin typeface="Courier New" pitchFamily="49" charset="0"/>
              </a:rPr>
              <a:t>Hello World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5856" y="2474573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/>
              <a:t>？</a:t>
            </a:r>
            <a:r>
              <a:rPr lang="en-US" altLang="zh-CN" sz="2800" b="1" dirty="0">
                <a:solidFill>
                  <a:srgbClr val="FF0000"/>
                </a:solidFill>
              </a:rPr>
              <a:t>str1</a:t>
            </a:r>
            <a:r>
              <a:rPr lang="en-US" altLang="zh-CN" sz="2800" b="1" dirty="0"/>
              <a:t> or Hello World</a:t>
            </a:r>
            <a:endParaRPr lang="zh-CN" altLang="en-US" sz="4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DEEF87-8A5C-4DD6-9B55-074450D39D7F}"/>
              </a:ext>
            </a:extLst>
          </p:cNvPr>
          <p:cNvSpPr txBox="1"/>
          <p:nvPr/>
        </p:nvSpPr>
        <p:spPr>
          <a:xfrm>
            <a:off x="827584" y="1280741"/>
            <a:ext cx="8119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0" hangingPunct="0">
              <a:buClr>
                <a:srgbClr val="0000FF"/>
              </a:buClr>
              <a:buSzPct val="60000"/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变量的间接引用</a:t>
            </a:r>
          </a:p>
        </p:txBody>
      </p:sp>
      <p:sp>
        <p:nvSpPr>
          <p:cNvPr id="4" name="矩形 3"/>
          <p:cNvSpPr/>
          <p:nvPr/>
        </p:nvSpPr>
        <p:spPr>
          <a:xfrm>
            <a:off x="5220073" y="1109609"/>
            <a:ext cx="360040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/>
              <a:t>[</a:t>
            </a:r>
            <a:r>
              <a:rPr lang="en-US" altLang="zh-CN" sz="2000" dirty="0" err="1"/>
              <a:t>xl@localhost</a:t>
            </a:r>
            <a:r>
              <a:rPr lang="en-US" altLang="zh-CN" sz="2000" dirty="0"/>
              <a:t> ~]$ str1="hello world"</a:t>
            </a:r>
          </a:p>
          <a:p>
            <a:r>
              <a:rPr lang="en-US" altLang="zh-CN" sz="2000" dirty="0"/>
              <a:t>[</a:t>
            </a:r>
            <a:r>
              <a:rPr lang="en-US" altLang="zh-CN" sz="2000" dirty="0" err="1"/>
              <a:t>xl@localhost</a:t>
            </a:r>
            <a:r>
              <a:rPr lang="en-US" altLang="zh-CN" sz="2000" dirty="0"/>
              <a:t> ~]$ str2=str1</a:t>
            </a:r>
          </a:p>
          <a:p>
            <a:r>
              <a:rPr lang="en-US" altLang="zh-CN" sz="2000" dirty="0"/>
              <a:t>[</a:t>
            </a:r>
            <a:r>
              <a:rPr lang="en-US" altLang="zh-CN" sz="2000" dirty="0" err="1"/>
              <a:t>xl@localhost</a:t>
            </a:r>
            <a:r>
              <a:rPr lang="en-US" altLang="zh-CN" sz="2000" dirty="0"/>
              <a:t> ~]$ echo $str2</a:t>
            </a:r>
          </a:p>
          <a:p>
            <a:r>
              <a:rPr lang="en-US" altLang="zh-CN" sz="2000" dirty="0"/>
              <a:t>str1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963613" y="2132856"/>
            <a:ext cx="7772400" cy="4114800"/>
          </a:xfrm>
        </p:spPr>
        <p:txBody>
          <a:bodyPr/>
          <a:lstStyle/>
          <a:p>
            <a:r>
              <a:rPr lang="zh-CN" altLang="en-US" dirty="0">
                <a:ea typeface="黑体" pitchFamily="2" charset="-122"/>
              </a:rPr>
              <a:t>通过 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</a:rPr>
              <a:t>x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的值来引用 </a:t>
            </a:r>
            <a:r>
              <a:rPr lang="en-US" altLang="zh-CN" sz="3200" b="1" dirty="0">
                <a:solidFill>
                  <a:srgbClr val="0000CC"/>
                </a:solidFill>
                <a:latin typeface="Courier New" pitchFamily="49" charset="0"/>
              </a:rPr>
              <a:t>CENTOS_URL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的值</a:t>
            </a:r>
            <a:endParaRPr lang="zh-CN" alt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87243" y="2829094"/>
            <a:ext cx="8208912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x="CENTOS"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CENTOS_URL="http://mirrors.163.com/centos/"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0622" y="4063952"/>
            <a:ext cx="5760640" cy="2308324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＃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bash2.0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以上才支持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${x}_URL</a:t>
            </a:r>
            <a:endParaRPr lang="zh-CN" altLang="en-US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CENTOS_URL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${!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http://mirrors.163.com/centos/ 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669755" y="4050508"/>
            <a:ext cx="4253359" cy="15696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\$$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{x}_URL</a:t>
            </a:r>
            <a:endParaRPr lang="zh-CN" altLang="en-US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或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\$$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{x}_URL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E2AF0DBF-F0F0-4F8B-9DAF-E7D364F0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3" y="191715"/>
            <a:ext cx="7793037" cy="1052513"/>
          </a:xfrm>
        </p:spPr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变量替换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E72AE9-5279-4C62-B50E-A299AA2F9680}"/>
              </a:ext>
            </a:extLst>
          </p:cNvPr>
          <p:cNvSpPr txBox="1"/>
          <p:nvPr/>
        </p:nvSpPr>
        <p:spPr>
          <a:xfrm>
            <a:off x="827584" y="1280741"/>
            <a:ext cx="8119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0" hangingPunct="0">
              <a:buClr>
                <a:srgbClr val="0000FF"/>
              </a:buClr>
              <a:buSzPct val="60000"/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变量的间接引用（续）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内置命令</a:t>
            </a:r>
            <a:r>
              <a:rPr lang="en-US" altLang="zh-CN" dirty="0"/>
              <a:t>——eval</a:t>
            </a:r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47665" y="4221088"/>
            <a:ext cx="6048672" cy="83185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listpage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="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ls -l | more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"</a:t>
            </a:r>
            <a:endParaRPr lang="zh-CN" altLang="en-US" sz="2400" b="1" dirty="0">
              <a:solidFill>
                <a:srgbClr val="006600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listpage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012031" y="1402759"/>
            <a:ext cx="6912769" cy="586379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eval 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arg1</a:t>
            </a: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 [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arg2</a:t>
            </a: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] ... [</a:t>
            </a:r>
            <a:r>
              <a:rPr lang="en-US" altLang="zh-CN" sz="2800" b="1" dirty="0" err="1">
                <a:solidFill>
                  <a:srgbClr val="0000CC"/>
                </a:solidFill>
                <a:latin typeface="Courier New" pitchFamily="49" charset="0"/>
              </a:rPr>
              <a:t>argN</a:t>
            </a: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]</a:t>
            </a:r>
            <a:endParaRPr lang="en-US" altLang="zh-CN" sz="2800" b="1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012031" y="1989138"/>
            <a:ext cx="7376393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0000CC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黑体" pitchFamily="2" charset="-122"/>
              </a:rPr>
              <a:t> 对参数进行两次扫描和替换</a:t>
            </a:r>
            <a:endParaRPr lang="en-US" altLang="zh-CN" sz="3200" dirty="0">
              <a:ea typeface="黑体" pitchFamily="2" charset="-122"/>
            </a:endParaRPr>
          </a:p>
          <a:p>
            <a:pPr marL="800100" lvl="1" indent="-342900">
              <a:lnSpc>
                <a:spcPct val="120000"/>
              </a:lnSpc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chemeClr val="tx1"/>
                </a:solidFill>
                <a:latin typeface="+mn-ea"/>
                <a:ea typeface="+mn-ea"/>
              </a:rPr>
              <a:t>将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所有的参数连接成一个表达式，并计算或执行该表达式</a:t>
            </a:r>
            <a:endParaRPr lang="en-US" altLang="zh-CN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chemeClr val="tx1"/>
                </a:solidFill>
                <a:latin typeface="+mn-ea"/>
                <a:ea typeface="+mn-ea"/>
              </a:rPr>
              <a:t>参数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中的任何变量都将被展开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内置命令</a:t>
            </a:r>
            <a:r>
              <a:rPr lang="en-US" altLang="zh-CN" dirty="0"/>
              <a:t>——eval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3568" y="1628800"/>
            <a:ext cx="75608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touch file1.txt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vim file1.txt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myfile="cat file1.txt"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echo $myfile</a:t>
            </a:r>
          </a:p>
          <a:p>
            <a:r>
              <a:rPr lang="zh-CN" altLang="en-US" sz="2400" dirty="0"/>
              <a:t>cat file1.txt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eval echo $myfile</a:t>
            </a:r>
          </a:p>
          <a:p>
            <a:r>
              <a:rPr lang="zh-CN" altLang="en-US" sz="2400" dirty="0"/>
              <a:t>cat file1.txt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eval $myfile</a:t>
            </a:r>
          </a:p>
          <a:p>
            <a:r>
              <a:rPr lang="zh-CN" altLang="en-US" sz="2400" dirty="0"/>
              <a:t>this is file1.txt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echo $myfile</a:t>
            </a:r>
          </a:p>
          <a:p>
            <a:r>
              <a:rPr lang="zh-CN" altLang="en-US" sz="2400" dirty="0"/>
              <a:t>cat file1.txt</a:t>
            </a:r>
          </a:p>
        </p:txBody>
      </p:sp>
    </p:spTree>
    <p:extLst>
      <p:ext uri="{BB962C8B-B14F-4D97-AF65-F5344CB8AC3E}">
        <p14:creationId xmlns:p14="http://schemas.microsoft.com/office/powerpoint/2010/main" val="210075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输入</a:t>
            </a:r>
            <a:r>
              <a:rPr lang="en-US" altLang="zh-CN" dirty="0"/>
              <a:t>read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371600"/>
            <a:ext cx="7772400" cy="5486400"/>
          </a:xfrm>
        </p:spPr>
        <p:txBody>
          <a:bodyPr/>
          <a:lstStyle/>
          <a:p>
            <a:r>
              <a:rPr lang="zh-CN" altLang="en-US" dirty="0"/>
              <a:t>从键盘输入内容为变量赋值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read  [-p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"</a:t>
            </a:r>
            <a:r>
              <a:rPr lang="zh-CN" altLang="en-US" b="1" dirty="0">
                <a:solidFill>
                  <a:srgbClr val="FF0000"/>
                </a:solidFill>
              </a:rPr>
              <a:t>信息</a:t>
            </a:r>
            <a:r>
              <a:rPr lang="en-US" altLang="zh-CN" b="1" dirty="0">
                <a:solidFill>
                  <a:srgbClr val="FF0000"/>
                </a:solidFill>
              </a:rPr>
              <a:t>"]  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</a:rPr>
              <a:t>[var1 var2 ...]</a:t>
            </a:r>
          </a:p>
          <a:p>
            <a:pPr lvl="1"/>
            <a:r>
              <a:rPr lang="zh-CN" altLang="en-US" dirty="0"/>
              <a:t>若</a:t>
            </a:r>
            <a:r>
              <a:rPr lang="zh-CN" altLang="en-US" dirty="0">
                <a:solidFill>
                  <a:srgbClr val="FF0000"/>
                </a:solidFill>
              </a:rPr>
              <a:t>省略变量名</a:t>
            </a:r>
            <a:r>
              <a:rPr lang="zh-CN" altLang="en-US" dirty="0"/>
              <a:t>，则将输入的内容存入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  <a:sym typeface="Wingdings" pitchFamily="2" charset="2"/>
              </a:rPr>
              <a:t>REPLY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变量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结合不同的引号为变量赋值</a:t>
            </a:r>
          </a:p>
          <a:p>
            <a:pPr lvl="1"/>
            <a:r>
              <a:rPr lang="zh-CN" altLang="en-US" sz="2400" dirty="0"/>
              <a:t>双引号 </a:t>
            </a:r>
            <a:r>
              <a:rPr lang="en-US" altLang="zh-CN" sz="2400" b="1" dirty="0">
                <a:solidFill>
                  <a:srgbClr val="FF0000"/>
                </a:solidFill>
              </a:rPr>
              <a:t>” ”</a:t>
            </a:r>
            <a:r>
              <a:rPr lang="zh-CN" altLang="en-US" sz="2400" dirty="0"/>
              <a:t>：允许通过</a:t>
            </a:r>
            <a:r>
              <a:rPr lang="en-US" altLang="zh-CN" sz="2400" dirty="0">
                <a:solidFill>
                  <a:srgbClr val="FF0000"/>
                </a:solidFill>
              </a:rPr>
              <a:t>$</a:t>
            </a:r>
            <a:r>
              <a:rPr lang="zh-CN" altLang="en-US" sz="2400" dirty="0">
                <a:solidFill>
                  <a:srgbClr val="FF0000"/>
                </a:solidFill>
              </a:rPr>
              <a:t>符号引用</a:t>
            </a:r>
            <a:r>
              <a:rPr lang="zh-CN" altLang="en-US" sz="2400" dirty="0"/>
              <a:t>其他</a:t>
            </a:r>
            <a:r>
              <a:rPr lang="zh-CN" altLang="en-US" sz="2400" dirty="0">
                <a:solidFill>
                  <a:srgbClr val="FF0000"/>
                </a:solidFill>
              </a:rPr>
              <a:t>变量值</a:t>
            </a:r>
          </a:p>
          <a:p>
            <a:pPr lvl="1"/>
            <a:r>
              <a:rPr lang="zh-CN" altLang="en-US" sz="2400" dirty="0"/>
              <a:t>单引号 </a:t>
            </a:r>
            <a:r>
              <a:rPr lang="en-US" altLang="zh-CN" sz="2400" b="1" dirty="0">
                <a:solidFill>
                  <a:srgbClr val="FF0000"/>
                </a:solidFill>
              </a:rPr>
              <a:t>’ ’</a:t>
            </a:r>
            <a:r>
              <a:rPr lang="zh-CN" altLang="en-US" sz="2400" dirty="0"/>
              <a:t>：禁止引用其他变量值，</a:t>
            </a:r>
            <a:r>
              <a:rPr lang="en-US" altLang="zh-CN" sz="2400" dirty="0"/>
              <a:t>$</a:t>
            </a:r>
            <a:r>
              <a:rPr lang="zh-CN" altLang="en-US" sz="2400" dirty="0"/>
              <a:t>视为普通字符</a:t>
            </a:r>
          </a:p>
          <a:p>
            <a:pPr lvl="1"/>
            <a:r>
              <a:rPr lang="zh-CN" altLang="en-US" sz="2400" dirty="0"/>
              <a:t>反撇号</a:t>
            </a:r>
            <a:r>
              <a:rPr lang="zh-CN" altLang="en-US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` `</a:t>
            </a:r>
            <a:r>
              <a:rPr lang="en-US" altLang="zh-CN" sz="2400" b="1" dirty="0"/>
              <a:t> </a:t>
            </a:r>
            <a:r>
              <a:rPr lang="zh-CN" altLang="en-US" sz="2400" dirty="0"/>
              <a:t>：将命令执行的结果输出给变量</a:t>
            </a:r>
          </a:p>
          <a:p>
            <a:r>
              <a:rPr lang="zh-CN" altLang="en-US" dirty="0"/>
              <a:t>更多</a:t>
            </a:r>
            <a:r>
              <a:rPr lang="en-US" altLang="zh-CN" dirty="0"/>
              <a:t>read</a:t>
            </a:r>
            <a:r>
              <a:rPr lang="zh-CN" altLang="en-US" dirty="0"/>
              <a:t>的用法参见</a:t>
            </a:r>
            <a:endParaRPr lang="en-US" altLang="zh-CN" dirty="0"/>
          </a:p>
          <a:p>
            <a:pPr lvl="1"/>
            <a:r>
              <a:rPr lang="en-US" altLang="zh-CN" sz="2400" dirty="0"/>
              <a:t>http://bash.cyberciti.biz/guide/Getting_User_Input_Via_Keyboard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 </a:t>
            </a:r>
            <a:r>
              <a:rPr lang="zh-CN" altLang="en-US" dirty="0"/>
              <a:t>举例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51520" y="1412776"/>
            <a:ext cx="8695630" cy="405341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read -p "Please input </a:t>
            </a:r>
            <a:r>
              <a:rPr lang="en-US" altLang="zh-CN" sz="2200" b="1" dirty="0" smtClean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value 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of A:"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Please input the value of A:33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echo $REPLY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33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read -p "Please input </a:t>
            </a:r>
            <a:r>
              <a:rPr lang="en-US" altLang="zh-CN" sz="2200" b="1" dirty="0" smtClean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value 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of A:" A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Please input the value of A:33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echo $A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33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read -p "Please input the value of A and B:" A B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Please input the value of A and B:33a 22b          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echo $A $B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33a 22b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xl@localhost</a:t>
            </a:r>
            <a:r>
              <a:rPr lang="en-US" altLang="zh-CN" sz="2200" b="1" dirty="0">
                <a:solidFill>
                  <a:srgbClr val="0000FF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~]$ </a:t>
            </a:r>
          </a:p>
        </p:txBody>
      </p:sp>
      <p:sp>
        <p:nvSpPr>
          <p:cNvPr id="3" name="矩形 2"/>
          <p:cNvSpPr/>
          <p:nvPr/>
        </p:nvSpPr>
        <p:spPr>
          <a:xfrm>
            <a:off x="251520" y="5461108"/>
            <a:ext cx="869563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 smtClean="0"/>
              <a:t>★命令</a:t>
            </a:r>
            <a:r>
              <a:rPr lang="en-US" altLang="zh-CN" sz="2200" dirty="0" smtClean="0"/>
              <a:t>read</a:t>
            </a:r>
            <a:r>
              <a:rPr lang="zh-CN" altLang="en-US" sz="2200" dirty="0" smtClean="0"/>
              <a:t>的参数：</a:t>
            </a:r>
            <a:endParaRPr lang="en-US" altLang="zh-CN" sz="2200" dirty="0" smtClean="0"/>
          </a:p>
          <a:p>
            <a:r>
              <a:rPr lang="en-US" altLang="zh-CN" sz="2200" dirty="0" smtClean="0"/>
              <a:t>-</a:t>
            </a:r>
            <a:r>
              <a:rPr lang="en-US" altLang="zh-CN" sz="2200" dirty="0"/>
              <a:t>s	</a:t>
            </a:r>
            <a:r>
              <a:rPr lang="zh-CN" altLang="en-US" sz="2200" dirty="0"/>
              <a:t>隐藏用户键入的值</a:t>
            </a:r>
          </a:p>
          <a:p>
            <a:r>
              <a:rPr lang="en-US" altLang="zh-CN" sz="2200" dirty="0"/>
              <a:t>-p	</a:t>
            </a:r>
            <a:r>
              <a:rPr lang="zh-CN" altLang="en-US" sz="2200" dirty="0"/>
              <a:t>打印提示信息来提示用户输入正确的内容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只读变量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012031" y="2092678"/>
            <a:ext cx="7185940" cy="55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只读变量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23700" y="1368713"/>
            <a:ext cx="6874271" cy="58785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990000"/>
                </a:solidFill>
                <a:latin typeface="Courier New" pitchFamily="49" charset="0"/>
              </a:rPr>
              <a:t>readonly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variable</a:t>
            </a:r>
            <a:endParaRPr lang="en-US" altLang="zh-CN" sz="2800" b="1" dirty="0">
              <a:solidFill>
                <a:schemeClr val="hlink"/>
              </a:solidFill>
              <a:latin typeface="Courier New" pitchFamily="49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195736" y="2539898"/>
            <a:ext cx="5570756" cy="55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是指不能被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清除或重新赋值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的变量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84" y="3263826"/>
            <a:ext cx="784887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[lrj@centos1 ~]$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=Osmond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[lrj@centos1 ~]$ echo $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Osmond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[lrj@centos1 ~]$ </a:t>
            </a: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readonly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[lrj@centos1 ~]$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unset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myname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-bash: unset: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: cannot unset: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readonly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 variable</a:t>
            </a:r>
          </a:p>
          <a:p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[lrj@centos1 ~]$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="Osmond Liang"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-bash: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: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</a:rPr>
              <a:t>readonly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 variable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同时输出多行信息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1" y="1371600"/>
            <a:ext cx="7772400" cy="2921496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echo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spcBef>
                <a:spcPts val="0"/>
              </a:spcBef>
            </a:pP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  here file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590" y="2132300"/>
            <a:ext cx="7836421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echo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"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Line1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Line2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Line3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"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600" y="4842838"/>
            <a:ext cx="7836421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cat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&lt;&lt;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_END_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Line1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Line2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Line3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_END_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7743" y="2708920"/>
            <a:ext cx="6120681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b="1" dirty="0"/>
              <a:t> </a:t>
            </a:r>
            <a:r>
              <a:rPr lang="zh-CN" altLang="en-US" sz="2000" b="1" dirty="0"/>
              <a:t>多行内容中不能出现双引号，否则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</a:rPr>
              <a:t>echo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提前结束</a:t>
            </a:r>
            <a:endParaRPr lang="en-US" altLang="zh-CN" sz="2000" b="1" dirty="0"/>
          </a:p>
          <a:p>
            <a:pPr>
              <a:buFont typeface="Arial" pitchFamily="34" charset="0"/>
              <a:buChar char="•"/>
            </a:pPr>
            <a:r>
              <a:rPr lang="zh-CN" altLang="en-US" sz="2000" b="1" dirty="0"/>
              <a:t> 若确实需要使用双引号，需使用转义字符：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 \"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312416" y="5447855"/>
            <a:ext cx="6076008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_END_</a:t>
            </a:r>
            <a:r>
              <a:rPr lang="zh-CN" altLang="en-US" sz="2000" b="1" dirty="0"/>
              <a:t>可以是任意字符串，只要上下一致即可</a:t>
            </a:r>
            <a:endParaRPr lang="en-US" altLang="zh-CN" sz="2000" b="1" dirty="0"/>
          </a:p>
          <a:p>
            <a:pPr algn="just">
              <a:buFont typeface="Arial" pitchFamily="34" charset="0"/>
              <a:buChar char="•"/>
            </a:pPr>
            <a:r>
              <a:rPr lang="zh-CN" altLang="en-US" sz="2000" b="1" dirty="0"/>
              <a:t>   多行内容中不能出现内容为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_END_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开始</a:t>
            </a:r>
            <a:r>
              <a:rPr lang="zh-CN" altLang="en-US" sz="2000" b="1" dirty="0"/>
              <a:t>的行，否则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</a:rPr>
              <a:t>cat </a:t>
            </a:r>
            <a:r>
              <a:rPr lang="zh-CN" altLang="en-US" sz="2000" b="1" dirty="0"/>
              <a:t>提前</a:t>
            </a:r>
            <a:r>
              <a:rPr lang="zh-CN" altLang="en-US" sz="2000" b="1" dirty="0" smtClean="0"/>
              <a:t>结束</a:t>
            </a:r>
            <a:endParaRPr lang="en-US" altLang="zh-CN" sz="2000" b="1" dirty="0" smtClean="0"/>
          </a:p>
          <a:p>
            <a:pPr algn="just">
              <a:buFont typeface="Arial" pitchFamily="34" charset="0"/>
              <a:buChar char="•"/>
            </a:pPr>
            <a:r>
              <a:rPr lang="zh-CN" altLang="en-US" sz="2000" b="1" dirty="0" smtClean="0"/>
              <a:t>  将两个标志符中间的内容作为参数，传递给命令</a:t>
            </a:r>
            <a:endParaRPr lang="zh-CN" altLang="en-US" sz="2000" b="1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5348CFE-9687-442C-9190-5502E8E43DF2}"/>
              </a:ext>
            </a:extLst>
          </p:cNvPr>
          <p:cNvCxnSpPr/>
          <p:nvPr/>
        </p:nvCxnSpPr>
        <p:spPr bwMode="auto">
          <a:xfrm flipH="1">
            <a:off x="3347864" y="5013176"/>
            <a:ext cx="648072" cy="1594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11EBA50-5C4B-4511-8BB8-69AA68740E78}"/>
              </a:ext>
            </a:extLst>
          </p:cNvPr>
          <p:cNvSpPr txBox="1"/>
          <p:nvPr/>
        </p:nvSpPr>
        <p:spPr>
          <a:xfrm>
            <a:off x="3952018" y="4862048"/>
            <a:ext cx="1731564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必须跟回车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数值计算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3613" y="2122512"/>
            <a:ext cx="7772400" cy="4258816"/>
          </a:xfrm>
        </p:spPr>
        <p:txBody>
          <a:bodyPr/>
          <a:lstStyle/>
          <a:p>
            <a:r>
              <a:rPr lang="en-US" altLang="zh-CN" dirty="0">
                <a:ea typeface="黑体" pitchFamily="2" charset="-122"/>
              </a:rPr>
              <a:t>Bash </a:t>
            </a:r>
            <a:r>
              <a:rPr lang="zh-CN" altLang="en-US" dirty="0">
                <a:ea typeface="黑体" pitchFamily="2" charset="-122"/>
              </a:rPr>
              <a:t>变量没有严格的类型定义</a:t>
            </a:r>
            <a:endParaRPr lang="en-US" altLang="zh-CN" dirty="0">
              <a:ea typeface="黑体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本质</a:t>
            </a:r>
            <a:r>
              <a:rPr lang="zh-CN" altLang="en-US" dirty="0">
                <a:ea typeface="黑体" pitchFamily="2" charset="-122"/>
              </a:rPr>
              <a:t>上 </a:t>
            </a:r>
            <a:r>
              <a:rPr lang="en-US" altLang="zh-CN" dirty="0">
                <a:ea typeface="黑体" pitchFamily="2" charset="-122"/>
              </a:rPr>
              <a:t>Bash 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变量</a:t>
            </a:r>
            <a:r>
              <a:rPr lang="zh-CN" altLang="en-US" dirty="0">
                <a:ea typeface="黑体" pitchFamily="2" charset="-122"/>
              </a:rPr>
              <a:t>都是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字符串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r>
              <a:rPr lang="zh-CN" altLang="zh-CN" dirty="0"/>
              <a:t>若一个</a:t>
            </a:r>
            <a:r>
              <a:rPr lang="zh-CN" altLang="en-US" dirty="0"/>
              <a:t>字面常量或</a:t>
            </a:r>
            <a:r>
              <a:rPr lang="zh-CN" altLang="zh-CN" dirty="0"/>
              <a:t>变量的值是</a:t>
            </a:r>
            <a:r>
              <a:rPr lang="zh-CN" altLang="zh-CN" dirty="0">
                <a:solidFill>
                  <a:srgbClr val="FF0000"/>
                </a:solidFill>
              </a:rPr>
              <a:t>纯数字</a:t>
            </a:r>
            <a:r>
              <a:rPr lang="zh-CN" altLang="zh-CN" dirty="0"/>
              <a:t>，不包含字母</a:t>
            </a:r>
            <a:r>
              <a:rPr lang="zh-CN" altLang="en-US" dirty="0"/>
              <a:t>、小数点</a:t>
            </a:r>
            <a:r>
              <a:rPr lang="zh-CN" altLang="zh-CN" dirty="0"/>
              <a:t>或其他字符，</a:t>
            </a:r>
            <a:r>
              <a:rPr lang="en-US" altLang="zh-CN" dirty="0">
                <a:ea typeface="黑体" pitchFamily="2" charset="-122"/>
              </a:rPr>
              <a:t> Bash</a:t>
            </a:r>
            <a:r>
              <a:rPr lang="zh-CN" altLang="zh-CN" dirty="0"/>
              <a:t>可以将其视为</a:t>
            </a:r>
            <a:r>
              <a:rPr lang="zh-CN" altLang="zh-CN" dirty="0">
                <a:solidFill>
                  <a:srgbClr val="FF0000"/>
                </a:solidFill>
              </a:rPr>
              <a:t>长整型</a:t>
            </a:r>
            <a:r>
              <a:rPr lang="zh-CN" altLang="zh-CN" dirty="0"/>
              <a:t>值，并可做</a:t>
            </a:r>
            <a:r>
              <a:rPr lang="zh-CN" altLang="en-US" dirty="0">
                <a:solidFill>
                  <a:srgbClr val="FF0000"/>
                </a:solidFill>
              </a:rPr>
              <a:t>算数</a:t>
            </a:r>
            <a:r>
              <a:rPr lang="zh-CN" altLang="zh-CN" dirty="0">
                <a:solidFill>
                  <a:srgbClr val="FF0000"/>
                </a:solidFill>
              </a:rPr>
              <a:t>运算</a:t>
            </a:r>
            <a:r>
              <a:rPr lang="zh-CN" altLang="en-US" dirty="0">
                <a:solidFill>
                  <a:srgbClr val="FF0000"/>
                </a:solidFill>
              </a:rPr>
              <a:t>和比较运算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en-US" altLang="zh-CN" dirty="0"/>
              <a:t>Bash </a:t>
            </a:r>
            <a:r>
              <a:rPr lang="zh-CN" altLang="en-US" dirty="0"/>
              <a:t>也允许</a:t>
            </a:r>
            <a:r>
              <a:rPr lang="zh-CN" altLang="en-US" dirty="0">
                <a:solidFill>
                  <a:srgbClr val="FF0000"/>
                </a:solidFill>
              </a:rPr>
              <a:t>显式地声明整型变量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declare -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变量名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7E84AA-DF27-4CB9-9B65-C9BECB1F2F30}"/>
              </a:ext>
            </a:extLst>
          </p:cNvPr>
          <p:cNvSpPr txBox="1"/>
          <p:nvPr/>
        </p:nvSpPr>
        <p:spPr>
          <a:xfrm>
            <a:off x="755576" y="1356486"/>
            <a:ext cx="5832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整数运算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算数运算符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43772"/>
              </p:ext>
            </p:extLst>
          </p:nvPr>
        </p:nvGraphicFramePr>
        <p:xfrm>
          <a:off x="764232" y="1748234"/>
          <a:ext cx="7696200" cy="3566160"/>
        </p:xfrm>
        <a:graphic>
          <a:graphicData uri="http://schemas.openxmlformats.org/drawingml/2006/table">
            <a:tbl>
              <a:tblPr/>
              <a:tblGrid>
                <a:gridCol w="769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+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*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（四则运算）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**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%   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（幂运算 和 模运算，取余数）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&lt;&lt;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&gt;&gt;  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（按位左移 和 按位右移）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&amp;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^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|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（按位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与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、按位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异或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和 按位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或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+=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*=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/=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%=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b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</a:b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&lt;&lt;=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&gt;&gt;=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&amp;=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^=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|=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（赋值运算）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==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!= 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（比较操作符）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&amp;&amp;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、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||    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（逻辑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与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和 逻辑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或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22" descr="蓝色砂纸"/>
          <p:cNvSpPr>
            <a:spLocks noChangeArrowheads="1"/>
          </p:cNvSpPr>
          <p:nvPr/>
        </p:nvSpPr>
        <p:spPr bwMode="auto">
          <a:xfrm>
            <a:off x="764232" y="5708674"/>
            <a:ext cx="7696200" cy="5286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注：</a:t>
            </a:r>
            <a:r>
              <a:rPr lang="zh-CN" altLang="en-US" sz="28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按位运算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是以二进制形式进行的。</a:t>
            </a:r>
            <a:endParaRPr lang="en-US" altLang="zh-CN" sz="2800" dirty="0">
              <a:solidFill>
                <a:schemeClr val="tx1"/>
              </a:solidFill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算术运算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71600" y="1503967"/>
            <a:ext cx="7463408" cy="9779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$[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expression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$((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expression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))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71600" y="2685196"/>
            <a:ext cx="7463408" cy="9787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num1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$[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4+1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num1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#5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num1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$((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num1*2-3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))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num1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#7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971601" y="5989255"/>
            <a:ext cx="7488832" cy="51180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注意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${</a:t>
            </a:r>
            <a:r>
              <a:rPr lang="en-US" altLang="zh-CN" sz="2400" b="1" dirty="0">
                <a:solidFill>
                  <a:schemeClr val="tx1"/>
                </a:solidFill>
              </a:rPr>
              <a:t>···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}</a:t>
            </a:r>
            <a:r>
              <a:rPr lang="en-US" altLang="zh-CN" sz="2400" dirty="0">
                <a:solidFill>
                  <a:srgbClr val="0000CC"/>
                </a:solidFill>
                <a:ea typeface="黑体" pitchFamily="2" charset="-122"/>
              </a:rPr>
              <a:t>，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$(</a:t>
            </a:r>
            <a:r>
              <a:rPr lang="en-US" altLang="zh-CN" sz="2400" b="1" dirty="0">
                <a:solidFill>
                  <a:schemeClr val="tx1"/>
                </a:solidFill>
              </a:rPr>
              <a:t>···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)</a:t>
            </a:r>
            <a:r>
              <a:rPr lang="en-US" altLang="zh-CN" sz="2400" dirty="0">
                <a:solidFill>
                  <a:srgbClr val="0000CC"/>
                </a:solidFill>
                <a:ea typeface="黑体" pitchFamily="2" charset="-122"/>
              </a:rPr>
              <a:t>，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$[</a:t>
            </a:r>
            <a:r>
              <a:rPr lang="en-US" altLang="zh-CN" sz="2400" b="1" dirty="0">
                <a:solidFill>
                  <a:schemeClr val="tx1"/>
                </a:solidFill>
              </a:rPr>
              <a:t>···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]</a:t>
            </a:r>
            <a:r>
              <a:rPr lang="en-US" altLang="zh-CN" sz="2400" dirty="0">
                <a:solidFill>
                  <a:srgbClr val="0000CC"/>
                </a:solidFill>
                <a:ea typeface="黑体" pitchFamily="2" charset="-122"/>
              </a:rPr>
              <a:t>，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$((</a:t>
            </a:r>
            <a:r>
              <a:rPr lang="en-US" altLang="zh-CN" sz="2400" b="1" dirty="0">
                <a:solidFill>
                  <a:schemeClr val="tx1"/>
                </a:solidFill>
              </a:rPr>
              <a:t>···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))</a:t>
            </a:r>
            <a:r>
              <a:rPr lang="en-US" altLang="zh-CN" sz="2400" dirty="0">
                <a:solidFill>
                  <a:srgbClr val="0000CC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的不同作用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47451" y="5396940"/>
            <a:ext cx="8849097" cy="441852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000" dirty="0">
                <a:solidFill>
                  <a:srgbClr val="0000CC"/>
                </a:solidFill>
                <a:ea typeface="黑体" pitchFamily="2" charset="-122"/>
              </a:rPr>
              <a:t>用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$[</a:t>
            </a:r>
            <a:r>
              <a:rPr lang="en-US" altLang="zh-CN" sz="2000" b="1" dirty="0">
                <a:solidFill>
                  <a:schemeClr val="tx1"/>
                </a:solidFill>
              </a:rPr>
              <a:t>···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]</a:t>
            </a:r>
            <a:r>
              <a:rPr lang="en-US" altLang="zh-CN" sz="2000" dirty="0">
                <a:solidFill>
                  <a:srgbClr val="0000CC"/>
                </a:solidFill>
                <a:ea typeface="黑体" pitchFamily="2" charset="-122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$((</a:t>
            </a:r>
            <a:r>
              <a:rPr lang="en-US" altLang="zh-CN" sz="2000" b="1" dirty="0">
                <a:solidFill>
                  <a:schemeClr val="tx1"/>
                </a:solidFill>
              </a:rPr>
              <a:t>···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))</a:t>
            </a:r>
            <a:r>
              <a:rPr lang="en-US" altLang="zh-CN" sz="2000" dirty="0">
                <a:solidFill>
                  <a:srgbClr val="0000CC"/>
                </a:solidFill>
                <a:ea typeface="黑体" pitchFamily="2" charset="-122"/>
              </a:rPr>
              <a:t> </a:t>
            </a:r>
            <a:r>
              <a:rPr lang="zh-CN" altLang="en-US" sz="2000" dirty="0">
                <a:solidFill>
                  <a:srgbClr val="0000CC"/>
                </a:solidFill>
                <a:ea typeface="黑体" pitchFamily="2" charset="-122"/>
              </a:rPr>
              <a:t>进行整数运算时，括号内变量前的美元符号  </a:t>
            </a:r>
            <a:r>
              <a:rPr lang="zh-CN" altLang="en-US" sz="2000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zh-CN" altLang="en-US" sz="2000" dirty="0">
                <a:solidFill>
                  <a:srgbClr val="0000CC"/>
                </a:solidFill>
                <a:ea typeface="黑体" pitchFamily="2" charset="-122"/>
              </a:rPr>
              <a:t> 可以省略。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971600" y="3837324"/>
            <a:ext cx="7488832" cy="1421928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((num2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2+3**2-1001%5));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#10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((2+3**2-1001%5));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((2+3**2-1001%5))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符号对比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330424"/>
            <a:ext cx="7772400" cy="4114800"/>
          </a:xfrm>
        </p:spPr>
        <p:txBody>
          <a:bodyPr/>
          <a:lstStyle/>
          <a:p>
            <a:pPr algn="just"/>
            <a:r>
              <a:rPr lang="en-US" altLang="zh-CN" dirty="0">
                <a:ea typeface="黑体" pitchFamily="2" charset="-122"/>
              </a:rPr>
              <a:t>${ } </a:t>
            </a:r>
            <a:r>
              <a:rPr lang="zh-CN" altLang="en-US" dirty="0">
                <a:ea typeface="黑体" pitchFamily="2" charset="-122"/>
              </a:rPr>
              <a:t>与 </a:t>
            </a:r>
            <a:r>
              <a:rPr lang="en-US" altLang="zh-CN" dirty="0">
                <a:ea typeface="黑体" pitchFamily="2" charset="-122"/>
              </a:rPr>
              <a:t>$</a:t>
            </a:r>
          </a:p>
          <a:p>
            <a:pPr lvl="1" algn="just"/>
            <a:r>
              <a:rPr lang="en-US" altLang="zh-CN" dirty="0">
                <a:ea typeface="黑体" pitchFamily="2" charset="-122"/>
              </a:rPr>
              <a:t>$</a:t>
            </a:r>
            <a:r>
              <a:rPr lang="zh-CN" altLang="en-US" dirty="0">
                <a:ea typeface="黑体" pitchFamily="2" charset="-122"/>
              </a:rPr>
              <a:t>与</a:t>
            </a:r>
            <a:r>
              <a:rPr lang="en-US" altLang="zh-CN" dirty="0">
                <a:ea typeface="黑体" pitchFamily="2" charset="-122"/>
              </a:rPr>
              <a:t>${ }</a:t>
            </a:r>
            <a:r>
              <a:rPr lang="zh-CN" altLang="en-US" dirty="0">
                <a:ea typeface="黑体" pitchFamily="2" charset="-122"/>
              </a:rPr>
              <a:t>都是用来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引用变量</a:t>
            </a:r>
            <a:r>
              <a:rPr lang="zh-CN" altLang="en-US" dirty="0">
                <a:ea typeface="黑体" pitchFamily="2" charset="-122"/>
              </a:rPr>
              <a:t>的，只不过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${ }</a:t>
            </a:r>
            <a:r>
              <a:rPr lang="zh-CN" altLang="en-US" dirty="0">
                <a:ea typeface="黑体" pitchFamily="2" charset="-122"/>
              </a:rPr>
              <a:t>可以指定变量边界，也可用于对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字符串变量进行截取</a:t>
            </a:r>
            <a:r>
              <a:rPr lang="zh-CN" altLang="en-US" dirty="0">
                <a:ea typeface="黑体" pitchFamily="2" charset="-122"/>
              </a:rPr>
              <a:t>等处理</a:t>
            </a:r>
          </a:p>
          <a:p>
            <a:pPr algn="just"/>
            <a:r>
              <a:rPr lang="en-US" altLang="zh-CN" dirty="0">
                <a:ea typeface="黑体" pitchFamily="2" charset="-122"/>
              </a:rPr>
              <a:t>$() </a:t>
            </a:r>
            <a:r>
              <a:rPr lang="zh-CN" altLang="en-US" dirty="0">
                <a:ea typeface="黑体" pitchFamily="2" charset="-122"/>
              </a:rPr>
              <a:t>和 </a:t>
            </a:r>
            <a:r>
              <a:rPr lang="en-US" altLang="zh-CN" dirty="0">
                <a:ea typeface="黑体" pitchFamily="2" charset="-122"/>
              </a:rPr>
              <a:t>``</a:t>
            </a:r>
          </a:p>
          <a:p>
            <a:pPr lvl="1" algn="just"/>
            <a:r>
              <a:rPr lang="en-US" altLang="zh-CN" dirty="0">
                <a:ea typeface="黑体" pitchFamily="2" charset="-122"/>
              </a:rPr>
              <a:t>$()</a:t>
            </a:r>
            <a:r>
              <a:rPr lang="zh-CN" altLang="en-US" dirty="0">
                <a:ea typeface="黑体" pitchFamily="2" charset="-122"/>
              </a:rPr>
              <a:t>和</a:t>
            </a:r>
            <a:r>
              <a:rPr lang="en-US" altLang="zh-CN" dirty="0">
                <a:ea typeface="黑体" pitchFamily="2" charset="-122"/>
              </a:rPr>
              <a:t>``</a:t>
            </a:r>
            <a:r>
              <a:rPr lang="zh-CN" altLang="en-US" dirty="0">
                <a:ea typeface="黑体" pitchFamily="2" charset="-122"/>
              </a:rPr>
              <a:t>的作用一致，都是用来做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命令替换用</a:t>
            </a:r>
            <a:r>
              <a:rPr lang="zh-CN" altLang="en-US" dirty="0">
                <a:ea typeface="黑体" pitchFamily="2" charset="-122"/>
              </a:rPr>
              <a:t>，一般用于将命令返回的结果传递给变量</a:t>
            </a:r>
          </a:p>
          <a:p>
            <a:pPr algn="just"/>
            <a:r>
              <a:rPr lang="en-US" altLang="zh-CN" dirty="0">
                <a:ea typeface="黑体" pitchFamily="2" charset="-122"/>
              </a:rPr>
              <a:t>$[ ] </a:t>
            </a:r>
            <a:r>
              <a:rPr lang="zh-CN" altLang="en-US" dirty="0">
                <a:ea typeface="黑体" pitchFamily="2" charset="-122"/>
              </a:rPr>
              <a:t>和 </a:t>
            </a:r>
            <a:r>
              <a:rPr lang="en-US" altLang="zh-CN" dirty="0">
                <a:ea typeface="黑体" pitchFamily="2" charset="-122"/>
              </a:rPr>
              <a:t>$(( ))</a:t>
            </a:r>
          </a:p>
          <a:p>
            <a:pPr lvl="1" algn="just"/>
            <a:r>
              <a:rPr lang="en-US" altLang="zh-CN" dirty="0">
                <a:ea typeface="黑体" pitchFamily="2" charset="-122"/>
              </a:rPr>
              <a:t>$[]</a:t>
            </a:r>
            <a:r>
              <a:rPr lang="zh-CN" altLang="en-US" dirty="0">
                <a:ea typeface="黑体" pitchFamily="2" charset="-122"/>
              </a:rPr>
              <a:t>和</a:t>
            </a:r>
            <a:r>
              <a:rPr lang="en-US" altLang="zh-CN" dirty="0">
                <a:ea typeface="黑体" pitchFamily="2" charset="-122"/>
              </a:rPr>
              <a:t>$(())</a:t>
            </a:r>
            <a:r>
              <a:rPr lang="zh-CN" altLang="en-US" dirty="0">
                <a:ea typeface="黑体" pitchFamily="2" charset="-122"/>
              </a:rPr>
              <a:t>的作用一样，都是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进行数学运算</a:t>
            </a:r>
            <a:r>
              <a:rPr lang="zh-CN" altLang="en-US" dirty="0">
                <a:ea typeface="黑体" pitchFamily="2" charset="-122"/>
              </a:rPr>
              <a:t>的，支持</a:t>
            </a:r>
            <a:r>
              <a:rPr lang="en-US" altLang="zh-CN" dirty="0">
                <a:ea typeface="黑体" pitchFamily="2" charset="-122"/>
              </a:rPr>
              <a:t>±*/%,</a:t>
            </a:r>
            <a:r>
              <a:rPr lang="zh-CN" altLang="en-US" dirty="0">
                <a:ea typeface="黑体" pitchFamily="2" charset="-122"/>
              </a:rPr>
              <a:t>并且在</a:t>
            </a:r>
            <a:r>
              <a:rPr lang="en-US" altLang="zh-CN" dirty="0">
                <a:ea typeface="黑体" pitchFamily="2" charset="-122"/>
              </a:rPr>
              <a:t>$[ ]</a:t>
            </a:r>
            <a:r>
              <a:rPr lang="zh-CN" altLang="en-US" dirty="0">
                <a:ea typeface="黑体" pitchFamily="2" charset="-122"/>
              </a:rPr>
              <a:t>和</a:t>
            </a:r>
            <a:r>
              <a:rPr lang="en-US" altLang="zh-CN" dirty="0">
                <a:ea typeface="黑体" pitchFamily="2" charset="-122"/>
              </a:rPr>
              <a:t>$(( ))</a:t>
            </a:r>
            <a:r>
              <a:rPr lang="zh-CN" altLang="en-US" dirty="0">
                <a:ea typeface="黑体" pitchFamily="2" charset="-122"/>
              </a:rPr>
              <a:t>中使用变量不需要</a:t>
            </a:r>
            <a:r>
              <a:rPr lang="en-US" altLang="zh-CN" dirty="0">
                <a:ea typeface="黑体" pitchFamily="2" charset="-122"/>
              </a:rPr>
              <a:t>$</a:t>
            </a:r>
            <a:r>
              <a:rPr lang="zh-CN" altLang="en-US" dirty="0">
                <a:ea typeface="黑体" pitchFamily="2" charset="-122"/>
              </a:rPr>
              <a:t>引用，可以直接使用变量名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ED9A1E-393C-47AB-99CB-587A16835192}"/>
              </a:ext>
            </a:extLst>
          </p:cNvPr>
          <p:cNvSpPr/>
          <p:nvPr/>
        </p:nvSpPr>
        <p:spPr bwMode="auto">
          <a:xfrm>
            <a:off x="6372200" y="3212976"/>
            <a:ext cx="1800200" cy="57606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a=$(ls –l)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614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内置命令</a:t>
            </a:r>
            <a:r>
              <a:rPr lang="en-US" altLang="zh-CN" dirty="0"/>
              <a:t>—let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371600"/>
            <a:ext cx="7772400" cy="4114800"/>
          </a:xfrm>
        </p:spPr>
        <p:txBody>
          <a:bodyPr/>
          <a:lstStyle/>
          <a:p>
            <a:r>
              <a:rPr lang="en-US" altLang="zh-CN" dirty="0"/>
              <a:t>let </a:t>
            </a:r>
            <a:r>
              <a:rPr lang="zh-CN" altLang="en-US" dirty="0"/>
              <a:t>内置命令用于</a:t>
            </a:r>
            <a:r>
              <a:rPr lang="zh-CN" altLang="en-US" dirty="0">
                <a:solidFill>
                  <a:srgbClr val="FF0000"/>
                </a:solidFill>
              </a:rPr>
              <a:t>算术运算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66442" y="2060848"/>
            <a:ext cx="7555132" cy="12003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num2=1;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let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num2=4+1;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let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num2=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num2+1;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num2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576" y="3411925"/>
            <a:ext cx="7776864" cy="142192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 赋值符号和运算符两边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不能留空格</a:t>
            </a: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！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 如果将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字符串</a:t>
            </a: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赋值给一个整型变量时，则变量的值为 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0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 如果变量的值是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字符串</a:t>
            </a: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，则进行算术运算时设为 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0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827088" y="4852085"/>
            <a:ext cx="7561336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let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num2=4 + 1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let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"num2=4 + 1"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  <a:ea typeface="黑体" pitchFamily="2" charset="-122"/>
              </a:rPr>
              <a:t>#</a:t>
            </a:r>
            <a:r>
              <a:rPr lang="en-US" altLang="zh-CN" sz="2400" b="1" dirty="0">
                <a:solidFill>
                  <a:schemeClr val="hlink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用引号忽略空格的特殊含义</a:t>
            </a:r>
            <a:endParaRPr lang="en-US" altLang="zh-CN" sz="2400" b="1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38200" y="5787122"/>
            <a:ext cx="7559768" cy="511807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用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let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命令进行算术运算时，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最好加双引号。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expr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1258" y="1616481"/>
            <a:ext cx="8150778" cy="2130303"/>
          </a:xfrm>
        </p:spPr>
        <p:txBody>
          <a:bodyPr/>
          <a:lstStyle/>
          <a:p>
            <a:r>
              <a:rPr lang="zh-CN" altLang="en-US" sz="3200" dirty="0">
                <a:latin typeface="Courier New" pitchFamily="49" charset="0"/>
                <a:ea typeface="黑体" pitchFamily="2" charset="-122"/>
              </a:rPr>
              <a:t>通用的表达式计算命令</a:t>
            </a:r>
            <a:endParaRPr lang="en-US" altLang="zh-CN" sz="3200" dirty="0">
              <a:latin typeface="Courier New" pitchFamily="49" charset="0"/>
              <a:ea typeface="黑体" pitchFamily="2" charset="-122"/>
            </a:endParaRPr>
          </a:p>
          <a:p>
            <a:pPr lvl="1"/>
            <a:r>
              <a:rPr lang="zh-CN" altLang="en-US" dirty="0">
                <a:ea typeface="黑体" pitchFamily="2" charset="-122"/>
              </a:rPr>
              <a:t>表达式中参数与操作符必须以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空格分开</a:t>
            </a:r>
            <a:r>
              <a:rPr lang="zh-CN" altLang="en-US" dirty="0">
                <a:ea typeface="黑体" pitchFamily="2" charset="-122"/>
              </a:rPr>
              <a:t>。</a:t>
            </a:r>
            <a:endParaRPr lang="en-US" altLang="zh-CN" dirty="0">
              <a:ea typeface="黑体" pitchFamily="2" charset="-122"/>
            </a:endParaRPr>
          </a:p>
          <a:p>
            <a:pPr lvl="1"/>
            <a:r>
              <a:rPr lang="zh-CN" altLang="en-US" dirty="0">
                <a:ea typeface="黑体" pitchFamily="2" charset="-122"/>
              </a:rPr>
              <a:t>表达式中的运算可以是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算术运算</a:t>
            </a:r>
            <a:r>
              <a:rPr lang="zh-CN" altLang="en-US" dirty="0">
                <a:ea typeface="黑体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比较运算</a:t>
            </a:r>
            <a:r>
              <a:rPr lang="zh-CN" altLang="en-US" dirty="0">
                <a:ea typeface="黑体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字符串运算和逻辑运算</a:t>
            </a:r>
            <a:r>
              <a:rPr lang="zh-CN" altLang="en-US" dirty="0">
                <a:ea typeface="黑体" pitchFamily="2" charset="-122"/>
              </a:rPr>
              <a:t>。</a:t>
            </a:r>
          </a:p>
          <a:p>
            <a:pPr lvl="1"/>
            <a:endParaRPr lang="zh-CN" altLang="en-US" dirty="0"/>
          </a:p>
        </p:txBody>
      </p:sp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6876256" y="1466937"/>
            <a:ext cx="1659429" cy="433965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man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expr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971600" y="3759423"/>
            <a:ext cx="7704360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expr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5 % 3</a:t>
            </a:r>
            <a:endParaRPr lang="en-US" altLang="zh-CN" sz="2400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971600" y="4407495"/>
            <a:ext cx="7704360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expr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5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\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* 3        </a:t>
            </a:r>
            <a:r>
              <a:rPr lang="en-US" altLang="zh-CN" sz="2400" b="1" dirty="0">
                <a:solidFill>
                  <a:srgbClr val="666633"/>
                </a:solidFill>
                <a:latin typeface="Courier New" pitchFamily="49" charset="0"/>
              </a:rPr>
              <a:t># </a:t>
            </a:r>
            <a:r>
              <a:rPr lang="zh-CN" altLang="en-US" sz="2400" b="1" dirty="0">
                <a:solidFill>
                  <a:srgbClr val="666633"/>
                </a:solidFill>
                <a:latin typeface="Courier New" pitchFamily="49" charset="0"/>
                <a:ea typeface="黑体" pitchFamily="2" charset="-122"/>
              </a:rPr>
              <a:t>乘法符号必须被转义</a:t>
            </a:r>
            <a:endParaRPr lang="en-US" altLang="zh-CN" sz="2400" b="1" dirty="0">
              <a:solidFill>
                <a:srgbClr val="666633"/>
              </a:solidFill>
              <a:latin typeface="Courier New" pitchFamily="49" charset="0"/>
              <a:ea typeface="黑体" pitchFamily="2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71600" y="5055567"/>
            <a:ext cx="7704856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expr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2 + 5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\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* 2 - 3 % 2</a:t>
            </a:r>
            <a:endParaRPr lang="en-US" altLang="zh-CN" sz="2400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71600" y="5703639"/>
            <a:ext cx="7704856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expr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\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( 2 + 5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\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)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</a:rPr>
              <a:t>\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* 2 – 3  </a:t>
            </a:r>
            <a:r>
              <a:rPr lang="en-US" altLang="zh-CN" sz="2400" b="1" dirty="0">
                <a:solidFill>
                  <a:srgbClr val="666633"/>
                </a:solidFill>
                <a:latin typeface="Courier New" pitchFamily="49" charset="0"/>
              </a:rPr>
              <a:t># </a:t>
            </a:r>
            <a:r>
              <a:rPr lang="zh-CN" altLang="en-US" sz="2400" b="1" dirty="0">
                <a:solidFill>
                  <a:srgbClr val="666633"/>
                </a:solidFill>
                <a:latin typeface="Courier New" pitchFamily="49" charset="0"/>
                <a:ea typeface="黑体" pitchFamily="2" charset="-122"/>
              </a:rPr>
              <a:t>括号必须被转义</a:t>
            </a:r>
            <a:endParaRPr lang="en-US" altLang="zh-CN" sz="2400" b="1" dirty="0">
              <a:solidFill>
                <a:srgbClr val="666633"/>
              </a:solidFill>
              <a:latin typeface="Courier New" pitchFamily="49" charset="0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数值运算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3613" y="2060848"/>
            <a:ext cx="7772400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bash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只支持整数运算</a:t>
            </a:r>
            <a:endParaRPr lang="en-US" altLang="zh-CN" dirty="0">
              <a:ea typeface="黑体" pitchFamily="2" charset="-122"/>
            </a:endParaRPr>
          </a:p>
          <a:p>
            <a:r>
              <a:rPr lang="zh-CN" altLang="en-US" dirty="0">
                <a:ea typeface="黑体" pitchFamily="2" charset="-122"/>
              </a:rPr>
              <a:t>可以通过使用 </a:t>
            </a:r>
            <a:r>
              <a:rPr lang="en-US" altLang="zh-CN" b="1" dirty="0" err="1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bc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或</a:t>
            </a:r>
            <a:r>
              <a:rPr lang="zh-CN" altLang="en-US" b="1" dirty="0">
                <a:ea typeface="黑体" pitchFamily="2" charset="-122"/>
              </a:rPr>
              <a:t> </a:t>
            </a:r>
            <a:r>
              <a:rPr lang="en-US" altLang="zh-CN" b="1" dirty="0" err="1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awk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工具来处理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浮点数运算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63613" y="3839522"/>
            <a:ext cx="7568827" cy="138499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n=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$(echo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"scale=3; 13/2" | </a:t>
            </a:r>
            <a:r>
              <a:rPr lang="en-US" altLang="zh-CN" sz="2800" b="1" dirty="0" err="1">
                <a:solidFill>
                  <a:srgbClr val="006600"/>
                </a:solidFill>
                <a:latin typeface="Courier New" pitchFamily="49" charset="0"/>
              </a:rPr>
              <a:t>bc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 )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n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6.500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63613" y="5373216"/>
            <a:ext cx="7560324" cy="138499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m=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`</a:t>
            </a:r>
            <a:r>
              <a:rPr lang="en-US" altLang="zh-CN" sz="2800" b="1" dirty="0" err="1">
                <a:solidFill>
                  <a:srgbClr val="006600"/>
                </a:solidFill>
                <a:latin typeface="Courier New" pitchFamily="49" charset="0"/>
              </a:rPr>
              <a:t>awk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'BEGIN{x=2.45;y=3.123; \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   </a:t>
            </a:r>
            <a:r>
              <a:rPr lang="en-US" altLang="zh-CN" sz="2800" b="1" dirty="0" err="1">
                <a:solidFill>
                  <a:srgbClr val="006600"/>
                </a:solidFill>
                <a:latin typeface="Courier New" pitchFamily="49" charset="0"/>
              </a:rPr>
              <a:t>printf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"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%.3f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\n", x*y}'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`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m 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#7.651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36AE50-6288-4718-B2EA-F188A1A77167}"/>
              </a:ext>
            </a:extLst>
          </p:cNvPr>
          <p:cNvSpPr txBox="1"/>
          <p:nvPr/>
        </p:nvSpPr>
        <p:spPr>
          <a:xfrm>
            <a:off x="755576" y="1356486"/>
            <a:ext cx="5832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浮点数运算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EC398-E8DD-4849-B619-6AB2392C9DFF}"/>
              </a:ext>
            </a:extLst>
          </p:cNvPr>
          <p:cNvSpPr/>
          <p:nvPr/>
        </p:nvSpPr>
        <p:spPr bwMode="auto">
          <a:xfrm>
            <a:off x="4139952" y="4551034"/>
            <a:ext cx="3376102" cy="43540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sz="22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cale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规定了小数点的位数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 </a:t>
            </a:r>
            <a:r>
              <a:rPr lang="zh-CN" altLang="en-US" dirty="0"/>
              <a:t>命令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869950" y="1305641"/>
            <a:ext cx="8077200" cy="65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printf</a:t>
            </a:r>
            <a:r>
              <a:rPr lang="en-US" altLang="zh-CN" sz="32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黑体" pitchFamily="2" charset="-122"/>
              </a:rPr>
              <a:t>可用来按指定的格式输出变量</a:t>
            </a:r>
            <a:endParaRPr lang="zh-CN" altLang="en-US" sz="2800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325884" y="2127045"/>
            <a:ext cx="7010400" cy="511807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format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 输出参数列表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706884" y="2867452"/>
            <a:ext cx="7010400" cy="46672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"%-12.5f\n"  123.456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2468884" y="3858052"/>
            <a:ext cx="838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307084" y="3248452"/>
            <a:ext cx="0" cy="609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021084" y="3400852"/>
            <a:ext cx="1390650" cy="9779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format</a:t>
            </a:r>
            <a:r>
              <a:rPr lang="en-US" altLang="zh-CN" sz="2400" dirty="0">
                <a:latin typeface="Courier New" pitchFamily="49" charset="0"/>
              </a:rPr>
              <a:t/>
            </a:r>
            <a:br>
              <a:rPr lang="en-US" altLang="zh-CN" sz="2400" dirty="0">
                <a:latin typeface="Courier New" pitchFamily="49" charset="0"/>
              </a:rPr>
            </a:br>
            <a:r>
              <a:rPr lang="zh-CN" altLang="en-US" sz="2400" dirty="0">
                <a:ea typeface="黑体" pitchFamily="2" charset="-122"/>
              </a:rPr>
              <a:t>以</a:t>
            </a:r>
            <a:r>
              <a:rPr lang="zh-CN" altLang="en-US" sz="2400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%</a:t>
            </a:r>
            <a:r>
              <a:rPr lang="zh-CN" altLang="en-US" sz="2400" dirty="0">
                <a:ea typeface="黑体" pitchFamily="2" charset="-122"/>
              </a:rPr>
              <a:t>开头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H="1">
            <a:off x="3535684" y="3248452"/>
            <a:ext cx="0" cy="914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773684" y="4239052"/>
            <a:ext cx="914400" cy="511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flag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3840484" y="3248452"/>
            <a:ext cx="152400" cy="914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3916684" y="4239052"/>
            <a:ext cx="2133600" cy="511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field width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297684" y="3248452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659884" y="3781852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6278884" y="4239052"/>
            <a:ext cx="1905000" cy="511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Courier New" pitchFamily="49" charset="0"/>
              </a:rPr>
              <a:t>precision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297684" y="3781852"/>
            <a:ext cx="2362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4450084" y="3248452"/>
            <a:ext cx="0" cy="304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4450084" y="3553252"/>
            <a:ext cx="3124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7650484" y="3400852"/>
            <a:ext cx="1169988" cy="491481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 algn="ctr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ea typeface="黑体" pitchFamily="2" charset="-122"/>
                <a:sym typeface="Wingdings" pitchFamily="2" charset="2"/>
              </a:rPr>
              <a:t>格式符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 flipH="1">
            <a:off x="2162596" y="4451628"/>
            <a:ext cx="609600" cy="3810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1097284" y="4883676"/>
            <a:ext cx="2899048" cy="156966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 lIns="54000" rIns="54000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-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:</a:t>
            </a:r>
            <a:r>
              <a:rPr lang="zh-CN" altLang="en-US" sz="2400" b="1" dirty="0">
                <a:ea typeface="黑体" pitchFamily="2" charset="-122"/>
              </a:rPr>
              <a:t>左对齐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+</a:t>
            </a:r>
            <a:r>
              <a:rPr lang="zh-CN" altLang="en-US" sz="2400" b="1" dirty="0">
                <a:latin typeface="Courier New" pitchFamily="49" charset="0"/>
                <a:ea typeface="楷体_GB2312" pitchFamily="49" charset="-122"/>
              </a:rPr>
              <a:t>:</a:t>
            </a:r>
            <a:r>
              <a:rPr lang="zh-CN" altLang="en-US" sz="2400" b="1" dirty="0">
                <a:ea typeface="黑体" pitchFamily="2" charset="-122"/>
              </a:rPr>
              <a:t>输出符号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0</a:t>
            </a:r>
            <a:r>
              <a:rPr lang="zh-CN" altLang="en-US" sz="2400" b="1" dirty="0">
                <a:latin typeface="Courier New" pitchFamily="49" charset="0"/>
                <a:ea typeface="楷体_GB2312" pitchFamily="49" charset="-122"/>
              </a:rPr>
              <a:t>:</a:t>
            </a:r>
            <a:r>
              <a:rPr lang="zh-CN" altLang="en-US" sz="2400" b="1" dirty="0">
                <a:ea typeface="黑体" pitchFamily="2" charset="-122"/>
              </a:rPr>
              <a:t>空白处添</a:t>
            </a:r>
            <a:r>
              <a:rPr lang="zh-CN" altLang="en-US" sz="2400" b="1" dirty="0">
                <a:latin typeface="Courier New" pitchFamily="49" charset="0"/>
                <a:ea typeface="楷体_GB2312" pitchFamily="49" charset="-122"/>
              </a:rPr>
              <a:t>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  <a:ea typeface="黑体" pitchFamily="2" charset="-122"/>
              </a:rPr>
              <a:t>空格</a:t>
            </a:r>
            <a:r>
              <a:rPr lang="zh-CN" altLang="en-US" sz="2400" b="1" dirty="0">
                <a:latin typeface="Courier New" pitchFamily="49" charset="0"/>
                <a:ea typeface="楷体_GB2312" pitchFamily="49" charset="-122"/>
              </a:rPr>
              <a:t>:</a:t>
            </a:r>
            <a:r>
              <a:rPr lang="zh-CN" altLang="en-US" sz="2400" b="1" dirty="0">
                <a:ea typeface="黑体" pitchFamily="2" charset="-122"/>
              </a:rPr>
              <a:t>前面加一空格</a:t>
            </a: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4831084" y="4772452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4221484" y="5229652"/>
            <a:ext cx="1503363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 algn="ctr"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字段宽度</a:t>
            </a: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 flipH="1">
            <a:off x="6964684" y="4772452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6355084" y="5229652"/>
            <a:ext cx="1530350" cy="8318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 algn="ctr"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小数点后输出位数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 </a:t>
            </a:r>
            <a:r>
              <a:rPr lang="zh-CN" altLang="en-US" dirty="0"/>
              <a:t>命令（续）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79648" y="1439416"/>
            <a:ext cx="79248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命令的格式说明符</a:t>
            </a:r>
          </a:p>
        </p:txBody>
      </p:sp>
      <p:graphicFrame>
        <p:nvGraphicFramePr>
          <p:cNvPr id="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114080"/>
              </p:ext>
            </p:extLst>
          </p:nvPr>
        </p:nvGraphicFramePr>
        <p:xfrm>
          <a:off x="842664" y="2039416"/>
          <a:ext cx="7620000" cy="17068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字符型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g/G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浮点数（自动）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十进制整数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八进制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e/E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浮点数（科学计数法）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浮点数（小数形式）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x/X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66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十六进制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679648" y="3826023"/>
            <a:ext cx="7848600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format</a:t>
            </a:r>
            <a:r>
              <a:rPr lang="en-US" altLang="zh-CN" sz="24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中还可以使用</a:t>
            </a:r>
          </a:p>
        </p:txBody>
      </p:sp>
      <p:graphicFrame>
        <p:nvGraphicFramePr>
          <p:cNvPr id="1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28971"/>
              </p:ext>
            </p:extLst>
          </p:nvPr>
        </p:nvGraphicFramePr>
        <p:xfrm>
          <a:off x="829816" y="4319736"/>
          <a:ext cx="7620000" cy="2133600"/>
        </p:xfrm>
        <a:graphic>
          <a:graphicData uri="http://schemas.openxmlformats.org/drawingml/2006/table">
            <a:tbl>
              <a:tblPr/>
              <a:tblGrid>
                <a:gridCol w="85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警铃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水平制表符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退后一格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垂直制表符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换行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\\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反斜杠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换页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双引号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\r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回车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%%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百分号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 </a:t>
            </a:r>
            <a:r>
              <a:rPr lang="zh-CN" altLang="en-US" dirty="0"/>
              <a:t>命令举例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16013" y="1419899"/>
            <a:ext cx="7010400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"The number is: %.2f\n" 100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The number is: 100.00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13211" y="2348880"/>
            <a:ext cx="7010400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"%-20s|%12.5f|\n" "Joy" 10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Joy                 |    10.00000|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115617" y="3284984"/>
            <a:ext cx="7010400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"%-10d%010o%+10x\n" 20 20 20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20        0000000024        14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115616" y="4307367"/>
            <a:ext cx="7010400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"%6d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</a:rPr>
              <a:t>\t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%6o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</a:rPr>
              <a:t>\"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%6x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</a:rPr>
              <a:t>\"\n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 20 20 20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20	    24"    14"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DCB3E82-3284-434F-A2D4-9C6C72493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0" y="5243471"/>
            <a:ext cx="9128060" cy="16605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Shell </a:t>
            </a:r>
            <a:r>
              <a:rPr lang="zh-CN" altLang="en-US" dirty="0"/>
              <a:t>变量操作</a:t>
            </a:r>
            <a:r>
              <a:rPr lang="en-US" altLang="zh-CN" dirty="0"/>
              <a:t>—</a:t>
            </a:r>
            <a:r>
              <a:rPr lang="zh-CN" altLang="en-US" dirty="0"/>
              <a:t>数值运算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68313" y="2060848"/>
            <a:ext cx="8382000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Bash</a:t>
            </a:r>
            <a:r>
              <a:rPr lang="en-US" altLang="zh-CN" sz="28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2.x</a:t>
            </a:r>
            <a:r>
              <a:rPr lang="en-US" altLang="zh-CN" sz="28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以上支持一维数组，</a:t>
            </a:r>
            <a:r>
              <a:rPr lang="zh-CN" altLang="en-US" sz="2800" dirty="0">
                <a:solidFill>
                  <a:srgbClr val="0000CC"/>
                </a:solidFill>
                <a:ea typeface="黑体" pitchFamily="2" charset="-122"/>
              </a:rPr>
              <a:t>下标从 </a:t>
            </a:r>
            <a:r>
              <a:rPr lang="zh-CN" altLang="en-US" sz="28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  <a:r>
              <a:rPr lang="zh-CN" altLang="en-US" sz="2800" dirty="0">
                <a:solidFill>
                  <a:srgbClr val="0000CC"/>
                </a:solidFill>
                <a:ea typeface="黑体" pitchFamily="2" charset="-122"/>
              </a:rPr>
              <a:t> 开始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00113" y="4499769"/>
            <a:ext cx="7696200" cy="977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variable=(item1 item2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item2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... )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variable[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n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]=value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900113" y="3356769"/>
            <a:ext cx="7696200" cy="977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declare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-a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variable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variable=(item1 item2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item2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... )</a:t>
            </a:r>
          </a:p>
        </p:txBody>
      </p: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442913" y="5566569"/>
            <a:ext cx="8382000" cy="1122362"/>
            <a:chOff x="279" y="3321"/>
            <a:chExt cx="5280" cy="707"/>
          </a:xfrm>
        </p:grpSpPr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279" y="3321"/>
              <a:ext cx="5280" cy="3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30000"/>
                </a:spcBef>
                <a:buClr>
                  <a:srgbClr val="FF3300"/>
                </a:buClr>
                <a:buFont typeface="Wingdings" pitchFamily="2" charset="2"/>
                <a:buChar char="q"/>
              </a:pPr>
              <a:r>
                <a:rPr lang="zh-CN" altLang="en-US" sz="2800" dirty="0">
                  <a:solidFill>
                    <a:schemeClr val="tx1"/>
                  </a:solidFill>
                  <a:ea typeface="黑体" pitchFamily="2" charset="-122"/>
                </a:rPr>
                <a:t> 数组的引用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567" y="3702"/>
              <a:ext cx="4848" cy="326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${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variable[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n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]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}</a:t>
              </a:r>
            </a:p>
          </p:txBody>
        </p:sp>
      </p:grp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68313" y="2637111"/>
            <a:ext cx="8424167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使用 </a:t>
            </a:r>
            <a:r>
              <a:rPr lang="en-US" altLang="zh-CN" sz="2800" dirty="0">
                <a:solidFill>
                  <a:srgbClr val="006600"/>
                </a:solidFill>
                <a:latin typeface="Courier New" pitchFamily="49" charset="0"/>
                <a:ea typeface="黑体" pitchFamily="2" charset="-122"/>
              </a:rPr>
              <a:t>declare</a:t>
            </a:r>
            <a:r>
              <a:rPr lang="en-US" altLang="zh-CN" sz="280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声明或直接给变量名加下标来赋值。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5B4D54-74E1-4573-A35C-953B36842AFB}"/>
              </a:ext>
            </a:extLst>
          </p:cNvPr>
          <p:cNvSpPr txBox="1"/>
          <p:nvPr/>
        </p:nvSpPr>
        <p:spPr>
          <a:xfrm>
            <a:off x="755576" y="1356486"/>
            <a:ext cx="5832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FF"/>
              </a:buClr>
              <a:buFont typeface="Tahoma" panose="020B0604030504040204" pitchFamily="34" charset="0"/>
              <a:buChar char="‣"/>
            </a:pPr>
            <a:r>
              <a:rPr lang="zh-CN" altLang="en-US" sz="40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</a:rPr>
              <a:t>数组变量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数组变量举例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51382" y="1529011"/>
            <a:ext cx="7837488" cy="21138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declare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-a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stu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stu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(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math1101 math1102 math1103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stu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[0]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列出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stu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的第一个元素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stu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*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列出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stu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的所有元素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${#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stu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*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给出数组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stu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中元素的个数</a:t>
            </a:r>
            <a:endParaRPr lang="en-US" altLang="zh-CN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381000" y="3617810"/>
            <a:ext cx="8294688" cy="1438275"/>
            <a:chOff x="240" y="2112"/>
            <a:chExt cx="5280" cy="906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240" y="2112"/>
              <a:ext cx="528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30000"/>
                </a:spcBef>
                <a:buClr>
                  <a:srgbClr val="FF3300"/>
                </a:buClr>
                <a:buFont typeface="Wingdings" pitchFamily="2" charset="2"/>
                <a:buChar char="q"/>
              </a:pPr>
              <a:r>
                <a:rPr lang="zh-CN" altLang="en-US" sz="2400" dirty="0">
                  <a:solidFill>
                    <a:schemeClr val="tx1"/>
                  </a:solidFill>
                  <a:ea typeface="黑体" pitchFamily="2" charset="-122"/>
                </a:rPr>
                <a:t> 数组与数组元素的删除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528" y="2448"/>
              <a:ext cx="4992" cy="57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990000"/>
                  </a:solidFill>
                  <a:latin typeface="Courier New" pitchFamily="49" charset="0"/>
                </a:rPr>
                <a:t>unset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 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Courier New" pitchFamily="49" charset="0"/>
                </a:rPr>
                <a:t>stu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[1]   </a:t>
              </a:r>
              <a:r>
                <a:rPr lang="en-US" altLang="zh-CN" sz="2400" b="1" dirty="0">
                  <a:solidFill>
                    <a:schemeClr val="hlink"/>
                  </a:solidFill>
                  <a:latin typeface="Courier New" pitchFamily="49" charset="0"/>
                </a:rPr>
                <a:t># 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删除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Courier New" pitchFamily="49" charset="0"/>
                  <a:ea typeface="楷体_GB2312" pitchFamily="49" charset="-122"/>
                </a:rPr>
                <a:t>stu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的第二个元素</a:t>
              </a:r>
              <a:endParaRPr lang="en-US" altLang="zh-CN" sz="2400" b="1" dirty="0">
                <a:solidFill>
                  <a:srgbClr val="0000CC"/>
                </a:solidFill>
                <a:latin typeface="Courier New" pitchFamily="49" charset="0"/>
              </a:endParaRPr>
            </a:p>
            <a:p>
              <a:pPr>
                <a:lnSpc>
                  <a:spcPct val="11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990000"/>
                  </a:solidFill>
                  <a:latin typeface="Courier New" pitchFamily="49" charset="0"/>
                </a:rPr>
                <a:t>unset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 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Courier New" pitchFamily="49" charset="0"/>
                </a:rPr>
                <a:t>stu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      </a:t>
              </a:r>
              <a:r>
                <a:rPr lang="en-US" altLang="zh-CN" sz="2400" b="1" dirty="0">
                  <a:solidFill>
                    <a:schemeClr val="hlink"/>
                  </a:solidFill>
                  <a:latin typeface="Courier New" pitchFamily="49" charset="0"/>
                </a:rPr>
                <a:t># 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删除</a:t>
              </a:r>
              <a:r>
                <a:rPr lang="zh-CN" altLang="en-US" sz="2400" b="1" dirty="0">
                  <a:solidFill>
                    <a:srgbClr val="0000CC"/>
                  </a:solidFill>
                  <a:latin typeface="Courier New" pitchFamily="49" charset="0"/>
                  <a:ea typeface="楷体_GB2312" pitchFamily="49" charset="-122"/>
                </a:rPr>
                <a:t>整个数组</a:t>
              </a:r>
              <a:endPara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457200" y="5141810"/>
            <a:ext cx="8382000" cy="1527175"/>
            <a:chOff x="288" y="3072"/>
            <a:chExt cx="5280" cy="962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88" y="3072"/>
              <a:ext cx="528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30000"/>
                </a:spcBef>
                <a:buClr>
                  <a:srgbClr val="FF3300"/>
                </a:buClr>
                <a:buFont typeface="Wingdings" pitchFamily="2" charset="2"/>
                <a:buChar char="q"/>
              </a:pPr>
              <a:r>
                <a:rPr lang="zh-CN" altLang="en-US" sz="2400" dirty="0">
                  <a:solidFill>
                    <a:schemeClr val="tx1"/>
                  </a:solidFill>
                  <a:ea typeface="黑体" pitchFamily="2" charset="-122"/>
                </a:rPr>
                <a:t> 数组赋值时无须按顺序赋值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525" y="3464"/>
              <a:ext cx="4940" cy="570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x[3]=100; 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echo ${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x[*]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}</a:t>
              </a:r>
            </a:p>
            <a:p>
              <a:pPr>
                <a:lnSpc>
                  <a:spcPct val="11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state=(ME [3]=CA [2]=NT); 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echo ${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state[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*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]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}</a:t>
              </a:r>
              <a:endParaRPr lang="zh-CN" altLang="en-US" sz="2400" b="1" dirty="0">
                <a:solidFill>
                  <a:srgbClr val="006600"/>
                </a:solidFill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内置命令</a:t>
            </a:r>
            <a:r>
              <a:rPr lang="en-US" altLang="zh-CN" dirty="0"/>
              <a:t>—declare</a:t>
            </a:r>
            <a:endParaRPr lang="zh-CN" altLang="en-US" dirty="0"/>
          </a:p>
        </p:txBody>
      </p: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381000" y="1556792"/>
            <a:ext cx="8077200" cy="1212850"/>
            <a:chOff x="240" y="720"/>
            <a:chExt cx="5088" cy="764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240" y="720"/>
              <a:ext cx="5088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Clr>
                  <a:schemeClr val="hlink"/>
                </a:buClr>
                <a:buFont typeface="Wingdings" pitchFamily="2" charset="2"/>
                <a:buChar char="q"/>
              </a:pPr>
              <a:r>
                <a:rPr lang="zh-CN" altLang="en-US" sz="3200" dirty="0">
                  <a:solidFill>
                    <a:schemeClr val="tx1"/>
                  </a:solidFill>
                  <a:ea typeface="黑体" pitchFamily="2" charset="-122"/>
                </a:rPr>
                <a:t> 内置命令 </a:t>
              </a:r>
              <a:r>
                <a:rPr lang="en-US" altLang="zh-CN" sz="3200" dirty="0">
                  <a:solidFill>
                    <a:schemeClr val="tx1"/>
                  </a:solidFill>
                  <a:ea typeface="黑体" pitchFamily="2" charset="-122"/>
                </a:rPr>
                <a:t>declare </a:t>
              </a:r>
              <a:r>
                <a:rPr lang="zh-CN" altLang="en-US" sz="3200" dirty="0">
                  <a:solidFill>
                    <a:schemeClr val="tx1"/>
                  </a:solidFill>
                  <a:ea typeface="黑体" pitchFamily="2" charset="-122"/>
                </a:rPr>
                <a:t>可用来声明变量</a:t>
              </a: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12" y="1162"/>
              <a:ext cx="4416" cy="322"/>
            </a:xfrm>
            <a:prstGeom prst="rect">
              <a:avLst/>
            </a:prstGeom>
            <a:noFill/>
            <a:ln w="28575">
              <a:solidFill>
                <a:srgbClr val="CC99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990000"/>
                  </a:solidFill>
                  <a:latin typeface="Courier New" pitchFamily="49" charset="0"/>
                </a:rPr>
                <a:t>declare [</a:t>
              </a:r>
              <a:r>
                <a:rPr lang="zh-CN" altLang="en-US" sz="2400" b="1" dirty="0">
                  <a:solidFill>
                    <a:srgbClr val="990000"/>
                  </a:solidFill>
                  <a:latin typeface="Courier New" pitchFamily="49" charset="0"/>
                </a:rPr>
                <a:t>选项]</a:t>
              </a:r>
              <a:r>
                <a:rPr lang="zh-CN" altLang="en-US" sz="2400" b="1" dirty="0">
                  <a:solidFill>
                    <a:srgbClr val="0000CC"/>
                  </a:solidFill>
                  <a:latin typeface="Courier New" pitchFamily="49" charset="0"/>
                </a:rPr>
                <a:t> 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variable[=value]</a:t>
              </a:r>
            </a:p>
          </p:txBody>
        </p:sp>
      </p:grpSp>
      <p:graphicFrame>
        <p:nvGraphicFramePr>
          <p:cNvPr id="1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963568"/>
              </p:ext>
            </p:extLst>
          </p:nvPr>
        </p:nvGraphicFramePr>
        <p:xfrm>
          <a:off x="611560" y="3090664"/>
          <a:ext cx="7920037" cy="3200400"/>
        </p:xfrm>
        <a:graphic>
          <a:graphicData uri="http://schemas.openxmlformats.org/drawingml/2006/table">
            <a:tbl>
              <a:tblPr/>
              <a:tblGrid>
                <a:gridCol w="1363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选项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将变量设为只读 (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readonly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将变量输出到子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shell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中（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export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为全局变量）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将变量设为整型 (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integer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将变量设置为一个数组 (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array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列出函数的名字和定义 (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function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只列出函数名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declare </a:t>
            </a:r>
            <a:r>
              <a:rPr lang="zh-CN" altLang="en-US" dirty="0"/>
              <a:t>举例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54113" y="1844824"/>
            <a:ext cx="7010400" cy="12003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declare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–r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=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osmond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unset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declare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myname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=“Osmond Liang"</a:t>
            </a: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1154113" y="3368825"/>
            <a:ext cx="7010400" cy="1592263"/>
            <a:chOff x="703" y="2418"/>
            <a:chExt cx="4416" cy="1003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703" y="2418"/>
              <a:ext cx="4416" cy="291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declare 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–x</a:t>
              </a: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 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myname2</a:t>
              </a: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=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Courier New" pitchFamily="49" charset="0"/>
                </a:rPr>
                <a:t>lrj</a:t>
              </a:r>
              <a:endParaRPr lang="en-US" altLang="zh-CN" sz="2400" b="1" dirty="0">
                <a:solidFill>
                  <a:srgbClr val="0000CC"/>
                </a:solidFill>
                <a:latin typeface="Courier New" pitchFamily="49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703" y="2898"/>
              <a:ext cx="4416" cy="523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myname2</a:t>
              </a: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=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Courier New" pitchFamily="49" charset="0"/>
                </a:rPr>
                <a:t>lrj</a:t>
              </a:r>
              <a:endParaRPr lang="en-US" altLang="zh-CN" sz="2400" b="1" dirty="0">
                <a:solidFill>
                  <a:srgbClr val="003300"/>
                </a:solidFill>
                <a:latin typeface="Courier New" pitchFamily="49" charset="0"/>
              </a:endParaRPr>
            </a:p>
            <a:p>
              <a:pPr>
                <a:buClr>
                  <a:srgbClr val="FF3300"/>
                </a:buClr>
                <a:buFont typeface="Wingdings" pitchFamily="2" charset="2"/>
                <a:buNone/>
              </a:pP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declare </a:t>
              </a:r>
              <a:r>
                <a:rPr lang="en-US" altLang="zh-CN" sz="2400" b="1" dirty="0">
                  <a:solidFill>
                    <a:srgbClr val="006600"/>
                  </a:solidFill>
                  <a:latin typeface="Courier New" pitchFamily="49" charset="0"/>
                </a:rPr>
                <a:t>–x</a:t>
              </a:r>
              <a:r>
                <a:rPr lang="en-US" altLang="zh-CN" sz="2400" b="1" dirty="0">
                  <a:solidFill>
                    <a:srgbClr val="003300"/>
                  </a:solidFill>
                  <a:latin typeface="Courier New" pitchFamily="49" charset="0"/>
                </a:rPr>
                <a:t> </a:t>
              </a:r>
              <a:r>
                <a:rPr lang="en-US" altLang="zh-CN" sz="2400" b="1" dirty="0">
                  <a:solidFill>
                    <a:srgbClr val="0000CC"/>
                  </a:solidFill>
                  <a:latin typeface="Courier New" pitchFamily="49" charset="0"/>
                </a:rPr>
                <a:t>myname2</a:t>
              </a:r>
            </a:p>
          </p:txBody>
        </p: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154113" y="5273824"/>
            <a:ext cx="7010400" cy="12003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Courier New" pitchFamily="49" charset="0"/>
              </a:rPr>
              <a:t>declare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显示全部的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shell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变量与函数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与执行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set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指令的效果相同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1F935A-CCAD-448D-8982-193AF4707B68}"/>
              </a:ext>
            </a:extLst>
          </p:cNvPr>
          <p:cNvSpPr/>
          <p:nvPr/>
        </p:nvSpPr>
        <p:spPr bwMode="auto">
          <a:xfrm>
            <a:off x="1043608" y="3789039"/>
            <a:ext cx="7488832" cy="2877245"/>
          </a:xfrm>
          <a:prstGeom prst="roundRect">
            <a:avLst>
              <a:gd name="adj" fmla="val 6198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Shell </a:t>
            </a:r>
            <a:r>
              <a:rPr lang="zh-CN" altLang="en-US" b="1" dirty="0"/>
              <a:t>变量的分类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244228"/>
            <a:ext cx="7772400" cy="5281116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用户自定义变量</a:t>
            </a:r>
            <a:endParaRPr lang="en-US" altLang="zh-CN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sz="2400" dirty="0"/>
              <a:t>由用户自己定义、修改和使用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Shell </a:t>
            </a:r>
            <a:r>
              <a:rPr lang="zh-CN" altLang="en-US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环境变量</a:t>
            </a:r>
            <a:endParaRPr lang="en-US" altLang="zh-CN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sz="2400" dirty="0"/>
              <a:t>由系统维护，用于设置用户的</a:t>
            </a:r>
            <a:r>
              <a:rPr lang="en-US" altLang="zh-CN" sz="2400" dirty="0"/>
              <a:t>Shell</a:t>
            </a:r>
            <a:r>
              <a:rPr lang="zh-CN" altLang="en-US" sz="2400" dirty="0"/>
              <a:t>工作环境</a:t>
            </a:r>
            <a:endParaRPr lang="en-US" altLang="zh-CN" sz="2400" dirty="0"/>
          </a:p>
          <a:p>
            <a:pPr lvl="1"/>
            <a:r>
              <a:rPr lang="zh-CN" altLang="en-US" sz="2400" dirty="0"/>
              <a:t>只有少数的变量用户可以修改其值</a:t>
            </a:r>
            <a:endParaRPr lang="en-US" altLang="zh-CN" sz="2400" dirty="0"/>
          </a:p>
          <a:p>
            <a:r>
              <a:rPr lang="zh-CN" altLang="en-US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位置参数变量</a:t>
            </a:r>
            <a:r>
              <a:rPr lang="zh-CN" altLang="en-US" dirty="0"/>
              <a:t>（</a:t>
            </a:r>
            <a:r>
              <a:rPr lang="en-US" altLang="zh-CN" dirty="0"/>
              <a:t>Positional Parameters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sz="2400" dirty="0"/>
              <a:t>通过命令行给程序传递执行参数</a:t>
            </a:r>
            <a:endParaRPr lang="en-US" altLang="zh-CN" sz="2400" dirty="0"/>
          </a:p>
          <a:p>
            <a:pPr lvl="1"/>
            <a:r>
              <a:rPr lang="zh-CN" altLang="en-US" sz="2400" dirty="0"/>
              <a:t>可用 </a:t>
            </a:r>
            <a:r>
              <a:rPr lang="en-US" altLang="zh-CN" sz="2400" dirty="0"/>
              <a:t>shift </a:t>
            </a:r>
            <a:r>
              <a:rPr lang="zh-CN" altLang="en-US" sz="2400" dirty="0"/>
              <a:t>命令实现位置参数的迁移</a:t>
            </a:r>
            <a:endParaRPr lang="en-US" altLang="zh-CN" sz="2400" dirty="0"/>
          </a:p>
          <a:p>
            <a:r>
              <a:rPr lang="zh-CN" altLang="en-US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专用参数变量</a:t>
            </a:r>
            <a:r>
              <a:rPr lang="zh-CN" altLang="en-US" dirty="0"/>
              <a:t>（</a:t>
            </a:r>
            <a:r>
              <a:rPr lang="en-US" altLang="zh-CN" dirty="0"/>
              <a:t>Special Parameters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sz="2400" dirty="0"/>
              <a:t>Bash </a:t>
            </a:r>
            <a:r>
              <a:rPr lang="zh-CN" altLang="en-US" sz="2400" dirty="0"/>
              <a:t>预定义的与进程状态相关的特殊变量</a:t>
            </a:r>
          </a:p>
          <a:p>
            <a:pPr lvl="1"/>
            <a:r>
              <a:rPr lang="zh-CN" altLang="en-US" sz="2400" dirty="0"/>
              <a:t>用户不能修改其值</a:t>
            </a:r>
            <a:endParaRPr lang="en-US" altLang="zh-CN" sz="24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3653C6-DC0F-4C4E-8561-42B1CBA6B108}"/>
              </a:ext>
            </a:extLst>
          </p:cNvPr>
          <p:cNvSpPr/>
          <p:nvPr/>
        </p:nvSpPr>
        <p:spPr>
          <a:xfrm>
            <a:off x="4788024" y="6038474"/>
            <a:ext cx="38779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特殊变量（只读）</a:t>
            </a:r>
          </a:p>
        </p:txBody>
      </p:sp>
    </p:spTree>
    <p:extLst>
      <p:ext uri="{BB962C8B-B14F-4D97-AF65-F5344CB8AC3E}">
        <p14:creationId xmlns:p14="http://schemas.microsoft.com/office/powerpoint/2010/main" val="2615589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2030403"/>
            <a:ext cx="7772400" cy="4680520"/>
          </a:xfrm>
        </p:spPr>
        <p:txBody>
          <a:bodyPr/>
          <a:lstStyle/>
          <a:p>
            <a:r>
              <a:rPr lang="zh-CN" altLang="en-US" dirty="0">
                <a:solidFill>
                  <a:schemeClr val="accent4"/>
                </a:solidFill>
              </a:rPr>
              <a:t>是一组特殊的内置变量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跟在</a:t>
            </a:r>
            <a:r>
              <a:rPr lang="zh-CN" altLang="en-US" dirty="0">
                <a:solidFill>
                  <a:srgbClr val="FF0000"/>
                </a:solidFill>
              </a:rPr>
              <a:t>脚本名后面</a:t>
            </a:r>
            <a:r>
              <a:rPr lang="zh-CN" altLang="en-US" dirty="0">
                <a:solidFill>
                  <a:schemeClr val="accent4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用空格隔开</a:t>
            </a:r>
            <a:r>
              <a:rPr lang="zh-CN" altLang="en-US" dirty="0">
                <a:solidFill>
                  <a:schemeClr val="accent4"/>
                </a:solidFill>
              </a:rPr>
              <a:t>的每个字符串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$1 </a:t>
            </a:r>
            <a:r>
              <a:rPr lang="zh-CN" altLang="en-US" dirty="0">
                <a:solidFill>
                  <a:schemeClr val="accent4"/>
                </a:solidFill>
              </a:rPr>
              <a:t>表示</a:t>
            </a:r>
            <a:r>
              <a:rPr lang="zh-CN" altLang="en-US" dirty="0">
                <a:solidFill>
                  <a:srgbClr val="FF0000"/>
                </a:solidFill>
              </a:rPr>
              <a:t>第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个参数值</a:t>
            </a:r>
            <a:r>
              <a:rPr lang="zh-CN" altLang="en-US" dirty="0">
                <a:solidFill>
                  <a:schemeClr val="accent4"/>
                </a:solidFill>
              </a:rPr>
              <a:t>，</a:t>
            </a:r>
            <a:r>
              <a:rPr lang="en-US" altLang="zh-CN" dirty="0">
                <a:solidFill>
                  <a:schemeClr val="accent4"/>
                </a:solidFill>
              </a:rPr>
              <a:t>……</a:t>
            </a:r>
            <a:r>
              <a:rPr lang="zh-CN" altLang="en-US" dirty="0">
                <a:solidFill>
                  <a:schemeClr val="accent4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$9</a:t>
            </a:r>
            <a:r>
              <a:rPr lang="en-US" altLang="zh-CN" b="1" dirty="0">
                <a:solidFill>
                  <a:srgbClr val="002060"/>
                </a:solidFill>
              </a:rPr>
              <a:t> </a:t>
            </a:r>
            <a:r>
              <a:rPr lang="zh-CN" altLang="en-US" dirty="0">
                <a:solidFill>
                  <a:schemeClr val="accent4"/>
                </a:solidFill>
              </a:rPr>
              <a:t>表示</a:t>
            </a:r>
            <a:r>
              <a:rPr lang="zh-CN" altLang="en-US" dirty="0">
                <a:solidFill>
                  <a:srgbClr val="FF0000"/>
                </a:solidFill>
              </a:rPr>
              <a:t>第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个参数值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${10} </a:t>
            </a:r>
            <a:r>
              <a:rPr lang="zh-CN" altLang="en-US" dirty="0">
                <a:solidFill>
                  <a:schemeClr val="accent4"/>
                </a:solidFill>
              </a:rPr>
              <a:t>表示第</a:t>
            </a:r>
            <a:r>
              <a:rPr lang="en-US" altLang="zh-CN" dirty="0">
                <a:solidFill>
                  <a:schemeClr val="accent4"/>
                </a:solidFill>
              </a:rPr>
              <a:t>10</a:t>
            </a:r>
            <a:r>
              <a:rPr lang="zh-CN" altLang="en-US" dirty="0">
                <a:solidFill>
                  <a:schemeClr val="accent4"/>
                </a:solidFill>
              </a:rPr>
              <a:t>个参数值，</a:t>
            </a:r>
            <a:r>
              <a:rPr lang="en-US" altLang="zh-CN" b="1" dirty="0">
                <a:solidFill>
                  <a:srgbClr val="002060"/>
                </a:solidFill>
              </a:rPr>
              <a:t> ${11} </a:t>
            </a:r>
            <a:r>
              <a:rPr lang="zh-CN" altLang="en-US" dirty="0">
                <a:solidFill>
                  <a:schemeClr val="accent4"/>
                </a:solidFill>
              </a:rPr>
              <a:t>表示第</a:t>
            </a:r>
            <a:r>
              <a:rPr lang="en-US" altLang="zh-CN" dirty="0">
                <a:solidFill>
                  <a:schemeClr val="accent4"/>
                </a:solidFill>
              </a:rPr>
              <a:t>11</a:t>
            </a:r>
            <a:r>
              <a:rPr lang="zh-CN" altLang="en-US" dirty="0">
                <a:solidFill>
                  <a:schemeClr val="accent4"/>
                </a:solidFill>
              </a:rPr>
              <a:t>个参数值， </a:t>
            </a:r>
            <a:r>
              <a:rPr lang="en-US" altLang="zh-CN" dirty="0">
                <a:solidFill>
                  <a:schemeClr val="accent4"/>
                </a:solidFill>
              </a:rPr>
              <a:t>……</a:t>
            </a:r>
          </a:p>
          <a:p>
            <a:r>
              <a:rPr lang="zh-CN" altLang="en-US" dirty="0">
                <a:solidFill>
                  <a:schemeClr val="accent4"/>
                </a:solidFill>
              </a:rPr>
              <a:t>位置参数的用途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从 </a:t>
            </a:r>
            <a:r>
              <a:rPr lang="en-US" altLang="zh-CN" dirty="0">
                <a:solidFill>
                  <a:schemeClr val="accent4"/>
                </a:solidFill>
              </a:rPr>
              <a:t>shell </a:t>
            </a:r>
            <a:r>
              <a:rPr lang="zh-CN" altLang="en-US" dirty="0">
                <a:solidFill>
                  <a:schemeClr val="accent4"/>
                </a:solidFill>
              </a:rPr>
              <a:t>命令</a:t>
            </a:r>
            <a:r>
              <a:rPr lang="en-US" altLang="zh-CN" dirty="0">
                <a:solidFill>
                  <a:schemeClr val="accent4"/>
                </a:solidFill>
              </a:rPr>
              <a:t>/</a:t>
            </a:r>
            <a:r>
              <a:rPr lang="zh-CN" altLang="en-US" dirty="0">
                <a:solidFill>
                  <a:schemeClr val="accent4"/>
                </a:solidFill>
              </a:rPr>
              <a:t>脚本 的命令行</a:t>
            </a:r>
            <a:r>
              <a:rPr lang="zh-CN" altLang="en-US" dirty="0">
                <a:solidFill>
                  <a:srgbClr val="FF0000"/>
                </a:solidFill>
              </a:rPr>
              <a:t>接受参数</a:t>
            </a: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在调用 </a:t>
            </a:r>
            <a:r>
              <a:rPr lang="en-US" altLang="zh-CN" dirty="0">
                <a:solidFill>
                  <a:srgbClr val="FF0000"/>
                </a:solidFill>
              </a:rPr>
              <a:t>shell 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>
                <a:solidFill>
                  <a:schemeClr val="accent4"/>
                </a:solidFill>
              </a:rPr>
              <a:t>时为其</a:t>
            </a:r>
            <a:r>
              <a:rPr lang="zh-CN" altLang="en-US" dirty="0">
                <a:solidFill>
                  <a:srgbClr val="FF0000"/>
                </a:solidFill>
              </a:rPr>
              <a:t>传递参数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b="1" dirty="0">
              <a:solidFill>
                <a:schemeClr val="accent4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74867-E1E3-48DC-A638-806B2E0CDD94}"/>
              </a:ext>
            </a:extLst>
          </p:cNvPr>
          <p:cNvSpPr txBox="1"/>
          <p:nvPr/>
        </p:nvSpPr>
        <p:spPr>
          <a:xfrm>
            <a:off x="1163622" y="131415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 dirty="0">
                <a:solidFill>
                  <a:schemeClr val="accent6">
                    <a:lumMod val="75000"/>
                  </a:schemeClr>
                </a:solidFill>
              </a:rPr>
              <a:t>位置参数变量</a:t>
            </a:r>
            <a:endParaRPr lang="zh-CN" altLang="en-US" sz="4000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270151FE-C840-4630-96BB-94C8C975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 特殊变量</a:t>
            </a:r>
          </a:p>
        </p:txBody>
      </p:sp>
    </p:spTree>
    <p:extLst>
      <p:ext uri="{BB962C8B-B14F-4D97-AF65-F5344CB8AC3E}">
        <p14:creationId xmlns:p14="http://schemas.microsoft.com/office/powerpoint/2010/main" val="1167732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844824"/>
            <a:ext cx="8054317" cy="5013176"/>
          </a:xfrm>
        </p:spPr>
        <p:txBody>
          <a:bodyPr/>
          <a:lstStyle/>
          <a:p>
            <a:r>
              <a:rPr lang="zh-CN" altLang="en-US" sz="2800" b="1" dirty="0"/>
              <a:t>命令行参数相关</a:t>
            </a:r>
            <a:endParaRPr lang="en-US" altLang="zh-CN" sz="2800" b="1" dirty="0"/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$*   </a:t>
            </a:r>
            <a:r>
              <a:rPr lang="en-US" altLang="zh-CN" sz="2200" b="1" dirty="0">
                <a:solidFill>
                  <a:srgbClr val="002060"/>
                </a:solidFill>
              </a:rPr>
              <a:t>     </a:t>
            </a:r>
            <a:r>
              <a:rPr lang="zh-CN" altLang="en-US" sz="2200" dirty="0"/>
              <a:t>将所有位置参量看成</a:t>
            </a:r>
            <a:r>
              <a:rPr lang="zh-CN" altLang="en-US" sz="2200" dirty="0">
                <a:solidFill>
                  <a:srgbClr val="FF0000"/>
                </a:solidFill>
              </a:rPr>
              <a:t>一个字符串</a:t>
            </a:r>
            <a:r>
              <a:rPr lang="zh-CN" altLang="en-US" sz="2200" dirty="0"/>
              <a:t>（以空格间隔）</a:t>
            </a:r>
            <a:endParaRPr lang="en-US" altLang="zh-CN" sz="2200" b="1" dirty="0">
              <a:solidFill>
                <a:srgbClr val="002060"/>
              </a:solidFill>
            </a:endParaRP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$@   </a:t>
            </a:r>
            <a:r>
              <a:rPr lang="en-US" altLang="zh-CN" sz="2200" b="1" dirty="0">
                <a:solidFill>
                  <a:srgbClr val="002060"/>
                </a:solidFill>
              </a:rPr>
              <a:t>   </a:t>
            </a:r>
            <a:r>
              <a:rPr lang="zh-CN" altLang="en-US" sz="2200" dirty="0"/>
              <a:t>将每个位置参量看成</a:t>
            </a:r>
            <a:r>
              <a:rPr lang="zh-CN" altLang="en-US" sz="2200" dirty="0">
                <a:solidFill>
                  <a:srgbClr val="FF0000"/>
                </a:solidFill>
              </a:rPr>
              <a:t>单独的字符串</a:t>
            </a:r>
            <a:r>
              <a:rPr lang="zh-CN" altLang="en-US" sz="2200" dirty="0"/>
              <a:t>（以空格间隔）</a:t>
            </a:r>
            <a:endParaRPr lang="en-US" altLang="zh-CN" sz="2200" b="1" dirty="0">
              <a:solidFill>
                <a:srgbClr val="002060"/>
              </a:solidFill>
            </a:endParaRP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“$*”</a:t>
            </a:r>
            <a:r>
              <a:rPr lang="en-US" altLang="zh-CN" sz="2200" b="1" dirty="0">
                <a:solidFill>
                  <a:srgbClr val="002060"/>
                </a:solidFill>
              </a:rPr>
              <a:t>   </a:t>
            </a:r>
            <a:r>
              <a:rPr lang="zh-CN" altLang="en-US" sz="2200" dirty="0"/>
              <a:t>将所有位置参量看成</a:t>
            </a:r>
            <a:r>
              <a:rPr lang="zh-CN" altLang="en-US" sz="2200" dirty="0">
                <a:solidFill>
                  <a:srgbClr val="C00000"/>
                </a:solidFill>
              </a:rPr>
              <a:t>一个字符串</a:t>
            </a:r>
            <a:r>
              <a:rPr lang="zh-CN" altLang="en-US" sz="2200" dirty="0"/>
              <a:t>（以</a:t>
            </a:r>
            <a:r>
              <a:rPr lang="en-US" altLang="zh-CN" sz="2200" dirty="0"/>
              <a:t>$IFS</a:t>
            </a:r>
            <a:r>
              <a:rPr lang="zh-CN" altLang="en-US" sz="2200" dirty="0"/>
              <a:t>间隔）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“$@” </a:t>
            </a:r>
            <a:r>
              <a:rPr lang="zh-CN" altLang="en-US" sz="2200" dirty="0"/>
              <a:t>将每个位置参量看成</a:t>
            </a:r>
            <a:r>
              <a:rPr lang="zh-CN" altLang="en-US" sz="2200" dirty="0">
                <a:solidFill>
                  <a:srgbClr val="C00000"/>
                </a:solidFill>
              </a:rPr>
              <a:t>单独的字符串</a:t>
            </a:r>
            <a:r>
              <a:rPr lang="zh-CN" altLang="en-US" sz="2200" dirty="0"/>
              <a:t>（以空格间隔） 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$0       </a:t>
            </a:r>
            <a:r>
              <a:rPr lang="zh-CN" altLang="en-US" sz="2200" dirty="0"/>
              <a:t>命令行上输入的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>
                <a:solidFill>
                  <a:srgbClr val="FF0000"/>
                </a:solidFill>
              </a:rPr>
              <a:t>程序名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$#</a:t>
            </a:r>
            <a:r>
              <a:rPr lang="en-US" altLang="zh-CN" sz="2200" dirty="0">
                <a:solidFill>
                  <a:srgbClr val="FF0000"/>
                </a:solidFill>
              </a:rPr>
              <a:t>   </a:t>
            </a:r>
            <a:r>
              <a:rPr lang="en-US" altLang="zh-CN" sz="2200" dirty="0"/>
              <a:t>    </a:t>
            </a:r>
            <a:r>
              <a:rPr lang="zh-CN" altLang="en-US" sz="2200" dirty="0"/>
              <a:t>表示命令行上</a:t>
            </a:r>
            <a:r>
              <a:rPr lang="zh-CN" altLang="en-US" sz="2200" dirty="0">
                <a:solidFill>
                  <a:srgbClr val="FF0000"/>
                </a:solidFill>
              </a:rPr>
              <a:t>参数的个数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zh-CN" altLang="en-US" sz="2800" b="1" dirty="0"/>
              <a:t>进程状态相关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$?</a:t>
            </a:r>
            <a:r>
              <a:rPr lang="en-US" altLang="zh-CN" sz="2200" dirty="0"/>
              <a:t>  </a:t>
            </a:r>
            <a:r>
              <a:rPr lang="zh-CN" altLang="en-US" sz="2200" dirty="0"/>
              <a:t>表示</a:t>
            </a:r>
            <a:r>
              <a:rPr lang="zh-CN" altLang="en-US" sz="2200" dirty="0">
                <a:solidFill>
                  <a:srgbClr val="FF0000"/>
                </a:solidFill>
              </a:rPr>
              <a:t>上一条命令执行后的返回值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$$</a:t>
            </a:r>
            <a:r>
              <a:rPr lang="en-US" altLang="zh-CN" sz="2200" dirty="0"/>
              <a:t>  </a:t>
            </a:r>
            <a:r>
              <a:rPr lang="zh-CN" altLang="en-US" sz="2200" dirty="0">
                <a:solidFill>
                  <a:srgbClr val="FF0000"/>
                </a:solidFill>
              </a:rPr>
              <a:t>当前进程的进程号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$! </a:t>
            </a:r>
            <a:r>
              <a:rPr lang="en-US" altLang="zh-CN" sz="2200" dirty="0"/>
              <a:t>  </a:t>
            </a:r>
            <a:r>
              <a:rPr lang="zh-CN" altLang="en-US" sz="2200" dirty="0"/>
              <a:t>显示运行在后台的最后一个</a:t>
            </a:r>
            <a:r>
              <a:rPr lang="zh-CN" altLang="en-US" sz="2200" dirty="0">
                <a:solidFill>
                  <a:srgbClr val="FF0000"/>
                </a:solidFill>
              </a:rPr>
              <a:t>作业的 </a:t>
            </a:r>
            <a:r>
              <a:rPr lang="en-US" altLang="zh-CN" sz="2200" dirty="0">
                <a:solidFill>
                  <a:srgbClr val="FF0000"/>
                </a:solidFill>
              </a:rPr>
              <a:t>PID 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$_</a:t>
            </a:r>
            <a:r>
              <a:rPr lang="en-US" altLang="zh-CN" sz="2200" dirty="0"/>
              <a:t>  </a:t>
            </a:r>
            <a:r>
              <a:rPr lang="zh-CN" altLang="en-US" sz="2200" dirty="0"/>
              <a:t>在此之前执行的命令或脚本的</a:t>
            </a:r>
            <a:r>
              <a:rPr lang="zh-CN" altLang="en-US" sz="2200" dirty="0">
                <a:solidFill>
                  <a:srgbClr val="FF0000"/>
                </a:solidFill>
              </a:rPr>
              <a:t>最后一个参数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837289-6DA1-42A5-99F5-C458B2E50C1D}"/>
              </a:ext>
            </a:extLst>
          </p:cNvPr>
          <p:cNvSpPr txBox="1"/>
          <p:nvPr/>
        </p:nvSpPr>
        <p:spPr>
          <a:xfrm>
            <a:off x="1281325" y="13194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专用参数变量</a:t>
            </a:r>
            <a:endParaRPr lang="zh-CN" altLang="en-US" sz="3600" dirty="0"/>
          </a:p>
        </p:txBody>
      </p:sp>
      <p:sp>
        <p:nvSpPr>
          <p:cNvPr id="5" name="标题 6">
            <a:extLst>
              <a:ext uri="{FF2B5EF4-FFF2-40B4-BE49-F238E27FC236}">
                <a16:creationId xmlns:a16="http://schemas.microsoft.com/office/drawing/2014/main" id="{F695DB26-43F3-4EC0-B10F-95DCD6C34A63}"/>
              </a:ext>
            </a:extLst>
          </p:cNvPr>
          <p:cNvSpPr txBox="1">
            <a:spLocks/>
          </p:cNvSpPr>
          <p:nvPr/>
        </p:nvSpPr>
        <p:spPr bwMode="auto">
          <a:xfrm>
            <a:off x="1281325" y="237136"/>
            <a:ext cx="779303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三 特殊变量</a:t>
            </a:r>
          </a:p>
        </p:txBody>
      </p:sp>
    </p:spTree>
    <p:extLst>
      <p:ext uri="{BB962C8B-B14F-4D97-AF65-F5344CB8AC3E}">
        <p14:creationId xmlns:p14="http://schemas.microsoft.com/office/powerpoint/2010/main" val="33691411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554709" cy="5013176"/>
          </a:xfrm>
        </p:spPr>
        <p:txBody>
          <a:bodyPr/>
          <a:lstStyle/>
          <a:p>
            <a:r>
              <a:rPr lang="en-US" altLang="zh-CN" sz="2800" b="1" dirty="0"/>
              <a:t>/path/to/</a:t>
            </a:r>
            <a:r>
              <a:rPr lang="en-US" altLang="zh-CN" sz="2800" b="1" dirty="0" err="1"/>
              <a:t>scriptname</a:t>
            </a:r>
            <a:r>
              <a:rPr lang="en-US" altLang="zh-CN" sz="2800" b="1" dirty="0"/>
              <a:t>  opt1  opt2  opt3  opt4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                $0                      $1      $2      $3     $4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$0        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>
                <a:solidFill>
                  <a:srgbClr val="FF0000"/>
                </a:solidFill>
              </a:rPr>
              <a:t>程序名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$#</a:t>
            </a:r>
            <a:r>
              <a:rPr lang="en-US" altLang="zh-CN" sz="2200" dirty="0">
                <a:solidFill>
                  <a:srgbClr val="FF0000"/>
                </a:solidFill>
              </a:rPr>
              <a:t>   </a:t>
            </a:r>
            <a:r>
              <a:rPr lang="en-US" altLang="zh-CN" sz="2200" dirty="0"/>
              <a:t>    </a:t>
            </a:r>
            <a:r>
              <a:rPr lang="zh-CN" altLang="en-US" sz="2200" dirty="0"/>
              <a:t>表示命令行上</a:t>
            </a:r>
            <a:r>
              <a:rPr lang="zh-CN" altLang="en-US" sz="2200" dirty="0">
                <a:solidFill>
                  <a:srgbClr val="FF0000"/>
                </a:solidFill>
              </a:rPr>
              <a:t>接的参数个数 ，上例为</a:t>
            </a:r>
            <a:r>
              <a:rPr lang="en-US" altLang="zh-CN" sz="2200" dirty="0">
                <a:solidFill>
                  <a:srgbClr val="FF0000"/>
                </a:solidFill>
              </a:rPr>
              <a:t>『 4 』</a:t>
            </a:r>
            <a:r>
              <a:rPr lang="zh-CN" altLang="en-US" sz="2200" dirty="0">
                <a:solidFill>
                  <a:srgbClr val="FF0000"/>
                </a:solidFill>
              </a:rPr>
              <a:t>；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$@ </a:t>
            </a:r>
            <a:r>
              <a:rPr lang="zh-CN" altLang="en-US" sz="2200" dirty="0">
                <a:solidFill>
                  <a:srgbClr val="FF0000"/>
                </a:solidFill>
              </a:rPr>
              <a:t>      表示</a:t>
            </a:r>
            <a:r>
              <a:rPr lang="en-US" altLang="zh-CN" sz="2200" dirty="0">
                <a:solidFill>
                  <a:srgbClr val="FF0000"/>
                </a:solidFill>
              </a:rPr>
              <a:t>『 "$1" "$2" "$3" "$4" 』</a:t>
            </a:r>
            <a:r>
              <a:rPr lang="zh-CN" altLang="en-US" sz="2200" dirty="0">
                <a:solidFill>
                  <a:srgbClr val="FF0000"/>
                </a:solidFill>
              </a:rPr>
              <a:t>，每个变量是独立的 </a:t>
            </a:r>
            <a:r>
              <a:rPr lang="en-US" altLang="zh-CN" sz="2200" dirty="0">
                <a:solidFill>
                  <a:srgbClr val="FF0000"/>
                </a:solidFill>
              </a:rPr>
              <a:t>(</a:t>
            </a:r>
            <a:r>
              <a:rPr lang="zh-CN" altLang="en-US" sz="2200" dirty="0">
                <a:solidFill>
                  <a:srgbClr val="FF0000"/>
                </a:solidFill>
              </a:rPr>
              <a:t>用双引号括起来</a:t>
            </a:r>
            <a:r>
              <a:rPr lang="en-US" altLang="zh-CN" sz="2200" dirty="0">
                <a:solidFill>
                  <a:srgbClr val="FF0000"/>
                </a:solidFill>
              </a:rPr>
              <a:t>)</a:t>
            </a:r>
            <a:r>
              <a:rPr lang="zh-CN" altLang="en-US" sz="2200" dirty="0">
                <a:solidFill>
                  <a:srgbClr val="FF0000"/>
                </a:solidFill>
              </a:rPr>
              <a:t>；</a:t>
            </a: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$*        </a:t>
            </a:r>
            <a:r>
              <a:rPr lang="zh-CN" altLang="en-US" sz="2200" dirty="0">
                <a:solidFill>
                  <a:srgbClr val="FF0000"/>
                </a:solidFill>
              </a:rPr>
              <a:t>表示</a:t>
            </a:r>
            <a:r>
              <a:rPr lang="en-US" altLang="zh-CN" sz="2200" dirty="0">
                <a:solidFill>
                  <a:srgbClr val="FF0000"/>
                </a:solidFill>
              </a:rPr>
              <a:t>『 “$1c$2c$3c$4” 』</a:t>
            </a:r>
            <a:r>
              <a:rPr lang="zh-CN" altLang="en-US" sz="2200" dirty="0">
                <a:solidFill>
                  <a:srgbClr val="FF0000"/>
                </a:solidFill>
              </a:rPr>
              <a:t>，其中 </a:t>
            </a:r>
            <a:r>
              <a:rPr lang="en-US" altLang="zh-CN" sz="2200" dirty="0">
                <a:solidFill>
                  <a:srgbClr val="FF0000"/>
                </a:solidFill>
              </a:rPr>
              <a:t>c </a:t>
            </a:r>
            <a:r>
              <a:rPr lang="zh-CN" altLang="en-US" sz="2200" dirty="0">
                <a:solidFill>
                  <a:srgbClr val="FF0000"/>
                </a:solidFill>
              </a:rPr>
              <a:t>为分隔字节，默认为空白键， 本例中为</a:t>
            </a:r>
            <a:r>
              <a:rPr lang="en-US" altLang="zh-CN" sz="2200" dirty="0">
                <a:solidFill>
                  <a:srgbClr val="FF0000"/>
                </a:solidFill>
              </a:rPr>
              <a:t>『 "$1 $2 $3 $4" 』</a:t>
            </a: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$1</a:t>
            </a:r>
            <a:r>
              <a:rPr lang="zh-CN" altLang="en-US" sz="2200" dirty="0">
                <a:solidFill>
                  <a:srgbClr val="FF0000"/>
                </a:solidFill>
              </a:rPr>
              <a:t>        表示第一个参数，为</a:t>
            </a:r>
            <a:r>
              <a:rPr lang="en-US" altLang="zh-CN" sz="2200" dirty="0">
                <a:solidFill>
                  <a:srgbClr val="FF0000"/>
                </a:solidFill>
              </a:rPr>
              <a:t>opt1</a:t>
            </a: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$2</a:t>
            </a:r>
            <a:r>
              <a:rPr lang="zh-CN" altLang="en-US" sz="2200" dirty="0">
                <a:solidFill>
                  <a:srgbClr val="FF0000"/>
                </a:solidFill>
              </a:rPr>
              <a:t>        表示第一个参数，为</a:t>
            </a:r>
            <a:r>
              <a:rPr lang="en-US" altLang="zh-CN" sz="2200" dirty="0">
                <a:solidFill>
                  <a:srgbClr val="FF0000"/>
                </a:solidFill>
              </a:rPr>
              <a:t>opt2</a:t>
            </a: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$3</a:t>
            </a:r>
            <a:r>
              <a:rPr lang="zh-CN" altLang="en-US" sz="2200" dirty="0">
                <a:solidFill>
                  <a:srgbClr val="FF0000"/>
                </a:solidFill>
              </a:rPr>
              <a:t>        表示第一个参数，为</a:t>
            </a:r>
            <a:r>
              <a:rPr lang="en-US" altLang="zh-CN" sz="2200" dirty="0">
                <a:solidFill>
                  <a:srgbClr val="FF0000"/>
                </a:solidFill>
              </a:rPr>
              <a:t>opt3</a:t>
            </a:r>
          </a:p>
          <a:p>
            <a:pPr lvl="1"/>
            <a:r>
              <a:rPr lang="en-US" altLang="zh-CN" sz="2200" dirty="0">
                <a:solidFill>
                  <a:srgbClr val="FF0000"/>
                </a:solidFill>
              </a:rPr>
              <a:t>$4</a:t>
            </a:r>
            <a:r>
              <a:rPr lang="zh-CN" altLang="en-US" sz="2200" dirty="0">
                <a:solidFill>
                  <a:srgbClr val="FF0000"/>
                </a:solidFill>
              </a:rPr>
              <a:t>        表示第一个参数，为</a:t>
            </a:r>
            <a:r>
              <a:rPr lang="en-US" altLang="zh-CN" sz="2200" dirty="0">
                <a:solidFill>
                  <a:srgbClr val="FF0000"/>
                </a:solidFill>
              </a:rPr>
              <a:t>opt4</a:t>
            </a:r>
          </a:p>
        </p:txBody>
      </p:sp>
      <p:sp>
        <p:nvSpPr>
          <p:cNvPr id="5" name="标题 6">
            <a:extLst>
              <a:ext uri="{FF2B5EF4-FFF2-40B4-BE49-F238E27FC236}">
                <a16:creationId xmlns:a16="http://schemas.microsoft.com/office/drawing/2014/main" id="{F695DB26-43F3-4EC0-B10F-95DCD6C34A63}"/>
              </a:ext>
            </a:extLst>
          </p:cNvPr>
          <p:cNvSpPr txBox="1">
            <a:spLocks/>
          </p:cNvSpPr>
          <p:nvPr/>
        </p:nvSpPr>
        <p:spPr bwMode="auto">
          <a:xfrm>
            <a:off x="1157208" y="216024"/>
            <a:ext cx="779303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三 特殊变量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391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81E453F-2609-4022-A0F0-AD80EDCF257D}"/>
              </a:ext>
            </a:extLst>
          </p:cNvPr>
          <p:cNvSpPr/>
          <p:nvPr/>
        </p:nvSpPr>
        <p:spPr bwMode="auto">
          <a:xfrm>
            <a:off x="78615" y="44624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19" y="341472"/>
            <a:ext cx="8640960" cy="4114800"/>
          </a:xfrm>
        </p:spPr>
        <p:txBody>
          <a:bodyPr/>
          <a:lstStyle/>
          <a:p>
            <a:r>
              <a:rPr lang="zh-CN" altLang="en-US" dirty="0"/>
              <a:t>执行脚本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./</a:t>
            </a:r>
            <a:r>
              <a:rPr lang="pt-BR" altLang="zh-CN" b="1" dirty="0">
                <a:solidFill>
                  <a:schemeClr val="accent6">
                    <a:lumMod val="75000"/>
                  </a:schemeClr>
                </a:solidFill>
              </a:rPr>
              <a:t>vartest.sh 1 ‘2 3’ 4 5 a b c d e f 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3166" y="1556792"/>
            <a:ext cx="8559314" cy="46166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#!/bin/bash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ScriptName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: vartest.sh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 To test Positional Parameters &amp; Special Parameters.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Hello</a:t>
            </a:r>
            <a:r>
              <a:rPr lang="en-US" altLang="zh-CN" sz="2100" b="1" dirty="0" err="1">
                <a:solidFill>
                  <a:srgbClr val="0000FF"/>
                </a:solidFill>
                <a:latin typeface="Courier New" pitchFamily="49" charset="0"/>
              </a:rPr>
              <a:t>,</a:t>
            </a:r>
            <a:r>
              <a:rPr lang="en-US" altLang="zh-CN" sz="2100" b="1" dirty="0" err="1">
                <a:solidFill>
                  <a:srgbClr val="C00000"/>
                </a:solidFill>
                <a:latin typeface="Courier New" pitchFamily="49" charset="0"/>
              </a:rPr>
              <a:t>$USER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,the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output of this script are as follows:"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script name is          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$0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first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$1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second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$2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tenth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${10}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"All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$@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"All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$*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number of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$#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process ID for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$$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exit status of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$?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117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81E453F-2609-4022-A0F0-AD80EDCF257D}"/>
              </a:ext>
            </a:extLst>
          </p:cNvPr>
          <p:cNvSpPr/>
          <p:nvPr/>
        </p:nvSpPr>
        <p:spPr bwMode="auto">
          <a:xfrm>
            <a:off x="78615" y="44624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322" y="44624"/>
            <a:ext cx="8640960" cy="4114800"/>
          </a:xfrm>
        </p:spPr>
        <p:txBody>
          <a:bodyPr/>
          <a:lstStyle/>
          <a:p>
            <a:r>
              <a:rPr lang="zh-CN" altLang="en-US" dirty="0"/>
              <a:t>执行脚本结果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./</a:t>
            </a:r>
            <a:r>
              <a:rPr lang="pt-BR" altLang="zh-CN" b="1" dirty="0">
                <a:solidFill>
                  <a:schemeClr val="accent6">
                    <a:lumMod val="75000"/>
                  </a:schemeClr>
                </a:solidFill>
              </a:rPr>
              <a:t>vartest.sh 1 ‘2 3’ 4 5 a b c d e f 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614" y="1190156"/>
            <a:ext cx="8955063" cy="4616648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[</a:t>
            </a:r>
            <a:r>
              <a:rPr lang="en-US" altLang="zh-CN" sz="2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lily@localhost</a:t>
            </a: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 ~]$ ./vartest.sh 1 '2 3' 4 5 a b 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Hello,</a:t>
            </a:r>
            <a:r>
              <a:rPr lang="en-US" altLang="zh-CN" sz="2100" b="1" dirty="0" err="1">
                <a:solidFill>
                  <a:srgbClr val="C00000"/>
                </a:solidFill>
                <a:latin typeface="Courier New" pitchFamily="49" charset="0"/>
              </a:rPr>
              <a:t>lily</a:t>
            </a:r>
            <a:r>
              <a:rPr lang="en-US" altLang="zh-CN" sz="21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,the</a:t>
            </a: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 output of this script are as follows: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script name is          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./vartest.sh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first param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second param of the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2 3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tenth param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All the params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1 2 3 4 5 a b </a:t>
            </a: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All the params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1 2 3 4 5 a b </a:t>
            </a: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number of the params you input are: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11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process ID for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15453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</a:rPr>
              <a:t>The exit status of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916061-36A8-4FA8-883D-2BFF88826117}"/>
              </a:ext>
            </a:extLst>
          </p:cNvPr>
          <p:cNvSpPr txBox="1"/>
          <p:nvPr/>
        </p:nvSpPr>
        <p:spPr>
          <a:xfrm>
            <a:off x="467544" y="5949280"/>
            <a:ext cx="7848872" cy="400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$USER   $0    $1    $2   ${10}    $#     $$     $?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7ADB90-92FA-4DF0-8CF2-FC737F4D7AF0}"/>
              </a:ext>
            </a:extLst>
          </p:cNvPr>
          <p:cNvSpPr txBox="1"/>
          <p:nvPr/>
        </p:nvSpPr>
        <p:spPr>
          <a:xfrm>
            <a:off x="2411760" y="6409313"/>
            <a:ext cx="4577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$(basename$0) =&gt; vartest.sh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640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920EB2-894E-4022-88C9-43A669673957}"/>
              </a:ext>
            </a:extLst>
          </p:cNvPr>
          <p:cNvSpPr/>
          <p:nvPr/>
        </p:nvSpPr>
        <p:spPr bwMode="auto">
          <a:xfrm>
            <a:off x="78615" y="44624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07421" y="0"/>
            <a:ext cx="7772400" cy="4114800"/>
          </a:xfrm>
        </p:spPr>
        <p:txBody>
          <a:bodyPr/>
          <a:lstStyle/>
          <a:p>
            <a:r>
              <a:rPr lang="zh-CN" altLang="en-US" dirty="0"/>
              <a:t>执行脚本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./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ifsargs</a:t>
            </a:r>
            <a:r>
              <a:rPr lang="pt-BR" altLang="zh-CN" b="1" dirty="0">
                <a:solidFill>
                  <a:schemeClr val="accent6">
                    <a:lumMod val="75000"/>
                  </a:schemeClr>
                </a:solidFill>
              </a:rPr>
              <a:t>.sh 1 ‘2 3’ 4 5 a b c d e f 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4225" y="1189380"/>
            <a:ext cx="8986769" cy="47705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#!/bin/bash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en-US" altLang="zh-CN" sz="1900" b="1" dirty="0" err="1">
                <a:solidFill>
                  <a:srgbClr val="0000CC"/>
                </a:solidFill>
                <a:latin typeface="Courier New" pitchFamily="49" charset="0"/>
              </a:rPr>
              <a:t>ScriptName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: ifsargs.sh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#### Set the IFS to | ####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IFS='|'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"Command-Line Arguments Demo"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"* All </a:t>
            </a:r>
            <a:r>
              <a:rPr lang="en-US" altLang="zh-CN" sz="1900" b="1" dirty="0" err="1">
                <a:solidFill>
                  <a:srgbClr val="0000CC"/>
                </a:solidFill>
                <a:latin typeface="Courier New" pitchFamily="49" charset="0"/>
              </a:rPr>
              <a:t>args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displayed using \$@ positional parameter *"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1900" b="1" dirty="0">
                <a:solidFill>
                  <a:srgbClr val="C00000"/>
                </a:solidFill>
                <a:latin typeface="Courier New" pitchFamily="49" charset="0"/>
              </a:rPr>
              <a:t>$@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"* All </a:t>
            </a:r>
            <a:r>
              <a:rPr lang="en-US" altLang="zh-CN" sz="1900" b="1" dirty="0" err="1">
                <a:solidFill>
                  <a:srgbClr val="0000CC"/>
                </a:solidFill>
                <a:latin typeface="Courier New" pitchFamily="49" charset="0"/>
              </a:rPr>
              <a:t>args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displayed using \$* positional parameter *"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1900" b="1" dirty="0">
                <a:solidFill>
                  <a:srgbClr val="C00000"/>
                </a:solidFill>
                <a:latin typeface="Courier New" pitchFamily="49" charset="0"/>
              </a:rPr>
              <a:t>$*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endParaRPr lang="en-US" altLang="zh-CN" sz="19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'* All </a:t>
            </a:r>
            <a:r>
              <a:rPr lang="en-US" altLang="zh-CN" sz="1900" b="1" dirty="0" err="1">
                <a:solidFill>
                  <a:srgbClr val="0000CC"/>
                </a:solidFill>
                <a:latin typeface="Courier New" pitchFamily="49" charset="0"/>
              </a:rPr>
              <a:t>args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displayed using "$@" positional parameter *'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1900" b="1" dirty="0">
                <a:solidFill>
                  <a:srgbClr val="C00000"/>
                </a:solidFill>
                <a:latin typeface="Courier New" pitchFamily="49" charset="0"/>
              </a:rPr>
              <a:t>"$@"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       #*** double quote added ***#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'* All </a:t>
            </a:r>
            <a:r>
              <a:rPr lang="en-US" altLang="zh-CN" sz="1900" b="1" dirty="0" err="1">
                <a:solidFill>
                  <a:srgbClr val="0000CC"/>
                </a:solidFill>
                <a:latin typeface="Courier New" pitchFamily="49" charset="0"/>
              </a:rPr>
              <a:t>args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displayed using "$*" positional parameter *'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echo </a:t>
            </a:r>
            <a:r>
              <a:rPr lang="en-US" altLang="zh-CN" sz="1900" b="1" dirty="0">
                <a:solidFill>
                  <a:srgbClr val="C00000"/>
                </a:solidFill>
                <a:latin typeface="Courier New" pitchFamily="49" charset="0"/>
              </a:rPr>
              <a:t>"$*"</a:t>
            </a:r>
            <a:r>
              <a:rPr lang="en-US" altLang="zh-CN" sz="1900" b="1" dirty="0">
                <a:solidFill>
                  <a:srgbClr val="0000CC"/>
                </a:solidFill>
                <a:latin typeface="Courier New" pitchFamily="49" charset="0"/>
              </a:rPr>
              <a:t>        #*** double quote added ***#</a:t>
            </a:r>
          </a:p>
        </p:txBody>
      </p:sp>
    </p:spTree>
    <p:extLst>
      <p:ext uri="{BB962C8B-B14F-4D97-AF65-F5344CB8AC3E}">
        <p14:creationId xmlns:p14="http://schemas.microsoft.com/office/powerpoint/2010/main" val="19968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920EB2-894E-4022-88C9-43A669673957}"/>
              </a:ext>
            </a:extLst>
          </p:cNvPr>
          <p:cNvSpPr/>
          <p:nvPr/>
        </p:nvSpPr>
        <p:spPr bwMode="auto">
          <a:xfrm>
            <a:off x="78615" y="44624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871" y="6081224"/>
            <a:ext cx="8788255" cy="700060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$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 $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*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和环境变量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IFS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internal field separator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）</a:t>
            </a:r>
            <a:endParaRPr lang="zh-CN" altLang="en-US" sz="2800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07421" y="0"/>
            <a:ext cx="7772400" cy="4114800"/>
          </a:xfrm>
        </p:spPr>
        <p:txBody>
          <a:bodyPr/>
          <a:lstStyle/>
          <a:p>
            <a:r>
              <a:rPr lang="zh-CN" altLang="en-US" dirty="0"/>
              <a:t>执行脚本结果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./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ifsargs</a:t>
            </a:r>
            <a:r>
              <a:rPr lang="pt-BR" altLang="zh-CN" b="1" dirty="0">
                <a:solidFill>
                  <a:schemeClr val="accent6">
                    <a:lumMod val="75000"/>
                  </a:schemeClr>
                </a:solidFill>
              </a:rPr>
              <a:t>.sh 1 ‘2 3’ 4 5 a b c d e f 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4225" y="1189380"/>
            <a:ext cx="8986769" cy="5632311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</a:rPr>
              <a:t>lily@localhost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~]$ ./ifsargs.sh 1 '2 3' 4 5 a b 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Command-Line Arguments Demo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* All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</a:rPr>
              <a:t>args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displayed using $@ positional parameter *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</a:rPr>
              <a:t>1 2 3 4 5 a b 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* All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</a:rPr>
              <a:t>args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displayed using $* positional parameter *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</a:rPr>
              <a:t>1 2 3 4 5 a b 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* All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</a:rPr>
              <a:t>args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displayed using "$@" positional parameter *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</a:rPr>
              <a:t>1 2 3 4 5 a b c d e f g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* All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</a:rPr>
              <a:t>args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displayed using "$*" positional parameter *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</a:rPr>
              <a:t>1|2 3|4|5|a|b|c|d|e|f|g</a:t>
            </a:r>
          </a:p>
        </p:txBody>
      </p:sp>
    </p:spTree>
    <p:extLst>
      <p:ext uri="{BB962C8B-B14F-4D97-AF65-F5344CB8AC3E}">
        <p14:creationId xmlns:p14="http://schemas.microsoft.com/office/powerpoint/2010/main" val="166403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1" y="1752343"/>
            <a:ext cx="8096423" cy="1172601"/>
          </a:xfrm>
        </p:spPr>
        <p:txBody>
          <a:bodyPr/>
          <a:lstStyle/>
          <a:p>
            <a:r>
              <a:rPr lang="zh-CN" altLang="en-US" sz="2100" dirty="0">
                <a:solidFill>
                  <a:srgbClr val="0000CC"/>
                </a:solidFill>
                <a:ea typeface="黑体" pitchFamily="2" charset="-122"/>
              </a:rPr>
              <a:t>将位置参量列表依次左移</a:t>
            </a:r>
            <a:r>
              <a:rPr lang="en-US" altLang="zh-CN" sz="2100" dirty="0">
                <a:solidFill>
                  <a:srgbClr val="0000CC"/>
                </a:solidFill>
                <a:ea typeface="黑体" pitchFamily="2" charset="-122"/>
              </a:rPr>
              <a:t>n</a:t>
            </a:r>
            <a:r>
              <a:rPr lang="zh-CN" altLang="en-US" sz="2100" dirty="0">
                <a:solidFill>
                  <a:srgbClr val="0000CC"/>
                </a:solidFill>
                <a:ea typeface="黑体" pitchFamily="2" charset="-122"/>
              </a:rPr>
              <a:t>次</a:t>
            </a:r>
            <a:r>
              <a:rPr lang="zh-CN" altLang="en-US" sz="2100" dirty="0">
                <a:ea typeface="黑体" pitchFamily="2" charset="-122"/>
              </a:rPr>
              <a:t>，缺省为左移一次</a:t>
            </a:r>
            <a:endParaRPr lang="en-US" altLang="zh-CN" sz="2100" dirty="0">
              <a:ea typeface="黑体" pitchFamily="2" charset="-122"/>
            </a:endParaRPr>
          </a:p>
          <a:p>
            <a:r>
              <a:rPr lang="zh-CN" altLang="en-US" sz="2100" dirty="0">
                <a:ea typeface="黑体" pitchFamily="2" charset="-122"/>
              </a:rPr>
              <a:t>一旦位置参量列表被移动，</a:t>
            </a:r>
            <a:r>
              <a:rPr lang="zh-CN" altLang="en-US" sz="2100" dirty="0">
                <a:solidFill>
                  <a:srgbClr val="0000CC"/>
                </a:solidFill>
                <a:ea typeface="黑体" pitchFamily="2" charset="-122"/>
              </a:rPr>
              <a:t>最左端</a:t>
            </a:r>
            <a:r>
              <a:rPr lang="zh-CN" altLang="en-US" sz="2100" dirty="0">
                <a:ea typeface="黑体" pitchFamily="2" charset="-122"/>
              </a:rPr>
              <a:t>的那个参数就会从列表中</a:t>
            </a:r>
            <a:r>
              <a:rPr lang="zh-CN" altLang="en-US" sz="2100" dirty="0">
                <a:solidFill>
                  <a:srgbClr val="002060"/>
                </a:solidFill>
                <a:ea typeface="黑体" pitchFamily="2" charset="-122"/>
              </a:rPr>
              <a:t>删除</a:t>
            </a:r>
            <a:endParaRPr lang="en-US" altLang="zh-CN" sz="2100" dirty="0">
              <a:solidFill>
                <a:srgbClr val="002060"/>
              </a:solidFill>
              <a:ea typeface="黑体" pitchFamily="2" charset="-122"/>
            </a:endParaRPr>
          </a:p>
          <a:p>
            <a:r>
              <a:rPr lang="zh-CN" altLang="en-US" sz="2100" dirty="0">
                <a:solidFill>
                  <a:srgbClr val="002060"/>
                </a:solidFill>
                <a:ea typeface="黑体" pitchFamily="2" charset="-122"/>
              </a:rPr>
              <a:t>经常与循环结构语句一起使用，以便遍历每一个位置参数</a:t>
            </a:r>
            <a:endParaRPr lang="zh-CN" altLang="en-US" sz="2100" dirty="0">
              <a:solidFill>
                <a:srgbClr val="002060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43608" y="1283771"/>
            <a:ext cx="6264696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shift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Courier New" pitchFamily="49" charset="0"/>
              </a:rPr>
              <a:t>[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n</a:t>
            </a:r>
            <a:r>
              <a:rPr lang="en-US" altLang="zh-CN" sz="2800" b="1" dirty="0">
                <a:solidFill>
                  <a:srgbClr val="FF3300"/>
                </a:solidFill>
                <a:latin typeface="Courier New" pitchFamily="49" charset="0"/>
              </a:rPr>
              <a:t>]</a:t>
            </a:r>
            <a:endParaRPr lang="en-US" altLang="zh-CN" sz="28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7986" y="2924944"/>
            <a:ext cx="8848030" cy="378565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#!/bin/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</a:rPr>
              <a:t>sh</a:t>
            </a:r>
            <a:endParaRPr lang="en-US" altLang="zh-CN" sz="20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</a:rPr>
              <a:t>ScriptName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: pp_shift.sh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To test Positional Parameters &amp; Shift.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"The script name is :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$0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'$1'=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$1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,'$2'=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$2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,'$3'=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$3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,'$4'=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$4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--   '$#'=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"$#"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'$@':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"$@"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shift          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</a:rPr>
              <a:t>向左移动所有的位置参数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</a:rPr>
              <a:t>次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'$1'=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$1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,'$2'=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$2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,'$3'=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$3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,'$4'=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$4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--   '$#'=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"$#"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'$@':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"$@"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shift 2        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</a:rPr>
              <a:t>向左移动所有的位置参数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</a:rPr>
              <a:t>次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'$1'=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$1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,'$2'=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$2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,'$3'=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$3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,'$4'=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$4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--   '$#'=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"$#"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echo '$@':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</a:rPr>
              <a:t>"$@"</a:t>
            </a:r>
          </a:p>
        </p:txBody>
      </p:sp>
      <p:sp>
        <p:nvSpPr>
          <p:cNvPr id="11" name="标题 6">
            <a:extLst>
              <a:ext uri="{FF2B5EF4-FFF2-40B4-BE49-F238E27FC236}">
                <a16:creationId xmlns:a16="http://schemas.microsoft.com/office/drawing/2014/main" id="{CDAB1916-2369-4963-AEE4-31BF208641E5}"/>
              </a:ext>
            </a:extLst>
          </p:cNvPr>
          <p:cNvSpPr txBox="1">
            <a:spLocks/>
          </p:cNvSpPr>
          <p:nvPr/>
        </p:nvSpPr>
        <p:spPr bwMode="auto">
          <a:xfrm>
            <a:off x="1292271" y="193100"/>
            <a:ext cx="779303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三 特殊变量</a:t>
            </a:r>
          </a:p>
        </p:txBody>
      </p:sp>
    </p:spTree>
    <p:extLst>
      <p:ext uri="{BB962C8B-B14F-4D97-AF65-F5344CB8AC3E}">
        <p14:creationId xmlns:p14="http://schemas.microsoft.com/office/powerpoint/2010/main" val="162072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920EB2-894E-4022-88C9-43A669673957}"/>
              </a:ext>
            </a:extLst>
          </p:cNvPr>
          <p:cNvSpPr/>
          <p:nvPr/>
        </p:nvSpPr>
        <p:spPr bwMode="auto">
          <a:xfrm>
            <a:off x="78615" y="403319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07421" y="358695"/>
            <a:ext cx="7772400" cy="1189380"/>
          </a:xfrm>
        </p:spPr>
        <p:txBody>
          <a:bodyPr/>
          <a:lstStyle/>
          <a:p>
            <a:r>
              <a:rPr lang="zh-CN" altLang="en-US" dirty="0"/>
              <a:t>执行脚本结果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$ ./pp_shift.sh  1 b 3 d 4 f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77871" y="1700808"/>
            <a:ext cx="8788255" cy="4401205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[</a:t>
            </a:r>
            <a:r>
              <a:rPr lang="en-US" altLang="zh-CN" sz="2800" b="1" dirty="0" err="1">
                <a:solidFill>
                  <a:schemeClr val="tx1"/>
                </a:solidFill>
                <a:latin typeface="Courier New" pitchFamily="49" charset="0"/>
              </a:rPr>
              <a:t>lily@localhost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 ~]$ bash -n pp_shift.sh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[</a:t>
            </a:r>
            <a:r>
              <a:rPr lang="en-US" altLang="zh-CN" sz="2800" b="1" dirty="0" err="1">
                <a:solidFill>
                  <a:schemeClr val="tx1"/>
                </a:solidFill>
                <a:latin typeface="Courier New" pitchFamily="49" charset="0"/>
              </a:rPr>
              <a:t>lily@localhost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 ~]$ ./pp_shift.sh  1 b 3 d 4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The script name is : 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./pp_shift.sh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$1=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,$2=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,$3=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,$4=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 -- $#=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6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$@: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1 b 3 d 4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$1=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,$2=3,$3=d,$4=4 -- $#=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5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&lt;=</a:t>
            </a:r>
            <a:r>
              <a:rPr lang="zh-CN" altLang="en-US" sz="2800" b="1" dirty="0">
                <a:solidFill>
                  <a:srgbClr val="FF0000"/>
                </a:solidFill>
                <a:latin typeface="Courier New" pitchFamily="49" charset="0"/>
              </a:rPr>
              <a:t>第一次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shift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$@: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b 3 d 4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$1=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,$2=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4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,$3=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,$4=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-- $#=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&lt;=</a:t>
            </a:r>
            <a:r>
              <a:rPr lang="zh-CN" altLang="en-US" sz="2800" b="1" dirty="0">
                <a:solidFill>
                  <a:srgbClr val="FF0000"/>
                </a:solidFill>
                <a:latin typeface="Courier New" pitchFamily="49" charset="0"/>
              </a:rPr>
              <a:t>第二次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shift </a:t>
            </a:r>
            <a:endParaRPr lang="en-US" altLang="zh-CN" sz="2800" b="1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ourier New" pitchFamily="49" charset="0"/>
              </a:rPr>
              <a:t>$@: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</a:rPr>
              <a:t>d 4 f</a:t>
            </a:r>
          </a:p>
        </p:txBody>
      </p:sp>
    </p:spTree>
    <p:extLst>
      <p:ext uri="{BB962C8B-B14F-4D97-AF65-F5344CB8AC3E}">
        <p14:creationId xmlns:p14="http://schemas.microsoft.com/office/powerpoint/2010/main" val="58357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5767" y="1965788"/>
            <a:ext cx="7772400" cy="4631564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</a:rPr>
              <a:t>$?</a:t>
            </a:r>
            <a:r>
              <a:rPr lang="en-US" altLang="zh-CN" dirty="0"/>
              <a:t>：</a:t>
            </a:r>
            <a:r>
              <a:rPr lang="zh-CN" altLang="en-US" b="1" dirty="0"/>
              <a:t>返回上一条语句或脚本执行的状态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0：成功</a:t>
            </a:r>
          </a:p>
          <a:p>
            <a:pPr lvl="1"/>
            <a:r>
              <a:rPr lang="zh-CN" altLang="en-US" dirty="0"/>
              <a:t>1－255：不成功</a:t>
            </a:r>
            <a:endParaRPr lang="en-US" altLang="zh-CN" dirty="0"/>
          </a:p>
          <a:p>
            <a:r>
              <a:rPr lang="en-US" altLang="zh-CN" b="1" dirty="0">
                <a:solidFill>
                  <a:srgbClr val="002060"/>
                </a:solidFill>
              </a:rPr>
              <a:t>exit</a:t>
            </a:r>
            <a:r>
              <a:rPr lang="en-US" altLang="zh-CN" b="1" dirty="0"/>
              <a:t> </a:t>
            </a:r>
            <a:r>
              <a:rPr lang="zh-CN" altLang="en-US" b="1" dirty="0"/>
              <a:t>命令</a:t>
            </a:r>
          </a:p>
          <a:p>
            <a:pPr lvl="1"/>
            <a:r>
              <a:rPr lang="en-US" altLang="zh-CN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exit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命令用于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退出脚本或当前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Shell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 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1"/>
            <a:endParaRPr lang="en-US" altLang="zh-CN" dirty="0">
              <a:ea typeface="黑体" pitchFamily="2" charset="-122"/>
            </a:endParaRPr>
          </a:p>
          <a:p>
            <a:pPr lvl="2">
              <a:spcBef>
                <a:spcPts val="1800"/>
              </a:spcBef>
            </a:pPr>
            <a:r>
              <a:rPr lang="en-US" altLang="zh-CN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n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是一个从 </a:t>
            </a:r>
            <a:r>
              <a:rPr lang="zh-CN" altLang="en-US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 到 </a:t>
            </a:r>
            <a:r>
              <a:rPr lang="zh-CN" altLang="en-US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255</a:t>
            </a:r>
            <a:r>
              <a:rPr lang="zh-CN" altLang="en-US" dirty="0">
                <a:ea typeface="黑体" pitchFamily="2" charset="-122"/>
              </a:rPr>
              <a:t> 的整数</a:t>
            </a:r>
            <a:endParaRPr lang="en-US" altLang="zh-CN" dirty="0">
              <a:ea typeface="黑体" pitchFamily="2" charset="-122"/>
            </a:endParaRPr>
          </a:p>
          <a:p>
            <a:pPr lvl="2"/>
            <a:r>
              <a:rPr lang="zh-CN" altLang="en-US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 表示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成功退出</a:t>
            </a:r>
            <a:r>
              <a:rPr lang="zh-CN" altLang="en-US" dirty="0">
                <a:ea typeface="黑体" pitchFamily="2" charset="-122"/>
              </a:rPr>
              <a:t>，非零表示遇到某种失败</a:t>
            </a:r>
            <a:endParaRPr lang="en-US" altLang="zh-CN" dirty="0">
              <a:ea typeface="黑体" pitchFamily="2" charset="-122"/>
            </a:endParaRPr>
          </a:p>
          <a:p>
            <a:pPr lvl="2"/>
            <a:r>
              <a:rPr lang="zh-CN" altLang="en-US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返回值 </a:t>
            </a:r>
            <a:r>
              <a:rPr lang="zh-CN" altLang="en-US" dirty="0">
                <a:ea typeface="黑体" pitchFamily="2" charset="-122"/>
              </a:rPr>
              <a:t>被保存在状态变量 </a:t>
            </a:r>
            <a:r>
              <a:rPr lang="zh-CN" altLang="en-US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$?</a:t>
            </a:r>
            <a:r>
              <a:rPr lang="zh-CN" altLang="en-US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中</a:t>
            </a:r>
            <a:endParaRPr lang="zh-CN" altLang="en-US" dirty="0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281325" y="4725144"/>
            <a:ext cx="6891075" cy="566309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990000"/>
                </a:solidFill>
                <a:latin typeface="Courier New" pitchFamily="49" charset="0"/>
              </a:rPr>
              <a:t>exit</a:t>
            </a:r>
            <a:r>
              <a:rPr lang="en-US" altLang="zh-CN" sz="2800" b="1" dirty="0">
                <a:solidFill>
                  <a:srgbClr val="0000CC"/>
                </a:solidFill>
                <a:latin typeface="Courier New" pitchFamily="49" charset="0"/>
              </a:rPr>
              <a:t> n</a:t>
            </a:r>
            <a:endParaRPr lang="en-US" altLang="zh-CN" sz="28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9F7561-B0F9-459C-9AB1-B414DCA92333}"/>
              </a:ext>
            </a:extLst>
          </p:cNvPr>
          <p:cNvSpPr txBox="1"/>
          <p:nvPr/>
        </p:nvSpPr>
        <p:spPr>
          <a:xfrm>
            <a:off x="1281325" y="13194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退出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返回状态</a:t>
            </a:r>
            <a:endParaRPr lang="zh-CN" altLang="en-US" sz="3600" dirty="0"/>
          </a:p>
        </p:txBody>
      </p:sp>
      <p:sp>
        <p:nvSpPr>
          <p:cNvPr id="6" name="标题 6">
            <a:extLst>
              <a:ext uri="{FF2B5EF4-FFF2-40B4-BE49-F238E27FC236}">
                <a16:creationId xmlns:a16="http://schemas.microsoft.com/office/drawing/2014/main" id="{2C43F4B8-7D3A-4FEE-BEF6-BC93B668C5FD}"/>
              </a:ext>
            </a:extLst>
          </p:cNvPr>
          <p:cNvSpPr txBox="1">
            <a:spLocks/>
          </p:cNvSpPr>
          <p:nvPr/>
        </p:nvSpPr>
        <p:spPr bwMode="auto">
          <a:xfrm>
            <a:off x="1281325" y="237136"/>
            <a:ext cx="779303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三 特殊变量</a:t>
            </a:r>
          </a:p>
        </p:txBody>
      </p:sp>
    </p:spTree>
    <p:extLst>
      <p:ext uri="{BB962C8B-B14F-4D97-AF65-F5344CB8AC3E}">
        <p14:creationId xmlns:p14="http://schemas.microsoft.com/office/powerpoint/2010/main" val="1620246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3265002-AE65-48B2-88FB-C3D6796139C5}"/>
              </a:ext>
            </a:extLst>
          </p:cNvPr>
          <p:cNvSpPr/>
          <p:nvPr/>
        </p:nvSpPr>
        <p:spPr bwMode="auto">
          <a:xfrm>
            <a:off x="78615" y="44624"/>
            <a:ext cx="8986769" cy="19126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15" y="103822"/>
            <a:ext cx="7793037" cy="739998"/>
          </a:xfrm>
        </p:spPr>
        <p:txBody>
          <a:bodyPr/>
          <a:lstStyle/>
          <a:p>
            <a:r>
              <a:rPr lang="zh-CN" altLang="zh-CN" dirty="0"/>
              <a:t>常</a:t>
            </a:r>
            <a:r>
              <a:rPr lang="zh-CN" altLang="en-US" dirty="0"/>
              <a:t>见</a:t>
            </a:r>
            <a:r>
              <a:rPr lang="zh-CN" altLang="zh-CN" dirty="0"/>
              <a:t>的</a:t>
            </a:r>
            <a:r>
              <a:rPr lang="zh-CN" altLang="en-US" dirty="0"/>
              <a:t>返回状态</a:t>
            </a:r>
            <a:r>
              <a:rPr lang="zh-CN" altLang="zh-CN" dirty="0"/>
              <a:t>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9544" y="1244228"/>
            <a:ext cx="2729336" cy="411480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dirty="0"/>
              <a:t>0</a:t>
            </a:r>
            <a:r>
              <a:rPr lang="zh-CN" altLang="en-US" dirty="0"/>
              <a:t>：</a:t>
            </a:r>
            <a:endParaRPr lang="en-US" altLang="zh-CN" dirty="0"/>
          </a:p>
          <a:p>
            <a:pPr marL="695325" lvl="2" indent="-342900"/>
            <a:r>
              <a:rPr lang="zh-CN" altLang="en-US" dirty="0"/>
              <a:t>执行正确</a:t>
            </a:r>
            <a:endParaRPr lang="en-US" altLang="zh-CN" dirty="0"/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695325" lvl="2" indent="-342900"/>
            <a:r>
              <a:rPr lang="zh-CN" altLang="zh-CN" dirty="0"/>
              <a:t>通用错误</a:t>
            </a:r>
            <a:endParaRPr lang="en-US" altLang="zh-CN" dirty="0"/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dirty="0"/>
              <a:t>126</a:t>
            </a:r>
            <a:r>
              <a:rPr lang="zh-CN" altLang="en-US" dirty="0"/>
              <a:t>：</a:t>
            </a:r>
            <a:endParaRPr lang="en-US" altLang="zh-CN" dirty="0"/>
          </a:p>
          <a:p>
            <a:pPr marL="695325" lvl="2" indent="-342900"/>
            <a:r>
              <a:rPr lang="zh-CN" altLang="zh-CN" dirty="0"/>
              <a:t>命令或脚本没有执行权限</a:t>
            </a:r>
            <a:endParaRPr lang="en-US" altLang="zh-CN" dirty="0"/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dirty="0"/>
              <a:t>127</a:t>
            </a:r>
            <a:r>
              <a:rPr lang="zh-CN" altLang="en-US" dirty="0"/>
              <a:t>：</a:t>
            </a:r>
            <a:endParaRPr lang="en-US" altLang="zh-CN" dirty="0"/>
          </a:p>
          <a:p>
            <a:pPr marL="695325" lvl="2" indent="-342900"/>
            <a:r>
              <a:rPr lang="zh-CN" altLang="zh-CN" dirty="0"/>
              <a:t>命令没找到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99792" y="827028"/>
            <a:ext cx="6307816" cy="59400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$$ 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显示当前进程的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PID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9245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$? 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显示在此之前执行的命令的返回值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0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bash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   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调用子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Shell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$$ 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显示当前进程的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PID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9474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exit 1  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指定返回值并返回父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Shell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$? 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显示上一个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Shell/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脚本的返回值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list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      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执行不存在的命令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bash: list: command not found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$?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127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touch bbb.sh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./bbb.sh  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执行不具有执行权限的命令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bash: ./bbb.sh: Permission denied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echo $?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1086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变量及相关命令小结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043608" y="1412776"/>
            <a:ext cx="7010400" cy="461665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variable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或 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${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variable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043608" y="2060848"/>
            <a:ext cx="7010400" cy="461665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unset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variable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43608" y="2706263"/>
            <a:ext cx="7010400" cy="830997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set </a:t>
            </a:r>
          </a:p>
          <a:p>
            <a:pPr>
              <a:buClr>
                <a:srgbClr val="FF3300"/>
              </a:buClr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#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显示全部的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shell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变量与函数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同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declare)</a:t>
            </a:r>
            <a:endParaRPr lang="en-US" altLang="zh-CN" sz="2400" b="1" dirty="0">
              <a:solidFill>
                <a:schemeClr val="hlink"/>
              </a:solidFill>
              <a:latin typeface="Courier New" pitchFamily="49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043608" y="3727807"/>
            <a:ext cx="7010400" cy="461665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readonly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variable</a:t>
            </a:r>
            <a:endParaRPr lang="en-US" altLang="zh-CN" sz="2400" b="1" dirty="0">
              <a:solidFill>
                <a:schemeClr val="hlink"/>
              </a:solidFill>
              <a:latin typeface="Courier New" pitchFamily="49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043608" y="4389277"/>
            <a:ext cx="7010400" cy="1569660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export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variable=value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export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-n variable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export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–p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#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列出所有的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shell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赋予程序的环境变量</a:t>
            </a: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043608" y="6167961"/>
            <a:ext cx="7010400" cy="461665"/>
          </a:xfrm>
          <a:prstGeom prst="rect">
            <a:avLst/>
          </a:prstGeom>
          <a:noFill/>
          <a:ln w="2857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declare [</a:t>
            </a: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</a:rPr>
              <a:t>选项]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variable=value</a:t>
            </a:r>
          </a:p>
        </p:txBody>
      </p:sp>
    </p:spTree>
    <p:extLst>
      <p:ext uri="{BB962C8B-B14F-4D97-AF65-F5344CB8AC3E}">
        <p14:creationId xmlns:p14="http://schemas.microsoft.com/office/powerpoint/2010/main" val="21288455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变量及相关命令小结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043608" y="1484784"/>
            <a:ext cx="7344816" cy="830997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basename #</a:t>
            </a: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</a:rPr>
              <a:t>用于获取路径中的文件名或路径名</a:t>
            </a:r>
            <a:endParaRPr lang="en-US" altLang="zh-CN" sz="2400" b="1" dirty="0">
              <a:solidFill>
                <a:srgbClr val="990000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dirname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 #</a:t>
            </a: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</a:rPr>
              <a:t>用于获取给定路径的路径部分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043303" y="2433394"/>
            <a:ext cx="7344816" cy="46166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let </a:t>
            </a:r>
            <a:r>
              <a:rPr lang="zh-CN" altLang="en-US" sz="2400" b="1" dirty="0">
                <a:solidFill>
                  <a:srgbClr val="990000"/>
                </a:solidFill>
                <a:latin typeface="Courier New" pitchFamily="49" charset="0"/>
              </a:rPr>
              <a:t>或 </a:t>
            </a: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expr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611063" y="5457209"/>
            <a:ext cx="8353425" cy="464935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${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</a:rPr>
              <a:t>var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:-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word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  <a:r>
              <a:rPr lang="zh-CN" altLang="en-US" sz="2000" b="1" dirty="0">
                <a:solidFill>
                  <a:schemeClr val="tx1"/>
                </a:solidFill>
              </a:rPr>
              <a:t>、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${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</a:rPr>
              <a:t>var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:=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word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  <a:r>
              <a:rPr lang="zh-CN" altLang="en-US" sz="2000" b="1" dirty="0">
                <a:solidFill>
                  <a:schemeClr val="tx1"/>
                </a:solidFill>
              </a:rPr>
              <a:t>、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${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</a:rPr>
              <a:t>var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:?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word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  <a:r>
              <a:rPr lang="zh-CN" altLang="en-US" sz="2000" b="1" dirty="0">
                <a:solidFill>
                  <a:schemeClr val="tx1"/>
                </a:solidFill>
              </a:rPr>
              <a:t>、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${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</a:rPr>
              <a:t>var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:+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word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  <a:endParaRPr lang="zh-CN" altLang="en-US" sz="20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10" name="Rectangle 89"/>
          <p:cNvSpPr>
            <a:spLocks noChangeArrowheads="1"/>
          </p:cNvSpPr>
          <p:nvPr/>
        </p:nvSpPr>
        <p:spPr bwMode="auto">
          <a:xfrm>
            <a:off x="611063" y="6104909"/>
            <a:ext cx="8353425" cy="492443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0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1-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9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{n}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#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*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</a:rPr>
              <a:t>@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$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!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?</a:t>
            </a:r>
            <a:r>
              <a:rPr lang="zh-CN" altLang="en-US" sz="2600" b="1" dirty="0">
                <a:solidFill>
                  <a:schemeClr val="tx1"/>
                </a:solidFill>
              </a:rPr>
              <a:t>、</a:t>
            </a:r>
            <a:r>
              <a:rPr lang="en-US" altLang="zh-CN" sz="26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600" b="1" dirty="0">
                <a:solidFill>
                  <a:srgbClr val="0000CC"/>
                </a:solidFill>
                <a:latin typeface="Courier New" pitchFamily="49" charset="0"/>
              </a:rPr>
              <a:t>_</a:t>
            </a:r>
            <a:endParaRPr lang="zh-CN" altLang="en-US" sz="26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11" name="Rectangle 90"/>
          <p:cNvSpPr>
            <a:spLocks noChangeArrowheads="1"/>
          </p:cNvSpPr>
          <p:nvPr/>
        </p:nvSpPr>
        <p:spPr bwMode="auto">
          <a:xfrm>
            <a:off x="1043303" y="3801546"/>
            <a:ext cx="7344816" cy="46166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eval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\$$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Courier New" pitchFamily="49" charset="0"/>
              </a:rPr>
              <a:t>、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newstr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${!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str2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2" name="Rectangle 93"/>
          <p:cNvSpPr>
            <a:spLocks noChangeArrowheads="1"/>
          </p:cNvSpPr>
          <p:nvPr/>
        </p:nvSpPr>
        <p:spPr bwMode="auto">
          <a:xfrm>
            <a:off x="1043303" y="4449618"/>
            <a:ext cx="7344816" cy="830997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`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hostname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` </a:t>
            </a:r>
            <a:r>
              <a:rPr lang="zh-CN" altLang="en-US" sz="2400" b="1" dirty="0">
                <a:solidFill>
                  <a:schemeClr val="tx1"/>
                </a:solidFill>
                <a:latin typeface="Courier New" pitchFamily="49" charset="0"/>
              </a:rPr>
              <a:t>、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$(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hostname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`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basename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\`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pwd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\``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、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 $(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basename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$(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pwd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))</a:t>
            </a:r>
            <a:endParaRPr lang="zh-CN" altLang="en-US" sz="2400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sp>
        <p:nvSpPr>
          <p:cNvPr id="13" name="Rectangle 94"/>
          <p:cNvSpPr>
            <a:spLocks noChangeArrowheads="1"/>
          </p:cNvSpPr>
          <p:nvPr/>
        </p:nvSpPr>
        <p:spPr bwMode="auto">
          <a:xfrm>
            <a:off x="1043303" y="3081466"/>
            <a:ext cx="7344816" cy="535531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$[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expression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Courier New" pitchFamily="49" charset="0"/>
              </a:rPr>
              <a:t>、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$((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expression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7440429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变量及相关命令小结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内容占位符 2"/>
          <p:cNvSpPr txBox="1">
            <a:spLocks/>
          </p:cNvSpPr>
          <p:nvPr/>
        </p:nvSpPr>
        <p:spPr bwMode="auto">
          <a:xfrm>
            <a:off x="251520" y="620688"/>
            <a:ext cx="864096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800" b="1" i="0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sz="2400" b="1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/>
              <a:t>执行脚本</a:t>
            </a:r>
            <a:endParaRPr lang="en-US" altLang="zh-CN" smtClean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accent6">
                    <a:lumMod val="75000"/>
                  </a:schemeClr>
                </a:solidFill>
              </a:rPr>
              <a:t>$ ./</a:t>
            </a:r>
            <a:r>
              <a:rPr lang="pt-BR" altLang="zh-CN" smtClean="0">
                <a:solidFill>
                  <a:schemeClr val="accent6">
                    <a:lumMod val="75000"/>
                  </a:schemeClr>
                </a:solidFill>
              </a:rPr>
              <a:t>vartest.sh 1 ‘2 3’ 4 5 a b c d e f g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33167" y="1836008"/>
            <a:ext cx="8559314" cy="4616648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#!/bin/bash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ScriptName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: vartest.sh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# To test Positional Parameters &amp; Special Parameters.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Hello</a:t>
            </a:r>
            <a:r>
              <a:rPr lang="en-US" altLang="zh-CN" sz="2100" b="1" dirty="0" err="1">
                <a:solidFill>
                  <a:srgbClr val="0000FF"/>
                </a:solidFill>
                <a:latin typeface="Courier New" pitchFamily="49" charset="0"/>
              </a:rPr>
              <a:t>,</a:t>
            </a:r>
            <a:r>
              <a:rPr lang="en-US" altLang="zh-CN" sz="2100" b="1" dirty="0" err="1">
                <a:solidFill>
                  <a:srgbClr val="C00000"/>
                </a:solidFill>
                <a:latin typeface="Courier New" pitchFamily="49" charset="0"/>
              </a:rPr>
              <a:t>$USER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,the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output of this script are as follows:"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script name is          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$0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first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$1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second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$2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tenth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of the script is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${10}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"All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$@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"All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     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$*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number of the 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params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you input are: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$#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process ID for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$$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echo "The exit status of this script is     : 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$?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489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变量及相关命令小结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544841" y="1484784"/>
            <a:ext cx="8054317" cy="5013176"/>
          </a:xfrm>
        </p:spPr>
        <p:txBody>
          <a:bodyPr/>
          <a:lstStyle/>
          <a:p>
            <a:r>
              <a:rPr lang="zh-CN" altLang="en-US" sz="2800" b="1" dirty="0"/>
              <a:t>命令行参数相关</a:t>
            </a:r>
            <a:endParaRPr lang="en-US" altLang="zh-CN" sz="2800" b="1" dirty="0"/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$*   </a:t>
            </a:r>
            <a:r>
              <a:rPr lang="en-US" altLang="zh-CN" sz="2200" b="1" dirty="0">
                <a:solidFill>
                  <a:srgbClr val="002060"/>
                </a:solidFill>
              </a:rPr>
              <a:t>     </a:t>
            </a:r>
            <a:r>
              <a:rPr lang="zh-CN" altLang="en-US" sz="2200" dirty="0"/>
              <a:t>将所有位置参量看成</a:t>
            </a:r>
            <a:r>
              <a:rPr lang="zh-CN" altLang="en-US" sz="2200" dirty="0">
                <a:solidFill>
                  <a:srgbClr val="FF0000"/>
                </a:solidFill>
              </a:rPr>
              <a:t>一个字符串</a:t>
            </a:r>
            <a:r>
              <a:rPr lang="zh-CN" altLang="en-US" sz="2200" dirty="0"/>
              <a:t>（以空格间隔）</a:t>
            </a:r>
            <a:endParaRPr lang="en-US" altLang="zh-CN" sz="2200" b="1" dirty="0">
              <a:solidFill>
                <a:srgbClr val="002060"/>
              </a:solidFill>
            </a:endParaRP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$@   </a:t>
            </a:r>
            <a:r>
              <a:rPr lang="en-US" altLang="zh-CN" sz="2200" b="1" dirty="0">
                <a:solidFill>
                  <a:srgbClr val="002060"/>
                </a:solidFill>
              </a:rPr>
              <a:t>   </a:t>
            </a:r>
            <a:r>
              <a:rPr lang="zh-CN" altLang="en-US" sz="2200" dirty="0"/>
              <a:t>将每个位置参量看成</a:t>
            </a:r>
            <a:r>
              <a:rPr lang="zh-CN" altLang="en-US" sz="2200" dirty="0">
                <a:solidFill>
                  <a:srgbClr val="FF0000"/>
                </a:solidFill>
              </a:rPr>
              <a:t>单独的字符串</a:t>
            </a:r>
            <a:r>
              <a:rPr lang="zh-CN" altLang="en-US" sz="2200" dirty="0"/>
              <a:t>（以空格间隔）</a:t>
            </a:r>
            <a:endParaRPr lang="en-US" altLang="zh-CN" sz="2200" b="1" dirty="0">
              <a:solidFill>
                <a:srgbClr val="002060"/>
              </a:solidFill>
            </a:endParaRP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“$*”</a:t>
            </a:r>
            <a:r>
              <a:rPr lang="en-US" altLang="zh-CN" sz="2200" b="1" dirty="0">
                <a:solidFill>
                  <a:srgbClr val="002060"/>
                </a:solidFill>
              </a:rPr>
              <a:t>   </a:t>
            </a:r>
            <a:r>
              <a:rPr lang="zh-CN" altLang="en-US" sz="2200" dirty="0"/>
              <a:t>将所有位置参量看成</a:t>
            </a:r>
            <a:r>
              <a:rPr lang="zh-CN" altLang="en-US" sz="2200" dirty="0">
                <a:solidFill>
                  <a:srgbClr val="C00000"/>
                </a:solidFill>
              </a:rPr>
              <a:t>一个字符串</a:t>
            </a:r>
            <a:r>
              <a:rPr lang="zh-CN" altLang="en-US" sz="2200" dirty="0"/>
              <a:t>（以</a:t>
            </a:r>
            <a:r>
              <a:rPr lang="en-US" altLang="zh-CN" sz="2200" dirty="0"/>
              <a:t>$IFS</a:t>
            </a:r>
            <a:r>
              <a:rPr lang="zh-CN" altLang="en-US" sz="2200" dirty="0"/>
              <a:t>间隔）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“$@” </a:t>
            </a:r>
            <a:r>
              <a:rPr lang="zh-CN" altLang="en-US" sz="2200" dirty="0"/>
              <a:t>将每个位置参量看成</a:t>
            </a:r>
            <a:r>
              <a:rPr lang="zh-CN" altLang="en-US" sz="2200" dirty="0">
                <a:solidFill>
                  <a:srgbClr val="C00000"/>
                </a:solidFill>
              </a:rPr>
              <a:t>单独的字符串</a:t>
            </a:r>
            <a:r>
              <a:rPr lang="zh-CN" altLang="en-US" sz="2200" dirty="0"/>
              <a:t>（以空格间隔） 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$0       </a:t>
            </a:r>
            <a:r>
              <a:rPr lang="zh-CN" altLang="en-US" sz="2200" dirty="0"/>
              <a:t>命令行上输入的</a:t>
            </a:r>
            <a:r>
              <a:rPr lang="en-US" altLang="zh-CN" sz="2200" dirty="0">
                <a:solidFill>
                  <a:srgbClr val="FF0000"/>
                </a:solidFill>
              </a:rPr>
              <a:t>Shell</a:t>
            </a:r>
            <a:r>
              <a:rPr lang="zh-CN" altLang="en-US" sz="2200" dirty="0">
                <a:solidFill>
                  <a:srgbClr val="FF0000"/>
                </a:solidFill>
              </a:rPr>
              <a:t>程序名</a:t>
            </a:r>
          </a:p>
          <a:p>
            <a:pPr lvl="1"/>
            <a:r>
              <a:rPr lang="en-US" altLang="zh-CN" sz="2200" b="1" dirty="0">
                <a:solidFill>
                  <a:srgbClr val="FF0000"/>
                </a:solidFill>
              </a:rPr>
              <a:t>$#</a:t>
            </a:r>
            <a:r>
              <a:rPr lang="en-US" altLang="zh-CN" sz="2200" dirty="0">
                <a:solidFill>
                  <a:srgbClr val="FF0000"/>
                </a:solidFill>
              </a:rPr>
              <a:t>   </a:t>
            </a:r>
            <a:r>
              <a:rPr lang="en-US" altLang="zh-CN" sz="2200" dirty="0"/>
              <a:t>    </a:t>
            </a:r>
            <a:r>
              <a:rPr lang="zh-CN" altLang="en-US" sz="2200" dirty="0"/>
              <a:t>表示命令行上</a:t>
            </a:r>
            <a:r>
              <a:rPr lang="zh-CN" altLang="en-US" sz="2200" dirty="0">
                <a:solidFill>
                  <a:srgbClr val="FF0000"/>
                </a:solidFill>
              </a:rPr>
              <a:t>参数的个数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zh-CN" altLang="en-US" sz="2800" b="1" dirty="0"/>
              <a:t>进程状态相关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$?</a:t>
            </a:r>
            <a:r>
              <a:rPr lang="en-US" altLang="zh-CN" sz="2200" dirty="0"/>
              <a:t>  </a:t>
            </a:r>
            <a:r>
              <a:rPr lang="zh-CN" altLang="en-US" sz="2200" dirty="0"/>
              <a:t>表示</a:t>
            </a:r>
            <a:r>
              <a:rPr lang="zh-CN" altLang="en-US" sz="2200" dirty="0">
                <a:solidFill>
                  <a:srgbClr val="FF0000"/>
                </a:solidFill>
              </a:rPr>
              <a:t>上一条命令执行后的返回值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$$</a:t>
            </a:r>
            <a:r>
              <a:rPr lang="en-US" altLang="zh-CN" sz="2200" dirty="0"/>
              <a:t>  </a:t>
            </a:r>
            <a:r>
              <a:rPr lang="zh-CN" altLang="en-US" sz="2200" dirty="0">
                <a:solidFill>
                  <a:srgbClr val="FF0000"/>
                </a:solidFill>
              </a:rPr>
              <a:t>当前进程的进程号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$! </a:t>
            </a:r>
            <a:r>
              <a:rPr lang="en-US" altLang="zh-CN" sz="2200" dirty="0"/>
              <a:t>  </a:t>
            </a:r>
            <a:r>
              <a:rPr lang="zh-CN" altLang="en-US" sz="2200" dirty="0"/>
              <a:t>显示运行在后台的最后一个</a:t>
            </a:r>
            <a:r>
              <a:rPr lang="zh-CN" altLang="en-US" sz="2200" dirty="0">
                <a:solidFill>
                  <a:srgbClr val="FF0000"/>
                </a:solidFill>
              </a:rPr>
              <a:t>作业的 </a:t>
            </a:r>
            <a:r>
              <a:rPr lang="en-US" altLang="zh-CN" sz="2200" dirty="0">
                <a:solidFill>
                  <a:srgbClr val="FF0000"/>
                </a:solidFill>
              </a:rPr>
              <a:t>PID </a:t>
            </a:r>
          </a:p>
          <a:p>
            <a:pPr lvl="1"/>
            <a:r>
              <a:rPr lang="en-US" altLang="zh-CN" sz="2200" b="1" dirty="0">
                <a:solidFill>
                  <a:srgbClr val="002060"/>
                </a:solidFill>
              </a:rPr>
              <a:t>$_</a:t>
            </a:r>
            <a:r>
              <a:rPr lang="en-US" altLang="zh-CN" sz="2200" dirty="0"/>
              <a:t>  </a:t>
            </a:r>
            <a:r>
              <a:rPr lang="zh-CN" altLang="en-US" sz="2200" dirty="0"/>
              <a:t>在此之前执行的命令或脚本的</a:t>
            </a:r>
            <a:r>
              <a:rPr lang="zh-CN" altLang="en-US" sz="2200" dirty="0">
                <a:solidFill>
                  <a:srgbClr val="FF0000"/>
                </a:solidFill>
              </a:rPr>
              <a:t>最后一个参数</a:t>
            </a:r>
          </a:p>
        </p:txBody>
      </p:sp>
    </p:spTree>
    <p:extLst>
      <p:ext uri="{BB962C8B-B14F-4D97-AF65-F5344CB8AC3E}">
        <p14:creationId xmlns:p14="http://schemas.microsoft.com/office/powerpoint/2010/main" val="7366869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变量及相关命令小结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47117" y="1668712"/>
            <a:ext cx="8058472" cy="49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zh-CN" altLang="en-US" sz="2400" dirty="0">
                <a:ea typeface="黑体" pitchFamily="2" charset="-122"/>
              </a:rPr>
              <a:t>输入</a:t>
            </a:r>
            <a:endParaRPr lang="en-US" altLang="zh-CN" sz="2400" dirty="0">
              <a:ea typeface="黑体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843261" y="1452688"/>
            <a:ext cx="4572000" cy="40011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990000"/>
                </a:solidFill>
                <a:latin typeface="Courier New" pitchFamily="49" charset="0"/>
              </a:rPr>
              <a:t>read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var1 var2 ...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843261" y="1986088"/>
            <a:ext cx="4572000" cy="40011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>
                <a:solidFill>
                  <a:srgbClr val="990000"/>
                </a:solidFill>
                <a:latin typeface="Courier New" pitchFamily="49" charset="0"/>
              </a:rPr>
              <a:t>read</a:t>
            </a:r>
            <a:endParaRPr lang="en-US" altLang="zh-CN" sz="2000" b="1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843261" y="2519488"/>
            <a:ext cx="4572000" cy="40011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990000"/>
                </a:solidFill>
                <a:latin typeface="Courier New" pitchFamily="49" charset="0"/>
              </a:rPr>
              <a:t>read </a:t>
            </a:r>
            <a:r>
              <a:rPr lang="en-US" altLang="zh-CN" sz="2000" b="1" dirty="0">
                <a:solidFill>
                  <a:srgbClr val="FF3300"/>
                </a:solidFill>
                <a:latin typeface="Courier New" pitchFamily="49" charset="0"/>
              </a:rPr>
              <a:t>–p</a:t>
            </a:r>
            <a:r>
              <a:rPr lang="en-US" altLang="zh-CN" sz="20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zh-CN" altLang="en-US" sz="2000" b="1" dirty="0" smtClean="0">
                <a:solidFill>
                  <a:srgbClr val="0000CC"/>
                </a:solidFill>
                <a:ea typeface="楷体_GB2312" pitchFamily="49" charset="-122"/>
              </a:rPr>
              <a:t>提示</a:t>
            </a:r>
            <a:r>
              <a:rPr lang="en-US" altLang="zh-CN" sz="2000" b="1" dirty="0" smtClean="0">
                <a:solidFill>
                  <a:srgbClr val="0000CC"/>
                </a:solidFill>
                <a:latin typeface="Courier New" pitchFamily="49" charset="0"/>
              </a:rPr>
              <a:t>" </a:t>
            </a:r>
            <a:endParaRPr lang="en-US" altLang="zh-CN" sz="2000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75110" y="2964856"/>
            <a:ext cx="827335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ea typeface="黑体" pitchFamily="2" charset="-122"/>
              </a:rPr>
              <a:t> 输出</a:t>
            </a:r>
            <a:endParaRPr lang="en-US" altLang="zh-CN" sz="2400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290389" y="3633888"/>
            <a:ext cx="7010400" cy="36933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 dirty="0" err="1">
                <a:solidFill>
                  <a:srgbClr val="003300"/>
                </a:solidFill>
                <a:latin typeface="Courier New" pitchFamily="49" charset="0"/>
              </a:rPr>
              <a:t>printf</a:t>
            </a:r>
            <a:r>
              <a:rPr lang="en-US" altLang="zh-CN" b="1" dirty="0">
                <a:solidFill>
                  <a:srgbClr val="003300"/>
                </a:solidFill>
                <a:latin typeface="Courier New" pitchFamily="49" charset="0"/>
              </a:rPr>
              <a:t> "</a:t>
            </a:r>
            <a:r>
              <a:rPr lang="en-US" altLang="zh-CN" b="1" dirty="0">
                <a:solidFill>
                  <a:schemeClr val="hlink"/>
                </a:solidFill>
                <a:latin typeface="Courier New" pitchFamily="49" charset="0"/>
              </a:rPr>
              <a:t>%</a:t>
            </a:r>
            <a:r>
              <a:rPr lang="en-US" altLang="zh-CN" b="1" dirty="0">
                <a:solidFill>
                  <a:srgbClr val="003300"/>
                </a:solidFill>
                <a:latin typeface="Courier New" pitchFamily="49" charset="0"/>
              </a:rPr>
              <a:t>-</a:t>
            </a:r>
            <a:r>
              <a:rPr lang="en-US" altLang="zh-CN" b="1" dirty="0">
                <a:solidFill>
                  <a:schemeClr val="hlink"/>
                </a:solidFill>
                <a:latin typeface="Courier New" pitchFamily="49" charset="0"/>
              </a:rPr>
              <a:t>12</a:t>
            </a:r>
            <a:r>
              <a:rPr lang="en-US" altLang="zh-CN" b="1" dirty="0">
                <a:solidFill>
                  <a:srgbClr val="003300"/>
                </a:solidFill>
                <a:latin typeface="Courier New" pitchFamily="49" charset="0"/>
              </a:rPr>
              <a:t>.5</a:t>
            </a:r>
            <a:r>
              <a:rPr lang="en-US" altLang="zh-CN" b="1" dirty="0">
                <a:solidFill>
                  <a:schemeClr val="hlink"/>
                </a:solidFill>
                <a:latin typeface="Courier New" pitchFamily="49" charset="0"/>
              </a:rPr>
              <a:t>f </a:t>
            </a:r>
            <a:r>
              <a:rPr lang="en-US" altLang="zh-CN" b="1" dirty="0">
                <a:solidFill>
                  <a:srgbClr val="003300"/>
                </a:solidFill>
                <a:latin typeface="Courier New" pitchFamily="49" charset="0"/>
              </a:rPr>
              <a:t>\t %d \n" 123.45 8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2052389" y="4395888"/>
            <a:ext cx="838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890589" y="4014888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909389" y="4167288"/>
            <a:ext cx="1143000" cy="545406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>
                <a:latin typeface="Courier New" pitchFamily="49" charset="0"/>
              </a:rPr>
              <a:t>format</a:t>
            </a:r>
            <a:br>
              <a:rPr lang="en-US" altLang="zh-CN" b="1">
                <a:latin typeface="Courier New" pitchFamily="49" charset="0"/>
              </a:rPr>
            </a:b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zh-CN" altLang="en-US" b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%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开头</a:t>
            </a: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H="1">
            <a:off x="3119189" y="4014888"/>
            <a:ext cx="0" cy="609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2357189" y="4624488"/>
            <a:ext cx="9144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>
                <a:latin typeface="Courier New" pitchFamily="49" charset="0"/>
              </a:rPr>
              <a:t>flag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423989" y="4014888"/>
            <a:ext cx="152400" cy="609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423989" y="4624488"/>
            <a:ext cx="21336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>
                <a:latin typeface="Courier New" pitchFamily="49" charset="0"/>
              </a:rPr>
              <a:t>field width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3881189" y="4014888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5862389" y="4548288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100389" y="5081688"/>
            <a:ext cx="15240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>
                <a:latin typeface="Courier New" pitchFamily="49" charset="0"/>
              </a:rPr>
              <a:t>precision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3881189" y="4548288"/>
            <a:ext cx="19812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4033589" y="4014888"/>
            <a:ext cx="0" cy="304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4033589" y="4319688"/>
            <a:ext cx="26670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6776789" y="4167288"/>
            <a:ext cx="10668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latin typeface="Courier New" pitchFamily="49" charset="0"/>
                <a:sym typeface="Wingdings" pitchFamily="2" charset="2"/>
              </a:rPr>
              <a:t>格式符</a:t>
            </a:r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H="1">
            <a:off x="2357189" y="5005488"/>
            <a:ext cx="228600" cy="2286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756989" y="5234088"/>
            <a:ext cx="2362200" cy="988604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-</a:t>
            </a:r>
            <a:r>
              <a:rPr lang="en-US" altLang="zh-CN" b="1">
                <a:latin typeface="Courier New" pitchFamily="49" charset="0"/>
                <a:ea typeface="楷体_GB2312" pitchFamily="49" charset="-122"/>
              </a:rPr>
              <a:t>:</a:t>
            </a:r>
            <a:r>
              <a:rPr lang="zh-CN" altLang="en-US" b="1">
                <a:latin typeface="Courier New" pitchFamily="49" charset="0"/>
                <a:ea typeface="楷体_GB2312" pitchFamily="49" charset="-122"/>
              </a:rPr>
              <a:t>左对齐</a:t>
            </a:r>
          </a:p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+</a:t>
            </a:r>
            <a:r>
              <a:rPr lang="zh-CN" altLang="en-US" b="1">
                <a:latin typeface="Courier New" pitchFamily="49" charset="0"/>
                <a:ea typeface="楷体_GB2312" pitchFamily="49" charset="-122"/>
              </a:rPr>
              <a:t>:输出符号</a:t>
            </a:r>
          </a:p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0</a:t>
            </a:r>
            <a:r>
              <a:rPr lang="zh-CN" altLang="en-US" b="1">
                <a:latin typeface="Courier New" pitchFamily="49" charset="0"/>
                <a:ea typeface="楷体_GB2312" pitchFamily="49" charset="-122"/>
              </a:rPr>
              <a:t>:空白处添0</a:t>
            </a:r>
          </a:p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空格</a:t>
            </a:r>
            <a:r>
              <a:rPr lang="zh-CN" altLang="en-US" b="1">
                <a:latin typeface="Courier New" pitchFamily="49" charset="0"/>
                <a:ea typeface="楷体_GB2312" pitchFamily="49" charset="-122"/>
              </a:rPr>
              <a:t>:前面加一空格</a:t>
            </a: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H="1">
            <a:off x="3957389" y="5005488"/>
            <a:ext cx="0" cy="3048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3283421" y="5269112"/>
            <a:ext cx="13716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latin typeface="Courier New" pitchFamily="49" charset="0"/>
                <a:ea typeface="楷体_GB2312" pitchFamily="49" charset="-122"/>
              </a:rPr>
              <a:t>字段宽度</a:t>
            </a: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flipH="1">
            <a:off x="5862389" y="5462688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4795589" y="5917184"/>
            <a:ext cx="2160240" cy="31393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 dirty="0">
                <a:latin typeface="Courier New" pitchFamily="49" charset="0"/>
                <a:ea typeface="楷体_GB2312" pitchFamily="49" charset="-122"/>
              </a:rPr>
              <a:t>小数点后输出位数</a:t>
            </a: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7538789" y="4551463"/>
            <a:ext cx="457200" cy="18298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 bIns="10800">
            <a:spAutoFit/>
          </a:bodyPr>
          <a:lstStyle/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c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d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e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f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g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s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o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x</a:t>
            </a: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8148389" y="4243488"/>
            <a:ext cx="457200" cy="18298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 bIns="10800">
            <a:spAutoFit/>
          </a:bodyPr>
          <a:lstStyle/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\b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\n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\r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\t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\v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\\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\”</a:t>
            </a:r>
          </a:p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Courier New" pitchFamily="49" charset="0"/>
              </a:rPr>
              <a:t>%%</a:t>
            </a: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7157789" y="4548288"/>
            <a:ext cx="381000" cy="30480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7843589" y="4319688"/>
            <a:ext cx="304800" cy="0"/>
          </a:xfrm>
          <a:prstGeom prst="line">
            <a:avLst/>
          </a:prstGeom>
          <a:noFill/>
          <a:ln w="28575">
            <a:solidFill>
              <a:srgbClr val="0000CC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37" name="Rectangle 33"/>
          <p:cNvSpPr>
            <a:spLocks noChangeArrowheads="1"/>
          </p:cNvSpPr>
          <p:nvPr/>
        </p:nvSpPr>
        <p:spPr bwMode="auto">
          <a:xfrm>
            <a:off x="6491461" y="1986088"/>
            <a:ext cx="1359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990000"/>
                </a:solidFill>
                <a:latin typeface="Courier New" pitchFamily="49" charset="0"/>
                <a:sym typeface="Wingdings" pitchFamily="2" charset="2"/>
              </a:rPr>
              <a:t> </a:t>
            </a:r>
            <a:r>
              <a:rPr lang="en-US" altLang="zh-CN" sz="2000" b="1">
                <a:solidFill>
                  <a:srgbClr val="0000CC"/>
                </a:solidFill>
                <a:latin typeface="Courier New" pitchFamily="49" charset="0"/>
                <a:sym typeface="Wingdings" pitchFamily="2" charset="2"/>
              </a:rPr>
              <a:t>REPLY</a:t>
            </a:r>
            <a:endParaRPr lang="zh-CN" altLang="en-US" sz="2000" b="1">
              <a:solidFill>
                <a:srgbClr val="0000CC"/>
              </a:solidFill>
              <a:latin typeface="Courier New" pitchFamily="49" charset="0"/>
              <a:sym typeface="Wingdings" pitchFamily="2" charset="2"/>
            </a:endParaRPr>
          </a:p>
        </p:txBody>
      </p:sp>
      <p:sp>
        <p:nvSpPr>
          <p:cNvPr id="38" name="Rectangle 34"/>
          <p:cNvSpPr>
            <a:spLocks noChangeArrowheads="1"/>
          </p:cNvSpPr>
          <p:nvPr/>
        </p:nvSpPr>
        <p:spPr bwMode="auto">
          <a:xfrm>
            <a:off x="6491461" y="2519488"/>
            <a:ext cx="1359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990000"/>
                </a:solidFill>
                <a:latin typeface="Courier New" pitchFamily="49" charset="0"/>
                <a:sym typeface="Wingdings" pitchFamily="2" charset="2"/>
              </a:rPr>
              <a:t>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sym typeface="Wingdings" pitchFamily="2" charset="2"/>
              </a:rPr>
              <a:t>REPLY</a:t>
            </a:r>
            <a:endParaRPr lang="zh-CN" altLang="en-US" sz="2000" b="1" dirty="0">
              <a:solidFill>
                <a:srgbClr val="0000CC"/>
              </a:solidFill>
              <a:latin typeface="Courier New" pitchFamily="49" charset="0"/>
              <a:sym typeface="Wingdings" pitchFamily="2" charset="2"/>
            </a:endParaRP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5875709" y="3108872"/>
            <a:ext cx="2438400" cy="32380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b="1">
                <a:latin typeface="Courier New" pitchFamily="49" charset="0"/>
                <a:sym typeface="Wingdings" pitchFamily="2" charset="2"/>
              </a:rPr>
              <a:t>输出参数用空格隔开</a:t>
            </a: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 flipV="1">
            <a:off x="7386389" y="3397351"/>
            <a:ext cx="217488" cy="312737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023166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55CEAF2-D2ED-4171-9B2B-0AA24B62F903}"/>
              </a:ext>
            </a:extLst>
          </p:cNvPr>
          <p:cNvSpPr txBox="1">
            <a:spLocks noChangeArrowheads="1"/>
          </p:cNvSpPr>
          <p:nvPr/>
        </p:nvSpPr>
        <p:spPr>
          <a:xfrm>
            <a:off x="833406" y="1549878"/>
            <a:ext cx="7999934" cy="5121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Broadway" panose="04040905080B02020502" pitchFamily="8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Shell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脚本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编程</a:t>
            </a:r>
            <a:r>
              <a:rPr lang="zh-CN" altLang="en-US" sz="3200" dirty="0">
                <a:solidFill>
                  <a:srgbClr val="000000"/>
                </a:solidFill>
                <a:ea typeface="宋体"/>
              </a:rPr>
              <a:t>基础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脚本简介，变量操作，特殊变量和简单脚本，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Shell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脚本跟踪与调试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分支结构和循环结构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条件测试，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if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case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while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until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for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select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函数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函数的概念，函数及其用途，函数的定义和调用，函数的使用举例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本章内容要点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4F68058-A272-4A0C-AC8E-6E614A1DCF7B}"/>
              </a:ext>
            </a:extLst>
          </p:cNvPr>
          <p:cNvSpPr/>
          <p:nvPr/>
        </p:nvSpPr>
        <p:spPr>
          <a:xfrm>
            <a:off x="811890" y="3090476"/>
            <a:ext cx="7808777" cy="150777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9014"/>
            <a:ext cx="1574994" cy="150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67761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280024"/>
            <a:ext cx="8047558" cy="5577975"/>
          </a:xfrm>
        </p:spPr>
        <p:txBody>
          <a:bodyPr/>
          <a:lstStyle/>
          <a:p>
            <a:r>
              <a:rPr lang="zh-CN" altLang="en-US" dirty="0">
                <a:ea typeface="黑体" pitchFamily="2" charset="-122"/>
              </a:rPr>
              <a:t>条件测试可以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判断某个特定条件是否满足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1"/>
            <a:r>
              <a:rPr lang="zh-CN" altLang="en-US" dirty="0"/>
              <a:t>测试之后通常会根据不同的测试值选择执行不同任务</a:t>
            </a:r>
            <a:endParaRPr lang="en-US" altLang="zh-CN" dirty="0"/>
          </a:p>
          <a:p>
            <a:r>
              <a:rPr lang="zh-CN" altLang="en-US" dirty="0">
                <a:ea typeface="黑体" pitchFamily="2" charset="-122"/>
              </a:rPr>
              <a:t>条件测试的种类</a:t>
            </a:r>
            <a:endParaRPr lang="en-US" altLang="zh-CN" dirty="0">
              <a:ea typeface="黑体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命令</a:t>
            </a:r>
            <a:r>
              <a:rPr lang="zh-CN" altLang="en-US" dirty="0">
                <a:solidFill>
                  <a:srgbClr val="0000CC"/>
                </a:solidFill>
                <a:ea typeface="黑体" pitchFamily="2" charset="-122"/>
              </a:rPr>
              <a:t>成功或失败 （命令组合</a:t>
            </a:r>
            <a:r>
              <a:rPr lang="en-US" altLang="zh-CN" dirty="0">
                <a:solidFill>
                  <a:srgbClr val="0000CC"/>
                </a:solidFill>
                <a:ea typeface="黑体" pitchFamily="2" charset="-122"/>
              </a:rPr>
              <a:t>&amp;&amp;</a:t>
            </a:r>
            <a:r>
              <a:rPr lang="zh-CN" altLang="en-US" dirty="0">
                <a:solidFill>
                  <a:srgbClr val="0000CC"/>
                </a:solidFill>
                <a:ea typeface="黑体" pitchFamily="2" charset="-122"/>
              </a:rPr>
              <a:t>及</a:t>
            </a:r>
            <a:r>
              <a:rPr lang="en-US" altLang="zh-CN" dirty="0">
                <a:solidFill>
                  <a:srgbClr val="0000CC"/>
                </a:solidFill>
                <a:ea typeface="黑体" pitchFamily="2" charset="-122"/>
              </a:rPr>
              <a:t>||</a:t>
            </a:r>
            <a:r>
              <a:rPr lang="zh-CN" altLang="en-US" dirty="0">
                <a:solidFill>
                  <a:srgbClr val="0000CC"/>
                </a:solidFill>
                <a:ea typeface="黑体" pitchFamily="2" charset="-122"/>
              </a:rPr>
              <a:t>）</a:t>
            </a:r>
            <a:endParaRPr lang="en-US" altLang="zh-CN" dirty="0">
              <a:ea typeface="黑体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表达式</a:t>
            </a:r>
            <a:r>
              <a:rPr lang="zh-CN" altLang="en-US" dirty="0">
                <a:solidFill>
                  <a:srgbClr val="0000CC"/>
                </a:solidFill>
                <a:ea typeface="黑体" pitchFamily="2" charset="-122"/>
              </a:rPr>
              <a:t>为真或假</a:t>
            </a:r>
            <a:endParaRPr lang="en-US" altLang="zh-CN" dirty="0">
              <a:solidFill>
                <a:srgbClr val="0000CC"/>
              </a:solidFill>
              <a:ea typeface="黑体" pitchFamily="2" charset="-122"/>
            </a:endParaRPr>
          </a:p>
          <a:p>
            <a:r>
              <a:rPr lang="zh-CN" altLang="en-US" dirty="0">
                <a:ea typeface="黑体" pitchFamily="2" charset="-122"/>
              </a:rPr>
              <a:t>条件测试的值</a:t>
            </a:r>
            <a:endParaRPr lang="en-US" altLang="zh-CN" dirty="0">
              <a:ea typeface="黑体" pitchFamily="2" charset="-122"/>
            </a:endParaRPr>
          </a:p>
          <a:p>
            <a:pPr lvl="1"/>
            <a:r>
              <a:rPr lang="en-US" altLang="zh-CN" dirty="0">
                <a:ea typeface="黑体" pitchFamily="2" charset="-122"/>
              </a:rPr>
              <a:t>Bash</a:t>
            </a:r>
            <a:r>
              <a:rPr lang="zh-CN" altLang="en-US" dirty="0">
                <a:ea typeface="黑体" pitchFamily="2" charset="-122"/>
              </a:rPr>
              <a:t>中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没有布尔类型变量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2"/>
            <a:r>
              <a:rPr lang="zh-CN" altLang="en-US" dirty="0">
                <a:ea typeface="黑体" pitchFamily="2" charset="-122"/>
              </a:rPr>
              <a:t>退出状态为 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 表示命令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成功</a:t>
            </a:r>
            <a:r>
              <a:rPr lang="zh-CN" altLang="en-US" dirty="0">
                <a:ea typeface="黑体" pitchFamily="2" charset="-122"/>
              </a:rPr>
              <a:t>或表达式为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真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2"/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非0 </a:t>
            </a:r>
            <a:r>
              <a:rPr lang="zh-CN" altLang="en-US" dirty="0">
                <a:ea typeface="黑体" pitchFamily="2" charset="-122"/>
              </a:rPr>
              <a:t>则表示命令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失败</a:t>
            </a:r>
            <a:r>
              <a:rPr lang="zh-CN" altLang="en-US" dirty="0">
                <a:ea typeface="黑体" pitchFamily="2" charset="-122"/>
              </a:rPr>
              <a:t>或表达式为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假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1"/>
            <a:r>
              <a:rPr lang="zh-CN" altLang="en-US" dirty="0">
                <a:ea typeface="黑体" pitchFamily="2" charset="-122"/>
              </a:rPr>
              <a:t>状态变量 </a:t>
            </a:r>
            <a:r>
              <a:rPr lang="zh-CN" altLang="en-US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$?</a:t>
            </a:r>
            <a:r>
              <a:rPr lang="zh-CN" altLang="en-US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中保存了退出状态的值</a:t>
            </a: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</a:t>
            </a:r>
          </a:p>
        </p:txBody>
      </p:sp>
      <p:sp>
        <p:nvSpPr>
          <p:cNvPr id="3" name="矩形 2"/>
          <p:cNvSpPr/>
          <p:nvPr/>
        </p:nvSpPr>
        <p:spPr>
          <a:xfrm>
            <a:off x="611560" y="1700808"/>
            <a:ext cx="74888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user=</a:t>
            </a:r>
            <a:r>
              <a:rPr lang="en-US" altLang="zh-CN" sz="2800" dirty="0" err="1">
                <a:solidFill>
                  <a:srgbClr val="0000FF"/>
                </a:solidFill>
              </a:rPr>
              <a:t>osmond</a:t>
            </a:r>
            <a:endParaRPr lang="en-US" altLang="zh-CN" sz="2800" dirty="0">
              <a:solidFill>
                <a:srgbClr val="0000FF"/>
              </a:solidFill>
            </a:endParaRP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</a:t>
            </a:r>
            <a:r>
              <a:rPr lang="en-US" altLang="zh-CN" sz="2800" dirty="0" err="1">
                <a:solidFill>
                  <a:srgbClr val="0000FF"/>
                </a:solidFill>
              </a:rPr>
              <a:t>grep</a:t>
            </a:r>
            <a:r>
              <a:rPr lang="en-US" altLang="zh-CN" sz="2800" dirty="0">
                <a:solidFill>
                  <a:srgbClr val="0000FF"/>
                </a:solidFill>
              </a:rPr>
              <a:t> ^$user /</a:t>
            </a:r>
            <a:r>
              <a:rPr lang="en-US" altLang="zh-CN" sz="2800" dirty="0" err="1">
                <a:solidFill>
                  <a:srgbClr val="0000FF"/>
                </a:solidFill>
              </a:rPr>
              <a:t>etc</a:t>
            </a:r>
            <a:r>
              <a:rPr lang="en-US" altLang="zh-CN" sz="2800" dirty="0">
                <a:solidFill>
                  <a:srgbClr val="0000FF"/>
                </a:solidFill>
              </a:rPr>
              <a:t>/</a:t>
            </a:r>
            <a:r>
              <a:rPr lang="en-US" altLang="zh-CN" sz="2800" dirty="0" err="1">
                <a:solidFill>
                  <a:srgbClr val="0000FF"/>
                </a:solidFill>
              </a:rPr>
              <a:t>passwd</a:t>
            </a:r>
            <a:endParaRPr lang="en-US" altLang="zh-CN" sz="2800" dirty="0">
              <a:solidFill>
                <a:srgbClr val="0000FF"/>
              </a:solidFill>
            </a:endParaRP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echo $?</a:t>
            </a:r>
          </a:p>
          <a:p>
            <a:r>
              <a:rPr lang="en-US" altLang="zh-CN" sz="2800" dirty="0"/>
              <a:t>1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user=xl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</a:t>
            </a:r>
            <a:r>
              <a:rPr lang="en-US" altLang="zh-CN" sz="2800" dirty="0" err="1">
                <a:solidFill>
                  <a:srgbClr val="0000FF"/>
                </a:solidFill>
              </a:rPr>
              <a:t>grep</a:t>
            </a:r>
            <a:r>
              <a:rPr lang="en-US" altLang="zh-CN" sz="2800" dirty="0">
                <a:solidFill>
                  <a:srgbClr val="0000FF"/>
                </a:solidFill>
              </a:rPr>
              <a:t> ^$user /</a:t>
            </a:r>
            <a:r>
              <a:rPr lang="en-US" altLang="zh-CN" sz="2800" dirty="0" err="1">
                <a:solidFill>
                  <a:srgbClr val="0000FF"/>
                </a:solidFill>
              </a:rPr>
              <a:t>etc</a:t>
            </a:r>
            <a:r>
              <a:rPr lang="en-US" altLang="zh-CN" sz="2800" dirty="0">
                <a:solidFill>
                  <a:srgbClr val="0000FF"/>
                </a:solidFill>
              </a:rPr>
              <a:t>/</a:t>
            </a:r>
            <a:r>
              <a:rPr lang="en-US" altLang="zh-CN" sz="2800" dirty="0" err="1">
                <a:solidFill>
                  <a:srgbClr val="0000FF"/>
                </a:solidFill>
              </a:rPr>
              <a:t>passwd</a:t>
            </a:r>
            <a:endParaRPr lang="en-US" altLang="zh-CN" sz="2800" dirty="0">
              <a:solidFill>
                <a:srgbClr val="0000FF"/>
              </a:solidFill>
            </a:endParaRPr>
          </a:p>
          <a:p>
            <a:r>
              <a:rPr lang="en-US" altLang="zh-CN" sz="2800" dirty="0"/>
              <a:t>xl:x:1000:1000:xl:/home/xl:/bin/bash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echo $?</a:t>
            </a:r>
          </a:p>
          <a:p>
            <a:r>
              <a:rPr lang="en-US" altLang="zh-CN" sz="2800" dirty="0"/>
              <a:t>0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</a:t>
            </a:r>
          </a:p>
        </p:txBody>
      </p:sp>
      <p:sp>
        <p:nvSpPr>
          <p:cNvPr id="3" name="矩形 2"/>
          <p:cNvSpPr/>
          <p:nvPr/>
        </p:nvSpPr>
        <p:spPr>
          <a:xfrm>
            <a:off x="827584" y="1484784"/>
            <a:ext cx="701828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a=3; </a:t>
            </a:r>
            <a:r>
              <a:rPr lang="en-US" altLang="zh-CN" sz="2800" dirty="0" smtClean="0">
                <a:solidFill>
                  <a:srgbClr val="0000FF"/>
                </a:solidFill>
              </a:rPr>
              <a:t>b=5</a:t>
            </a:r>
          </a:p>
          <a:p>
            <a:r>
              <a:rPr lang="es-ES" altLang="zh-CN" sz="2800" dirty="0">
                <a:solidFill>
                  <a:srgbClr val="0000FF"/>
                </a:solidFill>
              </a:rPr>
              <a:t>[xl@localhost ~]$ ((a==b))</a:t>
            </a:r>
          </a:p>
          <a:p>
            <a:r>
              <a:rPr lang="es-ES" altLang="zh-CN" sz="2800" dirty="0">
                <a:solidFill>
                  <a:srgbClr val="0000FF"/>
                </a:solidFill>
              </a:rPr>
              <a:t>[xl@localhost ~]$ echo $?</a:t>
            </a:r>
          </a:p>
          <a:p>
            <a:r>
              <a:rPr lang="en-US" altLang="zh-CN" sz="2800" dirty="0" smtClean="0"/>
              <a:t>1</a:t>
            </a:r>
          </a:p>
          <a:p>
            <a:r>
              <a:rPr lang="es-ES" altLang="zh-CN" sz="2800" dirty="0">
                <a:solidFill>
                  <a:srgbClr val="0000FF"/>
                </a:solidFill>
              </a:rPr>
              <a:t>[xl@localhost ~]$ a=3;b=3;</a:t>
            </a:r>
          </a:p>
          <a:p>
            <a:r>
              <a:rPr lang="es-ES" altLang="zh-CN" sz="2800" dirty="0">
                <a:solidFill>
                  <a:srgbClr val="0000FF"/>
                </a:solidFill>
              </a:rPr>
              <a:t>[xl@localhost ~]$ ((a==b))</a:t>
            </a:r>
          </a:p>
          <a:p>
            <a:r>
              <a:rPr lang="es-ES" altLang="zh-CN" sz="2800" dirty="0">
                <a:solidFill>
                  <a:srgbClr val="0000FF"/>
                </a:solidFill>
              </a:rPr>
              <a:t>[xl@localhost ~]$ echo $?</a:t>
            </a:r>
          </a:p>
          <a:p>
            <a:r>
              <a:rPr lang="es-ES" altLang="zh-CN" sz="2800" dirty="0"/>
              <a:t>0</a:t>
            </a:r>
          </a:p>
          <a:p>
            <a:endParaRPr lang="en-US" altLang="zh-CN" sz="2800" dirty="0" smtClean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285956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44228"/>
            <a:ext cx="8820472" cy="4114800"/>
          </a:xfrm>
        </p:spPr>
        <p:txBody>
          <a:bodyPr/>
          <a:lstStyle/>
          <a:p>
            <a:r>
              <a:rPr lang="zh-CN" altLang="en-US" dirty="0"/>
              <a:t>条件测试语句</a:t>
            </a:r>
          </a:p>
          <a:p>
            <a:pPr lvl="1"/>
            <a:r>
              <a:rPr lang="zh-CN" altLang="en-US" sz="2400" dirty="0"/>
              <a:t>格式</a:t>
            </a:r>
            <a:r>
              <a:rPr lang="en-US" altLang="zh-CN" sz="2400" dirty="0"/>
              <a:t>1</a:t>
            </a:r>
            <a:r>
              <a:rPr lang="zh-CN" altLang="en-US" sz="2400" dirty="0"/>
              <a:t>： </a:t>
            </a:r>
            <a:r>
              <a:rPr lang="en-US" altLang="zh-CN" sz="2400" dirty="0">
                <a:solidFill>
                  <a:srgbClr val="FF0000"/>
                </a:solidFill>
              </a:rPr>
              <a:t>test</a:t>
            </a:r>
            <a:r>
              <a:rPr lang="en-US" altLang="zh-CN" sz="2400" dirty="0"/>
              <a:t> &lt;</a:t>
            </a:r>
            <a:r>
              <a:rPr lang="zh-CN" altLang="en-US" sz="2400" dirty="0"/>
              <a:t>测试表达式</a:t>
            </a:r>
            <a:r>
              <a:rPr lang="en-US" altLang="zh-CN" sz="2400" dirty="0"/>
              <a:t>&gt; </a:t>
            </a:r>
            <a:endParaRPr lang="zh-CN" altLang="en-US" sz="2400" dirty="0"/>
          </a:p>
          <a:p>
            <a:pPr lvl="1"/>
            <a:r>
              <a:rPr lang="zh-CN" altLang="en-US" sz="2400" dirty="0"/>
              <a:t>格式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[ </a:t>
            </a:r>
            <a:r>
              <a:rPr lang="en-US" altLang="zh-CN" sz="2400" dirty="0"/>
              <a:t>&lt;</a:t>
            </a:r>
            <a:r>
              <a:rPr lang="zh-CN" altLang="en-US" sz="2400" dirty="0"/>
              <a:t>测试表达式</a:t>
            </a:r>
            <a:r>
              <a:rPr lang="en-US" altLang="zh-CN" sz="2400" dirty="0"/>
              <a:t>&gt; 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endParaRPr lang="zh-CN" altLang="en-US" sz="2400" b="1" dirty="0">
              <a:solidFill>
                <a:srgbClr val="002060"/>
              </a:solidFill>
            </a:endParaRPr>
          </a:p>
          <a:p>
            <a:pPr lvl="1"/>
            <a:r>
              <a:rPr lang="zh-CN" altLang="en-US" sz="2400" dirty="0"/>
              <a:t>格式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[[ </a:t>
            </a:r>
            <a:r>
              <a:rPr lang="en-US" altLang="zh-CN" sz="2400" dirty="0"/>
              <a:t>&lt;</a:t>
            </a:r>
            <a:r>
              <a:rPr lang="zh-CN" altLang="en-US" sz="2400" dirty="0"/>
              <a:t>测试表达式</a:t>
            </a:r>
            <a:r>
              <a:rPr lang="en-US" altLang="zh-CN" sz="2400" dirty="0"/>
              <a:t>&gt; </a:t>
            </a:r>
            <a:r>
              <a:rPr lang="en-US" altLang="zh-CN" sz="2400" b="1" dirty="0">
                <a:solidFill>
                  <a:srgbClr val="FF0000"/>
                </a:solidFill>
              </a:rPr>
              <a:t>]]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bash</a:t>
            </a:r>
            <a:r>
              <a:rPr lang="en-US" altLang="zh-CN" sz="2400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2.x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版本以上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</a:p>
          <a:p>
            <a:r>
              <a:rPr lang="zh-CN" altLang="en-US" dirty="0"/>
              <a:t>说明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格式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zh-CN" altLang="en-US" sz="2400" dirty="0">
                <a:solidFill>
                  <a:srgbClr val="FF0000"/>
                </a:solidFill>
              </a:rPr>
              <a:t>格式</a:t>
            </a:r>
            <a:r>
              <a:rPr lang="en-US" altLang="zh-CN" sz="2400" dirty="0">
                <a:solidFill>
                  <a:srgbClr val="FF0000"/>
                </a:solidFill>
              </a:rPr>
              <a:t>2 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等价</a:t>
            </a:r>
            <a:r>
              <a:rPr lang="zh-CN" altLang="en-US" sz="2400" dirty="0"/>
              <a:t>的，</a:t>
            </a:r>
            <a:r>
              <a:rPr lang="zh-CN" altLang="en-US" sz="2400" dirty="0">
                <a:solidFill>
                  <a:srgbClr val="FF0000"/>
                </a:solidFill>
              </a:rPr>
              <a:t>格式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扩展的 </a:t>
            </a:r>
            <a:r>
              <a:rPr lang="en-US" altLang="zh-CN" sz="2400" dirty="0">
                <a:solidFill>
                  <a:srgbClr val="FF0000"/>
                </a:solidFill>
              </a:rPr>
              <a:t>test </a:t>
            </a:r>
            <a:r>
              <a:rPr lang="zh-CN" altLang="en-US" sz="2400" dirty="0">
                <a:solidFill>
                  <a:srgbClr val="FF0000"/>
                </a:solidFill>
              </a:rPr>
              <a:t>命令</a:t>
            </a:r>
          </a:p>
          <a:p>
            <a:pPr lvl="1"/>
            <a:r>
              <a:rPr lang="zh-CN" altLang="en-US" sz="2400" dirty="0"/>
              <a:t>在 </a:t>
            </a:r>
            <a:r>
              <a:rPr lang="en-US" altLang="zh-CN" sz="2400" b="1" dirty="0">
                <a:solidFill>
                  <a:srgbClr val="002060"/>
                </a:solidFill>
              </a:rPr>
              <a:t>[[ ]] </a:t>
            </a:r>
            <a:r>
              <a:rPr lang="zh-CN" altLang="en-US" sz="2400" dirty="0"/>
              <a:t>中</a:t>
            </a:r>
            <a:r>
              <a:rPr kumimoji="1" lang="zh-CN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可以使用通配符进行模式匹配</a:t>
            </a:r>
          </a:p>
          <a:p>
            <a:pPr lvl="1"/>
            <a:r>
              <a:rPr lang="en-US" altLang="zh-CN" sz="2400" b="1" dirty="0">
                <a:solidFill>
                  <a:srgbClr val="002060"/>
                </a:solidFill>
              </a:rPr>
              <a:t>&amp;&amp;, ||,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&lt;,</a:t>
            </a:r>
            <a:r>
              <a:rPr lang="en-US" altLang="zh-CN" sz="2400" dirty="0"/>
              <a:t> </a:t>
            </a:r>
            <a:r>
              <a:rPr lang="zh-CN" altLang="en-US" sz="2400" dirty="0"/>
              <a:t>和</a:t>
            </a:r>
            <a:r>
              <a:rPr lang="en-US" altLang="zh-CN" sz="2400" b="1" dirty="0">
                <a:solidFill>
                  <a:srgbClr val="002060"/>
                </a:solidFill>
              </a:rPr>
              <a:t>&gt;</a:t>
            </a:r>
            <a:r>
              <a:rPr lang="zh-CN" altLang="en-US" sz="2400" dirty="0"/>
              <a:t>能够正常存在于</a:t>
            </a:r>
            <a:r>
              <a:rPr lang="en-US" altLang="zh-CN" sz="2400" b="1" dirty="0">
                <a:solidFill>
                  <a:srgbClr val="002060"/>
                </a:solidFill>
              </a:rPr>
              <a:t>[[ ]]</a:t>
            </a:r>
            <a:r>
              <a:rPr lang="zh-CN" altLang="en-US" sz="2400" dirty="0"/>
              <a:t>中，但不能在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[] </a:t>
            </a:r>
            <a:r>
              <a:rPr lang="zh-CN" altLang="en-US" sz="2400" dirty="0"/>
              <a:t>中出现</a:t>
            </a:r>
          </a:p>
          <a:p>
            <a:pPr lvl="1"/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[[</a:t>
            </a:r>
            <a:r>
              <a:rPr lang="zh-CN" altLang="en-US" sz="2400" dirty="0">
                <a:solidFill>
                  <a:srgbClr val="FF0000"/>
                </a:solidFill>
              </a:rPr>
              <a:t>之后的字符必须为空格，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]]</a:t>
            </a:r>
            <a:r>
              <a:rPr lang="zh-CN" altLang="en-US" sz="2400" dirty="0">
                <a:solidFill>
                  <a:srgbClr val="FF0000"/>
                </a:solidFill>
              </a:rPr>
              <a:t>之前的字符必须为空格，变量和常数以双引号引起来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zh-CN" sz="2400" dirty="0"/>
              <a:t>要对整数进行关系运算也可以使用</a:t>
            </a:r>
            <a:r>
              <a:rPr lang="en-US" altLang="zh-CN" sz="2400" b="1" dirty="0">
                <a:solidFill>
                  <a:srgbClr val="002060"/>
                </a:solidFill>
              </a:rPr>
              <a:t> (()) </a:t>
            </a:r>
            <a:r>
              <a:rPr lang="zh-CN" altLang="zh-CN" sz="2400" dirty="0"/>
              <a:t>进行测试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2891" y="1556792"/>
            <a:ext cx="7538218" cy="4114800"/>
          </a:xfrm>
        </p:spPr>
        <p:txBody>
          <a:bodyPr/>
          <a:lstStyle/>
          <a:p>
            <a:r>
              <a:rPr lang="zh-CN" altLang="en-US" sz="3600" dirty="0"/>
              <a:t>条件测试表达式中可用的操作符</a:t>
            </a:r>
            <a:endParaRPr lang="en-US" altLang="zh-CN" sz="3600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文件</a:t>
            </a:r>
            <a:r>
              <a:rPr lang="zh-CN" altLang="en-US" dirty="0"/>
              <a:t>测试操作符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测试操作符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整数</a:t>
            </a:r>
            <a:r>
              <a:rPr lang="zh-CN" altLang="en-US" dirty="0"/>
              <a:t>二元比较操作符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多重条件判定</a:t>
            </a:r>
            <a:r>
              <a:rPr lang="zh-CN" altLang="en-US" dirty="0"/>
              <a:t>操作符（使用逻辑运算符）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  <a:r>
              <a:rPr lang="en-US" altLang="zh-CN" dirty="0"/>
              <a:t>—</a:t>
            </a:r>
            <a:r>
              <a:rPr lang="zh-CN" altLang="en-US" dirty="0"/>
              <a:t>文件测试</a:t>
            </a:r>
          </a:p>
        </p:txBody>
      </p:sp>
      <p:graphicFrame>
        <p:nvGraphicFramePr>
          <p:cNvPr id="7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462289"/>
              </p:ext>
            </p:extLst>
          </p:nvPr>
        </p:nvGraphicFramePr>
        <p:xfrm>
          <a:off x="613171" y="2058842"/>
          <a:ext cx="8229600" cy="400399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23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8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文件或目录）存在时，返回真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28499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f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存在且是普通文件时，返回真 ( 即返回 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0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)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-L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存在且是链接文件时，返回真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-d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存在且是一个目录时，返回真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-b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存在且是块设备时，返回真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-s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存在且文件长度大小大于 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0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-r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文件或目录）存在且可读时，返回真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-w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文件或目录）存在且可写时，返回真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 [</a:t>
                      </a:r>
                      <a:r>
                        <a:rPr kumimoji="1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</a:rPr>
                        <a:t>-x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</a:rPr>
                        <a:t>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</a:rPr>
                        <a:t>fname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文件或目录）存在且可执行时，返回真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84150" y="1381905"/>
            <a:ext cx="8763000" cy="62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3200" dirty="0">
                <a:solidFill>
                  <a:schemeClr val="tx1"/>
                </a:solidFill>
                <a:ea typeface="黑体" pitchFamily="2" charset="-122"/>
              </a:rPr>
              <a:t>测试：</a:t>
            </a:r>
            <a:r>
              <a:rPr lang="zh-CN" altLang="en-US" sz="3200" dirty="0">
                <a:solidFill>
                  <a:srgbClr val="0000CC"/>
                </a:solidFill>
                <a:ea typeface="黑体" pitchFamily="2" charset="-122"/>
              </a:rPr>
              <a:t>文件是否存在，文件属性，访问权限等。</a:t>
            </a:r>
            <a:endParaRPr lang="en-US" altLang="zh-CN" sz="3200" dirty="0">
              <a:solidFill>
                <a:srgbClr val="0000CC"/>
              </a:solidFill>
              <a:ea typeface="黑体" pitchFamily="2" charset="-122"/>
            </a:endParaRPr>
          </a:p>
        </p:txBody>
      </p:sp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547029" y="6170439"/>
            <a:ext cx="590391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更多文件测试符参见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test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的在线帮助</a:t>
            </a:r>
          </a:p>
        </p:txBody>
      </p:sp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6450942" y="6208995"/>
            <a:ext cx="1654175" cy="430213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man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test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7470"/>
            <a:ext cx="9144000" cy="685053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#!/bin/bash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Program: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User input a filename, program will check the flowing: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1.) exist? 2.) file/directory? 3.) file permissions 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1. </a:t>
            </a:r>
            <a:r>
              <a:rPr lang="zh-CN" altLang="en-US" sz="2100" b="1" dirty="0">
                <a:solidFill>
                  <a:srgbClr val="C00000"/>
                </a:solidFill>
                <a:latin typeface="Courier New" pitchFamily="49" charset="0"/>
              </a:rPr>
              <a:t>让使用者输入档名，并且判断使用者是否真的有输入字串？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echo -e "Please input a filename, I will check the filename's type and permission. \n\n"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read -p "Input a filename : " filename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-z $filename &amp;&amp; echo “You MUST input a filename.” &amp;&amp; exit 0 #-z </a:t>
            </a:r>
            <a:r>
              <a:rPr lang="zh-CN" altLang="en-US" sz="2100" b="1" dirty="0">
                <a:solidFill>
                  <a:srgbClr val="C00000"/>
                </a:solidFill>
                <a:latin typeface="Courier New" pitchFamily="49" charset="0"/>
              </a:rPr>
              <a:t>判断字符串是否为空字符串</a:t>
            </a:r>
            <a:endParaRPr lang="en-US" altLang="zh-CN" sz="2100" b="1" dirty="0">
              <a:solidFill>
                <a:srgbClr val="C00000"/>
              </a:solidFill>
              <a:latin typeface="Courier New" pitchFamily="49" charset="0"/>
            </a:endParaRP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2. </a:t>
            </a:r>
            <a:r>
              <a:rPr lang="zh-CN" altLang="en-US" sz="2100" b="1" dirty="0">
                <a:solidFill>
                  <a:srgbClr val="C00000"/>
                </a:solidFill>
                <a:latin typeface="Courier New" pitchFamily="49" charset="0"/>
              </a:rPr>
              <a:t>判断文件是否存在？若不存在则显示信息并结束脚本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! -e $filename &amp;&amp; echo "The filename '$filename' DO NOT exist" &amp;&amp; exit 0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3. </a:t>
            </a:r>
            <a:r>
              <a:rPr lang="zh-CN" altLang="en-US" sz="2100" b="1" dirty="0">
                <a:solidFill>
                  <a:srgbClr val="C00000"/>
                </a:solidFill>
                <a:latin typeface="Courier New" pitchFamily="49" charset="0"/>
              </a:rPr>
              <a:t>开始判断文件类型与属性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-f $filename &amp;&amp; filetype="</a:t>
            </a:r>
            <a:r>
              <a:rPr lang="en-US" altLang="zh-CN" sz="2100" b="1" dirty="0" err="1">
                <a:solidFill>
                  <a:srgbClr val="C00000"/>
                </a:solidFill>
                <a:latin typeface="Courier New" pitchFamily="49" charset="0"/>
              </a:rPr>
              <a:t>regulare</a:t>
            </a: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 file"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-d $filename &amp;&amp; filetype="directory"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-r $filename &amp;&amp; perm="readable"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-w $filename &amp;&amp; perm="$perm writable"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test -x $filename &amp;&amp; perm="$perm executable"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# 4. </a:t>
            </a:r>
            <a:r>
              <a:rPr lang="zh-CN" altLang="en-US" sz="2100" b="1" dirty="0">
                <a:solidFill>
                  <a:srgbClr val="C00000"/>
                </a:solidFill>
                <a:latin typeface="Courier New" pitchFamily="49" charset="0"/>
              </a:rPr>
              <a:t>开始输出权限！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echo "The filename: $filename is a $filetype"</a:t>
            </a:r>
          </a:p>
          <a:p>
            <a:pPr>
              <a:lnSpc>
                <a:spcPct val="9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C00000"/>
                </a:solidFill>
                <a:latin typeface="Courier New" pitchFamily="49" charset="0"/>
              </a:rPr>
              <a:t>echo "And the permissions are : $perm"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476672"/>
            <a:ext cx="8424936" cy="600164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vim test.sh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./test.sh</a:t>
            </a:r>
          </a:p>
          <a:p>
            <a:r>
              <a:rPr lang="zh-CN" altLang="en-US" sz="2400" dirty="0"/>
              <a:t>Please input a filename, I will check the filename's type and permission. </a:t>
            </a:r>
          </a:p>
          <a:p>
            <a:endParaRPr lang="zh-CN" altLang="en-US" sz="2400" dirty="0"/>
          </a:p>
          <a:p>
            <a:r>
              <a:rPr lang="zh-CN" altLang="en-US" sz="2400" dirty="0"/>
              <a:t>Input a filename : </a:t>
            </a:r>
            <a:r>
              <a:rPr lang="zh-CN" altLang="en-US" sz="2400" dirty="0">
                <a:solidFill>
                  <a:srgbClr val="C00000"/>
                </a:solidFill>
              </a:rPr>
              <a:t>abs</a:t>
            </a:r>
          </a:p>
          <a:p>
            <a:r>
              <a:rPr lang="zh-CN" altLang="en-US" sz="2400" dirty="0"/>
              <a:t>The filename 'abs' DO NOT exist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./test.sh</a:t>
            </a:r>
          </a:p>
          <a:p>
            <a:r>
              <a:rPr lang="zh-CN" altLang="en-US" sz="2400" dirty="0"/>
              <a:t>Please input a filename, I will check the filename's type and permission. </a:t>
            </a:r>
          </a:p>
          <a:p>
            <a:endParaRPr lang="zh-CN" altLang="en-US" sz="2400" dirty="0"/>
          </a:p>
          <a:p>
            <a:r>
              <a:rPr lang="zh-CN" altLang="en-US" sz="2400" dirty="0" smtClean="0"/>
              <a:t>Input </a:t>
            </a:r>
            <a:r>
              <a:rPr lang="zh-CN" altLang="en-US" sz="2400" dirty="0"/>
              <a:t>a filename : </a:t>
            </a:r>
          </a:p>
          <a:p>
            <a:r>
              <a:rPr lang="zh-CN" altLang="en-US" sz="2400" dirty="0"/>
              <a:t>“You MUST input a filename.”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echo $?</a:t>
            </a:r>
          </a:p>
          <a:p>
            <a:r>
              <a:rPr lang="zh-CN" altLang="en-US" sz="2400" dirty="0"/>
              <a:t>0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</a:t>
            </a:r>
          </a:p>
        </p:txBody>
      </p:sp>
    </p:spTree>
    <p:extLst>
      <p:ext uri="{BB962C8B-B14F-4D97-AF65-F5344CB8AC3E}">
        <p14:creationId xmlns:p14="http://schemas.microsoft.com/office/powerpoint/2010/main" val="6876605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  <a:r>
              <a:rPr lang="en-US" altLang="zh-CN" dirty="0"/>
              <a:t>—</a:t>
            </a:r>
            <a:r>
              <a:rPr lang="zh-CN" altLang="en-US" dirty="0"/>
              <a:t>字符串测试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915734"/>
              </p:ext>
            </p:extLst>
          </p:nvPr>
        </p:nvGraphicFramePr>
        <p:xfrm>
          <a:off x="544158" y="1616537"/>
          <a:ext cx="7999040" cy="1738948"/>
        </p:xfrm>
        <a:graphic>
          <a:graphicData uri="http://schemas.openxmlformats.org/drawingml/2006/table">
            <a:tbl>
              <a:tblPr>
                <a:solidFill>
                  <a:schemeClr val="accent2">
                    <a:lumMod val="60000"/>
                    <a:lumOff val="40000"/>
                  </a:schemeClr>
                </a:solidFill>
              </a:tblPr>
              <a:tblGrid>
                <a:gridCol w="2814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z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string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如果字符串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string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长度为0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，返回真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n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string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如果字符串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string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长度不为0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，返回真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两字符串相等（也可使用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==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）返回真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!=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两字符串不等返回真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90313"/>
              </p:ext>
            </p:extLst>
          </p:nvPr>
        </p:nvGraphicFramePr>
        <p:xfrm>
          <a:off x="550310" y="3571509"/>
          <a:ext cx="7992888" cy="2133600"/>
        </p:xfrm>
        <a:graphic>
          <a:graphicData uri="http://schemas.openxmlformats.org/drawingml/2006/table">
            <a:tbl>
              <a:tblPr/>
              <a:tblGrid>
                <a:gridCol w="333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==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两字符串相同返回真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!=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两字符串不相同返回真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=~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是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的子串返回真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str2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str2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98382" y="5937017"/>
            <a:ext cx="669674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/>
              <a:t>字符串按从左到右对应字符的</a:t>
            </a:r>
            <a:r>
              <a:rPr lang="en-US" altLang="zh-CN" sz="2400" b="1" dirty="0"/>
              <a:t>ASCII</a:t>
            </a:r>
            <a:r>
              <a:rPr lang="zh-CN" altLang="en-US" sz="2400" b="1" dirty="0"/>
              <a:t>码进行比较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字符串的空值检查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87624" y="2386820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-z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187624" y="2967326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!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187624" y="3558022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"X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"X"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187624" y="5153750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-n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187698" y="5733112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187698" y="6301716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"X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${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!=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"X"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54496" y="1258002"/>
            <a:ext cx="8382000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检查空值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654496" y="4027141"/>
            <a:ext cx="8382000" cy="55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 检查</a:t>
            </a:r>
            <a:r>
              <a:rPr lang="zh-CN" altLang="en-US" sz="2800" dirty="0">
                <a:ea typeface="黑体" pitchFamily="2" charset="-122"/>
              </a:rPr>
              <a:t>非</a:t>
            </a:r>
            <a:r>
              <a:rPr lang="zh-CN" altLang="en-US" sz="2800" dirty="0">
                <a:solidFill>
                  <a:schemeClr val="tx1"/>
                </a:solidFill>
                <a:ea typeface="黑体" pitchFamily="2" charset="-122"/>
              </a:rPr>
              <a:t>空值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187624" y="1798494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187624" y="4577830"/>
            <a:ext cx="6984776" cy="5170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</a:gra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name"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!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""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  <a:r>
              <a:rPr lang="en-US" altLang="zh-CN" dirty="0"/>
              <a:t>—</a:t>
            </a:r>
            <a:r>
              <a:rPr lang="zh-CN" altLang="en-US" dirty="0"/>
              <a:t>整数测试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634905"/>
              </p:ext>
            </p:extLst>
          </p:nvPr>
        </p:nvGraphicFramePr>
        <p:xfrm>
          <a:off x="582584" y="1385708"/>
          <a:ext cx="7992888" cy="2359152"/>
        </p:xfrm>
        <a:graphic>
          <a:graphicData uri="http://schemas.openxmlformats.org/drawingml/2006/table">
            <a:tbl>
              <a:tblPr/>
              <a:tblGrid>
                <a:gridCol w="296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eq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ne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不等于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gt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ge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lt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le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82777"/>
              </p:ext>
            </p:extLst>
          </p:nvPr>
        </p:nvGraphicFramePr>
        <p:xfrm>
          <a:off x="582584" y="3870900"/>
          <a:ext cx="7992888" cy="2359152"/>
        </p:xfrm>
        <a:graphic>
          <a:graphicData uri="http://schemas.openxmlformats.org/drawingml/2006/table">
            <a:tbl>
              <a:tblPr/>
              <a:tblGrid>
                <a:gridCol w="345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eq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ne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不等于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gt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ge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lt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le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2375693" y="6321899"/>
            <a:ext cx="4392613" cy="49244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zh-CN" altLang="en-US" sz="2600" b="0" dirty="0">
                <a:solidFill>
                  <a:schemeClr val="tx1"/>
                </a:solidFill>
                <a:ea typeface="华文新魏" pitchFamily="2" charset="-122"/>
              </a:rPr>
              <a:t>操作符两边必须留空格！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  <a:r>
              <a:rPr lang="en-US" altLang="zh-CN" dirty="0"/>
              <a:t>—</a:t>
            </a:r>
            <a:r>
              <a:rPr lang="zh-CN" altLang="en-US" dirty="0"/>
              <a:t>整数测试</a:t>
            </a:r>
          </a:p>
        </p:txBody>
      </p:sp>
      <p:graphicFrame>
        <p:nvGraphicFramePr>
          <p:cNvPr id="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40435"/>
              </p:ext>
            </p:extLst>
          </p:nvPr>
        </p:nvGraphicFramePr>
        <p:xfrm>
          <a:off x="539552" y="1844824"/>
          <a:ext cx="7992888" cy="2359152"/>
        </p:xfrm>
        <a:graphic>
          <a:graphicData uri="http://schemas.openxmlformats.org/drawingml/2006/table">
            <a:tbl>
              <a:tblPr/>
              <a:tblGrid>
                <a:gridCol w="296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==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!=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不等于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&gt;=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大于或等于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 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&lt;=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int2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int1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小于或等于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int2 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楷体_GB2312" pitchFamily="49" charset="-122"/>
                        </a:rPr>
                        <a:t>返回真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ourier New" pitchFamily="49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2339752" y="4797152"/>
            <a:ext cx="4392613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tx1"/>
                </a:solidFill>
                <a:ea typeface="华文新魏" pitchFamily="2" charset="-122"/>
              </a:rPr>
              <a:t>操作符两边</a:t>
            </a:r>
            <a:r>
              <a:rPr lang="zh-CN" altLang="en-US" sz="2800" dirty="0">
                <a:solidFill>
                  <a:schemeClr val="tx1"/>
                </a:solidFill>
                <a:ea typeface="华文新魏" pitchFamily="2" charset="-122"/>
              </a:rPr>
              <a:t>的</a:t>
            </a:r>
            <a:r>
              <a:rPr lang="zh-CN" altLang="en-US" sz="2800" b="0" dirty="0">
                <a:solidFill>
                  <a:schemeClr val="tx1"/>
                </a:solidFill>
                <a:ea typeface="华文新魏" pitchFamily="2" charset="-122"/>
              </a:rPr>
              <a:t>空格可省略！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2179" y="1225689"/>
            <a:ext cx="76222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400" dirty="0" smtClean="0">
                <a:solidFill>
                  <a:srgbClr val="0000FF"/>
                </a:solidFill>
              </a:rPr>
              <a:t>[xl@localhost ~]$ a=linux; b=unix; n=5; m=7</a:t>
            </a:r>
          </a:p>
          <a:p>
            <a:r>
              <a:rPr lang="pt-BR" altLang="zh-CN" sz="2400" dirty="0" smtClean="0">
                <a:solidFill>
                  <a:srgbClr val="0000FF"/>
                </a:solidFill>
              </a:rPr>
              <a:t>[</a:t>
            </a:r>
            <a:r>
              <a:rPr lang="pt-BR" altLang="zh-CN" sz="2400" dirty="0">
                <a:solidFill>
                  <a:srgbClr val="0000FF"/>
                </a:solidFill>
              </a:rPr>
              <a:t>xl@localhost ~]$ </a:t>
            </a:r>
            <a:r>
              <a:rPr lang="pt-BR" altLang="zh-CN" sz="2400" dirty="0" smtClean="0">
                <a:solidFill>
                  <a:srgbClr val="0000FF"/>
                </a:solidFill>
              </a:rPr>
              <a:t>[ </a:t>
            </a:r>
            <a:r>
              <a:rPr lang="pt-BR" altLang="zh-CN" sz="2400" dirty="0">
                <a:solidFill>
                  <a:srgbClr val="0000FF"/>
                </a:solidFill>
              </a:rPr>
              <a:t>$a != $b ]; echo $?</a:t>
            </a:r>
          </a:p>
          <a:p>
            <a:r>
              <a:rPr lang="pt-BR" altLang="zh-CN" sz="2400" dirty="0"/>
              <a:t>0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[xl@localhost ~]$ [[ $a != $b ]]; echo $?</a:t>
            </a:r>
          </a:p>
          <a:p>
            <a:r>
              <a:rPr lang="pt-BR" altLang="zh-CN" sz="2400" dirty="0"/>
              <a:t>0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[xl@localhost ~]$ [[ $n -gt $m ]]; echo $?</a:t>
            </a:r>
          </a:p>
          <a:p>
            <a:r>
              <a:rPr lang="pt-BR" altLang="zh-CN" sz="2400" dirty="0"/>
              <a:t>1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[xl@localhost ~]$ [ $n -gt $m ]; echo $?</a:t>
            </a:r>
          </a:p>
          <a:p>
            <a:r>
              <a:rPr lang="pt-BR" altLang="zh-CN" sz="2400" dirty="0"/>
              <a:t>1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[xl@localhost ~]$ (( n&gt;m )); echo $?</a:t>
            </a:r>
          </a:p>
          <a:p>
            <a:r>
              <a:rPr lang="pt-BR" altLang="zh-CN" sz="2400" dirty="0"/>
              <a:t>1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[xl@localhost ~]$ (( $n&gt;$m )); echo $?</a:t>
            </a:r>
          </a:p>
          <a:p>
            <a:r>
              <a:rPr lang="pt-BR" altLang="zh-CN" sz="2400" dirty="0"/>
              <a:t>1</a:t>
            </a:r>
          </a:p>
          <a:p>
            <a:r>
              <a:rPr lang="pt-BR" altLang="zh-CN" sz="2400" dirty="0" smtClean="0">
                <a:solidFill>
                  <a:srgbClr val="0000FF"/>
                </a:solidFill>
              </a:rPr>
              <a:t>[</a:t>
            </a:r>
            <a:r>
              <a:rPr lang="pt-BR" altLang="zh-CN" sz="2400" dirty="0">
                <a:solidFill>
                  <a:srgbClr val="0000FF"/>
                </a:solidFill>
              </a:rPr>
              <a:t>xl@localhost ~]$ [[ n&gt;m ]]; echo $?</a:t>
            </a:r>
          </a:p>
          <a:p>
            <a:r>
              <a:rPr lang="pt-BR" altLang="zh-CN" sz="2400" dirty="0" smtClean="0"/>
              <a:t>0</a:t>
            </a:r>
            <a:endParaRPr lang="pt-BR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600" y="1330010"/>
            <a:ext cx="733338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a=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linux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; b=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</a:rPr>
              <a:t>unix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</a:endParaRP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n=5 ; m=7</a:t>
            </a:r>
            <a:endParaRPr lang="zh-CN" altLang="en-US" sz="2400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71600" y="2189531"/>
            <a:ext cx="7333386" cy="46166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[ $a != $b ]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T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[[ $a != $b ]]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T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[ $n -</a:t>
            </a:r>
            <a:r>
              <a:rPr lang="en-US" altLang="zh-CN" sz="2100" b="1" dirty="0" err="1">
                <a:solidFill>
                  <a:srgbClr val="0000CC"/>
                </a:solidFill>
                <a:latin typeface="Courier New" pitchFamily="49" charset="0"/>
              </a:rPr>
              <a:t>gt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$m ]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T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[[ $n&gt;$m ]]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((n&gt;m))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(($n&gt;$m))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F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$ 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[[ n&gt;m ]]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&amp;&amp;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T </a:t>
            </a: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||</a:t>
            </a:r>
            <a:r>
              <a:rPr lang="en-US" altLang="zh-CN" sz="2100" b="1" dirty="0">
                <a:solidFill>
                  <a:srgbClr val="0000CC"/>
                </a:solidFill>
                <a:latin typeface="Courier New" pitchFamily="49" charset="0"/>
              </a:rPr>
              <a:t> echo F</a:t>
            </a:r>
          </a:p>
          <a:p>
            <a:pPr>
              <a:buClr>
                <a:srgbClr val="FF3300"/>
              </a:buClr>
            </a:pPr>
            <a:r>
              <a:rPr lang="en-US" altLang="zh-CN" sz="2100" b="1" dirty="0">
                <a:solidFill>
                  <a:srgbClr val="FF0000"/>
                </a:solidFill>
                <a:latin typeface="Courier New" pitchFamily="49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06313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</a:t>
            </a:r>
          </a:p>
        </p:txBody>
      </p: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683568" y="1484784"/>
            <a:ext cx="7924800" cy="5170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name=Tom;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-z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$?</a:t>
            </a:r>
          </a:p>
        </p:txBody>
      </p:sp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683568" y="2132856"/>
            <a:ext cx="7920037" cy="5170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name2=Andy;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name2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$?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3568" y="2852936"/>
            <a:ext cx="3888432" cy="12003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name=Tom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[</a:t>
            </a: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Tt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]??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$?</a:t>
            </a:r>
          </a:p>
        </p:txBody>
      </p:sp>
      <p:sp>
        <p:nvSpPr>
          <p:cNvPr id="10" name="Rectangle 28"/>
          <p:cNvSpPr>
            <a:spLocks noChangeArrowheads="1"/>
          </p:cNvSpPr>
          <p:nvPr/>
        </p:nvSpPr>
        <p:spPr bwMode="auto">
          <a:xfrm>
            <a:off x="4715172" y="2852936"/>
            <a:ext cx="3888433" cy="1200329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name=Tom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[[ $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=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 [</a:t>
            </a: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</a:rPr>
              <a:t>Tt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]??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]]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</a:rPr>
              <a:t>echo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$?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9552" y="5445224"/>
            <a:ext cx="3959225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方括号前后要留空格！</a:t>
            </a:r>
          </a:p>
        </p:txBody>
      </p:sp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683568" y="4221088"/>
            <a:ext cx="7920880" cy="4339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x=1;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$x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-</a:t>
            </a:r>
            <a:r>
              <a:rPr lang="en-US" altLang="zh-CN" sz="2400" b="1" dirty="0" err="1">
                <a:solidFill>
                  <a:srgbClr val="006600"/>
                </a:solidFill>
                <a:latin typeface="Courier New" pitchFamily="49" charset="0"/>
              </a:rPr>
              <a:t>eq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683568" y="4743345"/>
            <a:ext cx="7920880" cy="4339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x=a;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[ $x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-</a:t>
            </a:r>
            <a:r>
              <a:rPr lang="en-US" altLang="zh-CN" sz="2400" b="1" dirty="0" err="1">
                <a:solidFill>
                  <a:srgbClr val="006600"/>
                </a:solidFill>
                <a:latin typeface="Courier New" pitchFamily="49" charset="0"/>
              </a:rPr>
              <a:t>eq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en-US" altLang="zh-CN" sz="24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14" name="Text Box 35"/>
          <p:cNvSpPr txBox="1">
            <a:spLocks noChangeArrowheads="1"/>
          </p:cNvSpPr>
          <p:nvPr/>
        </p:nvSpPr>
        <p:spPr bwMode="auto">
          <a:xfrm>
            <a:off x="6332686" y="4503127"/>
            <a:ext cx="5826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5400" b="0" dirty="0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3950862" y="2981835"/>
            <a:ext cx="5826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5400" b="0" dirty="0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644380" y="5445224"/>
            <a:ext cx="3959225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[]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内不能使用通配符</a:t>
            </a:r>
            <a:r>
              <a:rPr lang="zh-CN" altLang="en-US" sz="2800" b="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！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23870CB-3796-488E-9CE2-F9D826E1E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555" y="6224403"/>
            <a:ext cx="3959225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[]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华文新魏" pitchFamily="2" charset="-122"/>
              </a:rPr>
              <a:t>内变量类型要正确</a:t>
            </a:r>
            <a:endParaRPr lang="zh-CN" altLang="en-US" sz="2800" b="0" dirty="0">
              <a:solidFill>
                <a:schemeClr val="tx1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条件测试</a:t>
            </a:r>
            <a:r>
              <a:rPr lang="en-US" altLang="zh-CN" dirty="0"/>
              <a:t>—</a:t>
            </a:r>
            <a:r>
              <a:rPr lang="zh-CN" altLang="en-US" dirty="0"/>
              <a:t>逻辑测试</a:t>
            </a:r>
          </a:p>
        </p:txBody>
      </p:sp>
      <p:graphicFrame>
        <p:nvGraphicFramePr>
          <p:cNvPr id="7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17456"/>
              </p:ext>
            </p:extLst>
          </p:nvPr>
        </p:nvGraphicFramePr>
        <p:xfrm>
          <a:off x="590872" y="3211678"/>
          <a:ext cx="8229600" cy="1368152"/>
        </p:xfrm>
        <a:graphic>
          <a:graphicData uri="http://schemas.openxmlformats.org/drawingml/2006/table">
            <a:tbl>
              <a:tblPr/>
              <a:tblGrid>
                <a:gridCol w="51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&amp;&amp;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与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||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或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pattern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非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131235"/>
              </p:ext>
            </p:extLst>
          </p:nvPr>
        </p:nvGraphicFramePr>
        <p:xfrm>
          <a:off x="590872" y="1627502"/>
          <a:ext cx="8209160" cy="1369450"/>
        </p:xfrm>
        <a:graphic>
          <a:graphicData uri="http://schemas.openxmlformats.org/drawingml/2006/table">
            <a:tbl>
              <a:tblPr/>
              <a:tblGrid>
                <a:gridCol w="3468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a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与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，都为真时，结果为真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-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o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或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，有一个为真时，结果为真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[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非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171032"/>
              </p:ext>
            </p:extLst>
          </p:nvPr>
        </p:nvGraphicFramePr>
        <p:xfrm>
          <a:off x="591120" y="4795854"/>
          <a:ext cx="8209160" cy="1369450"/>
        </p:xfrm>
        <a:graphic>
          <a:graphicData uri="http://schemas.openxmlformats.org/drawingml/2006/table">
            <a:tbl>
              <a:tblPr/>
              <a:tblGrid>
                <a:gridCol w="518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+mn-cs"/>
                        </a:rPr>
                        <a:t>((</a:t>
                      </a:r>
                      <a:r>
                        <a:rPr kumimoji="1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+mn-cs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&amp;&amp;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与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||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或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!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expr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))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逻辑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非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条件测试举例（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539130" y="3750156"/>
            <a:ext cx="7992888" cy="4616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[[ 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=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&amp;&amp;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 $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name 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To?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]]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538708" y="1445875"/>
            <a:ext cx="7993310" cy="446276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x=1; name=Tom;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[ 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-</a:t>
            </a:r>
            <a:r>
              <a:rPr lang="en-US" altLang="zh-CN" sz="2000" b="1" dirty="0" err="1">
                <a:solidFill>
                  <a:srgbClr val="006600"/>
                </a:solidFill>
                <a:latin typeface="Courier New" pitchFamily="49" charset="0"/>
              </a:rPr>
              <a:t>eq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–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a –n $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9" name="Rectangle 44"/>
          <p:cNvSpPr>
            <a:spLocks noChangeArrowheads="1"/>
          </p:cNvSpPr>
          <p:nvPr/>
        </p:nvSpPr>
        <p:spPr bwMode="auto">
          <a:xfrm>
            <a:off x="538708" y="2598028"/>
            <a:ext cx="2749471" cy="40011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ea typeface="黑体" pitchFamily="2" charset="-122"/>
              </a:rPr>
              <a:t>注：不能随便添加括号</a:t>
            </a:r>
          </a:p>
        </p:txBody>
      </p:sp>
      <p:sp>
        <p:nvSpPr>
          <p:cNvPr id="10" name="Rectangle 45"/>
          <p:cNvSpPr>
            <a:spLocks noChangeArrowheads="1"/>
          </p:cNvSpPr>
          <p:nvPr/>
        </p:nvSpPr>
        <p:spPr bwMode="auto">
          <a:xfrm>
            <a:off x="538708" y="3101960"/>
            <a:ext cx="7993310" cy="4616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[</a:t>
            </a:r>
            <a:r>
              <a:rPr lang="en-US" altLang="zh-CN" sz="2000" b="1" dirty="0">
                <a:solidFill>
                  <a:srgbClr val="006600"/>
                </a:solidFill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(</a:t>
            </a:r>
            <a:r>
              <a:rPr lang="en-US" altLang="zh-CN" sz="2000" b="1" dirty="0">
                <a:solidFill>
                  <a:srgbClr val="006600"/>
                </a:solidFill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-</a:t>
            </a:r>
            <a:r>
              <a:rPr lang="en-US" altLang="zh-CN" sz="2000" b="1" dirty="0" err="1">
                <a:solidFill>
                  <a:srgbClr val="006600"/>
                </a:solidFill>
                <a:latin typeface="Courier New" pitchFamily="49" charset="0"/>
              </a:rPr>
              <a:t>eq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</a:t>
            </a:r>
            <a:r>
              <a:rPr lang="en-US" altLang="zh-CN" sz="2000" b="1" dirty="0">
                <a:solidFill>
                  <a:srgbClr val="006600"/>
                </a:solidFill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)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–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a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(</a:t>
            </a:r>
            <a:r>
              <a:rPr lang="en-US" altLang="zh-CN" sz="2000" b="1" dirty="0">
                <a:solidFill>
                  <a:srgbClr val="006600"/>
                </a:solidFill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–n $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name</a:t>
            </a:r>
            <a:r>
              <a:rPr lang="en-US" altLang="zh-CN" sz="2000" b="1" dirty="0">
                <a:solidFill>
                  <a:srgbClr val="006600"/>
                </a:solidFill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)</a:t>
            </a:r>
            <a:r>
              <a:rPr lang="zh-CN" altLang="en-US" sz="2000" b="1" dirty="0">
                <a:solidFill>
                  <a:srgbClr val="006600"/>
                </a:solidFill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]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11" name="Text Box 46"/>
          <p:cNvSpPr txBox="1">
            <a:spLocks noChangeArrowheads="1"/>
          </p:cNvSpPr>
          <p:nvPr/>
        </p:nvSpPr>
        <p:spPr bwMode="auto">
          <a:xfrm>
            <a:off x="7523906" y="2886060"/>
            <a:ext cx="58261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5400" b="0" dirty="0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539130" y="4872642"/>
            <a:ext cx="7992888" cy="4616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(( 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==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&amp;&amp;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 $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name 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To?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))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539130" y="4358133"/>
            <a:ext cx="3743332" cy="40011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ea typeface="黑体" pitchFamily="2" charset="-122"/>
              </a:rPr>
              <a:t>注：不能</a:t>
            </a:r>
            <a:r>
              <a:rPr lang="zh-CN" altLang="en-US" sz="2000" dirty="0">
                <a:ea typeface="黑体" pitchFamily="2" charset="-122"/>
              </a:rPr>
              <a:t>在 </a:t>
            </a:r>
            <a:r>
              <a:rPr lang="en-US" altLang="zh-CN" sz="2000" dirty="0">
                <a:ea typeface="黑体" pitchFamily="2" charset="-122"/>
              </a:rPr>
              <a:t>(()) </a:t>
            </a:r>
            <a:r>
              <a:rPr lang="zh-CN" altLang="en-US" sz="2000" dirty="0">
                <a:ea typeface="黑体" pitchFamily="2" charset="-122"/>
              </a:rPr>
              <a:t>中做字符串比较</a:t>
            </a:r>
            <a:endParaRPr lang="zh-CN" altLang="en-US" sz="2000" b="0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539130" y="5478323"/>
            <a:ext cx="7992888" cy="830997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(( 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==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))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&amp;&amp;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 [[ $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name 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 To?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]]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000" b="1" dirty="0">
                <a:latin typeface="Courier New" pitchFamily="49" charset="0"/>
              </a:rPr>
              <a:t>此处的 </a:t>
            </a:r>
            <a:r>
              <a:rPr lang="en-US" altLang="zh-CN" sz="2000" b="1" dirty="0">
                <a:latin typeface="Courier New" pitchFamily="49" charset="0"/>
              </a:rPr>
              <a:t>&amp;&amp; </a:t>
            </a:r>
            <a:r>
              <a:rPr lang="zh-CN" altLang="en-US" sz="2000" b="1" dirty="0">
                <a:latin typeface="Courier New" pitchFamily="49" charset="0"/>
              </a:rPr>
              <a:t>并非逻辑运算符，而是命令聚合（</a:t>
            </a:r>
            <a:r>
              <a:rPr lang="en-US" altLang="zh-CN" sz="2000" b="1" dirty="0">
                <a:latin typeface="Courier New" pitchFamily="49" charset="0"/>
              </a:rPr>
              <a:t>Command Group</a:t>
            </a:r>
            <a:r>
              <a:rPr lang="zh-CN" altLang="en-US" sz="2000" b="1" dirty="0">
                <a:latin typeface="Courier New" pitchFamily="49" charset="0"/>
              </a:rPr>
              <a:t>）</a:t>
            </a:r>
            <a:endParaRPr lang="en-US" altLang="zh-CN" sz="2000" b="1" dirty="0">
              <a:latin typeface="Courier New" pitchFamily="49" charset="0"/>
            </a:endParaRPr>
          </a:p>
        </p:txBody>
      </p:sp>
      <p:sp>
        <p:nvSpPr>
          <p:cNvPr id="15" name="Text Box 46"/>
          <p:cNvSpPr txBox="1">
            <a:spLocks noChangeArrowheads="1"/>
          </p:cNvSpPr>
          <p:nvPr/>
        </p:nvSpPr>
        <p:spPr bwMode="auto">
          <a:xfrm>
            <a:off x="7595914" y="4635931"/>
            <a:ext cx="58261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5400" b="0" dirty="0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539130" y="2007711"/>
            <a:ext cx="7993310" cy="4616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pt-BR" altLang="zh-CN" sz="2000" b="1" dirty="0">
                <a:solidFill>
                  <a:srgbClr val="0000CC"/>
                </a:solidFill>
                <a:latin typeface="Courier New" pitchFamily="49" charset="0"/>
              </a:rPr>
              <a:t>[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$x</a:t>
            </a:r>
            <a:r>
              <a:rPr lang="en-US" altLang="zh-CN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</a:rPr>
              <a:t>-</a:t>
            </a:r>
            <a:r>
              <a:rPr lang="en-US" altLang="zh-CN" sz="2000" b="1" dirty="0" err="1">
                <a:solidFill>
                  <a:srgbClr val="006600"/>
                </a:solidFill>
                <a:latin typeface="Courier New" pitchFamily="49" charset="0"/>
              </a:rPr>
              <a:t>eq</a:t>
            </a:r>
            <a:r>
              <a:rPr lang="en-US" altLang="zh-CN" sz="2000" b="1" dirty="0"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</a:rPr>
              <a:t>1 </a:t>
            </a:r>
            <a:r>
              <a:rPr lang="pt-BR" altLang="zh-CN" sz="2000" b="1" dirty="0">
                <a:solidFill>
                  <a:srgbClr val="0000CC"/>
                </a:solidFill>
                <a:latin typeface="Courier New" pitchFamily="49" charset="0"/>
              </a:rPr>
              <a:t>-a \( -f "$FN" -o -d "$FN" \) ]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</a:rPr>
              <a:t>;</a:t>
            </a:r>
            <a:r>
              <a:rPr lang="zh-CN" altLang="en-US" sz="20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</a:rPr>
              <a:t>echo $?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1824" y="1484784"/>
            <a:ext cx="7772400" cy="4114800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dirty="0"/>
              <a:t>分支</a:t>
            </a:r>
            <a:endParaRPr lang="en-US" altLang="zh-CN" dirty="0"/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if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条件语句</a:t>
            </a:r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case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选择语句</a:t>
            </a:r>
          </a:p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q"/>
            </a:pPr>
            <a:r>
              <a:rPr lang="zh-CN" altLang="en-US" dirty="0"/>
              <a:t>循环</a:t>
            </a:r>
            <a:endParaRPr lang="en-US" altLang="zh-CN" dirty="0"/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for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循环语句</a:t>
            </a:r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while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循环语句</a:t>
            </a:r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until</a:t>
            </a:r>
            <a:r>
              <a:rPr lang="en-US" altLang="zh-CN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循环语句</a:t>
            </a:r>
          </a:p>
          <a:p>
            <a:pPr lvl="1">
              <a:lnSpc>
                <a:spcPct val="120000"/>
              </a:lnSpc>
              <a:buClr>
                <a:srgbClr val="FF3300"/>
              </a:buClr>
            </a:pPr>
            <a:r>
              <a:rPr lang="zh-CN" altLang="en-US" b="1" dirty="0">
                <a:solidFill>
                  <a:srgbClr val="0000CC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  <a:latin typeface="Courier New" pitchFamily="49" charset="0"/>
              </a:rPr>
              <a:t>select</a:t>
            </a:r>
            <a:r>
              <a:rPr lang="zh-CN" altLang="en-US" b="1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循环与菜单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765333" y="1484784"/>
            <a:ext cx="4114800" cy="3782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defTabSz="914400" eaLnBrk="0" latinLnBrk="0" hangingPunct="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lang="zh-CN" altLang="en-US" sz="3200" dirty="0">
                <a:latin typeface="Tahoma" panose="020B0604030504040204" pitchFamily="34" charset="0"/>
                <a:ea typeface="楷体_GB2312"/>
              </a:rPr>
              <a:t>循环控制</a:t>
            </a:r>
            <a:endParaRPr lang="en-US" altLang="zh-CN" sz="3200" dirty="0">
              <a:latin typeface="Tahoma" panose="020B0604030504040204" pitchFamily="34" charset="0"/>
              <a:ea typeface="楷体_GB2312"/>
            </a:endParaRPr>
          </a:p>
          <a:p>
            <a:pPr marL="801687" lvl="1" indent="-4572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 b="1" kern="0" dirty="0">
                <a:solidFill>
                  <a:srgbClr val="0000CC"/>
                </a:solidFill>
                <a:latin typeface="+mn-lt"/>
                <a:ea typeface="+mn-ea"/>
              </a:rPr>
              <a:t>break</a:t>
            </a:r>
            <a:r>
              <a:rPr lang="en-US" altLang="zh-CN" sz="2800" kern="0" dirty="0">
                <a:solidFill>
                  <a:srgbClr val="0000CC"/>
                </a:solidFill>
                <a:latin typeface="+mn-lt"/>
                <a:ea typeface="+mn-ea"/>
              </a:rPr>
              <a:t>  </a:t>
            </a:r>
            <a:r>
              <a:rPr lang="zh-CN" altLang="en-US" sz="2800" kern="0" dirty="0">
                <a:solidFill>
                  <a:srgbClr val="0000CC"/>
                </a:solidFill>
                <a:latin typeface="+mn-lt"/>
                <a:ea typeface="+mn-ea"/>
              </a:rPr>
              <a:t>语句</a:t>
            </a:r>
          </a:p>
          <a:p>
            <a:pPr marL="801687" lvl="1" indent="-4572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 b="1" kern="0" dirty="0">
                <a:solidFill>
                  <a:srgbClr val="0000CC"/>
                </a:solidFill>
                <a:latin typeface="+mn-lt"/>
                <a:ea typeface="+mn-ea"/>
              </a:rPr>
              <a:t>continue</a:t>
            </a:r>
            <a:r>
              <a:rPr lang="en-US" altLang="zh-CN" sz="2800" kern="0" dirty="0">
                <a:solidFill>
                  <a:srgbClr val="0000CC"/>
                </a:solidFill>
                <a:latin typeface="+mn-lt"/>
                <a:ea typeface="+mn-ea"/>
              </a:rPr>
              <a:t> </a:t>
            </a:r>
            <a:r>
              <a:rPr lang="zh-CN" altLang="en-US" sz="2800" kern="0" dirty="0">
                <a:solidFill>
                  <a:srgbClr val="0000CC"/>
                </a:solidFill>
                <a:latin typeface="+mn-lt"/>
                <a:ea typeface="+mn-ea"/>
              </a:rPr>
              <a:t> 语句</a:t>
            </a:r>
            <a:endParaRPr lang="en-US" altLang="zh-CN" sz="2800" kern="0" dirty="0">
              <a:solidFill>
                <a:srgbClr val="0000CC"/>
              </a:solidFill>
              <a:latin typeface="+mn-lt"/>
              <a:ea typeface="+mn-ea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itchFamily="2" charset="2"/>
              <a:buChar char="q"/>
              <a:defRPr/>
            </a:pPr>
            <a:r>
              <a:rPr lang="zh-CN" altLang="en-US" sz="3200" dirty="0">
                <a:latin typeface="Tahoma" panose="020B0604030504040204" pitchFamily="34" charset="0"/>
                <a:ea typeface="楷体_GB2312"/>
              </a:rPr>
              <a:t>位置参数处理</a:t>
            </a:r>
            <a:endParaRPr lang="en-US" altLang="zh-CN" sz="3200" dirty="0">
              <a:latin typeface="Tahoma" panose="020B0604030504040204" pitchFamily="34" charset="0"/>
              <a:ea typeface="楷体_GB2312"/>
            </a:endParaRPr>
          </a:p>
          <a:p>
            <a:pPr marL="801687" lvl="1" indent="-4572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Char char="l"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lang="en-US" altLang="zh-CN" sz="2800" b="1" kern="0" dirty="0">
                <a:solidFill>
                  <a:srgbClr val="0000CC"/>
                </a:solidFill>
                <a:latin typeface="+mn-lt"/>
                <a:ea typeface="+mn-ea"/>
              </a:rPr>
              <a:t>shift</a:t>
            </a:r>
            <a:r>
              <a:rPr lang="en-US" altLang="zh-CN" sz="2800" kern="0" dirty="0">
                <a:solidFill>
                  <a:srgbClr val="0000CC"/>
                </a:solidFill>
                <a:latin typeface="+mn-lt"/>
                <a:ea typeface="+mn-ea"/>
              </a:rPr>
              <a:t>  </a:t>
            </a:r>
            <a:r>
              <a:rPr lang="zh-CN" altLang="en-US" sz="2800" kern="0" dirty="0">
                <a:solidFill>
                  <a:srgbClr val="0000CC"/>
                </a:solidFill>
                <a:latin typeface="+mn-lt"/>
                <a:ea typeface="+mn-ea"/>
              </a:rPr>
              <a:t>命令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  <a:p>
            <a:pPr marL="801687" lvl="1" indent="-4572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Char char="l"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00CC"/>
                </a:solidFill>
                <a:latin typeface="+mn-lt"/>
                <a:ea typeface="+mn-ea"/>
              </a:rPr>
              <a:t>getopts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lang="zh-CN" altLang="en-US" sz="2800" kern="0" dirty="0">
                <a:solidFill>
                  <a:srgbClr val="0000CC"/>
                </a:solidFill>
                <a:latin typeface="+mn-lt"/>
                <a:ea typeface="+mn-ea"/>
              </a:rPr>
              <a:t>命令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02891" y="2132856"/>
            <a:ext cx="7873565" cy="4127500"/>
          </a:xfrm>
          <a:prstGeom prst="rect">
            <a:avLst/>
          </a:prstGeom>
          <a:noFill/>
          <a:ln w="19050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if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expr1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    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如果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为真(返回值为0)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then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那么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commands1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commands1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elif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expr2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  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不真，而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expr2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为真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then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那么</a:t>
            </a:r>
            <a:endParaRPr lang="en-US" altLang="zh-CN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commands2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commands2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... ...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可以有多个 </a:t>
            </a:r>
            <a:r>
              <a:rPr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elif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语句 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else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else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最多只能有一个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commands4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commands4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fi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if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语句必须以单词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fi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终止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CBDCC8-907F-4C6B-9812-7E44EB32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91" y="1371600"/>
            <a:ext cx="7538218" cy="4114800"/>
          </a:xfrm>
        </p:spPr>
        <p:txBody>
          <a:bodyPr/>
          <a:lstStyle/>
          <a:p>
            <a:r>
              <a:rPr lang="en-US" altLang="zh-CN" sz="3600" dirty="0"/>
              <a:t>if</a:t>
            </a:r>
            <a:r>
              <a:rPr lang="zh-CN" altLang="en-US" sz="3600" dirty="0"/>
              <a:t>语句语法</a:t>
            </a:r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43608" y="4608090"/>
            <a:ext cx="714948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commands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为可执行语句块，如果为空，需使用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shell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提供的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空命令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“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”，即冒号。该命令不做任何事情，只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返回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一个退出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状态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043608" y="5905078"/>
            <a:ext cx="6480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if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语句可以嵌套使用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43608" y="2085553"/>
            <a:ext cx="6337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elif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可以有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任意多个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（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个或多个）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591965"/>
            <a:ext cx="64087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else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</a:rPr>
              <a:t>最多只能有一个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（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个或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 个）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1043608" y="3096790"/>
            <a:ext cx="5111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if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语句必须以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fi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表示结束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043608" y="3671465"/>
            <a:ext cx="7149480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expr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黑体" pitchFamily="2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黑体" pitchFamily="2" charset="-122"/>
              </a:rPr>
              <a:t>通常为条件测试表达式；也可以是多个命令，以最后一个命令的退出状态为条件值。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50BC13DB-1A6B-4868-9EE2-8FE328AA7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91" y="1371600"/>
            <a:ext cx="7538218" cy="543396"/>
          </a:xfrm>
        </p:spPr>
        <p:txBody>
          <a:bodyPr/>
          <a:lstStyle/>
          <a:p>
            <a:r>
              <a:rPr lang="en-US" altLang="zh-CN" sz="3600" dirty="0"/>
              <a:t>if</a:t>
            </a:r>
            <a:r>
              <a:rPr lang="zh-CN" altLang="en-US" sz="3600" dirty="0"/>
              <a:t>语句说明</a:t>
            </a:r>
            <a:endParaRPr lang="zh-CN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1063" y="2076732"/>
            <a:ext cx="7351974" cy="4114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单分支</a:t>
            </a:r>
            <a:r>
              <a:rPr lang="zh-CN" altLang="en-US" dirty="0"/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当“条件成立”时执行相应的操作</a:t>
            </a:r>
          </a:p>
        </p:txBody>
      </p:sp>
      <p:grpSp>
        <p:nvGrpSpPr>
          <p:cNvPr id="7" name="Group 76"/>
          <p:cNvGrpSpPr>
            <a:grpSpLocks/>
          </p:cNvGrpSpPr>
          <p:nvPr/>
        </p:nvGrpSpPr>
        <p:grpSpPr bwMode="auto">
          <a:xfrm>
            <a:off x="539552" y="3341109"/>
            <a:ext cx="8064896" cy="2880319"/>
            <a:chOff x="701" y="2308"/>
            <a:chExt cx="4356" cy="1454"/>
          </a:xfrm>
        </p:grpSpPr>
        <p:sp>
          <p:nvSpPr>
            <p:cNvPr id="8" name="AutoShape 59"/>
            <p:cNvSpPr>
              <a:spLocks noChangeArrowheads="1"/>
            </p:cNvSpPr>
            <p:nvPr/>
          </p:nvSpPr>
          <p:spPr bwMode="auto">
            <a:xfrm>
              <a:off x="3774" y="3002"/>
              <a:ext cx="1036" cy="306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60"/>
            <p:cNvSpPr>
              <a:spLocks noChangeShapeType="1"/>
            </p:cNvSpPr>
            <p:nvPr/>
          </p:nvSpPr>
          <p:spPr bwMode="auto">
            <a:xfrm>
              <a:off x="1682" y="2536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0" name="AutoShape 61"/>
            <p:cNvSpPr>
              <a:spLocks noChangeArrowheads="1"/>
            </p:cNvSpPr>
            <p:nvPr/>
          </p:nvSpPr>
          <p:spPr bwMode="auto">
            <a:xfrm>
              <a:off x="948" y="2872"/>
              <a:ext cx="1470" cy="551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Text Box 62"/>
            <p:cNvSpPr txBox="1">
              <a:spLocks noChangeArrowheads="1"/>
            </p:cNvSpPr>
            <p:nvPr/>
          </p:nvSpPr>
          <p:spPr bwMode="auto">
            <a:xfrm>
              <a:off x="1063" y="3026"/>
              <a:ext cx="1273" cy="2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if </a:t>
              </a:r>
              <a:r>
                <a:rPr lang="en-US" altLang="zh-CN" sz="2000" b="1">
                  <a:ea typeface="楷体_GB2312" pitchFamily="49" charset="-122"/>
                </a:rPr>
                <a:t> </a:t>
              </a:r>
              <a:r>
                <a:rPr lang="zh-CN" altLang="en-US" sz="2000" b="1">
                  <a:ea typeface="楷体_GB2312" pitchFamily="49" charset="-122"/>
                </a:rPr>
                <a:t>条件测试命令</a:t>
              </a:r>
            </a:p>
          </p:txBody>
        </p:sp>
        <p:sp>
          <p:nvSpPr>
            <p:cNvPr id="12" name="AutoShape 63"/>
            <p:cNvSpPr>
              <a:spLocks noChangeArrowheads="1"/>
            </p:cNvSpPr>
            <p:nvPr/>
          </p:nvSpPr>
          <p:spPr bwMode="auto">
            <a:xfrm>
              <a:off x="2785" y="2365"/>
              <a:ext cx="1041" cy="306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" name="Text Box 64"/>
            <p:cNvSpPr txBox="1">
              <a:spLocks noChangeArrowheads="1"/>
            </p:cNvSpPr>
            <p:nvPr/>
          </p:nvSpPr>
          <p:spPr bwMode="auto">
            <a:xfrm>
              <a:off x="2805" y="2413"/>
              <a:ext cx="1013" cy="2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 b="1" dirty="0">
                  <a:ea typeface="楷体_GB2312" pitchFamily="49" charset="-122"/>
                </a:rPr>
                <a:t>命令序列</a:t>
              </a:r>
              <a:r>
                <a:rPr lang="en-US" altLang="zh-CN" sz="2000" b="1" dirty="0">
                  <a:ea typeface="楷体_GB2312" pitchFamily="49" charset="-122"/>
                </a:rPr>
                <a:t>…</a:t>
              </a:r>
            </a:p>
          </p:txBody>
        </p:sp>
        <p:sp>
          <p:nvSpPr>
            <p:cNvPr id="14" name="Text Box 65"/>
            <p:cNvSpPr txBox="1">
              <a:spLocks noChangeArrowheads="1"/>
            </p:cNvSpPr>
            <p:nvPr/>
          </p:nvSpPr>
          <p:spPr bwMode="auto">
            <a:xfrm>
              <a:off x="3890" y="3051"/>
              <a:ext cx="867" cy="2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dirty="0" err="1">
                  <a:solidFill>
                    <a:srgbClr val="FF0000"/>
                  </a:solidFill>
                  <a:ea typeface="楷体_GB2312" pitchFamily="49" charset="-122"/>
                </a:rPr>
                <a:t>fi</a:t>
              </a:r>
              <a:r>
                <a:rPr lang="en-US" altLang="zh-CN" sz="2000" b="1" dirty="0">
                  <a:ea typeface="楷体_GB2312" pitchFamily="49" charset="-122"/>
                </a:rPr>
                <a:t>  </a:t>
              </a:r>
              <a:r>
                <a:rPr lang="zh-CN" altLang="en-US" sz="2000" b="1" dirty="0">
                  <a:ea typeface="楷体_GB2312" pitchFamily="49" charset="-122"/>
                </a:rPr>
                <a:t>结束判断</a:t>
              </a:r>
            </a:p>
          </p:txBody>
        </p:sp>
        <p:sp>
          <p:nvSpPr>
            <p:cNvPr id="15" name="Line 66"/>
            <p:cNvSpPr>
              <a:spLocks noChangeShapeType="1"/>
            </p:cNvSpPr>
            <p:nvPr/>
          </p:nvSpPr>
          <p:spPr bwMode="auto">
            <a:xfrm>
              <a:off x="1682" y="2536"/>
              <a:ext cx="1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6" name="Line 67"/>
            <p:cNvSpPr>
              <a:spLocks noChangeShapeType="1"/>
            </p:cNvSpPr>
            <p:nvPr/>
          </p:nvSpPr>
          <p:spPr bwMode="auto">
            <a:xfrm>
              <a:off x="3826" y="2536"/>
              <a:ext cx="5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7" name="Line 68"/>
            <p:cNvSpPr>
              <a:spLocks noChangeShapeType="1"/>
            </p:cNvSpPr>
            <p:nvPr/>
          </p:nvSpPr>
          <p:spPr bwMode="auto">
            <a:xfrm>
              <a:off x="4377" y="2536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8" name="Line 69"/>
            <p:cNvSpPr>
              <a:spLocks noChangeShapeType="1"/>
            </p:cNvSpPr>
            <p:nvPr/>
          </p:nvSpPr>
          <p:spPr bwMode="auto">
            <a:xfrm flipV="1">
              <a:off x="4377" y="3333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9" name="Text Box 70"/>
            <p:cNvSpPr txBox="1">
              <a:spLocks noChangeArrowheads="1"/>
            </p:cNvSpPr>
            <p:nvPr/>
          </p:nvSpPr>
          <p:spPr bwMode="auto">
            <a:xfrm>
              <a:off x="1605" y="2308"/>
              <a:ext cx="1041" cy="2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ea typeface="楷体_GB2312" pitchFamily="49" charset="-122"/>
                </a:rPr>
                <a:t>条件为真  </a:t>
              </a:r>
              <a:r>
                <a:rPr lang="en-US" altLang="zh-CN" sz="2000" b="1" dirty="0">
                  <a:solidFill>
                    <a:srgbClr val="FF0000"/>
                  </a:solidFill>
                  <a:ea typeface="楷体_GB2312" pitchFamily="49" charset="-122"/>
                </a:rPr>
                <a:t>then</a:t>
              </a:r>
            </a:p>
          </p:txBody>
        </p:sp>
        <p:sp>
          <p:nvSpPr>
            <p:cNvPr id="20" name="Line 71"/>
            <p:cNvSpPr>
              <a:spLocks noChangeShapeType="1"/>
            </p:cNvSpPr>
            <p:nvPr/>
          </p:nvSpPr>
          <p:spPr bwMode="auto">
            <a:xfrm>
              <a:off x="1682" y="3762"/>
              <a:ext cx="26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21" name="Text Box 72"/>
            <p:cNvSpPr txBox="1">
              <a:spLocks noChangeArrowheads="1"/>
            </p:cNvSpPr>
            <p:nvPr/>
          </p:nvSpPr>
          <p:spPr bwMode="auto">
            <a:xfrm>
              <a:off x="1622" y="3524"/>
              <a:ext cx="1040" cy="2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条件为假</a:t>
              </a:r>
            </a:p>
          </p:txBody>
        </p:sp>
        <p:sp>
          <p:nvSpPr>
            <p:cNvPr id="22" name="Line 73"/>
            <p:cNvSpPr>
              <a:spLocks noChangeShapeType="1"/>
            </p:cNvSpPr>
            <p:nvPr/>
          </p:nvSpPr>
          <p:spPr bwMode="auto">
            <a:xfrm>
              <a:off x="701" y="3149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23" name="Line 74"/>
            <p:cNvSpPr>
              <a:spLocks noChangeShapeType="1"/>
            </p:cNvSpPr>
            <p:nvPr/>
          </p:nvSpPr>
          <p:spPr bwMode="auto">
            <a:xfrm>
              <a:off x="4813" y="3149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AFB9AC8-5101-47CE-A0CB-ADC5304A8C84}"/>
              </a:ext>
            </a:extLst>
          </p:cNvPr>
          <p:cNvSpPr txBox="1"/>
          <p:nvPr/>
        </p:nvSpPr>
        <p:spPr>
          <a:xfrm>
            <a:off x="611560" y="136884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 if </a:t>
            </a:r>
            <a:r>
              <a:rPr lang="zh-CN" altLang="en-US" sz="4000" b="1" dirty="0">
                <a:solidFill>
                  <a:schemeClr val="accent6">
                    <a:lumMod val="75000"/>
                  </a:schemeClr>
                </a:solidFill>
              </a:rPr>
              <a:t>语句流程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720840"/>
            <a:ext cx="8280920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areyouok.sh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"Are you OK ?"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read answer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#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 if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的条件判断部分使用扩展的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 test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语句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 [[...]]</a:t>
            </a:r>
            <a:endParaRPr lang="zh-CN" altLang="zh-CN" sz="24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#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 [[]]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中可以使用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shell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的通配符进行条件匹配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[[ $answer==[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Yy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]* || $answer==[Mm]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aybe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]]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"Glad to hear it."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7320" y="2094258"/>
            <a:ext cx="7475120" cy="4114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双分支</a:t>
            </a:r>
            <a:r>
              <a:rPr lang="zh-CN" altLang="en-US" dirty="0"/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当“条件成立”、“条件不成立”时分别执行不同操作</a:t>
            </a: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647564" y="3395971"/>
            <a:ext cx="7848872" cy="3250276"/>
            <a:chOff x="613" y="2326"/>
            <a:chExt cx="4490" cy="1706"/>
          </a:xfrm>
        </p:grpSpPr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1625" y="2561"/>
              <a:ext cx="0" cy="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9" name="AutoShape 31"/>
            <p:cNvSpPr>
              <a:spLocks noChangeArrowheads="1"/>
            </p:cNvSpPr>
            <p:nvPr/>
          </p:nvSpPr>
          <p:spPr bwMode="auto">
            <a:xfrm>
              <a:off x="868" y="2908"/>
              <a:ext cx="1515" cy="567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Text Box 32"/>
            <p:cNvSpPr txBox="1">
              <a:spLocks noChangeArrowheads="1"/>
            </p:cNvSpPr>
            <p:nvPr/>
          </p:nvSpPr>
          <p:spPr bwMode="auto">
            <a:xfrm>
              <a:off x="986" y="3066"/>
              <a:ext cx="131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if </a:t>
              </a:r>
              <a:r>
                <a:rPr lang="en-US" altLang="zh-CN" sz="2000" b="1">
                  <a:ea typeface="楷体_GB2312" pitchFamily="49" charset="-122"/>
                </a:rPr>
                <a:t> </a:t>
              </a:r>
              <a:r>
                <a:rPr lang="zh-CN" altLang="en-US" sz="2000" b="1">
                  <a:ea typeface="楷体_GB2312" pitchFamily="49" charset="-122"/>
                </a:rPr>
                <a:t>条件测试命令</a:t>
              </a:r>
            </a:p>
          </p:txBody>
        </p:sp>
        <p:sp>
          <p:nvSpPr>
            <p:cNvPr id="11" name="AutoShape 33"/>
            <p:cNvSpPr>
              <a:spLocks noChangeArrowheads="1"/>
            </p:cNvSpPr>
            <p:nvPr/>
          </p:nvSpPr>
          <p:spPr bwMode="auto">
            <a:xfrm>
              <a:off x="2761" y="2384"/>
              <a:ext cx="1073" cy="316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2" name="Text Box 34"/>
            <p:cNvSpPr txBox="1">
              <a:spLocks noChangeArrowheads="1"/>
            </p:cNvSpPr>
            <p:nvPr/>
          </p:nvSpPr>
          <p:spPr bwMode="auto">
            <a:xfrm>
              <a:off x="2782" y="2435"/>
              <a:ext cx="10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命令序列</a:t>
              </a:r>
              <a:r>
                <a:rPr lang="en-US" altLang="zh-CN" sz="2000" b="1">
                  <a:ea typeface="楷体_GB2312" pitchFamily="49" charset="-122"/>
                </a:rPr>
                <a:t>1…</a:t>
              </a:r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1625" y="2561"/>
              <a:ext cx="11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3834" y="2561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>
              <a:off x="4402" y="2561"/>
              <a:ext cx="0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6" name="Line 38"/>
            <p:cNvSpPr>
              <a:spLocks noChangeShapeType="1"/>
            </p:cNvSpPr>
            <p:nvPr/>
          </p:nvSpPr>
          <p:spPr bwMode="auto">
            <a:xfrm flipV="1">
              <a:off x="4402" y="3382"/>
              <a:ext cx="0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1545" y="2326"/>
              <a:ext cx="1073" cy="4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ea typeface="楷体_GB2312" pitchFamily="49" charset="-122"/>
                </a:rPr>
                <a:t>条件为真</a:t>
              </a:r>
              <a:endParaRPr lang="en-US" altLang="zh-CN" sz="2000" b="1" dirty="0">
                <a:ea typeface="楷体_GB2312" pitchFamily="49" charset="-122"/>
              </a:endParaRPr>
            </a:p>
            <a:p>
              <a:pPr algn="r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ea typeface="楷体_GB2312" pitchFamily="49" charset="-122"/>
                </a:rPr>
                <a:t>then</a:t>
              </a:r>
            </a:p>
          </p:txBody>
        </p:sp>
        <p:sp>
          <p:nvSpPr>
            <p:cNvPr id="18" name="Line 40"/>
            <p:cNvSpPr>
              <a:spLocks noChangeShapeType="1"/>
            </p:cNvSpPr>
            <p:nvPr/>
          </p:nvSpPr>
          <p:spPr bwMode="auto">
            <a:xfrm>
              <a:off x="1625" y="3825"/>
              <a:ext cx="11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19" name="Line 41"/>
            <p:cNvSpPr>
              <a:spLocks noChangeShapeType="1"/>
            </p:cNvSpPr>
            <p:nvPr/>
          </p:nvSpPr>
          <p:spPr bwMode="auto">
            <a:xfrm>
              <a:off x="3834" y="3825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20" name="AutoShape 42"/>
            <p:cNvSpPr>
              <a:spLocks noChangeArrowheads="1"/>
            </p:cNvSpPr>
            <p:nvPr/>
          </p:nvSpPr>
          <p:spPr bwMode="auto">
            <a:xfrm>
              <a:off x="2760" y="3673"/>
              <a:ext cx="1073" cy="316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2781" y="3723"/>
              <a:ext cx="1043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命令序列</a:t>
              </a:r>
              <a:r>
                <a:rPr lang="en-US" altLang="zh-CN" sz="2000" b="1">
                  <a:ea typeface="楷体_GB2312" pitchFamily="49" charset="-122"/>
                </a:rPr>
                <a:t>2…</a:t>
              </a: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1562" y="3580"/>
              <a:ext cx="1073" cy="4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ea typeface="楷体_GB2312" pitchFamily="49" charset="-122"/>
                </a:rPr>
                <a:t>条件为假</a:t>
              </a:r>
              <a:endParaRPr lang="en-US" altLang="zh-CN" sz="2000" b="1" dirty="0">
                <a:ea typeface="楷体_GB2312" pitchFamily="49" charset="-122"/>
              </a:endParaRPr>
            </a:p>
            <a:p>
              <a:pPr algn="r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ea typeface="楷体_GB2312" pitchFamily="49" charset="-122"/>
                </a:rPr>
                <a:t>else</a:t>
              </a:r>
            </a:p>
          </p:txBody>
        </p:sp>
        <p:sp>
          <p:nvSpPr>
            <p:cNvPr id="23" name="Line 45"/>
            <p:cNvSpPr>
              <a:spLocks noChangeShapeType="1"/>
            </p:cNvSpPr>
            <p:nvPr/>
          </p:nvSpPr>
          <p:spPr bwMode="auto">
            <a:xfrm>
              <a:off x="613" y="3193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  <p:sp>
          <p:nvSpPr>
            <p:cNvPr id="24" name="AutoShape 46"/>
            <p:cNvSpPr>
              <a:spLocks noChangeArrowheads="1"/>
            </p:cNvSpPr>
            <p:nvPr/>
          </p:nvSpPr>
          <p:spPr bwMode="auto">
            <a:xfrm>
              <a:off x="3919" y="3041"/>
              <a:ext cx="929" cy="316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5" name="Text Box 47"/>
            <p:cNvSpPr txBox="1">
              <a:spLocks noChangeArrowheads="1"/>
            </p:cNvSpPr>
            <p:nvPr/>
          </p:nvSpPr>
          <p:spPr bwMode="auto">
            <a:xfrm>
              <a:off x="3950" y="3075"/>
              <a:ext cx="874" cy="2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dirty="0" err="1">
                  <a:solidFill>
                    <a:srgbClr val="FF0000"/>
                  </a:solidFill>
                  <a:ea typeface="楷体_GB2312" pitchFamily="49" charset="-122"/>
                </a:rPr>
                <a:t>fi</a:t>
              </a:r>
              <a:r>
                <a:rPr lang="en-US" altLang="zh-CN" sz="2000" b="1" dirty="0">
                  <a:ea typeface="楷体_GB2312" pitchFamily="49" charset="-122"/>
                </a:rPr>
                <a:t>  </a:t>
              </a:r>
              <a:r>
                <a:rPr lang="zh-CN" altLang="en-US" sz="2000" b="1" dirty="0">
                  <a:ea typeface="楷体_GB2312" pitchFamily="49" charset="-122"/>
                </a:rPr>
                <a:t>结束判断</a:t>
              </a:r>
            </a:p>
          </p:txBody>
        </p:sp>
        <p:sp>
          <p:nvSpPr>
            <p:cNvPr id="26" name="Line 48"/>
            <p:cNvSpPr>
              <a:spLocks noChangeShapeType="1"/>
            </p:cNvSpPr>
            <p:nvPr/>
          </p:nvSpPr>
          <p:spPr bwMode="auto">
            <a:xfrm>
              <a:off x="4851" y="3193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2000"/>
            </a:p>
          </p:txBody>
        </p:sp>
      </p:grpSp>
      <p:sp>
        <p:nvSpPr>
          <p:cNvPr id="27" name="标题 1">
            <a:extLst>
              <a:ext uri="{FF2B5EF4-FFF2-40B4-BE49-F238E27FC236}">
                <a16:creationId xmlns:a16="http://schemas.microsoft.com/office/drawing/2014/main" id="{C60AEE2D-89B2-4C6F-B5A2-F30D7F55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3" y="191715"/>
            <a:ext cx="7793037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8F4D9E-17F5-4E79-944F-A889058193E0}"/>
              </a:ext>
            </a:extLst>
          </p:cNvPr>
          <p:cNvSpPr txBox="1"/>
          <p:nvPr/>
        </p:nvSpPr>
        <p:spPr>
          <a:xfrm>
            <a:off x="611560" y="136884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 if </a:t>
            </a:r>
            <a:r>
              <a:rPr lang="zh-CN" altLang="en-US" sz="4000" b="1" dirty="0">
                <a:solidFill>
                  <a:schemeClr val="accent6">
                    <a:lumMod val="75000"/>
                  </a:schemeClr>
                </a:solidFill>
              </a:rPr>
              <a:t>语句流程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556792"/>
            <a:ext cx="8280920" cy="50167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 idcheck.sh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purpose: check user id to see if user is root.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Only root has a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uid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of 0.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Format for id output: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uid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=9496(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ellie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=40 groups=40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  root's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uid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=0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id=`id |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awk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-F'[=(]'  '{print $2}'`   # get user ID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"your user id is: $id"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(( id == 0 ))    # [ $id 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eq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0 ]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"you are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superuser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."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"you are not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superuser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." 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80" y="1988840"/>
            <a:ext cx="7772400" cy="41148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多分支</a:t>
            </a:r>
            <a:r>
              <a:rPr lang="zh-CN" altLang="en-US" dirty="0"/>
              <a:t>：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针对多个条件执行不同操作</a:t>
            </a:r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8906" y="2634673"/>
            <a:ext cx="8067550" cy="4031611"/>
            <a:chOff x="295" y="1117"/>
            <a:chExt cx="4989" cy="2463"/>
          </a:xfrm>
        </p:grpSpPr>
        <p:sp>
          <p:nvSpPr>
            <p:cNvPr id="8" name="Line 33"/>
            <p:cNvSpPr>
              <a:spLocks noChangeShapeType="1"/>
            </p:cNvSpPr>
            <p:nvPr/>
          </p:nvSpPr>
          <p:spPr bwMode="auto">
            <a:xfrm>
              <a:off x="2154" y="193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1221" y="1332"/>
              <a:ext cx="0" cy="1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0" name="AutoShape 35"/>
            <p:cNvSpPr>
              <a:spLocks noChangeArrowheads="1"/>
            </p:cNvSpPr>
            <p:nvPr/>
          </p:nvSpPr>
          <p:spPr bwMode="auto">
            <a:xfrm>
              <a:off x="527" y="1650"/>
              <a:ext cx="1389" cy="52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36"/>
            <p:cNvSpPr txBox="1">
              <a:spLocks noChangeArrowheads="1"/>
            </p:cNvSpPr>
            <p:nvPr/>
          </p:nvSpPr>
          <p:spPr bwMode="auto">
            <a:xfrm>
              <a:off x="636" y="1795"/>
              <a:ext cx="120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if </a:t>
              </a:r>
              <a:r>
                <a:rPr lang="en-US" altLang="zh-CN" sz="1600" b="1" dirty="0">
                  <a:ea typeface="楷体_GB2312" pitchFamily="49" charset="-122"/>
                </a:rPr>
                <a:t> </a:t>
              </a:r>
              <a:r>
                <a:rPr lang="zh-CN" altLang="en-US" sz="1600" b="1" dirty="0">
                  <a:ea typeface="楷体_GB2312" pitchFamily="49" charset="-122"/>
                </a:rPr>
                <a:t>条件测试命令</a:t>
              </a:r>
              <a:r>
                <a:rPr lang="en-US" altLang="zh-CN" sz="1600" b="1" dirty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2" name="AutoShape 37"/>
            <p:cNvSpPr>
              <a:spLocks noChangeArrowheads="1"/>
            </p:cNvSpPr>
            <p:nvPr/>
          </p:nvSpPr>
          <p:spPr bwMode="auto">
            <a:xfrm>
              <a:off x="2263" y="1171"/>
              <a:ext cx="983" cy="289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2282" y="1216"/>
              <a:ext cx="95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命令序列</a:t>
              </a:r>
              <a:r>
                <a:rPr lang="en-US" altLang="zh-CN" sz="1600" b="1" dirty="0">
                  <a:ea typeface="楷体_GB2312" pitchFamily="49" charset="-122"/>
                </a:rPr>
                <a:t>1…</a:t>
              </a:r>
            </a:p>
          </p:txBody>
        </p:sp>
        <p:sp>
          <p:nvSpPr>
            <p:cNvPr id="14" name="Line 39"/>
            <p:cNvSpPr>
              <a:spLocks noChangeShapeType="1"/>
            </p:cNvSpPr>
            <p:nvPr/>
          </p:nvSpPr>
          <p:spPr bwMode="auto">
            <a:xfrm>
              <a:off x="1221" y="1332"/>
              <a:ext cx="1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5" name="Line 40"/>
            <p:cNvSpPr>
              <a:spLocks noChangeShapeType="1"/>
            </p:cNvSpPr>
            <p:nvPr/>
          </p:nvSpPr>
          <p:spPr bwMode="auto">
            <a:xfrm>
              <a:off x="3246" y="1332"/>
              <a:ext cx="1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6" name="Line 41"/>
            <p:cNvSpPr>
              <a:spLocks noChangeShapeType="1"/>
            </p:cNvSpPr>
            <p:nvPr/>
          </p:nvSpPr>
          <p:spPr bwMode="auto">
            <a:xfrm flipV="1">
              <a:off x="4634" y="2678"/>
              <a:ext cx="0" cy="7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7" name="Text Box 42"/>
            <p:cNvSpPr txBox="1">
              <a:spLocks noChangeArrowheads="1"/>
            </p:cNvSpPr>
            <p:nvPr/>
          </p:nvSpPr>
          <p:spPr bwMode="auto">
            <a:xfrm>
              <a:off x="1148" y="1117"/>
              <a:ext cx="983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条件为真  </a:t>
              </a: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then</a:t>
              </a:r>
            </a:p>
          </p:txBody>
        </p:sp>
        <p:sp>
          <p:nvSpPr>
            <p:cNvPr id="18" name="Line 43"/>
            <p:cNvSpPr>
              <a:spLocks noChangeShapeType="1"/>
            </p:cNvSpPr>
            <p:nvPr/>
          </p:nvSpPr>
          <p:spPr bwMode="auto">
            <a:xfrm>
              <a:off x="2147" y="3430"/>
              <a:ext cx="1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9" name="Line 44"/>
            <p:cNvSpPr>
              <a:spLocks noChangeShapeType="1"/>
            </p:cNvSpPr>
            <p:nvPr/>
          </p:nvSpPr>
          <p:spPr bwMode="auto">
            <a:xfrm>
              <a:off x="4172" y="3430"/>
              <a:ext cx="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0" name="AutoShape 45"/>
            <p:cNvSpPr>
              <a:spLocks noChangeArrowheads="1"/>
            </p:cNvSpPr>
            <p:nvPr/>
          </p:nvSpPr>
          <p:spPr bwMode="auto">
            <a:xfrm>
              <a:off x="3187" y="3291"/>
              <a:ext cx="984" cy="289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46"/>
            <p:cNvSpPr txBox="1">
              <a:spLocks noChangeArrowheads="1"/>
            </p:cNvSpPr>
            <p:nvPr/>
          </p:nvSpPr>
          <p:spPr bwMode="auto">
            <a:xfrm>
              <a:off x="3207" y="3343"/>
              <a:ext cx="95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命令序列</a:t>
              </a:r>
              <a:r>
                <a:rPr lang="en-US" altLang="zh-CN" sz="1600" b="1">
                  <a:ea typeface="楷体_GB2312" pitchFamily="49" charset="-122"/>
                </a:rPr>
                <a:t>n…</a:t>
              </a:r>
            </a:p>
          </p:txBody>
        </p:sp>
        <p:sp>
          <p:nvSpPr>
            <p:cNvPr id="22" name="Text Box 47"/>
            <p:cNvSpPr txBox="1">
              <a:spLocks noChangeArrowheads="1"/>
            </p:cNvSpPr>
            <p:nvPr/>
          </p:nvSpPr>
          <p:spPr bwMode="auto">
            <a:xfrm>
              <a:off x="2089" y="3205"/>
              <a:ext cx="98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条件为假  </a:t>
              </a: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else</a:t>
              </a:r>
            </a:p>
          </p:txBody>
        </p:sp>
        <p:sp>
          <p:nvSpPr>
            <p:cNvPr id="23" name="AutoShape 48"/>
            <p:cNvSpPr>
              <a:spLocks noChangeArrowheads="1"/>
            </p:cNvSpPr>
            <p:nvPr/>
          </p:nvSpPr>
          <p:spPr bwMode="auto">
            <a:xfrm>
              <a:off x="1453" y="2201"/>
              <a:ext cx="1389" cy="52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49"/>
            <p:cNvSpPr txBox="1">
              <a:spLocks noChangeArrowheads="1"/>
            </p:cNvSpPr>
            <p:nvPr/>
          </p:nvSpPr>
          <p:spPr bwMode="auto">
            <a:xfrm>
              <a:off x="1561" y="2346"/>
              <a:ext cx="127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 err="1">
                  <a:solidFill>
                    <a:srgbClr val="FF0000"/>
                  </a:solidFill>
                  <a:ea typeface="楷体_GB2312" pitchFamily="49" charset="-122"/>
                </a:rPr>
                <a:t>elif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条件测试命令</a:t>
              </a:r>
              <a:r>
                <a:rPr lang="en-US" altLang="zh-CN" sz="1600" b="1" dirty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5" name="Line 50"/>
            <p:cNvSpPr>
              <a:spLocks noChangeShapeType="1"/>
            </p:cNvSpPr>
            <p:nvPr/>
          </p:nvSpPr>
          <p:spPr bwMode="auto">
            <a:xfrm>
              <a:off x="1221" y="2458"/>
              <a:ext cx="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6" name="AutoShape 51"/>
            <p:cNvSpPr>
              <a:spLocks noChangeArrowheads="1"/>
            </p:cNvSpPr>
            <p:nvPr/>
          </p:nvSpPr>
          <p:spPr bwMode="auto">
            <a:xfrm>
              <a:off x="3187" y="1811"/>
              <a:ext cx="984" cy="289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52"/>
            <p:cNvSpPr txBox="1">
              <a:spLocks noChangeArrowheads="1"/>
            </p:cNvSpPr>
            <p:nvPr/>
          </p:nvSpPr>
          <p:spPr bwMode="auto">
            <a:xfrm>
              <a:off x="3215" y="1848"/>
              <a:ext cx="957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命令序列</a:t>
              </a:r>
              <a:r>
                <a:rPr lang="en-US" altLang="zh-CN" sz="1600" b="1">
                  <a:ea typeface="楷体_GB2312" pitchFamily="49" charset="-122"/>
                </a:rPr>
                <a:t>2…</a:t>
              </a:r>
            </a:p>
          </p:txBody>
        </p:sp>
        <p:sp>
          <p:nvSpPr>
            <p:cNvPr id="28" name="Line 53"/>
            <p:cNvSpPr>
              <a:spLocks noChangeShapeType="1"/>
            </p:cNvSpPr>
            <p:nvPr/>
          </p:nvSpPr>
          <p:spPr bwMode="auto">
            <a:xfrm>
              <a:off x="2154" y="1941"/>
              <a:ext cx="1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9" name="Line 54"/>
            <p:cNvSpPr>
              <a:spLocks noChangeShapeType="1"/>
            </p:cNvSpPr>
            <p:nvPr/>
          </p:nvSpPr>
          <p:spPr bwMode="auto">
            <a:xfrm>
              <a:off x="4180" y="1941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30" name="Line 55"/>
            <p:cNvSpPr>
              <a:spLocks noChangeShapeType="1"/>
            </p:cNvSpPr>
            <p:nvPr/>
          </p:nvSpPr>
          <p:spPr bwMode="auto">
            <a:xfrm>
              <a:off x="4634" y="1332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31" name="Text Box 56"/>
            <p:cNvSpPr txBox="1">
              <a:spLocks noChangeArrowheads="1"/>
            </p:cNvSpPr>
            <p:nvPr/>
          </p:nvSpPr>
          <p:spPr bwMode="auto">
            <a:xfrm>
              <a:off x="2082" y="1725"/>
              <a:ext cx="983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条件为真  </a:t>
              </a: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then</a:t>
              </a:r>
            </a:p>
          </p:txBody>
        </p:sp>
        <p:sp>
          <p:nvSpPr>
            <p:cNvPr id="32" name="Text Box 57"/>
            <p:cNvSpPr txBox="1">
              <a:spLocks noChangeArrowheads="1"/>
            </p:cNvSpPr>
            <p:nvPr/>
          </p:nvSpPr>
          <p:spPr bwMode="auto">
            <a:xfrm>
              <a:off x="1976" y="2925"/>
              <a:ext cx="379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>
                  <a:ea typeface="楷体_GB2312" pitchFamily="49" charset="-122"/>
                </a:rPr>
                <a:t>……</a:t>
              </a:r>
            </a:p>
          </p:txBody>
        </p:sp>
        <p:sp>
          <p:nvSpPr>
            <p:cNvPr id="33" name="Line 58"/>
            <p:cNvSpPr>
              <a:spLocks noChangeShapeType="1"/>
            </p:cNvSpPr>
            <p:nvPr/>
          </p:nvSpPr>
          <p:spPr bwMode="auto">
            <a:xfrm>
              <a:off x="2147" y="3083"/>
              <a:ext cx="0" cy="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34" name="Text Box 59"/>
            <p:cNvSpPr txBox="1">
              <a:spLocks noChangeArrowheads="1"/>
            </p:cNvSpPr>
            <p:nvPr/>
          </p:nvSpPr>
          <p:spPr bwMode="auto">
            <a:xfrm>
              <a:off x="3303" y="2925"/>
              <a:ext cx="379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>
                  <a:ea typeface="楷体_GB2312" pitchFamily="49" charset="-122"/>
                </a:rPr>
                <a:t>……</a:t>
              </a:r>
            </a:p>
          </p:txBody>
        </p:sp>
        <p:sp>
          <p:nvSpPr>
            <p:cNvPr id="35" name="Line 60"/>
            <p:cNvSpPr>
              <a:spLocks noChangeShapeType="1"/>
            </p:cNvSpPr>
            <p:nvPr/>
          </p:nvSpPr>
          <p:spPr bwMode="auto">
            <a:xfrm>
              <a:off x="295" y="1911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36" name="AutoShape 61"/>
            <p:cNvSpPr>
              <a:spLocks noChangeArrowheads="1"/>
            </p:cNvSpPr>
            <p:nvPr/>
          </p:nvSpPr>
          <p:spPr bwMode="auto">
            <a:xfrm>
              <a:off x="4199" y="2373"/>
              <a:ext cx="852" cy="289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62"/>
            <p:cNvSpPr txBox="1">
              <a:spLocks noChangeArrowheads="1"/>
            </p:cNvSpPr>
            <p:nvPr/>
          </p:nvSpPr>
          <p:spPr bwMode="auto">
            <a:xfrm>
              <a:off x="4241" y="2403"/>
              <a:ext cx="80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 err="1">
                  <a:solidFill>
                    <a:srgbClr val="FF0000"/>
                  </a:solidFill>
                  <a:ea typeface="楷体_GB2312" pitchFamily="49" charset="-122"/>
                </a:rPr>
                <a:t>fi</a:t>
              </a: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 </a:t>
              </a:r>
              <a:r>
                <a:rPr lang="en-US" altLang="zh-CN" sz="1600" b="1" dirty="0">
                  <a:ea typeface="楷体_GB2312" pitchFamily="49" charset="-122"/>
                </a:rPr>
                <a:t> </a:t>
              </a:r>
              <a:r>
                <a:rPr lang="zh-CN" altLang="en-US" sz="1600" b="1" dirty="0">
                  <a:ea typeface="楷体_GB2312" pitchFamily="49" charset="-122"/>
                </a:rPr>
                <a:t>结束判断</a:t>
              </a:r>
            </a:p>
          </p:txBody>
        </p:sp>
        <p:sp>
          <p:nvSpPr>
            <p:cNvPr id="38" name="Line 63"/>
            <p:cNvSpPr>
              <a:spLocks noChangeShapeType="1"/>
            </p:cNvSpPr>
            <p:nvPr/>
          </p:nvSpPr>
          <p:spPr bwMode="auto">
            <a:xfrm>
              <a:off x="5053" y="2512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F6E0F578-1D04-4328-95B0-8B520CB2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3" y="191715"/>
            <a:ext cx="7793037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if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48776CE-716E-427C-AF57-7B181C8F75AD}"/>
              </a:ext>
            </a:extLst>
          </p:cNvPr>
          <p:cNvSpPr txBox="1"/>
          <p:nvPr/>
        </p:nvSpPr>
        <p:spPr>
          <a:xfrm>
            <a:off x="611560" y="136884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 if </a:t>
            </a:r>
            <a:r>
              <a:rPr lang="zh-CN" altLang="en-US" sz="4000" b="1" dirty="0">
                <a:solidFill>
                  <a:schemeClr val="accent6">
                    <a:lumMod val="75000"/>
                  </a:schemeClr>
                </a:solidFill>
              </a:rPr>
              <a:t>语句流程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6230" y="1628800"/>
            <a:ext cx="8280920" cy="47089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ask-age.sh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read  -p "How old are you?  "  age </a:t>
            </a:r>
          </a:p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使用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Shell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算术运算符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(())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进行条件测试</a:t>
            </a:r>
            <a:endParaRPr lang="zh-CN" altLang="zh-CN" sz="20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((age&lt;0||age&gt;120))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"Out of range !"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exit 1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</a:t>
            </a:r>
          </a:p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使用多分支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if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语句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((age&gt;=0&amp;&amp;age&lt;13))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"Child !"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((age&gt;=13&amp;&amp;age&lt;20))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then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Callan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!"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((age&gt;=20&amp;&amp;age&lt;30))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"P III !"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((age&gt;=30&amp;&amp;age&lt;40))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"P IV !"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"Sorry I asked."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7291" y="1772638"/>
            <a:ext cx="8280920" cy="48936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useronline.sh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# if 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语句可以嵌套使用</a:t>
            </a:r>
            <a:endParaRPr lang="zh-CN" altLang="zh-CN" sz="24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 $# -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eq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1 ]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或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[[ $#==1 ]] </a:t>
            </a:r>
            <a:r>
              <a:rPr lang="zh-CN" altLang="en-US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(($#==1))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who|grep $1 &gt;/dev/null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then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echo $1 is active.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else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echo $1 is not active.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fi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pt-BR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"Usage: $0 &lt;username&gt;"</a:t>
            </a:r>
          </a:p>
          <a:p>
            <a:r>
              <a:rPr lang="pt-BR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exit 1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7788" y="1628800"/>
            <a:ext cx="838842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</a:t>
            </a:r>
            <a:r>
              <a:rPr lang="en-US" altLang="zh-CN" sz="2800" dirty="0" err="1">
                <a:solidFill>
                  <a:srgbClr val="0000FF"/>
                </a:solidFill>
              </a:rPr>
              <a:t>chmod</a:t>
            </a:r>
            <a:r>
              <a:rPr lang="en-US" altLang="zh-CN" sz="2800" dirty="0">
                <a:solidFill>
                  <a:srgbClr val="0000FF"/>
                </a:solidFill>
              </a:rPr>
              <a:t> +x useronline.sh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./useronline.sh </a:t>
            </a:r>
          </a:p>
          <a:p>
            <a:r>
              <a:rPr lang="en-US" altLang="zh-CN" sz="2800" dirty="0"/>
              <a:t>Usage: ./useronline.sh &lt;username&gt;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./useronline.sh </a:t>
            </a:r>
            <a:r>
              <a:rPr lang="en-US" altLang="zh-CN" sz="2800" dirty="0" err="1">
                <a:solidFill>
                  <a:srgbClr val="0000FF"/>
                </a:solidFill>
              </a:rPr>
              <a:t>firstArg</a:t>
            </a:r>
            <a:endParaRPr lang="en-US" altLang="zh-CN" sz="2800" dirty="0">
              <a:solidFill>
                <a:srgbClr val="0000FF"/>
              </a:solidFill>
            </a:endParaRPr>
          </a:p>
          <a:p>
            <a:r>
              <a:rPr lang="en-US" altLang="zh-CN" sz="2800" dirty="0" err="1"/>
              <a:t>firstArg</a:t>
            </a:r>
            <a:r>
              <a:rPr lang="en-US" altLang="zh-CN" sz="2800" dirty="0"/>
              <a:t> is not active.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./useronline.sh xl</a:t>
            </a:r>
          </a:p>
          <a:p>
            <a:r>
              <a:rPr lang="en-US" altLang="zh-CN" sz="2800" dirty="0"/>
              <a:t>xl is active.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./useronline.sh xl </a:t>
            </a:r>
            <a:r>
              <a:rPr lang="en-US" altLang="zh-CN" sz="2800" dirty="0" err="1">
                <a:solidFill>
                  <a:srgbClr val="0000FF"/>
                </a:solidFill>
              </a:rPr>
              <a:t>zhangsan</a:t>
            </a:r>
            <a:endParaRPr lang="en-US" altLang="zh-CN" sz="2800" dirty="0">
              <a:solidFill>
                <a:srgbClr val="0000FF"/>
              </a:solidFill>
            </a:endParaRPr>
          </a:p>
          <a:p>
            <a:r>
              <a:rPr lang="en-US" altLang="zh-CN" sz="2800" dirty="0"/>
              <a:t>Usage: ./useronline.sh &lt;username&gt;</a:t>
            </a:r>
          </a:p>
          <a:p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800" dirty="0">
                <a:solidFill>
                  <a:srgbClr val="0000FF"/>
                </a:solidFill>
              </a:rPr>
              <a:t> ~]$ </a:t>
            </a:r>
          </a:p>
        </p:txBody>
      </p:sp>
    </p:spTree>
    <p:extLst>
      <p:ext uri="{BB962C8B-B14F-4D97-AF65-F5344CB8AC3E}">
        <p14:creationId xmlns:p14="http://schemas.microsoft.com/office/powerpoint/2010/main" val="7168271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——if </a:t>
            </a:r>
            <a:r>
              <a:rPr lang="zh-CN" altLang="en-US" dirty="0"/>
              <a:t>语句举例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405030"/>
            <a:ext cx="8280920" cy="52937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decide_file_type.sh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# if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语句可以嵌套使用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 $# -ne 1 ]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&amp;&amp;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"Usage: $0 &lt;filename&gt;"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exit 1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file=$1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 -d $file ]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"$file is a directory"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 -f $file ]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 -r $file -a -w $file -a -x $file ]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; then</a:t>
            </a:r>
          </a:p>
          <a:p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# if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[[ -r $file &amp;&amp; -w $file &amp;&amp; -x $file ]]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; 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“You have 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rwx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permissioon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on $file."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000" b="1" dirty="0">
              <a:solidFill>
                <a:srgbClr val="7030A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"$file is neither a file nor a directory."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113" y="191715"/>
            <a:ext cx="7989887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case</a:t>
            </a:r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67544" y="1890559"/>
            <a:ext cx="8418272" cy="492125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case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# </a:t>
            </a:r>
            <a:r>
              <a:rPr lang="en-US" altLang="zh-CN" sz="2400" b="1" dirty="0" err="1"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为表达式，关键词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不要忘！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pattern1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与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楷体_GB2312" pitchFamily="49" charset="-122"/>
              </a:rPr>
              <a:t>pattern1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匹配，注意括号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commands1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commands1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;;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跳出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case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结构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pattern2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与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楷体_GB2312" pitchFamily="49" charset="-122"/>
              </a:rPr>
              <a:t>pattern2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匹配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commands2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commands2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;;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跳出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case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结构</a:t>
            </a:r>
            <a:b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</a:b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... ...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可以有任意多个模式匹配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*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与上面的模式都不匹配，其他值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commands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执行语句块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;;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跳出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case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结构</a:t>
            </a:r>
            <a:b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</a:br>
            <a:r>
              <a:rPr lang="en-US" altLang="zh-CN" sz="2400" b="1" dirty="0" err="1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esac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case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语句必须以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esac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终止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DE1907-7945-42AA-AD62-99B730C6AFF7}"/>
              </a:ext>
            </a:extLst>
          </p:cNvPr>
          <p:cNvSpPr txBox="1"/>
          <p:nvPr/>
        </p:nvSpPr>
        <p:spPr>
          <a:xfrm>
            <a:off x="595769" y="124422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 case 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语句语法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4191" y="191715"/>
            <a:ext cx="8098407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case</a:t>
            </a:r>
            <a:endParaRPr lang="zh-CN" altLang="en-US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014191" y="5626536"/>
            <a:ext cx="7054090" cy="87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每个命令块的最后必须有一个</a:t>
            </a:r>
            <a:r>
              <a:rPr lang="zh-CN" altLang="en-US" sz="2400" b="0" dirty="0">
                <a:solidFill>
                  <a:srgbClr val="0000CC"/>
                </a:solidFill>
                <a:ea typeface="黑体" pitchFamily="2" charset="-122"/>
              </a:rPr>
              <a:t>双分号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，可以独占一行，或放在最后一个命令的后面。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974292" y="4744574"/>
            <a:ext cx="7653089" cy="89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所给的匹配模式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pattern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中可以含有</a:t>
            </a:r>
            <a:r>
              <a:rPr lang="zh-CN" altLang="en-US" sz="2400" b="0" dirty="0">
                <a:solidFill>
                  <a:srgbClr val="0000CC"/>
                </a:solidFill>
                <a:ea typeface="黑体" pitchFamily="2" charset="-122"/>
              </a:rPr>
              <a:t>通配符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和“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|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”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。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955885" y="3437572"/>
            <a:ext cx="7376794" cy="129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如果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expr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没有找到匹配的模式，则执行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缺省值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“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*)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”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后面的命令块 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(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类似于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if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中的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else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)；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“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*)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”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可以不出现。</a:t>
            </a: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974292" y="2079787"/>
            <a:ext cx="7195416" cy="129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buClr>
                <a:srgbClr val="FF3300"/>
              </a:buClr>
              <a:buFont typeface="Wingdings" pitchFamily="2" charset="2"/>
              <a:buChar char="u"/>
            </a:pP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 表达式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expr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（</a:t>
            </a:r>
            <a:r>
              <a:rPr lang="en-US" altLang="zh-CN" sz="2400" b="0" dirty="0">
                <a:solidFill>
                  <a:srgbClr val="FF0000"/>
                </a:solidFill>
                <a:ea typeface="黑体" pitchFamily="2" charset="-122"/>
              </a:rPr>
              <a:t>$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变量名称）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按</a:t>
            </a:r>
            <a:r>
              <a:rPr lang="zh-CN" altLang="en-US" sz="2400" b="0" dirty="0">
                <a:solidFill>
                  <a:srgbClr val="FF0000"/>
                </a:solidFill>
                <a:ea typeface="黑体" pitchFamily="2" charset="-122"/>
              </a:rPr>
              <a:t>顺序匹配</a:t>
            </a:r>
            <a:r>
              <a:rPr lang="zh-CN" altLang="en-US" sz="2400" b="0" dirty="0">
                <a:solidFill>
                  <a:schemeClr val="tx1"/>
                </a:solidFill>
                <a:ea typeface="黑体" pitchFamily="2" charset="-122"/>
              </a:rPr>
              <a:t>每个模式，一旦有一个模式匹配成功，则执行该模式后面的所有命令，然后退出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case</a:t>
            </a:r>
            <a:r>
              <a:rPr lang="en-US" altLang="zh-CN" sz="2400" b="0" dirty="0">
                <a:solidFill>
                  <a:schemeClr val="tx1"/>
                </a:solidFill>
                <a:ea typeface="黑体" pitchFamily="2" charset="-122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E7064E-6244-48BA-B869-2B96FABEBFE2}"/>
              </a:ext>
            </a:extLst>
          </p:cNvPr>
          <p:cNvSpPr txBox="1"/>
          <p:nvPr/>
        </p:nvSpPr>
        <p:spPr>
          <a:xfrm>
            <a:off x="611560" y="129575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 case </a:t>
            </a:r>
            <a:r>
              <a:rPr lang="zh-CN" altLang="en-US" sz="4000" b="1" dirty="0">
                <a:solidFill>
                  <a:schemeClr val="accent6">
                    <a:lumMod val="75000"/>
                  </a:schemeClr>
                </a:solidFill>
              </a:rPr>
              <a:t>语句说明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113" y="191715"/>
            <a:ext cx="8098405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</a:t>
            </a:r>
            <a:r>
              <a:rPr lang="zh-CN" altLang="en-US" dirty="0"/>
              <a:t>分支结构</a:t>
            </a:r>
            <a:r>
              <a:rPr lang="en-US" altLang="zh-CN" dirty="0"/>
              <a:t>case</a:t>
            </a:r>
            <a:endParaRPr lang="zh-CN" altLang="en-US" dirty="0"/>
          </a:p>
        </p:txBody>
      </p: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627744" y="2132856"/>
            <a:ext cx="8135938" cy="4368800"/>
            <a:chOff x="340" y="1056"/>
            <a:chExt cx="5125" cy="2752"/>
          </a:xfrm>
        </p:grpSpPr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2274" y="2280"/>
              <a:ext cx="999" cy="305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1232" y="2841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10" name="AutoShape 13"/>
            <p:cNvSpPr>
              <a:spLocks noChangeArrowheads="1"/>
            </p:cNvSpPr>
            <p:nvPr/>
          </p:nvSpPr>
          <p:spPr bwMode="auto">
            <a:xfrm>
              <a:off x="588" y="2386"/>
              <a:ext cx="1278" cy="481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679" y="2523"/>
              <a:ext cx="115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case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en-US" altLang="zh-CN" sz="1600" b="1" dirty="0" err="1">
                  <a:ea typeface="楷体_GB2312" pitchFamily="49" charset="-122"/>
                </a:rPr>
                <a:t>expr</a:t>
              </a:r>
              <a:r>
                <a:rPr lang="en-US" altLang="zh-CN" sz="1600" b="1" dirty="0">
                  <a:ea typeface="楷体_GB2312" pitchFamily="49" charset="-122"/>
                </a:rPr>
                <a:t>=</a:t>
              </a:r>
              <a:r>
                <a:rPr lang="zh-CN" altLang="en-US" sz="1600" b="1" dirty="0">
                  <a:solidFill>
                    <a:srgbClr val="002060"/>
                  </a:solidFill>
                  <a:ea typeface="楷体_GB2312" pitchFamily="49" charset="-122"/>
                </a:rPr>
                <a:t>模式</a:t>
              </a:r>
              <a:r>
                <a:rPr lang="en-US" altLang="zh-CN" sz="1600" b="1" dirty="0">
                  <a:solidFill>
                    <a:srgbClr val="00206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 flipV="1">
              <a:off x="4682" y="1076"/>
              <a:ext cx="0" cy="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340" y="2622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14" name="AutoShape 17"/>
            <p:cNvSpPr>
              <a:spLocks noChangeArrowheads="1"/>
            </p:cNvSpPr>
            <p:nvPr/>
          </p:nvSpPr>
          <p:spPr bwMode="auto">
            <a:xfrm>
              <a:off x="4175" y="2134"/>
              <a:ext cx="1034" cy="305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4195" y="2171"/>
              <a:ext cx="103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 err="1">
                  <a:solidFill>
                    <a:srgbClr val="FF0000"/>
                  </a:solidFill>
                  <a:ea typeface="楷体_GB2312" pitchFamily="49" charset="-122"/>
                </a:rPr>
                <a:t>esac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结束分支</a:t>
              </a:r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5222" y="2272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17" name="AutoShape 20"/>
            <p:cNvSpPr>
              <a:spLocks noChangeArrowheads="1"/>
            </p:cNvSpPr>
            <p:nvPr/>
          </p:nvSpPr>
          <p:spPr bwMode="auto">
            <a:xfrm>
              <a:off x="756" y="1822"/>
              <a:ext cx="999" cy="304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805" y="1862"/>
              <a:ext cx="93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命令序列</a:t>
              </a:r>
              <a:r>
                <a:rPr lang="en-US" altLang="zh-CN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1…</a:t>
              </a: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1220" y="213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1480" y="1437"/>
              <a:ext cx="5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V="1">
              <a:off x="1991" y="1445"/>
              <a:ext cx="0" cy="15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22" name="AutoShape 25"/>
            <p:cNvSpPr>
              <a:spLocks noChangeArrowheads="1"/>
            </p:cNvSpPr>
            <p:nvPr/>
          </p:nvSpPr>
          <p:spPr bwMode="auto">
            <a:xfrm>
              <a:off x="980" y="1307"/>
              <a:ext cx="486" cy="26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zh-CN" sz="1600" b="1">
                <a:ea typeface="楷体_GB2312" pitchFamily="49" charset="-122"/>
              </a:endParaRP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1120" y="1299"/>
              <a:ext cx="21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>
                  <a:ea typeface="楷体_GB2312" pitchFamily="49" charset="-122"/>
                </a:rPr>
                <a:t>;;</a:t>
              </a: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>
              <a:off x="1224" y="157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>
              <a:off x="1220" y="1056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1604" y="1439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有</a:t>
              </a:r>
            </a:p>
          </p:txBody>
        </p:sp>
        <p:sp>
          <p:nvSpPr>
            <p:cNvPr id="27" name="AutoShape 30"/>
            <p:cNvSpPr>
              <a:spLocks noChangeArrowheads="1"/>
            </p:cNvSpPr>
            <p:nvPr/>
          </p:nvSpPr>
          <p:spPr bwMode="auto">
            <a:xfrm>
              <a:off x="2103" y="2849"/>
              <a:ext cx="1278" cy="48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2317" y="2979"/>
              <a:ext cx="8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 err="1">
                  <a:ea typeface="楷体_GB2312" pitchFamily="49" charset="-122"/>
                </a:rPr>
                <a:t>expr</a:t>
              </a:r>
              <a:r>
                <a:rPr lang="en-US" altLang="zh-CN" sz="1600" b="1" dirty="0">
                  <a:ea typeface="楷体_GB2312" pitchFamily="49" charset="-122"/>
                </a:rPr>
                <a:t>=</a:t>
              </a:r>
              <a:r>
                <a:rPr lang="zh-CN" altLang="en-US" sz="1600" b="1" dirty="0">
                  <a:solidFill>
                    <a:srgbClr val="002060"/>
                  </a:solidFill>
                  <a:ea typeface="楷体_GB2312" pitchFamily="49" charset="-122"/>
                </a:rPr>
                <a:t>模式</a:t>
              </a:r>
              <a:r>
                <a:rPr lang="en-US" altLang="zh-CN" sz="1600" b="1" dirty="0">
                  <a:solidFill>
                    <a:srgbClr val="002060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29" name="AutoShape 32"/>
            <p:cNvSpPr>
              <a:spLocks noChangeArrowheads="1"/>
            </p:cNvSpPr>
            <p:nvPr/>
          </p:nvSpPr>
          <p:spPr bwMode="auto">
            <a:xfrm>
              <a:off x="4050" y="3328"/>
              <a:ext cx="1278" cy="48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4166" y="3458"/>
              <a:ext cx="109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 err="1">
                  <a:ea typeface="楷体_GB2312" pitchFamily="49" charset="-122"/>
                </a:rPr>
                <a:t>expr</a:t>
              </a:r>
              <a:r>
                <a:rPr lang="en-US" altLang="zh-CN" sz="1600" b="1" dirty="0">
                  <a:ea typeface="楷体_GB2312" pitchFamily="49" charset="-122"/>
                </a:rPr>
                <a:t>=</a:t>
              </a:r>
              <a:r>
                <a:rPr lang="zh-CN" altLang="en-US" sz="1600" b="1" dirty="0">
                  <a:solidFill>
                    <a:srgbClr val="002060"/>
                  </a:solidFill>
                  <a:ea typeface="楷体_GB2312" pitchFamily="49" charset="-122"/>
                </a:rPr>
                <a:t>其他值</a:t>
              </a:r>
              <a:r>
                <a:rPr lang="en-US" altLang="zh-CN" sz="1600" b="1" dirty="0">
                  <a:solidFill>
                    <a:srgbClr val="002060"/>
                  </a:solidFill>
                  <a:ea typeface="楷体_GB2312" pitchFamily="49" charset="-122"/>
                </a:rPr>
                <a:t>(*)</a:t>
              </a:r>
            </a:p>
          </p:txBody>
        </p:sp>
        <p:sp>
          <p:nvSpPr>
            <p:cNvPr id="31" name="AutoShape 34"/>
            <p:cNvSpPr>
              <a:spLocks noChangeArrowheads="1"/>
            </p:cNvSpPr>
            <p:nvPr/>
          </p:nvSpPr>
          <p:spPr bwMode="auto">
            <a:xfrm>
              <a:off x="4113" y="2763"/>
              <a:ext cx="1171" cy="305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4111" y="2803"/>
              <a:ext cx="118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默认命令序列</a:t>
              </a:r>
              <a:r>
                <a:rPr lang="en-US" altLang="zh-CN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…</a:t>
              </a: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4683" y="3085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4678" y="2447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3625" y="3457"/>
              <a:ext cx="48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>
                  <a:ea typeface="楷体_GB2312" pitchFamily="49" charset="-122"/>
                </a:rPr>
                <a:t>……</a:t>
              </a:r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1232" y="1068"/>
              <a:ext cx="3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1282" y="1076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无</a:t>
              </a:r>
            </a:p>
          </p:txBody>
        </p:sp>
        <p:sp>
          <p:nvSpPr>
            <p:cNvPr id="38" name="Text Box 41"/>
            <p:cNvSpPr txBox="1">
              <a:spLocks noChangeArrowheads="1"/>
            </p:cNvSpPr>
            <p:nvPr/>
          </p:nvSpPr>
          <p:spPr bwMode="auto">
            <a:xfrm>
              <a:off x="1252" y="2164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是</a:t>
              </a:r>
            </a:p>
          </p:txBody>
        </p: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1281" y="2820"/>
              <a:ext cx="183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否</a:t>
              </a:r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>
              <a:off x="1228" y="3084"/>
              <a:ext cx="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>
              <a:off x="2752" y="3325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2802" y="3304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否</a:t>
              </a:r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>
              <a:off x="2748" y="3568"/>
              <a:ext cx="9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4" name="Text Box 47"/>
            <p:cNvSpPr txBox="1">
              <a:spLocks noChangeArrowheads="1"/>
            </p:cNvSpPr>
            <p:nvPr/>
          </p:nvSpPr>
          <p:spPr bwMode="auto">
            <a:xfrm>
              <a:off x="2325" y="2326"/>
              <a:ext cx="93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命令序列</a:t>
              </a:r>
              <a:r>
                <a:rPr lang="en-US" altLang="zh-CN" sz="1600" b="1" dirty="0">
                  <a:solidFill>
                    <a:schemeClr val="accent6">
                      <a:lumMod val="75000"/>
                    </a:schemeClr>
                  </a:solidFill>
                  <a:ea typeface="楷体_GB2312" pitchFamily="49" charset="-122"/>
                </a:rPr>
                <a:t>2…</a:t>
              </a:r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2739" y="2598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2999" y="1901"/>
              <a:ext cx="5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7" name="Line 50"/>
            <p:cNvSpPr>
              <a:spLocks noChangeShapeType="1"/>
            </p:cNvSpPr>
            <p:nvPr/>
          </p:nvSpPr>
          <p:spPr bwMode="auto">
            <a:xfrm flipV="1">
              <a:off x="3510" y="1909"/>
              <a:ext cx="0" cy="15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48" name="AutoShape 51"/>
            <p:cNvSpPr>
              <a:spLocks noChangeArrowheads="1"/>
            </p:cNvSpPr>
            <p:nvPr/>
          </p:nvSpPr>
          <p:spPr bwMode="auto">
            <a:xfrm>
              <a:off x="2499" y="1771"/>
              <a:ext cx="487" cy="260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zh-CN" sz="1600" b="1">
                <a:ea typeface="楷体_GB2312" pitchFamily="49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2640" y="1763"/>
              <a:ext cx="213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>
                  <a:ea typeface="楷体_GB2312" pitchFamily="49" charset="-122"/>
                </a:rPr>
                <a:t>;;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2743" y="2036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>
              <a:off x="2739" y="1076"/>
              <a:ext cx="0" cy="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 sz="1600"/>
            </a:p>
          </p:txBody>
        </p:sp>
        <p:sp>
          <p:nvSpPr>
            <p:cNvPr id="52" name="Text Box 55"/>
            <p:cNvSpPr txBox="1">
              <a:spLocks noChangeArrowheads="1"/>
            </p:cNvSpPr>
            <p:nvPr/>
          </p:nvSpPr>
          <p:spPr bwMode="auto">
            <a:xfrm>
              <a:off x="3139" y="1879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有</a:t>
              </a:r>
            </a:p>
          </p:txBody>
        </p:sp>
        <p:sp>
          <p:nvSpPr>
            <p:cNvPr id="53" name="Text Box 56"/>
            <p:cNvSpPr txBox="1">
              <a:spLocks noChangeArrowheads="1"/>
            </p:cNvSpPr>
            <p:nvPr/>
          </p:nvSpPr>
          <p:spPr bwMode="auto">
            <a:xfrm>
              <a:off x="2780" y="1461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ea typeface="楷体_GB2312" pitchFamily="49" charset="-122"/>
                </a:rPr>
                <a:t>无</a:t>
              </a:r>
            </a:p>
          </p:txBody>
        </p:sp>
        <p:sp>
          <p:nvSpPr>
            <p:cNvPr id="54" name="Text Box 57"/>
            <p:cNvSpPr txBox="1">
              <a:spLocks noChangeArrowheads="1"/>
            </p:cNvSpPr>
            <p:nvPr/>
          </p:nvSpPr>
          <p:spPr bwMode="auto">
            <a:xfrm>
              <a:off x="2771" y="2628"/>
              <a:ext cx="18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>
                  <a:ea typeface="楷体_GB2312" pitchFamily="49" charset="-122"/>
                </a:rPr>
                <a:t>是</a:t>
              </a: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FEDC9CE4-06AE-4878-BE0C-6A2E7C6FCB98}"/>
              </a:ext>
            </a:extLst>
          </p:cNvPr>
          <p:cNvSpPr txBox="1"/>
          <p:nvPr/>
        </p:nvSpPr>
        <p:spPr>
          <a:xfrm>
            <a:off x="611560" y="129575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</a:rPr>
              <a:t> case </a:t>
            </a:r>
            <a:r>
              <a:rPr lang="zh-CN" altLang="en-US" sz="4000" b="1" dirty="0">
                <a:solidFill>
                  <a:schemeClr val="accent6">
                    <a:lumMod val="75000"/>
                  </a:schemeClr>
                </a:solidFill>
              </a:rPr>
              <a:t>语句流程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—case </a:t>
            </a:r>
            <a:r>
              <a:rPr lang="zh-CN" altLang="en-US" dirty="0"/>
              <a:t>语句举例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1649527"/>
            <a:ext cx="8280920" cy="50167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what-lang-do-you-like.sh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"What is your preferred scripting language?"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"1) bash"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"2)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perl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"3) python"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"4) ruby"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"5) I do not know !"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read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lang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lang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1)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bash"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2)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perl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3)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python"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4)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ruby"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5)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exit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esac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—case </a:t>
            </a:r>
            <a:r>
              <a:rPr lang="zh-CN" altLang="en-US" dirty="0"/>
              <a:t>语句举例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5536" y="1679317"/>
            <a:ext cx="8280920" cy="3785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yesorno.sh</a:t>
            </a:r>
            <a:endParaRPr lang="zh-CN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-n "Do you agree with this? [yes or no]: "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read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变量获取方式为交互式</a:t>
            </a:r>
            <a:endParaRPr lang="en-US" altLang="zh-CN" sz="2000" b="1" dirty="0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Yy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 | 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Yy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Ee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][Ss] 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"Agreed."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Nn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 | 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N|n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][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O|o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]   )   </a:t>
            </a:r>
          </a:p>
          <a:p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                  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"Not agreed."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                exit 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                   ;;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*)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         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echo "Invalid input."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esac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r>
              <a:rPr lang="en-US" altLang="zh-CN" dirty="0"/>
              <a:t>—case </a:t>
            </a:r>
            <a:r>
              <a:rPr lang="zh-CN" altLang="en-US" dirty="0"/>
              <a:t>语句举例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0863" y="1607974"/>
            <a:ext cx="8892988" cy="50783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all_in_one_backup.sh</a:t>
            </a:r>
            <a:endParaRPr lang="zh-CN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A shell script to backup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,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webserver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and files.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opt=$1 </a:t>
            </a:r>
            <a:r>
              <a:rPr lang="zh-CN" altLang="en-US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变量获取方式为直接执行</a:t>
            </a:r>
            <a:endParaRPr lang="en-US" altLang="zh-CN" b="1" dirty="0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$1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sql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)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"Running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backup using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mysqldump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sync)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"Running backup using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rsync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         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  <a:endParaRPr lang="en-US" altLang="zh-CN" b="1" dirty="0">
              <a:solidFill>
                <a:srgbClr val="7030A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git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)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"Running backup using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gistore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       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 tar)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"Running tape backup using tar tool..."     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*)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"Backup shell script utility"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"Usage: $0 {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sql|sync|git|tar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	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sql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: Run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backup utility."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	sync : Run web server backup utility."	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	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git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: Run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gistore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backup utility."	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	tar  : Run tape backup utility." 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   ;;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esac</a:t>
            </a:r>
            <a:endParaRPr lang="zh-CN" altLang="en-US" sz="16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6E34377-95EE-4426-AF01-2CEEFB9B8BD4}"/>
              </a:ext>
            </a:extLst>
          </p:cNvPr>
          <p:cNvSpPr txBox="1"/>
          <p:nvPr/>
        </p:nvSpPr>
        <p:spPr>
          <a:xfrm>
            <a:off x="1043608" y="1484784"/>
            <a:ext cx="7560840" cy="5205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结合位置参数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$1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，分别利用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if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case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分支结构，设计让用户在执行命令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set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时输入参数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【hello】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的脚本程序。</a:t>
            </a:r>
            <a:endParaRPr lang="en-US" altLang="zh-CN" sz="2800" b="1" dirty="0">
              <a:solidFill>
                <a:srgbClr val="C00000"/>
              </a:solidFill>
              <a:latin typeface="+mj-lt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完成如下功能：</a:t>
            </a:r>
            <a:endParaRPr lang="en-US" altLang="zh-CN" sz="2800" b="1" dirty="0">
              <a:solidFill>
                <a:srgbClr val="C00000"/>
              </a:solidFill>
              <a:latin typeface="+mj-lt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）判断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$1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是否为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hello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，如果是，则显示“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hello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how are you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？”；</a:t>
            </a:r>
            <a:endParaRPr lang="en-US" altLang="zh-CN" sz="2800" b="1" dirty="0">
              <a:solidFill>
                <a:srgbClr val="C00000"/>
              </a:solidFill>
              <a:latin typeface="+mj-lt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）如果没有加任何参数，就提示用户必须要使用带参数的执行法；</a:t>
            </a:r>
            <a:endParaRPr lang="en-US" altLang="zh-CN" sz="2800" b="1" dirty="0">
              <a:solidFill>
                <a:srgbClr val="C00000"/>
              </a:solidFill>
              <a:latin typeface="+mj-lt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）而如果加入的参数不是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hello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，就提醒用户仅能使用</a:t>
            </a:r>
            <a:r>
              <a:rPr lang="en-US" altLang="zh-CN" sz="2800" b="1" dirty="0">
                <a:solidFill>
                  <a:srgbClr val="C00000"/>
                </a:solidFill>
                <a:latin typeface="+mj-lt"/>
              </a:rPr>
              <a:t>hello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为参数。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50314C-16CC-4D75-AE46-A0C623C70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0" t="15350" r="1723" b="11002"/>
          <a:stretch/>
        </p:blipFill>
        <p:spPr bwMode="auto">
          <a:xfrm>
            <a:off x="107504" y="404664"/>
            <a:ext cx="1512168" cy="121914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453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113" y="191715"/>
            <a:ext cx="8386439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—for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676456" cy="4821461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说明</a:t>
            </a:r>
            <a:endParaRPr lang="en-US" altLang="zh-CN" dirty="0"/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zh-CN" altLang="en-US" sz="2400" dirty="0">
                <a:ea typeface="黑体" pitchFamily="2" charset="-122"/>
              </a:rPr>
              <a:t>列表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list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可以是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命令替换</a:t>
            </a:r>
            <a:r>
              <a:rPr lang="zh-CN" altLang="en-US" sz="2400" dirty="0">
                <a:ea typeface="黑体" pitchFamily="2" charset="-122"/>
              </a:rPr>
              <a:t>、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变量名替换</a:t>
            </a:r>
            <a:r>
              <a:rPr lang="zh-CN" altLang="en-US" sz="2400" dirty="0">
                <a:ea typeface="黑体" pitchFamily="2" charset="-122"/>
              </a:rPr>
              <a:t>、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字符串</a:t>
            </a:r>
            <a:r>
              <a:rPr lang="zh-CN" altLang="en-US" sz="2400" dirty="0">
                <a:ea typeface="黑体" pitchFamily="2" charset="-122"/>
              </a:rPr>
              <a:t>和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文件名列表 </a:t>
            </a:r>
            <a:r>
              <a:rPr lang="zh-CN" altLang="en-US" sz="2400" dirty="0">
                <a:ea typeface="黑体" pitchFamily="2" charset="-122"/>
              </a:rPr>
              <a:t>( 可包含通配符 )，每个</a:t>
            </a:r>
            <a:r>
              <a:rPr lang="zh-CN" altLang="en-US" sz="2400" dirty="0">
                <a:solidFill>
                  <a:srgbClr val="0000FF"/>
                </a:solidFill>
                <a:ea typeface="黑体" pitchFamily="2" charset="-122"/>
              </a:rPr>
              <a:t>列表项以空格间隔</a:t>
            </a:r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en-US" altLang="zh-CN" sz="2400" b="1" dirty="0"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for</a:t>
            </a:r>
            <a:r>
              <a:rPr lang="en-US" altLang="zh-CN" sz="2400" b="1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循环执行的次数取决于列表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list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中元素的个数</a:t>
            </a:r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en-US" altLang="zh-CN" sz="2400" dirty="0">
                <a:ea typeface="黑体" pitchFamily="2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黑体" pitchFamily="2" charset="-122"/>
              </a:rPr>
              <a:t>可以</a:t>
            </a:r>
            <a:r>
              <a:rPr kumimoji="1" lang="zh-CN" altLang="en-US" sz="2400" b="1" dirty="0">
                <a:latin typeface="Courier New" pitchFamily="49" charset="0"/>
                <a:ea typeface="黑体" pitchFamily="2" charset="-122"/>
              </a:rPr>
              <a:t>省略</a:t>
            </a:r>
            <a:r>
              <a:rPr kumimoji="1" lang="zh-CN" altLang="en-US" sz="2400" b="1" dirty="0">
                <a:latin typeface="Times New Roman" pitchFamily="18" charset="0"/>
              </a:rPr>
              <a:t> 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in list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en-US" sz="2400" b="1" dirty="0"/>
              <a:t>，</a:t>
            </a:r>
            <a:r>
              <a:rPr kumimoji="1" lang="en-US" altLang="en-US" sz="2400" b="1" dirty="0" err="1">
                <a:latin typeface="Times New Roman" pitchFamily="18" charset="0"/>
                <a:ea typeface="黑体" pitchFamily="2" charset="-122"/>
              </a:rPr>
              <a:t>省略时相当于</a:t>
            </a:r>
            <a:r>
              <a:rPr kumimoji="1" lang="en-US" altLang="en-US" sz="2400" b="1" dirty="0">
                <a:latin typeface="Times New Roman" pitchFamily="18" charset="0"/>
                <a:ea typeface="黑体" pitchFamily="2" charset="-122"/>
              </a:rPr>
              <a:t>  </a:t>
            </a:r>
            <a:r>
              <a:rPr kumimoji="1" lang="en-US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in "$@"</a:t>
            </a:r>
            <a:endParaRPr kumimoji="1" lang="zh-CN" altLang="en-US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1988840"/>
            <a:ext cx="8382000" cy="2109787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for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variable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list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每一次循环，依次把列表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楷体_GB2312" pitchFamily="49" charset="-122"/>
              </a:rPr>
              <a:t>list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中的一个值赋给循环变量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循环体开始的标志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循环变量每取一次值，循环体就执行一遍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循环结束的标志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F4251-2C3D-42BA-973F-84FA9DF01274}"/>
              </a:ext>
            </a:extLst>
          </p:cNvPr>
          <p:cNvSpPr txBox="1"/>
          <p:nvPr/>
        </p:nvSpPr>
        <p:spPr>
          <a:xfrm>
            <a:off x="683568" y="1317335"/>
            <a:ext cx="5704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foreach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型语句语法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6704" y="1858639"/>
            <a:ext cx="7772400" cy="411480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400" dirty="0"/>
              <a:t>首先将 </a:t>
            </a:r>
            <a:r>
              <a:rPr lang="en-US" altLang="zh-CN" sz="2400" dirty="0">
                <a:solidFill>
                  <a:srgbClr val="002060"/>
                </a:solidFill>
              </a:rPr>
              <a:t>list </a:t>
            </a:r>
            <a:r>
              <a:rPr lang="zh-CN" altLang="en-US" sz="2400" dirty="0"/>
              <a:t>的 </a:t>
            </a:r>
            <a:r>
              <a:rPr lang="en-US" altLang="zh-CN" sz="2400" dirty="0">
                <a:solidFill>
                  <a:srgbClr val="002060"/>
                </a:solidFill>
              </a:rPr>
              <a:t>item1 </a:t>
            </a:r>
            <a:r>
              <a:rPr lang="zh-CN" altLang="en-US" sz="2400" dirty="0"/>
              <a:t>赋给 </a:t>
            </a:r>
            <a:r>
              <a:rPr lang="en-US" altLang="zh-CN" sz="2400" dirty="0"/>
              <a:t>variable</a:t>
            </a:r>
          </a:p>
          <a:p>
            <a:pPr lvl="1"/>
            <a:r>
              <a:rPr lang="zh-CN" altLang="en-US" sz="2000" dirty="0"/>
              <a:t>执行</a:t>
            </a:r>
            <a:r>
              <a:rPr lang="en-US" altLang="zh-CN" sz="2000" dirty="0"/>
              <a:t>do</a:t>
            </a:r>
            <a:r>
              <a:rPr lang="zh-CN" altLang="en-US" sz="2000" dirty="0"/>
              <a:t>和</a:t>
            </a:r>
            <a:r>
              <a:rPr lang="en-US" altLang="zh-CN" sz="2000" dirty="0"/>
              <a:t>done</a:t>
            </a:r>
            <a:r>
              <a:rPr lang="zh-CN" altLang="en-US" sz="2000" dirty="0"/>
              <a:t>之间的 </a:t>
            </a:r>
            <a:r>
              <a:rPr lang="en-US" altLang="zh-CN" sz="2000" dirty="0">
                <a:solidFill>
                  <a:srgbClr val="002060"/>
                </a:solidFill>
              </a:rPr>
              <a:t>commands</a:t>
            </a:r>
          </a:p>
          <a:p>
            <a:r>
              <a:rPr lang="zh-CN" altLang="en-US" sz="2400" dirty="0"/>
              <a:t>然后再将 </a:t>
            </a:r>
            <a:r>
              <a:rPr lang="en-US" altLang="zh-CN" sz="2400" dirty="0">
                <a:solidFill>
                  <a:srgbClr val="002060"/>
                </a:solidFill>
              </a:rPr>
              <a:t>list </a:t>
            </a:r>
            <a:r>
              <a:rPr lang="zh-CN" altLang="en-US" sz="2400" dirty="0"/>
              <a:t>的 </a:t>
            </a:r>
            <a:r>
              <a:rPr lang="en-US" altLang="zh-CN" sz="2400" dirty="0">
                <a:solidFill>
                  <a:srgbClr val="002060"/>
                </a:solidFill>
              </a:rPr>
              <a:t>item2 </a:t>
            </a:r>
            <a:r>
              <a:rPr lang="zh-CN" altLang="en-US" sz="2400" dirty="0"/>
              <a:t>赋给 </a:t>
            </a:r>
            <a:r>
              <a:rPr lang="en-US" altLang="zh-CN" sz="2400" dirty="0"/>
              <a:t>variable</a:t>
            </a:r>
          </a:p>
          <a:p>
            <a:pPr lvl="1"/>
            <a:r>
              <a:rPr lang="zh-CN" altLang="en-US" sz="2000" dirty="0"/>
              <a:t>执行</a:t>
            </a:r>
            <a:r>
              <a:rPr lang="en-US" altLang="zh-CN" sz="2000" dirty="0"/>
              <a:t>do</a:t>
            </a:r>
            <a:r>
              <a:rPr lang="zh-CN" altLang="en-US" sz="2000" dirty="0"/>
              <a:t>和</a:t>
            </a:r>
            <a:r>
              <a:rPr lang="en-US" altLang="zh-CN" sz="2000" dirty="0"/>
              <a:t>done</a:t>
            </a:r>
            <a:r>
              <a:rPr lang="zh-CN" altLang="en-US" sz="2000" dirty="0"/>
              <a:t>之间的 </a:t>
            </a:r>
            <a:r>
              <a:rPr lang="en-US" altLang="zh-CN" sz="2000" dirty="0">
                <a:solidFill>
                  <a:srgbClr val="002060"/>
                </a:solidFill>
              </a:rPr>
              <a:t>commands</a:t>
            </a:r>
          </a:p>
          <a:p>
            <a:pPr lvl="1"/>
            <a:r>
              <a:rPr lang="zh-CN" altLang="en-US" sz="2000" dirty="0"/>
              <a:t>如此循环，直到 </a:t>
            </a:r>
            <a:r>
              <a:rPr lang="en-US" altLang="zh-CN" sz="2000" dirty="0">
                <a:solidFill>
                  <a:srgbClr val="002060"/>
                </a:solidFill>
              </a:rPr>
              <a:t>list</a:t>
            </a:r>
            <a:r>
              <a:rPr lang="en-US" altLang="zh-CN" sz="2000" dirty="0"/>
              <a:t> </a:t>
            </a:r>
            <a:r>
              <a:rPr lang="zh-CN" altLang="en-US" sz="2000" dirty="0"/>
              <a:t>中的所有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item </a:t>
            </a:r>
            <a:r>
              <a:rPr lang="zh-CN" altLang="en-US" sz="2000" dirty="0"/>
              <a:t>值都已经用完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8A6A60D-419A-4527-8822-0E116D7B6F7E}"/>
              </a:ext>
            </a:extLst>
          </p:cNvPr>
          <p:cNvGrpSpPr/>
          <p:nvPr/>
        </p:nvGrpSpPr>
        <p:grpSpPr>
          <a:xfrm>
            <a:off x="659200" y="3971408"/>
            <a:ext cx="7976356" cy="2592288"/>
            <a:chOff x="556084" y="3861048"/>
            <a:chExt cx="7976356" cy="2592288"/>
          </a:xfrm>
        </p:grpSpPr>
        <p:sp>
          <p:nvSpPr>
            <p:cNvPr id="45" name="菱形 44"/>
            <p:cNvSpPr/>
            <p:nvPr/>
          </p:nvSpPr>
          <p:spPr>
            <a:xfrm>
              <a:off x="1187624" y="4725144"/>
              <a:ext cx="2088232" cy="936104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691680" y="486916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列表中是否有元素</a:t>
              </a:r>
            </a:p>
          </p:txBody>
        </p:sp>
        <p:sp>
          <p:nvSpPr>
            <p:cNvPr id="47" name="菱形 46"/>
            <p:cNvSpPr/>
            <p:nvPr/>
          </p:nvSpPr>
          <p:spPr>
            <a:xfrm>
              <a:off x="4355976" y="4725144"/>
              <a:ext cx="2088232" cy="936104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60032" y="486916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列表中是否有元素</a:t>
              </a: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4139952" y="6021288"/>
              <a:ext cx="2664296" cy="4320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variable</a:t>
              </a:r>
              <a:r>
                <a:rPr lang="en-US" altLang="zh-CN" dirty="0">
                  <a:solidFill>
                    <a:srgbClr val="FF0000"/>
                  </a:solidFill>
                </a:rPr>
                <a:t>=</a:t>
              </a:r>
              <a:r>
                <a:rPr lang="en-US" altLang="zh-CN" dirty="0">
                  <a:solidFill>
                    <a:srgbClr val="002060"/>
                  </a:solidFill>
                </a:rPr>
                <a:t>list(</a:t>
              </a:r>
              <a:r>
                <a:rPr lang="en-US" altLang="zh-CN" dirty="0" err="1">
                  <a:solidFill>
                    <a:srgbClr val="002060"/>
                  </a:solidFill>
                </a:rPr>
                <a:t>item_next</a:t>
              </a:r>
              <a:r>
                <a:rPr lang="en-US" altLang="zh-CN" dirty="0">
                  <a:solidFill>
                    <a:srgbClr val="002060"/>
                  </a:solidFill>
                </a:rPr>
                <a:t>)</a:t>
              </a:r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115616" y="3861048"/>
              <a:ext cx="2160240" cy="4320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variable</a:t>
              </a:r>
              <a:r>
                <a:rPr lang="en-US" altLang="zh-CN" dirty="0">
                  <a:solidFill>
                    <a:srgbClr val="FF0000"/>
                  </a:solidFill>
                </a:rPr>
                <a:t>=</a:t>
              </a:r>
              <a:r>
                <a:rPr lang="en-US" altLang="zh-CN" dirty="0">
                  <a:solidFill>
                    <a:srgbClr val="002060"/>
                  </a:solidFill>
                </a:rPr>
                <a:t>list(item1)</a:t>
              </a:r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7092280" y="4725144"/>
              <a:ext cx="936104" cy="93610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36296" y="4725144"/>
              <a:ext cx="8640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done</a:t>
              </a:r>
              <a:r>
                <a:rPr lang="zh-CN" altLang="en-US" b="1" dirty="0">
                  <a:ea typeface="楷体_GB2312" pitchFamily="49" charset="-122"/>
                </a:rPr>
                <a:t>结束循环</a:t>
              </a:r>
              <a:endParaRPr lang="zh-CN" altLang="en-US" dirty="0"/>
            </a:p>
          </p:txBody>
        </p:sp>
        <p:cxnSp>
          <p:nvCxnSpPr>
            <p:cNvPr id="56" name="直接箭头连接符 55"/>
            <p:cNvCxnSpPr>
              <a:cxnSpLocks/>
              <a:stCxn id="45" idx="0"/>
            </p:cNvCxnSpPr>
            <p:nvPr/>
          </p:nvCxnSpPr>
          <p:spPr>
            <a:xfrm flipV="1">
              <a:off x="2231740" y="4302388"/>
              <a:ext cx="0" cy="4227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691680" y="436510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cxnSp>
          <p:nvCxnSpPr>
            <p:cNvPr id="66" name="肘形连接符 65"/>
            <p:cNvCxnSpPr>
              <a:stCxn id="45" idx="2"/>
              <a:endCxn id="53" idx="2"/>
            </p:cNvCxnSpPr>
            <p:nvPr/>
          </p:nvCxnSpPr>
          <p:spPr>
            <a:xfrm rot="16200000" flipH="1">
              <a:off x="4896036" y="2996952"/>
              <a:ext cx="1588" cy="5328592"/>
            </a:xfrm>
            <a:prstGeom prst="bentConnector3">
              <a:avLst>
                <a:gd name="adj1" fmla="val 60804742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835696" y="580526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</a:t>
              </a:r>
            </a:p>
          </p:txBody>
        </p:sp>
        <p:cxnSp>
          <p:nvCxnSpPr>
            <p:cNvPr id="70" name="直接箭头连接符 69"/>
            <p:cNvCxnSpPr>
              <a:cxnSpLocks/>
              <a:stCxn id="51" idx="3"/>
            </p:cNvCxnSpPr>
            <p:nvPr/>
          </p:nvCxnSpPr>
          <p:spPr>
            <a:xfrm>
              <a:off x="3275856" y="4077072"/>
              <a:ext cx="8441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cxnSpLocks/>
              <a:endCxn id="45" idx="1"/>
            </p:cNvCxnSpPr>
            <p:nvPr/>
          </p:nvCxnSpPr>
          <p:spPr>
            <a:xfrm>
              <a:off x="556084" y="5193196"/>
              <a:ext cx="63154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cxnSpLocks/>
              <a:stCxn id="53" idx="3"/>
            </p:cNvCxnSpPr>
            <p:nvPr/>
          </p:nvCxnSpPr>
          <p:spPr>
            <a:xfrm>
              <a:off x="8028384" y="5193196"/>
              <a:ext cx="504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cxnSpLocks/>
              <a:stCxn id="79" idx="2"/>
              <a:endCxn id="47" idx="0"/>
            </p:cNvCxnSpPr>
            <p:nvPr/>
          </p:nvCxnSpPr>
          <p:spPr>
            <a:xfrm>
              <a:off x="5400092" y="4365104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4139952" y="3861048"/>
              <a:ext cx="2520280" cy="5040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572000" y="3933056"/>
              <a:ext cx="1728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do</a:t>
              </a:r>
              <a:r>
                <a:rPr lang="en-US" altLang="zh-CN" dirty="0"/>
                <a:t> Commands</a:t>
              </a:r>
              <a:endParaRPr lang="zh-CN" altLang="en-US" dirty="0"/>
            </a:p>
          </p:txBody>
        </p:sp>
        <p:cxnSp>
          <p:nvCxnSpPr>
            <p:cNvPr id="87" name="直接箭头连接符 86"/>
            <p:cNvCxnSpPr>
              <a:stCxn id="47" idx="3"/>
              <a:endCxn id="53" idx="1"/>
            </p:cNvCxnSpPr>
            <p:nvPr/>
          </p:nvCxnSpPr>
          <p:spPr>
            <a:xfrm>
              <a:off x="6444208" y="5193196"/>
              <a:ext cx="64807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>
              <a:cxnSpLocks/>
            </p:cNvCxnSpPr>
            <p:nvPr/>
          </p:nvCxnSpPr>
          <p:spPr>
            <a:xfrm>
              <a:off x="5393510" y="5648127"/>
              <a:ext cx="0" cy="3418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肘形连接符 90"/>
            <p:cNvCxnSpPr>
              <a:stCxn id="49" idx="1"/>
            </p:cNvCxnSpPr>
            <p:nvPr/>
          </p:nvCxnSpPr>
          <p:spPr>
            <a:xfrm rot="10800000">
              <a:off x="3707904" y="4077072"/>
              <a:ext cx="432048" cy="216024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580112" y="566124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516216" y="479715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11560" y="472514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for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标题 1">
            <a:extLst>
              <a:ext uri="{FF2B5EF4-FFF2-40B4-BE49-F238E27FC236}">
                <a16:creationId xmlns:a16="http://schemas.microsoft.com/office/drawing/2014/main" id="{80EFE69F-9066-43B8-9E96-5DDD3809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3" y="191715"/>
            <a:ext cx="8386439" cy="1052513"/>
          </a:xfrm>
        </p:spPr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—for</a:t>
            </a:r>
            <a:r>
              <a:rPr lang="zh-CN" altLang="en-US" dirty="0"/>
              <a:t>循环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7C7407-143C-4EE4-B943-A59CC9DFB31C}"/>
              </a:ext>
            </a:extLst>
          </p:cNvPr>
          <p:cNvSpPr txBox="1"/>
          <p:nvPr/>
        </p:nvSpPr>
        <p:spPr>
          <a:xfrm>
            <a:off x="659200" y="1280308"/>
            <a:ext cx="5704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foreach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型语句流程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51855" y="1481106"/>
            <a:ext cx="7488832" cy="3785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for1--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constant_as_list.sh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使用字面字符串列表作为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WordList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centos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ubuntu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gentoo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opensuse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"$x"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若列表项中包含空格必需使用引号括起来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Linux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Gnu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Hurd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FreeBSD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Mac OS X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"$x"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ls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-h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du 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sh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"==$x==" ; eval $x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  <a:endParaRPr lang="zh-CN" altLang="en-US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5445224"/>
            <a:ext cx="691276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centos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ubuntu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gentoo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opensuse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475656" y="6266175"/>
            <a:ext cx="691276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centos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ubuntu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gentoo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opensuse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44078" y="5602134"/>
            <a:ext cx="615553" cy="86409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比较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1F8D1A3-1E47-4D1E-A4AD-57F42E2F1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754" y="813789"/>
            <a:ext cx="474284" cy="707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3688" y="404664"/>
            <a:ext cx="691276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centos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ubuntu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gentoo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opensuse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763688" y="1225615"/>
            <a:ext cx="691276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centos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ubuntu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gentoo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</a:rPr>
              <a:t>opensuse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1C3812-FEAA-43A4-8B99-3661C93D28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14347"/>
          <a:stretch/>
        </p:blipFill>
        <p:spPr>
          <a:xfrm>
            <a:off x="-5860" y="1789905"/>
            <a:ext cx="10122476" cy="50680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74408FD-64DE-4E9C-BF13-77A413CA5F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3742" r="17116"/>
          <a:stretch/>
        </p:blipFill>
        <p:spPr>
          <a:xfrm>
            <a:off x="21632" y="-1"/>
            <a:ext cx="1294773" cy="1789905"/>
          </a:xfrm>
          <a:prstGeom prst="rect">
            <a:avLst/>
          </a:prstGeom>
        </p:spPr>
      </p:pic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7D2D6B8F-6A4F-4D48-88EC-3309D583C2AB}"/>
              </a:ext>
            </a:extLst>
          </p:cNvPr>
          <p:cNvCxnSpPr>
            <a:stCxn id="15" idx="3"/>
          </p:cNvCxnSpPr>
          <p:nvPr/>
        </p:nvCxnSpPr>
        <p:spPr bwMode="auto">
          <a:xfrm>
            <a:off x="1271104" y="444932"/>
            <a:ext cx="474284" cy="33993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4D7A2EA-24C6-469B-A777-E581F9DF0E1D}"/>
              </a:ext>
            </a:extLst>
          </p:cNvPr>
          <p:cNvSpPr/>
          <p:nvPr/>
        </p:nvSpPr>
        <p:spPr bwMode="auto">
          <a:xfrm>
            <a:off x="-16313" y="-2"/>
            <a:ext cx="1287417" cy="889868"/>
          </a:xfrm>
          <a:prstGeom prst="roundRect">
            <a:avLst>
              <a:gd name="adj" fmla="val 5787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alpha val="6000"/>
                </a:schemeClr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EBB7C79-4091-4E39-80F0-67C13003B396}"/>
              </a:ext>
            </a:extLst>
          </p:cNvPr>
          <p:cNvSpPr/>
          <p:nvPr/>
        </p:nvSpPr>
        <p:spPr bwMode="auto">
          <a:xfrm>
            <a:off x="-16314" y="1738790"/>
            <a:ext cx="4372290" cy="273799"/>
          </a:xfrm>
          <a:prstGeom prst="roundRect">
            <a:avLst>
              <a:gd name="adj" fmla="val 5787"/>
            </a:avLst>
          </a:prstGeom>
          <a:solidFill>
            <a:schemeClr val="accent2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alpha val="6000"/>
                </a:schemeClr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C83AB0A2-C950-47EB-81BE-7D6563ABA0FA}"/>
              </a:ext>
            </a:extLst>
          </p:cNvPr>
          <p:cNvCxnSpPr>
            <a:cxnSpLocks/>
            <a:stCxn id="21" idx="3"/>
            <a:endCxn id="9" idx="2"/>
          </p:cNvCxnSpPr>
          <p:nvPr/>
        </p:nvCxnSpPr>
        <p:spPr bwMode="auto">
          <a:xfrm flipV="1">
            <a:off x="4355976" y="1625725"/>
            <a:ext cx="864096" cy="249965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544BABAD-EFF8-45E3-B271-6A35ABFB261F}"/>
              </a:ext>
            </a:extLst>
          </p:cNvPr>
          <p:cNvCxnSpPr>
            <a:cxnSpLocks/>
            <a:endCxn id="25" idx="1"/>
          </p:cNvCxnSpPr>
          <p:nvPr/>
        </p:nvCxnSpPr>
        <p:spPr bwMode="auto">
          <a:xfrm flipV="1">
            <a:off x="3598307" y="2506773"/>
            <a:ext cx="1094288" cy="370300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E87FA3B-DD68-449F-976F-19B47412F9FB}"/>
              </a:ext>
            </a:extLst>
          </p:cNvPr>
          <p:cNvSpPr/>
          <p:nvPr/>
        </p:nvSpPr>
        <p:spPr bwMode="auto">
          <a:xfrm>
            <a:off x="-16314" y="2880563"/>
            <a:ext cx="8260722" cy="1647607"/>
          </a:xfrm>
          <a:prstGeom prst="roundRect">
            <a:avLst>
              <a:gd name="adj" fmla="val 7251"/>
            </a:avLst>
          </a:prstGeom>
          <a:solidFill>
            <a:srgbClr val="FFCCFF">
              <a:alpha val="1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28282C4-4BDB-46CF-9F0D-A444F4AB128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2563"/>
          <a:stretch/>
        </p:blipFill>
        <p:spPr>
          <a:xfrm>
            <a:off x="4692595" y="1996084"/>
            <a:ext cx="4741435" cy="102137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C876B7BE-4A9A-452C-B238-A6584AB6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856" y="2991634"/>
            <a:ext cx="1489876" cy="164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474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3568" y="1526014"/>
            <a:ext cx="7992888" cy="41549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for2--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variable_as_list.sh</a:t>
            </a:r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#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使用变量作为 </a:t>
            </a:r>
            <a:r>
              <a:rPr lang="en-US" altLang="zh-CN" sz="2200" b="1" dirty="0" err="1">
                <a:solidFill>
                  <a:srgbClr val="FF0000"/>
                </a:solidFill>
                <a:latin typeface="+mn-ea"/>
              </a:rPr>
              <a:t>WordList</a:t>
            </a:r>
            <a:endParaRPr lang="en-US" altLang="zh-CN" sz="2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=1; weekdays="Mon Tue Wed Thu Fri"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day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$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weekdays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“First</a:t>
            </a:r>
            <a:r>
              <a:rPr lang="zh-CN" altLang="en-US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：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$((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: $day"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endParaRPr lang="en-US" altLang="zh-CN" sz="2200" b="1" dirty="0" smtClean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day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r>
              <a:rPr lang="en-US" altLang="zh-CN" sz="2200" b="1" dirty="0" smtClean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$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weekdays</a:t>
            </a:r>
            <a:r>
              <a:rPr lang="en-US" altLang="zh-CN" sz="2200" b="1" dirty="0" smtClean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";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“Second</a:t>
            </a:r>
            <a:r>
              <a:rPr lang="zh-CN" altLang="en-US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：</a:t>
            </a:r>
            <a:r>
              <a:rPr lang="en-US" altLang="zh-CN" sz="22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$((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: $day"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7664" y="5846494"/>
            <a:ext cx="6912768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day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$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weekdays </a:t>
            </a:r>
            <a:endParaRPr lang="zh-CN" alt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1547664" y="6341258"/>
            <a:ext cx="6912768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for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day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</a:rPr>
              <a:t>in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"$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weekdays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"</a:t>
            </a:r>
            <a:endParaRPr lang="zh-CN" altLang="en-US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716087" y="5846494"/>
            <a:ext cx="615553" cy="86409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比较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1628800"/>
            <a:ext cx="81729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./variable_as_list.sh </a:t>
            </a:r>
          </a:p>
          <a:p>
            <a:r>
              <a:rPr lang="zh-CN" altLang="en-US" sz="2400" dirty="0"/>
              <a:t>First：Weekday 1 : Mon</a:t>
            </a:r>
          </a:p>
          <a:p>
            <a:r>
              <a:rPr lang="zh-CN" altLang="en-US" sz="2400" dirty="0"/>
              <a:t>First：Weekday 2 : Tue</a:t>
            </a:r>
          </a:p>
          <a:p>
            <a:r>
              <a:rPr lang="zh-CN" altLang="en-US" sz="2400" dirty="0"/>
              <a:t>First：Weekday 3 : Wed</a:t>
            </a:r>
          </a:p>
          <a:p>
            <a:r>
              <a:rPr lang="zh-CN" altLang="en-US" sz="2400" dirty="0"/>
              <a:t>First：Weekday 4 : Thu</a:t>
            </a:r>
          </a:p>
          <a:p>
            <a:r>
              <a:rPr lang="zh-CN" altLang="en-US" sz="2400" dirty="0"/>
              <a:t>First：Weekday 5 : Fri</a:t>
            </a:r>
          </a:p>
          <a:p>
            <a:r>
              <a:rPr lang="zh-CN" altLang="en-US" sz="2400" dirty="0"/>
              <a:t>Second：Weekday 6 : Mon Tue Wed Thu Fri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</a:t>
            </a:r>
          </a:p>
        </p:txBody>
      </p:sp>
    </p:spTree>
    <p:extLst>
      <p:ext uri="{BB962C8B-B14F-4D97-AF65-F5344CB8AC3E}">
        <p14:creationId xmlns:p14="http://schemas.microsoft.com/office/powerpoint/2010/main" val="286464167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5474" y="1547500"/>
            <a:ext cx="7992888" cy="44012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for3--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pp_as_list.sh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使用位置参数变量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$@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作为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WordList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in $@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可以省略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day ;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-n "Positional parameter $((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++)): $day 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$day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[Mm]on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Ww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ed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hu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[Ff]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ri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echo " (weekday)"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[Ss]at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[Ss]un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echo " (WEEKEND)"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*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)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echo " (Invalid weekday)"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esac</a:t>
            </a:r>
            <a:endParaRPr lang="en-US" altLang="zh-CN" sz="2000" b="1" dirty="0">
              <a:solidFill>
                <a:srgbClr val="C0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86" y="6251977"/>
            <a:ext cx="874846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$ ./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for3--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pp_as_list.sh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Mon Tue wed Thu Fri sat Sun 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lundi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F0CB29-A111-45CC-A1E9-585FAE9FA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2623" r="24354"/>
          <a:stretch/>
        </p:blipFill>
        <p:spPr>
          <a:xfrm>
            <a:off x="15900" y="2343499"/>
            <a:ext cx="9144000" cy="21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0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</a:t>
            </a:r>
            <a:r>
              <a:rPr lang="zh-CN" altLang="en-US" u="sng" dirty="0"/>
              <a:t>举例</a:t>
            </a:r>
            <a:r>
              <a:rPr lang="en-US" altLang="zh-CN" u="sng" dirty="0"/>
              <a:t>4</a:t>
            </a:r>
            <a:endParaRPr lang="zh-CN" altLang="en-US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1005890" y="1331124"/>
            <a:ext cx="7200799" cy="54476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for4--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filenames_as_list.sh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</a:rPr>
              <a:t># 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使用文件名或目录名列表作为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</a:rPr>
              <a:t>WordList</a:t>
            </a:r>
            <a:endParaRPr lang="en-US" altLang="zh-CN" b="1" dirty="0">
              <a:solidFill>
                <a:srgbClr val="0000FF"/>
              </a:solidFill>
              <a:latin typeface="+mn-ea"/>
            </a:endParaRPr>
          </a:p>
          <a:p>
            <a:endParaRPr lang="en-US" altLang="zh-CN" b="1" dirty="0">
              <a:solidFill>
                <a:srgbClr val="00206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将当前目录下的所有的大写文件名改为小写文件名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filename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* 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;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# </a:t>
            </a:r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使用命令替换生成小写的文件名，赋予新的变量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fn=$(echo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|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A-Z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a-z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# </a:t>
            </a:r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若新生成的小写文件名与原文件名不同，改为小写的文件名</a:t>
            </a:r>
          </a:p>
          <a:p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[[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!= $fn ]]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then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mv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$fn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# </a:t>
            </a:r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上面的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if </a:t>
            </a:r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语句与下面的命令聚合均等效</a:t>
            </a:r>
          </a:p>
          <a:p>
            <a:r>
              <a:rPr lang="zh-CN" altLang="en-US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[[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!= $fn ]] &amp;&amp;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mv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$fn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# [[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== $fn ]] ||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mv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fname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$fn</a:t>
            </a:r>
          </a:p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fn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/etc/[</a:t>
            </a:r>
            <a:r>
              <a:rPr lang="en-US" altLang="zh-CN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abcd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]*.conf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$fn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fn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/etc/</a:t>
            </a:r>
            <a:r>
              <a:rPr lang="en-US" altLang="zh-CN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cron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.{*</a:t>
            </a:r>
            <a:r>
              <a:rPr lang="en-US" altLang="zh-CN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ly,d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}/*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$fn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 done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*.zip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j="${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i%.zip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}";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mkdir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"$j" &amp;&amp; unzip -d "$j" "$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</a:t>
            </a:r>
            <a:endParaRPr lang="en-US" altLang="zh-CN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  <a:endParaRPr lang="en-US" altLang="zh-CN" sz="19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5556" y="1484784"/>
            <a:ext cx="8172908" cy="47397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for5--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command_output_as_list.sh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使用命令的执行结果作为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WordList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username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`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awk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-F: '{print $1}' /etc/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passwd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`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"Username $((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: $username"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endParaRPr lang="en-US" altLang="zh-CN" sz="1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line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$(cat 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files.txt|egrep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-v "^$|^#")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"$line"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1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suffix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$(seq 254)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#seq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{}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生成序列，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P281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表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10-11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"192.168.0.${suffix}"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  <a:p>
            <a:endParaRPr lang="en-US" altLang="zh-CN" sz="1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$( 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ls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/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/ )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$f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546" y="1702197"/>
            <a:ext cx="7992888" cy="4616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for6--range-of-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numbers_as_list.sh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使用数值范围作为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WordList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mynet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="192.168.0"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{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..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254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IPAdress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$num: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mynet.$num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endParaRPr lang="en-US" altLang="zh-CN" sz="1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使用包含步长（</a:t>
            </a:r>
            <a:r>
              <a:rPr lang="en-US" altLang="zh-CN" sz="2000" b="1" dirty="0"/>
              <a:t>increment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）的数值范围作为 </a:t>
            </a:r>
            <a:r>
              <a:rPr lang="en-US" altLang="zh-CN" sz="2000" b="1" dirty="0" err="1">
                <a:solidFill>
                  <a:srgbClr val="002060"/>
                </a:solidFill>
                <a:latin typeface="+mn-ea"/>
              </a:rPr>
              <a:t>WordList</a:t>
            </a:r>
            <a:endParaRPr lang="en-US" altLang="zh-CN" sz="2000" b="1" dirty="0">
              <a:solidFill>
                <a:srgbClr val="002060"/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{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..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10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..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2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"Number: $num"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DD9ACA-12BE-4625-81ED-4E17DFE89523}"/>
              </a:ext>
            </a:extLst>
          </p:cNvPr>
          <p:cNvSpPr/>
          <p:nvPr/>
        </p:nvSpPr>
        <p:spPr bwMode="auto">
          <a:xfrm>
            <a:off x="54546" y="2998341"/>
            <a:ext cx="5544616" cy="1512168"/>
          </a:xfrm>
          <a:prstGeom prst="roundRect">
            <a:avLst>
              <a:gd name="adj" fmla="val 9108"/>
            </a:avLst>
          </a:prstGeom>
          <a:solidFill>
            <a:schemeClr val="accent1">
              <a:alpha val="1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240394F-D000-4381-99F0-C0DF64012949}"/>
              </a:ext>
            </a:extLst>
          </p:cNvPr>
          <p:cNvSpPr/>
          <p:nvPr/>
        </p:nvSpPr>
        <p:spPr bwMode="auto">
          <a:xfrm>
            <a:off x="54546" y="5022701"/>
            <a:ext cx="5544616" cy="1224136"/>
          </a:xfrm>
          <a:prstGeom prst="roundRect">
            <a:avLst>
              <a:gd name="adj" fmla="val 9108"/>
            </a:avLst>
          </a:prstGeom>
          <a:solidFill>
            <a:srgbClr val="0000FF">
              <a:alpha val="1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4389A6-496F-4979-B7FC-62A2259C39A4}"/>
              </a:ext>
            </a:extLst>
          </p:cNvPr>
          <p:cNvSpPr txBox="1"/>
          <p:nvPr/>
        </p:nvSpPr>
        <p:spPr>
          <a:xfrm>
            <a:off x="6870923" y="5016202"/>
            <a:ext cx="1380506" cy="16312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Number: 1</a:t>
            </a:r>
          </a:p>
          <a:p>
            <a:r>
              <a:rPr lang="en-US" altLang="zh-CN" sz="2000" dirty="0"/>
              <a:t>Number: 3</a:t>
            </a:r>
          </a:p>
          <a:p>
            <a:r>
              <a:rPr lang="en-US" altLang="zh-CN" sz="2000" dirty="0"/>
              <a:t>Number: 5</a:t>
            </a:r>
          </a:p>
          <a:p>
            <a:r>
              <a:rPr lang="en-US" altLang="zh-CN" sz="2000" dirty="0"/>
              <a:t>Number: 7</a:t>
            </a:r>
          </a:p>
          <a:p>
            <a:r>
              <a:rPr lang="en-US" altLang="zh-CN" sz="2000" dirty="0"/>
              <a:t>Number: 9</a:t>
            </a:r>
            <a:endParaRPr lang="en-US" altLang="zh-CN" dirty="0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DBACA444-1BBE-4C3D-AF0D-1167F73AE2C1}"/>
              </a:ext>
            </a:extLst>
          </p:cNvPr>
          <p:cNvCxnSpPr>
            <a:stCxn id="8" idx="3"/>
            <a:endCxn id="9" idx="1"/>
          </p:cNvCxnSpPr>
          <p:nvPr/>
        </p:nvCxnSpPr>
        <p:spPr bwMode="auto">
          <a:xfrm>
            <a:off x="5599162" y="5634769"/>
            <a:ext cx="1271761" cy="197041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FB945BC-F27A-4303-AE4F-433926D2D538}"/>
              </a:ext>
            </a:extLst>
          </p:cNvPr>
          <p:cNvSpPr txBox="1"/>
          <p:nvPr/>
        </p:nvSpPr>
        <p:spPr>
          <a:xfrm>
            <a:off x="5934819" y="2543592"/>
            <a:ext cx="3155544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pt-BR" altLang="zh-CN" dirty="0"/>
              <a:t>IPAdress 1: 192.168.0.1</a:t>
            </a:r>
          </a:p>
          <a:p>
            <a:r>
              <a:rPr lang="pt-BR" altLang="zh-CN" dirty="0"/>
              <a:t>IPAdress 2: 192.168.0.2</a:t>
            </a:r>
          </a:p>
          <a:p>
            <a:r>
              <a:rPr lang="en-US" altLang="zh-CN" dirty="0"/>
              <a:t>······</a:t>
            </a:r>
            <a:endParaRPr lang="pt-BR" altLang="zh-CN" dirty="0"/>
          </a:p>
          <a:p>
            <a:r>
              <a:rPr lang="pt-BR" altLang="zh-CN" dirty="0"/>
              <a:t>IPAdress 253: 192.168.0.253</a:t>
            </a:r>
          </a:p>
          <a:p>
            <a:r>
              <a:rPr lang="pt-BR" altLang="zh-CN" dirty="0"/>
              <a:t>IPAdress 254: 192.168.0.254</a:t>
            </a: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45744548-36FC-4474-A4E0-6E3D978F6B46}"/>
              </a:ext>
            </a:extLst>
          </p:cNvPr>
          <p:cNvCxnSpPr/>
          <p:nvPr/>
        </p:nvCxnSpPr>
        <p:spPr bwMode="auto">
          <a:xfrm flipV="1">
            <a:off x="5599162" y="3645024"/>
            <a:ext cx="335657" cy="136044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5556" y="1484784"/>
            <a:ext cx="8371594" cy="34778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addusers_foreach.sh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# 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成批添加</a:t>
            </a:r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50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个用户</a:t>
            </a:r>
            <a:endParaRPr lang="en-US" altLang="zh-CN" sz="2000" b="1" dirty="0">
              <a:solidFill>
                <a:srgbClr val="002060"/>
              </a:solidFill>
              <a:latin typeface="+mn-ea"/>
            </a:endParaRPr>
          </a:p>
          <a:p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{1..50}     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或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$(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seq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50)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useradd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user${x} #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添加用户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“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centos”|passwd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--stdin user${x}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	#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设置用户密码为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centos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chage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-d 0  user${x} #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用户下次登录之后修改口令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5CF9E5-B676-4D6F-971A-400AE405D8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7331"/>
          <a:stretch/>
        </p:blipFill>
        <p:spPr>
          <a:xfrm>
            <a:off x="575556" y="5013176"/>
            <a:ext cx="8371594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5576" y="1556792"/>
            <a:ext cx="7992888" cy="47089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for--ssh-keyscan_from_ips.sh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 for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语句可嵌套</a:t>
            </a:r>
            <a:endParaRPr lang="en-US" altLang="zh-CN" sz="2000" b="1" dirty="0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lang="nn-NO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nn-NO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nn-NO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nn-NO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0 1 2 </a:t>
            </a:r>
            <a:r>
              <a:rPr lang="nn-NO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  <a:endParaRPr lang="nn-NO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for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suffix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{1..254}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=192.168.$i.${suffix}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ping -c1 -w2 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&amp;&gt;/dev/null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ssh-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keyscan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-t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rsa,dsa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\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   &gt;&gt; ~/.ssh/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known_hosts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echo "Host ($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is DOWN."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done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break </a:t>
            </a:r>
            <a:r>
              <a:rPr lang="zh-CN" altLang="en-US" dirty="0"/>
              <a:t>和 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772616" y="2253183"/>
            <a:ext cx="7920682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en-US" altLang="zh-CN" sz="2400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用于强行退出当前循环。</a:t>
            </a:r>
          </a:p>
          <a:p>
            <a:pPr>
              <a:lnSpc>
                <a:spcPct val="105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 如果是嵌套循环，则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break</a:t>
            </a:r>
            <a:r>
              <a:rPr kumimoji="1" lang="en-US" altLang="zh-CN" sz="2400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命令后面可以跟一数字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，表示退出第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n</a:t>
            </a:r>
            <a:r>
              <a:rPr kumimoji="1" lang="en-US" altLang="zh-CN" sz="2400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重循环（最里面的为第一重循环）。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772616" y="4452590"/>
            <a:ext cx="8064698" cy="17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en-US" altLang="zh-CN" sz="2400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用于忽略本次循环的剩余部分，回到循环的顶部，继续下一次循环。</a:t>
            </a:r>
          </a:p>
          <a:p>
            <a:pPr>
              <a:lnSpc>
                <a:spcPct val="105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 如果是嵌套循环，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continue</a:t>
            </a:r>
            <a:r>
              <a:rPr kumimoji="1" lang="en-US" altLang="zh-CN" sz="2400" b="1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命令后面也可跟一数字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，表示回到第 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n</a:t>
            </a:r>
            <a:r>
              <a:rPr kumimoji="1" lang="en-US" altLang="zh-CN" sz="2400" dirty="0">
                <a:latin typeface="Times New Roman" pitchFamily="18" charset="0"/>
                <a:ea typeface="黑体" pitchFamily="2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黑体" pitchFamily="2" charset="-122"/>
              </a:rPr>
              <a:t>重循环的顶部。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916632" y="1554510"/>
            <a:ext cx="754380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990000"/>
                </a:solidFill>
                <a:latin typeface="Courier New" pitchFamily="49" charset="0"/>
              </a:rPr>
              <a:t>break</a:t>
            </a:r>
            <a:r>
              <a:rPr kumimoji="1" lang="en-US" altLang="zh-CN" sz="2800" b="1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kumimoji="1" lang="en-US" altLang="zh-CN" sz="2800" b="1">
                <a:solidFill>
                  <a:srgbClr val="FF3300"/>
                </a:solidFill>
                <a:latin typeface="Courier New" pitchFamily="49" charset="0"/>
              </a:rPr>
              <a:t>[</a:t>
            </a:r>
            <a:r>
              <a:rPr kumimoji="1" lang="en-US" altLang="zh-CN" sz="2800" b="1">
                <a:solidFill>
                  <a:srgbClr val="0000CC"/>
                </a:solidFill>
                <a:latin typeface="Courier New" pitchFamily="49" charset="0"/>
              </a:rPr>
              <a:t>n</a:t>
            </a:r>
            <a:r>
              <a:rPr kumimoji="1" lang="en-US" altLang="zh-CN" sz="2800" b="1">
                <a:solidFill>
                  <a:srgbClr val="FF3300"/>
                </a:solidFill>
                <a:latin typeface="Courier New" pitchFamily="49" charset="0"/>
              </a:rPr>
              <a:t>]</a:t>
            </a:r>
            <a:endParaRPr kumimoji="1" lang="en-US" altLang="zh-CN" sz="2800" b="1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16632" y="3662545"/>
            <a:ext cx="754380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99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990000"/>
                </a:solidFill>
                <a:latin typeface="Courier New" pitchFamily="49" charset="0"/>
              </a:rPr>
              <a:t>continue</a:t>
            </a:r>
            <a:r>
              <a:rPr kumimoji="1" lang="en-US" altLang="zh-CN" sz="2800" b="1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kumimoji="1" lang="en-US" altLang="zh-CN" sz="2800" b="1">
                <a:solidFill>
                  <a:srgbClr val="FF3300"/>
                </a:solidFill>
                <a:latin typeface="Courier New" pitchFamily="49" charset="0"/>
              </a:rPr>
              <a:t>[</a:t>
            </a:r>
            <a:r>
              <a:rPr kumimoji="1" lang="en-US" altLang="zh-CN" sz="2800" b="1">
                <a:solidFill>
                  <a:srgbClr val="0000CC"/>
                </a:solidFill>
                <a:latin typeface="Courier New" pitchFamily="49" charset="0"/>
              </a:rPr>
              <a:t>n</a:t>
            </a:r>
            <a:r>
              <a:rPr kumimoji="1" lang="en-US" altLang="zh-CN" sz="2800" b="1">
                <a:solidFill>
                  <a:srgbClr val="FF3300"/>
                </a:solidFill>
                <a:latin typeface="Courier New" pitchFamily="49" charset="0"/>
              </a:rPr>
              <a:t>]</a:t>
            </a:r>
            <a:endParaRPr kumimoji="1" lang="en-US" altLang="zh-CN" sz="2800" b="1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484784"/>
            <a:ext cx="7992888" cy="3785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for-loop_and_break.sh</a:t>
            </a:r>
          </a:p>
          <a:p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day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Mon Tue Wed Thu Fri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echo "Weekday $((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: $day"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if [ 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-eq 3 ]; then #-eq </a:t>
            </a:r>
            <a:r>
              <a:rPr lang="zh-CN" altLang="en-US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等于判断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break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D0C3B0-D0D8-445B-A5FA-DB6AA4540E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36457" r="30282"/>
          <a:stretch/>
        </p:blipFill>
        <p:spPr>
          <a:xfrm>
            <a:off x="827584" y="5537632"/>
            <a:ext cx="5849788" cy="698401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297300"/>
            <a:ext cx="7992888" cy="3785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for-loop_and_continue.sh</a:t>
            </a: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day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in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Mon Tue Wed Thu Fri Sat Sun</a:t>
            </a:r>
            <a:endParaRPr lang="en-US" altLang="zh-CN" sz="20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echo -n "Day $((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: $day"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if [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-eq 7 -o $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-eq 8 ]; then #-o 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或者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echo " (WEEKEND)"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continue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echo " (weekday)"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474863-38AD-45FB-9B22-BE577FF54E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" b="1907"/>
          <a:stretch/>
        </p:blipFill>
        <p:spPr>
          <a:xfrm>
            <a:off x="353269" y="4941168"/>
            <a:ext cx="3996609" cy="19168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B4DA44-7E58-4DAB-B419-D63BC5DA0AA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1682"/>
          <a:stretch/>
        </p:blipFill>
        <p:spPr>
          <a:xfrm>
            <a:off x="4691385" y="4249274"/>
            <a:ext cx="4255765" cy="2608726"/>
          </a:xfrm>
          <a:prstGeom prst="rect">
            <a:avLst/>
          </a:prstGeom>
        </p:spPr>
      </p:pic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E271892B-6290-47D4-86D0-A6C39A17749D}"/>
              </a:ext>
            </a:extLst>
          </p:cNvPr>
          <p:cNvCxnSpPr>
            <a:stCxn id="7" idx="1"/>
          </p:cNvCxnSpPr>
          <p:nvPr/>
        </p:nvCxnSpPr>
        <p:spPr bwMode="auto">
          <a:xfrm rot="10800000" flipV="1">
            <a:off x="539552" y="3190126"/>
            <a:ext cx="288032" cy="175104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foreach</a:t>
            </a:r>
            <a:r>
              <a:rPr lang="zh-CN" altLang="en-US" dirty="0"/>
              <a:t>型）举例</a:t>
            </a: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484784"/>
            <a:ext cx="7992888" cy="48936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var1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1 2 3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var2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0 5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[ $var1 -eq 2 -a $var2 -eq 0 ]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then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break 2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else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echo "$var1 $var2"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fi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0DA8BF-7EF0-4F38-939F-3106BC458AEB}"/>
              </a:ext>
            </a:extLst>
          </p:cNvPr>
          <p:cNvSpPr txBox="1"/>
          <p:nvPr/>
        </p:nvSpPr>
        <p:spPr>
          <a:xfrm>
            <a:off x="4067944" y="3789040"/>
            <a:ext cx="576064" cy="707886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1 0</a:t>
            </a:r>
          </a:p>
          <a:p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1 5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554035-858F-48C6-9972-912A0FD4D1D6}"/>
              </a:ext>
            </a:extLst>
          </p:cNvPr>
          <p:cNvSpPr txBox="1"/>
          <p:nvPr/>
        </p:nvSpPr>
        <p:spPr>
          <a:xfrm>
            <a:off x="5076056" y="4035261"/>
            <a:ext cx="1565920" cy="46166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break 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D94B95-428B-476E-8BE9-4ADB5276EE44}"/>
              </a:ext>
            </a:extLst>
          </p:cNvPr>
          <p:cNvSpPr txBox="1"/>
          <p:nvPr/>
        </p:nvSpPr>
        <p:spPr>
          <a:xfrm>
            <a:off x="6984268" y="3717032"/>
            <a:ext cx="576064" cy="1323439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1 0</a:t>
            </a:r>
          </a:p>
          <a:p>
            <a:r>
              <a:rPr lang="zh-CN" altLang="en-US" dirty="0"/>
              <a:t>1 5</a:t>
            </a:r>
          </a:p>
          <a:p>
            <a:r>
              <a:rPr lang="zh-CN" altLang="en-US" dirty="0"/>
              <a:t>3 0</a:t>
            </a:r>
          </a:p>
          <a:p>
            <a:r>
              <a:rPr lang="zh-CN" altLang="en-US" dirty="0"/>
              <a:t>3 5</a:t>
            </a:r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B1507780-0DBA-4F9E-B736-38E921127A79}"/>
              </a:ext>
            </a:extLst>
          </p:cNvPr>
          <p:cNvCxnSpPr/>
          <p:nvPr/>
        </p:nvCxnSpPr>
        <p:spPr bwMode="auto">
          <a:xfrm>
            <a:off x="6372200" y="4218040"/>
            <a:ext cx="612068" cy="160711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088B5CF-FF22-4F3D-9786-E99C74516CE3}"/>
              </a:ext>
            </a:extLst>
          </p:cNvPr>
          <p:cNvSpPr txBox="1"/>
          <p:nvPr/>
        </p:nvSpPr>
        <p:spPr>
          <a:xfrm>
            <a:off x="2483768" y="5345326"/>
            <a:ext cx="2016224" cy="46166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continue 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6B0887-6A5B-440B-82C1-CDEC6FF65109}"/>
              </a:ext>
            </a:extLst>
          </p:cNvPr>
          <p:cNvSpPr txBox="1"/>
          <p:nvPr/>
        </p:nvSpPr>
        <p:spPr>
          <a:xfrm>
            <a:off x="4973377" y="5145271"/>
            <a:ext cx="539917" cy="1323439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1 0</a:t>
            </a:r>
          </a:p>
          <a:p>
            <a:r>
              <a:rPr lang="zh-CN" altLang="en-US" dirty="0"/>
              <a:t>1 5</a:t>
            </a:r>
          </a:p>
          <a:p>
            <a:r>
              <a:rPr lang="zh-CN" altLang="en-US" dirty="0"/>
              <a:t>3 0</a:t>
            </a:r>
          </a:p>
          <a:p>
            <a:r>
              <a:rPr lang="zh-CN" altLang="en-US" dirty="0"/>
              <a:t>3 5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640899-76ED-457B-94F8-A2B2CDCF83F2}"/>
              </a:ext>
            </a:extLst>
          </p:cNvPr>
          <p:cNvSpPr txBox="1"/>
          <p:nvPr/>
        </p:nvSpPr>
        <p:spPr>
          <a:xfrm>
            <a:off x="2157958" y="4062263"/>
            <a:ext cx="1565920" cy="46166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break 2</a:t>
            </a: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85FBA710-45E9-4C98-BC95-CCB7C6797CF4}"/>
              </a:ext>
            </a:extLst>
          </p:cNvPr>
          <p:cNvCxnSpPr>
            <a:endCxn id="6" idx="1"/>
          </p:cNvCxnSpPr>
          <p:nvPr/>
        </p:nvCxnSpPr>
        <p:spPr bwMode="auto">
          <a:xfrm flipV="1">
            <a:off x="3563888" y="4142983"/>
            <a:ext cx="504056" cy="123110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F377F5-BAD1-4D65-B8D0-F591DCC90EAF}"/>
              </a:ext>
            </a:extLst>
          </p:cNvPr>
          <p:cNvCxnSpPr/>
          <p:nvPr/>
        </p:nvCxnSpPr>
        <p:spPr bwMode="auto">
          <a:xfrm>
            <a:off x="4355976" y="5576158"/>
            <a:ext cx="617401" cy="133709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0EBE771-EB77-4AB3-83CF-88D9E21E8341}"/>
              </a:ext>
            </a:extLst>
          </p:cNvPr>
          <p:cNvSpPr txBox="1"/>
          <p:nvPr/>
        </p:nvSpPr>
        <p:spPr>
          <a:xfrm>
            <a:off x="8261219" y="5080342"/>
            <a:ext cx="540203" cy="1631216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1 0</a:t>
            </a:r>
          </a:p>
          <a:p>
            <a:r>
              <a:rPr lang="zh-CN" altLang="en-US" dirty="0"/>
              <a:t>1 5</a:t>
            </a:r>
          </a:p>
          <a:p>
            <a:r>
              <a:rPr lang="zh-CN" altLang="en-US" dirty="0"/>
              <a:t>2 5</a:t>
            </a:r>
          </a:p>
          <a:p>
            <a:r>
              <a:rPr lang="zh-CN" altLang="en-US" dirty="0"/>
              <a:t>3 0</a:t>
            </a:r>
          </a:p>
          <a:p>
            <a:r>
              <a:rPr lang="zh-CN" altLang="en-US" dirty="0"/>
              <a:t>3 5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8CEEACE-55BE-4C82-9E93-B938632AB18A}"/>
              </a:ext>
            </a:extLst>
          </p:cNvPr>
          <p:cNvSpPr txBox="1"/>
          <p:nvPr/>
        </p:nvSpPr>
        <p:spPr>
          <a:xfrm>
            <a:off x="5724128" y="5349909"/>
            <a:ext cx="2016224" cy="46166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continue 1</a:t>
            </a:r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582A8B3E-64BF-402A-A9E0-2D964E77F572}"/>
              </a:ext>
            </a:extLst>
          </p:cNvPr>
          <p:cNvCxnSpPr/>
          <p:nvPr/>
        </p:nvCxnSpPr>
        <p:spPr bwMode="auto">
          <a:xfrm>
            <a:off x="7596336" y="5580741"/>
            <a:ext cx="612068" cy="330542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791043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—for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0449" y="1365796"/>
            <a:ext cx="7772400" cy="4114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CN" sz="3000" dirty="0"/>
              <a:t>for</a:t>
            </a:r>
            <a:r>
              <a:rPr lang="zh-CN" altLang="en-US" sz="3000" dirty="0"/>
              <a:t>循环（</a:t>
            </a:r>
            <a:r>
              <a:rPr lang="en-US" altLang="zh-CN" sz="3000" dirty="0"/>
              <a:t>C</a:t>
            </a:r>
            <a:r>
              <a:rPr lang="zh-CN" altLang="en-US" sz="3000" dirty="0"/>
              <a:t>语言型）语法</a:t>
            </a:r>
            <a:endParaRPr lang="en-US" altLang="zh-CN" sz="30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>
              <a:spcBef>
                <a:spcPts val="2400"/>
              </a:spcBef>
            </a:pPr>
            <a:r>
              <a:rPr lang="zh-CN" altLang="en-US" sz="3000" dirty="0"/>
              <a:t>说明</a:t>
            </a:r>
            <a:endParaRPr lang="en-US" altLang="zh-CN" sz="3000" dirty="0"/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zh-CN" altLang="en-US" sz="2400" dirty="0">
                <a:ea typeface="黑体" pitchFamily="2" charset="-122"/>
              </a:rPr>
              <a:t>通常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r>
              <a:rPr lang="zh-CN" altLang="en-US" sz="2400" b="0" dirty="0">
                <a:latin typeface="Courier New" pitchFamily="49" charset="0"/>
                <a:ea typeface="楷体_GB2312" pitchFamily="49" charset="-122"/>
              </a:rPr>
              <a:t>和</a:t>
            </a:r>
            <a:r>
              <a:rPr lang="en-US" altLang="zh-CN" sz="2400" b="0" dirty="0">
                <a:ea typeface="黑体" pitchFamily="2" charset="-122"/>
              </a:rPr>
              <a:t>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expr3</a:t>
            </a:r>
            <a:r>
              <a:rPr lang="zh-CN" altLang="en-US" sz="2400" dirty="0">
                <a:ea typeface="黑体" pitchFamily="2" charset="-122"/>
              </a:rPr>
              <a:t>是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算数表达式；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 expr2</a:t>
            </a:r>
            <a:r>
              <a:rPr lang="zh-CN" altLang="en-US" sz="2400" dirty="0">
                <a:ea typeface="黑体" pitchFamily="2" charset="-122"/>
              </a:rPr>
              <a:t>是</a:t>
            </a:r>
            <a:r>
              <a:rPr lang="zh-CN" altLang="en-US" sz="2400" dirty="0">
                <a:solidFill>
                  <a:srgbClr val="0000CC"/>
                </a:solidFill>
                <a:ea typeface="黑体" pitchFamily="2" charset="-122"/>
              </a:rPr>
              <a:t>逻辑表达式</a:t>
            </a:r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r>
              <a:rPr lang="zh-CN" altLang="en-US" sz="2400" dirty="0">
                <a:ea typeface="黑体" pitchFamily="2" charset="-122"/>
              </a:rPr>
              <a:t>：初始值，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仅在循环开始之初执行一次</a:t>
            </a:r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expr2</a:t>
            </a:r>
            <a:r>
              <a:rPr lang="zh-CN" altLang="en-US" sz="2400" dirty="0">
                <a:ea typeface="黑体" pitchFamily="2" charset="-122"/>
              </a:rPr>
              <a:t>：限制值，在每次执行循环体前执行一次</a:t>
            </a:r>
            <a:endParaRPr lang="en-US" altLang="zh-CN" sz="2400" dirty="0">
              <a:ea typeface="黑体" pitchFamily="2" charset="-122"/>
            </a:endParaRPr>
          </a:p>
          <a:p>
            <a:pPr lvl="1">
              <a:lnSpc>
                <a:spcPct val="110000"/>
              </a:lnSpc>
              <a:buClr>
                <a:schemeClr val="hlink"/>
              </a:buClr>
            </a:pPr>
            <a:r>
              <a:rPr lang="en-US" altLang="zh-CN" sz="2400" dirty="0">
                <a:latin typeface="Courier New" pitchFamily="49" charset="0"/>
                <a:ea typeface="楷体_GB2312" pitchFamily="49" charset="-122"/>
              </a:rPr>
              <a:t>expr3</a:t>
            </a:r>
            <a:r>
              <a:rPr lang="zh-CN" altLang="en-US" sz="2400" dirty="0">
                <a:ea typeface="黑体" pitchFamily="2" charset="-122"/>
              </a:rPr>
              <a:t>：赋值运算，在每次执行循环体后执行一次</a:t>
            </a:r>
          </a:p>
          <a:p>
            <a:pPr lvl="1"/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38296" y="2060848"/>
            <a:ext cx="8136706" cy="171739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for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楷体_GB2312" pitchFamily="49" charset="-122"/>
              </a:rPr>
              <a:t>((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;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expr2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;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expr3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))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expr1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expr2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的值为真时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进入循环，否则退出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for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执行循环体，之后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Courier New" pitchFamily="49" charset="0"/>
                <a:ea typeface="楷体_GB2312" pitchFamily="49" charset="-122"/>
              </a:rPr>
              <a:t>expr3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循环结束的标志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—for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2919" y="1848684"/>
            <a:ext cx="7772400" cy="411480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800" dirty="0"/>
              <a:t>首先执行 </a:t>
            </a:r>
            <a:r>
              <a:rPr lang="en-US" altLang="zh-CN" sz="2800" dirty="0"/>
              <a:t>expr1</a:t>
            </a:r>
          </a:p>
          <a:p>
            <a:r>
              <a:rPr lang="zh-CN" altLang="en-US" sz="2800" dirty="0"/>
              <a:t>执行 </a:t>
            </a:r>
            <a:r>
              <a:rPr lang="en-US" altLang="zh-CN" sz="2800" dirty="0"/>
              <a:t>expr2</a:t>
            </a:r>
          </a:p>
          <a:p>
            <a:pPr lvl="1"/>
            <a:r>
              <a:rPr lang="zh-CN" altLang="en-US" sz="2400" dirty="0"/>
              <a:t>其值为假时，终止循环</a:t>
            </a:r>
            <a:endParaRPr lang="en-US" altLang="zh-CN" sz="2400" dirty="0"/>
          </a:p>
          <a:p>
            <a:pPr lvl="1"/>
            <a:r>
              <a:rPr lang="zh-CN" altLang="en-US" sz="2400" dirty="0"/>
              <a:t>其值为真时，执行</a:t>
            </a:r>
            <a:r>
              <a:rPr lang="en-US" altLang="zh-CN" sz="2400" dirty="0"/>
              <a:t>do</a:t>
            </a:r>
            <a:r>
              <a:rPr lang="zh-CN" altLang="en-US" sz="2400" dirty="0"/>
              <a:t>和</a:t>
            </a:r>
            <a:r>
              <a:rPr lang="en-US" altLang="zh-CN" sz="2400" dirty="0"/>
              <a:t>done</a:t>
            </a:r>
            <a:r>
              <a:rPr lang="zh-CN" altLang="en-US" sz="2400" dirty="0"/>
              <a:t>之间的 </a:t>
            </a:r>
            <a:r>
              <a:rPr lang="en-US" altLang="zh-CN" sz="2400" dirty="0">
                <a:solidFill>
                  <a:srgbClr val="002060"/>
                </a:solidFill>
              </a:rPr>
              <a:t>commands</a:t>
            </a:r>
          </a:p>
          <a:p>
            <a:pPr lvl="1"/>
            <a:r>
              <a:rPr lang="zh-CN" altLang="en-US" sz="2400" dirty="0"/>
              <a:t>执行</a:t>
            </a:r>
            <a:r>
              <a:rPr lang="en-US" altLang="zh-CN" sz="2400" dirty="0"/>
              <a:t>expr3</a:t>
            </a:r>
            <a:r>
              <a:rPr lang="zh-CN" altLang="en-US" sz="2400" dirty="0"/>
              <a:t>，进入下一次循环</a:t>
            </a:r>
          </a:p>
        </p:txBody>
      </p:sp>
      <p:sp>
        <p:nvSpPr>
          <p:cNvPr id="45" name="菱形 44"/>
          <p:cNvSpPr/>
          <p:nvPr/>
        </p:nvSpPr>
        <p:spPr>
          <a:xfrm>
            <a:off x="2865909" y="5003884"/>
            <a:ext cx="1872208" cy="93610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297957" y="5147900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expr2 </a:t>
            </a:r>
            <a:r>
              <a:rPr lang="zh-CN" altLang="en-US" dirty="0"/>
              <a:t>的值为真</a:t>
            </a:r>
          </a:p>
        </p:txBody>
      </p:sp>
      <p:sp>
        <p:nvSpPr>
          <p:cNvPr id="49" name="圆角矩形 48"/>
          <p:cNvSpPr/>
          <p:nvPr/>
        </p:nvSpPr>
        <p:spPr>
          <a:xfrm>
            <a:off x="5170165" y="4365104"/>
            <a:ext cx="1656184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   </a:t>
            </a:r>
            <a:r>
              <a:rPr lang="zh-CN" altLang="en-US" dirty="0"/>
              <a:t>执行 </a:t>
            </a:r>
            <a:r>
              <a:rPr lang="en-US" altLang="zh-CN" dirty="0"/>
              <a:t>expr3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132321" y="5219908"/>
            <a:ext cx="1440160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 </a:t>
            </a:r>
            <a:r>
              <a:rPr lang="zh-CN" altLang="en-US" dirty="0"/>
              <a:t>执行 </a:t>
            </a:r>
            <a:r>
              <a:rPr lang="en-US" altLang="zh-CN" dirty="0"/>
              <a:t>expr1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114381" y="5003884"/>
            <a:ext cx="936104" cy="9361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7258397" y="5003884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done</a:t>
            </a:r>
            <a:r>
              <a:rPr lang="zh-CN" altLang="en-US" b="1" dirty="0">
                <a:ea typeface="楷体_GB2312" pitchFamily="49" charset="-122"/>
              </a:rPr>
              <a:t>结束循环</a:t>
            </a:r>
            <a:endParaRPr lang="zh-CN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4738117" y="50851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cxnSp>
        <p:nvCxnSpPr>
          <p:cNvPr id="66" name="肘形连接符 65"/>
          <p:cNvCxnSpPr>
            <a:stCxn id="45" idx="2"/>
            <a:endCxn id="53" idx="2"/>
          </p:cNvCxnSpPr>
          <p:nvPr/>
        </p:nvCxnSpPr>
        <p:spPr>
          <a:xfrm rot="16200000" flipH="1">
            <a:off x="5692223" y="4049778"/>
            <a:ext cx="1588" cy="3780420"/>
          </a:xfrm>
          <a:prstGeom prst="bentConnector3">
            <a:avLst>
              <a:gd name="adj1" fmla="val 2298980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369965" y="601199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</a:p>
        </p:txBody>
      </p:sp>
      <p:cxnSp>
        <p:nvCxnSpPr>
          <p:cNvPr id="72" name="直接箭头连接符 71"/>
          <p:cNvCxnSpPr>
            <a:cxnSpLocks/>
          </p:cNvCxnSpPr>
          <p:nvPr/>
        </p:nvCxnSpPr>
        <p:spPr>
          <a:xfrm>
            <a:off x="680429" y="5471936"/>
            <a:ext cx="4492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cxnSpLocks/>
            <a:stCxn id="53" idx="3"/>
          </p:cNvCxnSpPr>
          <p:nvPr/>
        </p:nvCxnSpPr>
        <p:spPr>
          <a:xfrm>
            <a:off x="8050485" y="5471936"/>
            <a:ext cx="48997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5170165" y="5229200"/>
            <a:ext cx="1728192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FF0000"/>
                </a:solidFill>
              </a:rPr>
              <a:t>do</a:t>
            </a:r>
            <a:r>
              <a:rPr lang="en-US" altLang="zh-CN" dirty="0"/>
              <a:t> Commands</a:t>
            </a:r>
            <a:endParaRPr lang="zh-CN" alt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633661" y="505272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for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2572481" y="5464507"/>
            <a:ext cx="2880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45" idx="3"/>
            <a:endCxn id="79" idx="1"/>
          </p:cNvCxnSpPr>
          <p:nvPr/>
        </p:nvCxnSpPr>
        <p:spPr>
          <a:xfrm>
            <a:off x="4738117" y="5471936"/>
            <a:ext cx="432048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cxnSpLocks/>
            <a:stCxn id="79" idx="0"/>
          </p:cNvCxnSpPr>
          <p:nvPr/>
        </p:nvCxnSpPr>
        <p:spPr>
          <a:xfrm flipV="1">
            <a:off x="6034261" y="4809131"/>
            <a:ext cx="0" cy="4200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49" idx="1"/>
            <a:endCxn id="45" idx="0"/>
          </p:cNvCxnSpPr>
          <p:nvPr/>
        </p:nvCxnSpPr>
        <p:spPr>
          <a:xfrm rot="10800000" flipV="1">
            <a:off x="3802013" y="4581128"/>
            <a:ext cx="1368152" cy="4227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0528B97-CEBB-48EF-BD81-48EB88EF09A7}"/>
              </a:ext>
            </a:extLst>
          </p:cNvPr>
          <p:cNvSpPr txBox="1"/>
          <p:nvPr/>
        </p:nvSpPr>
        <p:spPr>
          <a:xfrm>
            <a:off x="827584" y="1261648"/>
            <a:ext cx="630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循环（</a:t>
            </a: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语言型）流程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C</a:t>
            </a:r>
            <a:r>
              <a:rPr lang="zh-CN" altLang="en-US" dirty="0"/>
              <a:t>语言型）举例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5576" y="1385989"/>
            <a:ext cx="7793037" cy="44935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for--C-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style.sh</a:t>
            </a:r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pl-PL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((i=0</a:t>
            </a:r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pl-PL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i&lt;10</a:t>
            </a:r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pl-PL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i++))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r>
              <a:rPr lang="pl-PL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$i</a:t>
            </a:r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done</a:t>
            </a:r>
            <a:endParaRPr lang="en-US" altLang="zh-CN" sz="22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2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&lt;= 10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 )) 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 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"Random number $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: $RANDOM" 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 </a:t>
            </a:r>
          </a:p>
          <a:p>
            <a:endParaRPr lang="en-US" altLang="zh-CN" sz="22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=1, j=10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&lt;= 5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++, j=j+5))</a:t>
            </a:r>
            <a:r>
              <a:rPr lang="pl-PL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 do </a:t>
            </a:r>
            <a:endParaRPr lang="en-US" altLang="zh-CN" sz="22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"Number $</a:t>
            </a:r>
            <a:r>
              <a:rPr lang="en-US" altLang="zh-CN" sz="22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: $j"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626" y="6093296"/>
            <a:ext cx="674083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C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语言风格的 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for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语句通常用于实现计数型循环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59301C18-BD11-4542-9E65-17986CA4F0DC}"/>
              </a:ext>
            </a:extLst>
          </p:cNvPr>
          <p:cNvSpPr txBox="1"/>
          <p:nvPr/>
        </p:nvSpPr>
        <p:spPr>
          <a:xfrm>
            <a:off x="107504" y="476672"/>
            <a:ext cx="4326200" cy="56323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0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1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2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3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4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5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6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7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8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9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1: 4791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2: 18862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3: 25870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4: 31310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5: 11112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AB4ADC0-8D91-4A47-830D-04A063225B06}"/>
              </a:ext>
            </a:extLst>
          </p:cNvPr>
          <p:cNvSpPr txBox="1"/>
          <p:nvPr/>
        </p:nvSpPr>
        <p:spPr>
          <a:xfrm>
            <a:off x="4433704" y="483516"/>
            <a:ext cx="4567340" cy="56323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6: 22689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7: 23625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8: 23129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9: 18859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Random number 10: 6221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 1: 10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 2: 15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 3: 20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 4: 25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Number 5: 30</a:t>
            </a:r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64722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循环（</a:t>
            </a:r>
            <a:r>
              <a:rPr lang="en-US" altLang="zh-CN" dirty="0"/>
              <a:t>C</a:t>
            </a:r>
            <a:r>
              <a:rPr lang="zh-CN" altLang="en-US" dirty="0"/>
              <a:t>语言型）举例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410997"/>
            <a:ext cx="7992888" cy="52629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addusers_for_C-style.sh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+mn-ea"/>
              </a:rPr>
              <a:t>#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</a:rPr>
              <a:t>成批添加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</a:rPr>
              <a:t>50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</a:rPr>
              <a:t>个用户</a:t>
            </a:r>
            <a:endParaRPr lang="en-US" altLang="zh-CN" sz="2400" b="1" dirty="0">
              <a:solidFill>
                <a:srgbClr val="002060"/>
              </a:solidFill>
              <a:latin typeface="+mn-ea"/>
            </a:endParaRP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 n=1; n&lt;=50; n++ ))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if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((n&lt;10))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then 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="st0${n}" 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else 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${n}"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useradd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"centos"|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passwd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--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stdin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chage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-d 0 $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—while</a:t>
            </a:r>
            <a:r>
              <a:rPr lang="zh-CN" altLang="en-US" dirty="0"/>
              <a:t>循环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72936" y="1976114"/>
            <a:ext cx="7303102" cy="2113848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while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lang="en-US" altLang="zh-CN" sz="2400" b="1" dirty="0" err="1">
                <a:latin typeface="Courier New" pitchFamily="49" charset="0"/>
                <a:ea typeface="楷体_GB2312" pitchFamily="49" charset="-122"/>
              </a:rPr>
              <a:t>expr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的退出状态为</a:t>
            </a:r>
            <a:r>
              <a:rPr lang="zh-CN" altLang="en-US" sz="2400" b="1" dirty="0">
                <a:latin typeface="Courier New" pitchFamily="49" charset="0"/>
                <a:ea typeface="楷体_GB2312" pitchFamily="49" charset="-122"/>
              </a:rPr>
              <a:t>0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，进入循环，否则退出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while</a:t>
            </a:r>
            <a:endParaRPr lang="en-US" altLang="zh-CN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循环体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循环结束标志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1475656" y="4589155"/>
            <a:ext cx="6486525" cy="2230437"/>
            <a:chOff x="881" y="2625"/>
            <a:chExt cx="4086" cy="1405"/>
          </a:xfrm>
        </p:grpSpPr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>
              <a:off x="2780" y="2695"/>
              <a:ext cx="1066" cy="297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29"/>
            <p:cNvSpPr>
              <a:spLocks noChangeShapeType="1"/>
            </p:cNvSpPr>
            <p:nvPr/>
          </p:nvSpPr>
          <p:spPr bwMode="auto">
            <a:xfrm>
              <a:off x="1892" y="2845"/>
              <a:ext cx="0" cy="1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1" name="AutoShape 30"/>
            <p:cNvSpPr>
              <a:spLocks noChangeArrowheads="1"/>
            </p:cNvSpPr>
            <p:nvPr/>
          </p:nvSpPr>
          <p:spPr bwMode="auto">
            <a:xfrm>
              <a:off x="1122" y="3170"/>
              <a:ext cx="1539" cy="533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1175" y="3319"/>
              <a:ext cx="1486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while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条件测试命令</a:t>
              </a:r>
            </a:p>
          </p:txBody>
        </p:sp>
        <p:sp>
          <p:nvSpPr>
            <p:cNvPr id="13" name="Line 32"/>
            <p:cNvSpPr>
              <a:spLocks noChangeShapeType="1"/>
            </p:cNvSpPr>
            <p:nvPr/>
          </p:nvSpPr>
          <p:spPr bwMode="auto">
            <a:xfrm>
              <a:off x="1892" y="2845"/>
              <a:ext cx="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4" name="Line 33"/>
            <p:cNvSpPr>
              <a:spLocks noChangeShapeType="1"/>
            </p:cNvSpPr>
            <p:nvPr/>
          </p:nvSpPr>
          <p:spPr bwMode="auto">
            <a:xfrm>
              <a:off x="2673" y="3438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5" name="Line 34"/>
            <p:cNvSpPr>
              <a:spLocks noChangeShapeType="1"/>
            </p:cNvSpPr>
            <p:nvPr/>
          </p:nvSpPr>
          <p:spPr bwMode="auto">
            <a:xfrm>
              <a:off x="3306" y="2995"/>
              <a:ext cx="0" cy="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6" name="Line 35"/>
            <p:cNvSpPr>
              <a:spLocks noChangeShapeType="1"/>
            </p:cNvSpPr>
            <p:nvPr/>
          </p:nvSpPr>
          <p:spPr bwMode="auto">
            <a:xfrm flipV="1">
              <a:off x="4205" y="3615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892" y="2625"/>
              <a:ext cx="770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FF0000"/>
                  </a:solidFill>
                  <a:ea typeface="楷体_GB2312" pitchFamily="49" charset="-122"/>
                </a:rPr>
                <a:t>条件为真</a:t>
              </a:r>
            </a:p>
          </p:txBody>
        </p:sp>
        <p:sp>
          <p:nvSpPr>
            <p:cNvPr id="18" name="Line 37"/>
            <p:cNvSpPr>
              <a:spLocks noChangeShapeType="1"/>
            </p:cNvSpPr>
            <p:nvPr/>
          </p:nvSpPr>
          <p:spPr bwMode="auto">
            <a:xfrm>
              <a:off x="1892" y="4029"/>
              <a:ext cx="2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9" name="Text Box 38"/>
            <p:cNvSpPr txBox="1">
              <a:spLocks noChangeArrowheads="1"/>
            </p:cNvSpPr>
            <p:nvPr/>
          </p:nvSpPr>
          <p:spPr bwMode="auto">
            <a:xfrm>
              <a:off x="1967" y="3800"/>
              <a:ext cx="65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2060"/>
                  </a:solidFill>
                  <a:ea typeface="楷体_GB2312" pitchFamily="49" charset="-122"/>
                </a:rPr>
                <a:t>条件为假</a:t>
              </a:r>
            </a:p>
          </p:txBody>
        </p:sp>
        <p:sp>
          <p:nvSpPr>
            <p:cNvPr id="20" name="Line 39"/>
            <p:cNvSpPr>
              <a:spLocks noChangeShapeType="1"/>
            </p:cNvSpPr>
            <p:nvPr/>
          </p:nvSpPr>
          <p:spPr bwMode="auto">
            <a:xfrm>
              <a:off x="881" y="3438"/>
              <a:ext cx="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1" name="AutoShape 40"/>
            <p:cNvSpPr>
              <a:spLocks noChangeArrowheads="1"/>
            </p:cNvSpPr>
            <p:nvPr/>
          </p:nvSpPr>
          <p:spPr bwMode="auto">
            <a:xfrm>
              <a:off x="3712" y="3303"/>
              <a:ext cx="1006" cy="296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41"/>
            <p:cNvSpPr txBox="1">
              <a:spLocks noChangeArrowheads="1"/>
            </p:cNvSpPr>
            <p:nvPr/>
          </p:nvSpPr>
          <p:spPr bwMode="auto">
            <a:xfrm>
              <a:off x="3696" y="3327"/>
              <a:ext cx="104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done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结束循环</a:t>
              </a:r>
            </a:p>
          </p:txBody>
        </p:sp>
        <p:sp>
          <p:nvSpPr>
            <p:cNvPr id="23" name="Line 42"/>
            <p:cNvSpPr>
              <a:spLocks noChangeShapeType="1"/>
            </p:cNvSpPr>
            <p:nvPr/>
          </p:nvSpPr>
          <p:spPr bwMode="auto">
            <a:xfrm>
              <a:off x="4731" y="3438"/>
              <a:ext cx="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4" name="Text Box 43"/>
            <p:cNvSpPr txBox="1">
              <a:spLocks noChangeArrowheads="1"/>
            </p:cNvSpPr>
            <p:nvPr/>
          </p:nvSpPr>
          <p:spPr bwMode="auto">
            <a:xfrm>
              <a:off x="2781" y="2731"/>
              <a:ext cx="1057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do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命令序列</a:t>
              </a:r>
              <a:r>
                <a:rPr lang="en-US" altLang="zh-CN" sz="1600" b="1" dirty="0">
                  <a:ea typeface="楷体_GB2312" pitchFamily="49" charset="-122"/>
                </a:rPr>
                <a:t>…</a:t>
              </a:r>
            </a:p>
          </p:txBody>
        </p:sp>
      </p:grp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46DA6F27-FCBB-44A1-914B-8F29CF470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49" y="1365796"/>
            <a:ext cx="7772400" cy="4114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CN" sz="3000" dirty="0"/>
              <a:t>while</a:t>
            </a:r>
            <a:r>
              <a:rPr lang="zh-CN" altLang="en-US" sz="3000" dirty="0"/>
              <a:t>循环语句语法</a:t>
            </a:r>
            <a:endParaRPr lang="en-US" altLang="zh-CN" sz="30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>
              <a:spcBef>
                <a:spcPts val="4200"/>
              </a:spcBef>
            </a:pPr>
            <a:r>
              <a:rPr lang="en-US" altLang="zh-CN" sz="3000" dirty="0"/>
              <a:t>while</a:t>
            </a:r>
            <a:r>
              <a:rPr lang="zh-CN" altLang="en-US" sz="3000" dirty="0"/>
              <a:t>循环语句流程</a:t>
            </a:r>
            <a:endParaRPr lang="en-US" altLang="zh-CN" sz="3000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 </a:t>
            </a:r>
            <a:r>
              <a:rPr lang="zh-CN" altLang="en-US" dirty="0"/>
              <a:t>循环语句举例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425" y="1225689"/>
            <a:ext cx="8947150" cy="56323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while--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guess_number.sh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$RANDOM: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系统随机数的环境变量，模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100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运算用于生成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1-100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的随机整数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num=$((RANDOM%100))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使用永真循环、条件退出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(break)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的方式接收用户的猜测并进行判断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while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: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read  -p  "Please guess my number [0-99]: "  answer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if   [ $answer 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$num ]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then echo "The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inputed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number is less than my NUMBER."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[[ $answer -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$num ]]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then echo "The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inputed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number is greater than my NUMBER."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elif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((answer==num))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then echo "Bingo! Congratulate: my NUMBER is $num."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break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 </a:t>
            </a:r>
            <a:r>
              <a:rPr lang="zh-CN" altLang="en-US" dirty="0"/>
              <a:t>循环语句举例</a:t>
            </a:r>
            <a:r>
              <a:rPr lang="en-US" altLang="zh-CN" dirty="0"/>
              <a:t>1-</a:t>
            </a:r>
            <a:r>
              <a:rPr lang="zh-CN" altLang="en-US" dirty="0"/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55078E-4374-4749-90E5-26892D21C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96" y="1772816"/>
            <a:ext cx="911490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3902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 </a:t>
            </a:r>
            <a:r>
              <a:rPr lang="zh-CN" altLang="en-US" dirty="0"/>
              <a:t>循环语句举例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371600"/>
            <a:ext cx="7772400" cy="4114800"/>
          </a:xfrm>
        </p:spPr>
        <p:txBody>
          <a:bodyPr/>
          <a:lstStyle/>
          <a:p>
            <a:r>
              <a:rPr lang="en-US" altLang="zh-CN" dirty="0"/>
              <a:t>While </a:t>
            </a:r>
            <a:r>
              <a:rPr lang="zh-CN" altLang="en-US" dirty="0"/>
              <a:t>和输入重定向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340" y="1988840"/>
            <a:ext cx="8280920" cy="3308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#!/bin/bash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## filename: while--read_file.sh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# 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利用</a:t>
            </a:r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while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对文本文件逐行处理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file=/</a:t>
            </a:r>
            <a:r>
              <a:rPr lang="en-US" altLang="zh-CN" sz="1900" b="1" dirty="0" err="1">
                <a:solidFill>
                  <a:srgbClr val="002060"/>
                </a:solidFill>
                <a:latin typeface="Courier New" pitchFamily="49" charset="0"/>
              </a:rPr>
              <a:t>etc</a:t>
            </a:r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/</a:t>
            </a:r>
            <a:r>
              <a:rPr lang="en-US" altLang="zh-CN" sz="1900" b="1" dirty="0" err="1">
                <a:solidFill>
                  <a:srgbClr val="002060"/>
                </a:solidFill>
                <a:latin typeface="Courier New" pitchFamily="49" charset="0"/>
              </a:rPr>
              <a:t>resolv.conf</a:t>
            </a:r>
            <a:endParaRPr lang="en-US" altLang="zh-CN" sz="1900" b="1" dirty="0">
              <a:solidFill>
                <a:srgbClr val="002060"/>
              </a:solidFill>
              <a:latin typeface="Courier New" pitchFamily="49" charset="0"/>
            </a:endParaRP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IFS=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while read -r line #-r 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屏蔽</a:t>
            </a:r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\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，</a:t>
            </a:r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\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为普通字符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do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    # echo line is stored in $line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    echo $line</a:t>
            </a:r>
          </a:p>
          <a:p>
            <a:r>
              <a:rPr lang="en-US" altLang="zh-CN" sz="1900" b="1" dirty="0">
                <a:solidFill>
                  <a:srgbClr val="002060"/>
                </a:solidFill>
                <a:latin typeface="Courier New" pitchFamily="49" charset="0"/>
              </a:rPr>
              <a:t>done &lt; $file  #</a:t>
            </a:r>
            <a:r>
              <a:rPr lang="zh-CN" altLang="en-US" sz="1900" b="1" dirty="0">
                <a:solidFill>
                  <a:srgbClr val="002060"/>
                </a:solidFill>
                <a:latin typeface="Courier New" pitchFamily="49" charset="0"/>
              </a:rPr>
              <a:t>重定向读取文本</a:t>
            </a:r>
          </a:p>
          <a:p>
            <a:endParaRPr lang="zh-CN" altLang="en-US" sz="1900" b="1" dirty="0">
              <a:solidFill>
                <a:srgbClr val="002060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 </a:t>
            </a:r>
            <a:r>
              <a:rPr lang="zh-CN" altLang="en-US" dirty="0"/>
              <a:t>循环语句举例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27584" y="1371600"/>
            <a:ext cx="7772400" cy="4114800"/>
          </a:xfrm>
        </p:spPr>
        <p:txBody>
          <a:bodyPr/>
          <a:lstStyle/>
          <a:p>
            <a:r>
              <a:rPr lang="zh-CN" altLang="en-US" dirty="0"/>
              <a:t>使用管道为 </a:t>
            </a:r>
            <a:r>
              <a:rPr lang="en-US" altLang="zh-CN" dirty="0"/>
              <a:t>while </a:t>
            </a:r>
            <a:r>
              <a:rPr lang="zh-CN" altLang="en-US" dirty="0"/>
              <a:t>传递输入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5" y="2143614"/>
            <a:ext cx="9114939" cy="40934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while-rename_filename.sh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找出当前目录下包含空格的文件名，将空格替换为下划线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DIR="."</a:t>
            </a:r>
            <a:endParaRPr lang="zh-CN" altLang="en-US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find $DIR -type f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while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read file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#using </a:t>
            </a:r>
            <a:r>
              <a:rPr lang="en-US" altLang="zh-CN" sz="20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POSIX class [:space:] to find space in the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filename</a:t>
            </a:r>
            <a:endParaRPr lang="zh-CN" altLang="en-US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if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[[ "$file" = *[[:</a:t>
            </a:r>
            <a:r>
              <a:rPr lang="en-US" altLang="zh-CN" sz="20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space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:]]* ]]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 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# substitute space with "_" character (rename the filename)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mv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"$file" $(echo $file |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' ' '_')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000" b="1" dirty="0">
              <a:solidFill>
                <a:srgbClr val="C0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  <a:endParaRPr lang="en-US" altLang="zh-CN" sz="1600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—until</a:t>
            </a:r>
            <a:r>
              <a:rPr lang="zh-CN" altLang="en-US" dirty="0"/>
              <a:t>循环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8446" y="1985525"/>
            <a:ext cx="8280920" cy="170815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until </a:t>
            </a:r>
            <a:r>
              <a:rPr kumimoji="1" lang="en-US" altLang="zh-CN" sz="2400" b="1" dirty="0" err="1">
                <a:latin typeface="Courier New" pitchFamily="49" charset="0"/>
                <a:ea typeface="楷体_GB2312" pitchFamily="49" charset="-122"/>
              </a:rPr>
              <a:t>expr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执行 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endParaRPr kumimoji="1"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若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的退出状态</a:t>
            </a:r>
            <a:r>
              <a:rPr kumimoji="1" lang="zh-CN" altLang="en-US" sz="2400" b="1" dirty="0">
                <a:latin typeface="Courier New" pitchFamily="49" charset="0"/>
                <a:ea typeface="楷体_GB2312" pitchFamily="49" charset="-122"/>
              </a:rPr>
              <a:t>非</a:t>
            </a:r>
            <a:r>
              <a:rPr kumimoji="1" lang="en-US" altLang="zh-CN" sz="2400" b="1" dirty="0">
                <a:latin typeface="Courier New" pitchFamily="49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，进入循环，否则退出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until</a:t>
            </a:r>
            <a:endParaRPr kumimoji="1" lang="en-US" altLang="zh-CN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循环体</a:t>
            </a:r>
            <a:endParaRPr kumimoji="1" lang="zh-CN" altLang="en-US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        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kumimoji="1"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循环结束标志</a:t>
            </a:r>
          </a:p>
        </p:txBody>
      </p:sp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1311576" y="4517256"/>
            <a:ext cx="6911975" cy="2263775"/>
            <a:chOff x="567" y="2564"/>
            <a:chExt cx="4354" cy="1426"/>
          </a:xfrm>
        </p:grpSpPr>
        <p:sp>
          <p:nvSpPr>
            <p:cNvPr id="9" name="Line 39"/>
            <p:cNvSpPr>
              <a:spLocks noChangeShapeType="1"/>
            </p:cNvSpPr>
            <p:nvPr/>
          </p:nvSpPr>
          <p:spPr bwMode="auto">
            <a:xfrm>
              <a:off x="1645" y="2564"/>
              <a:ext cx="0" cy="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0" name="AutoShape 40"/>
            <p:cNvSpPr>
              <a:spLocks noChangeArrowheads="1"/>
            </p:cNvSpPr>
            <p:nvPr/>
          </p:nvSpPr>
          <p:spPr bwMode="auto">
            <a:xfrm>
              <a:off x="824" y="2911"/>
              <a:ext cx="1640" cy="567"/>
            </a:xfrm>
            <a:prstGeom prst="flowChartDecision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41"/>
            <p:cNvSpPr txBox="1">
              <a:spLocks noChangeArrowheads="1"/>
            </p:cNvSpPr>
            <p:nvPr/>
          </p:nvSpPr>
          <p:spPr bwMode="auto">
            <a:xfrm>
              <a:off x="880" y="3069"/>
              <a:ext cx="158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until</a:t>
              </a:r>
              <a:r>
                <a:rPr lang="en-US" altLang="zh-CN" sz="1600" b="1" dirty="0"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ea typeface="楷体_GB2312" pitchFamily="49" charset="-122"/>
                </a:rPr>
                <a:t>条件测试命令</a:t>
              </a:r>
            </a:p>
          </p:txBody>
        </p:sp>
        <p:sp>
          <p:nvSpPr>
            <p:cNvPr id="12" name="Line 42"/>
            <p:cNvSpPr>
              <a:spLocks noChangeShapeType="1"/>
            </p:cNvSpPr>
            <p:nvPr/>
          </p:nvSpPr>
          <p:spPr bwMode="auto">
            <a:xfrm>
              <a:off x="1645" y="3826"/>
              <a:ext cx="9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3" name="Line 43"/>
            <p:cNvSpPr>
              <a:spLocks noChangeShapeType="1"/>
            </p:cNvSpPr>
            <p:nvPr/>
          </p:nvSpPr>
          <p:spPr bwMode="auto">
            <a:xfrm>
              <a:off x="2476" y="3196"/>
              <a:ext cx="6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4" name="Line 44"/>
            <p:cNvSpPr>
              <a:spLocks noChangeShapeType="1"/>
            </p:cNvSpPr>
            <p:nvPr/>
          </p:nvSpPr>
          <p:spPr bwMode="auto">
            <a:xfrm>
              <a:off x="3159" y="3199"/>
              <a:ext cx="0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5" name="Line 45"/>
            <p:cNvSpPr>
              <a:spLocks noChangeShapeType="1"/>
            </p:cNvSpPr>
            <p:nvPr/>
          </p:nvSpPr>
          <p:spPr bwMode="auto">
            <a:xfrm flipV="1">
              <a:off x="4109" y="2564"/>
              <a:ext cx="0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6" name="Text Box 46"/>
            <p:cNvSpPr txBox="1">
              <a:spLocks noChangeArrowheads="1"/>
            </p:cNvSpPr>
            <p:nvPr/>
          </p:nvSpPr>
          <p:spPr bwMode="auto">
            <a:xfrm>
              <a:off x="1645" y="3587"/>
              <a:ext cx="820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2060"/>
                  </a:solidFill>
                  <a:ea typeface="楷体_GB2312" pitchFamily="49" charset="-122"/>
                </a:rPr>
                <a:t>条件为假</a:t>
              </a:r>
            </a:p>
          </p:txBody>
        </p:sp>
        <p:sp>
          <p:nvSpPr>
            <p:cNvPr id="17" name="Line 47"/>
            <p:cNvSpPr>
              <a:spLocks noChangeShapeType="1"/>
            </p:cNvSpPr>
            <p:nvPr/>
          </p:nvSpPr>
          <p:spPr bwMode="auto">
            <a:xfrm>
              <a:off x="1645" y="2564"/>
              <a:ext cx="24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18" name="Text Box 48"/>
            <p:cNvSpPr txBox="1">
              <a:spLocks noChangeArrowheads="1"/>
            </p:cNvSpPr>
            <p:nvPr/>
          </p:nvSpPr>
          <p:spPr bwMode="auto">
            <a:xfrm>
              <a:off x="1746" y="2639"/>
              <a:ext cx="694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FF0000"/>
                  </a:solidFill>
                  <a:ea typeface="楷体_GB2312" pitchFamily="49" charset="-122"/>
                </a:rPr>
                <a:t>条件为真</a:t>
              </a:r>
            </a:p>
          </p:txBody>
        </p:sp>
        <p:sp>
          <p:nvSpPr>
            <p:cNvPr id="19" name="Line 49"/>
            <p:cNvSpPr>
              <a:spLocks noChangeShapeType="1"/>
            </p:cNvSpPr>
            <p:nvPr/>
          </p:nvSpPr>
          <p:spPr bwMode="auto">
            <a:xfrm>
              <a:off x="567" y="3196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0" name="AutoShape 50"/>
            <p:cNvSpPr>
              <a:spLocks noChangeArrowheads="1"/>
            </p:cNvSpPr>
            <p:nvPr/>
          </p:nvSpPr>
          <p:spPr bwMode="auto">
            <a:xfrm>
              <a:off x="3583" y="3053"/>
              <a:ext cx="1072" cy="315"/>
            </a:xfrm>
            <a:prstGeom prst="flowChart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51"/>
            <p:cNvSpPr txBox="1">
              <a:spLocks noChangeArrowheads="1"/>
            </p:cNvSpPr>
            <p:nvPr/>
          </p:nvSpPr>
          <p:spPr bwMode="auto">
            <a:xfrm>
              <a:off x="3612" y="3105"/>
              <a:ext cx="1037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done </a:t>
              </a:r>
              <a:r>
                <a:rPr lang="en-US" altLang="zh-CN" sz="1600" b="1" dirty="0">
                  <a:ea typeface="楷体_GB2312" pitchFamily="49" charset="-122"/>
                </a:rPr>
                <a:t> </a:t>
              </a:r>
              <a:r>
                <a:rPr lang="zh-CN" altLang="en-US" sz="1600" b="1" dirty="0">
                  <a:ea typeface="楷体_GB2312" pitchFamily="49" charset="-122"/>
                </a:rPr>
                <a:t>结束循环</a:t>
              </a:r>
            </a:p>
          </p:txBody>
        </p:sp>
        <p:sp>
          <p:nvSpPr>
            <p:cNvPr id="22" name="Line 52"/>
            <p:cNvSpPr>
              <a:spLocks noChangeShapeType="1"/>
            </p:cNvSpPr>
            <p:nvPr/>
          </p:nvSpPr>
          <p:spPr bwMode="auto">
            <a:xfrm>
              <a:off x="4669" y="3196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23" name="AutoShape 53"/>
            <p:cNvSpPr>
              <a:spLocks noChangeArrowheads="1"/>
            </p:cNvSpPr>
            <p:nvPr/>
          </p:nvSpPr>
          <p:spPr bwMode="auto">
            <a:xfrm>
              <a:off x="2590" y="3674"/>
              <a:ext cx="1136" cy="316"/>
            </a:xfrm>
            <a:prstGeom prst="flowChartAlternateProcess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54"/>
            <p:cNvSpPr txBox="1">
              <a:spLocks noChangeArrowheads="1"/>
            </p:cNvSpPr>
            <p:nvPr/>
          </p:nvSpPr>
          <p:spPr bwMode="auto">
            <a:xfrm>
              <a:off x="2592" y="3699"/>
              <a:ext cx="1126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ea typeface="楷体_GB2312" pitchFamily="49" charset="-122"/>
                </a:rPr>
                <a:t>do </a:t>
              </a:r>
              <a:r>
                <a:rPr lang="en-US" altLang="zh-CN" sz="1600" b="1" dirty="0">
                  <a:ea typeface="楷体_GB2312" pitchFamily="49" charset="-122"/>
                </a:rPr>
                <a:t> </a:t>
              </a:r>
              <a:r>
                <a:rPr lang="zh-CN" altLang="en-US" sz="1600" b="1" dirty="0">
                  <a:ea typeface="楷体_GB2312" pitchFamily="49" charset="-122"/>
                </a:rPr>
                <a:t>命令序列</a:t>
              </a:r>
              <a:r>
                <a:rPr lang="en-US" altLang="zh-CN" sz="1600" b="1" dirty="0">
                  <a:ea typeface="楷体_GB2312" pitchFamily="49" charset="-122"/>
                </a:rPr>
                <a:t>…</a:t>
              </a:r>
            </a:p>
          </p:txBody>
        </p:sp>
      </p:grp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E88C595A-79CF-433F-8092-1CD7C5A20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88" y="1399352"/>
            <a:ext cx="8310261" cy="545864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CN" sz="3000" dirty="0"/>
              <a:t>until</a:t>
            </a:r>
            <a:r>
              <a:rPr lang="zh-CN" altLang="en-US" sz="3000" dirty="0"/>
              <a:t>循环语句语法</a:t>
            </a:r>
            <a:endParaRPr lang="en-US" altLang="zh-CN" sz="30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>
              <a:spcBef>
                <a:spcPts val="3000"/>
              </a:spcBef>
            </a:pPr>
            <a:r>
              <a:rPr lang="en-US" altLang="zh-CN" sz="3000" dirty="0"/>
              <a:t>until</a:t>
            </a:r>
            <a:r>
              <a:rPr lang="zh-CN" altLang="en-US" sz="3000" dirty="0"/>
              <a:t>循环语句流程</a:t>
            </a:r>
            <a:endParaRPr lang="en-US" altLang="zh-CN" sz="3000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until </a:t>
            </a:r>
            <a:r>
              <a:rPr lang="zh-CN" altLang="en-US" dirty="0"/>
              <a:t>循环语句举例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5576" y="1649527"/>
            <a:ext cx="7992888" cy="41549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Program: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	Repeat question until user input correct answer.</a:t>
            </a:r>
          </a:p>
          <a:p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until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[ "$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 == "yes" -o "$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 == "YES" ]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	read -p "Please input yes/YES to stop this program: " </a:t>
            </a:r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yn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"OK! you input the correct answer."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while/until/for </a:t>
            </a:r>
            <a:r>
              <a:rPr lang="zh-CN" altLang="en-US" dirty="0"/>
              <a:t>循环举例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5481" y="1264320"/>
            <a:ext cx="8144991" cy="53245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filename: while-until-for_sum.sh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使用当型循环求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sum(1..100)</a:t>
            </a: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=0 ; s=0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while 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&lt;100)) 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=$((i+1))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((s+=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done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sum\(1..100\)=$s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使用直到型循环求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sum(1..100)</a:t>
            </a:r>
          </a:p>
          <a:p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=0; s=0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until 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==100)) ; do ((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++,s+=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)) ; done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sum\(1..100\)=$s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使用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风格的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循环求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sum(1..100)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for ((s=0,i=1;i&lt;=100;s+=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i,i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++)) ; do : ; done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sum\(1..100\)=$</a:t>
            </a:r>
            <a:r>
              <a:rPr lang="en-US" altLang="zh-CN" sz="20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while/until/for </a:t>
            </a:r>
            <a:r>
              <a:rPr lang="zh-CN" altLang="en-US" dirty="0"/>
              <a:t>循环举例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5610" y="1386241"/>
            <a:ext cx="6765270" cy="1754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while-infinite_loops.sh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while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true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sleep 5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"infinite loops [ hit CTRL+C to stop]" 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10" y="3217290"/>
            <a:ext cx="6765270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until-infinite_loops.sh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until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false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sleep 5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"infinite loops [ hit CTRL+C to stop]" 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10" y="5036906"/>
            <a:ext cx="6765270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for-infinite_loops.sh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(( ; ; ))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 do 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sleep 5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"infinite loops [ hit CTRL+C to stop]" 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8304" y="1484784"/>
            <a:ext cx="1292662" cy="50405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eaVert" wrap="square" rtlCol="0">
            <a:spAutoFit/>
          </a:bodyPr>
          <a:lstStyle/>
          <a:p>
            <a:r>
              <a:rPr lang="zh-CN" altLang="en-US" dirty="0"/>
              <a:t>　　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在循环体内使用</a:t>
            </a:r>
            <a:r>
              <a:rPr lang="zh-CN" altLang="en-US" sz="24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带有条件判断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break</a:t>
            </a:r>
            <a:r>
              <a:rPr lang="en-US" altLang="zh-CN" sz="24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语句，可以实现“永真循环，条件退出”。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D600EC6-4226-4115-8985-7BE60C0E57D9}"/>
              </a:ext>
            </a:extLst>
          </p:cNvPr>
          <p:cNvSpPr txBox="1"/>
          <p:nvPr/>
        </p:nvSpPr>
        <p:spPr>
          <a:xfrm>
            <a:off x="971600" y="2204864"/>
            <a:ext cx="7560840" cy="3342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+mj-lt"/>
              </a:rPr>
              <a:t>利用</a:t>
            </a:r>
            <a:r>
              <a:rPr lang="en-US" altLang="zh-CN" sz="3600" b="1" dirty="0">
                <a:solidFill>
                  <a:srgbClr val="C00000"/>
                </a:solidFill>
                <a:latin typeface="+mj-lt"/>
              </a:rPr>
              <a:t>while/until/for</a:t>
            </a:r>
            <a:r>
              <a:rPr lang="zh-CN" altLang="en-US" sz="3600" b="1" dirty="0">
                <a:solidFill>
                  <a:srgbClr val="C00000"/>
                </a:solidFill>
                <a:latin typeface="+mj-lt"/>
              </a:rPr>
              <a:t>循环结构分别设计脚本程序，实现让用户输入一个整数数字，程序可以由</a:t>
            </a:r>
            <a:r>
              <a:rPr lang="en-US" altLang="zh-CN" sz="3600" b="1" dirty="0">
                <a:solidFill>
                  <a:srgbClr val="C00000"/>
                </a:solidFill>
                <a:latin typeface="+mj-lt"/>
              </a:rPr>
              <a:t>1+2+3···</a:t>
            </a:r>
            <a:r>
              <a:rPr lang="zh-CN" altLang="en-US" sz="3600" b="1" dirty="0">
                <a:solidFill>
                  <a:srgbClr val="C00000"/>
                </a:solidFill>
                <a:latin typeface="+mj-lt"/>
              </a:rPr>
              <a:t>一直累加到用户输入的数字为止，并将求和结果输出的功能。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D55D552-1419-44CC-9087-2E2E437C6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0" t="15350" r="1723" b="11002"/>
          <a:stretch/>
        </p:blipFill>
        <p:spPr bwMode="auto">
          <a:xfrm>
            <a:off x="107504" y="404664"/>
            <a:ext cx="1512168" cy="121914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13541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—select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988840"/>
            <a:ext cx="7772400" cy="4186808"/>
          </a:xfrm>
        </p:spPr>
        <p:txBody>
          <a:bodyPr/>
          <a:lstStyle/>
          <a:p>
            <a:r>
              <a:rPr lang="zh-CN" altLang="en-US" sz="3200" dirty="0"/>
              <a:t>一般地，使用 </a:t>
            </a:r>
            <a:r>
              <a:rPr lang="en-US" altLang="zh-CN" sz="3200" dirty="0"/>
              <a:t>while </a:t>
            </a:r>
            <a:r>
              <a:rPr lang="zh-CN" altLang="en-US" sz="3200" dirty="0"/>
              <a:t>循环配合 </a:t>
            </a:r>
            <a:r>
              <a:rPr lang="en-US" altLang="zh-CN" sz="3200" dirty="0"/>
              <a:t>case</a:t>
            </a:r>
            <a:r>
              <a:rPr lang="zh-CN" altLang="en-US" sz="3200" dirty="0" smtClean="0"/>
              <a:t>实现</a:t>
            </a:r>
            <a:endParaRPr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3172AD-9123-42C0-8F46-6F6D83A19CA8}"/>
              </a:ext>
            </a:extLst>
          </p:cNvPr>
          <p:cNvSpPr txBox="1"/>
          <p:nvPr/>
        </p:nvSpPr>
        <p:spPr>
          <a:xfrm>
            <a:off x="827584" y="1342509"/>
            <a:ext cx="630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循环与菜单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49" y="3140968"/>
            <a:ext cx="7161794" cy="2232248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while</a:t>
            </a:r>
            <a:r>
              <a:rPr lang="zh-CN" altLang="en-US" dirty="0"/>
              <a:t>循环实现菜单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1445241"/>
            <a:ext cx="8658298" cy="53553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what-lang-do-you-like_while.sh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while :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  <a:endParaRPr lang="zh-CN" altLang="en-US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"====== Scripting Language ======"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"1) bash"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"2)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perl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"3) python"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"4) ruby"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"5) (Quit) 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read -p "What is your preferred scripting language?  "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lang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case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lang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1|bash) 	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bash"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2|perl) 	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perl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"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3|python)	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python"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;;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4|ruby)	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"You selected ruby"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;;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5|quit)	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break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;;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esac</a:t>
            </a:r>
            <a:endParaRPr lang="en-US" altLang="zh-CN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  <a:endParaRPr lang="zh-CN" altLang="en-US" b="1" dirty="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—select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2060848"/>
            <a:ext cx="7772400" cy="4114800"/>
          </a:xfrm>
        </p:spPr>
        <p:txBody>
          <a:bodyPr/>
          <a:lstStyle/>
          <a:p>
            <a:r>
              <a:rPr lang="en-US" altLang="zh-CN" sz="3200" dirty="0" smtClean="0"/>
              <a:t>Bash </a:t>
            </a:r>
            <a:r>
              <a:rPr lang="zh-CN" altLang="en-US" sz="3200" dirty="0"/>
              <a:t>提供了专门的 </a:t>
            </a:r>
            <a:r>
              <a:rPr lang="en-US" altLang="zh-CN" sz="3200" dirty="0"/>
              <a:t>select </a:t>
            </a:r>
            <a:r>
              <a:rPr lang="zh-CN" altLang="en-US" sz="3200" dirty="0"/>
              <a:t>循环</a:t>
            </a:r>
            <a:endParaRPr lang="en-US" altLang="zh-CN" sz="3200" dirty="0"/>
          </a:p>
          <a:p>
            <a:pPr lvl="1"/>
            <a:r>
              <a:rPr lang="en-US" altLang="zh-CN" sz="2800" dirty="0"/>
              <a:t>select </a:t>
            </a:r>
            <a:r>
              <a:rPr lang="zh-CN" altLang="en-US" sz="2800" dirty="0"/>
              <a:t>循环主要用于创建菜单</a:t>
            </a:r>
            <a:endParaRPr lang="en-US" altLang="zh-CN" sz="2800" dirty="0"/>
          </a:p>
          <a:p>
            <a:pPr lvl="1"/>
            <a:r>
              <a:rPr lang="en-US" altLang="zh-CN" sz="2800" dirty="0"/>
              <a:t>select </a:t>
            </a:r>
            <a:r>
              <a:rPr lang="zh-CN" altLang="en-US" sz="2800" dirty="0"/>
              <a:t>是个无限循环</a:t>
            </a:r>
            <a:endParaRPr lang="en-US" altLang="zh-CN" sz="2800" dirty="0"/>
          </a:p>
          <a:p>
            <a:pPr lvl="2"/>
            <a:r>
              <a:rPr lang="zh-CN" altLang="en-US" sz="2400" dirty="0">
                <a:ea typeface="黑体" pitchFamily="2" charset="-122"/>
              </a:rPr>
              <a:t>通常要配合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case </a:t>
            </a:r>
            <a:r>
              <a:rPr lang="zh-CN" altLang="en-US" sz="2400" dirty="0">
                <a:ea typeface="黑体" pitchFamily="2" charset="-122"/>
              </a:rPr>
              <a:t>语句处理不同的选单及退出</a:t>
            </a:r>
            <a:endParaRPr lang="en-US" altLang="zh-CN" sz="2400" dirty="0">
              <a:ea typeface="黑体" pitchFamily="2" charset="-122"/>
            </a:endParaRPr>
          </a:p>
          <a:p>
            <a:pPr lvl="2"/>
            <a:r>
              <a:rPr lang="en-US" altLang="zh-CN" sz="2400" dirty="0"/>
              <a:t>select </a:t>
            </a:r>
            <a:r>
              <a:rPr lang="zh-CN" altLang="en-US" sz="2400" dirty="0">
                <a:ea typeface="黑体" pitchFamily="2" charset="-122"/>
              </a:rPr>
              <a:t>循环的退出</a:t>
            </a:r>
            <a:endParaRPr lang="en-US" altLang="zh-CN" sz="2400" dirty="0">
              <a:ea typeface="黑体" pitchFamily="2" charset="-122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2400" dirty="0">
                <a:ea typeface="黑体" pitchFamily="2" charset="-122"/>
              </a:rPr>
              <a:t>按  </a:t>
            </a:r>
            <a:r>
              <a:rPr lang="en-US" altLang="zh-CN" sz="2400" b="1" dirty="0" err="1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ctrl+c</a:t>
            </a:r>
            <a:r>
              <a:rPr lang="en-US" altLang="zh-CN" sz="2400" dirty="0">
                <a:ea typeface="黑体" pitchFamily="2" charset="-122"/>
              </a:rPr>
              <a:t>  </a:t>
            </a:r>
            <a:r>
              <a:rPr lang="zh-CN" altLang="en-US" sz="2400" dirty="0">
                <a:ea typeface="黑体" pitchFamily="2" charset="-122"/>
              </a:rPr>
              <a:t>退出循环</a:t>
            </a:r>
            <a:endParaRPr lang="en-US" altLang="zh-CN" sz="2400" dirty="0">
              <a:ea typeface="黑体" pitchFamily="2" charset="-122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2400" dirty="0">
                <a:ea typeface="黑体" pitchFamily="2" charset="-122"/>
              </a:rPr>
              <a:t>在循环体内用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黑体" pitchFamily="2" charset="-122"/>
              </a:rPr>
              <a:t>break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命令退出循环</a:t>
            </a:r>
            <a:endParaRPr lang="en-US" altLang="zh-CN" sz="2400" dirty="0">
              <a:ea typeface="黑体" pitchFamily="2" charset="-122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2400" dirty="0">
                <a:ea typeface="黑体" pitchFamily="2" charset="-122"/>
              </a:rPr>
              <a:t>或用</a:t>
            </a:r>
            <a:r>
              <a:rPr lang="zh-CN" altLang="en-US" sz="2400" b="1" dirty="0"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黑体" pitchFamily="2" charset="-122"/>
              </a:rPr>
              <a:t>exit</a:t>
            </a:r>
            <a:r>
              <a:rPr lang="en-US" altLang="zh-CN" sz="2400" b="1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命令终止脚本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3172AD-9123-42C0-8F46-6F6D83A19CA8}"/>
              </a:ext>
            </a:extLst>
          </p:cNvPr>
          <p:cNvSpPr txBox="1"/>
          <p:nvPr/>
        </p:nvSpPr>
        <p:spPr>
          <a:xfrm>
            <a:off x="827584" y="1342509"/>
            <a:ext cx="630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600" b="1" dirty="0" smtClean="0">
                <a:solidFill>
                  <a:schemeClr val="accent6">
                    <a:lumMod val="75000"/>
                  </a:schemeClr>
                </a:solidFill>
              </a:rPr>
              <a:t>菜单</a:t>
            </a:r>
            <a:r>
              <a:rPr lang="zh-CN" altLang="en-US" sz="3600" b="1" dirty="0">
                <a:solidFill>
                  <a:schemeClr val="accent6">
                    <a:lumMod val="75000"/>
                  </a:schemeClr>
                </a:solidFill>
              </a:rPr>
              <a:t>循环</a:t>
            </a:r>
            <a:r>
              <a:rPr lang="zh-CN" altLang="en-US" sz="3600" b="1" dirty="0" smtClean="0">
                <a:solidFill>
                  <a:schemeClr val="accent6">
                    <a:lumMod val="75000"/>
                  </a:schemeClr>
                </a:solidFill>
              </a:rPr>
              <a:t>结构</a:t>
            </a:r>
            <a:endParaRPr lang="zh-CN" altLang="en-US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83266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流程控制语句</a:t>
            </a:r>
            <a:r>
              <a:rPr lang="en-US" altLang="zh-CN" dirty="0"/>
              <a:t>—select</a:t>
            </a:r>
            <a:r>
              <a:rPr lang="zh-CN" altLang="en-US" dirty="0"/>
              <a:t>循环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67544" y="1844824"/>
            <a:ext cx="8564488" cy="170758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select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variable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list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楷体_GB2312" pitchFamily="49" charset="-122"/>
              </a:rPr>
              <a:t>#</a:t>
            </a:r>
            <a:r>
              <a:rPr lang="zh-CN" altLang="en-US" sz="2000" b="1" dirty="0">
                <a:solidFill>
                  <a:srgbClr val="FF0000"/>
                </a:solidFill>
                <a:latin typeface="Courier New" pitchFamily="49" charset="0"/>
                <a:ea typeface="楷体_GB2312" pitchFamily="49" charset="-122"/>
              </a:rPr>
              <a:t>列表中每项添加一个从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Courier New" pitchFamily="49" charset="0"/>
                <a:ea typeface="楷体_GB2312" pitchFamily="49" charset="-122"/>
              </a:rPr>
              <a:t>开始的序号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 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循环开始的标志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循环变量每取一次值，循环体就执行一遍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        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#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循环结束的标志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A876B82-786E-4390-A5D2-F72E06860704}"/>
              </a:ext>
            </a:extLst>
          </p:cNvPr>
          <p:cNvSpPr txBox="1">
            <a:spLocks/>
          </p:cNvSpPr>
          <p:nvPr/>
        </p:nvSpPr>
        <p:spPr bwMode="auto">
          <a:xfrm>
            <a:off x="1043608" y="1272954"/>
            <a:ext cx="7772400" cy="5585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800" b="1" i="0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sz="2400" b="1" kern="1200" baseline="0"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zh-CN" sz="3000" dirty="0"/>
              <a:t>select</a:t>
            </a:r>
            <a:r>
              <a:rPr lang="zh-CN" altLang="en-US" sz="3000" dirty="0"/>
              <a:t>循环语句</a:t>
            </a:r>
            <a:r>
              <a:rPr lang="zh-CN" altLang="en-US" sz="3000" dirty="0" smtClean="0"/>
              <a:t>语法</a:t>
            </a:r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</a:pPr>
            <a:r>
              <a:rPr lang="zh-CN" altLang="en-US" sz="3000" dirty="0"/>
              <a:t>说明</a:t>
            </a:r>
            <a:endParaRPr lang="en-US" altLang="zh-CN" sz="3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按数值顺序排列的菜单项（</a:t>
            </a:r>
            <a:r>
              <a:rPr lang="en-US" altLang="zh-CN" sz="2000" dirty="0"/>
              <a:t>list item</a:t>
            </a:r>
            <a:r>
              <a:rPr lang="zh-CN" altLang="en-US" sz="2000" dirty="0"/>
              <a:t>）会显示到标准错误</a:t>
            </a:r>
            <a:endParaRPr lang="en-US" altLang="zh-CN" sz="2000" dirty="0"/>
          </a:p>
          <a:p>
            <a:pPr lvl="1"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菜单项的间隔符</a:t>
            </a:r>
            <a:r>
              <a:rPr lang="zh-CN" altLang="en-US" sz="2000" dirty="0"/>
              <a:t>由环境变量 </a:t>
            </a:r>
            <a:r>
              <a:rPr lang="en-US" altLang="zh-CN" sz="2000" dirty="0">
                <a:solidFill>
                  <a:srgbClr val="0000FF"/>
                </a:solidFill>
              </a:rPr>
              <a:t>IFS</a:t>
            </a:r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决定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用于引导用户输入的</a:t>
            </a:r>
            <a:r>
              <a:rPr lang="zh-CN" altLang="en-US" sz="2000" dirty="0">
                <a:solidFill>
                  <a:srgbClr val="FF0000"/>
                </a:solidFill>
              </a:rPr>
              <a:t>提示信息</a:t>
            </a:r>
            <a:r>
              <a:rPr lang="zh-CN" altLang="en-US" sz="2000" dirty="0"/>
              <a:t>存放在环境变量 </a:t>
            </a:r>
            <a:r>
              <a:rPr lang="en-US" altLang="zh-CN" sz="2000" dirty="0">
                <a:solidFill>
                  <a:srgbClr val="FF0000"/>
                </a:solidFill>
              </a:rPr>
              <a:t>PS3</a:t>
            </a:r>
            <a:r>
              <a:rPr lang="en-US" altLang="zh-CN" sz="2000" dirty="0"/>
              <a:t> </a:t>
            </a:r>
            <a:r>
              <a:rPr lang="zh-CN" altLang="en-US" sz="2000" dirty="0"/>
              <a:t>中</a:t>
            </a:r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用户</a:t>
            </a:r>
            <a:r>
              <a:rPr lang="zh-CN" altLang="en-US" sz="2000" dirty="0">
                <a:solidFill>
                  <a:srgbClr val="FF0000"/>
                </a:solidFill>
              </a:rPr>
              <a:t>输入的值</a:t>
            </a:r>
            <a:r>
              <a:rPr lang="zh-CN" altLang="en-US" sz="2000" dirty="0"/>
              <a:t>会被存储在内置变量 </a:t>
            </a:r>
            <a:r>
              <a:rPr lang="en-US" altLang="zh-CN" sz="2000" dirty="0">
                <a:solidFill>
                  <a:srgbClr val="FF0000"/>
                </a:solidFill>
              </a:rPr>
              <a:t>RELAY </a:t>
            </a:r>
            <a:r>
              <a:rPr lang="zh-CN" altLang="en-US" sz="2000" dirty="0"/>
              <a:t>中</a:t>
            </a:r>
            <a:endParaRPr lang="en-US" altLang="zh-CN" sz="2000" dirty="0"/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用户直接输入回车将重新显示菜单</a:t>
            </a:r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与 </a:t>
            </a:r>
            <a:r>
              <a:rPr lang="en-US" altLang="zh-CN" sz="2000" dirty="0"/>
              <a:t>for </a:t>
            </a:r>
            <a:r>
              <a:rPr lang="zh-CN" altLang="en-US" sz="2000" dirty="0"/>
              <a:t>循环类似，</a:t>
            </a:r>
            <a:r>
              <a:rPr lang="zh-CN" altLang="en-US" sz="2000" dirty="0">
                <a:solidFill>
                  <a:srgbClr val="FF0000"/>
                </a:solidFill>
              </a:rPr>
              <a:t>省略 </a:t>
            </a:r>
            <a:r>
              <a:rPr lang="en-US" altLang="zh-CN" sz="2000" dirty="0">
                <a:solidFill>
                  <a:srgbClr val="FF0000"/>
                </a:solidFill>
              </a:rPr>
              <a:t>in list </a:t>
            </a:r>
            <a:r>
              <a:rPr lang="zh-CN" altLang="en-US" sz="2000" dirty="0"/>
              <a:t>时</a:t>
            </a:r>
            <a:r>
              <a:rPr lang="zh-CN" altLang="en-US" sz="2000" dirty="0">
                <a:solidFill>
                  <a:srgbClr val="FF0000"/>
                </a:solidFill>
              </a:rPr>
              <a:t>等价于 </a:t>
            </a:r>
            <a:r>
              <a:rPr lang="en-US" altLang="zh-CN" sz="2000" dirty="0">
                <a:solidFill>
                  <a:srgbClr val="FF0000"/>
                </a:solidFill>
              </a:rPr>
              <a:t>in “$*”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  <a:r>
              <a:rPr lang="en-US" altLang="zh-CN" dirty="0"/>
              <a:t>—select </a:t>
            </a:r>
            <a:r>
              <a:rPr lang="zh-CN" altLang="en-US" dirty="0"/>
              <a:t>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2194" y="1556792"/>
            <a:ext cx="8604956" cy="48320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what-lang-do-you-like_select.sh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clear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PS3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="What is your preferred scripting language?  "</a:t>
            </a:r>
          </a:p>
          <a:p>
            <a:endParaRPr lang="en-US" altLang="zh-CN" sz="22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select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s </a:t>
            </a:r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bash </a:t>
            </a:r>
            <a:r>
              <a:rPr lang="en-US" altLang="zh-CN" sz="22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perl</a:t>
            </a:r>
            <a:r>
              <a:rPr lang="en-US" altLang="zh-CN" sz="22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python ruby quit</a:t>
            </a: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$s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bash|perl|python|ruby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echo “You selected $s”  ;; 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2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  quit</a:t>
            </a:r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break  ;; 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*) echo "You selected error , retry …" ;;</a:t>
            </a:r>
          </a:p>
          <a:p>
            <a:r>
              <a:rPr lang="en-US" altLang="zh-CN" sz="22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200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esac</a:t>
            </a:r>
            <a:endParaRPr lang="en-US" altLang="zh-CN" sz="22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  <a:r>
              <a:rPr lang="en-US" altLang="zh-CN" dirty="0"/>
              <a:t>—select </a:t>
            </a:r>
            <a:r>
              <a:rPr lang="zh-CN" altLang="en-US" dirty="0"/>
              <a:t>举例</a:t>
            </a:r>
            <a:r>
              <a:rPr lang="en-US" altLang="zh-CN" dirty="0"/>
              <a:t>1</a:t>
            </a:r>
            <a:r>
              <a:rPr lang="zh-CN" altLang="en-US" dirty="0"/>
              <a:t>结果</a:t>
            </a:r>
          </a:p>
        </p:txBody>
      </p:sp>
      <p:sp>
        <p:nvSpPr>
          <p:cNvPr id="3" name="矩形 2"/>
          <p:cNvSpPr/>
          <p:nvPr/>
        </p:nvSpPr>
        <p:spPr>
          <a:xfrm>
            <a:off x="522214" y="1556792"/>
            <a:ext cx="84249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1) bash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2) </a:t>
            </a:r>
            <a:r>
              <a:rPr lang="en-US" altLang="zh-CN" sz="2400" dirty="0" err="1">
                <a:solidFill>
                  <a:srgbClr val="0000FF"/>
                </a:solidFill>
              </a:rPr>
              <a:t>perl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dirty="0">
                <a:solidFill>
                  <a:srgbClr val="0000FF"/>
                </a:solidFill>
              </a:rPr>
              <a:t>3) python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4) ruby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5) quit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scripting language?  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“You selected bash”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scripting language?  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“You selected </a:t>
            </a:r>
            <a:r>
              <a:rPr lang="en-US" altLang="zh-CN" sz="2400" dirty="0" err="1">
                <a:solidFill>
                  <a:srgbClr val="0000FF"/>
                </a:solidFill>
              </a:rPr>
              <a:t>perl</a:t>
            </a:r>
            <a:r>
              <a:rPr lang="en-US" altLang="zh-CN" sz="2400" dirty="0">
                <a:solidFill>
                  <a:srgbClr val="0000FF"/>
                </a:solidFill>
              </a:rPr>
              <a:t>”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scripting language?  </a:t>
            </a:r>
            <a:r>
              <a:rPr lang="en-US" altLang="zh-CN" sz="2400" dirty="0">
                <a:solidFill>
                  <a:srgbClr val="C00000"/>
                </a:solidFill>
              </a:rPr>
              <a:t>bash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You selected error , retry …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scripting language?  </a:t>
            </a:r>
            <a:r>
              <a:rPr lang="en-US" altLang="zh-CN" sz="2400" dirty="0">
                <a:solidFill>
                  <a:srgbClr val="C00000"/>
                </a:solidFill>
              </a:rPr>
              <a:t>5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</a:t>
            </a:r>
          </a:p>
        </p:txBody>
      </p:sp>
    </p:spTree>
    <p:extLst>
      <p:ext uri="{BB962C8B-B14F-4D97-AF65-F5344CB8AC3E}">
        <p14:creationId xmlns:p14="http://schemas.microsoft.com/office/powerpoint/2010/main" val="167866209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  <a:r>
              <a:rPr lang="en-US" altLang="zh-CN" dirty="0"/>
              <a:t>——select </a:t>
            </a:r>
            <a:r>
              <a:rPr lang="zh-CN" altLang="en-US" dirty="0"/>
              <a:t>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556792"/>
            <a:ext cx="8280920" cy="48936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  <a:endParaRPr lang="zh-CN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what-os-do-you-like_select.sh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clear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PS3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="What is your preferred OS? "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IFS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=‘</a:t>
            </a: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/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'</a:t>
            </a:r>
            <a:endParaRPr lang="en-US" altLang="zh-CN" sz="24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os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Linux</a:t>
            </a:r>
            <a:r>
              <a:rPr lang="en-US" altLang="zh-CN" sz="2400" b="1" dirty="0" smtClean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/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Gnu Hurd</a:t>
            </a:r>
            <a:r>
              <a:rPr lang="en-US" altLang="zh-CN" sz="2400" b="1" dirty="0" smtClean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/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FreeBSD</a:t>
            </a:r>
            <a:r>
              <a:rPr lang="en-US" altLang="zh-CN" sz="2400" b="1" dirty="0" smtClean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/</a:t>
            </a:r>
            <a:r>
              <a:rPr lang="en-US" altLang="zh-CN" sz="2400" b="1" dirty="0" smtClean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Mac 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OS X"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select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s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$</a:t>
            </a:r>
            <a:r>
              <a:rPr lang="en-US" altLang="zh-CN" sz="24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os</a:t>
            </a:r>
            <a:endParaRPr lang="en-US" altLang="zh-CN" sz="2400" b="1" dirty="0">
              <a:solidFill>
                <a:srgbClr val="7030A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$REPLY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1|2|3|4</a:t>
            </a:r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 echo "You selected $s"  ;;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   *) break ;;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宋体" charset="-122"/>
              </a:rPr>
              <a:t>esac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  <a:r>
              <a:rPr lang="en-US" altLang="zh-CN" dirty="0"/>
              <a:t>—select </a:t>
            </a:r>
            <a:r>
              <a:rPr lang="zh-CN" altLang="en-US" dirty="0"/>
              <a:t>举例</a:t>
            </a:r>
            <a:r>
              <a:rPr lang="en-US" altLang="zh-CN" dirty="0"/>
              <a:t>2</a:t>
            </a:r>
            <a:r>
              <a:rPr lang="zh-CN" altLang="en-US" dirty="0"/>
              <a:t>结果</a:t>
            </a:r>
          </a:p>
        </p:txBody>
      </p:sp>
      <p:sp>
        <p:nvSpPr>
          <p:cNvPr id="3" name="矩形 2"/>
          <p:cNvSpPr/>
          <p:nvPr/>
        </p:nvSpPr>
        <p:spPr>
          <a:xfrm>
            <a:off x="431540" y="1628800"/>
            <a:ext cx="82809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1) Linux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2) Gnu Hurd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3) FreeBSD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4) Mac OS X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OS? 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You selected Linux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OS? 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You selected Gnu Hurd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OS? </a:t>
            </a:r>
            <a:r>
              <a:rPr lang="en-US" altLang="zh-CN" sz="2400" dirty="0">
                <a:solidFill>
                  <a:srgbClr val="C00000"/>
                </a:solidFill>
              </a:rPr>
              <a:t>3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You selected FreeBSD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What is your preferred OS? </a:t>
            </a:r>
            <a:r>
              <a:rPr lang="en-US" altLang="zh-CN" sz="2400" dirty="0">
                <a:solidFill>
                  <a:srgbClr val="C00000"/>
                </a:solidFill>
              </a:rPr>
              <a:t>d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</a:t>
            </a:r>
          </a:p>
        </p:txBody>
      </p:sp>
    </p:spTree>
    <p:extLst>
      <p:ext uri="{BB962C8B-B14F-4D97-AF65-F5344CB8AC3E}">
        <p14:creationId xmlns:p14="http://schemas.microsoft.com/office/powerpoint/2010/main" val="26176950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pPr lvl="0" eaLnBrk="1" hangingPunct="1">
              <a:spcBef>
                <a:spcPts val="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Broadway" panose="04040905080B02020502" pitchFamily="82" charset="0"/>
              </a:rPr>
              <a:t>历史回顾</a:t>
            </a:r>
            <a:endParaRPr lang="en-US" altLang="zh-CN" b="1" dirty="0">
              <a:solidFill>
                <a:srgbClr val="000000"/>
              </a:solidFill>
              <a:latin typeface="Broadway" panose="04040905080B02020502" pitchFamily="82" charset="0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3" y="160277"/>
            <a:ext cx="1165372" cy="111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00" y="1556792"/>
            <a:ext cx="3672408" cy="4921250"/>
          </a:xfrm>
          <a:prstGeom prst="rect">
            <a:avLst/>
          </a:prstGeom>
          <a:noFill/>
          <a:ln w="19050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case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endParaRPr lang="zh-CN" altLang="en-US" sz="2400" b="1" dirty="0" smtClean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pattern1</a:t>
            </a: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  </a:t>
            </a:r>
            <a:endParaRPr lang="zh-CN" altLang="en-US" sz="2400" b="1" dirty="0" smtClean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commands1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endParaRPr lang="en-US" altLang="zh-CN" sz="2400" b="1" dirty="0" smtClean="0">
              <a:solidFill>
                <a:schemeClr val="accent6">
                  <a:lumMod val="75000"/>
                </a:schemeClr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;;        </a:t>
            </a:r>
            <a:endParaRPr lang="zh-CN" altLang="en-US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pattern2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  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commands2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;;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  </a:t>
            </a:r>
            <a:r>
              <a:rPr lang="zh-CN" altLang="en-US" sz="2400" b="1" dirty="0" smtClean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/>
            </a:r>
            <a:br>
              <a:rPr lang="zh-CN" altLang="en-US" sz="2400" b="1" dirty="0" smtClean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</a:br>
            <a:r>
              <a:rPr lang="zh-CN" altLang="en-US" sz="2400" b="1" dirty="0" smtClean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... ...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*</a:t>
            </a: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)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commands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楷体_GB2312" pitchFamily="49" charset="-122"/>
              </a:rPr>
              <a:t>;;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/>
            </a:r>
            <a:br>
              <a:rPr lang="zh-CN" altLang="en-US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</a:br>
            <a:r>
              <a:rPr lang="en-US" altLang="zh-CN" sz="2400" b="1" dirty="0" err="1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esac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95537" y="1556792"/>
            <a:ext cx="3744416" cy="4967514"/>
          </a:xfrm>
          <a:prstGeom prst="rect">
            <a:avLst/>
          </a:prstGeom>
          <a:noFill/>
          <a:ln w="19050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if </a:t>
            </a:r>
            <a:r>
              <a:rPr lang="en-US" altLang="zh-CN" sz="2400" b="1" dirty="0" smtClean="0">
                <a:solidFill>
                  <a:schemeClr val="tx1"/>
                </a:solidFill>
                <a:latin typeface="Courier New" pitchFamily="49" charset="0"/>
              </a:rPr>
              <a:t>expr1</a:t>
            </a:r>
            <a:endParaRPr lang="en-US" altLang="zh-CN" sz="2400" b="1" dirty="0" smtClean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then</a:t>
            </a:r>
            <a:endParaRPr lang="zh-CN" altLang="en-US" sz="2400" b="1" dirty="0" smtClean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commands1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err="1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elif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</a:rPr>
              <a:t>expr2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  </a:t>
            </a:r>
            <a:endParaRPr lang="zh-CN" altLang="en-US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then        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commands2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... ...</a:t>
            </a:r>
            <a:r>
              <a:rPr lang="zh-CN" altLang="en-US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   </a:t>
            </a:r>
            <a:r>
              <a:rPr lang="zh-CN" altLang="en-US" sz="2400" b="1" dirty="0" smtClean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else          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 commands4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fi       </a:t>
            </a:r>
            <a:endParaRPr lang="en-US" altLang="zh-CN" sz="2400" b="1" dirty="0" smtClean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endParaRPr lang="en-US" altLang="zh-CN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    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601798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55CEAF2-D2ED-4171-9B2B-0AA24B62F903}"/>
              </a:ext>
            </a:extLst>
          </p:cNvPr>
          <p:cNvSpPr txBox="1">
            <a:spLocks noChangeArrowheads="1"/>
          </p:cNvSpPr>
          <p:nvPr/>
        </p:nvSpPr>
        <p:spPr>
          <a:xfrm>
            <a:off x="833406" y="1549878"/>
            <a:ext cx="7999934" cy="5121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Broadway" panose="04040905080B02020502" pitchFamily="8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pPr lvl="0" eaLnBrk="1" hangingPunct="1">
              <a:spcBef>
                <a:spcPts val="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Broadway" panose="04040905080B02020502" pitchFamily="82" charset="0"/>
              </a:rPr>
              <a:t>历史回顾</a:t>
            </a:r>
            <a:endParaRPr lang="en-US" altLang="zh-CN" b="1" dirty="0">
              <a:solidFill>
                <a:srgbClr val="000000"/>
              </a:solidFill>
              <a:latin typeface="Broadway" panose="04040905080B02020502" pitchFamily="82" charset="0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5" y="160277"/>
            <a:ext cx="1165372" cy="111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14462" y="1412776"/>
            <a:ext cx="4013522" cy="171739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for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variable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list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 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23630" y="3212976"/>
            <a:ext cx="4004354" cy="171739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while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expr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endParaRPr lang="en-US" altLang="zh-CN" sz="2400" b="1" dirty="0" smtClean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 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</a:t>
            </a:r>
            <a:endParaRPr lang="en-US" altLang="zh-CN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23630" y="4977440"/>
            <a:ext cx="4004354" cy="170815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until </a:t>
            </a:r>
            <a:r>
              <a:rPr kumimoji="1" lang="en-US" altLang="zh-CN" sz="2400" b="1" dirty="0">
                <a:latin typeface="Courier New" pitchFamily="49" charset="0"/>
                <a:ea typeface="楷体_GB2312" pitchFamily="49" charset="-122"/>
              </a:rPr>
              <a:t>expr</a:t>
            </a:r>
            <a:r>
              <a:rPr kumimoji="1"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endParaRPr kumimoji="1" lang="en-US" altLang="zh-CN" sz="2400" b="1" dirty="0" smtClean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</a:t>
            </a:r>
            <a:endParaRPr kumimoji="1" lang="en-US" altLang="zh-CN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commands  </a:t>
            </a:r>
            <a:endParaRPr kumimoji="1" lang="zh-CN" altLang="en-US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</a:t>
            </a:r>
            <a:endParaRPr kumimoji="1" lang="zh-CN" altLang="en-US" sz="2400" b="1" dirty="0">
              <a:solidFill>
                <a:srgbClr val="FF3300"/>
              </a:solidFill>
              <a:latin typeface="Courier New" pitchFamily="49" charset="0"/>
              <a:ea typeface="楷体_GB2312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572000" y="1417984"/>
            <a:ext cx="4608512" cy="1717393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select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楷体_GB2312" pitchFamily="49" charset="-122"/>
              </a:rPr>
              <a:t>variable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in</a:t>
            </a:r>
            <a:r>
              <a:rPr lang="en-US" altLang="zh-CN" sz="2400" b="1" dirty="0">
                <a:solidFill>
                  <a:srgbClr val="FF3300"/>
                </a:solidFill>
                <a:latin typeface="Courier New" pitchFamily="49" charset="0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list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</a:t>
            </a:r>
            <a:endParaRPr lang="zh-CN" altLang="en-US" sz="2400" b="1" dirty="0">
              <a:solidFill>
                <a:srgbClr val="990000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solidFill>
                  <a:srgbClr val="0000CC"/>
                </a:solidFill>
                <a:latin typeface="Courier New" pitchFamily="49" charset="0"/>
                <a:ea typeface="楷体_GB2312" pitchFamily="49" charset="-122"/>
              </a:rPr>
              <a:t>commands</a:t>
            </a:r>
            <a:endParaRPr lang="en-US" altLang="zh-CN" sz="2400" b="1" dirty="0">
              <a:solidFill>
                <a:srgbClr val="0000CC"/>
              </a:solidFill>
              <a:latin typeface="Courier New" pitchFamily="49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990000"/>
                </a:solidFill>
                <a:latin typeface="Courier New" pitchFamily="49" charset="0"/>
                <a:ea typeface="楷体_GB2312" pitchFamily="49" charset="-122"/>
              </a:rPr>
              <a:t>done</a:t>
            </a:r>
          </a:p>
        </p:txBody>
      </p:sp>
      <p:sp>
        <p:nvSpPr>
          <p:cNvPr id="3" name="矩形 2"/>
          <p:cNvSpPr/>
          <p:nvPr/>
        </p:nvSpPr>
        <p:spPr>
          <a:xfrm>
            <a:off x="4716016" y="3277447"/>
            <a:ext cx="38884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菜单</a:t>
            </a:r>
            <a:r>
              <a:rPr lang="zh-CN" altLang="en-US" sz="2400" dirty="0"/>
              <a:t>项的间隔符由环境变量 </a:t>
            </a:r>
            <a:r>
              <a:rPr lang="en-US" altLang="zh-CN" sz="2400" dirty="0"/>
              <a:t>IFS </a:t>
            </a:r>
            <a:r>
              <a:rPr lang="zh-CN" altLang="en-US" sz="2400" dirty="0"/>
              <a:t>决定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引导</a:t>
            </a:r>
            <a:r>
              <a:rPr lang="zh-CN" altLang="en-US" sz="2400" dirty="0"/>
              <a:t>用户输入的提示</a:t>
            </a:r>
            <a:r>
              <a:rPr lang="zh-CN" altLang="en-US" sz="2400" dirty="0" smtClean="0"/>
              <a:t>信息</a:t>
            </a:r>
            <a:r>
              <a:rPr lang="zh-CN" altLang="en-US" sz="2400" dirty="0"/>
              <a:t>：</a:t>
            </a:r>
            <a:r>
              <a:rPr lang="en-US" altLang="zh-CN" sz="2400" dirty="0" smtClean="0"/>
              <a:t>PS3 </a:t>
            </a:r>
            <a:r>
              <a:rPr lang="zh-CN" altLang="en-US" sz="2400" dirty="0"/>
              <a:t>决定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用户输入的</a:t>
            </a:r>
            <a:r>
              <a:rPr lang="zh-CN" altLang="en-US" sz="2400" dirty="0" smtClean="0"/>
              <a:t>值：</a:t>
            </a:r>
            <a:r>
              <a:rPr lang="en-US" altLang="zh-CN" sz="2400" dirty="0" smtClean="0"/>
              <a:t>RELAY </a:t>
            </a:r>
            <a:r>
              <a:rPr lang="zh-CN" altLang="en-US" sz="2400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300791515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pPr lvl="0" eaLnBrk="1" hangingPunct="1">
              <a:spcBef>
                <a:spcPts val="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Broadway" panose="04040905080B02020502" pitchFamily="82" charset="0"/>
              </a:rPr>
              <a:t>历史回顾</a:t>
            </a:r>
            <a:endParaRPr lang="en-US" altLang="zh-CN" b="1" dirty="0">
              <a:solidFill>
                <a:srgbClr val="000000"/>
              </a:solidFill>
              <a:latin typeface="Broadway" panose="04040905080B02020502" pitchFamily="82" charset="0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5" y="160277"/>
            <a:ext cx="1165372" cy="111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14199" y="1340990"/>
            <a:ext cx="3888432" cy="2677656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#!/bin/bash</a:t>
            </a:r>
          </a:p>
          <a:p>
            <a:r>
              <a:rPr lang="en-US" altLang="zh-CN" sz="2400" dirty="0"/>
              <a:t>for x in {1..3}; do</a:t>
            </a:r>
          </a:p>
          <a:p>
            <a:r>
              <a:rPr lang="en-US" altLang="zh-CN" sz="2400" dirty="0"/>
              <a:t>    echo </a:t>
            </a:r>
            <a:r>
              <a:rPr lang="en-US" altLang="zh-CN" sz="2400" dirty="0" err="1"/>
              <a:t>user$x</a:t>
            </a:r>
            <a:endParaRPr lang="en-US" altLang="zh-CN" sz="2400" dirty="0"/>
          </a:p>
          <a:p>
            <a:r>
              <a:rPr lang="en-US" altLang="zh-CN" sz="2400" dirty="0"/>
              <a:t>done</a:t>
            </a:r>
          </a:p>
          <a:p>
            <a:r>
              <a:rPr lang="en-US" altLang="zh-CN" sz="2400" dirty="0"/>
              <a:t>for x in $(</a:t>
            </a:r>
            <a:r>
              <a:rPr lang="en-US" altLang="zh-CN" sz="2400" dirty="0" err="1"/>
              <a:t>seq</a:t>
            </a:r>
            <a:r>
              <a:rPr lang="en-US" altLang="zh-CN" sz="2400" dirty="0"/>
              <a:t> 0 2 4); do</a:t>
            </a:r>
          </a:p>
          <a:p>
            <a:r>
              <a:rPr lang="en-US" altLang="zh-CN" sz="2400" dirty="0"/>
              <a:t>    echo </a:t>
            </a:r>
            <a:r>
              <a:rPr lang="en-US" altLang="zh-CN" sz="2400" dirty="0" err="1"/>
              <a:t>user$x</a:t>
            </a:r>
            <a:endParaRPr lang="en-US" altLang="zh-CN" sz="2400" dirty="0"/>
          </a:p>
          <a:p>
            <a:r>
              <a:rPr lang="en-US" altLang="zh-CN" sz="2400" dirty="0"/>
              <a:t>done</a:t>
            </a:r>
          </a:p>
        </p:txBody>
      </p:sp>
      <p:sp>
        <p:nvSpPr>
          <p:cNvPr id="4" name="矩形 3"/>
          <p:cNvSpPr/>
          <p:nvPr/>
        </p:nvSpPr>
        <p:spPr>
          <a:xfrm>
            <a:off x="621005" y="4009612"/>
            <a:ext cx="38884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altLang="zh-CN" sz="2400" dirty="0">
                <a:solidFill>
                  <a:srgbClr val="0000FF"/>
                </a:solidFill>
              </a:rPr>
              <a:t>[xl@localhost ~]$ ./test.sh</a:t>
            </a:r>
          </a:p>
          <a:p>
            <a:r>
              <a:rPr lang="nb-NO" altLang="zh-CN" sz="2400" dirty="0"/>
              <a:t>user1</a:t>
            </a:r>
          </a:p>
          <a:p>
            <a:r>
              <a:rPr lang="nb-NO" altLang="zh-CN" sz="2400" dirty="0"/>
              <a:t>user2</a:t>
            </a:r>
          </a:p>
          <a:p>
            <a:r>
              <a:rPr lang="nb-NO" altLang="zh-CN" sz="2400" dirty="0"/>
              <a:t>user3</a:t>
            </a:r>
          </a:p>
          <a:p>
            <a:r>
              <a:rPr lang="nb-NO" altLang="zh-CN" sz="2400" dirty="0"/>
              <a:t>user0</a:t>
            </a:r>
          </a:p>
          <a:p>
            <a:r>
              <a:rPr lang="nb-NO" altLang="zh-CN" sz="2400" dirty="0"/>
              <a:t>user2</a:t>
            </a:r>
          </a:p>
          <a:p>
            <a:r>
              <a:rPr lang="nb-NO" altLang="zh-CN" sz="2400" dirty="0"/>
              <a:t>user4</a:t>
            </a:r>
          </a:p>
        </p:txBody>
      </p:sp>
      <p:sp>
        <p:nvSpPr>
          <p:cNvPr id="12" name="矩形 11"/>
          <p:cNvSpPr/>
          <p:nvPr/>
        </p:nvSpPr>
        <p:spPr>
          <a:xfrm>
            <a:off x="4572000" y="1275914"/>
            <a:ext cx="44450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生成序列的方法（详见表</a:t>
            </a:r>
            <a:r>
              <a:rPr lang="en-US" altLang="zh-CN" sz="2400" dirty="0" smtClean="0"/>
              <a:t>10-11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r>
              <a:rPr lang="en-US" altLang="zh-CN" sz="2400" dirty="0" err="1" smtClean="0"/>
              <a:t>seq</a:t>
            </a:r>
            <a:r>
              <a:rPr lang="en-US" altLang="zh-CN" sz="2400" dirty="0" smtClean="0"/>
              <a:t> n</a:t>
            </a:r>
          </a:p>
          <a:p>
            <a:r>
              <a:rPr lang="en-US" altLang="zh-CN" sz="2400" dirty="0" err="1"/>
              <a:t>s</a:t>
            </a:r>
            <a:r>
              <a:rPr lang="en-US" altLang="zh-CN" sz="2400" dirty="0" err="1" smtClean="0"/>
              <a:t>eq</a:t>
            </a:r>
            <a:r>
              <a:rPr lang="en-US" altLang="zh-CN" sz="2400" dirty="0" smtClean="0"/>
              <a:t> m n</a:t>
            </a:r>
          </a:p>
          <a:p>
            <a:r>
              <a:rPr lang="en-US" altLang="zh-CN" sz="2400" dirty="0" err="1"/>
              <a:t>s</a:t>
            </a:r>
            <a:r>
              <a:rPr lang="en-US" altLang="zh-CN" sz="2400" dirty="0" err="1" smtClean="0"/>
              <a:t>eq</a:t>
            </a:r>
            <a:r>
              <a:rPr lang="en-US" altLang="zh-CN" sz="2400" dirty="0" smtClean="0"/>
              <a:t> m s n</a:t>
            </a:r>
          </a:p>
          <a:p>
            <a:r>
              <a:rPr lang="zh-CN" altLang="en-US" sz="2400" dirty="0"/>
              <a:t>或者</a:t>
            </a:r>
            <a:endParaRPr lang="en-US" altLang="zh-CN" sz="2400" dirty="0"/>
          </a:p>
          <a:p>
            <a:r>
              <a:rPr lang="en-US" altLang="zh-CN" sz="2400" dirty="0" smtClean="0"/>
              <a:t>{</a:t>
            </a:r>
            <a:r>
              <a:rPr lang="en-US" altLang="zh-CN" sz="2400" dirty="0" err="1" smtClean="0"/>
              <a:t>m..n</a:t>
            </a:r>
            <a:r>
              <a:rPr lang="en-US" altLang="zh-CN" sz="2400" dirty="0" smtClean="0"/>
              <a:t>}</a:t>
            </a:r>
          </a:p>
          <a:p>
            <a:r>
              <a:rPr lang="en-US" altLang="zh-CN" sz="2400" dirty="0" smtClean="0"/>
              <a:t>{</a:t>
            </a:r>
            <a:r>
              <a:rPr lang="en-US" altLang="zh-CN" sz="2400" dirty="0" err="1" smtClean="0"/>
              <a:t>m..n..s</a:t>
            </a:r>
            <a:r>
              <a:rPr lang="en-US" altLang="zh-CN" sz="2400" dirty="0" smtClean="0"/>
              <a:t>}</a:t>
            </a:r>
            <a:endParaRPr lang="nb-NO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1144992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55CEAF2-D2ED-4171-9B2B-0AA24B62F903}"/>
              </a:ext>
            </a:extLst>
          </p:cNvPr>
          <p:cNvSpPr txBox="1">
            <a:spLocks noChangeArrowheads="1"/>
          </p:cNvSpPr>
          <p:nvPr/>
        </p:nvSpPr>
        <p:spPr>
          <a:xfrm>
            <a:off x="833406" y="1549878"/>
            <a:ext cx="7999934" cy="5121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Broadway" panose="04040905080B02020502" pitchFamily="8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Shell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脚本编程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脚本简介，变量操作，特殊变量和简单脚本，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Shell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脚本跟踪与调试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分支结构和循环结构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条件测试，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if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case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while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until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for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语句，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宋体"/>
              </a:rPr>
              <a:t>select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宋体"/>
              </a:rPr>
              <a:t>语句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roadway" panose="04040905080B02020502" pitchFamily="82" charset="0"/>
                <a:ea typeface="宋体"/>
                <a:cs typeface="+mn-cs"/>
              </a:rPr>
              <a:t> 函数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roadway" panose="04040905080B02020502" pitchFamily="82" charset="0"/>
              <a:ea typeface="宋体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函数的概念，函数及其用途，函数的定义和调用，函数的使用举例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8" name="标题 4">
            <a:extLst>
              <a:ext uri="{FF2B5EF4-FFF2-40B4-BE49-F238E27FC236}">
                <a16:creationId xmlns:a16="http://schemas.microsoft.com/office/drawing/2014/main" id="{9AD9A78A-609F-4797-AA52-6B1406C11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87" y="71399"/>
            <a:ext cx="7793037" cy="1204515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本章内容要点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4F68058-A272-4A0C-AC8E-6E614A1DCF7B}"/>
              </a:ext>
            </a:extLst>
          </p:cNvPr>
          <p:cNvSpPr/>
          <p:nvPr/>
        </p:nvSpPr>
        <p:spPr>
          <a:xfrm>
            <a:off x="833406" y="4725144"/>
            <a:ext cx="7808777" cy="150777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pic>
        <p:nvPicPr>
          <p:cNvPr id="9221" name="Picture 8">
            <a:extLst>
              <a:ext uri="{FF2B5EF4-FFF2-40B4-BE49-F238E27FC236}">
                <a16:creationId xmlns:a16="http://schemas.microsoft.com/office/drawing/2014/main" id="{30CF9F7C-A188-429C-86A1-CC0CA6E8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9014"/>
            <a:ext cx="1574994" cy="150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65346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371600"/>
            <a:ext cx="7772400" cy="5294685"/>
          </a:xfrm>
        </p:spPr>
        <p:txBody>
          <a:bodyPr/>
          <a:lstStyle/>
          <a:p>
            <a:r>
              <a:rPr lang="zh-CN" altLang="en-US" sz="2800" dirty="0"/>
              <a:t>为了避免大型脚本变得复杂、晦涩而使用函数</a:t>
            </a:r>
          </a:p>
          <a:p>
            <a:r>
              <a:rPr lang="zh-CN" altLang="en-US" sz="2800" dirty="0"/>
              <a:t>将大型脚本代码分割成小块，将这些</a:t>
            </a:r>
            <a:r>
              <a:rPr lang="zh-CN" altLang="en-US" sz="2800" dirty="0">
                <a:solidFill>
                  <a:srgbClr val="FF0000"/>
                </a:solidFill>
              </a:rPr>
              <a:t>被命名的代码块</a:t>
            </a:r>
            <a:r>
              <a:rPr lang="zh-CN" altLang="en-US" sz="2800" dirty="0"/>
              <a:t>称为函数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就是用于</a:t>
            </a:r>
            <a:r>
              <a:rPr lang="zh-CN" altLang="en-US" dirty="0">
                <a:solidFill>
                  <a:srgbClr val="FF0000"/>
                </a:solidFill>
              </a:rPr>
              <a:t>完成特定任务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子程序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如：添加一个用户、判断用户是否为管理员等</a:t>
            </a:r>
          </a:p>
          <a:p>
            <a:r>
              <a:rPr lang="zh-CN" altLang="en-US" dirty="0"/>
              <a:t>函数定义后可以被使用它的主程序调用</a:t>
            </a:r>
            <a:endParaRPr lang="en-US" altLang="zh-CN" dirty="0"/>
          </a:p>
          <a:p>
            <a:pPr lvl="1"/>
            <a:r>
              <a:rPr lang="zh-CN" altLang="en-US" dirty="0"/>
              <a:t>调用函数的方法与执行</a:t>
            </a:r>
            <a:r>
              <a:rPr lang="en-US" altLang="zh-CN" dirty="0"/>
              <a:t>Shell</a:t>
            </a:r>
            <a:r>
              <a:rPr lang="zh-CN" altLang="en-US" dirty="0"/>
              <a:t>命令无异</a:t>
            </a:r>
          </a:p>
          <a:p>
            <a:pPr lvl="1"/>
            <a:r>
              <a:rPr lang="zh-CN" altLang="en-US" dirty="0"/>
              <a:t>可以在</a:t>
            </a:r>
            <a:r>
              <a:rPr lang="en-US" altLang="zh-CN" dirty="0">
                <a:solidFill>
                  <a:srgbClr val="FF0000"/>
                </a:solidFill>
              </a:rPr>
              <a:t>Shell</a:t>
            </a:r>
            <a:r>
              <a:rPr lang="zh-CN" altLang="en-US" dirty="0">
                <a:solidFill>
                  <a:srgbClr val="FF0000"/>
                </a:solidFill>
              </a:rPr>
              <a:t>脚本</a:t>
            </a:r>
            <a:r>
              <a:rPr lang="zh-CN" altLang="en-US" dirty="0"/>
              <a:t>中调用（函数需</a:t>
            </a:r>
            <a:r>
              <a:rPr lang="zh-CN" altLang="en-US" dirty="0">
                <a:solidFill>
                  <a:srgbClr val="FF0000"/>
                </a:solidFill>
              </a:rPr>
              <a:t>先定义而后调用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zh-CN" altLang="en-US" dirty="0">
                <a:solidFill>
                  <a:srgbClr val="FF0000"/>
                </a:solidFill>
              </a:rPr>
              <a:t>命令行</a:t>
            </a:r>
            <a:r>
              <a:rPr lang="zh-CN" altLang="en-US" dirty="0"/>
              <a:t>上直接调用（定义函数的文件需</a:t>
            </a:r>
            <a:r>
              <a:rPr lang="zh-CN" altLang="en-US" dirty="0">
                <a:solidFill>
                  <a:srgbClr val="FF0000"/>
                </a:solidFill>
              </a:rPr>
              <a:t>先加载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用途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371600"/>
            <a:ext cx="7772400" cy="411480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简化程序</a:t>
            </a:r>
            <a:r>
              <a:rPr lang="zh-CN" altLang="en-US" sz="2800" b="1" dirty="0"/>
              <a:t>代码，实现</a:t>
            </a:r>
            <a:r>
              <a:rPr lang="zh-CN" altLang="en-US" sz="2800" b="1" dirty="0">
                <a:solidFill>
                  <a:srgbClr val="FF0000"/>
                </a:solidFill>
              </a:rPr>
              <a:t>代码重用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实现一次定义多次调用。如：</a:t>
            </a:r>
            <a:r>
              <a:rPr lang="en-US" altLang="zh-CN" sz="2400" dirty="0" err="1"/>
              <a:t>is_root_user</a:t>
            </a:r>
            <a:r>
              <a:rPr lang="zh-CN" altLang="en-US" sz="2400" dirty="0"/>
              <a:t>（）函数可以由不同的</a:t>
            </a:r>
            <a:r>
              <a:rPr lang="en-US" altLang="zh-CN" sz="2400" dirty="0"/>
              <a:t>shell</a:t>
            </a:r>
            <a:r>
              <a:rPr lang="zh-CN" altLang="en-US" sz="2400" dirty="0"/>
              <a:t>脚本重复使用。</a:t>
            </a:r>
          </a:p>
          <a:p>
            <a:r>
              <a:rPr lang="zh-CN" altLang="en-US" sz="2800" b="1" dirty="0"/>
              <a:t>实现</a:t>
            </a:r>
            <a:r>
              <a:rPr lang="zh-CN" altLang="en-US" sz="2800" b="1" dirty="0">
                <a:solidFill>
                  <a:srgbClr val="FF0000"/>
                </a:solidFill>
              </a:rPr>
              <a:t>结构化编程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使脚本内容更加</a:t>
            </a:r>
            <a:r>
              <a:rPr lang="zh-CN" altLang="en-US" sz="2400" dirty="0">
                <a:solidFill>
                  <a:srgbClr val="FF0000"/>
                </a:solidFill>
              </a:rPr>
              <a:t>简洁</a:t>
            </a:r>
            <a:r>
              <a:rPr lang="zh-CN" altLang="en-US" sz="2400" dirty="0"/>
              <a:t>，增强程序的</a:t>
            </a:r>
            <a:r>
              <a:rPr lang="zh-CN" altLang="en-US" sz="2400" dirty="0">
                <a:solidFill>
                  <a:srgbClr val="FF0000"/>
                </a:solidFill>
              </a:rPr>
              <a:t>易读</a:t>
            </a:r>
            <a:r>
              <a:rPr lang="zh-CN" altLang="en-US" sz="2400" dirty="0"/>
              <a:t>性</a:t>
            </a:r>
          </a:p>
          <a:p>
            <a:r>
              <a:rPr lang="zh-CN" altLang="en-US" sz="2800" b="1" dirty="0"/>
              <a:t>提高</a:t>
            </a:r>
            <a:r>
              <a:rPr lang="zh-CN" altLang="en-US" sz="2800" b="1" dirty="0">
                <a:solidFill>
                  <a:srgbClr val="FF0000"/>
                </a:solidFill>
              </a:rPr>
              <a:t>执行效率</a:t>
            </a:r>
          </a:p>
          <a:p>
            <a:pPr lvl="1"/>
            <a:r>
              <a:rPr lang="zh-CN" altLang="en-US" sz="2400" dirty="0"/>
              <a:t>将常用功能</a:t>
            </a:r>
            <a:r>
              <a:rPr lang="zh-CN" altLang="en-US" sz="2400" dirty="0">
                <a:solidFill>
                  <a:srgbClr val="FF0000"/>
                </a:solidFill>
              </a:rPr>
              <a:t>定义</a:t>
            </a:r>
            <a:r>
              <a:rPr lang="zh-CN" altLang="en-US" sz="2400" dirty="0"/>
              <a:t>为多个</a:t>
            </a:r>
            <a:r>
              <a:rPr lang="zh-CN" altLang="en-US" sz="2400" dirty="0">
                <a:solidFill>
                  <a:srgbClr val="FF0000"/>
                </a:solidFill>
              </a:rPr>
              <a:t>函数</a:t>
            </a:r>
            <a:r>
              <a:rPr lang="zh-CN" altLang="en-US" sz="2400" dirty="0"/>
              <a:t>并</a:t>
            </a:r>
            <a:r>
              <a:rPr lang="zh-CN" altLang="en-US" sz="2400" dirty="0">
                <a:solidFill>
                  <a:srgbClr val="FF0000"/>
                </a:solidFill>
              </a:rPr>
              <a:t>保存在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FF0000"/>
                </a:solidFill>
              </a:rPr>
              <a:t>文件</a:t>
            </a:r>
            <a:r>
              <a:rPr lang="zh-CN" altLang="en-US" sz="2400" dirty="0"/>
              <a:t>中</a:t>
            </a:r>
            <a:endParaRPr lang="en-US" altLang="zh-CN" sz="2400" dirty="0"/>
          </a:p>
          <a:p>
            <a:pPr lvl="2"/>
            <a:r>
              <a:rPr lang="zh-CN" altLang="en-US" dirty="0"/>
              <a:t>类似其他语言的“模块”文件</a:t>
            </a:r>
          </a:p>
          <a:p>
            <a:pPr lvl="1"/>
            <a:r>
              <a:rPr lang="zh-CN" altLang="en-US" sz="2400" dirty="0"/>
              <a:t>在 </a:t>
            </a:r>
            <a:r>
              <a:rPr lang="en-US" altLang="zh-CN" sz="2400" dirty="0">
                <a:solidFill>
                  <a:srgbClr val="FF0000"/>
                </a:solidFill>
              </a:rPr>
              <a:t>~/</a:t>
            </a:r>
            <a:r>
              <a:rPr lang="en-US" altLang="zh-CN" sz="2400" dirty="0" err="1">
                <a:solidFill>
                  <a:srgbClr val="FF0000"/>
                </a:solidFill>
              </a:rPr>
              <a:t>bashrc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或命令行上使用 </a:t>
            </a:r>
            <a:r>
              <a:rPr lang="en-US" altLang="zh-CN" sz="2400" dirty="0">
                <a:solidFill>
                  <a:srgbClr val="FF0000"/>
                </a:solidFill>
              </a:rPr>
              <a:t>source </a:t>
            </a:r>
            <a:r>
              <a:rPr lang="zh-CN" altLang="en-US" sz="2400" dirty="0">
                <a:solidFill>
                  <a:srgbClr val="FF0000"/>
                </a:solidFill>
              </a:rPr>
              <a:t>命令调用</a:t>
            </a:r>
            <a:r>
              <a:rPr lang="zh-CN" altLang="en-US" sz="2400" dirty="0"/>
              <a:t>这个文件</a:t>
            </a:r>
            <a:endParaRPr lang="en-US" altLang="zh-CN" sz="2400" dirty="0"/>
          </a:p>
          <a:p>
            <a:pPr lvl="1"/>
            <a:r>
              <a:rPr lang="zh-CN" altLang="en-US" sz="2400" dirty="0"/>
              <a:t>将文件中定义的多个函数一次性地</a:t>
            </a:r>
            <a:r>
              <a:rPr lang="zh-CN" altLang="en-US" sz="2400" dirty="0">
                <a:solidFill>
                  <a:srgbClr val="FF0000"/>
                </a:solidFill>
              </a:rPr>
              <a:t>调入内存</a:t>
            </a:r>
            <a:r>
              <a:rPr lang="zh-CN" altLang="en-US" sz="2400" dirty="0"/>
              <a:t>，从而加快运行速度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定义和调用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790" y="1317336"/>
            <a:ext cx="7772400" cy="4114800"/>
          </a:xfrm>
        </p:spPr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函数</a:t>
            </a:r>
            <a:r>
              <a:rPr lang="zh-CN" altLang="en-US" dirty="0">
                <a:solidFill>
                  <a:srgbClr val="FF0000"/>
                </a:solidFill>
              </a:rPr>
              <a:t>调用</a:t>
            </a:r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SzPct val="80000"/>
              <a:buFont typeface="Wingdings" pitchFamily="2" charset="2"/>
              <a:buChar char="¨"/>
            </a:pPr>
            <a:r>
              <a:rPr kumimoji="1" lang="zh-CN" altLang="en-US" sz="2400" dirty="0"/>
              <a:t>只需输入函数名即可调用</a:t>
            </a:r>
            <a:r>
              <a:rPr kumimoji="1" lang="zh-CN" altLang="zh-CN" sz="2400" dirty="0"/>
              <a:t>函数</a:t>
            </a:r>
            <a:endParaRPr kumimoji="1" lang="en-US" altLang="zh-CN" sz="2400" dirty="0"/>
          </a:p>
          <a:p>
            <a:pPr marL="742950" lvl="1" indent="-285750">
              <a:buSzPct val="80000"/>
              <a:buFont typeface="Wingdings" pitchFamily="2" charset="2"/>
              <a:buChar char="¨"/>
            </a:pPr>
            <a:endParaRPr kumimoji="1" lang="en-US" altLang="zh-CN" sz="2400" b="1" dirty="0"/>
          </a:p>
          <a:p>
            <a:pPr marL="742950" lvl="1" indent="-285750">
              <a:buSzPct val="80000"/>
              <a:buFont typeface="Wingdings" pitchFamily="2" charset="2"/>
              <a:buChar char="¨"/>
            </a:pPr>
            <a:endParaRPr kumimoji="1" lang="en-US" altLang="zh-CN" sz="2400" b="1" dirty="0"/>
          </a:p>
          <a:p>
            <a:pPr marL="742950" lvl="1" indent="-285750">
              <a:buSzPct val="80000"/>
              <a:buFont typeface="Wingdings" pitchFamily="2" charset="2"/>
              <a:buChar char="¨"/>
            </a:pPr>
            <a:endParaRPr kumimoji="1" lang="zh-CN" altLang="en-US" sz="2400" b="1" dirty="0"/>
          </a:p>
          <a:p>
            <a:pPr marL="742950" lvl="1" indent="-285750">
              <a:spcBef>
                <a:spcPts val="1800"/>
              </a:spcBef>
              <a:buSzPct val="80000"/>
              <a:buFont typeface="Wingdings" pitchFamily="2" charset="2"/>
              <a:buChar char="¨"/>
            </a:pPr>
            <a:r>
              <a:rPr kumimoji="1" lang="zh-CN" altLang="zh-CN" sz="2400" dirty="0"/>
              <a:t>函数必须在调用</a:t>
            </a:r>
            <a:r>
              <a:rPr kumimoji="1" lang="zh-CN" altLang="en-US" sz="2400" dirty="0"/>
              <a:t>之</a:t>
            </a:r>
            <a:r>
              <a:rPr kumimoji="1" lang="zh-CN" altLang="zh-CN" sz="2400" dirty="0"/>
              <a:t>前</a:t>
            </a:r>
            <a:r>
              <a:rPr kumimoji="1" lang="zh-CN" altLang="en-US" sz="2400" dirty="0"/>
              <a:t>定义</a:t>
            </a:r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99989" y="2084655"/>
            <a:ext cx="3672210" cy="1200329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</a:pPr>
            <a:r>
              <a:rPr kumimoji="1"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function 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函数名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kumimoji="1" lang="en-US" altLang="zh-CN" sz="24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()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{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 commands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932238" y="2084357"/>
            <a:ext cx="3672210" cy="1200329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函数名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kumimoji="1" lang="en-US" altLang="zh-CN" sz="2400" b="1" dirty="0">
                <a:solidFill>
                  <a:srgbClr val="006600"/>
                </a:solidFill>
                <a:latin typeface="Courier New" pitchFamily="49" charset="0"/>
              </a:rPr>
              <a:t>()</a:t>
            </a: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{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   commands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1873646" y="4655914"/>
            <a:ext cx="6154738" cy="574675"/>
          </a:xfrm>
          <a:prstGeom prst="roundRect">
            <a:avLst>
              <a:gd name="adj" fmla="val 2541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80000"/>
              <a:buFont typeface="Wingdings" pitchFamily="2" charset="2"/>
              <a:buNone/>
            </a:pPr>
            <a:r>
              <a:rPr lang="zh-CN" altLang="en-US" sz="1800" b="1" dirty="0">
                <a:solidFill>
                  <a:srgbClr val="FF0000"/>
                </a:solidFill>
                <a:ea typeface="楷体_GB2312" pitchFamily="49" charset="-122"/>
              </a:rPr>
              <a:t>函数名</a:t>
            </a:r>
            <a:endParaRPr lang="zh-CN" altLang="en-US" sz="18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10" name="AutoShape 25"/>
          <p:cNvSpPr>
            <a:spLocks noChangeArrowheads="1"/>
          </p:cNvSpPr>
          <p:nvPr/>
        </p:nvSpPr>
        <p:spPr bwMode="auto">
          <a:xfrm>
            <a:off x="1873646" y="5302597"/>
            <a:ext cx="6154738" cy="574675"/>
          </a:xfrm>
          <a:prstGeom prst="roundRect">
            <a:avLst>
              <a:gd name="adj" fmla="val 2541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80000"/>
              <a:buFont typeface="Wingdings" pitchFamily="2" charset="2"/>
              <a:buNone/>
            </a:pPr>
            <a:r>
              <a:rPr lang="zh-CN" altLang="en-US" sz="1800" b="1" dirty="0">
                <a:solidFill>
                  <a:srgbClr val="FF0000"/>
                </a:solidFill>
                <a:ea typeface="楷体_GB2312" pitchFamily="49" charset="-122"/>
              </a:rPr>
              <a:t>函数名  参数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ea typeface="楷体_GB2312" pitchFamily="49" charset="-122"/>
              </a:rPr>
              <a:t>参数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</a:rPr>
              <a:t>2  ...</a:t>
            </a:r>
            <a:endParaRPr lang="en-US" altLang="zh-CN" sz="18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存储和显示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265744"/>
            <a:ext cx="8424936" cy="4114800"/>
          </a:xfrm>
        </p:spPr>
        <p:txBody>
          <a:bodyPr/>
          <a:lstStyle/>
          <a:p>
            <a:r>
              <a:rPr lang="zh-CN" altLang="en-US" sz="3000" dirty="0"/>
              <a:t>函数的</a:t>
            </a:r>
            <a:r>
              <a:rPr lang="zh-CN" altLang="en-US" sz="3000" dirty="0">
                <a:solidFill>
                  <a:srgbClr val="FF0000"/>
                </a:solidFill>
              </a:rPr>
              <a:t>存储</a:t>
            </a:r>
            <a:endParaRPr lang="en-US" altLang="zh-CN" sz="30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函数和调用它的</a:t>
            </a:r>
            <a:r>
              <a:rPr lang="zh-CN" altLang="en-US" dirty="0">
                <a:solidFill>
                  <a:srgbClr val="FF0000"/>
                </a:solidFill>
              </a:rPr>
              <a:t>主程序</a:t>
            </a:r>
            <a:r>
              <a:rPr lang="zh-CN" altLang="en-US" dirty="0"/>
              <a:t>保存在</a:t>
            </a:r>
            <a:r>
              <a:rPr lang="zh-CN" altLang="en-US" dirty="0">
                <a:solidFill>
                  <a:srgbClr val="FF0000"/>
                </a:solidFill>
              </a:rPr>
              <a:t>同一个文件</a:t>
            </a:r>
            <a:r>
              <a:rPr lang="zh-CN" altLang="en-US" dirty="0"/>
              <a:t>中</a:t>
            </a:r>
            <a:endParaRPr lang="en-US" altLang="zh-CN" dirty="0"/>
          </a:p>
          <a:p>
            <a:pPr lvl="2"/>
            <a:r>
              <a:rPr lang="zh-CN" altLang="en-US" dirty="0"/>
              <a:t>函数的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zh-CN" altLang="en-US" dirty="0"/>
              <a:t>必须出现</a:t>
            </a:r>
            <a:r>
              <a:rPr lang="zh-CN" altLang="en-US" dirty="0">
                <a:solidFill>
                  <a:srgbClr val="FF0000"/>
                </a:solidFill>
              </a:rPr>
              <a:t>在调用之前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函数和调用它的主程序保存在</a:t>
            </a:r>
            <a:r>
              <a:rPr lang="zh-CN" altLang="en-US" dirty="0">
                <a:solidFill>
                  <a:srgbClr val="FF0000"/>
                </a:solidFill>
              </a:rPr>
              <a:t>不同文件</a:t>
            </a:r>
            <a:r>
              <a:rPr lang="zh-CN" altLang="en-US" dirty="0"/>
              <a:t>中</a:t>
            </a:r>
            <a:endParaRPr lang="en-US" altLang="zh-CN" dirty="0"/>
          </a:p>
          <a:p>
            <a:pPr lvl="2"/>
            <a:r>
              <a:rPr lang="zh-CN" altLang="en-US" dirty="0"/>
              <a:t>保存函数的文件必须</a:t>
            </a:r>
            <a:r>
              <a:rPr lang="zh-CN" altLang="en-US" dirty="0">
                <a:solidFill>
                  <a:srgbClr val="FF0000"/>
                </a:solidFill>
              </a:rPr>
              <a:t>先使用</a:t>
            </a:r>
            <a:r>
              <a:rPr lang="zh-CN" altLang="en-US" b="1" kern="1200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+mn-cs"/>
              </a:rPr>
              <a:t> </a:t>
            </a:r>
            <a:r>
              <a:rPr lang="en-US" altLang="zh-CN" b="1" kern="1200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+mn-cs"/>
              </a:rPr>
              <a:t>source </a:t>
            </a:r>
            <a:r>
              <a:rPr lang="zh-CN" altLang="en-US" sz="2000" dirty="0">
                <a:solidFill>
                  <a:srgbClr val="FF0000"/>
                </a:solidFill>
              </a:rPr>
              <a:t>命令</a:t>
            </a:r>
            <a:r>
              <a:rPr lang="zh-CN" altLang="en-US" sz="2000" dirty="0"/>
              <a:t>执行，</a:t>
            </a:r>
            <a:r>
              <a:rPr lang="zh-CN" altLang="en-US" dirty="0"/>
              <a:t>之后才能调用其中的函数</a:t>
            </a:r>
            <a:endParaRPr lang="en-US" altLang="zh-CN" dirty="0"/>
          </a:p>
          <a:p>
            <a:r>
              <a:rPr lang="zh-CN" altLang="en-US" sz="3000" dirty="0"/>
              <a:t>函数的</a:t>
            </a:r>
            <a:r>
              <a:rPr lang="zh-CN" altLang="en-US" sz="3000" dirty="0">
                <a:solidFill>
                  <a:srgbClr val="FF0000"/>
                </a:solidFill>
              </a:rPr>
              <a:t>显示</a:t>
            </a:r>
            <a:endParaRPr lang="en-US" altLang="zh-CN" sz="30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显示当前</a:t>
            </a:r>
            <a:r>
              <a:rPr lang="en-US" altLang="zh-CN" dirty="0"/>
              <a:t>Shell</a:t>
            </a:r>
            <a:r>
              <a:rPr lang="zh-CN" altLang="en-US" dirty="0"/>
              <a:t>可见的所有函数名</a:t>
            </a:r>
            <a:endParaRPr lang="en-US" altLang="zh-CN" dirty="0"/>
          </a:p>
          <a:p>
            <a:pPr lvl="2">
              <a:buNone/>
            </a:pPr>
            <a:r>
              <a:rPr lang="en-US" altLang="zh-CN" b="1" kern="1200" dirty="0">
                <a:solidFill>
                  <a:srgbClr val="002060"/>
                </a:solidFill>
                <a:latin typeface="Courier New" pitchFamily="49" charset="0"/>
                <a:ea typeface="宋体" charset="-122"/>
                <a:cs typeface="+mn-cs"/>
              </a:rPr>
              <a:t>$ declare -F</a:t>
            </a:r>
          </a:p>
          <a:p>
            <a:pPr lvl="1"/>
            <a:r>
              <a:rPr lang="zh-CN" altLang="en-US" dirty="0"/>
              <a:t>显示当前</a:t>
            </a:r>
            <a:r>
              <a:rPr lang="en-US" altLang="zh-CN" dirty="0"/>
              <a:t>Shell</a:t>
            </a:r>
            <a:r>
              <a:rPr lang="zh-CN" altLang="en-US" dirty="0"/>
              <a:t>可见的所有（指定）的函数定义</a:t>
            </a:r>
            <a:endParaRPr lang="en-US" altLang="zh-CN" dirty="0"/>
          </a:p>
          <a:p>
            <a:pPr lvl="2">
              <a:spcBef>
                <a:spcPts val="0"/>
              </a:spcBef>
              <a:buNone/>
            </a:pPr>
            <a:r>
              <a:rPr lang="en-US" altLang="zh-CN" b="1" kern="1200" dirty="0">
                <a:solidFill>
                  <a:srgbClr val="002060"/>
                </a:solidFill>
                <a:latin typeface="Courier New" pitchFamily="49" charset="0"/>
                <a:ea typeface="宋体" charset="-122"/>
                <a:cs typeface="+mn-cs"/>
              </a:rPr>
              <a:t>$ declare -f</a:t>
            </a:r>
          </a:p>
          <a:p>
            <a:pPr lvl="2">
              <a:spcBef>
                <a:spcPts val="0"/>
              </a:spcBef>
              <a:buNone/>
            </a:pPr>
            <a:r>
              <a:rPr lang="en-US" altLang="zh-CN" b="1" kern="1200" dirty="0">
                <a:solidFill>
                  <a:srgbClr val="002060"/>
                </a:solidFill>
                <a:latin typeface="Courier New" pitchFamily="49" charset="0"/>
                <a:ea typeface="宋体" charset="-122"/>
                <a:cs typeface="+mn-cs"/>
              </a:rPr>
              <a:t>$ declare -f  &lt;</a:t>
            </a:r>
            <a:r>
              <a:rPr lang="en-US" altLang="zh-CN" b="1" kern="1200" dirty="0" err="1">
                <a:solidFill>
                  <a:srgbClr val="002060"/>
                </a:solidFill>
                <a:latin typeface="Courier New" pitchFamily="49" charset="0"/>
                <a:ea typeface="宋体" charset="-122"/>
                <a:cs typeface="+mn-cs"/>
              </a:rPr>
              <a:t>functionName</a:t>
            </a:r>
            <a:r>
              <a:rPr lang="en-US" altLang="zh-CN" b="1" kern="1200" dirty="0">
                <a:solidFill>
                  <a:srgbClr val="002060"/>
                </a:solidFill>
                <a:latin typeface="Courier New" pitchFamily="49" charset="0"/>
                <a:ea typeface="宋体" charset="-122"/>
                <a:cs typeface="+mn-cs"/>
              </a:rPr>
              <a:t>&gt;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544" y="1484784"/>
            <a:ext cx="82089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declare -F | head -5</a:t>
            </a:r>
          </a:p>
          <a:p>
            <a:r>
              <a:rPr lang="en-US" altLang="zh-CN" sz="2400" dirty="0"/>
              <a:t>declare -f __</a:t>
            </a:r>
            <a:r>
              <a:rPr lang="en-US" altLang="zh-CN" sz="2400" dirty="0" err="1"/>
              <a:t>expand_tilde_by_ref</a:t>
            </a:r>
            <a:endParaRPr lang="en-US" altLang="zh-CN" sz="2400" dirty="0"/>
          </a:p>
          <a:p>
            <a:r>
              <a:rPr lang="en-US" altLang="zh-CN" sz="2400" dirty="0"/>
              <a:t>declare -f __</a:t>
            </a:r>
            <a:r>
              <a:rPr lang="en-US" altLang="zh-CN" sz="2400" dirty="0" err="1"/>
              <a:t>get_cword_at_cursor_by_ref</a:t>
            </a:r>
            <a:endParaRPr lang="en-US" altLang="zh-CN" sz="2400" dirty="0"/>
          </a:p>
          <a:p>
            <a:r>
              <a:rPr lang="en-US" altLang="zh-CN" sz="2400" dirty="0"/>
              <a:t>declare -f __</a:t>
            </a:r>
            <a:r>
              <a:rPr lang="en-US" altLang="zh-CN" sz="2400" dirty="0" err="1"/>
              <a:t>ltrim_colon_completions</a:t>
            </a:r>
            <a:endParaRPr lang="en-US" altLang="zh-CN" sz="2400" dirty="0"/>
          </a:p>
          <a:p>
            <a:endParaRPr lang="en-US" altLang="zh-CN" sz="2400" dirty="0" smtClean="0">
              <a:solidFill>
                <a:srgbClr val="0000FF"/>
              </a:solidFill>
            </a:endParaRPr>
          </a:p>
          <a:p>
            <a:r>
              <a:rPr lang="zh-CN" altLang="en-US" sz="2400" dirty="0" smtClean="0">
                <a:solidFill>
                  <a:srgbClr val="0000FF"/>
                </a:solidFill>
              </a:rPr>
              <a:t>[</a:t>
            </a:r>
            <a:r>
              <a:rPr lang="zh-CN" altLang="en-US" sz="2400" dirty="0">
                <a:solidFill>
                  <a:srgbClr val="0000FF"/>
                </a:solidFill>
              </a:rPr>
              <a:t>xl@localhost ~]$ declare -f quote</a:t>
            </a:r>
          </a:p>
          <a:p>
            <a:r>
              <a:rPr lang="zh-CN" altLang="en-US" sz="2400" dirty="0"/>
              <a:t>quote () </a:t>
            </a:r>
          </a:p>
          <a:p>
            <a:r>
              <a:rPr lang="zh-CN" altLang="en-US" sz="2400" dirty="0"/>
              <a:t>{ </a:t>
            </a:r>
          </a:p>
          <a:p>
            <a:r>
              <a:rPr lang="zh-CN" altLang="en-US" sz="2400" dirty="0"/>
              <a:t>    local quoted=${1//\'/\'\\\'\'};</a:t>
            </a:r>
          </a:p>
          <a:p>
            <a:r>
              <a:rPr lang="zh-CN" altLang="en-US" sz="2400" dirty="0"/>
              <a:t>    printf "'%s'" "$quoted"</a:t>
            </a:r>
          </a:p>
          <a:p>
            <a:r>
              <a:rPr lang="zh-CN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18434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544" y="1556792"/>
            <a:ext cx="82089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declare -f | head -10</a:t>
            </a:r>
          </a:p>
          <a:p>
            <a:r>
              <a:rPr lang="en-US" altLang="zh-CN" sz="2400" dirty="0"/>
              <a:t>__</a:t>
            </a:r>
            <a:r>
              <a:rPr lang="en-US" altLang="zh-CN" sz="2400" dirty="0" err="1"/>
              <a:t>expand_tilde_by_ref</a:t>
            </a:r>
            <a:r>
              <a:rPr lang="en-US" altLang="zh-CN" sz="2400" dirty="0"/>
              <a:t> () </a:t>
            </a:r>
          </a:p>
          <a:p>
            <a:r>
              <a:rPr lang="en-US" altLang="zh-CN" sz="2400" dirty="0"/>
              <a:t>{ </a:t>
            </a:r>
          </a:p>
          <a:p>
            <a:r>
              <a:rPr lang="en-US" altLang="zh-CN" sz="2400" dirty="0"/>
              <a:t>    if [[ ${!1} == \~* ]]; then</a:t>
            </a:r>
          </a:p>
          <a:p>
            <a:r>
              <a:rPr lang="en-US" altLang="zh-CN" sz="2400" dirty="0"/>
              <a:t>        if [[ ${!1} == */* ]]; then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err="1"/>
              <a:t>eval</a:t>
            </a:r>
            <a:r>
              <a:rPr lang="en-US" altLang="zh-CN" sz="2400" dirty="0"/>
              <a:t> $1="${!1/%\/*}"/'${!1#*/}';</a:t>
            </a:r>
          </a:p>
          <a:p>
            <a:r>
              <a:rPr lang="en-US" altLang="zh-CN" sz="2400" dirty="0"/>
              <a:t>        else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err="1"/>
              <a:t>eval</a:t>
            </a:r>
            <a:r>
              <a:rPr lang="en-US" altLang="zh-CN" sz="2400" dirty="0"/>
              <a:t> $1="${!1}";</a:t>
            </a:r>
          </a:p>
          <a:p>
            <a:r>
              <a:rPr lang="en-US" altLang="zh-CN" sz="2400" dirty="0"/>
              <a:t>        fi;</a:t>
            </a:r>
          </a:p>
          <a:p>
            <a:r>
              <a:rPr lang="en-US" altLang="zh-CN" sz="2400" dirty="0"/>
              <a:t>    fi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157065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函数的定义和调用举例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8222" y="1244228"/>
            <a:ext cx="8280920" cy="56323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all_in_one_backup_select.sh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User define Function (UDF) ###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sql_bak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mysqldump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sync_bak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 echo "Running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rsync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git_bak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gistore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tar_bak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tar tool..."; }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Main script starts here ###</a:t>
            </a:r>
          </a:p>
          <a:p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PS3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="Please choose a backup tools : "</a:t>
            </a:r>
          </a:p>
          <a:p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select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s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mysqldump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rsync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gistore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tar quit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 do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case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$REPLY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in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1)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sql_bak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2)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sync_bak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3)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git_bak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4)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tar_bak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5) exit     ;;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 dirty="0" err="1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esac</a:t>
            </a:r>
            <a:endParaRPr lang="en-US" altLang="zh-CN" sz="2000" b="1" dirty="0">
              <a:solidFill>
                <a:srgbClr val="7030A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done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函数的定义和调用举例</a:t>
            </a:r>
            <a:r>
              <a:rPr lang="en-US" altLang="zh-CN" dirty="0"/>
              <a:t>1</a:t>
            </a:r>
            <a:r>
              <a:rPr lang="zh-CN" altLang="en-US" dirty="0"/>
              <a:t>结果</a:t>
            </a:r>
          </a:p>
        </p:txBody>
      </p:sp>
      <p:sp>
        <p:nvSpPr>
          <p:cNvPr id="3" name="矩形 2"/>
          <p:cNvSpPr/>
          <p:nvPr/>
        </p:nvSpPr>
        <p:spPr>
          <a:xfrm>
            <a:off x="683568" y="1720840"/>
            <a:ext cx="75608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</a:t>
            </a:r>
          </a:p>
          <a:p>
            <a:r>
              <a:rPr lang="en-US" altLang="zh-CN" sz="2400" dirty="0"/>
              <a:t>1) </a:t>
            </a:r>
            <a:r>
              <a:rPr lang="en-US" altLang="zh-CN" sz="2400" dirty="0" err="1"/>
              <a:t>mysqldump</a:t>
            </a:r>
            <a:endParaRPr lang="en-US" altLang="zh-CN" sz="2400" dirty="0"/>
          </a:p>
          <a:p>
            <a:r>
              <a:rPr lang="en-US" altLang="zh-CN" sz="2400" dirty="0"/>
              <a:t>2) </a:t>
            </a:r>
            <a:r>
              <a:rPr lang="en-US" altLang="zh-CN" sz="2400" dirty="0" err="1"/>
              <a:t>rsync</a:t>
            </a:r>
            <a:endParaRPr lang="en-US" altLang="zh-CN" sz="2400" dirty="0"/>
          </a:p>
          <a:p>
            <a:r>
              <a:rPr lang="en-US" altLang="zh-CN" sz="2400" dirty="0"/>
              <a:t>3) </a:t>
            </a:r>
            <a:r>
              <a:rPr lang="en-US" altLang="zh-CN" sz="2400" dirty="0" err="1"/>
              <a:t>gistore</a:t>
            </a:r>
            <a:endParaRPr lang="en-US" altLang="zh-CN" sz="2400" dirty="0"/>
          </a:p>
          <a:p>
            <a:r>
              <a:rPr lang="en-US" altLang="zh-CN" sz="2400" dirty="0"/>
              <a:t>4) tar</a:t>
            </a:r>
          </a:p>
          <a:p>
            <a:r>
              <a:rPr lang="en-US" altLang="zh-CN" sz="2400" dirty="0"/>
              <a:t>5) quit</a:t>
            </a:r>
          </a:p>
          <a:p>
            <a:r>
              <a:rPr lang="en-US" altLang="zh-CN" sz="2400" dirty="0"/>
              <a:t>Please choose a backup tools : 4</a:t>
            </a:r>
          </a:p>
          <a:p>
            <a:r>
              <a:rPr lang="en-US" altLang="zh-CN" sz="2400" dirty="0"/>
              <a:t>Running tar tool...</a:t>
            </a:r>
          </a:p>
          <a:p>
            <a:r>
              <a:rPr lang="en-US" altLang="zh-CN" sz="2400" dirty="0"/>
              <a:t>Please choose a backup tools : </a:t>
            </a:r>
          </a:p>
        </p:txBody>
      </p:sp>
    </p:spTree>
    <p:extLst>
      <p:ext uri="{BB962C8B-B14F-4D97-AF65-F5344CB8AC3E}">
        <p14:creationId xmlns:p14="http://schemas.microsoft.com/office/powerpoint/2010/main" val="222917543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函数的定义和调用举例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1540" y="1268760"/>
            <a:ext cx="8280920" cy="1877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filename: /root/bin/my_backup_functions.sh</a:t>
            </a:r>
            <a:endParaRPr lang="en-US" altLang="zh-CN" sz="1600" b="1" dirty="0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User define Function (UDF) ###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sql_bak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mysqldump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sync_bak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 echo "Running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rsync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git_bak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gistore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tool..."; }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tar_bak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() { echo "Running tar tool...";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40" y="3164836"/>
            <a:ext cx="8280920" cy="36009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#!/bin/bash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## filename: all_in_one_backup_select.sourcefunc.sh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</a:rPr>
              <a:t>source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</a:rPr>
              <a:t>/root/bin/my_backup_functions.sh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### Main script starts here ###</a:t>
            </a:r>
          </a:p>
          <a:p>
            <a:r>
              <a:rPr lang="en-US" altLang="zh-CN" sz="1600" b="1" dirty="0">
                <a:solidFill>
                  <a:srgbClr val="C00000"/>
                </a:solidFill>
                <a:latin typeface="Courier New" pitchFamily="49" charset="0"/>
              </a:rPr>
              <a:t>PS3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="Please choose a backup tools : "</a:t>
            </a:r>
          </a:p>
          <a:p>
            <a:r>
              <a:rPr lang="en-US" altLang="zh-CN" sz="1600" b="1" dirty="0">
                <a:solidFill>
                  <a:srgbClr val="C00000"/>
                </a:solidFill>
                <a:latin typeface="Courier New" pitchFamily="49" charset="0"/>
              </a:rPr>
              <a:t>select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s </a:t>
            </a:r>
            <a:r>
              <a:rPr lang="en-US" altLang="zh-CN" sz="1600" b="1" dirty="0">
                <a:solidFill>
                  <a:srgbClr val="C00000"/>
                </a:solidFill>
                <a:latin typeface="Courier New" pitchFamily="49" charset="0"/>
              </a:rPr>
              <a:t>in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mysqldump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rsync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gistore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tar quit </a:t>
            </a:r>
            <a:r>
              <a:rPr lang="en-US" altLang="zh-CN" sz="1600" b="1" dirty="0">
                <a:solidFill>
                  <a:srgbClr val="C00000"/>
                </a:solidFill>
                <a:latin typeface="Courier New" pitchFamily="49" charset="0"/>
              </a:rPr>
              <a:t>; do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</a:t>
            </a: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</a:rPr>
              <a:t>case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$REPLY </a:t>
            </a: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</a:rPr>
              <a:t>in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     1|[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mM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]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ysqldump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)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</a:rPr>
              <a:t>sql_bak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;;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     2|[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rR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]sync)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</a:rPr>
              <a:t>sync_bak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;;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     3|[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gG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]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istore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)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</a:rPr>
              <a:t>git_bak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;;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     4|[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tT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]</a:t>
            </a:r>
            <a:r>
              <a:rPr lang="en-US" altLang="zh-CN" sz="1600" b="1" dirty="0" err="1">
                <a:solidFill>
                  <a:srgbClr val="002060"/>
                </a:solidFill>
                <a:latin typeface="Courier New" pitchFamily="49" charset="0"/>
              </a:rPr>
              <a:t>ar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)  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itchFamily="49" charset="0"/>
              </a:rPr>
              <a:t>tar_bak</a:t>
            </a:r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;;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      5) exit     ;;</a:t>
            </a:r>
          </a:p>
          <a:p>
            <a:r>
              <a:rPr lang="en-US" altLang="zh-CN" sz="1600" b="1" dirty="0">
                <a:solidFill>
                  <a:srgbClr val="002060"/>
                </a:solidFill>
                <a:latin typeface="Courier New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r>
              <a:rPr lang="en-US" altLang="zh-CN" sz="1600" b="1" dirty="0" err="1" smtClean="0">
                <a:solidFill>
                  <a:srgbClr val="7030A0"/>
                </a:solidFill>
                <a:latin typeface="Courier New" pitchFamily="49" charset="0"/>
              </a:rPr>
              <a:t>esac</a:t>
            </a:r>
            <a:r>
              <a:rPr lang="en-US" altLang="zh-CN" sz="1600" b="1" dirty="0" smtClean="0">
                <a:solidFill>
                  <a:srgbClr val="7030A0"/>
                </a:solidFill>
                <a:latin typeface="Courier New" pitchFamily="49" charset="0"/>
              </a:rPr>
              <a:t> </a:t>
            </a:r>
            <a:endParaRPr lang="en-US" altLang="zh-CN" sz="1600" b="1" dirty="0">
              <a:solidFill>
                <a:srgbClr val="7030A0"/>
              </a:solidFill>
              <a:latin typeface="Courier New" pitchFamily="49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Courier New" pitchFamily="49" charset="0"/>
              </a:rPr>
              <a:t>done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371600"/>
            <a:ext cx="7772400" cy="45776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参数</a:t>
            </a:r>
            <a:r>
              <a:rPr lang="en-US" altLang="zh-CN" dirty="0"/>
              <a:t>(Arguments)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调用函数时，使用</a:t>
            </a:r>
            <a:r>
              <a:rPr lang="zh-CN" altLang="en-US" dirty="0">
                <a:solidFill>
                  <a:srgbClr val="FF0000"/>
                </a:solidFill>
              </a:rPr>
              <a:t>位置参数</a:t>
            </a:r>
            <a:r>
              <a:rPr lang="zh-CN" altLang="en-US" dirty="0"/>
              <a:t>的形式为函数</a:t>
            </a:r>
            <a:r>
              <a:rPr lang="zh-CN" altLang="en-US" dirty="0">
                <a:solidFill>
                  <a:srgbClr val="FF0000"/>
                </a:solidFill>
              </a:rPr>
              <a:t>传递参数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函数内</a:t>
            </a:r>
            <a:r>
              <a:rPr lang="zh-CN" altLang="en-US" dirty="0"/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$1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b="1" dirty="0">
                <a:solidFill>
                  <a:srgbClr val="FF0000"/>
                </a:solidFill>
              </a:rPr>
              <a:t>${n}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i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$*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zh-CN" altLang="en-US" b="1" dirty="0"/>
              <a:t>和</a:t>
            </a:r>
            <a:r>
              <a:rPr lang="en-US" altLang="zh-CN" b="1" i="1" dirty="0">
                <a:solidFill>
                  <a:srgbClr val="00206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$@ </a:t>
            </a:r>
            <a:r>
              <a:rPr lang="zh-CN" altLang="en-US" dirty="0"/>
              <a:t>表示其</a:t>
            </a:r>
            <a:r>
              <a:rPr lang="zh-CN" altLang="en-US" dirty="0">
                <a:solidFill>
                  <a:srgbClr val="FF0000"/>
                </a:solidFill>
              </a:rPr>
              <a:t>接收的参数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函数</a:t>
            </a:r>
            <a:r>
              <a:rPr lang="zh-CN" altLang="en-US" dirty="0">
                <a:solidFill>
                  <a:srgbClr val="FF0000"/>
                </a:solidFill>
              </a:rPr>
              <a:t>调用结束</a:t>
            </a:r>
            <a:r>
              <a:rPr lang="zh-CN" altLang="en-US" dirty="0"/>
              <a:t>后位置参数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$1-${n}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zh-CN" altLang="en-US" i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$*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zh-CN" altLang="en-US" b="1" dirty="0"/>
              <a:t>和</a:t>
            </a:r>
            <a:r>
              <a:rPr lang="en-US" altLang="zh-CN" b="1" i="1" dirty="0">
                <a:solidFill>
                  <a:srgbClr val="00206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$@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将被</a:t>
            </a:r>
            <a:r>
              <a:rPr lang="zh-CN" altLang="en-US" dirty="0">
                <a:solidFill>
                  <a:srgbClr val="FF0000"/>
                </a:solidFill>
              </a:rPr>
              <a:t>重置</a:t>
            </a:r>
            <a:r>
              <a:rPr lang="zh-CN" altLang="en-US" dirty="0"/>
              <a:t>为调用函数之前的值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在主程序和函数中，</a:t>
            </a:r>
            <a:r>
              <a:rPr lang="en-US" altLang="zh-CN" b="1" dirty="0">
                <a:solidFill>
                  <a:srgbClr val="FF0000"/>
                </a:solidFill>
              </a:rPr>
              <a:t>$0</a:t>
            </a:r>
            <a:r>
              <a:rPr lang="zh-CN" altLang="en-US" dirty="0">
                <a:solidFill>
                  <a:srgbClr val="FF0000"/>
                </a:solidFill>
              </a:rPr>
              <a:t>始终代表脚本名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760" y="1412776"/>
            <a:ext cx="8892480" cy="50097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变量</a:t>
            </a:r>
            <a:r>
              <a:rPr lang="en-US" altLang="zh-CN" dirty="0"/>
              <a:t>(Variables)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函数内使用 </a:t>
            </a:r>
            <a:r>
              <a:rPr lang="en-US" altLang="zh-CN" b="1" dirty="0">
                <a:solidFill>
                  <a:srgbClr val="FF0000"/>
                </a:solidFill>
              </a:rPr>
              <a:t>local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声明</a:t>
            </a:r>
            <a:r>
              <a:rPr lang="zh-CN" altLang="en-US" dirty="0"/>
              <a:t>的变量是</a:t>
            </a:r>
            <a:r>
              <a:rPr lang="zh-CN" altLang="en-US" dirty="0">
                <a:solidFill>
                  <a:srgbClr val="FF0000"/>
                </a:solidFill>
              </a:rPr>
              <a:t>局部</a:t>
            </a:r>
            <a:r>
              <a:rPr lang="zh-CN" altLang="en-US" dirty="0"/>
              <a:t>（</a:t>
            </a:r>
            <a:r>
              <a:rPr lang="en-US" altLang="zh-CN" dirty="0"/>
              <a:t>Local</a:t>
            </a:r>
            <a:r>
              <a:rPr lang="zh-CN" altLang="en-US" dirty="0"/>
              <a:t>）变量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局部变量的</a:t>
            </a:r>
            <a:r>
              <a:rPr lang="zh-CN" altLang="en-US" dirty="0">
                <a:solidFill>
                  <a:srgbClr val="FF0000"/>
                </a:solidFill>
              </a:rPr>
              <a:t>作用域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当前函数</a:t>
            </a:r>
            <a:r>
              <a:rPr lang="zh-CN" altLang="en-US" dirty="0"/>
              <a:t>以及其</a:t>
            </a:r>
            <a:r>
              <a:rPr lang="zh-CN" altLang="en-US" dirty="0">
                <a:solidFill>
                  <a:srgbClr val="FF0000"/>
                </a:solidFill>
              </a:rPr>
              <a:t>调用的所有函数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函数内</a:t>
            </a:r>
            <a:r>
              <a:rPr lang="zh-CN" altLang="en-US" b="1" dirty="0">
                <a:solidFill>
                  <a:srgbClr val="FF0000"/>
                </a:solidFill>
              </a:rPr>
              <a:t>未</a:t>
            </a:r>
            <a:r>
              <a:rPr lang="zh-CN" altLang="en-US" dirty="0"/>
              <a:t>使用 </a:t>
            </a:r>
            <a:r>
              <a:rPr lang="en-US" altLang="zh-CN" dirty="0">
                <a:solidFill>
                  <a:srgbClr val="FF0000"/>
                </a:solidFill>
              </a:rPr>
              <a:t>local </a:t>
            </a:r>
            <a:r>
              <a:rPr lang="zh-CN" altLang="en-US" dirty="0">
                <a:solidFill>
                  <a:srgbClr val="FF0000"/>
                </a:solidFill>
              </a:rPr>
              <a:t>声明</a:t>
            </a:r>
            <a:r>
              <a:rPr lang="zh-CN" altLang="en-US" dirty="0"/>
              <a:t>的变量是</a:t>
            </a:r>
            <a:r>
              <a:rPr lang="zh-CN" altLang="en-US" dirty="0">
                <a:solidFill>
                  <a:srgbClr val="FF0000"/>
                </a:solidFill>
              </a:rPr>
              <a:t>全局</a:t>
            </a:r>
            <a:r>
              <a:rPr lang="zh-CN" altLang="en-US" dirty="0"/>
              <a:t>（</a:t>
            </a:r>
            <a:r>
              <a:rPr lang="en-US" altLang="zh-CN" dirty="0"/>
              <a:t>Global</a:t>
            </a:r>
            <a:r>
              <a:rPr lang="zh-CN" altLang="en-US" dirty="0"/>
              <a:t>）变量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即</a:t>
            </a:r>
            <a:r>
              <a:rPr lang="zh-CN" altLang="en-US" dirty="0">
                <a:solidFill>
                  <a:srgbClr val="FF0000"/>
                </a:solidFill>
              </a:rPr>
              <a:t>主程序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同名变量</a:t>
            </a:r>
            <a:r>
              <a:rPr lang="zh-CN" altLang="en-US" dirty="0"/>
              <a:t>是一个变量（地址</a:t>
            </a:r>
            <a:r>
              <a:rPr lang="zh-CN" altLang="en-US" dirty="0">
                <a:solidFill>
                  <a:srgbClr val="FF0000"/>
                </a:solidFill>
              </a:rPr>
              <a:t>一致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7317433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函数与位置参数举例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143" y="1334463"/>
            <a:ext cx="9043714" cy="50167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pp_and_function.sh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"===Print positional parameters in main :"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"$0: $*"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pp1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(){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'f1--Print $* parameters in fun1 :' ; echo "$0: $*"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pp2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(){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'f2--Print $* parameters in fun1 :' ; echo "$0: $*"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pp1 1st 2nd 3th 4th 5th 6th 7th 8th 9th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'f2--Print $* parameters in fun1 :' ; echo "$0: $*"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pp1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1 2 3 4 5 6 7 8 9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"===Print positional parameters in main :"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"$0: $*"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pp2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I II III IV V VI VII VIII 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113" y="6441456"/>
            <a:ext cx="766936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./pp_and_function.sh  </a:t>
            </a:r>
            <a:r>
              <a:rPr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 b c d e f g h </a:t>
            </a:r>
            <a:r>
              <a:rPr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函数与位置参数举例</a:t>
            </a:r>
            <a:r>
              <a:rPr lang="en-US" altLang="zh-CN" dirty="0"/>
              <a:t>1-</a:t>
            </a:r>
            <a:r>
              <a:rPr lang="zh-CN" altLang="en-US" dirty="0"/>
              <a:t>结果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484784"/>
            <a:ext cx="77768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 a b c d e f g h </a:t>
            </a:r>
            <a:r>
              <a:rPr lang="en-US" altLang="zh-CN" sz="2400" dirty="0" err="1">
                <a:solidFill>
                  <a:srgbClr val="0000FF"/>
                </a:solidFill>
              </a:rPr>
              <a:t>i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dirty="0"/>
              <a:t>===Print positional parameters in main :</a:t>
            </a:r>
          </a:p>
          <a:p>
            <a:r>
              <a:rPr lang="en-US" altLang="zh-CN" sz="2400" dirty="0"/>
              <a:t>./test.sh: a b c d e f g h 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r>
              <a:rPr lang="en-US" altLang="zh-CN" sz="2400" dirty="0"/>
              <a:t>f1--Print $* parameters in fun1 :</a:t>
            </a:r>
          </a:p>
          <a:p>
            <a:r>
              <a:rPr lang="en-US" altLang="zh-CN" sz="2400" dirty="0"/>
              <a:t>./test.sh: 1 2 3 4 5 6 7 8 9</a:t>
            </a:r>
          </a:p>
          <a:p>
            <a:r>
              <a:rPr lang="en-US" altLang="zh-CN" sz="2400" dirty="0"/>
              <a:t>===Print positional parameters in main :</a:t>
            </a:r>
          </a:p>
          <a:p>
            <a:r>
              <a:rPr lang="en-US" altLang="zh-CN" sz="2400" dirty="0"/>
              <a:t>./test.sh: a b c d e f g h 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r>
              <a:rPr lang="en-US" altLang="zh-CN" sz="2400" dirty="0"/>
              <a:t>f2--Print $* parameters in fun1 :</a:t>
            </a:r>
          </a:p>
          <a:p>
            <a:r>
              <a:rPr lang="en-US" altLang="zh-CN" sz="2400" dirty="0"/>
              <a:t>./test.sh: I II III IV V VI VII VIII IX</a:t>
            </a:r>
          </a:p>
          <a:p>
            <a:r>
              <a:rPr lang="en-US" altLang="zh-CN" sz="2400" dirty="0"/>
              <a:t>f1--Print $* parameters in fun1 :</a:t>
            </a:r>
          </a:p>
          <a:p>
            <a:r>
              <a:rPr lang="en-US" altLang="zh-CN" sz="2400" dirty="0"/>
              <a:t>./test.sh: 1st 2nd 3th 4th 5th 6th 7th 8th 9th</a:t>
            </a:r>
          </a:p>
          <a:p>
            <a:r>
              <a:rPr lang="en-US" altLang="zh-CN" sz="2400" dirty="0"/>
              <a:t>f2--Print $* parameters in fun1 :</a:t>
            </a:r>
          </a:p>
          <a:p>
            <a:r>
              <a:rPr lang="en-US" altLang="zh-CN" sz="2400" dirty="0"/>
              <a:t>./test.sh: I II III IV V VI VII VIII IX</a:t>
            </a:r>
          </a:p>
          <a:p>
            <a:r>
              <a:rPr lang="en-US" altLang="zh-CN" sz="2400" dirty="0"/>
              <a:t>[</a:t>
            </a:r>
            <a:r>
              <a:rPr lang="en-US" altLang="zh-CN" sz="2400" dirty="0" err="1"/>
              <a:t>xl@localhost</a:t>
            </a:r>
            <a:r>
              <a:rPr lang="en-US" altLang="zh-CN" sz="2400" dirty="0"/>
              <a:t> ~]$ </a:t>
            </a:r>
          </a:p>
        </p:txBody>
      </p:sp>
    </p:spTree>
    <p:extLst>
      <p:ext uri="{BB962C8B-B14F-4D97-AF65-F5344CB8AC3E}">
        <p14:creationId xmlns:p14="http://schemas.microsoft.com/office/powerpoint/2010/main" val="267612596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函数与位置参数举例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425" y="1348174"/>
            <a:ext cx="8947150" cy="45243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function_max.sh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User define Function (UDF)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usage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"List the MAX of the positive integers in command line. 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echo "Usage: `basename $0` &lt;num1&gt; &lt;num2&gt; [ &lt;num3&gt; ... ]"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exit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max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[[ -z $1 || -z $2 ]] &amp;&amp; </a:t>
            </a:r>
            <a:r>
              <a:rPr lang="en-US" altLang="zh-CN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usage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largest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=0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for 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; do  ((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largest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)) &amp;&amp;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largest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=$</a:t>
            </a:r>
            <a:r>
              <a:rPr lang="en-US" altLang="zh-CN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i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; done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Main script starts here ###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max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"$@"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"The largest of the numbers is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$largest</a:t>
            </a:r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.“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3729" y="5181763"/>
            <a:ext cx="2061845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由于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largest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变量在函数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max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内没有使用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local</a:t>
            </a:r>
            <a:r>
              <a:rPr lang="zh-CN" altLang="en-US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声明，所以它是全局的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函数与位置参数举例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3568" y="1772816"/>
            <a:ext cx="72728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 1 58 111 32768 66</a:t>
            </a:r>
          </a:p>
          <a:p>
            <a:r>
              <a:rPr lang="en-US" altLang="zh-CN" sz="2400" dirty="0"/>
              <a:t>The largest of the numbers is 32768</a:t>
            </a:r>
            <a:r>
              <a:rPr lang="en-US" altLang="zh-CN" sz="2400" dirty="0" smtClean="0"/>
              <a:t>.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</a:t>
            </a:r>
          </a:p>
          <a:p>
            <a:r>
              <a:rPr lang="en-US" altLang="zh-CN" sz="2400" dirty="0"/>
              <a:t>List the MAX of the positive integers in command line. </a:t>
            </a:r>
          </a:p>
          <a:p>
            <a:r>
              <a:rPr lang="en-US" altLang="zh-CN" sz="2400" dirty="0"/>
              <a:t>Usage: test.sh &lt;num1&gt; &lt;num2&gt; [ &lt;num3&gt; ... ]</a:t>
            </a:r>
          </a:p>
        </p:txBody>
      </p:sp>
    </p:spTree>
    <p:extLst>
      <p:ext uri="{BB962C8B-B14F-4D97-AF65-F5344CB8AC3E}">
        <p14:creationId xmlns:p14="http://schemas.microsoft.com/office/powerpoint/2010/main" val="345835432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结束与返回值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371600"/>
            <a:ext cx="7772400" cy="5081736"/>
          </a:xfrm>
        </p:spPr>
        <p:txBody>
          <a:bodyPr/>
          <a:lstStyle/>
          <a:p>
            <a:r>
              <a:rPr lang="zh-CN" altLang="en-US" dirty="0"/>
              <a:t>函数结束：函数最后一条命令执行结束</a:t>
            </a:r>
            <a:endParaRPr lang="en-US" altLang="zh-CN" dirty="0"/>
          </a:p>
          <a:p>
            <a:pPr lvl="1"/>
            <a:r>
              <a:rPr lang="zh-CN" altLang="en-US" dirty="0"/>
              <a:t>函数的返回值就是</a:t>
            </a:r>
            <a:r>
              <a:rPr lang="zh-CN" altLang="en-US" dirty="0">
                <a:solidFill>
                  <a:srgbClr val="FF0000"/>
                </a:solidFill>
              </a:rPr>
              <a:t>最后一条命令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退出码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其返回值被</a:t>
            </a:r>
            <a:r>
              <a:rPr lang="zh-CN" altLang="en-US" dirty="0">
                <a:solidFill>
                  <a:srgbClr val="FF0000"/>
                </a:solidFill>
              </a:rPr>
              <a:t>保存在</a:t>
            </a:r>
            <a:r>
              <a:rPr lang="zh-CN" altLang="en-US" dirty="0"/>
              <a:t>系统变量</a:t>
            </a:r>
            <a:r>
              <a:rPr lang="en-US" altLang="zh-CN" b="1" dirty="0">
                <a:solidFill>
                  <a:srgbClr val="002060"/>
                </a:solidFill>
              </a:rPr>
              <a:t>$?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b="1" dirty="0">
                <a:solidFill>
                  <a:srgbClr val="00206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1" dirty="0">
                <a:solidFill>
                  <a:srgbClr val="002060"/>
                </a:solidFill>
              </a:rPr>
              <a:t>exit</a:t>
            </a:r>
            <a:r>
              <a:rPr lang="en-US" altLang="zh-CN" dirty="0"/>
              <a:t> </a:t>
            </a:r>
            <a:r>
              <a:rPr lang="zh-CN" altLang="en-US" dirty="0"/>
              <a:t>显式地结束函数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002060"/>
                </a:solidFill>
              </a:rPr>
              <a:t>return [N]</a:t>
            </a:r>
          </a:p>
          <a:p>
            <a:pPr lvl="2"/>
            <a:r>
              <a:rPr lang="en-US" altLang="zh-CN" sz="2400" dirty="0"/>
              <a:t>return </a:t>
            </a:r>
            <a:r>
              <a:rPr lang="zh-CN" altLang="en-US" sz="2400" dirty="0"/>
              <a:t>将</a:t>
            </a:r>
            <a:r>
              <a:rPr lang="zh-CN" altLang="en-US" sz="2400" b="1" dirty="0">
                <a:solidFill>
                  <a:srgbClr val="002060"/>
                </a:solidFill>
              </a:rPr>
              <a:t>结束函数的执行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/>
            <a:r>
              <a:rPr lang="zh-CN" altLang="en-US" sz="2400" dirty="0"/>
              <a:t>可以使用 </a:t>
            </a:r>
            <a:r>
              <a:rPr lang="en-US" altLang="zh-CN" sz="2400" dirty="0"/>
              <a:t>N </a:t>
            </a:r>
            <a:r>
              <a:rPr lang="zh-CN" altLang="en-US" sz="2400" dirty="0">
                <a:solidFill>
                  <a:srgbClr val="FF0000"/>
                </a:solidFill>
              </a:rPr>
              <a:t>指定函数返回值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>
                <a:solidFill>
                  <a:srgbClr val="002060"/>
                </a:solidFill>
              </a:rPr>
              <a:t>exit  [N]</a:t>
            </a:r>
          </a:p>
          <a:p>
            <a:pPr lvl="2"/>
            <a:r>
              <a:rPr lang="en-US" altLang="zh-CN" sz="2400" dirty="0"/>
              <a:t>exit </a:t>
            </a:r>
            <a:r>
              <a:rPr lang="zh-CN" altLang="en-US" sz="2400" dirty="0"/>
              <a:t>将</a:t>
            </a:r>
            <a:r>
              <a:rPr lang="zh-CN" altLang="en-US" sz="2400" b="1" dirty="0">
                <a:solidFill>
                  <a:srgbClr val="002060"/>
                </a:solidFill>
              </a:rPr>
              <a:t>中断当前函数及当前</a:t>
            </a:r>
            <a:r>
              <a:rPr lang="en-US" altLang="zh-CN" sz="2400" b="1" dirty="0">
                <a:solidFill>
                  <a:srgbClr val="002060"/>
                </a:solidFill>
              </a:rPr>
              <a:t>Shell</a:t>
            </a:r>
            <a:r>
              <a:rPr lang="zh-CN" altLang="en-US" sz="2400" b="1" dirty="0">
                <a:solidFill>
                  <a:srgbClr val="002060"/>
                </a:solidFill>
              </a:rPr>
              <a:t>的执行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/>
            <a:r>
              <a:rPr lang="zh-CN" altLang="en-US" sz="2400" dirty="0"/>
              <a:t>可以使用 </a:t>
            </a:r>
            <a:r>
              <a:rPr lang="en-US" altLang="zh-CN" sz="2400" dirty="0">
                <a:solidFill>
                  <a:srgbClr val="FF0000"/>
                </a:solidFill>
              </a:rPr>
              <a:t>N </a:t>
            </a:r>
            <a:r>
              <a:rPr lang="zh-CN" altLang="en-US" sz="2400" dirty="0">
                <a:solidFill>
                  <a:srgbClr val="FF0000"/>
                </a:solidFill>
              </a:rPr>
              <a:t>指定返回值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函数的结束与返回值举例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230" y="1405320"/>
            <a:ext cx="8280920" cy="52937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function_max2.sh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User define Function (UDF)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max2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if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[[ -z $1 || -z $2 ]]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; then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echo  "Need 2 parameters to the function." ; exit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fi</a:t>
            </a: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[ $1 -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eq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 $2 ]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&amp;&amp;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 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{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echo "The two numbers are equal." ; exit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; }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(($1&gt;$2))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&amp;&amp;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return $1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||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return $2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#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先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&amp;&amp;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后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||</a:t>
            </a: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表示判断</a:t>
            </a:r>
            <a:endParaRPr lang="en-US" altLang="zh-CN" sz="2000" b="1" dirty="0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Main script starts here ###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read -p "Please input two integer numbers  : " n1 n2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"n1=$n1 , n2=$n2"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max2 $n1 $n2</a:t>
            </a:r>
          </a:p>
          <a:p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return_val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=$?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"The larger of the two numbers is 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$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return_val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."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函数的结束与返回值举例</a:t>
            </a:r>
          </a:p>
        </p:txBody>
      </p:sp>
      <p:sp>
        <p:nvSpPr>
          <p:cNvPr id="3" name="矩形 2"/>
          <p:cNvSpPr/>
          <p:nvPr/>
        </p:nvSpPr>
        <p:spPr>
          <a:xfrm>
            <a:off x="827584" y="1582341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[xl@localhost ~]$ ./test.sh</a:t>
            </a:r>
          </a:p>
          <a:p>
            <a:r>
              <a:rPr lang="zh-CN" altLang="en-US" sz="2400" dirty="0"/>
              <a:t>Please input two integer numbers  : 3 3</a:t>
            </a:r>
          </a:p>
          <a:p>
            <a:r>
              <a:rPr lang="zh-CN" altLang="en-US" sz="2400" dirty="0"/>
              <a:t>n1=3 , n2=3</a:t>
            </a:r>
          </a:p>
          <a:p>
            <a:r>
              <a:rPr lang="zh-CN" altLang="en-US" sz="2400" dirty="0"/>
              <a:t>The two numbers are equal.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./test.</a:t>
            </a:r>
            <a:r>
              <a:rPr lang="zh-CN" altLang="en-US" sz="2400" dirty="0" smtClean="0">
                <a:solidFill>
                  <a:srgbClr val="0000FF"/>
                </a:solidFill>
              </a:rPr>
              <a:t>sh</a:t>
            </a:r>
            <a:endParaRPr lang="zh-CN" altLang="en-US" sz="2400" dirty="0">
              <a:solidFill>
                <a:srgbClr val="0000FF"/>
              </a:solidFill>
            </a:endParaRPr>
          </a:p>
          <a:p>
            <a:r>
              <a:rPr lang="zh-CN" altLang="en-US" sz="2400" dirty="0"/>
              <a:t>Please input two integer numbers  : 3 4     </a:t>
            </a:r>
          </a:p>
          <a:p>
            <a:r>
              <a:rPr lang="zh-CN" altLang="en-US" sz="2400" dirty="0"/>
              <a:t>n1=3 , n2=4</a:t>
            </a:r>
          </a:p>
          <a:p>
            <a:r>
              <a:rPr lang="zh-CN" altLang="en-US" sz="2400" dirty="0"/>
              <a:t>The larger of the two numbers is 4.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[xl@localhost ~]$ ./test.</a:t>
            </a:r>
            <a:r>
              <a:rPr lang="zh-CN" altLang="en-US" sz="2400" dirty="0" smtClean="0">
                <a:solidFill>
                  <a:srgbClr val="0000FF"/>
                </a:solidFill>
              </a:rPr>
              <a:t>sh</a:t>
            </a:r>
            <a:endParaRPr lang="zh-CN" altLang="en-US" sz="2400" dirty="0">
              <a:solidFill>
                <a:srgbClr val="0000FF"/>
              </a:solidFill>
            </a:endParaRPr>
          </a:p>
          <a:p>
            <a:r>
              <a:rPr lang="zh-CN" altLang="en-US" sz="2400" dirty="0"/>
              <a:t>Please input two integer numbers  : 4 3</a:t>
            </a:r>
          </a:p>
          <a:p>
            <a:r>
              <a:rPr lang="zh-CN" altLang="en-US" sz="2400" dirty="0"/>
              <a:t>n1=4 , n2=3</a:t>
            </a:r>
          </a:p>
          <a:p>
            <a:r>
              <a:rPr lang="zh-CN" altLang="en-US" sz="2400" dirty="0"/>
              <a:t>The larger of the two numbers is 4</a:t>
            </a:r>
            <a:r>
              <a:rPr lang="zh-CN" altLang="en-US" sz="2400" dirty="0" smtClean="0"/>
              <a:t>.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9926755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</a:t>
            </a:r>
            <a:r>
              <a:rPr lang="en-US" altLang="zh-CN" dirty="0"/>
              <a:t>Shell</a:t>
            </a:r>
            <a:r>
              <a:rPr lang="zh-CN" altLang="en-US" dirty="0"/>
              <a:t>函数</a:t>
            </a:r>
            <a:r>
              <a:rPr lang="en-US" altLang="zh-CN" dirty="0"/>
              <a:t>—</a:t>
            </a:r>
            <a:r>
              <a:rPr lang="zh-CN" altLang="en-US" dirty="0"/>
              <a:t>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98488"/>
            <a:ext cx="8767638" cy="4114800"/>
          </a:xfrm>
        </p:spPr>
        <p:txBody>
          <a:bodyPr/>
          <a:lstStyle/>
          <a:p>
            <a:r>
              <a:rPr lang="zh-CN" altLang="en-US" sz="3100" dirty="0"/>
              <a:t>使用</a:t>
            </a:r>
            <a:r>
              <a:rPr lang="zh-CN" altLang="en-US" sz="3100" b="1" dirty="0">
                <a:solidFill>
                  <a:srgbClr val="002060"/>
                </a:solidFill>
              </a:rPr>
              <a:t>全局变量</a:t>
            </a:r>
            <a:r>
              <a:rPr lang="zh-CN" altLang="en-US" sz="3100" dirty="0"/>
              <a:t>引用函数的值</a:t>
            </a:r>
            <a:r>
              <a:rPr lang="zh-CN" altLang="en-US" sz="3100" b="1" dirty="0">
                <a:solidFill>
                  <a:srgbClr val="002060"/>
                </a:solidFill>
              </a:rPr>
              <a:t>不利于结构化编程</a:t>
            </a:r>
            <a:endParaRPr lang="en-US" altLang="zh-CN" sz="3100" b="1" dirty="0">
              <a:solidFill>
                <a:srgbClr val="002060"/>
              </a:solidFill>
            </a:endParaRPr>
          </a:p>
          <a:p>
            <a:r>
              <a:rPr lang="zh-CN" altLang="en-US" sz="3100" dirty="0"/>
              <a:t>使用 </a:t>
            </a:r>
            <a:r>
              <a:rPr lang="en-US" altLang="zh-CN" sz="3100" b="1" dirty="0">
                <a:solidFill>
                  <a:srgbClr val="FF0000"/>
                </a:solidFill>
              </a:rPr>
              <a:t>return</a:t>
            </a:r>
            <a:r>
              <a:rPr lang="en-US" altLang="zh-CN" sz="3100" dirty="0">
                <a:solidFill>
                  <a:srgbClr val="FF0000"/>
                </a:solidFill>
              </a:rPr>
              <a:t> </a:t>
            </a:r>
            <a:r>
              <a:rPr lang="zh-CN" altLang="en-US" sz="3100" dirty="0"/>
              <a:t>或 </a:t>
            </a:r>
            <a:r>
              <a:rPr lang="en-US" altLang="zh-CN" sz="3100" b="1" dirty="0">
                <a:solidFill>
                  <a:srgbClr val="FF0000"/>
                </a:solidFill>
              </a:rPr>
              <a:t>exit</a:t>
            </a:r>
            <a:r>
              <a:rPr lang="en-US" altLang="zh-CN" sz="3100" dirty="0"/>
              <a:t> </a:t>
            </a:r>
            <a:r>
              <a:rPr lang="zh-CN" altLang="en-US" sz="3100" b="1" dirty="0">
                <a:solidFill>
                  <a:srgbClr val="002060"/>
                </a:solidFill>
              </a:rPr>
              <a:t>只能返回整数值</a:t>
            </a:r>
            <a:endParaRPr lang="en-US" altLang="zh-CN" sz="3100" b="1" dirty="0">
              <a:solidFill>
                <a:srgbClr val="002060"/>
              </a:solidFill>
            </a:endParaRPr>
          </a:p>
          <a:p>
            <a:r>
              <a:rPr lang="zh-CN" altLang="en-US" sz="3100" dirty="0"/>
              <a:t>使用</a:t>
            </a:r>
            <a:r>
              <a:rPr lang="zh-CN" altLang="en-US" sz="3100" dirty="0">
                <a:solidFill>
                  <a:srgbClr val="FF0000"/>
                </a:solidFill>
              </a:rPr>
              <a:t>标准输出</a:t>
            </a:r>
            <a:r>
              <a:rPr lang="zh-CN" altLang="en-US" sz="3100" dirty="0"/>
              <a:t>实现函数的返回值</a:t>
            </a:r>
            <a:endParaRPr lang="en-US" altLang="zh-CN" sz="3100" dirty="0"/>
          </a:p>
          <a:p>
            <a:pPr lvl="1"/>
            <a:r>
              <a:rPr lang="zh-CN" altLang="en-US" sz="2600" dirty="0"/>
              <a:t>是一种通用的方法，</a:t>
            </a:r>
            <a:r>
              <a:rPr lang="zh-CN" altLang="en-US" sz="2600" b="1" dirty="0">
                <a:solidFill>
                  <a:srgbClr val="002060"/>
                </a:solidFill>
              </a:rPr>
              <a:t>既能</a:t>
            </a:r>
            <a:r>
              <a:rPr lang="zh-CN" altLang="en-US" sz="2600" b="1" dirty="0">
                <a:solidFill>
                  <a:srgbClr val="FF0000"/>
                </a:solidFill>
              </a:rPr>
              <a:t>返回整数</a:t>
            </a:r>
            <a:r>
              <a:rPr lang="zh-CN" altLang="en-US" sz="2600" b="1" dirty="0">
                <a:solidFill>
                  <a:srgbClr val="002060"/>
                </a:solidFill>
              </a:rPr>
              <a:t>又能返回</a:t>
            </a:r>
            <a:r>
              <a:rPr lang="zh-CN" altLang="en-US" sz="2600" b="1" dirty="0">
                <a:solidFill>
                  <a:srgbClr val="FF0000"/>
                </a:solidFill>
              </a:rPr>
              <a:t>字符串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/>
              <a:t>函数结束前使用 </a:t>
            </a:r>
            <a:r>
              <a:rPr lang="en-US" altLang="zh-CN" sz="2600" b="1" dirty="0">
                <a:solidFill>
                  <a:srgbClr val="002060"/>
                </a:solidFill>
              </a:rPr>
              <a:t>echo </a:t>
            </a:r>
            <a:r>
              <a:rPr lang="zh-CN" altLang="en-US" sz="2600" dirty="0"/>
              <a:t>命令将结果显示到标准输出</a:t>
            </a:r>
            <a:endParaRPr lang="en-US" altLang="zh-CN" sz="2600" dirty="0"/>
          </a:p>
          <a:p>
            <a:pPr lvl="1"/>
            <a:r>
              <a:rPr lang="zh-CN" altLang="en-US" sz="2600" dirty="0"/>
              <a:t>调用函数时使用如下的格式将函数的输出结果存到变量 </a:t>
            </a:r>
            <a:r>
              <a:rPr lang="en-US" altLang="zh-CN" sz="2600" b="1" dirty="0">
                <a:solidFill>
                  <a:srgbClr val="002060"/>
                </a:solidFill>
              </a:rPr>
              <a:t>RES</a:t>
            </a:r>
            <a:r>
              <a:rPr lang="en-US" altLang="zh-CN" sz="2600" dirty="0"/>
              <a:t> </a:t>
            </a:r>
            <a:r>
              <a:rPr lang="zh-CN" altLang="en-US" sz="2600" dirty="0"/>
              <a:t>中，之后便可使用变量 </a:t>
            </a:r>
            <a:r>
              <a:rPr lang="en-US" altLang="zh-CN" sz="2600" dirty="0"/>
              <a:t>$</a:t>
            </a:r>
            <a:r>
              <a:rPr lang="en-US" altLang="zh-CN" sz="2600" b="1" dirty="0">
                <a:solidFill>
                  <a:srgbClr val="002060"/>
                </a:solidFill>
              </a:rPr>
              <a:t>RES</a:t>
            </a:r>
            <a:r>
              <a:rPr lang="en-US" altLang="zh-CN" sz="2600" dirty="0"/>
              <a:t> </a:t>
            </a:r>
            <a:r>
              <a:rPr lang="zh-CN" altLang="en-US" sz="2600" dirty="0"/>
              <a:t>的值（或输出、或执行测试、或进一步处理等）</a:t>
            </a:r>
            <a:endParaRPr lang="en-US" altLang="zh-CN" sz="2600" dirty="0"/>
          </a:p>
          <a:p>
            <a:pPr lvl="2"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RES=$(</a:t>
            </a:r>
            <a:r>
              <a:rPr lang="en-US" altLang="zh-CN" sz="2800" b="1" dirty="0" err="1">
                <a:solidFill>
                  <a:srgbClr val="002060"/>
                </a:solidFill>
              </a:rPr>
              <a:t>functionName</a:t>
            </a:r>
            <a:r>
              <a:rPr lang="en-US" altLang="zh-CN" sz="2800" b="1" dirty="0">
                <a:solidFill>
                  <a:srgbClr val="002060"/>
                </a:solidFill>
              </a:rPr>
              <a:t>)</a:t>
            </a:r>
          </a:p>
          <a:p>
            <a:pPr lvl="2"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echo $RES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05276" y="5958399"/>
            <a:ext cx="504056" cy="7078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340" y="5958399"/>
            <a:ext cx="1728192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RES=$(</a:t>
            </a:r>
            <a:r>
              <a:rPr lang="en-US" altLang="zh-CN" sz="2000" dirty="0" err="1"/>
              <a:t>ls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echo $RES</a:t>
            </a:r>
            <a:endParaRPr lang="zh-CN" altLang="en-US" sz="2000" dirty="0"/>
          </a:p>
        </p:txBody>
      </p:sp>
      <p:sp>
        <p:nvSpPr>
          <p:cNvPr id="10" name="圆角矩形 9"/>
          <p:cNvSpPr/>
          <p:nvPr/>
        </p:nvSpPr>
        <p:spPr>
          <a:xfrm>
            <a:off x="6481540" y="5958399"/>
            <a:ext cx="2465610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命令能出现的地方函数调用也能出现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使用标准输出返回函数值举例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282" y="1355278"/>
            <a:ext cx="8527206" cy="53860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#!/bin/bash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 filename: function_to-upper.sh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 User define Function (UDF)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to_upper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() {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local 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="$@"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local output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output=$(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tr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'[a-z]' '[A-Z]'&lt;&lt;&lt;"${</a:t>
            </a:r>
            <a:r>
              <a:rPr lang="en-US" altLang="zh-CN" sz="2000" b="1" dirty="0" err="1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str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}")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echo $output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### Main script starts here ###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to_upper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 "This Is a TEST"</a:t>
            </a:r>
          </a:p>
          <a:p>
            <a:pPr>
              <a:lnSpc>
                <a:spcPct val="70000"/>
              </a:lnSpc>
            </a:pP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res=$(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to_upper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"$@")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echo "$res"</a:t>
            </a:r>
          </a:p>
          <a:p>
            <a:pPr>
              <a:lnSpc>
                <a:spcPct val="50000"/>
              </a:lnSpc>
            </a:pPr>
            <a:endParaRPr lang="en-US" altLang="zh-CN" sz="2000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res=$(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to_upper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"$1")</a:t>
            </a:r>
          </a:p>
          <a:p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[[ $res == "YES" ]] </a:t>
            </a:r>
            <a:r>
              <a:rPr lang="en-US" altLang="zh-CN" sz="2000" b="1" dirty="0">
                <a:solidFill>
                  <a:srgbClr val="002060"/>
                </a:solidFill>
                <a:latin typeface="Courier New" pitchFamily="49" charset="0"/>
                <a:ea typeface="宋体" charset="-122"/>
              </a:rPr>
              <a:t>&amp;&amp; echo "Continue..." || echo "Stop"</a:t>
            </a:r>
            <a:endParaRPr lang="en-US" altLang="zh-CN" b="1" dirty="0">
              <a:solidFill>
                <a:srgbClr val="00206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9106" y="5179556"/>
            <a:ext cx="52565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</a:rPr>
              <a:t>./function_to-upper.sh YES we are</a:t>
            </a:r>
          </a:p>
          <a:p>
            <a:r>
              <a:rPr lang="en-US" altLang="zh-CN" b="1" dirty="0">
                <a:solidFill>
                  <a:srgbClr val="002060"/>
                </a:solidFill>
                <a:latin typeface="Courier New" pitchFamily="49" charset="0"/>
              </a:rPr>
              <a:t>./function_to-upper.sh No we are not</a:t>
            </a:r>
            <a:endParaRPr lang="zh-CN" altLang="en-US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使用标准输出返回函数值举例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582341"/>
            <a:ext cx="806489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</a:t>
            </a:r>
          </a:p>
          <a:p>
            <a:r>
              <a:rPr lang="en-US" altLang="zh-CN" sz="2400" dirty="0"/>
              <a:t>THIS IS A TEST</a:t>
            </a:r>
          </a:p>
          <a:p>
            <a:endParaRPr lang="en-US" altLang="zh-CN" sz="2400" dirty="0"/>
          </a:p>
          <a:p>
            <a:r>
              <a:rPr lang="en-US" altLang="zh-CN" sz="2400" dirty="0"/>
              <a:t>Stop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 YES we are</a:t>
            </a:r>
          </a:p>
          <a:p>
            <a:r>
              <a:rPr lang="en-US" altLang="zh-CN" sz="2400" dirty="0"/>
              <a:t>THIS IS A TEST</a:t>
            </a:r>
          </a:p>
          <a:p>
            <a:r>
              <a:rPr lang="en-US" altLang="zh-CN" sz="2400" dirty="0"/>
              <a:t>YES WE ARE</a:t>
            </a:r>
          </a:p>
          <a:p>
            <a:r>
              <a:rPr lang="en-US" altLang="zh-CN" sz="2400" dirty="0"/>
              <a:t>Continue...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./test.sh No we are not</a:t>
            </a:r>
          </a:p>
          <a:p>
            <a:r>
              <a:rPr lang="en-US" altLang="zh-CN" sz="2400" dirty="0"/>
              <a:t>THIS IS A TEST</a:t>
            </a:r>
          </a:p>
          <a:p>
            <a:r>
              <a:rPr lang="en-US" altLang="zh-CN" sz="2400" dirty="0"/>
              <a:t>NO WE ARE NOT</a:t>
            </a:r>
          </a:p>
          <a:p>
            <a:r>
              <a:rPr lang="en-US" altLang="zh-CN" sz="2400" dirty="0"/>
              <a:t>Stop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</a:rPr>
              <a:t>xl@localhost</a:t>
            </a:r>
            <a:r>
              <a:rPr lang="en-US" altLang="zh-CN" sz="2400" dirty="0">
                <a:solidFill>
                  <a:srgbClr val="0000FF"/>
                </a:solidFill>
              </a:rPr>
              <a:t> ~]$ 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85895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556792"/>
            <a:ext cx="8767638" cy="4896544"/>
          </a:xfrm>
        </p:spPr>
        <p:txBody>
          <a:bodyPr/>
          <a:lstStyle/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脚本的成分？通常在何种情况下使用函数？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试比较括号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[...]，[[...]]，((...))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在条件测试中的异同？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试比较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${...}，$(...)，$[...]，$((...))</a:t>
            </a: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的作用。</a:t>
            </a: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什么是位置参数？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shift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命令的功能？</a:t>
            </a:r>
          </a:p>
          <a:p>
            <a:pPr marL="0" indent="0" algn="ctr" eaLnBrk="1" hangingPunct="1">
              <a:lnSpc>
                <a:spcPct val="13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循环控制语句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CentOS-CH-PPT2</Template>
  <TotalTime>57647</TotalTime>
  <Words>17819</Words>
  <Application>Microsoft Office PowerPoint</Application>
  <PresentationFormat>全屏显示(4:3)</PresentationFormat>
  <Paragraphs>2650</Paragraphs>
  <Slides>170</Slides>
  <Notes>75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170</vt:i4>
      </vt:variant>
    </vt:vector>
  </HeadingPairs>
  <TitlesOfParts>
    <vt:vector size="191" baseType="lpstr">
      <vt:lpstr>-apple-system</vt:lpstr>
      <vt:lpstr>Arial Unicode MS</vt:lpstr>
      <vt:lpstr>PingFang SC</vt:lpstr>
      <vt:lpstr>方正粗倩简体</vt:lpstr>
      <vt:lpstr>仿宋</vt:lpstr>
      <vt:lpstr>黑体</vt:lpstr>
      <vt:lpstr>华文新魏</vt:lpstr>
      <vt:lpstr>华文行楷</vt:lpstr>
      <vt:lpstr>楷体_GB2312</vt:lpstr>
      <vt:lpstr>宋体</vt:lpstr>
      <vt:lpstr>微软雅黑</vt:lpstr>
      <vt:lpstr>Arial</vt:lpstr>
      <vt:lpstr>Broadway</vt:lpstr>
      <vt:lpstr>Calibri</vt:lpstr>
      <vt:lpstr>Courier New</vt:lpstr>
      <vt:lpstr>Segoe UI Historic</vt:lpstr>
      <vt:lpstr>Tahoma</vt:lpstr>
      <vt:lpstr>Times New Roman</vt:lpstr>
      <vt:lpstr>Wingdings</vt:lpstr>
      <vt:lpstr>Wingdings 2</vt:lpstr>
      <vt:lpstr>Blends</vt:lpstr>
      <vt:lpstr>     Linux操作系统</vt:lpstr>
      <vt:lpstr>本章内容要点</vt:lpstr>
      <vt:lpstr>一 Shell编程基础</vt:lpstr>
      <vt:lpstr>一 Shell编程基础</vt:lpstr>
      <vt:lpstr>一 Shell编程基础</vt:lpstr>
      <vt:lpstr>一 Shell编程基础</vt:lpstr>
      <vt:lpstr>一 Shell编程基础</vt:lpstr>
      <vt:lpstr>一 Shell编程基础</vt:lpstr>
      <vt:lpstr>PowerPoint 演示文稿</vt:lpstr>
      <vt:lpstr>一 Shell编程基础</vt:lpstr>
      <vt:lpstr>Shell脚本举例</vt:lpstr>
      <vt:lpstr>脚本调试方法 1</vt:lpstr>
      <vt:lpstr>脚本调试方法1举例 </vt:lpstr>
      <vt:lpstr>脚本调试方法2 — set命令</vt:lpstr>
      <vt:lpstr>脚本调试举例 2</vt:lpstr>
      <vt:lpstr>脚本调试举例 2</vt:lpstr>
      <vt:lpstr>一 Shell编程基础</vt:lpstr>
      <vt:lpstr>PowerPoint 演示文稿</vt:lpstr>
      <vt:lpstr>Shell编程的前提</vt:lpstr>
      <vt:lpstr>二 Shell 变量操作</vt:lpstr>
      <vt:lpstr>二 Shell 变量操作—变量替换</vt:lpstr>
      <vt:lpstr>变量测试举例</vt:lpstr>
      <vt:lpstr>变量测试—举例</vt:lpstr>
      <vt:lpstr>二 Shell 变量操作—变量替换</vt:lpstr>
      <vt:lpstr>字符串变量计数、截取举例</vt:lpstr>
      <vt:lpstr>二 Shell 变量操作—变量替换</vt:lpstr>
      <vt:lpstr>字符串变量替换举例</vt:lpstr>
      <vt:lpstr>字符串变量替换举例</vt:lpstr>
      <vt:lpstr>二 Shell 变量操作—变量替换</vt:lpstr>
      <vt:lpstr>二 Shell 变量操作—变量替换</vt:lpstr>
      <vt:lpstr>Shell内置命令——eval</vt:lpstr>
      <vt:lpstr>Shell内置命令——eval</vt:lpstr>
      <vt:lpstr>二 Shell 变量操作—输入read</vt:lpstr>
      <vt:lpstr>read 举例</vt:lpstr>
      <vt:lpstr>只读变量</vt:lpstr>
      <vt:lpstr>同时输出多行信息</vt:lpstr>
      <vt:lpstr>二 Shell 变量操作—数值计算</vt:lpstr>
      <vt:lpstr>算数运算符</vt:lpstr>
      <vt:lpstr>算术运算</vt:lpstr>
      <vt:lpstr>符号对比</vt:lpstr>
      <vt:lpstr>Shell内置命令—let</vt:lpstr>
      <vt:lpstr>expr</vt:lpstr>
      <vt:lpstr>二 Shell 变量操作—数值运算</vt:lpstr>
      <vt:lpstr>printf 命令</vt:lpstr>
      <vt:lpstr>printf 命令（续）</vt:lpstr>
      <vt:lpstr>printf 命令举例</vt:lpstr>
      <vt:lpstr>二 Shell 变量操作—数值运算</vt:lpstr>
      <vt:lpstr>数组变量举例</vt:lpstr>
      <vt:lpstr>Shell内置命令—declare</vt:lpstr>
      <vt:lpstr>declare 举例</vt:lpstr>
      <vt:lpstr>Shell 变量的分类</vt:lpstr>
      <vt:lpstr>三 特殊变量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$@、 $*和环境变量IFS（internal field separator）</vt:lpstr>
      <vt:lpstr>PowerPoint 演示文稿</vt:lpstr>
      <vt:lpstr>PowerPoint 演示文稿</vt:lpstr>
      <vt:lpstr>PowerPoint 演示文稿</vt:lpstr>
      <vt:lpstr>常见的返回状态码</vt:lpstr>
      <vt:lpstr>变量及相关命令小结1</vt:lpstr>
      <vt:lpstr>变量及相关命令小结2</vt:lpstr>
      <vt:lpstr>变量及相关命令小结2</vt:lpstr>
      <vt:lpstr>变量及相关命令小结2</vt:lpstr>
      <vt:lpstr>变量及相关命令小结3</vt:lpstr>
      <vt:lpstr>本章内容要点</vt:lpstr>
      <vt:lpstr>四 条件测试</vt:lpstr>
      <vt:lpstr>条件测试举例</vt:lpstr>
      <vt:lpstr>条件测试举例</vt:lpstr>
      <vt:lpstr>四 条件测试</vt:lpstr>
      <vt:lpstr>四 条件测试</vt:lpstr>
      <vt:lpstr>四 条件测试—文件测试</vt:lpstr>
      <vt:lpstr>PowerPoint 演示文稿</vt:lpstr>
      <vt:lpstr>PowerPoint 演示文稿</vt:lpstr>
      <vt:lpstr>四 条件测试—字符串测试</vt:lpstr>
      <vt:lpstr>字符串的空值检查</vt:lpstr>
      <vt:lpstr>四 条件测试—整数测试</vt:lpstr>
      <vt:lpstr>四 条件测试—整数测试</vt:lpstr>
      <vt:lpstr>条件测试举例</vt:lpstr>
      <vt:lpstr>条件测试举例</vt:lpstr>
      <vt:lpstr>条件测试举例</vt:lpstr>
      <vt:lpstr>四 条件测试—逻辑测试</vt:lpstr>
      <vt:lpstr>条件测试举例（4）</vt:lpstr>
      <vt:lpstr>五 流程控制语句</vt:lpstr>
      <vt:lpstr>五 流程控制语句—分支结构if</vt:lpstr>
      <vt:lpstr>五 流程控制语句—分支结构if</vt:lpstr>
      <vt:lpstr>五 流程控制语句—分支结构if</vt:lpstr>
      <vt:lpstr>分支结构——if 语句举例1</vt:lpstr>
      <vt:lpstr>五 流程控制语句—分支结构if</vt:lpstr>
      <vt:lpstr>分支结构——if 语句举例2</vt:lpstr>
      <vt:lpstr>五 流程控制语句—分支结构if</vt:lpstr>
      <vt:lpstr>分支结构——if 语句举例3</vt:lpstr>
      <vt:lpstr>分支结构——if 语句举例4</vt:lpstr>
      <vt:lpstr>分支结构——if 语句举例4</vt:lpstr>
      <vt:lpstr>分支结构——if 语句举例5</vt:lpstr>
      <vt:lpstr>五 流程控制语句—分支结构case</vt:lpstr>
      <vt:lpstr>五 流程控制语句—分支结构case</vt:lpstr>
      <vt:lpstr>五 流程控制语句—分支结构case</vt:lpstr>
      <vt:lpstr>分支结构—case 语句举例1</vt:lpstr>
      <vt:lpstr>分支结构—case 语句举例2</vt:lpstr>
      <vt:lpstr>分支结构—case 语句举例3</vt:lpstr>
      <vt:lpstr>PowerPoint 演示文稿</vt:lpstr>
      <vt:lpstr>五 流程控制语句—for循环</vt:lpstr>
      <vt:lpstr>五 流程控制语句—for循环</vt:lpstr>
      <vt:lpstr>for循环（foreach型）举例1</vt:lpstr>
      <vt:lpstr>PowerPoint 演示文稿</vt:lpstr>
      <vt:lpstr>for循环（foreach型）举例2</vt:lpstr>
      <vt:lpstr>PowerPoint 演示文稿</vt:lpstr>
      <vt:lpstr>for循环（foreach型）举例3</vt:lpstr>
      <vt:lpstr>for循环（foreach型）举例3</vt:lpstr>
      <vt:lpstr>for循环（foreach型）举例4</vt:lpstr>
      <vt:lpstr>for循环（foreach型）举例5</vt:lpstr>
      <vt:lpstr>for循环（foreach型）举例6</vt:lpstr>
      <vt:lpstr>for循环（foreach型）举例7</vt:lpstr>
      <vt:lpstr>for循环（foreach型）举例8</vt:lpstr>
      <vt:lpstr>break 和 continue</vt:lpstr>
      <vt:lpstr>for循环（foreach型）举例9</vt:lpstr>
      <vt:lpstr>for循环（foreach型）举例10</vt:lpstr>
      <vt:lpstr>for循环（foreach型）举例11</vt:lpstr>
      <vt:lpstr>五 流程控制语句—for循环</vt:lpstr>
      <vt:lpstr>五 流程控制语句—for循环</vt:lpstr>
      <vt:lpstr>for循环（C语言型）举例1</vt:lpstr>
      <vt:lpstr>PowerPoint 演示文稿</vt:lpstr>
      <vt:lpstr>for循环（C语言型）举例2</vt:lpstr>
      <vt:lpstr>五 流程控制语句—while循环</vt:lpstr>
      <vt:lpstr>while 循环语句举例1</vt:lpstr>
      <vt:lpstr>while 循环语句举例1-结果</vt:lpstr>
      <vt:lpstr>while 循环语句举例2</vt:lpstr>
      <vt:lpstr>while 循环语句举例3</vt:lpstr>
      <vt:lpstr>五 流程控制语句—until循环</vt:lpstr>
      <vt:lpstr>until 循环语句举例1</vt:lpstr>
      <vt:lpstr>while/until/for 循环举例1</vt:lpstr>
      <vt:lpstr>while/until/for 循环举例2</vt:lpstr>
      <vt:lpstr>PowerPoint 演示文稿</vt:lpstr>
      <vt:lpstr>五 流程控制语句—select循环</vt:lpstr>
      <vt:lpstr>使用while循环实现菜单</vt:lpstr>
      <vt:lpstr>五 流程控制语句—select循环</vt:lpstr>
      <vt:lpstr>五 流程控制语句—select循环</vt:lpstr>
      <vt:lpstr>循环结构—select 举例1</vt:lpstr>
      <vt:lpstr>循环结构—select 举例1结果</vt:lpstr>
      <vt:lpstr>循环结构——select 举例2</vt:lpstr>
      <vt:lpstr>循环结构—select 举例2结果</vt:lpstr>
      <vt:lpstr>历史回顾</vt:lpstr>
      <vt:lpstr>历史回顾</vt:lpstr>
      <vt:lpstr>历史回顾</vt:lpstr>
      <vt:lpstr>本章内容要点</vt:lpstr>
      <vt:lpstr>六 Shell函数—简介</vt:lpstr>
      <vt:lpstr>六 Shell函数—用途</vt:lpstr>
      <vt:lpstr>六 Shell函数—定义和调用</vt:lpstr>
      <vt:lpstr>六 Shell函数—存储和显示</vt:lpstr>
      <vt:lpstr>PowerPoint 演示文稿</vt:lpstr>
      <vt:lpstr>PowerPoint 演示文稿</vt:lpstr>
      <vt:lpstr>函数的定义和调用举例1</vt:lpstr>
      <vt:lpstr>函数的定义和调用举例1结果</vt:lpstr>
      <vt:lpstr>函数的定义和调用举例2</vt:lpstr>
      <vt:lpstr>六 Shell函数—参数</vt:lpstr>
      <vt:lpstr>六 Shell函数—变量</vt:lpstr>
      <vt:lpstr>函数与位置参数举例1</vt:lpstr>
      <vt:lpstr>函数与位置参数举例1-结果</vt:lpstr>
      <vt:lpstr>函数与位置参数举例2</vt:lpstr>
      <vt:lpstr>函数与位置参数举例2</vt:lpstr>
      <vt:lpstr>六 Shell函数—结束与返回值</vt:lpstr>
      <vt:lpstr>函数的结束与返回值举例</vt:lpstr>
      <vt:lpstr>函数的结束与返回值举例</vt:lpstr>
      <vt:lpstr>六 Shell函数—返回值</vt:lpstr>
      <vt:lpstr>使用标准输出返回函数值举例</vt:lpstr>
      <vt:lpstr>使用标准输出返回函数值举例</vt:lpstr>
      <vt:lpstr>思考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   Shell脚本编程</dc:title>
  <dc:creator>osmond</dc:creator>
  <cp:lastModifiedBy>Hewlett-Packard Company</cp:lastModifiedBy>
  <cp:revision>1679</cp:revision>
  <cp:lastPrinted>2022-04-09T13:29:56Z</cp:lastPrinted>
  <dcterms:created xsi:type="dcterms:W3CDTF">2011-08-16T00:23:06Z</dcterms:created>
  <dcterms:modified xsi:type="dcterms:W3CDTF">2024-05-15T14:51:34Z</dcterms:modified>
</cp:coreProperties>
</file>