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04"/>
  </p:notesMasterIdLst>
  <p:sldIdLst>
    <p:sldId id="516" r:id="rId2"/>
    <p:sldId id="332" r:id="rId3"/>
    <p:sldId id="390" r:id="rId4"/>
    <p:sldId id="518" r:id="rId5"/>
    <p:sldId id="533" r:id="rId6"/>
    <p:sldId id="391" r:id="rId7"/>
    <p:sldId id="519" r:id="rId8"/>
    <p:sldId id="520" r:id="rId9"/>
    <p:sldId id="521" r:id="rId10"/>
    <p:sldId id="392" r:id="rId11"/>
    <p:sldId id="522" r:id="rId12"/>
    <p:sldId id="393" r:id="rId13"/>
    <p:sldId id="447" r:id="rId14"/>
    <p:sldId id="523" r:id="rId15"/>
    <p:sldId id="532" r:id="rId16"/>
    <p:sldId id="394" r:id="rId17"/>
    <p:sldId id="396" r:id="rId18"/>
    <p:sldId id="397" r:id="rId19"/>
    <p:sldId id="525" r:id="rId20"/>
    <p:sldId id="524" r:id="rId21"/>
    <p:sldId id="398" r:id="rId22"/>
    <p:sldId id="399" r:id="rId23"/>
    <p:sldId id="517" r:id="rId24"/>
    <p:sldId id="401" r:id="rId25"/>
    <p:sldId id="402" r:id="rId26"/>
    <p:sldId id="446" r:id="rId27"/>
    <p:sldId id="403" r:id="rId28"/>
    <p:sldId id="404" r:id="rId29"/>
    <p:sldId id="405" r:id="rId30"/>
    <p:sldId id="406" r:id="rId31"/>
    <p:sldId id="407" r:id="rId32"/>
    <p:sldId id="408" r:id="rId33"/>
    <p:sldId id="409" r:id="rId34"/>
    <p:sldId id="526" r:id="rId35"/>
    <p:sldId id="410" r:id="rId36"/>
    <p:sldId id="411" r:id="rId37"/>
    <p:sldId id="412" r:id="rId38"/>
    <p:sldId id="414" r:id="rId39"/>
    <p:sldId id="415" r:id="rId40"/>
    <p:sldId id="416" r:id="rId41"/>
    <p:sldId id="417" r:id="rId42"/>
    <p:sldId id="418" r:id="rId43"/>
    <p:sldId id="419" r:id="rId44"/>
    <p:sldId id="420" r:id="rId45"/>
    <p:sldId id="530" r:id="rId46"/>
    <p:sldId id="527" r:id="rId47"/>
    <p:sldId id="337" r:id="rId48"/>
    <p:sldId id="338" r:id="rId49"/>
    <p:sldId id="344" r:id="rId50"/>
    <p:sldId id="528" r:id="rId51"/>
    <p:sldId id="537" r:id="rId52"/>
    <p:sldId id="529" r:id="rId53"/>
    <p:sldId id="339" r:id="rId54"/>
    <p:sldId id="340" r:id="rId55"/>
    <p:sldId id="341" r:id="rId56"/>
    <p:sldId id="342" r:id="rId57"/>
    <p:sldId id="351" r:id="rId58"/>
    <p:sldId id="352" r:id="rId59"/>
    <p:sldId id="353" r:id="rId60"/>
    <p:sldId id="354" r:id="rId61"/>
    <p:sldId id="387" r:id="rId62"/>
    <p:sldId id="388" r:id="rId63"/>
    <p:sldId id="343" r:id="rId64"/>
    <p:sldId id="367" r:id="rId65"/>
    <p:sldId id="368" r:id="rId66"/>
    <p:sldId id="345" r:id="rId67"/>
    <p:sldId id="346" r:id="rId68"/>
    <p:sldId id="347" r:id="rId69"/>
    <p:sldId id="348" r:id="rId70"/>
    <p:sldId id="355" r:id="rId71"/>
    <p:sldId id="369" r:id="rId72"/>
    <p:sldId id="370" r:id="rId73"/>
    <p:sldId id="379" r:id="rId74"/>
    <p:sldId id="383" r:id="rId75"/>
    <p:sldId id="384" r:id="rId76"/>
    <p:sldId id="385" r:id="rId77"/>
    <p:sldId id="386" r:id="rId78"/>
    <p:sldId id="350" r:id="rId79"/>
    <p:sldId id="366" r:id="rId80"/>
    <p:sldId id="378" r:id="rId81"/>
    <p:sldId id="365" r:id="rId82"/>
    <p:sldId id="373" r:id="rId83"/>
    <p:sldId id="539" r:id="rId84"/>
    <p:sldId id="540" r:id="rId85"/>
    <p:sldId id="374" r:id="rId86"/>
    <p:sldId id="375" r:id="rId87"/>
    <p:sldId id="449" r:id="rId88"/>
    <p:sldId id="450" r:id="rId89"/>
    <p:sldId id="451" r:id="rId90"/>
    <p:sldId id="538" r:id="rId91"/>
    <p:sldId id="452" r:id="rId92"/>
    <p:sldId id="453" r:id="rId93"/>
    <p:sldId id="454" r:id="rId94"/>
    <p:sldId id="455" r:id="rId95"/>
    <p:sldId id="536" r:id="rId96"/>
    <p:sldId id="456" r:id="rId97"/>
    <p:sldId id="457" r:id="rId98"/>
    <p:sldId id="458" r:id="rId99"/>
    <p:sldId id="534" r:id="rId100"/>
    <p:sldId id="535" r:id="rId101"/>
    <p:sldId id="270" r:id="rId102"/>
    <p:sldId id="531" r:id="rId103"/>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61" autoAdjust="0"/>
    <p:restoredTop sz="80982" autoAdjust="0"/>
  </p:normalViewPr>
  <p:slideViewPr>
    <p:cSldViewPr>
      <p:cViewPr varScale="1">
        <p:scale>
          <a:sx n="86" d="100"/>
          <a:sy n="86" d="100"/>
        </p:scale>
        <p:origin x="207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2532" y="-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1C6D6CB1-C28C-4AC0-9E57-7AED4F13BECC}" type="datetimeFigureOut">
              <a:rPr lang="zh-CN" altLang="en-US" smtClean="0"/>
              <a:pPr/>
              <a:t>2025/5/9</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A5E67A7B-7D8A-4E03-B174-B3300045038D}" type="slidenum">
              <a:rPr lang="zh-CN" altLang="en-US" smtClean="0"/>
              <a:pPr/>
              <a:t>‹#›</a:t>
            </a:fld>
            <a:endParaRPr lang="zh-CN" altLang="en-US"/>
          </a:p>
        </p:txBody>
      </p:sp>
    </p:spTree>
    <p:extLst>
      <p:ext uri="{BB962C8B-B14F-4D97-AF65-F5344CB8AC3E}">
        <p14:creationId xmlns:p14="http://schemas.microsoft.com/office/powerpoint/2010/main" val="182580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本地存储管理的任务主要包括了磁盘分区、逻辑卷管理和文件系统管理</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a:t>
            </a:fld>
            <a:endParaRPr lang="zh-CN" altLang="en-US"/>
          </a:p>
        </p:txBody>
      </p:sp>
    </p:spTree>
    <p:extLst>
      <p:ext uri="{BB962C8B-B14F-4D97-AF65-F5344CB8AC3E}">
        <p14:creationId xmlns:p14="http://schemas.microsoft.com/office/powerpoint/2010/main" val="677316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硬盘包含许许多多的圆形碟片、机械手臂、磁头与主轴马达组成，数据写在具有磁性物质的碟片上，读取主要通过机械手臂上的磁头完成，主轴马达让碟片转动，然后机械手臂可伸展让磁头在碟片是哪个进行读写的操作。</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a:t>
            </a:fld>
            <a:endParaRPr lang="zh-CN" altLang="en-US"/>
          </a:p>
        </p:txBody>
      </p:sp>
    </p:spTree>
    <p:extLst>
      <p:ext uri="{BB962C8B-B14F-4D97-AF65-F5344CB8AC3E}">
        <p14:creationId xmlns:p14="http://schemas.microsoft.com/office/powerpoint/2010/main" val="3688774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a:t>
            </a:fld>
            <a:endParaRPr lang="zh-CN" altLang="en-US"/>
          </a:p>
        </p:txBody>
      </p:sp>
    </p:spTree>
    <p:extLst>
      <p:ext uri="{BB962C8B-B14F-4D97-AF65-F5344CB8AC3E}">
        <p14:creationId xmlns:p14="http://schemas.microsoft.com/office/powerpoint/2010/main" val="1693773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a:t>
            </a:fld>
            <a:endParaRPr lang="zh-CN" altLang="en-US"/>
          </a:p>
        </p:txBody>
      </p:sp>
    </p:spTree>
    <p:extLst>
      <p:ext uri="{BB962C8B-B14F-4D97-AF65-F5344CB8AC3E}">
        <p14:creationId xmlns:p14="http://schemas.microsoft.com/office/powerpoint/2010/main" val="3406887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300" dirty="0"/>
              <a:t>磁盘与主板的连接接口有很多种类，传统磁盘接口包括</a:t>
            </a:r>
            <a:r>
              <a:rPr lang="en-US" altLang="zh-CN" sz="1300" dirty="0"/>
              <a:t>SATA</a:t>
            </a:r>
            <a:r>
              <a:rPr lang="zh-CN" altLang="en-US" sz="1300" dirty="0"/>
              <a:t>、</a:t>
            </a:r>
            <a:r>
              <a:rPr lang="en-US" altLang="zh-CN" sz="1300" dirty="0"/>
              <a:t>SAS</a:t>
            </a:r>
            <a:r>
              <a:rPr lang="zh-CN" altLang="en-US" sz="1300" dirty="0"/>
              <a:t>、</a:t>
            </a:r>
            <a:r>
              <a:rPr lang="en-US" altLang="zh-CN" sz="1300" dirty="0"/>
              <a:t>IDE</a:t>
            </a:r>
            <a:r>
              <a:rPr lang="zh-CN" altLang="en-US" sz="1300" dirty="0"/>
              <a:t>与</a:t>
            </a:r>
            <a:r>
              <a:rPr lang="en-US" altLang="zh-CN" sz="1300" dirty="0"/>
              <a:t>SCSI</a:t>
            </a:r>
            <a:r>
              <a:rPr lang="zh-CN" altLang="en-US" sz="1300" dirty="0"/>
              <a:t>。外接式磁盘接口还有</a:t>
            </a:r>
            <a:r>
              <a:rPr lang="en-US" altLang="zh-CN" sz="1300" dirty="0"/>
              <a:t>USB</a:t>
            </a:r>
            <a:r>
              <a:rPr lang="zh-CN" altLang="en-US" sz="1300" dirty="0"/>
              <a:t>、</a:t>
            </a:r>
            <a:r>
              <a:rPr lang="en-US" altLang="zh-CN" sz="1300" dirty="0" err="1"/>
              <a:t>eSATA</a:t>
            </a:r>
            <a:r>
              <a:rPr lang="zh-CN" altLang="en-US" sz="1300" dirty="0"/>
              <a:t>等，目前</a:t>
            </a:r>
            <a:endParaRPr lang="en-US" altLang="zh-CN" sz="1300" dirty="0"/>
          </a:p>
          <a:p>
            <a:endParaRPr lang="en-US" altLang="zh-CN" sz="1300" dirty="0"/>
          </a:p>
          <a:p>
            <a:r>
              <a:rPr lang="en-US" altLang="zh-CN" sz="1300" dirty="0"/>
              <a:t>FIBRE CHANNEL ARBITRATED LOOP (FC-AL)</a:t>
            </a:r>
          </a:p>
          <a:p>
            <a:r>
              <a:rPr lang="en-US" altLang="zh-CN" sz="1300" dirty="0"/>
              <a:t>SCSI</a:t>
            </a:r>
            <a:r>
              <a:rPr lang="zh-CN" altLang="en-US" sz="1300" dirty="0"/>
              <a:t>是</a:t>
            </a:r>
            <a:r>
              <a:rPr lang="en-US" altLang="zh-CN" sz="1300" dirty="0"/>
              <a:t>Small Computer System Interface(</a:t>
            </a:r>
            <a:r>
              <a:rPr lang="zh-CN" altLang="en-US" sz="1300" dirty="0"/>
              <a:t>小型计算机系统接口</a:t>
            </a:r>
            <a:r>
              <a:rPr lang="en-US" altLang="zh-CN" sz="1300" dirty="0"/>
              <a:t>)</a:t>
            </a:r>
          </a:p>
          <a:p>
            <a:r>
              <a:rPr lang="zh-CN" altLang="en-US" sz="1300" dirty="0"/>
              <a:t>串行</a:t>
            </a:r>
            <a:r>
              <a:rPr lang="en-US" altLang="zh-CN" sz="1300" dirty="0"/>
              <a:t>SCSI</a:t>
            </a:r>
            <a:r>
              <a:rPr lang="zh-CN" altLang="en-US" sz="1300" dirty="0"/>
              <a:t>（</a:t>
            </a:r>
            <a:r>
              <a:rPr lang="en-US" altLang="zh-CN" sz="1300" dirty="0"/>
              <a:t>SAS</a:t>
            </a:r>
            <a:r>
              <a:rPr lang="zh-CN" altLang="en-US" sz="1300" dirty="0"/>
              <a:t>：</a:t>
            </a:r>
            <a:r>
              <a:rPr lang="en-US" altLang="zh-CN" sz="1300" dirty="0"/>
              <a:t>Serial Attached SCSI</a:t>
            </a:r>
            <a:r>
              <a:rPr lang="zh-CN" altLang="en-US" sz="1300" dirty="0"/>
              <a:t>）</a:t>
            </a:r>
            <a:endParaRPr lang="en-US" altLang="zh-CN" sz="1300" dirty="0"/>
          </a:p>
          <a:p>
            <a:r>
              <a:rPr lang="en-US" altLang="zh-CN" sz="1300" dirty="0"/>
              <a:t>SATA</a:t>
            </a:r>
            <a:r>
              <a:rPr lang="zh-CN" altLang="en-US" sz="1300" dirty="0"/>
              <a:t>的全称是</a:t>
            </a:r>
            <a:r>
              <a:rPr lang="en-US" altLang="zh-CN" sz="1300" dirty="0"/>
              <a:t>Serial Advanced Technology Attachment </a:t>
            </a:r>
            <a:r>
              <a:rPr lang="zh-CN" altLang="en-US" sz="1300" dirty="0"/>
              <a:t>串口硬盘</a:t>
            </a:r>
            <a:endParaRPr lang="en-US" altLang="zh-CN" sz="1300" dirty="0"/>
          </a:p>
          <a:p>
            <a:r>
              <a:rPr lang="en-US" altLang="zh-CN" sz="1300" dirty="0"/>
              <a:t>PATA</a:t>
            </a:r>
            <a:r>
              <a:rPr lang="zh-CN" altLang="en-US" sz="1300" dirty="0"/>
              <a:t>的全称是</a:t>
            </a:r>
            <a:r>
              <a:rPr lang="en-US" altLang="zh-CN" sz="1300" dirty="0"/>
              <a:t>Parallel ATA</a:t>
            </a:r>
            <a:r>
              <a:rPr lang="zh-CN" altLang="en-US" sz="1300" dirty="0"/>
              <a:t>，就是并行</a:t>
            </a:r>
            <a:r>
              <a:rPr lang="en-US" altLang="zh-CN" sz="1300" dirty="0"/>
              <a:t>ATA</a:t>
            </a:r>
            <a:r>
              <a:rPr lang="zh-CN" altLang="en-US" sz="1300" dirty="0"/>
              <a:t>硬盘接口，</a:t>
            </a:r>
            <a:r>
              <a:rPr lang="en-US" altLang="zh-CN" sz="1300" dirty="0"/>
              <a:t>PATA</a:t>
            </a:r>
            <a:r>
              <a:rPr lang="zh-CN" altLang="en-US" sz="1300" dirty="0"/>
              <a:t>必须在数据线中一次传输</a:t>
            </a:r>
            <a:r>
              <a:rPr lang="en-US" altLang="zh-CN" sz="1300" dirty="0"/>
              <a:t>16</a:t>
            </a:r>
            <a:r>
              <a:rPr lang="zh-CN" altLang="en-US" sz="1300" dirty="0"/>
              <a:t>个信号，如果信号没有及时到达或是发生延迟，错误数据就会产生。</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a:t>
            </a:fld>
            <a:endParaRPr lang="zh-CN" altLang="en-US"/>
          </a:p>
        </p:txBody>
      </p:sp>
    </p:spTree>
    <p:extLst>
      <p:ext uri="{BB962C8B-B14F-4D97-AF65-F5344CB8AC3E}">
        <p14:creationId xmlns:p14="http://schemas.microsoft.com/office/powerpoint/2010/main" val="1355813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现在连接的</a:t>
            </a:r>
            <a:r>
              <a:rPr lang="en-US" altLang="zh-CN" dirty="0"/>
              <a:t>IDE</a:t>
            </a:r>
            <a:r>
              <a:rPr lang="zh-CN" altLang="en-US" dirty="0"/>
              <a:t>接口都已经被模拟为</a:t>
            </a:r>
            <a:r>
              <a:rPr lang="en-US" altLang="zh-CN" sz="1300" dirty="0">
                <a:solidFill>
                  <a:srgbClr val="C00000"/>
                </a:solidFill>
              </a:rPr>
              <a:t>/dev/</a:t>
            </a:r>
            <a:r>
              <a:rPr lang="en-US" altLang="zh-CN" sz="1300" dirty="0" err="1">
                <a:solidFill>
                  <a:srgbClr val="C00000"/>
                </a:solidFill>
              </a:rPr>
              <a:t>sd</a:t>
            </a:r>
            <a:r>
              <a:rPr lang="en-US" altLang="zh-CN" sz="1300" dirty="0">
                <a:solidFill>
                  <a:srgbClr val="C00000"/>
                </a:solidFill>
              </a:rPr>
              <a:t>[a-p]</a:t>
            </a:r>
            <a:r>
              <a:rPr lang="zh-CN" altLang="en-US" sz="1300" dirty="0">
                <a:solidFill>
                  <a:srgbClr val="C00000"/>
                </a:solidFill>
              </a:rPr>
              <a:t>，</a:t>
            </a:r>
            <a:r>
              <a:rPr lang="en-US" altLang="zh-CN" sz="1300" dirty="0">
                <a:solidFill>
                  <a:srgbClr val="C00000"/>
                </a:solidFill>
              </a:rPr>
              <a:t>SCSI/SATA/SAS/USB</a:t>
            </a:r>
            <a:r>
              <a:rPr lang="zh-CN" altLang="en-US" sz="1300" dirty="0">
                <a:solidFill>
                  <a:srgbClr val="C00000"/>
                </a:solidFill>
              </a:rPr>
              <a:t>磁盘驱动器支持统一种文件命名规则，没有固定的顺序，而是根据</a:t>
            </a:r>
            <a:r>
              <a:rPr lang="en-US" altLang="zh-CN" sz="1300" dirty="0">
                <a:solidFill>
                  <a:srgbClr val="C00000"/>
                </a:solidFill>
              </a:rPr>
              <a:t>Linux</a:t>
            </a:r>
            <a:r>
              <a:rPr lang="zh-CN" altLang="en-US" sz="1300" dirty="0">
                <a:solidFill>
                  <a:srgbClr val="C00000"/>
                </a:solidFill>
              </a:rPr>
              <a:t>内核检测到磁盘的顺序来命名设备文件名。</a:t>
            </a:r>
            <a:endParaRPr lang="zh-CN" altLang="en-US" sz="1300" dirty="0">
              <a:solidFill>
                <a:srgbClr val="C00000"/>
              </a:solidFill>
              <a:latin typeface="新细明体"/>
            </a:endParaRPr>
          </a:p>
          <a:p>
            <a:pPr defTabSz="990478">
              <a:defRPr/>
            </a:pPr>
            <a:endParaRPr lang="en-US" altLang="zh-CN" sz="1300" dirty="0">
              <a:solidFill>
                <a:srgbClr val="C00000"/>
              </a:solidFill>
              <a:latin typeface="新细明体"/>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a:t>
            </a:fld>
            <a:endParaRPr lang="zh-CN" altLang="en-US"/>
          </a:p>
        </p:txBody>
      </p:sp>
    </p:spTree>
    <p:extLst>
      <p:ext uri="{BB962C8B-B14F-4D97-AF65-F5344CB8AC3E}">
        <p14:creationId xmlns:p14="http://schemas.microsoft.com/office/powerpoint/2010/main" val="745351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现在连接的</a:t>
            </a:r>
            <a:r>
              <a:rPr lang="en-US" altLang="zh-CN" dirty="0"/>
              <a:t>IDE</a:t>
            </a:r>
            <a:r>
              <a:rPr lang="zh-CN" altLang="en-US" dirty="0"/>
              <a:t>接口都已经被模拟为</a:t>
            </a:r>
            <a:r>
              <a:rPr lang="en-US" altLang="zh-CN" sz="1300" dirty="0">
                <a:solidFill>
                  <a:srgbClr val="C00000"/>
                </a:solidFill>
              </a:rPr>
              <a:t>/dev/</a:t>
            </a:r>
            <a:r>
              <a:rPr lang="en-US" altLang="zh-CN" sz="1300" dirty="0" err="1">
                <a:solidFill>
                  <a:srgbClr val="C00000"/>
                </a:solidFill>
              </a:rPr>
              <a:t>sd</a:t>
            </a:r>
            <a:r>
              <a:rPr lang="en-US" altLang="zh-CN" sz="1300" dirty="0">
                <a:solidFill>
                  <a:srgbClr val="C00000"/>
                </a:solidFill>
              </a:rPr>
              <a:t>[a-p]</a:t>
            </a:r>
            <a:endParaRPr lang="en-US" altLang="zh-CN" sz="1300" dirty="0">
              <a:solidFill>
                <a:srgbClr val="C00000"/>
              </a:solidFill>
              <a:latin typeface="新细明体"/>
            </a:endParaRPr>
          </a:p>
          <a:p>
            <a:r>
              <a:rPr lang="en-US" altLang="zh-CN" sz="1200" dirty="0">
                <a:latin typeface="Tahoma" panose="020B0604030504040204" pitchFamily="34" charset="0"/>
              </a:rPr>
              <a:t>Primary </a:t>
            </a:r>
            <a:r>
              <a:rPr lang="zh-CN" altLang="en-US" sz="1200" dirty="0">
                <a:latin typeface="Tahoma" panose="020B0604030504040204" pitchFamily="34" charset="0"/>
              </a:rPr>
              <a:t>主要的</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a:t>
            </a:fld>
            <a:endParaRPr lang="zh-CN" altLang="en-US"/>
          </a:p>
        </p:txBody>
      </p:sp>
    </p:spTree>
    <p:extLst>
      <p:ext uri="{BB962C8B-B14F-4D97-AF65-F5344CB8AC3E}">
        <p14:creationId xmlns:p14="http://schemas.microsoft.com/office/powerpoint/2010/main" val="1287036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磁盘分区其实在</a:t>
            </a:r>
            <a:r>
              <a:rPr lang="en-US" altLang="zh-CN" dirty="0"/>
              <a:t>windows</a:t>
            </a:r>
            <a:r>
              <a:rPr lang="zh-CN" altLang="en-US" dirty="0"/>
              <a:t>操作系统里就是划分的</a:t>
            </a:r>
            <a:r>
              <a:rPr lang="en-US" altLang="zh-CN" dirty="0"/>
              <a:t>C</a:t>
            </a:r>
            <a:r>
              <a:rPr lang="zh-CN" altLang="en-US" dirty="0"/>
              <a:t>盘</a:t>
            </a:r>
            <a:r>
              <a:rPr lang="en-US" altLang="zh-CN" dirty="0"/>
              <a:t> D</a:t>
            </a:r>
            <a:r>
              <a:rPr lang="zh-CN" altLang="en-US" dirty="0"/>
              <a:t>盘等   </a:t>
            </a:r>
            <a:r>
              <a:rPr lang="en-US" altLang="zh-CN" b="0" dirty="0">
                <a:solidFill>
                  <a:srgbClr val="FF0000"/>
                </a:solidFill>
              </a:rPr>
              <a:t>MBR</a:t>
            </a:r>
            <a:r>
              <a:rPr lang="zh-CN" altLang="en-US" b="0" dirty="0"/>
              <a:t>（</a:t>
            </a:r>
            <a:r>
              <a:rPr lang="en-US" altLang="zh-CN" b="0" dirty="0"/>
              <a:t>Master Boot Record</a:t>
            </a:r>
            <a:r>
              <a:rPr lang="zh-CN" altLang="en-US" b="0" dirty="0"/>
              <a:t>）主引导记录</a:t>
            </a:r>
            <a:endParaRPr lang="en-US" altLang="zh-CN"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a:t>
            </a:fld>
            <a:endParaRPr lang="zh-CN" altLang="en-US"/>
          </a:p>
        </p:txBody>
      </p:sp>
    </p:spTree>
    <p:extLst>
      <p:ext uri="{BB962C8B-B14F-4D97-AF65-F5344CB8AC3E}">
        <p14:creationId xmlns:p14="http://schemas.microsoft.com/office/powerpoint/2010/main" val="3689040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MBR</a:t>
            </a:r>
            <a:r>
              <a:rPr lang="zh-CN" altLang="en-US" dirty="0"/>
              <a:t>分组表的组成包括了引导程序 硬盘分区表和最后两个字节的结束标志</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10</a:t>
            </a:fld>
            <a:endParaRPr lang="zh-CN" altLang="en-US"/>
          </a:p>
        </p:txBody>
      </p:sp>
    </p:spTree>
    <p:extLst>
      <p:ext uri="{BB962C8B-B14F-4D97-AF65-F5344CB8AC3E}">
        <p14:creationId xmlns:p14="http://schemas.microsoft.com/office/powerpoint/2010/main" val="3351267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逻辑分区的标号从</a:t>
            </a:r>
            <a:r>
              <a:rPr lang="en-US" altLang="zh-CN" dirty="0"/>
              <a:t>sda5</a:t>
            </a:r>
            <a:r>
              <a:rPr lang="zh-CN" altLang="en-US" dirty="0"/>
              <a:t>开始 </a:t>
            </a:r>
            <a:r>
              <a:rPr lang="en-US" altLang="zh-CN" dirty="0"/>
              <a:t>sda1-4</a:t>
            </a:r>
            <a:r>
              <a:rPr lang="zh-CN" altLang="en-US" dirty="0"/>
              <a:t>是留给主分区和扩展分区的</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12</a:t>
            </a:fld>
            <a:endParaRPr lang="zh-CN" altLang="en-US"/>
          </a:p>
        </p:txBody>
      </p:sp>
    </p:spTree>
    <p:extLst>
      <p:ext uri="{BB962C8B-B14F-4D97-AF65-F5344CB8AC3E}">
        <p14:creationId xmlns:p14="http://schemas.microsoft.com/office/powerpoint/2010/main" val="1751533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所谓的格式化是指在对应的分区上创建文件系统并进行挂装</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13</a:t>
            </a:fld>
            <a:endParaRPr lang="zh-CN" altLang="en-US"/>
          </a:p>
        </p:txBody>
      </p:sp>
    </p:spTree>
    <p:extLst>
      <p:ext uri="{BB962C8B-B14F-4D97-AF65-F5344CB8AC3E}">
        <p14:creationId xmlns:p14="http://schemas.microsoft.com/office/powerpoint/2010/main" val="2242341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MBR</a:t>
            </a:r>
            <a:r>
              <a:rPr lang="zh-CN" altLang="en-US" dirty="0"/>
              <a:t>分区表智能支持</a:t>
            </a:r>
            <a:r>
              <a:rPr lang="en-US" altLang="zh-CN" dirty="0"/>
              <a:t>2.2TB</a:t>
            </a:r>
            <a:r>
              <a:rPr lang="zh-CN" altLang="en-US" dirty="0"/>
              <a:t>以下的磁盘容量，但现在的单块磁盘已经远远大于</a:t>
            </a:r>
            <a:r>
              <a:rPr lang="en-US" altLang="zh-CN" dirty="0"/>
              <a:t>2TB</a:t>
            </a:r>
            <a:r>
              <a:rPr lang="zh-CN" altLang="en-US" dirty="0"/>
              <a:t>。所以逐渐出现了</a:t>
            </a:r>
            <a:r>
              <a:rPr lang="en-US" altLang="zh-CN" dirty="0"/>
              <a:t>GPT</a:t>
            </a:r>
            <a:r>
              <a:rPr lang="zh-CN" altLang="en-US" dirty="0"/>
              <a:t>的磁盘分区格式。 </a:t>
            </a:r>
            <a:r>
              <a:rPr lang="en-US" altLang="zh-CN" dirty="0"/>
              <a:t>GPT</a:t>
            </a:r>
            <a:r>
              <a:rPr lang="zh-CN" altLang="en-US" dirty="0"/>
              <a:t>分区表共划分了</a:t>
            </a:r>
            <a:r>
              <a:rPr lang="en-US" altLang="zh-CN" dirty="0"/>
              <a:t>69</a:t>
            </a:r>
            <a:r>
              <a:rPr lang="zh-CN" altLang="en-US" dirty="0"/>
              <a:t>个逻辑块</a:t>
            </a:r>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14</a:t>
            </a:fld>
            <a:endParaRPr lang="zh-CN" altLang="en-US"/>
          </a:p>
        </p:txBody>
      </p:sp>
    </p:spTree>
    <p:extLst>
      <p:ext uri="{BB962C8B-B14F-4D97-AF65-F5344CB8AC3E}">
        <p14:creationId xmlns:p14="http://schemas.microsoft.com/office/powerpoint/2010/main" val="3797714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鸟哥</a:t>
            </a:r>
            <a:r>
              <a:rPr lang="en-US" altLang="zh-CN" dirty="0"/>
              <a:t>Linux P74</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15</a:t>
            </a:fld>
            <a:endParaRPr lang="zh-CN" altLang="en-US"/>
          </a:p>
        </p:txBody>
      </p:sp>
    </p:spTree>
    <p:extLst>
      <p:ext uri="{BB962C8B-B14F-4D97-AF65-F5344CB8AC3E}">
        <p14:creationId xmlns:p14="http://schemas.microsoft.com/office/powerpoint/2010/main" val="4174089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r>
              <a:rPr lang="en-US" altLang="zh-CN" baseline="0" dirty="0"/>
              <a:t>P90-93</a:t>
            </a:r>
            <a:r>
              <a:rPr lang="zh-CN" altLang="en-US" baseline="0" dirty="0"/>
              <a:t>的</a:t>
            </a:r>
            <a:r>
              <a:rPr lang="en-US" altLang="zh-CN" sz="1200" dirty="0" err="1"/>
              <a:t>partprobe</a:t>
            </a:r>
            <a:r>
              <a:rPr lang="zh-CN" altLang="en-US" sz="1200" dirty="0"/>
              <a:t>命令慎重使用 </a:t>
            </a:r>
            <a:r>
              <a:rPr lang="en-US" altLang="zh-CN" dirty="0"/>
              <a:t>parted</a:t>
            </a:r>
            <a:r>
              <a:rPr lang="zh-CN" altLang="en-US" dirty="0"/>
              <a:t>创建</a:t>
            </a:r>
            <a:r>
              <a:rPr lang="en-US" altLang="zh-CN" dirty="0"/>
              <a:t>GPT</a:t>
            </a:r>
            <a:r>
              <a:rPr lang="zh-CN" altLang="en-US" dirty="0"/>
              <a:t>分区 </a:t>
            </a:r>
            <a:r>
              <a:rPr lang="en-US" altLang="zh-CN" dirty="0"/>
              <a:t>:</a:t>
            </a:r>
            <a:r>
              <a:rPr lang="en-US" altLang="zh-CN" baseline="0" dirty="0"/>
              <a:t> http://apps.hi.baidu.com/share/detail/44476376</a:t>
            </a:r>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17</a:t>
            </a:fld>
            <a:endParaRPr lang="zh-CN" altLang="en-US"/>
          </a:p>
        </p:txBody>
      </p:sp>
    </p:spTree>
    <p:extLst>
      <p:ext uri="{BB962C8B-B14F-4D97-AF65-F5344CB8AC3E}">
        <p14:creationId xmlns:p14="http://schemas.microsoft.com/office/powerpoint/2010/main" val="2808695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a:t>
            </a:r>
            <a:r>
              <a:rPr lang="zh-CN" altLang="en-US" dirty="0"/>
              <a:t>重点记住，他可以列出所有命令 </a:t>
            </a:r>
            <a:r>
              <a:rPr lang="en-US" altLang="zh-CN" dirty="0"/>
              <a:t>d</a:t>
            </a:r>
            <a:r>
              <a:rPr lang="zh-CN" altLang="en-US" dirty="0"/>
              <a:t>命令是删除分区，输入</a:t>
            </a:r>
            <a:r>
              <a:rPr lang="en-US" altLang="zh-CN" dirty="0"/>
              <a:t>d</a:t>
            </a:r>
            <a:r>
              <a:rPr lang="zh-CN" altLang="en-US" dirty="0"/>
              <a:t>命令会提示你删除哪个分区，并且会告诉你默认他会删除哪个分区，这时候你就可以通过输入 来取指定删除第几个分区 </a:t>
            </a:r>
            <a:r>
              <a:rPr lang="en-US" altLang="zh-CN" dirty="0"/>
              <a:t>l</a:t>
            </a:r>
            <a:r>
              <a:rPr lang="zh-CN" altLang="en-US" sz="1200" dirty="0"/>
              <a:t>列出所有支持的分区类型 分区的类型就有</a:t>
            </a:r>
            <a:r>
              <a:rPr lang="en-US" altLang="zh-CN" sz="1200" dirty="0"/>
              <a:t>8e </a:t>
            </a:r>
            <a:r>
              <a:rPr lang="en-US" altLang="zh-CN" sz="1200" dirty="0" err="1"/>
              <a:t>lvm</a:t>
            </a:r>
            <a:r>
              <a:rPr lang="zh-CN" altLang="en-US" sz="1200" dirty="0"/>
              <a:t>等等 在逻辑卷管理部分就会涉及到需要对分区类型进行修改</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18</a:t>
            </a:fld>
            <a:endParaRPr lang="zh-CN" altLang="en-US"/>
          </a:p>
        </p:txBody>
      </p:sp>
    </p:spTree>
    <p:extLst>
      <p:ext uri="{BB962C8B-B14F-4D97-AF65-F5344CB8AC3E}">
        <p14:creationId xmlns:p14="http://schemas.microsoft.com/office/powerpoint/2010/main" val="2112646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P90-93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19</a:t>
            </a:fld>
            <a:endParaRPr lang="zh-CN" altLang="en-US"/>
          </a:p>
        </p:txBody>
      </p:sp>
    </p:spTree>
    <p:extLst>
      <p:ext uri="{BB962C8B-B14F-4D97-AF65-F5344CB8AC3E}">
        <p14:creationId xmlns:p14="http://schemas.microsoft.com/office/powerpoint/2010/main" val="189813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Parted</a:t>
            </a:r>
            <a:r>
              <a:rPr lang="zh-CN" altLang="en-US" dirty="0"/>
              <a:t>工具支持</a:t>
            </a:r>
            <a:r>
              <a:rPr lang="en-US" altLang="zh-CN" dirty="0"/>
              <a:t>MBR</a:t>
            </a:r>
            <a:r>
              <a:rPr lang="zh-CN" altLang="en-US" dirty="0"/>
              <a:t>和</a:t>
            </a:r>
            <a:r>
              <a:rPr lang="en-US" altLang="zh-CN" dirty="0"/>
              <a:t>GPT</a:t>
            </a:r>
            <a:r>
              <a:rPr lang="zh-CN" altLang="en-US" dirty="0"/>
              <a:t>两种格式  </a:t>
            </a:r>
            <a:r>
              <a:rPr lang="en-US" altLang="zh-CN" sz="1200" dirty="0">
                <a:solidFill>
                  <a:schemeClr val="accent6">
                    <a:lumMod val="75000"/>
                  </a:schemeClr>
                </a:solidFill>
              </a:rPr>
              <a:t># parted /dev/</a:t>
            </a:r>
            <a:r>
              <a:rPr lang="en-US" altLang="zh-CN" sz="1200" dirty="0" err="1">
                <a:solidFill>
                  <a:schemeClr val="accent6">
                    <a:lumMod val="75000"/>
                  </a:schemeClr>
                </a:solidFill>
              </a:rPr>
              <a:t>sda</a:t>
            </a:r>
            <a:r>
              <a:rPr lang="zh-CN" altLang="en-US" sz="1200" dirty="0">
                <a:solidFill>
                  <a:schemeClr val="accent6">
                    <a:lumMod val="75000"/>
                  </a:schemeClr>
                </a:solidFill>
              </a:rPr>
              <a:t> </a:t>
            </a:r>
            <a:r>
              <a:rPr lang="en-US" altLang="zh-CN" sz="1200" dirty="0">
                <a:solidFill>
                  <a:schemeClr val="accent6">
                    <a:lumMod val="75000"/>
                  </a:schemeClr>
                </a:solidFill>
              </a:rPr>
              <a:t>print </a:t>
            </a:r>
            <a:r>
              <a:rPr lang="zh-CN" altLang="en-US" sz="1200" dirty="0">
                <a:solidFill>
                  <a:schemeClr val="accent6">
                    <a:lumMod val="75000"/>
                  </a:schemeClr>
                </a:solidFill>
              </a:rPr>
              <a:t>就可以显示分区表来看一看怎么进行的分区</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20</a:t>
            </a:fld>
            <a:endParaRPr lang="zh-CN" altLang="en-US"/>
          </a:p>
        </p:txBody>
      </p:sp>
    </p:spTree>
    <p:extLst>
      <p:ext uri="{BB962C8B-B14F-4D97-AF65-F5344CB8AC3E}">
        <p14:creationId xmlns:p14="http://schemas.microsoft.com/office/powerpoint/2010/main" val="13001394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Lsblk</a:t>
            </a:r>
            <a:r>
              <a:rPr lang="zh-CN" altLang="en-US" dirty="0"/>
              <a:t>查询系统目前支持的块设备</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21</a:t>
            </a:fld>
            <a:endParaRPr lang="zh-CN" altLang="en-US"/>
          </a:p>
        </p:txBody>
      </p:sp>
    </p:spTree>
    <p:extLst>
      <p:ext uri="{BB962C8B-B14F-4D97-AF65-F5344CB8AC3E}">
        <p14:creationId xmlns:p14="http://schemas.microsoft.com/office/powerpoint/2010/main" val="428423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22</a:t>
            </a:fld>
            <a:endParaRPr lang="zh-CN" altLang="en-US"/>
          </a:p>
        </p:txBody>
      </p:sp>
    </p:spTree>
    <p:extLst>
      <p:ext uri="{BB962C8B-B14F-4D97-AF65-F5344CB8AC3E}">
        <p14:creationId xmlns:p14="http://schemas.microsoft.com/office/powerpoint/2010/main" val="174451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是否可以弹性的管理文件系统的容量？我们给大家介绍</a:t>
            </a:r>
            <a:r>
              <a:rPr lang="en-US" altLang="zh-CN" dirty="0"/>
              <a:t>LVM</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23</a:t>
            </a:fld>
            <a:endParaRPr lang="zh-CN" altLang="en-US"/>
          </a:p>
        </p:txBody>
      </p:sp>
    </p:spTree>
    <p:extLst>
      <p:ext uri="{BB962C8B-B14F-4D97-AF65-F5344CB8AC3E}">
        <p14:creationId xmlns:p14="http://schemas.microsoft.com/office/powerpoint/2010/main" val="3323171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24</a:t>
            </a:fld>
            <a:endParaRPr lang="zh-CN" altLang="en-US"/>
          </a:p>
        </p:txBody>
      </p:sp>
    </p:spTree>
    <p:extLst>
      <p:ext uri="{BB962C8B-B14F-4D97-AF65-F5344CB8AC3E}">
        <p14:creationId xmlns:p14="http://schemas.microsoft.com/office/powerpoint/2010/main" val="3469122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Calibri" pitchFamily="34" charset="0"/>
                <a:ea typeface="宋体" pitchFamily="2" charset="-122"/>
              </a:rPr>
              <a:t>将</a:t>
            </a:r>
            <a:r>
              <a:rPr lang="en-US" altLang="zh-CN" sz="1200" dirty="0">
                <a:latin typeface="Calibri" pitchFamily="34" charset="0"/>
                <a:ea typeface="宋体" pitchFamily="2" charset="-122"/>
              </a:rPr>
              <a:t>system ID</a:t>
            </a:r>
            <a:r>
              <a:rPr lang="zh-CN" altLang="en-US" sz="1200" dirty="0">
                <a:latin typeface="Calibri" pitchFamily="34" charset="0"/>
                <a:ea typeface="宋体" pitchFamily="2" charset="-122"/>
              </a:rPr>
              <a:t>改为</a:t>
            </a:r>
            <a:r>
              <a:rPr lang="en-US" altLang="zh-CN" sz="1200" dirty="0">
                <a:latin typeface="Calibri" pitchFamily="34" charset="0"/>
                <a:ea typeface="宋体" pitchFamily="2" charset="-122"/>
              </a:rPr>
              <a:t>8e </a:t>
            </a:r>
            <a:r>
              <a:rPr lang="zh-CN" altLang="en-US" sz="1200" dirty="0">
                <a:latin typeface="Calibri" pitchFamily="34" charset="0"/>
                <a:ea typeface="宋体" pitchFamily="2" charset="-122"/>
              </a:rPr>
              <a:t>就是我们前面提到的，要查询分区的类型 并且对分区类型进行一个转换， </a:t>
            </a:r>
            <a:r>
              <a:rPr lang="en-US" altLang="zh-CN" sz="1200" dirty="0">
                <a:latin typeface="Calibri" pitchFamily="34" charset="0"/>
                <a:ea typeface="宋体" pitchFamily="2" charset="-122"/>
              </a:rPr>
              <a:t>l</a:t>
            </a:r>
            <a:r>
              <a:rPr lang="zh-CN" altLang="en-US" sz="1200" dirty="0">
                <a:latin typeface="Calibri" pitchFamily="34" charset="0"/>
                <a:ea typeface="宋体" pitchFamily="2" charset="-122"/>
              </a:rPr>
              <a:t>命令查 </a:t>
            </a:r>
            <a:r>
              <a:rPr lang="en-US" altLang="zh-CN" sz="1200" dirty="0">
                <a:latin typeface="Calibri" pitchFamily="34" charset="0"/>
                <a:ea typeface="宋体" pitchFamily="2" charset="-122"/>
              </a:rPr>
              <a:t>t</a:t>
            </a:r>
            <a:r>
              <a:rPr lang="zh-CN" altLang="en-US" sz="1200" dirty="0">
                <a:latin typeface="Calibri" pitchFamily="34" charset="0"/>
                <a:ea typeface="宋体" pitchFamily="2" charset="-122"/>
              </a:rPr>
              <a:t>命令去转换分区类型</a:t>
            </a:r>
            <a:endParaRPr lang="en-US" altLang="zh-CN" sz="1200" dirty="0">
              <a:latin typeface="Calibri" pitchFamily="34" charset="0"/>
              <a:ea typeface="宋体" pitchFamily="2" charset="-122"/>
            </a:endParaRPr>
          </a:p>
          <a:p>
            <a:r>
              <a:rPr lang="en-US" altLang="zh-CN" dirty="0"/>
              <a:t>PV </a:t>
            </a:r>
            <a:r>
              <a:rPr lang="zh-CN" altLang="en-US" dirty="0"/>
              <a:t>物理卷 </a:t>
            </a:r>
            <a:r>
              <a:rPr lang="en-US" altLang="zh-CN" dirty="0"/>
              <a:t>VG </a:t>
            </a:r>
            <a:r>
              <a:rPr lang="zh-CN" altLang="en-US" dirty="0"/>
              <a:t>卷组 </a:t>
            </a:r>
            <a:r>
              <a:rPr lang="en-US" altLang="zh-CN" dirty="0"/>
              <a:t>LV </a:t>
            </a:r>
            <a:r>
              <a:rPr lang="zh-CN" altLang="en-US" dirty="0"/>
              <a:t>逻辑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物理分区阶段：将实际分区的系统标识符调整为</a:t>
            </a:r>
            <a:r>
              <a:rPr lang="en-US" altLang="zh-CN" dirty="0"/>
              <a:t>LVM</a:t>
            </a:r>
            <a:r>
              <a:rPr lang="zh-CN" altLang="en-US" dirty="0"/>
              <a:t>的标识符，</a:t>
            </a:r>
            <a:r>
              <a:rPr lang="en-US" altLang="zh-CN" dirty="0"/>
              <a:t>PV</a:t>
            </a:r>
            <a:r>
              <a:rPr lang="zh-CN" altLang="en-US" dirty="0"/>
              <a:t>阶段使用 </a:t>
            </a:r>
            <a:r>
              <a:rPr lang="en-US" altLang="zh-CN" dirty="0" err="1"/>
              <a:t>pvcreate</a:t>
            </a:r>
            <a:r>
              <a:rPr lang="zh-CN" altLang="en-US" dirty="0"/>
              <a:t>工具转换成</a:t>
            </a:r>
            <a:r>
              <a:rPr lang="en-US" altLang="zh-CN" dirty="0"/>
              <a:t>LVM</a:t>
            </a:r>
            <a:r>
              <a:rPr lang="zh-CN" altLang="en-US" dirty="0"/>
              <a:t>最底层的物理卷</a:t>
            </a:r>
            <a:r>
              <a:rPr lang="en-US" altLang="zh-CN" dirty="0"/>
              <a:t>PV</a:t>
            </a:r>
            <a:r>
              <a:rPr lang="zh-CN" altLang="en-US" dirty="0"/>
              <a:t>，然后才能对</a:t>
            </a:r>
            <a:r>
              <a:rPr lang="en-US" altLang="zh-CN" dirty="0"/>
              <a:t>PV</a:t>
            </a:r>
            <a:r>
              <a:rPr lang="zh-CN" altLang="en-US" dirty="0"/>
              <a:t>加以利用。</a:t>
            </a:r>
            <a:r>
              <a:rPr lang="en-US" altLang="zh-CN" dirty="0"/>
              <a:t>VG</a:t>
            </a:r>
            <a:r>
              <a:rPr lang="zh-CN" altLang="en-US" dirty="0"/>
              <a:t>阶段是将多个</a:t>
            </a:r>
            <a:r>
              <a:rPr lang="en-US" altLang="zh-CN" dirty="0"/>
              <a:t>PV</a:t>
            </a:r>
            <a:r>
              <a:rPr lang="zh-CN" altLang="en-US" dirty="0"/>
              <a:t>合成卷组</a:t>
            </a:r>
            <a:r>
              <a:rPr lang="en-US" altLang="zh-CN" dirty="0"/>
              <a:t>VG</a:t>
            </a:r>
            <a:r>
              <a:rPr lang="zh-CN" altLang="en-US" dirty="0"/>
              <a:t>，</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26</a:t>
            </a:fld>
            <a:endParaRPr lang="zh-CN" altLang="en-US"/>
          </a:p>
        </p:txBody>
      </p:sp>
    </p:spTree>
    <p:extLst>
      <p:ext uri="{BB962C8B-B14F-4D97-AF65-F5344CB8AC3E}">
        <p14:creationId xmlns:p14="http://schemas.microsoft.com/office/powerpoint/2010/main" val="1332080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类似扇区一样。</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28</a:t>
            </a:fld>
            <a:endParaRPr lang="zh-CN" altLang="en-US"/>
          </a:p>
        </p:txBody>
      </p:sp>
    </p:spTree>
    <p:extLst>
      <p:ext uri="{BB962C8B-B14F-4D97-AF65-F5344CB8AC3E}">
        <p14:creationId xmlns:p14="http://schemas.microsoft.com/office/powerpoint/2010/main" val="3579230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卷组描述符区域 </a:t>
            </a:r>
            <a:r>
              <a:rPr lang="en-US" altLang="zh-CN" dirty="0"/>
              <a:t>(Volume Group Descriptor Area, </a:t>
            </a:r>
            <a:r>
              <a:rPr lang="en-US" altLang="zh-CN" dirty="0">
                <a:solidFill>
                  <a:srgbClr val="FF0000"/>
                </a:solidFill>
              </a:rPr>
              <a:t>VGDA</a:t>
            </a:r>
            <a:r>
              <a:rPr lang="en-US" altLang="zh-CN" dirty="0"/>
              <a:t>)</a:t>
            </a:r>
            <a:r>
              <a:rPr lang="zh-CN" altLang="en-US" dirty="0"/>
              <a:t>中</a:t>
            </a:r>
            <a:r>
              <a:rPr lang="en-US" altLang="zh-CN" dirty="0"/>
              <a:t>——</a:t>
            </a:r>
            <a:r>
              <a:rPr lang="zh-CN" altLang="en-US" dirty="0">
                <a:solidFill>
                  <a:srgbClr val="FF0000"/>
                </a:solidFill>
              </a:rPr>
              <a:t>类似</a:t>
            </a:r>
            <a:r>
              <a:rPr lang="en-US" altLang="zh-CN" dirty="0">
                <a:solidFill>
                  <a:srgbClr val="FF0000"/>
                </a:solidFill>
              </a:rPr>
              <a:t>MBR</a:t>
            </a:r>
            <a:r>
              <a:rPr lang="zh-CN" altLang="en-US" dirty="0">
                <a:solidFill>
                  <a:srgbClr val="FF0000"/>
                </a:solidFill>
              </a:rPr>
              <a:t>等</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32</a:t>
            </a:fld>
            <a:endParaRPr lang="zh-CN" altLang="en-US"/>
          </a:p>
        </p:txBody>
      </p:sp>
    </p:spTree>
    <p:extLst>
      <p:ext uri="{BB962C8B-B14F-4D97-AF65-F5344CB8AC3E}">
        <p14:creationId xmlns:p14="http://schemas.microsoft.com/office/powerpoint/2010/main" val="2494670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物理卷和分区之间存在着一 一对应的关系，所以可以看到他们之间的设备名也是相似的。</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36</a:t>
            </a:fld>
            <a:endParaRPr lang="zh-CN" altLang="en-US"/>
          </a:p>
        </p:txBody>
      </p:sp>
    </p:spTree>
    <p:extLst>
      <p:ext uri="{BB962C8B-B14F-4D97-AF65-F5344CB8AC3E}">
        <p14:creationId xmlns:p14="http://schemas.microsoft.com/office/powerpoint/2010/main" val="2712235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37</a:t>
            </a:fld>
            <a:endParaRPr lang="zh-CN" altLang="en-US"/>
          </a:p>
        </p:txBody>
      </p:sp>
    </p:spTree>
    <p:extLst>
      <p:ext uri="{BB962C8B-B14F-4D97-AF65-F5344CB8AC3E}">
        <p14:creationId xmlns:p14="http://schemas.microsoft.com/office/powerpoint/2010/main" val="4271389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P96   </a:t>
            </a:r>
            <a:r>
              <a:rPr lang="en-US" altLang="zh-CN" dirty="0" err="1">
                <a:solidFill>
                  <a:schemeClr val="accent6">
                    <a:lumMod val="75000"/>
                  </a:schemeClr>
                </a:solidFill>
              </a:rPr>
              <a:t>lvcreate</a:t>
            </a:r>
            <a:r>
              <a:rPr lang="en-US" altLang="zh-CN" dirty="0">
                <a:solidFill>
                  <a:schemeClr val="accent6">
                    <a:lumMod val="75000"/>
                  </a:schemeClr>
                </a:solidFill>
              </a:rPr>
              <a:t> &lt;-L </a:t>
            </a:r>
            <a:r>
              <a:rPr lang="zh-CN" altLang="en-US" dirty="0">
                <a:solidFill>
                  <a:schemeClr val="accent6">
                    <a:lumMod val="75000"/>
                  </a:schemeClr>
                </a:solidFill>
              </a:rPr>
              <a:t>逻辑卷大小</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 </a:t>
            </a:r>
            <a:r>
              <a:rPr lang="zh-CN" altLang="en-US" dirty="0">
                <a:solidFill>
                  <a:schemeClr val="accent6">
                    <a:lumMod val="75000"/>
                  </a:schemeClr>
                </a:solidFill>
              </a:rPr>
              <a:t>直接指定逻辑卷的大小  </a:t>
            </a:r>
            <a:r>
              <a:rPr lang="en-US" altLang="zh-CN" dirty="0" err="1">
                <a:solidFill>
                  <a:schemeClr val="accent6">
                    <a:lumMod val="75000"/>
                  </a:schemeClr>
                </a:solidFill>
              </a:rPr>
              <a:t>lvcreate</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r>
              <a:rPr lang="zh-CN" altLang="en-US" dirty="0">
                <a:solidFill>
                  <a:schemeClr val="accent6">
                    <a:lumMod val="75000"/>
                  </a:schemeClr>
                </a:solidFill>
              </a:rPr>
              <a:t>通过</a:t>
            </a:r>
            <a:r>
              <a:rPr lang="en-US" altLang="zh-CN" dirty="0">
                <a:solidFill>
                  <a:schemeClr val="accent6">
                    <a:lumMod val="75000"/>
                  </a:schemeClr>
                </a:solidFill>
              </a:rPr>
              <a:t>PE</a:t>
            </a:r>
            <a:r>
              <a:rPr lang="zh-CN" altLang="en-US" dirty="0">
                <a:solidFill>
                  <a:schemeClr val="accent6">
                    <a:lumMod val="75000"/>
                  </a:schemeClr>
                </a:solidFill>
              </a:rPr>
              <a:t>的个数来指定逻辑卷的大小，这里呢 需要经过一个换算的步骤 并且</a:t>
            </a:r>
            <a:r>
              <a:rPr lang="en-US" altLang="zh-CN" dirty="0">
                <a:solidFill>
                  <a:schemeClr val="accent6">
                    <a:lumMod val="75000"/>
                  </a:schemeClr>
                </a:solidFill>
              </a:rPr>
              <a:t>PE</a:t>
            </a:r>
            <a:r>
              <a:rPr lang="zh-CN" altLang="en-US" dirty="0">
                <a:solidFill>
                  <a:schemeClr val="accent6">
                    <a:lumMod val="75000"/>
                  </a:schemeClr>
                </a:solidFill>
              </a:rPr>
              <a:t>的大小有可能修改过 所以换算过程相对复杂，我们多采用指定逻辑卷大小的方式来进行逻辑卷的创建。</a:t>
            </a:r>
            <a:endParaRPr lang="en-US" altLang="zh-CN" dirty="0">
              <a:solidFill>
                <a:schemeClr val="accent6">
                  <a:lumMod val="75000"/>
                </a:schemeClr>
              </a:solidFill>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38</a:t>
            </a:fld>
            <a:endParaRPr lang="zh-CN" altLang="en-US"/>
          </a:p>
        </p:txBody>
      </p:sp>
    </p:spTree>
    <p:extLst>
      <p:ext uri="{BB962C8B-B14F-4D97-AF65-F5344CB8AC3E}">
        <p14:creationId xmlns:p14="http://schemas.microsoft.com/office/powerpoint/2010/main" val="31344786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chemeClr val="accent6">
                    <a:lumMod val="75000"/>
                  </a:schemeClr>
                </a:solidFill>
              </a:rPr>
              <a:t>逻辑卷创建的格式 </a:t>
            </a:r>
            <a:r>
              <a:rPr lang="en-US" altLang="zh-CN" dirty="0" err="1">
                <a:solidFill>
                  <a:schemeClr val="accent6">
                    <a:lumMod val="75000"/>
                  </a:schemeClr>
                </a:solidFill>
              </a:rPr>
              <a:t>lvcreate</a:t>
            </a:r>
            <a:r>
              <a:rPr lang="en-US" altLang="zh-CN" dirty="0">
                <a:solidFill>
                  <a:schemeClr val="accent6">
                    <a:lumMod val="75000"/>
                  </a:schemeClr>
                </a:solidFill>
              </a:rPr>
              <a:t> &lt;-L </a:t>
            </a:r>
            <a:r>
              <a:rPr lang="zh-CN" altLang="en-US" dirty="0">
                <a:solidFill>
                  <a:schemeClr val="accent6">
                    <a:lumMod val="75000"/>
                  </a:schemeClr>
                </a:solidFill>
              </a:rPr>
              <a:t>逻辑卷大小</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39</a:t>
            </a:fld>
            <a:endParaRPr lang="zh-CN" altLang="en-US"/>
          </a:p>
        </p:txBody>
      </p:sp>
    </p:spTree>
    <p:extLst>
      <p:ext uri="{BB962C8B-B14F-4D97-AF65-F5344CB8AC3E}">
        <p14:creationId xmlns:p14="http://schemas.microsoft.com/office/powerpoint/2010/main" val="14347072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t>
            </a:r>
            <a:r>
              <a:rPr lang="zh-CN" altLang="en-US" dirty="0"/>
              <a:t>后可以直接跟容量的单位，</a:t>
            </a:r>
            <a:r>
              <a:rPr lang="en-US" altLang="zh-CN" dirty="0"/>
              <a:t>M,G,T</a:t>
            </a:r>
            <a:r>
              <a:rPr lang="zh-CN" altLang="en-US" dirty="0"/>
              <a:t>等，</a:t>
            </a:r>
            <a:r>
              <a:rPr lang="en-US" altLang="zh-CN" dirty="0"/>
              <a:t>-l</a:t>
            </a:r>
            <a:r>
              <a:rPr lang="zh-CN" altLang="en-US" dirty="0"/>
              <a:t>后跟的是</a:t>
            </a:r>
            <a:r>
              <a:rPr lang="en-US" altLang="zh-CN" dirty="0"/>
              <a:t>PE</a:t>
            </a:r>
            <a:r>
              <a:rPr lang="zh-CN" altLang="en-US" dirty="0"/>
              <a:t>的个数 </a:t>
            </a:r>
            <a:r>
              <a:rPr lang="en-US" altLang="zh-CN" dirty="0">
                <a:solidFill>
                  <a:schemeClr val="accent6">
                    <a:lumMod val="75000"/>
                  </a:schemeClr>
                </a:solidFill>
              </a:rPr>
              <a:t>resize2fs </a:t>
            </a:r>
            <a:r>
              <a:rPr lang="zh-CN" altLang="en-US" dirty="0">
                <a:solidFill>
                  <a:schemeClr val="accent6">
                    <a:lumMod val="75000"/>
                  </a:schemeClr>
                </a:solidFill>
              </a:rPr>
              <a:t>命令只支持</a:t>
            </a:r>
            <a:r>
              <a:rPr lang="en-US" altLang="zh-CN" dirty="0" err="1">
                <a:solidFill>
                  <a:schemeClr val="accent6">
                    <a:lumMod val="75000"/>
                  </a:schemeClr>
                </a:solidFill>
              </a:rPr>
              <a:t>ext</a:t>
            </a:r>
            <a:r>
              <a:rPr lang="zh-CN" altLang="en-US" dirty="0">
                <a:solidFill>
                  <a:schemeClr val="accent6">
                    <a:lumMod val="75000"/>
                  </a:schemeClr>
                </a:solidFill>
              </a:rPr>
              <a:t>的文件系统 不支持</a:t>
            </a:r>
            <a:r>
              <a:rPr lang="en-US" altLang="zh-CN" dirty="0" err="1">
                <a:solidFill>
                  <a:schemeClr val="accent6">
                    <a:lumMod val="75000"/>
                  </a:schemeClr>
                </a:solidFill>
              </a:rPr>
              <a:t>xfs</a:t>
            </a:r>
            <a:r>
              <a:rPr lang="zh-CN" altLang="en-US" dirty="0">
                <a:solidFill>
                  <a:schemeClr val="accent6">
                    <a:lumMod val="75000"/>
                  </a:schemeClr>
                </a:solidFill>
              </a:rPr>
              <a:t>的文件系统</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41</a:t>
            </a:fld>
            <a:endParaRPr lang="zh-CN" altLang="en-US"/>
          </a:p>
        </p:txBody>
      </p:sp>
    </p:spTree>
    <p:extLst>
      <p:ext uri="{BB962C8B-B14F-4D97-AF65-F5344CB8AC3E}">
        <p14:creationId xmlns:p14="http://schemas.microsoft.com/office/powerpoint/2010/main" val="3114338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缩减逻辑卷的步骤，如果逻辑卷上已经挂装了文件系统，那么你直接把逻辑卷减掉的话会导致出错。所以对于已经进行文件系统挂装的逻辑卷进行缩减，首先要对文件系统级进行卸载，也就是进行挂装的逆运算。</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43</a:t>
            </a:fld>
            <a:endParaRPr lang="zh-CN" altLang="en-US"/>
          </a:p>
        </p:txBody>
      </p:sp>
    </p:spTree>
    <p:extLst>
      <p:ext uri="{BB962C8B-B14F-4D97-AF65-F5344CB8AC3E}">
        <p14:creationId xmlns:p14="http://schemas.microsoft.com/office/powerpoint/2010/main" val="23432487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dirty="0"/>
              <a:t>是否可以弹性的管理文件系统的容量？我们给大家介绍</a:t>
            </a:r>
            <a:r>
              <a:rPr lang="en-US" altLang="zh-CN" dirty="0"/>
              <a:t>LVM </a:t>
            </a:r>
            <a:r>
              <a:rPr lang="zh-CN" altLang="en-US" dirty="0"/>
              <a:t>磁盘限额的作用是当系统上有多个用户的情况下我如何限制每个用户对于磁盘的使用</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46</a:t>
            </a:fld>
            <a:endParaRPr lang="zh-CN" altLang="en-US"/>
          </a:p>
        </p:txBody>
      </p:sp>
    </p:spTree>
    <p:extLst>
      <p:ext uri="{BB962C8B-B14F-4D97-AF65-F5344CB8AC3E}">
        <p14:creationId xmlns:p14="http://schemas.microsoft.com/office/powerpoint/2010/main" val="6426541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传统的磁盘与文件系统的应用中，一个分区就只能够被格式化成为一个文件系统，所以我们可以说一个 </a:t>
            </a:r>
            <a:r>
              <a:rPr lang="en-US" altLang="zh-CN" dirty="0"/>
              <a:t>filesystem </a:t>
            </a:r>
            <a:r>
              <a:rPr lang="zh-CN" altLang="en-US" dirty="0"/>
              <a:t>就是一个分区</a:t>
            </a:r>
            <a:r>
              <a:rPr lang="en-US" altLang="zh-CN" dirty="0"/>
              <a:t>partition</a:t>
            </a:r>
            <a:r>
              <a:rPr lang="zh-CN" altLang="en-US" dirty="0"/>
              <a:t>。但是由于新技术的利用，例如我们常听到的</a:t>
            </a:r>
            <a:r>
              <a:rPr lang="en-US" altLang="zh-CN" dirty="0"/>
              <a:t>LVM</a:t>
            </a:r>
            <a:r>
              <a:rPr lang="zh-CN" altLang="en-US" dirty="0"/>
              <a:t>与软件磁盘阵列</a:t>
            </a:r>
            <a:r>
              <a:rPr lang="en-US" altLang="zh-CN" dirty="0"/>
              <a:t>(software raid)</a:t>
            </a:r>
            <a:r>
              <a:rPr lang="zh-CN" altLang="en-US" dirty="0"/>
              <a:t>， 这些技术可以将一个分区格式化为多个文件系统</a:t>
            </a:r>
            <a:r>
              <a:rPr lang="en-US" altLang="zh-CN" dirty="0"/>
              <a:t>(</a:t>
            </a:r>
            <a:r>
              <a:rPr lang="zh-CN" altLang="en-US" dirty="0"/>
              <a:t>例如</a:t>
            </a:r>
            <a:r>
              <a:rPr lang="en-US" altLang="zh-CN" dirty="0"/>
              <a:t>LVM)</a:t>
            </a:r>
            <a:r>
              <a:rPr lang="zh-CN" altLang="en-US" dirty="0"/>
              <a:t>，也能够将多个分区合成一个文件系统</a:t>
            </a:r>
            <a:r>
              <a:rPr lang="en-US" altLang="zh-CN" dirty="0"/>
              <a:t>(LVM, RAID)</a:t>
            </a:r>
            <a:r>
              <a:rPr lang="zh-CN" altLang="en-US" dirty="0"/>
              <a:t>！ 所以说，目前我们在格式化时已经不再说成针对 </a:t>
            </a:r>
            <a:r>
              <a:rPr lang="en-US" altLang="zh-CN" dirty="0"/>
              <a:t>partition </a:t>
            </a:r>
            <a:r>
              <a:rPr lang="zh-CN" altLang="en-US" dirty="0"/>
              <a:t>来格式化了， 通常我们可以称呼一个可被挂载的数据为一个文件系统而不是一个分割槽喔！</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47</a:t>
            </a:fld>
            <a:endParaRPr lang="zh-CN" altLang="en-US"/>
          </a:p>
        </p:txBody>
      </p:sp>
    </p:spTree>
    <p:extLst>
      <p:ext uri="{BB962C8B-B14F-4D97-AF65-F5344CB8AC3E}">
        <p14:creationId xmlns:p14="http://schemas.microsoft.com/office/powerpoint/2010/main" val="9825074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48</a:t>
            </a:fld>
            <a:endParaRPr lang="zh-CN" altLang="en-US"/>
          </a:p>
        </p:txBody>
      </p:sp>
    </p:spTree>
    <p:extLst>
      <p:ext uri="{BB962C8B-B14F-4D97-AF65-F5344CB8AC3E}">
        <p14:creationId xmlns:p14="http://schemas.microsoft.com/office/powerpoint/2010/main" val="1534005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文件系统必须挂载到目录树的某个目录上之后才能够使用。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49</a:t>
            </a:fld>
            <a:endParaRPr lang="zh-CN" altLang="en-US"/>
          </a:p>
        </p:txBody>
      </p:sp>
    </p:spTree>
    <p:extLst>
      <p:ext uri="{BB962C8B-B14F-4D97-AF65-F5344CB8AC3E}">
        <p14:creationId xmlns:p14="http://schemas.microsoft.com/office/powerpoint/2010/main" val="2987285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我们在讲链接的时候给大家提过</a:t>
            </a:r>
            <a:r>
              <a:rPr lang="en-US" altLang="zh-CN" dirty="0" err="1"/>
              <a:t>iNode</a:t>
            </a:r>
            <a:r>
              <a:rPr lang="zh-CN" altLang="en-US" dirty="0"/>
              <a:t>的内容，如果同学忘记了可以去回顾一下。</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50</a:t>
            </a:fld>
            <a:endParaRPr lang="zh-CN" altLang="en-US"/>
          </a:p>
        </p:txBody>
      </p:sp>
    </p:spTree>
    <p:extLst>
      <p:ext uri="{BB962C8B-B14F-4D97-AF65-F5344CB8AC3E}">
        <p14:creationId xmlns:p14="http://schemas.microsoft.com/office/powerpoint/2010/main" val="37760249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介绍两种不同的文件系统的存取方式，一类是并行的，另一类可以说是串行的。我们接下来看图 一个大的文件需要占用多个</a:t>
            </a:r>
            <a:r>
              <a:rPr lang="en-US" altLang="zh-CN" dirty="0"/>
              <a:t>block</a:t>
            </a:r>
            <a:r>
              <a:rPr lang="zh-CN" altLang="en-US" dirty="0"/>
              <a:t>来存储其内容。</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51</a:t>
            </a:fld>
            <a:endParaRPr lang="zh-CN" altLang="en-US"/>
          </a:p>
        </p:txBody>
      </p:sp>
    </p:spTree>
    <p:extLst>
      <p:ext uri="{BB962C8B-B14F-4D97-AF65-F5344CB8AC3E}">
        <p14:creationId xmlns:p14="http://schemas.microsoft.com/office/powerpoint/2010/main" val="3778653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52</a:t>
            </a:fld>
            <a:endParaRPr lang="zh-CN" altLang="en-US"/>
          </a:p>
        </p:txBody>
      </p:sp>
    </p:spTree>
    <p:extLst>
      <p:ext uri="{BB962C8B-B14F-4D97-AF65-F5344CB8AC3E}">
        <p14:creationId xmlns:p14="http://schemas.microsoft.com/office/powerpoint/2010/main" val="27012386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53</a:t>
            </a:fld>
            <a:endParaRPr lang="zh-CN" altLang="en-US"/>
          </a:p>
        </p:txBody>
      </p:sp>
    </p:spTree>
    <p:extLst>
      <p:ext uri="{BB962C8B-B14F-4D97-AF65-F5344CB8AC3E}">
        <p14:creationId xmlns:p14="http://schemas.microsoft.com/office/powerpoint/2010/main" val="4739478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系统写入文件时，因断电、内核错误等导致文件写入数据存在不一致，简化文件系统检测过程，提出日志文件系统。可以通过日志文件去查看文件损坏的环节 类型等。类似于</a:t>
            </a:r>
            <a:r>
              <a:rPr lang="en-US" altLang="zh-CN" dirty="0"/>
              <a:t>Word</a:t>
            </a:r>
            <a:r>
              <a:rPr lang="zh-CN" altLang="en-US" dirty="0"/>
              <a:t>崩溃 会自动记录一样。</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54</a:t>
            </a:fld>
            <a:endParaRPr lang="zh-CN" altLang="en-US"/>
          </a:p>
        </p:txBody>
      </p:sp>
    </p:spTree>
    <p:extLst>
      <p:ext uri="{BB962C8B-B14F-4D97-AF65-F5344CB8AC3E}">
        <p14:creationId xmlns:p14="http://schemas.microsoft.com/office/powerpoint/2010/main" val="12742545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交换文件系统 也就是对应交换分区 开辟一块空间 作为临时的内存空间 在内存空间的情况下 则可以开辟交换分区，尤其是在服务器上应用更多。</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55</a:t>
            </a:fld>
            <a:endParaRPr lang="zh-CN" altLang="en-US"/>
          </a:p>
        </p:txBody>
      </p:sp>
    </p:spTree>
    <p:extLst>
      <p:ext uri="{BB962C8B-B14F-4D97-AF65-F5344CB8AC3E}">
        <p14:creationId xmlns:p14="http://schemas.microsoft.com/office/powerpoint/2010/main" val="2361702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56</a:t>
            </a:fld>
            <a:endParaRPr lang="zh-CN" altLang="en-US"/>
          </a:p>
        </p:txBody>
      </p:sp>
    </p:spTree>
    <p:extLst>
      <p:ext uri="{BB962C8B-B14F-4D97-AF65-F5344CB8AC3E}">
        <p14:creationId xmlns:p14="http://schemas.microsoft.com/office/powerpoint/2010/main" val="2835084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后边我们讲的内容是针对</a:t>
            </a:r>
            <a:r>
              <a:rPr lang="en-US" altLang="zh-CN" dirty="0" err="1"/>
              <a:t>ext</a:t>
            </a:r>
            <a:r>
              <a:rPr lang="en-US" altLang="zh-CN" dirty="0"/>
              <a:t> 2 /3/4</a:t>
            </a:r>
            <a:r>
              <a:rPr lang="zh-CN" altLang="en-US" dirty="0"/>
              <a:t>文件系统内容的管理命令。</a:t>
            </a:r>
            <a:r>
              <a:rPr lang="en-US" altLang="zh-CN" dirty="0" err="1"/>
              <a:t>mkfs</a:t>
            </a:r>
            <a:r>
              <a:rPr lang="zh-CN" altLang="en-US" dirty="0"/>
              <a:t>（</a:t>
            </a:r>
            <a:r>
              <a:rPr lang="en-US" altLang="zh-CN" dirty="0"/>
              <a:t>make filesystem</a:t>
            </a:r>
            <a:r>
              <a:rPr lang="zh-CN" altLang="en-US" dirty="0"/>
              <a:t>），</a:t>
            </a:r>
            <a:r>
              <a:rPr lang="en-US" altLang="zh-CN" dirty="0"/>
              <a:t>centos</a:t>
            </a:r>
            <a:r>
              <a:rPr lang="zh-CN" altLang="en-US" dirty="0"/>
              <a:t>默认的是</a:t>
            </a:r>
            <a:r>
              <a:rPr lang="en-US" altLang="zh-CN" dirty="0" err="1"/>
              <a:t>xfs</a:t>
            </a:r>
            <a:r>
              <a:rPr lang="zh-CN" altLang="en-US" dirty="0"/>
              <a:t>文件系统，在设备</a:t>
            </a:r>
            <a:r>
              <a:rPr lang="en-GB" altLang="zh-CN" dirty="0">
                <a:solidFill>
                  <a:schemeClr val="accent6">
                    <a:lumMod val="75000"/>
                  </a:schemeClr>
                </a:solidFill>
              </a:rPr>
              <a:t>/dev/hda2</a:t>
            </a:r>
            <a:r>
              <a:rPr lang="zh-CN" altLang="en-US" dirty="0">
                <a:solidFill>
                  <a:schemeClr val="accent6">
                    <a:lumMod val="75000"/>
                  </a:schemeClr>
                </a:solidFill>
              </a:rPr>
              <a:t>上面创建</a:t>
            </a:r>
            <a:r>
              <a:rPr lang="en-US" altLang="zh-CN" dirty="0">
                <a:solidFill>
                  <a:schemeClr val="accent6">
                    <a:lumMod val="75000"/>
                  </a:schemeClr>
                </a:solidFill>
              </a:rPr>
              <a:t>ext3</a:t>
            </a:r>
            <a:r>
              <a:rPr lang="zh-CN" altLang="en-US" dirty="0" smtClean="0">
                <a:solidFill>
                  <a:schemeClr val="accent6">
                    <a:lumMod val="75000"/>
                  </a:schemeClr>
                </a:solidFill>
              </a:rPr>
              <a:t>文件系统</a:t>
            </a:r>
            <a:endParaRPr lang="en-US" altLang="zh-CN" dirty="0" smtClean="0">
              <a:solidFill>
                <a:schemeClr val="accent6">
                  <a:lumMod val="75000"/>
                </a:schemeClr>
              </a:solidFill>
            </a:endParaRPr>
          </a:p>
          <a:p>
            <a:r>
              <a:rPr lang="en-US" altLang="zh-CN" dirty="0" smtClean="0">
                <a:solidFill>
                  <a:schemeClr val="accent6">
                    <a:lumMod val="75000"/>
                  </a:schemeClr>
                </a:solidFill>
              </a:rPr>
              <a:t>Mke2fs</a:t>
            </a:r>
            <a:r>
              <a:rPr lang="zh-CN" altLang="en-US" dirty="0" smtClean="0">
                <a:solidFill>
                  <a:schemeClr val="accent6">
                    <a:lumMod val="75000"/>
                  </a:schemeClr>
                </a:solidFill>
              </a:rPr>
              <a:t>用来创建</a:t>
            </a:r>
            <a:r>
              <a:rPr lang="en-US" altLang="zh-CN" dirty="0" smtClean="0">
                <a:solidFill>
                  <a:schemeClr val="accent6">
                    <a:lumMod val="75000"/>
                  </a:schemeClr>
                </a:solidFill>
              </a:rPr>
              <a:t>ext2/ext3/ext4</a:t>
            </a:r>
            <a:r>
              <a:rPr lang="zh-CN" altLang="en-US" dirty="0" smtClean="0">
                <a:solidFill>
                  <a:schemeClr val="accent6">
                    <a:lumMod val="75000"/>
                  </a:schemeClr>
                </a:solidFill>
              </a:rPr>
              <a:t>文件系统，通常在磁盘分区上创建文件系统，对于的设备名</a:t>
            </a:r>
            <a:r>
              <a:rPr lang="en-US" altLang="zh-CN" dirty="0" smtClean="0">
                <a:solidFill>
                  <a:schemeClr val="accent6">
                    <a:lumMod val="75000"/>
                  </a:schemeClr>
                </a:solidFill>
              </a:rPr>
              <a:t>/dev/</a:t>
            </a:r>
            <a:r>
              <a:rPr lang="en-US" altLang="zh-CN" dirty="0" err="1" smtClean="0">
                <a:solidFill>
                  <a:schemeClr val="accent6">
                    <a:lumMod val="75000"/>
                  </a:schemeClr>
                </a:solidFill>
              </a:rPr>
              <a:t>hdxxx</a:t>
            </a:r>
            <a:endParaRPr lang="en-US" altLang="zh-CN" dirty="0" smtClean="0">
              <a:solidFill>
                <a:schemeClr val="accent6">
                  <a:lumMod val="75000"/>
                </a:schemeClr>
              </a:solidFill>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57</a:t>
            </a:fld>
            <a:endParaRPr lang="zh-CN" altLang="en-US"/>
          </a:p>
        </p:txBody>
      </p:sp>
    </p:spTree>
    <p:extLst>
      <p:ext uri="{BB962C8B-B14F-4D97-AF65-F5344CB8AC3E}">
        <p14:creationId xmlns:p14="http://schemas.microsoft.com/office/powerpoint/2010/main" val="1992642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Mount</a:t>
            </a:r>
            <a:r>
              <a:rPr lang="zh-CN" altLang="en-US" dirty="0"/>
              <a:t>属于一种手动挂装方法，</a:t>
            </a:r>
            <a:r>
              <a:rPr lang="en-US" altLang="zh-CN" dirty="0"/>
              <a:t>/</a:t>
            </a:r>
            <a:r>
              <a:rPr lang="en-US" altLang="zh-CN" dirty="0" err="1"/>
              <a:t>ect</a:t>
            </a:r>
            <a:r>
              <a:rPr lang="en-US" altLang="zh-CN" dirty="0"/>
              <a:t>/</a:t>
            </a:r>
            <a:r>
              <a:rPr lang="en-US" altLang="zh-CN" dirty="0" err="1"/>
              <a:t>fstab</a:t>
            </a:r>
            <a:r>
              <a:rPr lang="zh-CN" altLang="en-US" dirty="0"/>
              <a:t>是一种启动时自动挂装方式 </a:t>
            </a:r>
            <a:r>
              <a:rPr lang="en-US" altLang="zh-CN" sz="1200" dirty="0">
                <a:solidFill>
                  <a:schemeClr val="accent6">
                    <a:lumMod val="75000"/>
                  </a:schemeClr>
                </a:solidFill>
              </a:rPr>
              <a:t>UUID=</a:t>
            </a:r>
            <a:r>
              <a:rPr lang="en-US" altLang="zh-CN" sz="1200" dirty="0" err="1">
                <a:solidFill>
                  <a:schemeClr val="accent6">
                    <a:lumMod val="75000"/>
                  </a:schemeClr>
                </a:solidFill>
              </a:rPr>
              <a:t>uuid</a:t>
            </a:r>
            <a:r>
              <a:rPr lang="en-US" altLang="zh-CN" sz="1200" dirty="0">
                <a:solidFill>
                  <a:schemeClr val="accent6">
                    <a:lumMod val="75000"/>
                  </a:schemeClr>
                </a:solidFill>
              </a:rPr>
              <a:t>    /mountpoint     ext4   default   1   2 </a:t>
            </a:r>
            <a:r>
              <a:rPr lang="zh-CN" altLang="en-US" sz="1200" dirty="0">
                <a:solidFill>
                  <a:schemeClr val="accent6">
                    <a:lumMod val="75000"/>
                  </a:schemeClr>
                </a:solidFill>
              </a:rPr>
              <a:t>中的</a:t>
            </a:r>
            <a:r>
              <a:rPr lang="en-US" altLang="zh-CN" sz="1200" dirty="0">
                <a:solidFill>
                  <a:schemeClr val="accent6">
                    <a:lumMod val="75000"/>
                  </a:schemeClr>
                </a:solidFill>
              </a:rPr>
              <a:t>1 2</a:t>
            </a:r>
            <a:r>
              <a:rPr lang="zh-CN" altLang="en-US" sz="1200" dirty="0">
                <a:solidFill>
                  <a:schemeClr val="accent6">
                    <a:lumMod val="75000"/>
                  </a:schemeClr>
                </a:solidFill>
              </a:rPr>
              <a:t>是指定备份信息的一些参数 后边也会讲到</a:t>
            </a:r>
            <a:endParaRPr lang="en-US" altLang="zh-CN" sz="1200" dirty="0">
              <a:solidFill>
                <a:schemeClr val="accent6">
                  <a:lumMod val="75000"/>
                </a:schemeClr>
              </a:solidFill>
            </a:endParaRP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62</a:t>
            </a:fld>
            <a:endParaRPr lang="zh-CN" altLang="en-US"/>
          </a:p>
        </p:txBody>
      </p:sp>
    </p:spTree>
    <p:extLst>
      <p:ext uri="{BB962C8B-B14F-4D97-AF65-F5344CB8AC3E}">
        <p14:creationId xmlns:p14="http://schemas.microsoft.com/office/powerpoint/2010/main" val="8159987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P100 </a:t>
            </a:r>
            <a:r>
              <a:rPr lang="zh-CN" altLang="en-US" dirty="0"/>
              <a:t>三种不同的格式和注意事项提示 </a:t>
            </a:r>
            <a:r>
              <a:rPr lang="en-US" altLang="zh-CN" dirty="0"/>
              <a:t>label</a:t>
            </a:r>
            <a:r>
              <a:rPr lang="zh-CN" altLang="en-US" dirty="0"/>
              <a:t>号 </a:t>
            </a:r>
            <a:r>
              <a:rPr lang="en-US" altLang="zh-CN" dirty="0" err="1"/>
              <a:t>uuid</a:t>
            </a:r>
            <a:r>
              <a:rPr lang="en-US" altLang="zh-CN" dirty="0"/>
              <a:t> </a:t>
            </a:r>
            <a:r>
              <a:rPr lang="zh-CN" altLang="en-US" dirty="0"/>
              <a:t>和设备名三种。 </a:t>
            </a:r>
            <a:r>
              <a:rPr lang="en-US" altLang="zh-CN" dirty="0"/>
              <a:t>-o</a:t>
            </a:r>
            <a:r>
              <a:rPr lang="zh-CN" altLang="en-US" dirty="0"/>
              <a:t>后边接的多为可移动介质，类型有很多了就。</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63</a:t>
            </a:fld>
            <a:endParaRPr lang="zh-CN" altLang="en-US"/>
          </a:p>
        </p:txBody>
      </p:sp>
    </p:spTree>
    <p:extLst>
      <p:ext uri="{BB962C8B-B14F-4D97-AF65-F5344CB8AC3E}">
        <p14:creationId xmlns:p14="http://schemas.microsoft.com/office/powerpoint/2010/main" val="11733680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FF0000"/>
                </a:solidFill>
              </a:rPr>
              <a:t>Defaults</a:t>
            </a:r>
            <a:r>
              <a:rPr lang="zh-CN" altLang="en-US" sz="1200" dirty="0">
                <a:solidFill>
                  <a:srgbClr val="FF0000"/>
                </a:solidFill>
              </a:rPr>
              <a:t>对应读取</a:t>
            </a:r>
            <a:r>
              <a:rPr lang="en-US" altLang="zh-CN" sz="1200" dirty="0">
                <a:solidFill>
                  <a:srgbClr val="FF0000"/>
                </a:solidFill>
              </a:rPr>
              <a:t>/</a:t>
            </a:r>
            <a:r>
              <a:rPr lang="en-US" altLang="zh-CN" sz="1200" dirty="0" err="1">
                <a:solidFill>
                  <a:srgbClr val="FF0000"/>
                </a:solidFill>
              </a:rPr>
              <a:t>ect</a:t>
            </a:r>
            <a:r>
              <a:rPr lang="en-US" altLang="zh-CN" sz="1200" dirty="0">
                <a:solidFill>
                  <a:srgbClr val="FF0000"/>
                </a:solidFill>
              </a:rPr>
              <a:t>/</a:t>
            </a:r>
            <a:r>
              <a:rPr lang="en-US" altLang="zh-CN" sz="1200" dirty="0" err="1">
                <a:solidFill>
                  <a:srgbClr val="FF0000"/>
                </a:solidFill>
              </a:rPr>
              <a:t>fstab</a:t>
            </a:r>
            <a:r>
              <a:rPr lang="zh-CN" altLang="en-US" sz="1200" dirty="0">
                <a:solidFill>
                  <a:srgbClr val="FF0000"/>
                </a:solidFill>
              </a:rPr>
              <a:t>文件中的参数</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64</a:t>
            </a:fld>
            <a:endParaRPr lang="zh-CN" altLang="en-US"/>
          </a:p>
        </p:txBody>
      </p:sp>
    </p:spTree>
    <p:extLst>
      <p:ext uri="{BB962C8B-B14F-4D97-AF65-F5344CB8AC3E}">
        <p14:creationId xmlns:p14="http://schemas.microsoft.com/office/powerpoint/2010/main" val="24835634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P101 </a:t>
            </a:r>
            <a:r>
              <a:rPr lang="zh-CN" altLang="en-US" dirty="0"/>
              <a:t>的例子</a:t>
            </a:r>
            <a:r>
              <a:rPr lang="en-US" altLang="zh-CN" dirty="0"/>
              <a:t>1-3</a:t>
            </a:r>
            <a:r>
              <a:rPr lang="zh-CN" altLang="en-US" dirty="0"/>
              <a:t> </a:t>
            </a:r>
            <a:r>
              <a:rPr lang="en-US" altLang="zh-CN" dirty="0"/>
              <a:t>mount</a:t>
            </a:r>
            <a:r>
              <a:rPr lang="zh-CN" altLang="en-US" dirty="0"/>
              <a:t>显示已经挂载的文件系统</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66</a:t>
            </a:fld>
            <a:endParaRPr lang="zh-CN" altLang="en-US"/>
          </a:p>
        </p:txBody>
      </p:sp>
    </p:spTree>
    <p:extLst>
      <p:ext uri="{BB962C8B-B14F-4D97-AF65-F5344CB8AC3E}">
        <p14:creationId xmlns:p14="http://schemas.microsoft.com/office/powerpoint/2010/main" val="5649592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逻辑卷和卷缩大小缩减的时候我们讲过 他的第一步就是要先对文件系统进行卸载，那么我们如何卸载？用到的命令就是</a:t>
            </a:r>
            <a:r>
              <a:rPr lang="en-US" altLang="zh-CN" dirty="0" err="1"/>
              <a:t>umount</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67</a:t>
            </a:fld>
            <a:endParaRPr lang="zh-CN" altLang="en-US"/>
          </a:p>
        </p:txBody>
      </p:sp>
    </p:spTree>
    <p:extLst>
      <p:ext uri="{BB962C8B-B14F-4D97-AF65-F5344CB8AC3E}">
        <p14:creationId xmlns:p14="http://schemas.microsoft.com/office/powerpoint/2010/main" val="25085979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使用举例给出了</a:t>
            </a:r>
            <a:r>
              <a:rPr lang="en-US" altLang="zh-CN" sz="1200" dirty="0"/>
              <a:t>busy</a:t>
            </a:r>
            <a:r>
              <a:rPr lang="zh-CN" altLang="en-US" sz="1200" dirty="0"/>
              <a:t>状态下的设备如何进行文件系统卸载</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69</a:t>
            </a:fld>
            <a:endParaRPr lang="zh-CN" altLang="en-US"/>
          </a:p>
        </p:txBody>
      </p:sp>
    </p:spTree>
    <p:extLst>
      <p:ext uri="{BB962C8B-B14F-4D97-AF65-F5344CB8AC3E}">
        <p14:creationId xmlns:p14="http://schemas.microsoft.com/office/powerpoint/2010/main" val="879121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主要适用于</a:t>
            </a:r>
            <a:r>
              <a:rPr lang="en-US" altLang="zh-CN" dirty="0"/>
              <a:t>ext2,3,4</a:t>
            </a:r>
            <a:r>
              <a:rPr lang="zh-CN" altLang="en-US" dirty="0"/>
              <a:t>类型的文件系统</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70</a:t>
            </a:fld>
            <a:endParaRPr lang="zh-CN" altLang="en-US"/>
          </a:p>
        </p:txBody>
      </p:sp>
    </p:spTree>
    <p:extLst>
      <p:ext uri="{BB962C8B-B14F-4D97-AF65-F5344CB8AC3E}">
        <p14:creationId xmlns:p14="http://schemas.microsoft.com/office/powerpoint/2010/main" val="7248592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Mount</a:t>
            </a:r>
            <a:r>
              <a:rPr lang="zh-CN" altLang="en-US" dirty="0"/>
              <a:t>命令进行挂载时，将所有的参数与选项写入到</a:t>
            </a:r>
            <a:r>
              <a:rPr lang="en-US" altLang="zh-CN" dirty="0"/>
              <a:t>/</a:t>
            </a:r>
            <a:r>
              <a:rPr lang="en-US" altLang="zh-CN" dirty="0" err="1"/>
              <a:t>etc</a:t>
            </a:r>
            <a:r>
              <a:rPr lang="en-US" altLang="zh-CN" dirty="0"/>
              <a:t>/</a:t>
            </a:r>
            <a:r>
              <a:rPr lang="en-US" altLang="zh-CN" dirty="0" err="1"/>
              <a:t>fstab</a:t>
            </a:r>
            <a:r>
              <a:rPr lang="zh-CN" altLang="en-US" dirty="0"/>
              <a:t>文件中</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78</a:t>
            </a:fld>
            <a:endParaRPr lang="zh-CN" altLang="en-US"/>
          </a:p>
        </p:txBody>
      </p:sp>
    </p:spTree>
    <p:extLst>
      <p:ext uri="{BB962C8B-B14F-4D97-AF65-F5344CB8AC3E}">
        <p14:creationId xmlns:p14="http://schemas.microsoft.com/office/powerpoint/2010/main" val="38084204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defaults </a:t>
            </a:r>
            <a:r>
              <a:rPr lang="zh-CN" altLang="en-US" dirty="0"/>
              <a:t>使用</a:t>
            </a:r>
            <a:r>
              <a:rPr lang="en-US" altLang="zh-CN" dirty="0"/>
              <a:t>mount</a:t>
            </a:r>
            <a:r>
              <a:rPr lang="zh-CN" altLang="en-US" dirty="0"/>
              <a:t>命令挂装时 </a:t>
            </a:r>
            <a:r>
              <a:rPr lang="en-US" altLang="zh-CN" dirty="0"/>
              <a:t>–o </a:t>
            </a:r>
            <a:r>
              <a:rPr lang="zh-CN" altLang="en-US" dirty="0"/>
              <a:t>后有很多可选参数</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79</a:t>
            </a:fld>
            <a:endParaRPr lang="zh-CN" altLang="en-US"/>
          </a:p>
        </p:txBody>
      </p:sp>
    </p:spTree>
    <p:extLst>
      <p:ext uri="{BB962C8B-B14F-4D97-AF65-F5344CB8AC3E}">
        <p14:creationId xmlns:p14="http://schemas.microsoft.com/office/powerpoint/2010/main" val="22703886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FF0000"/>
                </a:solidFill>
              </a:rPr>
              <a:t>这部分内容作为了解 。交换分区的生成使用我们讲过的分区工具来产生。</a:t>
            </a:r>
            <a:r>
              <a:rPr lang="zh-CN" altLang="en-US" dirty="0"/>
              <a:t> </a:t>
            </a:r>
            <a:r>
              <a:rPr lang="en-US" altLang="zh-CN" dirty="0"/>
              <a:t>mkswap [</a:t>
            </a:r>
            <a:r>
              <a:rPr lang="zh-CN" altLang="en-US" dirty="0"/>
              <a:t>设备文件名</a:t>
            </a:r>
            <a:r>
              <a:rPr lang="en-US" altLang="zh-CN" dirty="0"/>
              <a:t>] </a:t>
            </a:r>
            <a:r>
              <a:rPr lang="en-US" altLang="zh-CN" dirty="0">
                <a:solidFill>
                  <a:srgbClr val="FF0000"/>
                </a:solidFill>
              </a:rPr>
              <a:t>swapon -a</a:t>
            </a:r>
            <a:r>
              <a:rPr lang="en-US" altLang="zh-CN" dirty="0"/>
              <a:t> </a:t>
            </a:r>
            <a:r>
              <a:rPr lang="zh-CN" altLang="en-US" dirty="0"/>
              <a:t>或者</a:t>
            </a:r>
            <a:r>
              <a:rPr lang="en-US" altLang="zh-CN" dirty="0">
                <a:solidFill>
                  <a:srgbClr val="FF0000"/>
                </a:solidFill>
              </a:rPr>
              <a:t>swapon [</a:t>
            </a:r>
            <a:r>
              <a:rPr lang="zh-CN" altLang="en-US" dirty="0">
                <a:solidFill>
                  <a:srgbClr val="FF0000"/>
                </a:solidFill>
              </a:rPr>
              <a:t>设备文件名</a:t>
            </a:r>
            <a:r>
              <a:rPr lang="en-US" altLang="zh-CN" dirty="0">
                <a:solidFill>
                  <a:srgbClr val="FF0000"/>
                </a:solidFill>
              </a:rPr>
              <a:t>] </a:t>
            </a:r>
            <a:r>
              <a:rPr lang="zh-CN" altLang="en-US" dirty="0">
                <a:solidFill>
                  <a:srgbClr val="FF0000"/>
                </a:solidFill>
              </a:rPr>
              <a:t>激活交换空间，利用</a:t>
            </a:r>
            <a:r>
              <a:rPr lang="en-US" altLang="zh-CN" dirty="0">
                <a:solidFill>
                  <a:srgbClr val="FF0000"/>
                </a:solidFill>
              </a:rPr>
              <a:t>dd</a:t>
            </a:r>
            <a:r>
              <a:rPr lang="zh-CN" altLang="en-US" dirty="0">
                <a:solidFill>
                  <a:srgbClr val="FF0000"/>
                </a:solidFill>
              </a:rPr>
              <a:t>命令生成交换文件。</a:t>
            </a:r>
            <a:r>
              <a:rPr lang="en-US" altLang="zh-CN" dirty="0">
                <a:solidFill>
                  <a:srgbClr val="FF0000"/>
                </a:solidFill>
              </a:rPr>
              <a:t>P252</a:t>
            </a:r>
            <a:r>
              <a:rPr lang="zh-CN" altLang="en-US" dirty="0">
                <a:solidFill>
                  <a:srgbClr val="FF0000"/>
                </a:solidFill>
              </a:rPr>
              <a:t>鸟哥</a:t>
            </a:r>
            <a:endParaRPr lang="en-US" altLang="zh-CN" dirty="0">
              <a:solidFill>
                <a:srgbClr val="FF0000"/>
              </a:solidFill>
            </a:endParaRPr>
          </a:p>
          <a:p>
            <a:r>
              <a:rPr lang="zh-CN" altLang="en-US" dirty="0"/>
              <a:t>功能：从</a:t>
            </a:r>
            <a:r>
              <a:rPr lang="zh-CN" altLang="en-US" dirty="0">
                <a:solidFill>
                  <a:srgbClr val="FF0000"/>
                </a:solidFill>
              </a:rPr>
              <a:t>标准输入</a:t>
            </a:r>
            <a:r>
              <a:rPr lang="zh-CN" altLang="en-US" dirty="0"/>
              <a:t>、</a:t>
            </a:r>
            <a:r>
              <a:rPr lang="zh-CN" altLang="en-US" dirty="0">
                <a:solidFill>
                  <a:srgbClr val="FF0000"/>
                </a:solidFill>
              </a:rPr>
              <a:t>文件</a:t>
            </a:r>
            <a:r>
              <a:rPr lang="zh-CN" altLang="en-US" dirty="0"/>
              <a:t>或</a:t>
            </a:r>
            <a:r>
              <a:rPr lang="zh-CN" altLang="en-US" dirty="0">
                <a:solidFill>
                  <a:srgbClr val="FF0000"/>
                </a:solidFill>
              </a:rPr>
              <a:t>设备</a:t>
            </a:r>
            <a:r>
              <a:rPr lang="zh-CN" altLang="en-US" dirty="0"/>
              <a:t>读取数据，依照指定的格式来转换数据， 再</a:t>
            </a:r>
            <a:r>
              <a:rPr lang="zh-CN" altLang="en-US" dirty="0">
                <a:solidFill>
                  <a:srgbClr val="FF0000"/>
                </a:solidFill>
              </a:rPr>
              <a:t>输出</a:t>
            </a:r>
            <a:r>
              <a:rPr lang="zh-CN" altLang="en-US" dirty="0"/>
              <a:t>至</a:t>
            </a:r>
            <a:r>
              <a:rPr lang="zh-CN" altLang="en-US" dirty="0">
                <a:solidFill>
                  <a:srgbClr val="FF0000"/>
                </a:solidFill>
              </a:rPr>
              <a:t>文件</a:t>
            </a:r>
            <a:r>
              <a:rPr lang="zh-CN" altLang="en-US" dirty="0"/>
              <a:t>、</a:t>
            </a:r>
            <a:r>
              <a:rPr lang="zh-CN" altLang="en-US" dirty="0">
                <a:solidFill>
                  <a:srgbClr val="FF0000"/>
                </a:solidFill>
              </a:rPr>
              <a:t>设备</a:t>
            </a:r>
            <a:r>
              <a:rPr lang="zh-CN" altLang="en-US" dirty="0"/>
              <a:t>或</a:t>
            </a:r>
            <a:r>
              <a:rPr lang="zh-CN" altLang="en-US" dirty="0">
                <a:solidFill>
                  <a:srgbClr val="FF0000"/>
                </a:solidFill>
              </a:rPr>
              <a:t>标准输出</a:t>
            </a:r>
            <a:r>
              <a:rPr lang="en-US" altLang="zh-CN" dirty="0"/>
              <a:t>——</a:t>
            </a:r>
            <a:r>
              <a:rPr lang="zh-CN" altLang="en-US" dirty="0">
                <a:solidFill>
                  <a:srgbClr val="FF0000"/>
                </a:solidFill>
              </a:rPr>
              <a:t>制作文件或备份功能</a:t>
            </a:r>
          </a:p>
          <a:p>
            <a:r>
              <a:rPr lang="zh-CN" altLang="en-US" dirty="0"/>
              <a:t>格式：</a:t>
            </a:r>
            <a:r>
              <a:rPr lang="en-US" altLang="zh-CN" dirty="0">
                <a:solidFill>
                  <a:schemeClr val="accent6">
                    <a:lumMod val="75000"/>
                  </a:schemeClr>
                </a:solidFill>
              </a:rPr>
              <a:t>dd &lt;</a:t>
            </a:r>
            <a:r>
              <a:rPr lang="zh-CN" altLang="en-US" dirty="0">
                <a:solidFill>
                  <a:schemeClr val="accent6">
                    <a:lumMod val="75000"/>
                  </a:schemeClr>
                </a:solidFill>
              </a:rPr>
              <a:t>选项</a:t>
            </a:r>
            <a:r>
              <a:rPr lang="en-US" altLang="zh-CN" dirty="0">
                <a:solidFill>
                  <a:schemeClr val="accent6">
                    <a:lumMod val="75000"/>
                  </a:schemeClr>
                </a:solidFill>
              </a:rPr>
              <a:t>=</a:t>
            </a:r>
            <a:r>
              <a:rPr lang="zh-CN" altLang="en-US" dirty="0">
                <a:solidFill>
                  <a:schemeClr val="accent6">
                    <a:lumMod val="75000"/>
                  </a:schemeClr>
                </a:solidFill>
              </a:rPr>
              <a:t>值</a:t>
            </a:r>
            <a:r>
              <a:rPr lang="en-US" altLang="zh-CN" dirty="0">
                <a:solidFill>
                  <a:schemeClr val="accent6">
                    <a:lumMod val="75000"/>
                  </a:schemeClr>
                </a:solidFill>
              </a:rPr>
              <a:t>&gt;</a:t>
            </a:r>
          </a:p>
          <a:p>
            <a:r>
              <a:rPr lang="zh-CN" altLang="en-US" dirty="0"/>
              <a:t>常用选项</a:t>
            </a:r>
          </a:p>
          <a:p>
            <a:pPr lvl="1"/>
            <a:r>
              <a:rPr lang="en-US" altLang="zh-CN" dirty="0">
                <a:solidFill>
                  <a:srgbClr val="FF0000"/>
                </a:solidFill>
              </a:rPr>
              <a:t>if=file</a:t>
            </a:r>
            <a:r>
              <a:rPr lang="zh-CN" altLang="en-US" dirty="0"/>
              <a:t>：</a:t>
            </a:r>
            <a:r>
              <a:rPr lang="zh-CN" altLang="en-US" dirty="0">
                <a:solidFill>
                  <a:srgbClr val="FF0000"/>
                </a:solidFill>
              </a:rPr>
              <a:t>输入</a:t>
            </a:r>
            <a:r>
              <a:rPr lang="zh-CN" altLang="en-US" dirty="0"/>
              <a:t>文件名或设备名，缺省标准输入</a:t>
            </a:r>
          </a:p>
          <a:p>
            <a:pPr lvl="1"/>
            <a:r>
              <a:rPr lang="en-US" altLang="zh-CN" dirty="0">
                <a:solidFill>
                  <a:srgbClr val="FF0000"/>
                </a:solidFill>
              </a:rPr>
              <a:t>of=file</a:t>
            </a:r>
            <a:r>
              <a:rPr lang="zh-CN" altLang="en-US" dirty="0"/>
              <a:t>：</a:t>
            </a:r>
            <a:r>
              <a:rPr lang="zh-CN" altLang="en-US" dirty="0">
                <a:solidFill>
                  <a:srgbClr val="FF0000"/>
                </a:solidFill>
              </a:rPr>
              <a:t>输出</a:t>
            </a:r>
            <a:r>
              <a:rPr lang="zh-CN" altLang="en-US" dirty="0"/>
              <a:t>文件名或设备名，缺省标准输出</a:t>
            </a:r>
          </a:p>
          <a:p>
            <a:pPr lvl="1"/>
            <a:r>
              <a:rPr lang="en-US" altLang="zh-CN" dirty="0">
                <a:solidFill>
                  <a:srgbClr val="FF0000"/>
                </a:solidFill>
              </a:rPr>
              <a:t>bs=n</a:t>
            </a:r>
            <a:r>
              <a:rPr lang="zh-CN" altLang="en-US" dirty="0"/>
              <a:t>：同时设置输入输出</a:t>
            </a:r>
            <a:r>
              <a:rPr lang="zh-CN" altLang="en-US" dirty="0">
                <a:solidFill>
                  <a:srgbClr val="FF0000"/>
                </a:solidFill>
              </a:rPr>
              <a:t>块</a:t>
            </a:r>
            <a:r>
              <a:rPr lang="zh-CN" altLang="en-US" dirty="0"/>
              <a:t>的</a:t>
            </a:r>
            <a:r>
              <a:rPr lang="zh-CN" altLang="en-US" dirty="0">
                <a:solidFill>
                  <a:srgbClr val="FF0000"/>
                </a:solidFill>
              </a:rPr>
              <a:t>大小</a:t>
            </a:r>
            <a:r>
              <a:rPr lang="zh-CN" altLang="en-US" dirty="0"/>
              <a:t>为</a:t>
            </a:r>
            <a:r>
              <a:rPr lang="en-US" altLang="zh-CN" dirty="0"/>
              <a:t>n</a:t>
            </a:r>
          </a:p>
          <a:p>
            <a:pPr lvl="1"/>
            <a:r>
              <a:rPr lang="en-US" altLang="zh-CN" dirty="0">
                <a:solidFill>
                  <a:srgbClr val="FF0000"/>
                </a:solidFill>
              </a:rPr>
              <a:t>count=n</a:t>
            </a:r>
            <a:r>
              <a:rPr lang="zh-CN" altLang="en-US" dirty="0"/>
              <a:t>：仅仅读取指定的</a:t>
            </a:r>
            <a:r>
              <a:rPr lang="en-US" altLang="zh-CN" dirty="0"/>
              <a:t>n</a:t>
            </a:r>
            <a:r>
              <a:rPr lang="zh-CN" altLang="en-US" dirty="0"/>
              <a:t>块数据</a:t>
            </a:r>
            <a:r>
              <a:rPr lang="en-US" altLang="zh-CN" dirty="0"/>
              <a:t>(</a:t>
            </a:r>
            <a:r>
              <a:rPr lang="en-US" altLang="zh-CN" dirty="0">
                <a:solidFill>
                  <a:srgbClr val="FF0000"/>
                </a:solidFill>
              </a:rPr>
              <a:t>bs</a:t>
            </a:r>
            <a:r>
              <a:rPr lang="zh-CN" altLang="en-US" dirty="0">
                <a:solidFill>
                  <a:srgbClr val="FF0000"/>
                </a:solidFill>
              </a:rPr>
              <a:t>数</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82</a:t>
            </a:fld>
            <a:endParaRPr lang="zh-CN" altLang="en-US"/>
          </a:p>
        </p:txBody>
      </p:sp>
    </p:spTree>
    <p:extLst>
      <p:ext uri="{BB962C8B-B14F-4D97-AF65-F5344CB8AC3E}">
        <p14:creationId xmlns:p14="http://schemas.microsoft.com/office/powerpoint/2010/main" val="529352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83</a:t>
            </a:fld>
            <a:endParaRPr lang="zh-CN" altLang="en-US"/>
          </a:p>
        </p:txBody>
      </p:sp>
    </p:spTree>
    <p:extLst>
      <p:ext uri="{BB962C8B-B14F-4D97-AF65-F5344CB8AC3E}">
        <p14:creationId xmlns:p14="http://schemas.microsoft.com/office/powerpoint/2010/main" val="17850735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84</a:t>
            </a:fld>
            <a:endParaRPr lang="zh-CN" altLang="en-US"/>
          </a:p>
        </p:txBody>
      </p:sp>
    </p:spTree>
    <p:extLst>
      <p:ext uri="{BB962C8B-B14F-4D97-AF65-F5344CB8AC3E}">
        <p14:creationId xmlns:p14="http://schemas.microsoft.com/office/powerpoint/2010/main" val="23753708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文件系统大小</a:t>
            </a:r>
            <a:r>
              <a:rPr lang="en-US" altLang="zh-CN" dirty="0"/>
              <a:t>=bs</a:t>
            </a:r>
            <a:r>
              <a:rPr lang="zh-CN" altLang="en-US" dirty="0"/>
              <a:t>*</a:t>
            </a:r>
            <a:r>
              <a:rPr lang="en-US" altLang="zh-CN" dirty="0"/>
              <a:t>count</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85</a:t>
            </a:fld>
            <a:endParaRPr lang="zh-CN" altLang="en-US"/>
          </a:p>
        </p:txBody>
      </p:sp>
    </p:spTree>
    <p:extLst>
      <p:ext uri="{BB962C8B-B14F-4D97-AF65-F5344CB8AC3E}">
        <p14:creationId xmlns:p14="http://schemas.microsoft.com/office/powerpoint/2010/main" val="34302138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/dev/zero</a:t>
            </a:r>
            <a:r>
              <a:rPr lang="zh-CN" altLang="en-US" dirty="0"/>
              <a:t>零设备，可以产生连续不断的二进制零流，通常用语创建指定长度的空文件。</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86</a:t>
            </a:fld>
            <a:endParaRPr lang="zh-CN" altLang="en-US"/>
          </a:p>
        </p:txBody>
      </p:sp>
    </p:spTree>
    <p:extLst>
      <p:ext uri="{BB962C8B-B14F-4D97-AF65-F5344CB8AC3E}">
        <p14:creationId xmlns:p14="http://schemas.microsoft.com/office/powerpoint/2010/main" val="1666036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在多用户操作系统中，避免个别用户占用过多的磁盘资源，影响他人使用。</a:t>
            </a:r>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87</a:t>
            </a:fld>
            <a:endParaRPr lang="zh-CN" altLang="en-US"/>
          </a:p>
        </p:txBody>
      </p:sp>
    </p:spTree>
    <p:extLst>
      <p:ext uri="{BB962C8B-B14F-4D97-AF65-F5344CB8AC3E}">
        <p14:creationId xmlns:p14="http://schemas.microsoft.com/office/powerpoint/2010/main" val="38057149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P106</a:t>
            </a:r>
            <a:r>
              <a:rPr lang="zh-CN" altLang="en-US" dirty="0"/>
              <a:t>操作步骤</a:t>
            </a:r>
            <a:r>
              <a:rPr lang="en-US" altLang="zh-CN" dirty="0"/>
              <a:t>4.3</a:t>
            </a:r>
            <a:endParaRPr lang="zh-CN" altLang="en-US" dirty="0"/>
          </a:p>
        </p:txBody>
      </p:sp>
      <p:sp>
        <p:nvSpPr>
          <p:cNvPr id="4" name="灯片编号占位符 3"/>
          <p:cNvSpPr>
            <a:spLocks noGrp="1"/>
          </p:cNvSpPr>
          <p:nvPr>
            <p:ph type="sldNum" sz="quarter" idx="5"/>
          </p:nvPr>
        </p:nvSpPr>
        <p:spPr/>
        <p:txBody>
          <a:bodyPr/>
          <a:lstStyle/>
          <a:p>
            <a:fld id="{A5E67A7B-7D8A-4E03-B174-B3300045038D}" type="slidenum">
              <a:rPr lang="zh-CN" altLang="en-US" smtClean="0"/>
              <a:pPr/>
              <a:t>91</a:t>
            </a:fld>
            <a:endParaRPr lang="zh-CN" altLang="en-US"/>
          </a:p>
        </p:txBody>
      </p:sp>
    </p:spTree>
    <p:extLst>
      <p:ext uri="{BB962C8B-B14F-4D97-AF65-F5344CB8AC3E}">
        <p14:creationId xmlns:p14="http://schemas.microsoft.com/office/powerpoint/2010/main" val="35841534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99</a:t>
            </a:fld>
            <a:endParaRPr lang="zh-CN" altLang="en-US"/>
          </a:p>
        </p:txBody>
      </p:sp>
    </p:spTree>
    <p:extLst>
      <p:ext uri="{BB962C8B-B14F-4D97-AF65-F5344CB8AC3E}">
        <p14:creationId xmlns:p14="http://schemas.microsoft.com/office/powerpoint/2010/main" val="31062644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101</a:t>
            </a:fld>
            <a:endParaRPr lang="zh-CN" altLang="en-US"/>
          </a:p>
        </p:txBody>
      </p:sp>
    </p:spTree>
    <p:extLst>
      <p:ext uri="{BB962C8B-B14F-4D97-AF65-F5344CB8AC3E}">
        <p14:creationId xmlns:p14="http://schemas.microsoft.com/office/powerpoint/2010/main" val="15252458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5E67A7B-7D8A-4E03-B174-B3300045038D}" type="slidenum">
              <a:rPr lang="zh-CN" altLang="en-US" smtClean="0"/>
              <a:pPr/>
              <a:t>102</a:t>
            </a:fld>
            <a:endParaRPr lang="zh-CN" altLang="en-US"/>
          </a:p>
        </p:txBody>
      </p:sp>
    </p:spTree>
    <p:extLst>
      <p:ext uri="{BB962C8B-B14F-4D97-AF65-F5344CB8AC3E}">
        <p14:creationId xmlns:p14="http://schemas.microsoft.com/office/powerpoint/2010/main" val="34082402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E5D9F43-DF7E-45C4-8526-53CE0FAE1D4A}"/>
              </a:ext>
            </a:extLst>
          </p:cNvPr>
          <p:cNvGrpSpPr>
            <a:grpSpLocks/>
          </p:cNvGrpSpPr>
          <p:nvPr/>
        </p:nvGrpSpPr>
        <p:grpSpPr bwMode="auto">
          <a:xfrm>
            <a:off x="0" y="2348880"/>
            <a:ext cx="9009063" cy="1052513"/>
            <a:chOff x="0" y="0"/>
            <a:chExt cx="5675" cy="663"/>
          </a:xfrm>
        </p:grpSpPr>
        <p:grpSp>
          <p:nvGrpSpPr>
            <p:cNvPr id="5" name="Group 3">
              <a:extLst>
                <a:ext uri="{FF2B5EF4-FFF2-40B4-BE49-F238E27FC236}">
                  <a16:creationId xmlns:a16="http://schemas.microsoft.com/office/drawing/2014/main" id="{28D6124B-C8F5-43F5-B8AF-02DC451880EB}"/>
                </a:ext>
              </a:extLst>
            </p:cNvPr>
            <p:cNvGrpSpPr>
              <a:grpSpLocks/>
            </p:cNvGrpSpPr>
            <p:nvPr/>
          </p:nvGrpSpPr>
          <p:grpSpPr bwMode="auto">
            <a:xfrm>
              <a:off x="183" y="68"/>
              <a:ext cx="448" cy="299"/>
              <a:chOff x="0" y="0"/>
              <a:chExt cx="624" cy="432"/>
            </a:xfrm>
          </p:grpSpPr>
          <p:sp>
            <p:nvSpPr>
              <p:cNvPr id="12" name="Rectangle 4">
                <a:extLst>
                  <a:ext uri="{FF2B5EF4-FFF2-40B4-BE49-F238E27FC236}">
                    <a16:creationId xmlns:a16="http://schemas.microsoft.com/office/drawing/2014/main" id="{BFC6FC0B-4300-43ED-BD88-44C8FACBE3F2}"/>
                  </a:ext>
                </a:extLst>
              </p:cNvPr>
              <p:cNvSpPr>
                <a:spLocks noChangeArrowheads="1"/>
              </p:cNvSpPr>
              <p:nvPr/>
            </p:nvSpPr>
            <p:spPr bwMode="auto">
              <a:xfrm>
                <a:off x="0" y="0"/>
                <a:ext cx="384" cy="432"/>
              </a:xfrm>
              <a:prstGeom prst="rect">
                <a:avLst/>
              </a:prstGeom>
              <a:solidFill>
                <a:schemeClr val="folHlink"/>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a:extLst>
                  <a:ext uri="{FF2B5EF4-FFF2-40B4-BE49-F238E27FC236}">
                    <a16:creationId xmlns:a16="http://schemas.microsoft.com/office/drawing/2014/main" id="{F2FBD9CD-18C4-4DDE-BF26-61D9AD951893}"/>
                  </a:ext>
                </a:extLst>
              </p:cNvPr>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a:extLst>
                <a:ext uri="{FF2B5EF4-FFF2-40B4-BE49-F238E27FC236}">
                  <a16:creationId xmlns:a16="http://schemas.microsoft.com/office/drawing/2014/main" id="{6FA1DA9F-5495-4E26-B63E-B4B4E39F590F}"/>
                </a:ext>
              </a:extLst>
            </p:cNvPr>
            <p:cNvGrpSpPr>
              <a:grpSpLocks/>
            </p:cNvGrpSpPr>
            <p:nvPr/>
          </p:nvGrpSpPr>
          <p:grpSpPr bwMode="auto">
            <a:xfrm>
              <a:off x="261" y="334"/>
              <a:ext cx="465" cy="299"/>
              <a:chOff x="0" y="0"/>
              <a:chExt cx="672" cy="432"/>
            </a:xfrm>
          </p:grpSpPr>
          <p:sp>
            <p:nvSpPr>
              <p:cNvPr id="10" name="Rectangle 7">
                <a:extLst>
                  <a:ext uri="{FF2B5EF4-FFF2-40B4-BE49-F238E27FC236}">
                    <a16:creationId xmlns:a16="http://schemas.microsoft.com/office/drawing/2014/main" id="{67C86019-5130-4E45-893E-F9EFE4FD3A9F}"/>
                  </a:ext>
                </a:extLst>
              </p:cNvPr>
              <p:cNvSpPr>
                <a:spLocks noChangeArrowheads="1"/>
              </p:cNvSpPr>
              <p:nvPr/>
            </p:nvSpPr>
            <p:spPr bwMode="auto">
              <a:xfrm>
                <a:off x="0" y="0"/>
                <a:ext cx="384" cy="432"/>
              </a:xfrm>
              <a:prstGeom prst="rect">
                <a:avLst/>
              </a:prstGeom>
              <a:solidFill>
                <a:schemeClr val="accent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a:extLst>
                  <a:ext uri="{FF2B5EF4-FFF2-40B4-BE49-F238E27FC236}">
                    <a16:creationId xmlns:a16="http://schemas.microsoft.com/office/drawing/2014/main" id="{86D58052-571E-4997-BBB1-AAF56D725BE9}"/>
                  </a:ext>
                </a:extLst>
              </p:cNvPr>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a:extLst>
                <a:ext uri="{FF2B5EF4-FFF2-40B4-BE49-F238E27FC236}">
                  <a16:creationId xmlns:a16="http://schemas.microsoft.com/office/drawing/2014/main" id="{4CA959EB-FFBF-490C-836E-1272CF1BAA7F}"/>
                </a:ext>
              </a:extLst>
            </p:cNvPr>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a:extLst>
                <a:ext uri="{FF2B5EF4-FFF2-40B4-BE49-F238E27FC236}">
                  <a16:creationId xmlns:a16="http://schemas.microsoft.com/office/drawing/2014/main" id="{27FCA811-5F92-4F55-A8FF-4C5C82273A32}"/>
                </a:ext>
              </a:extLst>
            </p:cNvPr>
            <p:cNvSpPr>
              <a:spLocks noChangeArrowheads="1"/>
            </p:cNvSpPr>
            <p:nvPr/>
          </p:nvSpPr>
          <p:spPr bwMode="auto">
            <a:xfrm>
              <a:off x="400" y="0"/>
              <a:ext cx="20" cy="663"/>
            </a:xfrm>
            <a:prstGeom prst="rect">
              <a:avLst/>
            </a:prstGeom>
            <a:solidFill>
              <a:schemeClr val="bg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a:extLst>
                <a:ext uri="{FF2B5EF4-FFF2-40B4-BE49-F238E27FC236}">
                  <a16:creationId xmlns:a16="http://schemas.microsoft.com/office/drawing/2014/main" id="{4D231D0D-BC89-4928-B160-3666F4F3CE3D}"/>
                </a:ext>
              </a:extLst>
            </p:cNvPr>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pic>
        <p:nvPicPr>
          <p:cNvPr id="14" name="图片 23">
            <a:extLst>
              <a:ext uri="{FF2B5EF4-FFF2-40B4-BE49-F238E27FC236}">
                <a16:creationId xmlns:a16="http://schemas.microsoft.com/office/drawing/2014/main" id="{D5A3B365-2A81-401E-8C6C-CBB03DA602A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0" y="114300"/>
            <a:ext cx="3235325"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0" descr="C:\Users\osmond\Desktop\centos5-fig\centos-logo.png">
            <a:extLst>
              <a:ext uri="{FF2B5EF4-FFF2-40B4-BE49-F238E27FC236}">
                <a16:creationId xmlns:a16="http://schemas.microsoft.com/office/drawing/2014/main" id="{CD076D5A-2FBA-4E69-AA3D-8AF6BEDDAE6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88188" y="754063"/>
            <a:ext cx="158432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3">
            <a:extLst>
              <a:ext uri="{FF2B5EF4-FFF2-40B4-BE49-F238E27FC236}">
                <a16:creationId xmlns:a16="http://schemas.microsoft.com/office/drawing/2014/main" id="{8D1B0D6A-BFD6-4234-AD9A-3614FE3D86C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l="82329" t="2643" b="89954"/>
          <a:stretch>
            <a:fillRect/>
          </a:stretch>
        </p:blipFill>
        <p:spPr bwMode="auto">
          <a:xfrm>
            <a:off x="6729413" y="415925"/>
            <a:ext cx="23907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9E0A2116-C459-4DE2-9EAF-104A5515AF32}"/>
              </a:ext>
            </a:extLst>
          </p:cNvPr>
          <p:cNvSpPr txBox="1">
            <a:spLocks noChangeArrowheads="1"/>
          </p:cNvSpPr>
          <p:nvPr userDrawn="1"/>
        </p:nvSpPr>
        <p:spPr bwMode="auto">
          <a:xfrm>
            <a:off x="6767513" y="341313"/>
            <a:ext cx="1949450" cy="369887"/>
          </a:xfrm>
          <a:prstGeom prst="rect">
            <a:avLst/>
          </a:prstGeom>
          <a:solidFill>
            <a:schemeClr val="bg1"/>
          </a:solid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lang="zh-CN" altLang="en-US">
                <a:latin typeface="华文行楷" panose="02010800040101010101" pitchFamily="2" charset="-122"/>
                <a:ea typeface="华文行楷" panose="02010800040101010101" pitchFamily="2" charset="-122"/>
              </a:rPr>
              <a:t>               大数据</a:t>
            </a:r>
            <a:r>
              <a:rPr lang="zh-CN" altLang="en-US" sz="900">
                <a:latin typeface="仿宋" panose="02010609060101010101" pitchFamily="49" charset="-122"/>
                <a:ea typeface="仿宋" panose="02010609060101010101" pitchFamily="49" charset="-122"/>
              </a:rPr>
              <a:t>学院</a:t>
            </a:r>
          </a:p>
        </p:txBody>
      </p:sp>
      <p:sp>
        <p:nvSpPr>
          <p:cNvPr id="18" name="Text Box 12">
            <a:extLst>
              <a:ext uri="{FF2B5EF4-FFF2-40B4-BE49-F238E27FC236}">
                <a16:creationId xmlns:a16="http://schemas.microsoft.com/office/drawing/2014/main" id="{58D2EFDF-B9F1-4C80-BD8F-71E748DF65C2}"/>
              </a:ext>
            </a:extLst>
          </p:cNvPr>
          <p:cNvSpPr txBox="1">
            <a:spLocks noChangeArrowheads="1"/>
          </p:cNvSpPr>
          <p:nvPr userDrawn="1"/>
        </p:nvSpPr>
        <p:spPr bwMode="auto">
          <a:xfrm>
            <a:off x="6659563" y="288925"/>
            <a:ext cx="1463675" cy="461963"/>
          </a:xfrm>
          <a:prstGeom prst="rect">
            <a:avLst/>
          </a:prstGeom>
          <a:noFill/>
          <a:ln>
            <a:noFill/>
          </a:ln>
        </p:spPr>
        <p:txBody>
          <a:bodyPr lIns="91433" tIns="45717" rIns="91433" bIns="45717">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lang="en-US" altLang="zh-CN" sz="2400" b="1">
                <a:solidFill>
                  <a:srgbClr val="CEC609"/>
                </a:solidFill>
                <a:latin typeface="Broadway" panose="04040905080002020502" pitchFamily="82" charset="0"/>
              </a:rPr>
              <a:t>TYUT</a:t>
            </a:r>
          </a:p>
        </p:txBody>
      </p:sp>
      <p:sp>
        <p:nvSpPr>
          <p:cNvPr id="19" name="矩形 18">
            <a:extLst>
              <a:ext uri="{FF2B5EF4-FFF2-40B4-BE49-F238E27FC236}">
                <a16:creationId xmlns:a16="http://schemas.microsoft.com/office/drawing/2014/main" id="{E4279E14-A276-48BF-959D-D142FEC4BC30}"/>
              </a:ext>
            </a:extLst>
          </p:cNvPr>
          <p:cNvSpPr>
            <a:spLocks noChangeArrowheads="1"/>
          </p:cNvSpPr>
          <p:nvPr userDrawn="1"/>
        </p:nvSpPr>
        <p:spPr bwMode="auto">
          <a:xfrm flipH="1">
            <a:off x="8672513" y="509588"/>
            <a:ext cx="46037" cy="53975"/>
          </a:xfrm>
          <a:prstGeom prst="rect">
            <a:avLst/>
          </a:prstGeom>
          <a:solidFill>
            <a:srgbClr val="FF0000"/>
          </a:solidFill>
          <a:ln w="9525" algn="ctr">
            <a:solidFill>
              <a:srgbClr val="FF0000"/>
            </a:solidFill>
            <a:round/>
            <a:headEnd/>
            <a:tailEnd/>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sp>
        <p:nvSpPr>
          <p:cNvPr id="2060"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20" name="Rectangle 14">
            <a:extLst>
              <a:ext uri="{FF2B5EF4-FFF2-40B4-BE49-F238E27FC236}">
                <a16:creationId xmlns:a16="http://schemas.microsoft.com/office/drawing/2014/main" id="{4C0E3032-292D-4509-A7AE-CBA8C2E04CD3}"/>
              </a:ext>
            </a:extLst>
          </p:cNvPr>
          <p:cNvSpPr>
            <a:spLocks noGrp="1" noChangeArrowheads="1"/>
          </p:cNvSpPr>
          <p:nvPr>
            <p:ph type="dt" sz="half" idx="10"/>
          </p:nvPr>
        </p:nvSpPr>
        <p:spPr>
          <a:xfrm>
            <a:off x="990600" y="6248400"/>
            <a:ext cx="1905000" cy="457200"/>
          </a:xfrm>
          <a:prstGeom prst="rect">
            <a:avLst/>
          </a:prstGeom>
        </p:spPr>
        <p:txBody>
          <a:bodyPr/>
          <a:lstStyle>
            <a:lvl1pPr>
              <a:defRPr>
                <a:solidFill>
                  <a:schemeClr val="bg2"/>
                </a:solidFill>
              </a:defRPr>
            </a:lvl1pPr>
          </a:lstStyle>
          <a:p>
            <a:pPr>
              <a:defRPr/>
            </a:pPr>
            <a:fld id="{A9ACC8A9-F4FB-4D3E-9D3D-610D7285E4EB}" type="datetime2">
              <a:rPr lang="zh-CN" altLang="en-US" smtClean="0"/>
              <a:t>2025年5月9日</a:t>
            </a:fld>
            <a:endParaRPr lang="en-US" altLang="zh-CN"/>
          </a:p>
        </p:txBody>
      </p:sp>
      <p:sp>
        <p:nvSpPr>
          <p:cNvPr id="21" name="Rectangle 15">
            <a:extLst>
              <a:ext uri="{FF2B5EF4-FFF2-40B4-BE49-F238E27FC236}">
                <a16:creationId xmlns:a16="http://schemas.microsoft.com/office/drawing/2014/main" id="{4A0F8DC1-B1CE-4497-A7A7-F9EB6B9FCCB2}"/>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22" name="Rectangle 16">
            <a:extLst>
              <a:ext uri="{FF2B5EF4-FFF2-40B4-BE49-F238E27FC236}">
                <a16:creationId xmlns:a16="http://schemas.microsoft.com/office/drawing/2014/main" id="{EC997CE6-CB37-4F50-B1A9-763FFE446244}"/>
              </a:ext>
            </a:extLst>
          </p:cNvPr>
          <p:cNvSpPr>
            <a:spLocks noGrp="1" noChangeArrowheads="1"/>
          </p:cNvSpPr>
          <p:nvPr>
            <p:ph type="sldNum" sz="quarter" idx="12"/>
          </p:nvPr>
        </p:nvSpPr>
        <p:spPr>
          <a:xfrm>
            <a:off x="6858000" y="6248400"/>
            <a:ext cx="1905000" cy="457200"/>
          </a:xfrm>
          <a:prstGeom prst="rect">
            <a:avLst/>
          </a:prstGeom>
        </p:spPr>
        <p:txBody>
          <a:bodyPr/>
          <a:lstStyle>
            <a:lvl1pPr>
              <a:defRPr>
                <a:solidFill>
                  <a:schemeClr val="bg2"/>
                </a:solidFill>
              </a:defRPr>
            </a:lvl1pPr>
          </a:lstStyle>
          <a:p>
            <a:pPr>
              <a:defRPr/>
            </a:pPr>
            <a:fld id="{117B12D3-157F-4068-BE47-38BD3A8AF5D4}" type="slidenum">
              <a:rPr lang="zh-CN" altLang="en-US"/>
              <a:pPr>
                <a:defRPr/>
              </a:pPr>
              <a:t>‹#›</a:t>
            </a:fld>
            <a:endParaRPr lang="en-US" altLang="zh-CN"/>
          </a:p>
        </p:txBody>
      </p:sp>
    </p:spTree>
    <p:extLst>
      <p:ext uri="{BB962C8B-B14F-4D97-AF65-F5344CB8AC3E}">
        <p14:creationId xmlns:p14="http://schemas.microsoft.com/office/powerpoint/2010/main" val="861394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Times New Roman" panose="02020603050405020304" pitchFamily="18"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0" i="0" baseline="0">
                <a:latin typeface="Tahoma" panose="020B0604030504040204" pitchFamily="34" charset="0"/>
                <a:ea typeface="楷体_GB2312"/>
              </a:defRPr>
            </a:lvl1pPr>
            <a:lvl2pPr marL="742950" indent="-285750">
              <a:buFont typeface="Wingdings" panose="05000000000000000000" pitchFamily="2" charset="2"/>
              <a:buChar char="l"/>
              <a:defRPr b="1" i="0" baseline="0">
                <a:latin typeface="Tahoma" panose="020B0604030504040204" pitchFamily="34" charset="0"/>
                <a:ea typeface="楷体_GB2312"/>
              </a:defRPr>
            </a:lvl2pPr>
            <a:lvl3pPr marL="1143000" indent="-228600">
              <a:buFont typeface="Wingdings" panose="05000000000000000000" pitchFamily="2" charset="2"/>
              <a:buChar char="u"/>
              <a:defRPr b="1" baseline="0">
                <a:latin typeface="Tahoma" panose="020B0604030504040204" pitchFamily="34" charset="0"/>
                <a:ea typeface="楷体_GB2312"/>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418795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C232E806-323A-48EA-B3E9-86DEA0713E33}"/>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6C1839D4-A906-4B0F-BF62-40BC08955926}" type="datetime2">
              <a:rPr lang="zh-CN" altLang="en-US" smtClean="0"/>
              <a:t>2025年5月9日</a:t>
            </a:fld>
            <a:endParaRPr lang="en-US" altLang="zh-CN"/>
          </a:p>
        </p:txBody>
      </p:sp>
      <p:sp>
        <p:nvSpPr>
          <p:cNvPr id="5" name="Rectangle 12">
            <a:extLst>
              <a:ext uri="{FF2B5EF4-FFF2-40B4-BE49-F238E27FC236}">
                <a16:creationId xmlns:a16="http://schemas.microsoft.com/office/drawing/2014/main" id="{072050FD-51BC-41E0-977B-4A87F1A44A85}"/>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EFC740F8-9C8E-48C7-9547-2CA4BE62FB02}"/>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815363AE-85D7-48F3-83E6-F38039B7DDA8}" type="slidenum">
              <a:rPr lang="zh-CN" altLang="en-US"/>
              <a:pPr>
                <a:defRPr/>
              </a:pPr>
              <a:t>‹#›</a:t>
            </a:fld>
            <a:endParaRPr lang="en-US" altLang="zh-CN"/>
          </a:p>
        </p:txBody>
      </p:sp>
    </p:spTree>
    <p:extLst>
      <p:ext uri="{BB962C8B-B14F-4D97-AF65-F5344CB8AC3E}">
        <p14:creationId xmlns:p14="http://schemas.microsoft.com/office/powerpoint/2010/main" val="375388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4C427C5E-963F-4603-B1E3-DF589D8080BD}"/>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A82B265B-C293-4BE6-8F81-174D773A3AC0}" type="datetime2">
              <a:rPr lang="zh-CN" altLang="en-US" smtClean="0"/>
              <a:t>2025年5月9日</a:t>
            </a:fld>
            <a:endParaRPr lang="en-US" altLang="zh-CN"/>
          </a:p>
        </p:txBody>
      </p:sp>
      <p:sp>
        <p:nvSpPr>
          <p:cNvPr id="6" name="Rectangle 12">
            <a:extLst>
              <a:ext uri="{FF2B5EF4-FFF2-40B4-BE49-F238E27FC236}">
                <a16:creationId xmlns:a16="http://schemas.microsoft.com/office/drawing/2014/main" id="{D08E827A-155D-4006-839B-B52CEC821779}"/>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A815AEEF-C21C-4BFD-8535-2BF334AE7641}"/>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1B30DE9E-9889-4936-BCB6-08152E4770EC}" type="slidenum">
              <a:rPr lang="zh-CN" altLang="en-US"/>
              <a:pPr>
                <a:defRPr/>
              </a:pPr>
              <a:t>‹#›</a:t>
            </a:fld>
            <a:endParaRPr lang="en-US" altLang="zh-CN"/>
          </a:p>
        </p:txBody>
      </p:sp>
    </p:spTree>
    <p:extLst>
      <p:ext uri="{BB962C8B-B14F-4D97-AF65-F5344CB8AC3E}">
        <p14:creationId xmlns:p14="http://schemas.microsoft.com/office/powerpoint/2010/main" val="3466481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B737658E-66E6-48D6-87D0-2ACC7A3F545C}"/>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0E4C01C4-A439-48ED-BA1F-1A7AB7FC585D}" type="datetime2">
              <a:rPr lang="zh-CN" altLang="en-US" smtClean="0"/>
              <a:t>2025年5月9日</a:t>
            </a:fld>
            <a:endParaRPr lang="en-US" altLang="zh-CN"/>
          </a:p>
        </p:txBody>
      </p:sp>
      <p:sp>
        <p:nvSpPr>
          <p:cNvPr id="8" name="Rectangle 12">
            <a:extLst>
              <a:ext uri="{FF2B5EF4-FFF2-40B4-BE49-F238E27FC236}">
                <a16:creationId xmlns:a16="http://schemas.microsoft.com/office/drawing/2014/main" id="{396B486E-54B6-4E81-AC36-BC25DC002010}"/>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9" name="Rectangle 13">
            <a:extLst>
              <a:ext uri="{FF2B5EF4-FFF2-40B4-BE49-F238E27FC236}">
                <a16:creationId xmlns:a16="http://schemas.microsoft.com/office/drawing/2014/main" id="{91992F5D-A16B-485B-8A30-99D6740731C3}"/>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607D74F6-D682-47BE-A3C8-B2CA531BF0AD}" type="slidenum">
              <a:rPr lang="zh-CN" altLang="en-US"/>
              <a:pPr>
                <a:defRPr/>
              </a:pPr>
              <a:t>‹#›</a:t>
            </a:fld>
            <a:endParaRPr lang="en-US" altLang="zh-CN"/>
          </a:p>
        </p:txBody>
      </p:sp>
    </p:spTree>
    <p:extLst>
      <p:ext uri="{BB962C8B-B14F-4D97-AF65-F5344CB8AC3E}">
        <p14:creationId xmlns:p14="http://schemas.microsoft.com/office/powerpoint/2010/main" val="2224841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0D0C98E4-47A5-4437-B14C-BB896D4744D0}"/>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B5606F1B-8BF6-477D-AC87-B0907761C6F2}" type="datetime2">
              <a:rPr lang="zh-CN" altLang="en-US" smtClean="0"/>
              <a:t>2025年5月9日</a:t>
            </a:fld>
            <a:endParaRPr lang="en-US" altLang="zh-CN"/>
          </a:p>
        </p:txBody>
      </p:sp>
      <p:sp>
        <p:nvSpPr>
          <p:cNvPr id="4" name="Rectangle 12">
            <a:extLst>
              <a:ext uri="{FF2B5EF4-FFF2-40B4-BE49-F238E27FC236}">
                <a16:creationId xmlns:a16="http://schemas.microsoft.com/office/drawing/2014/main" id="{43CAC612-B701-4EC9-9932-F3D32E89D646}"/>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5" name="Rectangle 13">
            <a:extLst>
              <a:ext uri="{FF2B5EF4-FFF2-40B4-BE49-F238E27FC236}">
                <a16:creationId xmlns:a16="http://schemas.microsoft.com/office/drawing/2014/main" id="{12E05527-BF33-4928-9AE1-94906B548799}"/>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E8E51994-79C7-4610-A904-32FC7D243E99}" type="slidenum">
              <a:rPr lang="zh-CN" altLang="en-US"/>
              <a:pPr>
                <a:defRPr/>
              </a:pPr>
              <a:t>‹#›</a:t>
            </a:fld>
            <a:endParaRPr lang="en-US" altLang="zh-CN"/>
          </a:p>
        </p:txBody>
      </p:sp>
    </p:spTree>
    <p:extLst>
      <p:ext uri="{BB962C8B-B14F-4D97-AF65-F5344CB8AC3E}">
        <p14:creationId xmlns:p14="http://schemas.microsoft.com/office/powerpoint/2010/main" val="1969406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BF9C150-4D8B-43DB-919F-D881E72C06DF}"/>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5B6B6BF2-1552-41C3-AB98-13F2BD6E7187}" type="datetime2">
              <a:rPr lang="zh-CN" altLang="en-US" smtClean="0"/>
              <a:t>2025年5月9日</a:t>
            </a:fld>
            <a:endParaRPr lang="en-US" altLang="zh-CN"/>
          </a:p>
        </p:txBody>
      </p:sp>
      <p:sp>
        <p:nvSpPr>
          <p:cNvPr id="3" name="Rectangle 12">
            <a:extLst>
              <a:ext uri="{FF2B5EF4-FFF2-40B4-BE49-F238E27FC236}">
                <a16:creationId xmlns:a16="http://schemas.microsoft.com/office/drawing/2014/main" id="{568D3D9D-612E-40B7-875D-E44D434B0414}"/>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4" name="Rectangle 13">
            <a:extLst>
              <a:ext uri="{FF2B5EF4-FFF2-40B4-BE49-F238E27FC236}">
                <a16:creationId xmlns:a16="http://schemas.microsoft.com/office/drawing/2014/main" id="{177C39F5-2E08-4B9C-B44C-C5180EF50B85}"/>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06810C8D-C138-4C10-A071-32060A3012A7}" type="slidenum">
              <a:rPr lang="zh-CN" altLang="en-US"/>
              <a:pPr>
                <a:defRPr/>
              </a:pPr>
              <a:t>‹#›</a:t>
            </a:fld>
            <a:endParaRPr lang="en-US" altLang="zh-CN"/>
          </a:p>
        </p:txBody>
      </p:sp>
    </p:spTree>
    <p:extLst>
      <p:ext uri="{BB962C8B-B14F-4D97-AF65-F5344CB8AC3E}">
        <p14:creationId xmlns:p14="http://schemas.microsoft.com/office/powerpoint/2010/main" val="932834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C168C279-3C1E-4CE7-B243-FB9ED7973170}"/>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AA295DE2-3068-465E-BFE0-87561C68A076}" type="datetime2">
              <a:rPr lang="zh-CN" altLang="en-US" smtClean="0"/>
              <a:t>2025年5月9日</a:t>
            </a:fld>
            <a:endParaRPr lang="en-US" altLang="zh-CN"/>
          </a:p>
        </p:txBody>
      </p:sp>
      <p:sp>
        <p:nvSpPr>
          <p:cNvPr id="6" name="Rectangle 12">
            <a:extLst>
              <a:ext uri="{FF2B5EF4-FFF2-40B4-BE49-F238E27FC236}">
                <a16:creationId xmlns:a16="http://schemas.microsoft.com/office/drawing/2014/main" id="{0A3CCC57-5CD6-431C-AFDA-1913CD36C5D9}"/>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55BF406D-F480-4C89-AE22-1A0AA45686BF}"/>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3A2E6F14-DBBC-4C7A-834C-B3F95216864E}" type="slidenum">
              <a:rPr lang="zh-CN" altLang="en-US"/>
              <a:pPr>
                <a:defRPr/>
              </a:pPr>
              <a:t>‹#›</a:t>
            </a:fld>
            <a:endParaRPr lang="en-US" altLang="zh-CN"/>
          </a:p>
        </p:txBody>
      </p:sp>
    </p:spTree>
    <p:extLst>
      <p:ext uri="{BB962C8B-B14F-4D97-AF65-F5344CB8AC3E}">
        <p14:creationId xmlns:p14="http://schemas.microsoft.com/office/powerpoint/2010/main" val="2141791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6C1F0967-0544-46A5-BD97-BDE829110356}"/>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0D781D9A-067E-4CE2-BB23-1E6937EE9584}" type="datetime2">
              <a:rPr lang="zh-CN" altLang="en-US" smtClean="0"/>
              <a:t>2025年5月9日</a:t>
            </a:fld>
            <a:endParaRPr lang="en-US" altLang="zh-CN"/>
          </a:p>
        </p:txBody>
      </p:sp>
      <p:sp>
        <p:nvSpPr>
          <p:cNvPr id="6" name="Rectangle 12">
            <a:extLst>
              <a:ext uri="{FF2B5EF4-FFF2-40B4-BE49-F238E27FC236}">
                <a16:creationId xmlns:a16="http://schemas.microsoft.com/office/drawing/2014/main" id="{0B930C38-8A79-4D28-B8E0-CA0F08C624EB}"/>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AC4FF2DF-FA04-4B16-8D43-EF4BAFB1FC5D}"/>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5E59C476-984E-473F-8388-E6864EFF0B33}" type="slidenum">
              <a:rPr lang="zh-CN" altLang="en-US"/>
              <a:pPr>
                <a:defRPr/>
              </a:pPr>
              <a:t>‹#›</a:t>
            </a:fld>
            <a:endParaRPr lang="en-US" altLang="zh-CN"/>
          </a:p>
        </p:txBody>
      </p:sp>
    </p:spTree>
    <p:extLst>
      <p:ext uri="{BB962C8B-B14F-4D97-AF65-F5344CB8AC3E}">
        <p14:creationId xmlns:p14="http://schemas.microsoft.com/office/powerpoint/2010/main" val="3164486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F7E9C2AF-0E4C-4983-95ED-9904E0239D2B}"/>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D8C79F09-33F9-4C5C-9F8E-407D914ACE70}" type="datetime2">
              <a:rPr lang="zh-CN" altLang="en-US" smtClean="0"/>
              <a:t>2025年5月9日</a:t>
            </a:fld>
            <a:endParaRPr lang="en-US" altLang="zh-CN"/>
          </a:p>
        </p:txBody>
      </p:sp>
      <p:sp>
        <p:nvSpPr>
          <p:cNvPr id="5" name="Rectangle 12">
            <a:extLst>
              <a:ext uri="{FF2B5EF4-FFF2-40B4-BE49-F238E27FC236}">
                <a16:creationId xmlns:a16="http://schemas.microsoft.com/office/drawing/2014/main" id="{2D0D25F7-7FF6-475E-BF01-A1168FF74AAC}"/>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DF199A99-FC37-4747-ACC1-1B08E83BAAB1}"/>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27CBB581-100E-4C34-B67E-7EEBA286973C}" type="slidenum">
              <a:rPr lang="zh-CN" altLang="en-US"/>
              <a:pPr>
                <a:defRPr/>
              </a:pPr>
              <a:t>‹#›</a:t>
            </a:fld>
            <a:endParaRPr lang="en-US" altLang="zh-CN"/>
          </a:p>
        </p:txBody>
      </p:sp>
    </p:spTree>
    <p:extLst>
      <p:ext uri="{BB962C8B-B14F-4D97-AF65-F5344CB8AC3E}">
        <p14:creationId xmlns:p14="http://schemas.microsoft.com/office/powerpoint/2010/main" val="521504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783A2B5D-E716-4576-B26B-6ED193254435}"/>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C731E038-7059-43C5-917A-04B2FF8C098E}" type="datetime2">
              <a:rPr lang="zh-CN" altLang="en-US" smtClean="0"/>
              <a:t>2025年5月9日</a:t>
            </a:fld>
            <a:endParaRPr lang="en-US" altLang="zh-CN"/>
          </a:p>
        </p:txBody>
      </p:sp>
      <p:sp>
        <p:nvSpPr>
          <p:cNvPr id="5" name="Rectangle 12">
            <a:extLst>
              <a:ext uri="{FF2B5EF4-FFF2-40B4-BE49-F238E27FC236}">
                <a16:creationId xmlns:a16="http://schemas.microsoft.com/office/drawing/2014/main" id="{A8FB3226-2686-40D2-BE07-4C6B5C7E8A77}"/>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6" name="Rectangle 13">
            <a:extLst>
              <a:ext uri="{FF2B5EF4-FFF2-40B4-BE49-F238E27FC236}">
                <a16:creationId xmlns:a16="http://schemas.microsoft.com/office/drawing/2014/main" id="{A615F989-5BE7-40F7-9868-E68E0998C1BD}"/>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97310F61-FAE0-4B69-BD09-48CC328586FB}" type="slidenum">
              <a:rPr lang="zh-CN" altLang="en-US"/>
              <a:pPr>
                <a:defRPr/>
              </a:pPr>
              <a:t>‹#›</a:t>
            </a:fld>
            <a:endParaRPr lang="en-US" altLang="zh-CN"/>
          </a:p>
        </p:txBody>
      </p:sp>
    </p:spTree>
    <p:extLst>
      <p:ext uri="{BB962C8B-B14F-4D97-AF65-F5344CB8AC3E}">
        <p14:creationId xmlns:p14="http://schemas.microsoft.com/office/powerpoint/2010/main" val="3802071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EA4365A7-4363-4929-A4E7-20BA396EFBC9}"/>
              </a:ext>
            </a:extLst>
          </p:cNvPr>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fld id="{720070F6-2B03-43E4-BE61-1C3CBB6001EE}" type="datetime2">
              <a:rPr lang="zh-CN" altLang="en-US" smtClean="0"/>
              <a:t>2025年5月9日</a:t>
            </a:fld>
            <a:endParaRPr lang="en-US" altLang="zh-CN"/>
          </a:p>
        </p:txBody>
      </p:sp>
      <p:sp>
        <p:nvSpPr>
          <p:cNvPr id="6" name="Rectangle 12">
            <a:extLst>
              <a:ext uri="{FF2B5EF4-FFF2-40B4-BE49-F238E27FC236}">
                <a16:creationId xmlns:a16="http://schemas.microsoft.com/office/drawing/2014/main" id="{5707A314-908D-4071-A745-2A247D433FAD}"/>
              </a:ext>
            </a:extLst>
          </p:cNvPr>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r>
              <a:rPr lang="zh-CN" altLang="en-US"/>
              <a:t>梁如军（</a:t>
            </a:r>
            <a:r>
              <a:rPr lang="en-US" altLang="zh-CN"/>
              <a:t>linuxbooks@126.com</a:t>
            </a:r>
            <a:r>
              <a:rPr lang="zh-CN" altLang="en-US"/>
              <a:t>） </a:t>
            </a:r>
            <a:r>
              <a:rPr lang="en-US" altLang="zh-CN"/>
              <a:t>Creative Commons License</a:t>
            </a:r>
            <a:r>
              <a:rPr lang="zh-CN" altLang="en-US"/>
              <a:t>（</a:t>
            </a:r>
            <a:r>
              <a:rPr lang="en-US" altLang="zh-CN"/>
              <a:t>BY-NC-SA</a:t>
            </a:r>
            <a:r>
              <a:rPr lang="zh-CN" altLang="en-US"/>
              <a:t>）</a:t>
            </a:r>
            <a:endParaRPr lang="en-US" altLang="zh-CN"/>
          </a:p>
        </p:txBody>
      </p:sp>
      <p:sp>
        <p:nvSpPr>
          <p:cNvPr id="7" name="Rectangle 13">
            <a:extLst>
              <a:ext uri="{FF2B5EF4-FFF2-40B4-BE49-F238E27FC236}">
                <a16:creationId xmlns:a16="http://schemas.microsoft.com/office/drawing/2014/main" id="{9EBAD794-524B-4E4F-B2C0-ED7795B5B0CA}"/>
              </a:ext>
            </a:extLst>
          </p:cNvPr>
          <p:cNvSpPr>
            <a:spLocks noGrp="1" noChangeArrowheads="1"/>
          </p:cNvSpPr>
          <p:nvPr>
            <p:ph type="sldNum" sz="quarter" idx="12"/>
          </p:nvPr>
        </p:nvSpPr>
        <p:spPr>
          <a:xfrm>
            <a:off x="7042150" y="6243638"/>
            <a:ext cx="1905000" cy="457200"/>
          </a:xfrm>
          <a:prstGeom prst="rect">
            <a:avLst/>
          </a:prstGeom>
          <a:ln/>
        </p:spPr>
        <p:txBody>
          <a:bodyPr/>
          <a:lstStyle>
            <a:lvl1pPr>
              <a:defRPr/>
            </a:lvl1pPr>
          </a:lstStyle>
          <a:p>
            <a:pPr>
              <a:defRPr/>
            </a:pPr>
            <a:fld id="{EF69604F-D62F-4770-B8BA-DB8702C7ACC9}" type="slidenum">
              <a:rPr lang="zh-CN" altLang="en-US"/>
              <a:pPr>
                <a:defRPr/>
              </a:pPr>
              <a:t>‹#›</a:t>
            </a:fld>
            <a:endParaRPr lang="en-US" altLang="zh-CN"/>
          </a:p>
        </p:txBody>
      </p:sp>
    </p:spTree>
    <p:extLst>
      <p:ext uri="{BB962C8B-B14F-4D97-AF65-F5344CB8AC3E}">
        <p14:creationId xmlns:p14="http://schemas.microsoft.com/office/powerpoint/2010/main" val="2655181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288375" y="6101737"/>
            <a:ext cx="8604105" cy="247619"/>
          </a:xfrm>
          <a:prstGeom prst="rect">
            <a:avLst/>
          </a:prstGeom>
        </p:spPr>
      </p:pic>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灯片编号占位符 3"/>
          <p:cNvSpPr>
            <a:spLocks noGrp="1"/>
          </p:cNvSpPr>
          <p:nvPr userDrawn="1">
            <p:ph type="sldNum" sz="quarter" idx="12"/>
          </p:nvPr>
        </p:nvSpPr>
        <p:spPr>
          <a:xfrm>
            <a:off x="179512" y="6356350"/>
            <a:ext cx="79208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A5D45-772D-467C-BE8D-4CDB2A1BAAB8}"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rPr>
              <a:t>/119</a:t>
            </a:r>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宋体" panose="02010600030101010101" pitchFamily="2" charset="-122"/>
              <a:cs typeface="+mn-cs"/>
            </a:endParaRPr>
          </a:p>
        </p:txBody>
      </p:sp>
      <p:sp>
        <p:nvSpPr>
          <p:cNvPr id="22" name="矩形 21"/>
          <p:cNvSpPr/>
          <p:nvPr userDrawn="1"/>
        </p:nvSpPr>
        <p:spPr>
          <a:xfrm>
            <a:off x="6024428" y="6581001"/>
            <a:ext cx="3119572" cy="276999"/>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http://</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staff.ustc.edu.cn</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wenzheng</a:t>
            </a:r>
            <a:r>
              <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index.html</a:t>
            </a:r>
            <a:endParaRPr kumimoji="0" lang="en-US" altLang="zh-CN"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4061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42F7A86-4457-4C44-AA23-A188BF74BCAD}"/>
              </a:ext>
            </a:extLst>
          </p:cNvPr>
          <p:cNvSpPr>
            <a:spLocks noChangeArrowheads="1"/>
          </p:cNvSpPr>
          <p:nvPr/>
        </p:nvSpPr>
        <p:spPr bwMode="auto">
          <a:xfrm>
            <a:off x="417513" y="584622"/>
            <a:ext cx="438150" cy="474663"/>
          </a:xfrm>
          <a:prstGeom prst="rect">
            <a:avLst/>
          </a:prstGeom>
          <a:solidFill>
            <a:schemeClr val="accent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7" name="Rectangle 3">
            <a:extLst>
              <a:ext uri="{FF2B5EF4-FFF2-40B4-BE49-F238E27FC236}">
                <a16:creationId xmlns:a16="http://schemas.microsoft.com/office/drawing/2014/main" id="{02584698-5801-44B2-B7AD-FCC18561FC35}"/>
              </a:ext>
            </a:extLst>
          </p:cNvPr>
          <p:cNvSpPr>
            <a:spLocks noChangeArrowheads="1"/>
          </p:cNvSpPr>
          <p:nvPr/>
        </p:nvSpPr>
        <p:spPr bwMode="auto">
          <a:xfrm>
            <a:off x="800100" y="584622"/>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8" name="Rectangle 4">
            <a:extLst>
              <a:ext uri="{FF2B5EF4-FFF2-40B4-BE49-F238E27FC236}">
                <a16:creationId xmlns:a16="http://schemas.microsoft.com/office/drawing/2014/main" id="{2E0C6132-DC88-4BAF-A84D-7E2E7022A9C6}"/>
              </a:ext>
            </a:extLst>
          </p:cNvPr>
          <p:cNvSpPr>
            <a:spLocks noChangeArrowheads="1"/>
          </p:cNvSpPr>
          <p:nvPr/>
        </p:nvSpPr>
        <p:spPr bwMode="auto">
          <a:xfrm>
            <a:off x="541338" y="1006897"/>
            <a:ext cx="422275" cy="474663"/>
          </a:xfrm>
          <a:prstGeom prst="rect">
            <a:avLst/>
          </a:prstGeom>
          <a:solidFill>
            <a:schemeClr val="folHlink"/>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29" name="Rectangle 5">
            <a:extLst>
              <a:ext uri="{FF2B5EF4-FFF2-40B4-BE49-F238E27FC236}">
                <a16:creationId xmlns:a16="http://schemas.microsoft.com/office/drawing/2014/main" id="{4947C4E7-E9F1-4112-A381-FC9839854EED}"/>
              </a:ext>
            </a:extLst>
          </p:cNvPr>
          <p:cNvSpPr>
            <a:spLocks noChangeArrowheads="1"/>
          </p:cNvSpPr>
          <p:nvPr/>
        </p:nvSpPr>
        <p:spPr bwMode="auto">
          <a:xfrm>
            <a:off x="911225" y="1006897"/>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0" name="Rectangle 6">
            <a:extLst>
              <a:ext uri="{FF2B5EF4-FFF2-40B4-BE49-F238E27FC236}">
                <a16:creationId xmlns:a16="http://schemas.microsoft.com/office/drawing/2014/main" id="{A847C857-1190-4296-B7AB-6BFFF81307D1}"/>
              </a:ext>
            </a:extLst>
          </p:cNvPr>
          <p:cNvSpPr>
            <a:spLocks noChangeArrowheads="1"/>
          </p:cNvSpPr>
          <p:nvPr/>
        </p:nvSpPr>
        <p:spPr bwMode="auto">
          <a:xfrm>
            <a:off x="127000" y="933872"/>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1" name="Rectangle 7">
            <a:extLst>
              <a:ext uri="{FF2B5EF4-FFF2-40B4-BE49-F238E27FC236}">
                <a16:creationId xmlns:a16="http://schemas.microsoft.com/office/drawing/2014/main" id="{49CAE5DD-3506-44A8-A213-ED4D6F21BA78}"/>
              </a:ext>
            </a:extLst>
          </p:cNvPr>
          <p:cNvSpPr>
            <a:spLocks noChangeArrowheads="1"/>
          </p:cNvSpPr>
          <p:nvPr/>
        </p:nvSpPr>
        <p:spPr bwMode="auto">
          <a:xfrm>
            <a:off x="762000" y="476672"/>
            <a:ext cx="31750" cy="1052513"/>
          </a:xfrm>
          <a:prstGeom prst="rect">
            <a:avLst/>
          </a:prstGeom>
          <a:solidFill>
            <a:schemeClr val="bg2"/>
          </a:soli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2" name="Rectangle 8">
            <a:extLst>
              <a:ext uri="{FF2B5EF4-FFF2-40B4-BE49-F238E27FC236}">
                <a16:creationId xmlns:a16="http://schemas.microsoft.com/office/drawing/2014/main" id="{4FEC8925-5AC3-44B6-AB60-3C07DF2B3BD4}"/>
              </a:ext>
            </a:extLst>
          </p:cNvPr>
          <p:cNvSpPr>
            <a:spLocks noChangeArrowheads="1"/>
          </p:cNvSpPr>
          <p:nvPr/>
        </p:nvSpPr>
        <p:spPr bwMode="auto">
          <a:xfrm>
            <a:off x="442913" y="1267247"/>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buFont typeface="Arial" panose="020B0604020202020204" pitchFamily="34" charset="0"/>
              <a:defRPr>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a:p>
        </p:txBody>
      </p:sp>
      <p:sp>
        <p:nvSpPr>
          <p:cNvPr id="1033" name="Rectangle 9">
            <a:extLst>
              <a:ext uri="{FF2B5EF4-FFF2-40B4-BE49-F238E27FC236}">
                <a16:creationId xmlns:a16="http://schemas.microsoft.com/office/drawing/2014/main" id="{57BBD128-274C-4EB1-8A54-1FF695FAF069}"/>
              </a:ext>
            </a:extLst>
          </p:cNvPr>
          <p:cNvSpPr>
            <a:spLocks noGrp="1" noChangeArrowheads="1"/>
          </p:cNvSpPr>
          <p:nvPr>
            <p:ph type="title"/>
          </p:nvPr>
        </p:nvSpPr>
        <p:spPr bwMode="auto">
          <a:xfrm>
            <a:off x="1154113" y="191715"/>
            <a:ext cx="7793037"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0ECAAF0A-6223-44A8-8A03-959C24719577}"/>
              </a:ext>
            </a:extLst>
          </p:cNvPr>
          <p:cNvSpPr>
            <a:spLocks noGrp="1" noChangeArrowheads="1"/>
          </p:cNvSpPr>
          <p:nvPr>
            <p:ph type="body" idx="1"/>
          </p:nvPr>
        </p:nvSpPr>
        <p:spPr bwMode="auto">
          <a:xfrm>
            <a:off x="963613" y="173630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4589688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28.png"/><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5.jpeg"/></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568776B-74CF-4543-AE65-AB6ED29B5694}"/>
              </a:ext>
            </a:extLst>
          </p:cNvPr>
          <p:cNvSpPr>
            <a:spLocks noGrp="1" noChangeArrowheads="1"/>
          </p:cNvSpPr>
          <p:nvPr>
            <p:ph type="ctrTitle"/>
          </p:nvPr>
        </p:nvSpPr>
        <p:spPr>
          <a:xfrm>
            <a:off x="1259632" y="1651754"/>
            <a:ext cx="7215187" cy="1462088"/>
          </a:xfrm>
        </p:spPr>
        <p:txBody>
          <a:bodyPr/>
          <a:lstStyle/>
          <a:p>
            <a:pPr algn="ctr" eaLnBrk="1" hangingPunct="1"/>
            <a:r>
              <a:rPr lang="en-US" altLang="zh-CN" sz="4800" b="1" dirty="0">
                <a:solidFill>
                  <a:srgbClr val="0000FF"/>
                </a:solidFill>
                <a:latin typeface="Times New Roman" panose="02020603050405020304" pitchFamily="18" charset="0"/>
                <a:cs typeface="Times New Roman" panose="02020603050405020304" pitchFamily="18" charset="0"/>
              </a:rPr>
              <a:t>     </a:t>
            </a:r>
            <a:r>
              <a:rPr lang="en-US" altLang="zh-CN" sz="4800" b="1" dirty="0">
                <a:solidFill>
                  <a:srgbClr val="0070C0"/>
                </a:solidFill>
                <a:latin typeface="Times New Roman" panose="02020603050405020304" pitchFamily="18" charset="0"/>
                <a:cs typeface="Times New Roman" panose="02020603050405020304" pitchFamily="18" charset="0"/>
              </a:rPr>
              <a:t>Linux</a:t>
            </a:r>
            <a:r>
              <a:rPr lang="zh-CN" altLang="en-US" sz="4800" b="1" dirty="0">
                <a:solidFill>
                  <a:srgbClr val="0070C0"/>
                </a:solidFill>
                <a:latin typeface="Times New Roman" panose="02020603050405020304" pitchFamily="18" charset="0"/>
                <a:cs typeface="Times New Roman" panose="02020603050405020304" pitchFamily="18" charset="0"/>
              </a:rPr>
              <a:t>操作系统</a:t>
            </a:r>
            <a:endParaRPr lang="zh-CN" altLang="en-US" sz="4800" b="1" dirty="0">
              <a:solidFill>
                <a:srgbClr val="0070C0"/>
              </a:solidFill>
            </a:endParaRPr>
          </a:p>
        </p:txBody>
      </p:sp>
      <p:sp>
        <p:nvSpPr>
          <p:cNvPr id="6148" name="Text Box 9">
            <a:extLst>
              <a:ext uri="{FF2B5EF4-FFF2-40B4-BE49-F238E27FC236}">
                <a16:creationId xmlns:a16="http://schemas.microsoft.com/office/drawing/2014/main" id="{B2132117-E551-481D-83B1-81AEDF3EBA96}"/>
              </a:ext>
            </a:extLst>
          </p:cNvPr>
          <p:cNvSpPr txBox="1">
            <a:spLocks noChangeArrowheads="1"/>
          </p:cNvSpPr>
          <p:nvPr/>
        </p:nvSpPr>
        <p:spPr bwMode="auto">
          <a:xfrm>
            <a:off x="4572000" y="3622160"/>
            <a:ext cx="4320480" cy="115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第四章 </a:t>
            </a:r>
            <a:r>
              <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 </a:t>
            </a:r>
          </a:p>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本地存储管理</a:t>
            </a:r>
            <a:endPar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149" name="Picture 27">
            <a:extLst>
              <a:ext uri="{FF2B5EF4-FFF2-40B4-BE49-F238E27FC236}">
                <a16:creationId xmlns:a16="http://schemas.microsoft.com/office/drawing/2014/main" id="{FB74E9E8-0D01-4AA2-8A4D-FC70EFC6D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886" r="43958"/>
          <a:stretch>
            <a:fillRect/>
          </a:stretch>
        </p:blipFill>
        <p:spPr bwMode="auto">
          <a:xfrm>
            <a:off x="-828600" y="3252888"/>
            <a:ext cx="5400600"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 Box 9">
            <a:extLst>
              <a:ext uri="{FF2B5EF4-FFF2-40B4-BE49-F238E27FC236}">
                <a16:creationId xmlns:a16="http://schemas.microsoft.com/office/drawing/2014/main" id="{366A8360-0009-48B3-8425-941E65EFDD0E}"/>
              </a:ext>
            </a:extLst>
          </p:cNvPr>
          <p:cNvSpPr txBox="1">
            <a:spLocks noChangeArrowheads="1"/>
          </p:cNvSpPr>
          <p:nvPr/>
        </p:nvSpPr>
        <p:spPr bwMode="auto">
          <a:xfrm>
            <a:off x="2450796" y="4310080"/>
            <a:ext cx="1823759" cy="707880"/>
          </a:xfrm>
          <a:prstGeom prst="rect">
            <a:avLst/>
          </a:prstGeom>
          <a:noFill/>
          <a:ln w="9525">
            <a:noFill/>
            <a:miter lim="800000"/>
            <a:headEnd/>
            <a:tailEnd/>
          </a:ln>
        </p:spPr>
        <p:txBody>
          <a:bodyPr wrap="square" lIns="91433" tIns="45717" rIns="91433" bIns="45717">
            <a:sp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altLang="zh-CN" sz="2000" b="0" i="0" u="none" strike="noStrike" kern="1200" cap="none" spc="0" normalizeH="0" baseline="0" noProof="0" dirty="0">
                <a:ln>
                  <a:noFill/>
                </a:ln>
                <a:solidFill>
                  <a:srgbClr val="000000">
                    <a:lumMod val="75000"/>
                    <a:lumOff val="25000"/>
                  </a:srgbClr>
                </a:solidFill>
                <a:effectLst/>
                <a:uLnTx/>
                <a:uFillTx/>
                <a:latin typeface="Broadway" pitchFamily="82" charset="0"/>
                <a:ea typeface="方正粗倩简体" pitchFamily="65" charset="-122"/>
                <a:cs typeface="+mn-cs"/>
              </a:rPr>
              <a:t>NO.1 </a:t>
            </a:r>
          </a:p>
          <a:p>
            <a:pPr marL="0" marR="0" lvl="0" indent="0" algn="ctr" defTabSz="914400" rtl="0" eaLnBrk="0" fontAlgn="base" latinLnBrk="0" hangingPunct="0">
              <a:lnSpc>
                <a:spcPct val="100000"/>
              </a:lnSpc>
              <a:spcBef>
                <a:spcPts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Broadway" panose="04040905080B02020502" pitchFamily="82" charset="0"/>
                <a:ea typeface="微软雅黑" pitchFamily="34" charset="-122"/>
                <a:cs typeface="Times New Roman" panose="02020603050405020304" pitchFamily="18" charset="0"/>
              </a:rPr>
              <a:t>操作基础</a:t>
            </a:r>
          </a:p>
        </p:txBody>
      </p:sp>
      <p:sp>
        <p:nvSpPr>
          <p:cNvPr id="6151" name="Text Box 10">
            <a:extLst>
              <a:ext uri="{FF2B5EF4-FFF2-40B4-BE49-F238E27FC236}">
                <a16:creationId xmlns:a16="http://schemas.microsoft.com/office/drawing/2014/main" id="{FB12D547-C9F9-4BD3-A1D1-DD7AB5B72C05}"/>
              </a:ext>
            </a:extLst>
          </p:cNvPr>
          <p:cNvSpPr txBox="1">
            <a:spLocks noChangeArrowheads="1"/>
          </p:cNvSpPr>
          <p:nvPr/>
        </p:nvSpPr>
        <p:spPr bwMode="auto">
          <a:xfrm>
            <a:off x="-99833" y="4609555"/>
            <a:ext cx="1821795" cy="784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ts val="600"/>
              </a:spcBef>
              <a:spcAft>
                <a:spcPct val="0"/>
              </a:spcAft>
              <a:buClrTx/>
              <a:buSzTx/>
              <a:buFontTx/>
              <a:buNone/>
              <a:tabLst/>
              <a:defRPr/>
            </a:pPr>
            <a:r>
              <a:rPr kumimoji="0" lang="en-US" altLang="zh-CN" sz="2000" b="0" i="0" u="none" strike="noStrike" kern="1200" cap="none" spc="0" normalizeH="0" baseline="0" noProof="0" dirty="0">
                <a:ln>
                  <a:noFill/>
                </a:ln>
                <a:solidFill>
                  <a:srgbClr val="0066FF"/>
                </a:solidFill>
                <a:effectLst/>
                <a:uLnTx/>
                <a:uFillTx/>
                <a:latin typeface="Broadway" panose="04040905080B02020502" pitchFamily="82" charset="0"/>
                <a:ea typeface="方正粗倩简体"/>
                <a:cs typeface="方正粗倩简体"/>
              </a:rPr>
              <a:t>NO.2</a:t>
            </a:r>
          </a:p>
          <a:p>
            <a:pPr marL="0" marR="0" lvl="0" indent="0" algn="ctr" defTabSz="914400" rtl="0" eaLnBrk="0" fontAlgn="base" latinLnBrk="0" hangingPunct="0">
              <a:lnSpc>
                <a:spcPct val="100000"/>
              </a:lnSpc>
              <a:spcBef>
                <a:spcPts val="600"/>
              </a:spcBef>
              <a:spcAft>
                <a:spcPct val="0"/>
              </a:spcAft>
              <a:buClrTx/>
              <a:buSzTx/>
              <a:buFontTx/>
              <a:buNone/>
              <a:tabLst/>
              <a:defRPr/>
            </a:pPr>
            <a:r>
              <a:rPr kumimoji="0" lang="zh-CN" altLang="en-US" sz="2000" b="0" i="0" u="none" strike="noStrike" kern="1200" cap="none" spc="0" normalizeH="0" baseline="0" noProof="0" dirty="0">
                <a:ln>
                  <a:noFill/>
                </a:ln>
                <a:solidFill>
                  <a:srgbClr val="0066FF"/>
                </a:solidFill>
                <a:effectLst/>
                <a:uLnTx/>
                <a:uFillTx/>
                <a:latin typeface="Broadway" panose="04040905080B02020502" pitchFamily="82" charset="0"/>
                <a:ea typeface="方正粗倩简体"/>
                <a:cs typeface="方正粗倩简体"/>
              </a:rPr>
              <a:t>系统与安全</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152" name="Text Box 11">
            <a:extLst>
              <a:ext uri="{FF2B5EF4-FFF2-40B4-BE49-F238E27FC236}">
                <a16:creationId xmlns:a16="http://schemas.microsoft.com/office/drawing/2014/main" id="{C2F49B22-B429-49BC-8B4D-DD7FBD83805B}"/>
              </a:ext>
            </a:extLst>
          </p:cNvPr>
          <p:cNvSpPr txBox="1">
            <a:spLocks noChangeArrowheads="1"/>
          </p:cNvSpPr>
          <p:nvPr/>
        </p:nvSpPr>
        <p:spPr bwMode="auto">
          <a:xfrm>
            <a:off x="1331640" y="5948348"/>
            <a:ext cx="1823757" cy="707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3" tIns="45717" rIns="91433" bIns="45717">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6600"/>
                </a:solidFill>
                <a:effectLst/>
                <a:uLnTx/>
                <a:uFillTx/>
                <a:latin typeface="Broadway" panose="04040905080B02020502" pitchFamily="82" charset="0"/>
                <a:ea typeface="方正粗倩简体"/>
                <a:cs typeface="方正粗倩简体"/>
              </a:rPr>
              <a:t>NO.3</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6600"/>
                </a:solidFill>
                <a:effectLst/>
                <a:uLnTx/>
                <a:uFillTx/>
                <a:latin typeface="Broadway" panose="04040905080B02020502" pitchFamily="82" charset="0"/>
                <a:ea typeface="方正粗倩简体"/>
                <a:cs typeface="方正粗倩简体"/>
              </a:rPr>
              <a:t>网络服务</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Rectangle 4">
            <a:extLst>
              <a:ext uri="{FF2B5EF4-FFF2-40B4-BE49-F238E27FC236}">
                <a16:creationId xmlns:a16="http://schemas.microsoft.com/office/drawing/2014/main" id="{28986AA3-AB86-40A6-B519-FC370F85CD07}"/>
              </a:ext>
            </a:extLst>
          </p:cNvPr>
          <p:cNvSpPr txBox="1">
            <a:spLocks noChangeArrowheads="1"/>
          </p:cNvSpPr>
          <p:nvPr/>
        </p:nvSpPr>
        <p:spPr bwMode="auto">
          <a:xfrm>
            <a:off x="5289936" y="5295916"/>
            <a:ext cx="3429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主讲人</a:t>
            </a:r>
            <a:r>
              <a:rPr kumimoji="0" lang="zh-CN" altLang="en-US" sz="2400" b="0" i="0"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fld id="{1F386AA7-D660-41A0-88D0-8B1466781745}" type="datetime2">
              <a:rPr kumimoji="0" lang="zh-CN" altLang="zh-CN" sz="2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tabLst/>
                <a:defRPr/>
              </a:pPr>
              <a:t>2025年5月9日</a:t>
            </a:fld>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sp>
        <p:nvSpPr>
          <p:cNvPr id="2" name="圆角矩形 1">
            <a:extLst>
              <a:ext uri="{FF2B5EF4-FFF2-40B4-BE49-F238E27FC236}">
                <a16:creationId xmlns:a16="http://schemas.microsoft.com/office/drawing/2014/main" id="{24F68058-A272-4A0C-AC8E-6E614A1DCF7B}"/>
              </a:ext>
            </a:extLst>
          </p:cNvPr>
          <p:cNvSpPr/>
          <p:nvPr/>
        </p:nvSpPr>
        <p:spPr>
          <a:xfrm>
            <a:off x="723663" y="1582791"/>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4709205"/>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存储管理与磁盘分区</a:t>
            </a:r>
          </a:p>
          <a:p>
            <a:pPr lvl="1" algn="l">
              <a:lnSpc>
                <a:spcPct val="110000"/>
              </a:lnSpc>
              <a:spcBef>
                <a:spcPts val="600"/>
              </a:spcBef>
              <a:spcAft>
                <a:spcPts val="600"/>
              </a:spcAft>
            </a:pPr>
            <a:r>
              <a:rPr lang="zh-CN" altLang="en-US" dirty="0">
                <a:solidFill>
                  <a:schemeClr val="tx1"/>
                </a:solidFill>
              </a:rPr>
              <a:t>存储管理工具，</a:t>
            </a:r>
            <a:r>
              <a:rPr lang="en-US" altLang="zh-CN" dirty="0">
                <a:solidFill>
                  <a:schemeClr val="tx1"/>
                </a:solidFill>
              </a:rPr>
              <a:t>Linux</a:t>
            </a:r>
            <a:r>
              <a:rPr lang="zh-CN" altLang="en-US" dirty="0">
                <a:solidFill>
                  <a:schemeClr val="tx1"/>
                </a:solidFill>
              </a:rPr>
              <a:t>文件系统，硬盘的分类，硬盘的接口，硬盘分区</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逻辑卷管理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什么是</a:t>
            </a:r>
            <a:r>
              <a:rPr lang="en-US" altLang="zh-CN" dirty="0">
                <a:solidFill>
                  <a:prstClr val="black"/>
                </a:solidFill>
              </a:rPr>
              <a:t>LVM</a:t>
            </a:r>
            <a:r>
              <a:rPr lang="zh-CN" altLang="en-US" dirty="0">
                <a:solidFill>
                  <a:prstClr val="black"/>
                </a:solidFill>
              </a:rPr>
              <a:t>，</a:t>
            </a:r>
            <a:r>
              <a:rPr lang="en-US" altLang="zh-CN" dirty="0">
                <a:solidFill>
                  <a:prstClr val="black"/>
                </a:solidFill>
              </a:rPr>
              <a:t>LVM</a:t>
            </a:r>
            <a:r>
              <a:rPr lang="zh-CN" altLang="en-US" dirty="0">
                <a:solidFill>
                  <a:prstClr val="black"/>
                </a:solidFill>
              </a:rPr>
              <a:t>基本概念，</a:t>
            </a:r>
            <a:r>
              <a:rPr lang="en-US" altLang="zh-CN" dirty="0">
                <a:solidFill>
                  <a:prstClr val="black"/>
                </a:solidFill>
              </a:rPr>
              <a:t>LVM</a:t>
            </a:r>
            <a:r>
              <a:rPr lang="zh-CN" altLang="en-US" dirty="0">
                <a:solidFill>
                  <a:prstClr val="black"/>
                </a:solidFill>
              </a:rPr>
              <a:t>与文件系统之间的关系，如何管理</a:t>
            </a:r>
            <a:r>
              <a:rPr lang="en-US" altLang="zh-CN" dirty="0">
                <a:solidFill>
                  <a:prstClr val="black"/>
                </a:solidFill>
              </a:rPr>
              <a:t>LVM</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文件管理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创建文件系统，挂装文件系统，自动挂装文件系统，磁盘限额及其配置方法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硬盘物理构造">
            <a:extLst>
              <a:ext uri="{FF2B5EF4-FFF2-40B4-BE49-F238E27FC236}">
                <a16:creationId xmlns:a16="http://schemas.microsoft.com/office/drawing/2014/main" id="{02DFC869-0B59-4EC5-A6BA-FBDE02DFD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3938" y="1423202"/>
            <a:ext cx="3364350" cy="237540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硬盘的技术指标</a:t>
            </a:r>
          </a:p>
        </p:txBody>
      </p:sp>
      <p:sp>
        <p:nvSpPr>
          <p:cNvPr id="9" name="内容占位符 2">
            <a:extLst>
              <a:ext uri="{FF2B5EF4-FFF2-40B4-BE49-F238E27FC236}">
                <a16:creationId xmlns:a16="http://schemas.microsoft.com/office/drawing/2014/main" id="{DA9551F1-8E62-4C65-97A6-479E872DA70D}"/>
              </a:ext>
            </a:extLst>
          </p:cNvPr>
          <p:cNvSpPr txBox="1">
            <a:spLocks/>
          </p:cNvSpPr>
          <p:nvPr/>
        </p:nvSpPr>
        <p:spPr bwMode="auto">
          <a:xfrm>
            <a:off x="395536" y="3977582"/>
            <a:ext cx="8280920" cy="192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rgbClr val="C00000"/>
                </a:solidFill>
              </a:rPr>
              <a:t>数据传输率</a:t>
            </a:r>
            <a:r>
              <a:rPr lang="zh-CN" altLang="en-US" sz="2800" dirty="0"/>
              <a:t>：指的是从硬盘缓存向外</a:t>
            </a:r>
            <a:r>
              <a:rPr lang="zh-CN" altLang="en-US" sz="2800" dirty="0">
                <a:solidFill>
                  <a:srgbClr val="FF0000"/>
                </a:solidFill>
              </a:rPr>
              <a:t>输出数据的速度</a:t>
            </a:r>
            <a:r>
              <a:rPr lang="zh-CN" altLang="en-US" sz="2800" dirty="0"/>
              <a:t>，单位</a:t>
            </a:r>
            <a:r>
              <a:rPr lang="en-US" altLang="zh-CN" sz="2800" dirty="0"/>
              <a:t>MB/s</a:t>
            </a:r>
            <a:endParaRPr lang="en-US" altLang="zh-CN" sz="2800" b="1" dirty="0">
              <a:solidFill>
                <a:srgbClr val="C00000"/>
              </a:solidFill>
            </a:endParaRPr>
          </a:p>
          <a:p>
            <a:r>
              <a:rPr lang="zh-CN" altLang="en-US" sz="2800" b="1" dirty="0">
                <a:solidFill>
                  <a:srgbClr val="C00000"/>
                </a:solidFill>
              </a:rPr>
              <a:t>高速缓存</a:t>
            </a:r>
            <a:r>
              <a:rPr lang="zh-CN" altLang="en-US" sz="2800" dirty="0"/>
              <a:t>：缓存是数据的临时寄存器，主要用来缓解速度差和实现数据预存取等</a:t>
            </a:r>
          </a:p>
          <a:p>
            <a:r>
              <a:rPr lang="zh-CN" altLang="en-US" sz="2800" b="1" dirty="0">
                <a:solidFill>
                  <a:srgbClr val="C00000"/>
                </a:solidFill>
              </a:rPr>
              <a:t>单碟容量</a:t>
            </a:r>
            <a:r>
              <a:rPr lang="zh-CN" altLang="en-US" sz="2800" dirty="0"/>
              <a:t>：指每张碟片的</a:t>
            </a:r>
            <a:r>
              <a:rPr lang="zh-CN" altLang="en-US" sz="2800" dirty="0">
                <a:solidFill>
                  <a:srgbClr val="FF0000"/>
                </a:solidFill>
              </a:rPr>
              <a:t>最大容量</a:t>
            </a:r>
            <a:r>
              <a:rPr lang="zh-CN" altLang="en-US" sz="2800" dirty="0"/>
              <a:t>，反映硬盘综合性能指标的一个重要的因素</a:t>
            </a:r>
          </a:p>
        </p:txBody>
      </p:sp>
      <p:sp>
        <p:nvSpPr>
          <p:cNvPr id="3" name="内容占位符 2"/>
          <p:cNvSpPr>
            <a:spLocks noGrp="1"/>
          </p:cNvSpPr>
          <p:nvPr>
            <p:ph idx="1"/>
          </p:nvPr>
        </p:nvSpPr>
        <p:spPr>
          <a:xfrm>
            <a:off x="395536" y="1612769"/>
            <a:ext cx="5544616" cy="2185839"/>
          </a:xfrm>
        </p:spPr>
        <p:txBody>
          <a:bodyPr/>
          <a:lstStyle/>
          <a:p>
            <a:r>
              <a:rPr lang="zh-CN" altLang="en-US" sz="2800" b="1" dirty="0">
                <a:solidFill>
                  <a:srgbClr val="C00000"/>
                </a:solidFill>
              </a:rPr>
              <a:t>主轴转速</a:t>
            </a:r>
            <a:r>
              <a:rPr lang="zh-CN" altLang="en-US" sz="2800" dirty="0"/>
              <a:t>：指硬盘盘片在一分钟内所能完成的最大转数</a:t>
            </a:r>
          </a:p>
          <a:p>
            <a:r>
              <a:rPr lang="zh-CN" altLang="en-US" sz="2800" b="1" dirty="0">
                <a:solidFill>
                  <a:srgbClr val="C00000"/>
                </a:solidFill>
              </a:rPr>
              <a:t>平均寻道时间</a:t>
            </a:r>
            <a:r>
              <a:rPr lang="zh-CN" altLang="en-US" sz="2800" dirty="0"/>
              <a:t>：指磁头从得到指令到寻找到数据所在磁道的时间，它描述硬盘</a:t>
            </a:r>
            <a:r>
              <a:rPr lang="zh-CN" altLang="en-US" sz="2800" dirty="0">
                <a:solidFill>
                  <a:srgbClr val="FF0000"/>
                </a:solidFill>
              </a:rPr>
              <a:t>读取数据的能力</a:t>
            </a:r>
          </a:p>
        </p:txBody>
      </p:sp>
      <p:pic>
        <p:nvPicPr>
          <p:cNvPr id="6" name="图片 5">
            <a:extLst>
              <a:ext uri="{FF2B5EF4-FFF2-40B4-BE49-F238E27FC236}">
                <a16:creationId xmlns:a16="http://schemas.microsoft.com/office/drawing/2014/main" id="{A8DF6022-DDB8-4CD1-8067-E552DF32A730}"/>
              </a:ext>
            </a:extLst>
          </p:cNvPr>
          <p:cNvPicPr>
            <a:picLocks noChangeAspect="1"/>
          </p:cNvPicPr>
          <p:nvPr/>
        </p:nvPicPr>
        <p:blipFill>
          <a:blip r:embed="rId4"/>
          <a:stretch>
            <a:fillRect/>
          </a:stretch>
        </p:blipFill>
        <p:spPr>
          <a:xfrm>
            <a:off x="5807055" y="2852936"/>
            <a:ext cx="637153" cy="200025"/>
          </a:xfrm>
          <a:prstGeom prst="rect">
            <a:avLst/>
          </a:prstGeom>
        </p:spPr>
      </p:pic>
      <p:sp>
        <p:nvSpPr>
          <p:cNvPr id="4" name="文本框 3">
            <a:extLst>
              <a:ext uri="{FF2B5EF4-FFF2-40B4-BE49-F238E27FC236}">
                <a16:creationId xmlns:a16="http://schemas.microsoft.com/office/drawing/2014/main" id="{5A514742-B023-4CC7-ABEF-6D9F23743F5C}"/>
              </a:ext>
            </a:extLst>
          </p:cNvPr>
          <p:cNvSpPr txBox="1"/>
          <p:nvPr/>
        </p:nvSpPr>
        <p:spPr>
          <a:xfrm>
            <a:off x="5712717" y="2795104"/>
            <a:ext cx="920270" cy="307777"/>
          </a:xfrm>
          <a:prstGeom prst="rect">
            <a:avLst/>
          </a:prstGeom>
          <a:noFill/>
        </p:spPr>
        <p:txBody>
          <a:bodyPr wrap="square" rtlCol="0">
            <a:spAutoFit/>
          </a:bodyPr>
          <a:lstStyle/>
          <a:p>
            <a:r>
              <a:rPr lang="zh-CN" altLang="en-US" sz="1400" dirty="0"/>
              <a:t>主轴马达</a:t>
            </a:r>
          </a:p>
        </p:txBody>
      </p:sp>
      <p:pic>
        <p:nvPicPr>
          <p:cNvPr id="8" name="图片 7">
            <a:extLst>
              <a:ext uri="{FF2B5EF4-FFF2-40B4-BE49-F238E27FC236}">
                <a16:creationId xmlns:a16="http://schemas.microsoft.com/office/drawing/2014/main" id="{FEE74871-9F66-4EC3-ABE7-44C7CC4D722E}"/>
              </a:ext>
            </a:extLst>
          </p:cNvPr>
          <p:cNvPicPr>
            <a:picLocks noChangeAspect="1"/>
          </p:cNvPicPr>
          <p:nvPr/>
        </p:nvPicPr>
        <p:blipFill>
          <a:blip r:embed="rId5"/>
          <a:stretch>
            <a:fillRect/>
          </a:stretch>
        </p:blipFill>
        <p:spPr>
          <a:xfrm>
            <a:off x="8349869" y="3253740"/>
            <a:ext cx="552450" cy="190500"/>
          </a:xfrm>
          <a:prstGeom prst="rect">
            <a:avLst/>
          </a:prstGeom>
        </p:spPr>
      </p:pic>
      <p:sp>
        <p:nvSpPr>
          <p:cNvPr id="10" name="文本框 9">
            <a:extLst>
              <a:ext uri="{FF2B5EF4-FFF2-40B4-BE49-F238E27FC236}">
                <a16:creationId xmlns:a16="http://schemas.microsoft.com/office/drawing/2014/main" id="{45C2B153-891D-4CA5-80D2-38797007968F}"/>
              </a:ext>
            </a:extLst>
          </p:cNvPr>
          <p:cNvSpPr txBox="1"/>
          <p:nvPr/>
        </p:nvSpPr>
        <p:spPr>
          <a:xfrm>
            <a:off x="8259239" y="3195101"/>
            <a:ext cx="920270" cy="307777"/>
          </a:xfrm>
          <a:prstGeom prst="rect">
            <a:avLst/>
          </a:prstGeom>
          <a:noFill/>
        </p:spPr>
        <p:txBody>
          <a:bodyPr wrap="square" rtlCol="0">
            <a:spAutoFit/>
          </a:bodyPr>
          <a:lstStyle/>
          <a:p>
            <a:r>
              <a:rPr lang="zh-CN" altLang="en-US" sz="1400" dirty="0"/>
              <a:t>机械手臂</a:t>
            </a:r>
          </a:p>
        </p:txBody>
      </p:sp>
      <p:pic>
        <p:nvPicPr>
          <p:cNvPr id="12" name="图片 11">
            <a:extLst>
              <a:ext uri="{FF2B5EF4-FFF2-40B4-BE49-F238E27FC236}">
                <a16:creationId xmlns:a16="http://schemas.microsoft.com/office/drawing/2014/main" id="{A9E7009B-4062-4A07-A00B-FC061CB69F41}"/>
              </a:ext>
            </a:extLst>
          </p:cNvPr>
          <p:cNvPicPr>
            <a:picLocks noChangeAspect="1"/>
          </p:cNvPicPr>
          <p:nvPr/>
        </p:nvPicPr>
        <p:blipFill>
          <a:blip r:embed="rId5"/>
          <a:stretch>
            <a:fillRect/>
          </a:stretch>
        </p:blipFill>
        <p:spPr>
          <a:xfrm>
            <a:off x="8117510" y="1481841"/>
            <a:ext cx="552450" cy="190500"/>
          </a:xfrm>
          <a:prstGeom prst="rect">
            <a:avLst/>
          </a:prstGeom>
        </p:spPr>
      </p:pic>
      <p:sp>
        <p:nvSpPr>
          <p:cNvPr id="13" name="文本框 12">
            <a:extLst>
              <a:ext uri="{FF2B5EF4-FFF2-40B4-BE49-F238E27FC236}">
                <a16:creationId xmlns:a16="http://schemas.microsoft.com/office/drawing/2014/main" id="{EA254CF0-A503-4A3C-BF5A-78A17705B0BF}"/>
              </a:ext>
            </a:extLst>
          </p:cNvPr>
          <p:cNvSpPr txBox="1"/>
          <p:nvPr/>
        </p:nvSpPr>
        <p:spPr>
          <a:xfrm>
            <a:off x="8026880" y="1423202"/>
            <a:ext cx="920270" cy="307777"/>
          </a:xfrm>
          <a:prstGeom prst="rect">
            <a:avLst/>
          </a:prstGeom>
          <a:noFill/>
        </p:spPr>
        <p:txBody>
          <a:bodyPr wrap="square" rtlCol="0">
            <a:spAutoFit/>
          </a:bodyPr>
          <a:lstStyle/>
          <a:p>
            <a:r>
              <a:rPr lang="zh-CN" altLang="en-US" sz="1400" dirty="0"/>
              <a:t>碟片</a:t>
            </a:r>
          </a:p>
        </p:txBody>
      </p:sp>
      <p:pic>
        <p:nvPicPr>
          <p:cNvPr id="14" name="图片 13">
            <a:extLst>
              <a:ext uri="{FF2B5EF4-FFF2-40B4-BE49-F238E27FC236}">
                <a16:creationId xmlns:a16="http://schemas.microsoft.com/office/drawing/2014/main" id="{8F446535-4F4A-49F5-9CC5-9BAD0F1BE4B4}"/>
              </a:ext>
            </a:extLst>
          </p:cNvPr>
          <p:cNvPicPr>
            <a:picLocks noChangeAspect="1"/>
          </p:cNvPicPr>
          <p:nvPr/>
        </p:nvPicPr>
        <p:blipFill>
          <a:blip r:embed="rId5"/>
          <a:stretch>
            <a:fillRect/>
          </a:stretch>
        </p:blipFill>
        <p:spPr>
          <a:xfrm>
            <a:off x="8532814" y="1671408"/>
            <a:ext cx="552450" cy="190500"/>
          </a:xfrm>
          <a:prstGeom prst="rect">
            <a:avLst/>
          </a:prstGeom>
        </p:spPr>
      </p:pic>
      <p:sp>
        <p:nvSpPr>
          <p:cNvPr id="15" name="文本框 14">
            <a:extLst>
              <a:ext uri="{FF2B5EF4-FFF2-40B4-BE49-F238E27FC236}">
                <a16:creationId xmlns:a16="http://schemas.microsoft.com/office/drawing/2014/main" id="{2A130151-1B25-4DB3-BD4A-14016356406F}"/>
              </a:ext>
            </a:extLst>
          </p:cNvPr>
          <p:cNvSpPr txBox="1"/>
          <p:nvPr/>
        </p:nvSpPr>
        <p:spPr>
          <a:xfrm>
            <a:off x="8442184" y="1612769"/>
            <a:ext cx="552450" cy="307777"/>
          </a:xfrm>
          <a:prstGeom prst="rect">
            <a:avLst/>
          </a:prstGeom>
          <a:noFill/>
        </p:spPr>
        <p:txBody>
          <a:bodyPr wrap="square" rtlCol="0">
            <a:spAutoFit/>
          </a:bodyPr>
          <a:lstStyle/>
          <a:p>
            <a:r>
              <a:rPr lang="zh-CN" altLang="en-US" sz="1400" dirty="0"/>
              <a:t>磁头</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碟片上的数据格式</a:t>
            </a:r>
          </a:p>
        </p:txBody>
      </p:sp>
      <p:sp>
        <p:nvSpPr>
          <p:cNvPr id="9" name="内容占位符 2">
            <a:extLst>
              <a:ext uri="{FF2B5EF4-FFF2-40B4-BE49-F238E27FC236}">
                <a16:creationId xmlns:a16="http://schemas.microsoft.com/office/drawing/2014/main" id="{DA9551F1-8E62-4C65-97A6-479E872DA70D}"/>
              </a:ext>
            </a:extLst>
          </p:cNvPr>
          <p:cNvSpPr txBox="1">
            <a:spLocks/>
          </p:cNvSpPr>
          <p:nvPr/>
        </p:nvSpPr>
        <p:spPr bwMode="auto">
          <a:xfrm>
            <a:off x="523036" y="4205463"/>
            <a:ext cx="7073299" cy="231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rgbClr val="C00000"/>
                </a:solidFill>
              </a:rPr>
              <a:t>硬盘扇区分类</a:t>
            </a:r>
            <a:endParaRPr lang="en-US" altLang="zh-CN" sz="2800" dirty="0"/>
          </a:p>
          <a:p>
            <a:pPr lvl="1"/>
            <a:r>
              <a:rPr lang="zh-CN" altLang="en-US" b="0" dirty="0"/>
              <a:t>旧式的</a:t>
            </a:r>
            <a:r>
              <a:rPr lang="en-US" altLang="zh-CN" b="0" dirty="0"/>
              <a:t>MBR</a:t>
            </a:r>
            <a:r>
              <a:rPr lang="zh-CN" altLang="en-US" b="0" dirty="0"/>
              <a:t>模式、大小为</a:t>
            </a:r>
            <a:r>
              <a:rPr lang="en-US" altLang="zh-CN" b="0" dirty="0"/>
              <a:t>512B</a:t>
            </a:r>
            <a:r>
              <a:rPr lang="zh-CN" altLang="en-US" b="0" dirty="0"/>
              <a:t>、采用柱面号码划分分区，</a:t>
            </a:r>
            <a:r>
              <a:rPr lang="en-US" altLang="zh-CN" b="0" dirty="0"/>
              <a:t>HDD</a:t>
            </a:r>
            <a:r>
              <a:rPr lang="zh-CN" altLang="en-US" b="0" dirty="0"/>
              <a:t>机械硬盘</a:t>
            </a:r>
            <a:endParaRPr lang="en-US" altLang="zh-CN" b="0" dirty="0"/>
          </a:p>
          <a:p>
            <a:pPr lvl="1"/>
            <a:r>
              <a:rPr lang="zh-CN" altLang="en-US" b="0" dirty="0"/>
              <a:t>新式的</a:t>
            </a:r>
            <a:r>
              <a:rPr lang="en-US" altLang="zh-CN" b="0" dirty="0"/>
              <a:t>GPT</a:t>
            </a:r>
            <a:r>
              <a:rPr lang="zh-CN" altLang="en-US" b="0" dirty="0"/>
              <a:t>模式、高容量硬盘</a:t>
            </a:r>
            <a:r>
              <a:rPr lang="en-US" altLang="zh-CN" b="0" dirty="0"/>
              <a:t>4KB</a:t>
            </a:r>
            <a:r>
              <a:rPr lang="zh-CN" altLang="en-US" b="0" dirty="0"/>
              <a:t>、采用扇区号码划分分区，</a:t>
            </a:r>
            <a:r>
              <a:rPr lang="en-US" altLang="zh-CN" b="0" dirty="0"/>
              <a:t>SSD</a:t>
            </a:r>
            <a:r>
              <a:rPr lang="zh-CN" altLang="en-US" b="0" dirty="0"/>
              <a:t>固态硬盘</a:t>
            </a:r>
            <a:endParaRPr lang="en-US" altLang="zh-CN" b="0" dirty="0"/>
          </a:p>
        </p:txBody>
      </p:sp>
      <p:sp>
        <p:nvSpPr>
          <p:cNvPr id="3" name="内容占位符 2"/>
          <p:cNvSpPr>
            <a:spLocks noGrp="1"/>
          </p:cNvSpPr>
          <p:nvPr>
            <p:ph idx="1"/>
          </p:nvPr>
        </p:nvSpPr>
        <p:spPr>
          <a:xfrm>
            <a:off x="523037" y="1631926"/>
            <a:ext cx="5544616" cy="2573537"/>
          </a:xfrm>
        </p:spPr>
        <p:txBody>
          <a:bodyPr/>
          <a:lstStyle/>
          <a:p>
            <a:r>
              <a:rPr lang="zh-CN" altLang="en-US" sz="2800" b="1" dirty="0">
                <a:solidFill>
                  <a:srgbClr val="C00000"/>
                </a:solidFill>
              </a:rPr>
              <a:t>扇区</a:t>
            </a:r>
            <a:r>
              <a:rPr lang="zh-CN" altLang="en-US" sz="2800" dirty="0"/>
              <a:t>：磁盘的最小物理存储单位</a:t>
            </a:r>
            <a:endParaRPr lang="en-US" altLang="zh-CN" sz="2800" dirty="0"/>
          </a:p>
          <a:p>
            <a:r>
              <a:rPr lang="zh-CN" altLang="en-US" sz="2800" b="1" dirty="0">
                <a:solidFill>
                  <a:srgbClr val="C00000"/>
                </a:solidFill>
              </a:rPr>
              <a:t>磁道</a:t>
            </a:r>
            <a:r>
              <a:rPr lang="zh-CN" altLang="en-US" sz="2800" dirty="0"/>
              <a:t>：同一个同心圆的扇区组合</a:t>
            </a:r>
            <a:endParaRPr lang="en-US" altLang="zh-CN" sz="2800" dirty="0"/>
          </a:p>
          <a:p>
            <a:pPr marL="0" indent="0">
              <a:spcBef>
                <a:spcPts val="300"/>
              </a:spcBef>
              <a:buNone/>
            </a:pPr>
            <a:r>
              <a:rPr lang="en-US" altLang="zh-CN" sz="2800" dirty="0"/>
              <a:t>	     </a:t>
            </a:r>
            <a:r>
              <a:rPr lang="zh-CN" altLang="en-US" sz="2800" dirty="0"/>
              <a:t>成的圆</a:t>
            </a:r>
            <a:endParaRPr lang="zh-CN" altLang="en-US" sz="2800" dirty="0">
              <a:solidFill>
                <a:srgbClr val="FF0000"/>
              </a:solidFill>
            </a:endParaRPr>
          </a:p>
        </p:txBody>
      </p:sp>
      <p:grpSp>
        <p:nvGrpSpPr>
          <p:cNvPr id="17" name="组合 16">
            <a:extLst>
              <a:ext uri="{FF2B5EF4-FFF2-40B4-BE49-F238E27FC236}">
                <a16:creationId xmlns:a16="http://schemas.microsoft.com/office/drawing/2014/main" id="{0700EB3E-5AC1-48CC-987F-9FEEC96E9C74}"/>
              </a:ext>
            </a:extLst>
          </p:cNvPr>
          <p:cNvGrpSpPr/>
          <p:nvPr/>
        </p:nvGrpSpPr>
        <p:grpSpPr>
          <a:xfrm>
            <a:off x="5758923" y="1296367"/>
            <a:ext cx="3385077" cy="3876675"/>
            <a:chOff x="5751514" y="1564540"/>
            <a:chExt cx="3385077" cy="3876675"/>
          </a:xfrm>
        </p:grpSpPr>
        <p:pic>
          <p:nvPicPr>
            <p:cNvPr id="5" name="Picture 2" descr="磁碟盘上的数据格式">
              <a:extLst>
                <a:ext uri="{FF2B5EF4-FFF2-40B4-BE49-F238E27FC236}">
                  <a16:creationId xmlns:a16="http://schemas.microsoft.com/office/drawing/2014/main" id="{C33F3859-8F6F-4C5F-842F-4FA059077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1514" y="1564540"/>
              <a:ext cx="3333750" cy="3876675"/>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FEE74871-9F66-4EC3-ABE7-44C7CC4D722E}"/>
                </a:ext>
              </a:extLst>
            </p:cNvPr>
            <p:cNvPicPr>
              <a:picLocks noChangeAspect="1"/>
            </p:cNvPicPr>
            <p:nvPr/>
          </p:nvPicPr>
          <p:blipFill>
            <a:blip r:embed="rId4"/>
            <a:stretch>
              <a:fillRect/>
            </a:stretch>
          </p:blipFill>
          <p:spPr>
            <a:xfrm>
              <a:off x="8047624" y="3356458"/>
              <a:ext cx="700840" cy="241669"/>
            </a:xfrm>
            <a:prstGeom prst="rect">
              <a:avLst/>
            </a:prstGeom>
          </p:spPr>
        </p:pic>
        <p:pic>
          <p:nvPicPr>
            <p:cNvPr id="12" name="图片 11">
              <a:extLst>
                <a:ext uri="{FF2B5EF4-FFF2-40B4-BE49-F238E27FC236}">
                  <a16:creationId xmlns:a16="http://schemas.microsoft.com/office/drawing/2014/main" id="{A9E7009B-4062-4A07-A00B-FC061CB69F41}"/>
                </a:ext>
              </a:extLst>
            </p:cNvPr>
            <p:cNvPicPr>
              <a:picLocks noChangeAspect="1"/>
            </p:cNvPicPr>
            <p:nvPr/>
          </p:nvPicPr>
          <p:blipFill>
            <a:blip r:embed="rId4"/>
            <a:stretch>
              <a:fillRect/>
            </a:stretch>
          </p:blipFill>
          <p:spPr>
            <a:xfrm>
              <a:off x="8253000" y="1964033"/>
              <a:ext cx="694149" cy="239362"/>
            </a:xfrm>
            <a:prstGeom prst="rect">
              <a:avLst/>
            </a:prstGeom>
          </p:spPr>
        </p:pic>
        <p:sp>
          <p:nvSpPr>
            <p:cNvPr id="13" name="文本框 12">
              <a:extLst>
                <a:ext uri="{FF2B5EF4-FFF2-40B4-BE49-F238E27FC236}">
                  <a16:creationId xmlns:a16="http://schemas.microsoft.com/office/drawing/2014/main" id="{EA254CF0-A503-4A3C-BF5A-78A17705B0BF}"/>
                </a:ext>
              </a:extLst>
            </p:cNvPr>
            <p:cNvSpPr txBox="1"/>
            <p:nvPr/>
          </p:nvSpPr>
          <p:spPr>
            <a:xfrm>
              <a:off x="8216321" y="1979185"/>
              <a:ext cx="920270" cy="307777"/>
            </a:xfrm>
            <a:prstGeom prst="rect">
              <a:avLst/>
            </a:prstGeom>
            <a:noFill/>
          </p:spPr>
          <p:txBody>
            <a:bodyPr wrap="square" rtlCol="0">
              <a:spAutoFit/>
            </a:bodyPr>
            <a:lstStyle/>
            <a:p>
              <a:r>
                <a:rPr lang="zh-CN" altLang="en-US" sz="1400" dirty="0"/>
                <a:t>扇区</a:t>
              </a:r>
            </a:p>
          </p:txBody>
        </p:sp>
        <p:pic>
          <p:nvPicPr>
            <p:cNvPr id="14" name="图片 13">
              <a:extLst>
                <a:ext uri="{FF2B5EF4-FFF2-40B4-BE49-F238E27FC236}">
                  <a16:creationId xmlns:a16="http://schemas.microsoft.com/office/drawing/2014/main" id="{8F446535-4F4A-49F5-9CC5-9BAD0F1BE4B4}"/>
                </a:ext>
              </a:extLst>
            </p:cNvPr>
            <p:cNvPicPr>
              <a:picLocks noChangeAspect="1"/>
            </p:cNvPicPr>
            <p:nvPr/>
          </p:nvPicPr>
          <p:blipFill>
            <a:blip r:embed="rId4"/>
            <a:stretch>
              <a:fillRect/>
            </a:stretch>
          </p:blipFill>
          <p:spPr>
            <a:xfrm>
              <a:off x="8463911" y="4884026"/>
              <a:ext cx="621353" cy="346165"/>
            </a:xfrm>
            <a:prstGeom prst="rect">
              <a:avLst/>
            </a:prstGeom>
          </p:spPr>
        </p:pic>
        <p:sp>
          <p:nvSpPr>
            <p:cNvPr id="15" name="文本框 14">
              <a:extLst>
                <a:ext uri="{FF2B5EF4-FFF2-40B4-BE49-F238E27FC236}">
                  <a16:creationId xmlns:a16="http://schemas.microsoft.com/office/drawing/2014/main" id="{2A130151-1B25-4DB3-BD4A-14016356406F}"/>
                </a:ext>
              </a:extLst>
            </p:cNvPr>
            <p:cNvSpPr txBox="1"/>
            <p:nvPr/>
          </p:nvSpPr>
          <p:spPr>
            <a:xfrm>
              <a:off x="8042097" y="3316060"/>
              <a:ext cx="552450" cy="307777"/>
            </a:xfrm>
            <a:prstGeom prst="rect">
              <a:avLst/>
            </a:prstGeom>
            <a:noFill/>
          </p:spPr>
          <p:txBody>
            <a:bodyPr wrap="square" rtlCol="0">
              <a:spAutoFit/>
            </a:bodyPr>
            <a:lstStyle/>
            <a:p>
              <a:r>
                <a:rPr lang="zh-CN" altLang="en-US" sz="1400" dirty="0"/>
                <a:t>磁道</a:t>
              </a:r>
            </a:p>
          </p:txBody>
        </p:sp>
        <p:sp>
          <p:nvSpPr>
            <p:cNvPr id="10" name="文本框 9">
              <a:extLst>
                <a:ext uri="{FF2B5EF4-FFF2-40B4-BE49-F238E27FC236}">
                  <a16:creationId xmlns:a16="http://schemas.microsoft.com/office/drawing/2014/main" id="{45C2B153-891D-4CA5-80D2-38797007968F}"/>
                </a:ext>
              </a:extLst>
            </p:cNvPr>
            <p:cNvSpPr txBox="1"/>
            <p:nvPr/>
          </p:nvSpPr>
          <p:spPr>
            <a:xfrm>
              <a:off x="8452567" y="4964015"/>
              <a:ext cx="632697" cy="307777"/>
            </a:xfrm>
            <a:prstGeom prst="rect">
              <a:avLst/>
            </a:prstGeom>
            <a:noFill/>
          </p:spPr>
          <p:txBody>
            <a:bodyPr wrap="square" rtlCol="0">
              <a:spAutoFit/>
            </a:bodyPr>
            <a:lstStyle/>
            <a:p>
              <a:r>
                <a:rPr lang="zh-CN" altLang="en-US" sz="1400" dirty="0"/>
                <a:t>柱面</a:t>
              </a:r>
            </a:p>
          </p:txBody>
        </p:sp>
      </p:grpSp>
      <p:sp>
        <p:nvSpPr>
          <p:cNvPr id="19" name="内容占位符 2">
            <a:extLst>
              <a:ext uri="{FF2B5EF4-FFF2-40B4-BE49-F238E27FC236}">
                <a16:creationId xmlns:a16="http://schemas.microsoft.com/office/drawing/2014/main" id="{2CCD0256-706F-4168-8EFB-34A303B95A7F}"/>
              </a:ext>
            </a:extLst>
          </p:cNvPr>
          <p:cNvSpPr txBox="1">
            <a:spLocks/>
          </p:cNvSpPr>
          <p:nvPr/>
        </p:nvSpPr>
        <p:spPr bwMode="auto">
          <a:xfrm>
            <a:off x="523037" y="3114570"/>
            <a:ext cx="5544616" cy="1023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rgbClr val="C00000"/>
                </a:solidFill>
              </a:rPr>
              <a:t>柱面</a:t>
            </a:r>
            <a:r>
              <a:rPr lang="zh-CN" altLang="en-US" sz="2800" dirty="0"/>
              <a:t>：所有碟片上面的同一个磁</a:t>
            </a:r>
            <a:endParaRPr lang="en-US" altLang="zh-CN" sz="2800" dirty="0"/>
          </a:p>
          <a:p>
            <a:pPr marL="0" indent="0">
              <a:buNone/>
            </a:pPr>
            <a:r>
              <a:rPr lang="zh-CN" altLang="en-US" sz="2800" dirty="0"/>
              <a:t>             道组合成</a:t>
            </a:r>
            <a:endParaRPr lang="en-US" altLang="zh-CN" sz="2800" b="1" dirty="0">
              <a:solidFill>
                <a:srgbClr val="C00000"/>
              </a:solidFill>
            </a:endParaRPr>
          </a:p>
        </p:txBody>
      </p:sp>
    </p:spTree>
    <p:extLst>
      <p:ext uri="{BB962C8B-B14F-4D97-AF65-F5344CB8AC3E}">
        <p14:creationId xmlns:p14="http://schemas.microsoft.com/office/powerpoint/2010/main" val="560103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碟片上的数据格式</a:t>
            </a:r>
          </a:p>
        </p:txBody>
      </p:sp>
      <p:sp>
        <p:nvSpPr>
          <p:cNvPr id="4" name="内容占位符 3"/>
          <p:cNvSpPr>
            <a:spLocks noGrp="1"/>
          </p:cNvSpPr>
          <p:nvPr>
            <p:ph idx="1"/>
          </p:nvPr>
        </p:nvSpPr>
        <p:spPr/>
        <p:txBody>
          <a:bodyPr/>
          <a:lstStyle/>
          <a:p>
            <a:endParaRPr lang="zh-CN" altLang="en-US"/>
          </a:p>
        </p:txBody>
      </p:sp>
      <p:pic>
        <p:nvPicPr>
          <p:cNvPr id="1026" name="Picture 2" descr="https://pic2.zhimg.com/80/v2-43d85e56a914cf73cd9cbb100ffe1479_720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270909"/>
            <a:ext cx="7344816" cy="535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585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ATA 介面的排线 （图示取自 Seagate 网站）">
            <a:extLst>
              <a:ext uri="{FF2B5EF4-FFF2-40B4-BE49-F238E27FC236}">
                <a16:creationId xmlns:a16="http://schemas.microsoft.com/office/drawing/2014/main" id="{E1194DBF-E591-4AD6-A7A5-1B600BB7FE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508" b="12568"/>
          <a:stretch/>
        </p:blipFill>
        <p:spPr bwMode="auto">
          <a:xfrm>
            <a:off x="5157009" y="3852465"/>
            <a:ext cx="3942551" cy="2088232"/>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硬盘接口方式</a:t>
            </a:r>
          </a:p>
        </p:txBody>
      </p:sp>
      <p:sp>
        <p:nvSpPr>
          <p:cNvPr id="3" name="内容占位符 2"/>
          <p:cNvSpPr>
            <a:spLocks noGrp="1"/>
          </p:cNvSpPr>
          <p:nvPr>
            <p:ph idx="1"/>
          </p:nvPr>
        </p:nvSpPr>
        <p:spPr>
          <a:xfrm>
            <a:off x="539552" y="1340768"/>
            <a:ext cx="8280920" cy="4114800"/>
          </a:xfrm>
        </p:spPr>
        <p:txBody>
          <a:bodyPr/>
          <a:lstStyle/>
          <a:p>
            <a:r>
              <a:rPr lang="en-US" altLang="zh-CN" sz="2400" dirty="0">
                <a:solidFill>
                  <a:srgbClr val="C00000"/>
                </a:solidFill>
              </a:rPr>
              <a:t>FC-AL</a:t>
            </a:r>
            <a:r>
              <a:rPr lang="zh-CN" altLang="en-US" sz="2400" dirty="0"/>
              <a:t>接口：主要应用于任务级的</a:t>
            </a:r>
            <a:r>
              <a:rPr lang="zh-CN" altLang="en-US" sz="2400" dirty="0">
                <a:solidFill>
                  <a:srgbClr val="FF0000"/>
                </a:solidFill>
              </a:rPr>
              <a:t>关键数据的大容量实时存储</a:t>
            </a:r>
            <a:r>
              <a:rPr lang="zh-CN" altLang="en-US" sz="2400" dirty="0"/>
              <a:t>，可满足高性能、高可靠和高扩展性的存储需要。</a:t>
            </a:r>
          </a:p>
          <a:p>
            <a:r>
              <a:rPr lang="en-US" altLang="zh-CN" sz="2400" dirty="0">
                <a:solidFill>
                  <a:srgbClr val="C00000"/>
                </a:solidFill>
              </a:rPr>
              <a:t>SCSI</a:t>
            </a:r>
            <a:r>
              <a:rPr lang="zh-CN" altLang="en-US" sz="2400" dirty="0"/>
              <a:t>接口：主要应用于</a:t>
            </a:r>
            <a:r>
              <a:rPr lang="zh-CN" altLang="en-US" sz="2400" dirty="0">
                <a:solidFill>
                  <a:srgbClr val="FF0000"/>
                </a:solidFill>
              </a:rPr>
              <a:t>商业级</a:t>
            </a:r>
            <a:r>
              <a:rPr lang="zh-CN" altLang="en-US" sz="2400" dirty="0"/>
              <a:t>的关键数据的大容量存储，已被</a:t>
            </a:r>
            <a:r>
              <a:rPr lang="en-US" altLang="zh-CN" sz="2400" dirty="0"/>
              <a:t>SAS</a:t>
            </a:r>
            <a:r>
              <a:rPr lang="zh-CN" altLang="en-US" sz="2400" dirty="0"/>
              <a:t>接口取代。</a:t>
            </a:r>
          </a:p>
          <a:p>
            <a:r>
              <a:rPr lang="en-US" altLang="zh-CN" sz="2400" b="1" dirty="0">
                <a:solidFill>
                  <a:srgbClr val="C00000"/>
                </a:solidFill>
              </a:rPr>
              <a:t>SAS</a:t>
            </a:r>
            <a:r>
              <a:rPr lang="zh-CN" altLang="en-US" sz="2400" b="1" dirty="0"/>
              <a:t>接口</a:t>
            </a:r>
            <a:r>
              <a:rPr lang="zh-CN" altLang="en-US" sz="2400" dirty="0"/>
              <a:t>：可以</a:t>
            </a:r>
            <a:r>
              <a:rPr lang="zh-CN" altLang="en-US" sz="2400" dirty="0">
                <a:solidFill>
                  <a:srgbClr val="FF0000"/>
                </a:solidFill>
              </a:rPr>
              <a:t>支持</a:t>
            </a:r>
            <a:r>
              <a:rPr lang="en-US" altLang="zh-CN" sz="2400" dirty="0">
                <a:solidFill>
                  <a:srgbClr val="FF0000"/>
                </a:solidFill>
              </a:rPr>
              <a:t>SAS</a:t>
            </a:r>
            <a:r>
              <a:rPr lang="zh-CN" altLang="en-US" sz="2400" dirty="0">
                <a:solidFill>
                  <a:srgbClr val="FF0000"/>
                </a:solidFill>
              </a:rPr>
              <a:t>和</a:t>
            </a:r>
            <a:r>
              <a:rPr lang="en-US" altLang="zh-CN" sz="2400" dirty="0">
                <a:solidFill>
                  <a:srgbClr val="FF0000"/>
                </a:solidFill>
              </a:rPr>
              <a:t>SATA</a:t>
            </a:r>
            <a:r>
              <a:rPr lang="zh-CN" altLang="en-US" sz="2400" dirty="0">
                <a:solidFill>
                  <a:srgbClr val="FF0000"/>
                </a:solidFill>
              </a:rPr>
              <a:t>磁盘</a:t>
            </a:r>
            <a:r>
              <a:rPr lang="zh-CN" altLang="en-US" sz="2400" dirty="0"/>
              <a:t>，很方便地满足不同性价比的存储需求，是具有高性能、高可靠和高扩展性的解决方案，已经取代了并行</a:t>
            </a:r>
            <a:r>
              <a:rPr lang="en-US" altLang="zh-CN" sz="2400" dirty="0"/>
              <a:t>SCSI</a:t>
            </a:r>
            <a:endParaRPr lang="zh-CN" altLang="en-US" sz="2400" dirty="0"/>
          </a:p>
        </p:txBody>
      </p:sp>
      <p:sp>
        <p:nvSpPr>
          <p:cNvPr id="5" name="内容占位符 2">
            <a:extLst>
              <a:ext uri="{FF2B5EF4-FFF2-40B4-BE49-F238E27FC236}">
                <a16:creationId xmlns:a16="http://schemas.microsoft.com/office/drawing/2014/main" id="{6FBE9D0B-E9D2-4AB9-8021-29B609DA86EB}"/>
              </a:ext>
            </a:extLst>
          </p:cNvPr>
          <p:cNvSpPr txBox="1">
            <a:spLocks/>
          </p:cNvSpPr>
          <p:nvPr/>
        </p:nvSpPr>
        <p:spPr bwMode="auto">
          <a:xfrm>
            <a:off x="3059831" y="5973230"/>
            <a:ext cx="5320239" cy="93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solidFill>
                  <a:srgbClr val="C00000"/>
                </a:solidFill>
              </a:rPr>
              <a:t>PATA</a:t>
            </a:r>
            <a:r>
              <a:rPr lang="zh-CN" altLang="en-US" sz="2400" dirty="0">
                <a:solidFill>
                  <a:srgbClr val="C00000"/>
                </a:solidFill>
              </a:rPr>
              <a:t>（俗称</a:t>
            </a:r>
            <a:r>
              <a:rPr lang="en-US" altLang="zh-CN" sz="2400" dirty="0">
                <a:solidFill>
                  <a:srgbClr val="C00000"/>
                </a:solidFill>
              </a:rPr>
              <a:t>IDE</a:t>
            </a:r>
            <a:r>
              <a:rPr lang="zh-CN" altLang="en-US" sz="2400" dirty="0">
                <a:solidFill>
                  <a:srgbClr val="C00000"/>
                </a:solidFill>
              </a:rPr>
              <a:t>）：</a:t>
            </a:r>
            <a:r>
              <a:rPr lang="zh-CN" altLang="en-US" sz="2400" dirty="0"/>
              <a:t>并行</a:t>
            </a:r>
            <a:r>
              <a:rPr lang="en-US" altLang="zh-CN" sz="2400" dirty="0"/>
              <a:t>ATA</a:t>
            </a:r>
            <a:r>
              <a:rPr lang="zh-CN" altLang="en-US" sz="2400" dirty="0"/>
              <a:t>接口，已基本淘汰，被</a:t>
            </a:r>
            <a:r>
              <a:rPr lang="en-US" altLang="zh-CN" sz="2400" dirty="0"/>
              <a:t>SATA</a:t>
            </a:r>
            <a:r>
              <a:rPr lang="zh-CN" altLang="en-US" sz="2400" dirty="0"/>
              <a:t>接口取代</a:t>
            </a:r>
          </a:p>
        </p:txBody>
      </p:sp>
      <p:sp>
        <p:nvSpPr>
          <p:cNvPr id="6" name="内容占位符 2">
            <a:extLst>
              <a:ext uri="{FF2B5EF4-FFF2-40B4-BE49-F238E27FC236}">
                <a16:creationId xmlns:a16="http://schemas.microsoft.com/office/drawing/2014/main" id="{861B56FD-025F-4F48-AE49-F130611F094F}"/>
              </a:ext>
            </a:extLst>
          </p:cNvPr>
          <p:cNvSpPr txBox="1">
            <a:spLocks/>
          </p:cNvSpPr>
          <p:nvPr/>
        </p:nvSpPr>
        <p:spPr bwMode="auto">
          <a:xfrm>
            <a:off x="2771800" y="4054338"/>
            <a:ext cx="2664296" cy="842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b="1" dirty="0">
                <a:solidFill>
                  <a:srgbClr val="C00000"/>
                </a:solidFill>
              </a:rPr>
              <a:t>SATA</a:t>
            </a:r>
            <a:r>
              <a:rPr lang="zh-CN" altLang="en-US" sz="2400" b="1" dirty="0"/>
              <a:t>接口</a:t>
            </a:r>
            <a:r>
              <a:rPr lang="zh-CN" altLang="en-US" sz="2400" dirty="0"/>
              <a:t>：主要应用于</a:t>
            </a:r>
            <a:r>
              <a:rPr lang="zh-CN" altLang="en-US" sz="2400" dirty="0">
                <a:solidFill>
                  <a:srgbClr val="FF0000"/>
                </a:solidFill>
              </a:rPr>
              <a:t>非关键数据的大容量存储</a:t>
            </a:r>
            <a:r>
              <a:rPr lang="zh-CN" altLang="en-US" sz="2400" dirty="0"/>
              <a:t>，替代使用磁带的数据备份</a:t>
            </a:r>
          </a:p>
        </p:txBody>
      </p:sp>
      <p:pic>
        <p:nvPicPr>
          <p:cNvPr id="2052" name="Picture 4" descr="IDE 介面的排线 （图示取自 Seagate 网站）">
            <a:extLst>
              <a:ext uri="{FF2B5EF4-FFF2-40B4-BE49-F238E27FC236}">
                <a16:creationId xmlns:a16="http://schemas.microsoft.com/office/drawing/2014/main" id="{4AFF5E2C-7FB3-4E69-A96C-019BE2EB94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8" y="4233927"/>
            <a:ext cx="3048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47903147-9C2A-45B7-B71A-E93ED52B0F3B}"/>
              </a:ext>
            </a:extLst>
          </p:cNvPr>
          <p:cNvSpPr txBox="1"/>
          <p:nvPr/>
        </p:nvSpPr>
        <p:spPr>
          <a:xfrm>
            <a:off x="827395" y="6542344"/>
            <a:ext cx="1031051" cy="369332"/>
          </a:xfrm>
          <a:prstGeom prst="rect">
            <a:avLst/>
          </a:prstGeom>
          <a:noFill/>
        </p:spPr>
        <p:txBody>
          <a:bodyPr wrap="none" rtlCol="0">
            <a:spAutoFit/>
          </a:bodyPr>
          <a:lstStyle/>
          <a:p>
            <a:r>
              <a:rPr lang="en-US" altLang="zh-CN" dirty="0"/>
              <a:t>IDE</a:t>
            </a:r>
            <a:r>
              <a:rPr lang="zh-CN" altLang="en-US" dirty="0"/>
              <a:t>接口</a:t>
            </a:r>
          </a:p>
        </p:txBody>
      </p:sp>
      <p:sp>
        <p:nvSpPr>
          <p:cNvPr id="13" name="文本框 12">
            <a:extLst>
              <a:ext uri="{FF2B5EF4-FFF2-40B4-BE49-F238E27FC236}">
                <a16:creationId xmlns:a16="http://schemas.microsoft.com/office/drawing/2014/main" id="{DF9B7AA3-4F79-497A-B976-3B5D2CA63E95}"/>
              </a:ext>
            </a:extLst>
          </p:cNvPr>
          <p:cNvSpPr txBox="1"/>
          <p:nvPr/>
        </p:nvSpPr>
        <p:spPr>
          <a:xfrm>
            <a:off x="7943584" y="5756031"/>
            <a:ext cx="1214820" cy="369332"/>
          </a:xfrm>
          <a:prstGeom prst="rect">
            <a:avLst/>
          </a:prstGeom>
          <a:noFill/>
        </p:spPr>
        <p:txBody>
          <a:bodyPr wrap="none" rtlCol="0">
            <a:spAutoFit/>
          </a:bodyPr>
          <a:lstStyle/>
          <a:p>
            <a:r>
              <a:rPr lang="en-US" altLang="zh-CN" dirty="0"/>
              <a:t>SATA</a:t>
            </a:r>
            <a:r>
              <a:rPr lang="zh-CN" altLang="en-US" dirty="0"/>
              <a:t>接口</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磁盘设备的文件名</a:t>
            </a:r>
          </a:p>
        </p:txBody>
      </p:sp>
      <p:graphicFrame>
        <p:nvGraphicFramePr>
          <p:cNvPr id="4" name="表格 3">
            <a:extLst>
              <a:ext uri="{FF2B5EF4-FFF2-40B4-BE49-F238E27FC236}">
                <a16:creationId xmlns:a16="http://schemas.microsoft.com/office/drawing/2014/main" id="{6ECC8EBD-E091-4C72-9F63-0763ADDEA31C}"/>
              </a:ext>
            </a:extLst>
          </p:cNvPr>
          <p:cNvGraphicFramePr>
            <a:graphicFrameLocks noGrp="1"/>
          </p:cNvGraphicFramePr>
          <p:nvPr>
            <p:extLst>
              <p:ext uri="{D42A27DB-BD31-4B8C-83A1-F6EECF244321}">
                <p14:modId xmlns:p14="http://schemas.microsoft.com/office/powerpoint/2010/main" val="3873286689"/>
              </p:ext>
            </p:extLst>
          </p:nvPr>
        </p:nvGraphicFramePr>
        <p:xfrm>
          <a:off x="557300" y="1628800"/>
          <a:ext cx="8029400" cy="4800600"/>
        </p:xfrm>
        <a:graphic>
          <a:graphicData uri="http://schemas.openxmlformats.org/drawingml/2006/table">
            <a:tbl>
              <a:tblPr>
                <a:tableStyleId>{284E427A-3D55-4303-BF80-6455036E1DE7}</a:tableStyleId>
              </a:tblPr>
              <a:tblGrid>
                <a:gridCol w="3748171">
                  <a:extLst>
                    <a:ext uri="{9D8B030D-6E8A-4147-A177-3AD203B41FA5}">
                      <a16:colId xmlns:a16="http://schemas.microsoft.com/office/drawing/2014/main" val="2162743967"/>
                    </a:ext>
                  </a:extLst>
                </a:gridCol>
                <a:gridCol w="4281229">
                  <a:extLst>
                    <a:ext uri="{9D8B030D-6E8A-4147-A177-3AD203B41FA5}">
                      <a16:colId xmlns:a16="http://schemas.microsoft.com/office/drawing/2014/main" val="3677189879"/>
                    </a:ext>
                  </a:extLst>
                </a:gridCol>
              </a:tblGrid>
              <a:tr h="0">
                <a:tc>
                  <a:txBody>
                    <a:bodyPr/>
                    <a:lstStyle/>
                    <a:p>
                      <a:pPr algn="l"/>
                      <a:r>
                        <a:rPr lang="zh-CN" altLang="en-US" sz="2400" b="1" dirty="0">
                          <a:solidFill>
                            <a:srgbClr val="C00000"/>
                          </a:solidFill>
                          <a:effectLst/>
                        </a:rPr>
                        <a:t>设备</a:t>
                      </a:r>
                      <a:endParaRPr lang="zh-CN" altLang="en-US" sz="2400" b="1" dirty="0">
                        <a:solidFill>
                          <a:srgbClr val="C00000"/>
                        </a:solidFill>
                        <a:effectLst/>
                        <a:latin typeface="新细明体"/>
                      </a:endParaRPr>
                    </a:p>
                  </a:txBody>
                  <a:tcPr marL="22860" marR="22860" marT="22860" marB="22860" anchor="ctr"/>
                </a:tc>
                <a:tc>
                  <a:txBody>
                    <a:bodyPr/>
                    <a:lstStyle/>
                    <a:p>
                      <a:pPr algn="l"/>
                      <a:r>
                        <a:rPr lang="zh-CN" altLang="en-US" sz="2400" b="1" dirty="0">
                          <a:solidFill>
                            <a:srgbClr val="C00000"/>
                          </a:solidFill>
                          <a:effectLst/>
                        </a:rPr>
                        <a:t>设备在</a:t>
                      </a:r>
                      <a:r>
                        <a:rPr lang="en-US" altLang="zh-CN" sz="2400" b="1" dirty="0">
                          <a:solidFill>
                            <a:srgbClr val="C00000"/>
                          </a:solidFill>
                          <a:effectLst/>
                        </a:rPr>
                        <a:t>Linux</a:t>
                      </a:r>
                      <a:r>
                        <a:rPr lang="zh-CN" altLang="en-US" sz="2400" b="1" dirty="0">
                          <a:solidFill>
                            <a:srgbClr val="C00000"/>
                          </a:solidFill>
                          <a:effectLst/>
                        </a:rPr>
                        <a:t>内的文件名</a:t>
                      </a:r>
                      <a:endParaRPr lang="zh-CN" altLang="en-US" sz="2400" b="1" dirty="0">
                        <a:solidFill>
                          <a:srgbClr val="C00000"/>
                        </a:solidFill>
                        <a:effectLst/>
                        <a:latin typeface="新细明体"/>
                      </a:endParaRPr>
                    </a:p>
                  </a:txBody>
                  <a:tcPr marL="22860" marR="22860" marT="22860" marB="22860" anchor="ctr"/>
                </a:tc>
                <a:extLst>
                  <a:ext uri="{0D108BD9-81ED-4DB2-BD59-A6C34878D82A}">
                    <a16:rowId xmlns:a16="http://schemas.microsoft.com/office/drawing/2014/main" val="214465964"/>
                  </a:ext>
                </a:extLst>
              </a:tr>
              <a:tr h="0">
                <a:tc>
                  <a:txBody>
                    <a:bodyPr/>
                    <a:lstStyle/>
                    <a:p>
                      <a:pPr algn="l"/>
                      <a:r>
                        <a:rPr lang="en-US" sz="2400" dirty="0">
                          <a:effectLst/>
                        </a:rPr>
                        <a:t>IDE</a:t>
                      </a:r>
                      <a:r>
                        <a:rPr lang="zh-CN" altLang="en-US" sz="2400" dirty="0">
                          <a:effectLst/>
                        </a:rPr>
                        <a:t>磁盘驱动器</a:t>
                      </a:r>
                      <a:endParaRPr lang="zh-CN" altLang="en-US" sz="2400" dirty="0">
                        <a:effectLst/>
                        <a:latin typeface="新细明体"/>
                      </a:endParaRPr>
                    </a:p>
                  </a:txBody>
                  <a:tcPr marL="22860" marR="22860" marT="22860" marB="22860" anchor="ctr"/>
                </a:tc>
                <a:tc>
                  <a:txBody>
                    <a:bodyPr/>
                    <a:lstStyle/>
                    <a:p>
                      <a:pPr algn="l"/>
                      <a:r>
                        <a:rPr lang="en-US" sz="2400" dirty="0">
                          <a:effectLst/>
                        </a:rPr>
                        <a:t>/dev/</a:t>
                      </a:r>
                      <a:r>
                        <a:rPr lang="en-US" sz="2400" dirty="0" err="1">
                          <a:effectLst/>
                        </a:rPr>
                        <a:t>hd</a:t>
                      </a:r>
                      <a:r>
                        <a:rPr lang="en-US" sz="2400" dirty="0">
                          <a:effectLst/>
                        </a:rPr>
                        <a:t>[a-d]</a:t>
                      </a:r>
                      <a:r>
                        <a:rPr lang="zh-CN" altLang="en-US" sz="2400" dirty="0">
                          <a:effectLst/>
                        </a:rPr>
                        <a:t>（旧系统才有）</a:t>
                      </a:r>
                      <a:endParaRPr lang="en-US" sz="2400" dirty="0">
                        <a:effectLst/>
                        <a:latin typeface="新细明体"/>
                      </a:endParaRPr>
                    </a:p>
                  </a:txBody>
                  <a:tcPr marL="22860" marR="22860" marT="22860" marB="22860" anchor="ctr"/>
                </a:tc>
                <a:extLst>
                  <a:ext uri="{0D108BD9-81ED-4DB2-BD59-A6C34878D82A}">
                    <a16:rowId xmlns:a16="http://schemas.microsoft.com/office/drawing/2014/main" val="2949266810"/>
                  </a:ext>
                </a:extLst>
              </a:tr>
              <a:tr h="0">
                <a:tc>
                  <a:txBody>
                    <a:bodyPr/>
                    <a:lstStyle/>
                    <a:p>
                      <a:pPr algn="l"/>
                      <a:r>
                        <a:rPr lang="en-US" sz="2400" dirty="0">
                          <a:solidFill>
                            <a:srgbClr val="C00000"/>
                          </a:solidFill>
                          <a:effectLst/>
                        </a:rPr>
                        <a:t>SCSI/SATA/SAS/U</a:t>
                      </a:r>
                      <a:r>
                        <a:rPr lang="en-US" altLang="zh-CN" sz="2400" dirty="0">
                          <a:solidFill>
                            <a:srgbClr val="C00000"/>
                          </a:solidFill>
                          <a:effectLst/>
                        </a:rPr>
                        <a:t>SB</a:t>
                      </a:r>
                      <a:r>
                        <a:rPr lang="zh-CN" altLang="en-US" sz="2400" dirty="0">
                          <a:solidFill>
                            <a:srgbClr val="C00000"/>
                          </a:solidFill>
                          <a:effectLst/>
                        </a:rPr>
                        <a:t>磁盘驱动器</a:t>
                      </a:r>
                      <a:endParaRPr lang="zh-CN" altLang="en-US" sz="2400" dirty="0">
                        <a:solidFill>
                          <a:srgbClr val="C00000"/>
                        </a:solidFill>
                        <a:effectLst/>
                        <a:latin typeface="新细明体"/>
                      </a:endParaRPr>
                    </a:p>
                  </a:txBody>
                  <a:tcPr marL="22860" marR="22860" marT="22860" marB="22860" anchor="ctr"/>
                </a:tc>
                <a:tc>
                  <a:txBody>
                    <a:bodyPr/>
                    <a:lstStyle/>
                    <a:p>
                      <a:pPr algn="l"/>
                      <a:r>
                        <a:rPr lang="en-US" sz="2400" dirty="0">
                          <a:solidFill>
                            <a:srgbClr val="C00000"/>
                          </a:solidFill>
                          <a:effectLst/>
                        </a:rPr>
                        <a:t>/dev/</a:t>
                      </a:r>
                      <a:r>
                        <a:rPr lang="en-US" sz="2400" dirty="0" err="1">
                          <a:solidFill>
                            <a:srgbClr val="C00000"/>
                          </a:solidFill>
                          <a:effectLst/>
                        </a:rPr>
                        <a:t>sd</a:t>
                      </a:r>
                      <a:r>
                        <a:rPr lang="en-US" sz="2400" dirty="0">
                          <a:solidFill>
                            <a:srgbClr val="C00000"/>
                          </a:solidFill>
                          <a:effectLst/>
                        </a:rPr>
                        <a:t>[a-p]</a:t>
                      </a:r>
                      <a:endParaRPr lang="en-US" sz="2400" dirty="0">
                        <a:solidFill>
                          <a:srgbClr val="C00000"/>
                        </a:solidFill>
                        <a:effectLst/>
                        <a:latin typeface="新细明体"/>
                      </a:endParaRPr>
                    </a:p>
                  </a:txBody>
                  <a:tcPr marL="22860" marR="22860" marT="22860" marB="22860" anchor="ctr"/>
                </a:tc>
                <a:extLst>
                  <a:ext uri="{0D108BD9-81ED-4DB2-BD59-A6C34878D82A}">
                    <a16:rowId xmlns:a16="http://schemas.microsoft.com/office/drawing/2014/main" val="886069871"/>
                  </a:ext>
                </a:extLst>
              </a:tr>
              <a:tr h="0">
                <a:tc>
                  <a:txBody>
                    <a:bodyPr/>
                    <a:lstStyle/>
                    <a:p>
                      <a:pPr algn="l"/>
                      <a:r>
                        <a:rPr lang="en-US" sz="2400" dirty="0">
                          <a:solidFill>
                            <a:srgbClr val="C00000"/>
                          </a:solidFill>
                          <a:effectLst/>
                        </a:rPr>
                        <a:t>U</a:t>
                      </a:r>
                      <a:r>
                        <a:rPr lang="zh-CN" altLang="en-US" sz="2400" dirty="0">
                          <a:solidFill>
                            <a:srgbClr val="C00000"/>
                          </a:solidFill>
                          <a:effectLst/>
                        </a:rPr>
                        <a:t>盘</a:t>
                      </a:r>
                      <a:endParaRPr lang="zh-CN" altLang="en-US" sz="2400" dirty="0">
                        <a:solidFill>
                          <a:srgbClr val="C00000"/>
                        </a:solidFill>
                        <a:effectLst/>
                        <a:latin typeface="新细明体"/>
                      </a:endParaRPr>
                    </a:p>
                  </a:txBody>
                  <a:tcPr marL="22860" marR="22860" marT="22860" marB="22860" anchor="ctr"/>
                </a:tc>
                <a:tc>
                  <a:txBody>
                    <a:bodyPr/>
                    <a:lstStyle/>
                    <a:p>
                      <a:pPr algn="l"/>
                      <a:r>
                        <a:rPr lang="en-US" sz="2400" dirty="0">
                          <a:solidFill>
                            <a:srgbClr val="C00000"/>
                          </a:solidFill>
                          <a:effectLst/>
                        </a:rPr>
                        <a:t>/dev/</a:t>
                      </a:r>
                      <a:r>
                        <a:rPr lang="en-US" sz="2400" dirty="0" err="1">
                          <a:solidFill>
                            <a:srgbClr val="C00000"/>
                          </a:solidFill>
                          <a:effectLst/>
                        </a:rPr>
                        <a:t>sd</a:t>
                      </a:r>
                      <a:r>
                        <a:rPr lang="en-US" sz="2400" dirty="0">
                          <a:solidFill>
                            <a:srgbClr val="C00000"/>
                          </a:solidFill>
                          <a:effectLst/>
                        </a:rPr>
                        <a:t>[a-p]</a:t>
                      </a:r>
                      <a:r>
                        <a:rPr lang="zh-CN" altLang="en-US" sz="2400" dirty="0">
                          <a:solidFill>
                            <a:srgbClr val="C00000"/>
                          </a:solidFill>
                          <a:effectLst/>
                        </a:rPr>
                        <a:t>（与</a:t>
                      </a:r>
                      <a:r>
                        <a:rPr lang="en-US" altLang="zh-CN" sz="2400" dirty="0">
                          <a:solidFill>
                            <a:srgbClr val="C00000"/>
                          </a:solidFill>
                          <a:effectLst/>
                        </a:rPr>
                        <a:t>SATA</a:t>
                      </a:r>
                      <a:r>
                        <a:rPr lang="zh-CN" altLang="en-US" sz="2400" dirty="0">
                          <a:solidFill>
                            <a:srgbClr val="C00000"/>
                          </a:solidFill>
                          <a:effectLst/>
                        </a:rPr>
                        <a:t>相同）</a:t>
                      </a:r>
                      <a:endParaRPr lang="en-US" altLang="zh-CN" sz="2400" dirty="0">
                        <a:solidFill>
                          <a:srgbClr val="C00000"/>
                        </a:solidFill>
                        <a:effectLst/>
                        <a:latin typeface="新细明体"/>
                      </a:endParaRPr>
                    </a:p>
                  </a:txBody>
                  <a:tcPr marL="22860" marR="22860" marT="22860" marB="22860" anchor="ctr"/>
                </a:tc>
                <a:extLst>
                  <a:ext uri="{0D108BD9-81ED-4DB2-BD59-A6C34878D82A}">
                    <a16:rowId xmlns:a16="http://schemas.microsoft.com/office/drawing/2014/main" val="4234742074"/>
                  </a:ext>
                </a:extLst>
              </a:tr>
              <a:tr h="0">
                <a:tc>
                  <a:txBody>
                    <a:bodyPr/>
                    <a:lstStyle/>
                    <a:p>
                      <a:pPr marL="0" algn="l" defTabSz="914400" rtl="0" eaLnBrk="1" latinLnBrk="0" hangingPunct="1"/>
                      <a:r>
                        <a:rPr lang="en-US" altLang="zh-CN" sz="2400" kern="1200" dirty="0">
                          <a:solidFill>
                            <a:srgbClr val="C00000"/>
                          </a:solidFill>
                          <a:effectLst/>
                          <a:latin typeface="+mn-lt"/>
                          <a:ea typeface="+mn-ea"/>
                          <a:cs typeface="+mn-cs"/>
                        </a:rPr>
                        <a:t>Virtio</a:t>
                      </a:r>
                      <a:r>
                        <a:rPr lang="zh-CN" altLang="en-US" sz="2400" kern="1200" dirty="0">
                          <a:solidFill>
                            <a:srgbClr val="C00000"/>
                          </a:solidFill>
                          <a:effectLst/>
                          <a:latin typeface="+mn-lt"/>
                          <a:ea typeface="+mn-ea"/>
                          <a:cs typeface="+mn-cs"/>
                        </a:rPr>
                        <a:t>接口</a:t>
                      </a:r>
                    </a:p>
                  </a:txBody>
                  <a:tcPr marL="22860" marR="22860" marT="22860" marB="22860" anchor="ctr"/>
                </a:tc>
                <a:tc>
                  <a:txBody>
                    <a:bodyPr/>
                    <a:lstStyle/>
                    <a:p>
                      <a:pPr marL="0" algn="l" defTabSz="914400" rtl="0" eaLnBrk="1" latinLnBrk="0" hangingPunct="1"/>
                      <a:r>
                        <a:rPr lang="en-US" sz="2400" kern="1200" dirty="0">
                          <a:solidFill>
                            <a:srgbClr val="C00000"/>
                          </a:solidFill>
                          <a:effectLst/>
                          <a:latin typeface="+mn-lt"/>
                          <a:ea typeface="+mn-ea"/>
                          <a:cs typeface="+mn-cs"/>
                        </a:rPr>
                        <a:t>/dev/</a:t>
                      </a:r>
                      <a:r>
                        <a:rPr lang="en-US" sz="2400" kern="1200" dirty="0" err="1">
                          <a:solidFill>
                            <a:srgbClr val="C00000"/>
                          </a:solidFill>
                          <a:effectLst/>
                          <a:latin typeface="+mn-lt"/>
                          <a:ea typeface="+mn-ea"/>
                          <a:cs typeface="+mn-cs"/>
                        </a:rPr>
                        <a:t>vd</a:t>
                      </a:r>
                      <a:r>
                        <a:rPr lang="en-US" sz="2400" kern="1200" dirty="0">
                          <a:solidFill>
                            <a:srgbClr val="C00000"/>
                          </a:solidFill>
                          <a:effectLst/>
                          <a:latin typeface="+mn-lt"/>
                          <a:ea typeface="+mn-ea"/>
                          <a:cs typeface="+mn-cs"/>
                        </a:rPr>
                        <a:t>[a-p]</a:t>
                      </a:r>
                      <a:r>
                        <a:rPr lang="zh-CN" altLang="en-US" sz="2400" kern="1200" dirty="0">
                          <a:solidFill>
                            <a:srgbClr val="C00000"/>
                          </a:solidFill>
                          <a:effectLst/>
                          <a:latin typeface="+mn-lt"/>
                          <a:ea typeface="+mn-ea"/>
                          <a:cs typeface="+mn-cs"/>
                        </a:rPr>
                        <a:t>（用于虚拟机内）</a:t>
                      </a:r>
                      <a:endParaRPr lang="en-US" sz="2400" kern="1200" dirty="0">
                        <a:solidFill>
                          <a:srgbClr val="C00000"/>
                        </a:solidFill>
                        <a:effectLst/>
                        <a:latin typeface="+mn-lt"/>
                        <a:ea typeface="+mn-ea"/>
                        <a:cs typeface="+mn-cs"/>
                      </a:endParaRPr>
                    </a:p>
                  </a:txBody>
                  <a:tcPr marL="22860" marR="22860" marT="22860" marB="22860" anchor="ctr"/>
                </a:tc>
                <a:extLst>
                  <a:ext uri="{0D108BD9-81ED-4DB2-BD59-A6C34878D82A}">
                    <a16:rowId xmlns:a16="http://schemas.microsoft.com/office/drawing/2014/main" val="833712604"/>
                  </a:ext>
                </a:extLst>
              </a:tr>
              <a:tr h="0">
                <a:tc>
                  <a:txBody>
                    <a:bodyPr/>
                    <a:lstStyle/>
                    <a:p>
                      <a:pPr algn="l"/>
                      <a:r>
                        <a:rPr lang="zh-CN" altLang="en-US" sz="2400" dirty="0">
                          <a:effectLst/>
                        </a:rPr>
                        <a:t>软盘驱动器</a:t>
                      </a:r>
                      <a:endParaRPr lang="zh-CN" altLang="en-US" sz="2400" dirty="0">
                        <a:effectLst/>
                        <a:latin typeface="新细明体"/>
                      </a:endParaRPr>
                    </a:p>
                  </a:txBody>
                  <a:tcPr marL="22860" marR="22860" marT="22860" marB="22860" anchor="ctr"/>
                </a:tc>
                <a:tc>
                  <a:txBody>
                    <a:bodyPr/>
                    <a:lstStyle/>
                    <a:p>
                      <a:pPr algn="l"/>
                      <a:r>
                        <a:rPr lang="en-US" sz="2400" dirty="0">
                          <a:effectLst/>
                        </a:rPr>
                        <a:t>/dev/</a:t>
                      </a:r>
                      <a:r>
                        <a:rPr lang="en-US" sz="2400" dirty="0" err="1">
                          <a:effectLst/>
                        </a:rPr>
                        <a:t>fd</a:t>
                      </a:r>
                      <a:r>
                        <a:rPr lang="en-US" sz="2400" dirty="0">
                          <a:effectLst/>
                        </a:rPr>
                        <a:t>[0-1]</a:t>
                      </a:r>
                      <a:endParaRPr lang="en-US" sz="2400" dirty="0">
                        <a:effectLst/>
                        <a:latin typeface="新细明体"/>
                      </a:endParaRPr>
                    </a:p>
                  </a:txBody>
                  <a:tcPr marL="22860" marR="22860" marT="22860" marB="22860" anchor="ctr"/>
                </a:tc>
                <a:extLst>
                  <a:ext uri="{0D108BD9-81ED-4DB2-BD59-A6C34878D82A}">
                    <a16:rowId xmlns:a16="http://schemas.microsoft.com/office/drawing/2014/main" val="1140766613"/>
                  </a:ext>
                </a:extLst>
              </a:tr>
              <a:tr h="0">
                <a:tc>
                  <a:txBody>
                    <a:bodyPr/>
                    <a:lstStyle/>
                    <a:p>
                      <a:pPr algn="l"/>
                      <a:r>
                        <a:rPr lang="zh-CN" altLang="en-US" sz="2400" dirty="0">
                          <a:effectLst/>
                        </a:rPr>
                        <a:t>当前</a:t>
                      </a:r>
                      <a:r>
                        <a:rPr lang="en-US" sz="2400" dirty="0">
                          <a:effectLst/>
                        </a:rPr>
                        <a:t>CDROM/DVDROM</a:t>
                      </a:r>
                      <a:endParaRPr lang="en-US" sz="2400" dirty="0">
                        <a:effectLst/>
                        <a:latin typeface="新细明体"/>
                      </a:endParaRPr>
                    </a:p>
                  </a:txBody>
                  <a:tcPr marL="22860" marR="22860" marT="22860" marB="22860" anchor="ctr"/>
                </a:tc>
                <a:tc>
                  <a:txBody>
                    <a:bodyPr/>
                    <a:lstStyle/>
                    <a:p>
                      <a:pPr algn="l"/>
                      <a:r>
                        <a:rPr lang="en-US" sz="2400" dirty="0">
                          <a:effectLst/>
                        </a:rPr>
                        <a:t>/dev/</a:t>
                      </a:r>
                      <a:r>
                        <a:rPr lang="en-US" sz="2400" dirty="0" err="1">
                          <a:effectLst/>
                        </a:rPr>
                        <a:t>cdrom</a:t>
                      </a:r>
                      <a:endParaRPr lang="en-US" sz="2400" dirty="0">
                        <a:effectLst/>
                        <a:latin typeface="新细明体"/>
                      </a:endParaRPr>
                    </a:p>
                  </a:txBody>
                  <a:tcPr marL="22860" marR="22860" marT="22860" marB="22860" anchor="ctr"/>
                </a:tc>
                <a:extLst>
                  <a:ext uri="{0D108BD9-81ED-4DB2-BD59-A6C34878D82A}">
                    <a16:rowId xmlns:a16="http://schemas.microsoft.com/office/drawing/2014/main" val="830958238"/>
                  </a:ext>
                </a:extLst>
              </a:tr>
              <a:tr h="0">
                <a:tc>
                  <a:txBody>
                    <a:bodyPr/>
                    <a:lstStyle/>
                    <a:p>
                      <a:pPr algn="l"/>
                      <a:r>
                        <a:rPr lang="zh-CN" altLang="en-US" sz="2400" dirty="0">
                          <a:effectLst/>
                        </a:rPr>
                        <a:t>当前的鼠标</a:t>
                      </a:r>
                      <a:endParaRPr lang="zh-CN" altLang="en-US" sz="2400" dirty="0">
                        <a:effectLst/>
                        <a:latin typeface="新细明体"/>
                      </a:endParaRPr>
                    </a:p>
                  </a:txBody>
                  <a:tcPr marL="22860" marR="22860" marT="22860" marB="22860" anchor="ctr"/>
                </a:tc>
                <a:tc>
                  <a:txBody>
                    <a:bodyPr/>
                    <a:lstStyle/>
                    <a:p>
                      <a:pPr algn="l"/>
                      <a:r>
                        <a:rPr lang="en-US" sz="2400" dirty="0">
                          <a:effectLst/>
                        </a:rPr>
                        <a:t>/dev/mouse</a:t>
                      </a:r>
                      <a:endParaRPr lang="en-US" sz="2400" dirty="0">
                        <a:effectLst/>
                        <a:latin typeface="新细明体"/>
                      </a:endParaRPr>
                    </a:p>
                  </a:txBody>
                  <a:tcPr marL="22860" marR="22860" marT="22860" marB="22860" anchor="ctr"/>
                </a:tc>
                <a:extLst>
                  <a:ext uri="{0D108BD9-81ED-4DB2-BD59-A6C34878D82A}">
                    <a16:rowId xmlns:a16="http://schemas.microsoft.com/office/drawing/2014/main" val="1719243975"/>
                  </a:ext>
                </a:extLst>
              </a:tr>
              <a:tr h="0">
                <a:tc>
                  <a:txBody>
                    <a:bodyPr/>
                    <a:lstStyle/>
                    <a:p>
                      <a:pPr marL="0" algn="l" defTabSz="914400" rtl="0" eaLnBrk="1" latinLnBrk="0" hangingPunct="1"/>
                      <a:r>
                        <a:rPr lang="zh-CN" altLang="en-US" sz="2400" kern="1200" dirty="0">
                          <a:solidFill>
                            <a:schemeClr val="dk1"/>
                          </a:solidFill>
                          <a:effectLst/>
                          <a:latin typeface="+mn-lt"/>
                          <a:ea typeface="+mn-ea"/>
                          <a:cs typeface="+mn-cs"/>
                        </a:rPr>
                        <a:t>磁带机</a:t>
                      </a:r>
                    </a:p>
                  </a:txBody>
                  <a:tcPr marL="22860" marR="22860" marT="22860" marB="22860" anchor="ctr"/>
                </a:tc>
                <a:tc>
                  <a:txBody>
                    <a:bodyPr/>
                    <a:lstStyle/>
                    <a:p>
                      <a:pPr marL="0" algn="l" defTabSz="914400" rtl="0" eaLnBrk="1" latinLnBrk="0" hangingPunct="1"/>
                      <a:r>
                        <a:rPr lang="en-US" sz="2400" kern="1200" dirty="0">
                          <a:solidFill>
                            <a:schemeClr val="dk1"/>
                          </a:solidFill>
                          <a:effectLst/>
                          <a:latin typeface="+mn-lt"/>
                          <a:ea typeface="+mn-ea"/>
                          <a:cs typeface="+mn-cs"/>
                        </a:rPr>
                        <a:t>/dev/ht0</a:t>
                      </a:r>
                      <a:r>
                        <a:rPr lang="zh-CN" altLang="en-US" sz="2400" kern="1200" dirty="0">
                          <a:solidFill>
                            <a:schemeClr val="dk1"/>
                          </a:solidFill>
                          <a:effectLst/>
                          <a:latin typeface="+mn-lt"/>
                          <a:ea typeface="+mn-ea"/>
                          <a:cs typeface="+mn-cs"/>
                        </a:rPr>
                        <a:t>（</a:t>
                      </a:r>
                      <a:r>
                        <a:rPr lang="en-US" altLang="zh-CN" sz="2400" kern="1200" dirty="0">
                          <a:solidFill>
                            <a:schemeClr val="dk1"/>
                          </a:solidFill>
                          <a:effectLst/>
                          <a:latin typeface="+mn-lt"/>
                          <a:ea typeface="+mn-ea"/>
                          <a:cs typeface="+mn-cs"/>
                        </a:rPr>
                        <a:t>IDE</a:t>
                      </a:r>
                      <a:r>
                        <a:rPr lang="zh-CN" altLang="en-US" sz="2400" kern="1200" dirty="0">
                          <a:solidFill>
                            <a:schemeClr val="dk1"/>
                          </a:solidFill>
                          <a:effectLst/>
                          <a:latin typeface="+mn-lt"/>
                          <a:ea typeface="+mn-ea"/>
                          <a:cs typeface="+mn-cs"/>
                        </a:rPr>
                        <a:t>接口）</a:t>
                      </a:r>
                      <a:r>
                        <a:rPr lang="en-US" sz="2400" kern="1200" dirty="0">
                          <a:solidFill>
                            <a:schemeClr val="dk1"/>
                          </a:solidFill>
                          <a:effectLst/>
                          <a:latin typeface="+mn-lt"/>
                          <a:ea typeface="+mn-ea"/>
                          <a:cs typeface="+mn-cs"/>
                        </a:rPr>
                        <a:t/>
                      </a:r>
                      <a:br>
                        <a:rPr lang="en-US" sz="2400" kern="1200" dirty="0">
                          <a:solidFill>
                            <a:schemeClr val="dk1"/>
                          </a:solidFill>
                          <a:effectLst/>
                          <a:latin typeface="+mn-lt"/>
                          <a:ea typeface="+mn-ea"/>
                          <a:cs typeface="+mn-cs"/>
                        </a:rPr>
                      </a:br>
                      <a:r>
                        <a:rPr lang="en-US" sz="2400" kern="1200" dirty="0">
                          <a:solidFill>
                            <a:schemeClr val="dk1"/>
                          </a:solidFill>
                          <a:effectLst/>
                          <a:latin typeface="+mn-lt"/>
                          <a:ea typeface="+mn-ea"/>
                          <a:cs typeface="+mn-cs"/>
                        </a:rPr>
                        <a:t>/dev/st0</a:t>
                      </a:r>
                      <a:r>
                        <a:rPr lang="zh-CN" altLang="en-US" sz="2400" kern="1200" dirty="0">
                          <a:solidFill>
                            <a:schemeClr val="dk1"/>
                          </a:solidFill>
                          <a:effectLst/>
                          <a:latin typeface="+mn-lt"/>
                          <a:ea typeface="+mn-ea"/>
                          <a:cs typeface="+mn-cs"/>
                        </a:rPr>
                        <a:t>（</a:t>
                      </a:r>
                      <a:r>
                        <a:rPr lang="en-US" altLang="zh-CN" sz="2400" kern="1200" dirty="0">
                          <a:solidFill>
                            <a:schemeClr val="dk1"/>
                          </a:solidFill>
                          <a:effectLst/>
                          <a:latin typeface="+mn-lt"/>
                          <a:ea typeface="+mn-ea"/>
                          <a:cs typeface="+mn-cs"/>
                        </a:rPr>
                        <a:t>SCSI/SATA</a:t>
                      </a:r>
                      <a:r>
                        <a:rPr lang="zh-CN" altLang="en-US" sz="2400" kern="1200" dirty="0">
                          <a:solidFill>
                            <a:schemeClr val="dk1"/>
                          </a:solidFill>
                          <a:effectLst/>
                          <a:latin typeface="+mn-lt"/>
                          <a:ea typeface="+mn-ea"/>
                          <a:cs typeface="+mn-cs"/>
                        </a:rPr>
                        <a:t>接口）</a:t>
                      </a:r>
                      <a:endParaRPr lang="en-US" altLang="zh-CN" sz="2400" kern="1200" dirty="0">
                        <a:solidFill>
                          <a:schemeClr val="dk1"/>
                        </a:solidFill>
                        <a:effectLst/>
                        <a:latin typeface="+mn-lt"/>
                        <a:ea typeface="+mn-ea"/>
                        <a:cs typeface="+mn-cs"/>
                      </a:endParaRPr>
                    </a:p>
                    <a:p>
                      <a:pPr marL="0" algn="l" defTabSz="914400" rtl="0" eaLnBrk="1" latinLnBrk="0" hangingPunct="1"/>
                      <a:r>
                        <a:rPr lang="en-US" sz="2400" kern="1200" dirty="0">
                          <a:solidFill>
                            <a:schemeClr val="dk1"/>
                          </a:solidFill>
                          <a:effectLst/>
                          <a:latin typeface="+mn-lt"/>
                          <a:ea typeface="+mn-ea"/>
                          <a:cs typeface="+mn-cs"/>
                        </a:rPr>
                        <a:t>/dev/tape</a:t>
                      </a:r>
                      <a:r>
                        <a:rPr lang="zh-CN" altLang="en-US" sz="2400" kern="1200" dirty="0">
                          <a:solidFill>
                            <a:schemeClr val="dk1"/>
                          </a:solidFill>
                          <a:effectLst/>
                          <a:latin typeface="+mn-lt"/>
                          <a:ea typeface="+mn-ea"/>
                          <a:cs typeface="+mn-cs"/>
                        </a:rPr>
                        <a:t>（当前磁带）</a:t>
                      </a:r>
                      <a:endParaRPr lang="en-US" sz="2400" kern="1200" dirty="0">
                        <a:solidFill>
                          <a:schemeClr val="dk1"/>
                        </a:solidFill>
                        <a:effectLst/>
                        <a:latin typeface="+mn-lt"/>
                        <a:ea typeface="+mn-ea"/>
                        <a:cs typeface="+mn-cs"/>
                      </a:endParaRPr>
                    </a:p>
                  </a:txBody>
                  <a:tcPr marL="22860" marR="22860" marT="22860" marB="22860" anchor="ctr"/>
                </a:tc>
                <a:extLst>
                  <a:ext uri="{0D108BD9-81ED-4DB2-BD59-A6C34878D82A}">
                    <a16:rowId xmlns:a16="http://schemas.microsoft.com/office/drawing/2014/main" val="3346836703"/>
                  </a:ext>
                </a:extLst>
              </a:tr>
            </a:tbl>
          </a:graphicData>
        </a:graphic>
      </p:graphicFrame>
    </p:spTree>
    <p:extLst>
      <p:ext uri="{BB962C8B-B14F-4D97-AF65-F5344CB8AC3E}">
        <p14:creationId xmlns:p14="http://schemas.microsoft.com/office/powerpoint/2010/main" val="3008875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IDE</a:t>
            </a:r>
            <a:r>
              <a:rPr lang="zh-CN" altLang="en-US" dirty="0"/>
              <a:t>接口设备的文件名</a:t>
            </a:r>
          </a:p>
        </p:txBody>
      </p:sp>
      <p:graphicFrame>
        <p:nvGraphicFramePr>
          <p:cNvPr id="3" name="表格 2">
            <a:extLst>
              <a:ext uri="{FF2B5EF4-FFF2-40B4-BE49-F238E27FC236}">
                <a16:creationId xmlns:a16="http://schemas.microsoft.com/office/drawing/2014/main" id="{D3DB5033-7044-4FE7-8217-A9398BD7544A}"/>
              </a:ext>
            </a:extLst>
          </p:cNvPr>
          <p:cNvGraphicFramePr>
            <a:graphicFrameLocks noGrp="1"/>
          </p:cNvGraphicFramePr>
          <p:nvPr>
            <p:extLst>
              <p:ext uri="{D42A27DB-BD31-4B8C-83A1-F6EECF244321}">
                <p14:modId xmlns:p14="http://schemas.microsoft.com/office/powerpoint/2010/main" val="4193362619"/>
              </p:ext>
            </p:extLst>
          </p:nvPr>
        </p:nvGraphicFramePr>
        <p:xfrm>
          <a:off x="1154113" y="5194218"/>
          <a:ext cx="7344817" cy="1417320"/>
        </p:xfrm>
        <a:graphic>
          <a:graphicData uri="http://schemas.openxmlformats.org/drawingml/2006/table">
            <a:tbl>
              <a:tblPr>
                <a:tableStyleId>{3C2FFA5D-87B4-456A-9821-1D502468CF0F}</a:tableStyleId>
              </a:tblPr>
              <a:tblGrid>
                <a:gridCol w="3024337">
                  <a:extLst>
                    <a:ext uri="{9D8B030D-6E8A-4147-A177-3AD203B41FA5}">
                      <a16:colId xmlns:a16="http://schemas.microsoft.com/office/drawing/2014/main" val="1307543918"/>
                    </a:ext>
                  </a:extLst>
                </a:gridCol>
                <a:gridCol w="2088232">
                  <a:extLst>
                    <a:ext uri="{9D8B030D-6E8A-4147-A177-3AD203B41FA5}">
                      <a16:colId xmlns:a16="http://schemas.microsoft.com/office/drawing/2014/main" val="1299525797"/>
                    </a:ext>
                  </a:extLst>
                </a:gridCol>
                <a:gridCol w="2232248">
                  <a:extLst>
                    <a:ext uri="{9D8B030D-6E8A-4147-A177-3AD203B41FA5}">
                      <a16:colId xmlns:a16="http://schemas.microsoft.com/office/drawing/2014/main" val="3708220108"/>
                    </a:ext>
                  </a:extLst>
                </a:gridCol>
              </a:tblGrid>
              <a:tr h="0">
                <a:tc>
                  <a:txBody>
                    <a:bodyPr/>
                    <a:lstStyle/>
                    <a:p>
                      <a:pPr algn="l"/>
                      <a:r>
                        <a:rPr lang="en-US" sz="2800" dirty="0">
                          <a:effectLst/>
                        </a:rPr>
                        <a:t>IDE\Jumper</a:t>
                      </a:r>
                      <a:endParaRPr lang="en-US" sz="2800" dirty="0">
                        <a:effectLst/>
                        <a:latin typeface="新细明体"/>
                      </a:endParaRPr>
                    </a:p>
                  </a:txBody>
                  <a:tcPr marL="22860" marR="22860" marT="22860" marB="22860" anchor="ctr"/>
                </a:tc>
                <a:tc>
                  <a:txBody>
                    <a:bodyPr/>
                    <a:lstStyle/>
                    <a:p>
                      <a:pPr algn="l"/>
                      <a:r>
                        <a:rPr lang="en-US" sz="2800" dirty="0">
                          <a:effectLst/>
                        </a:rPr>
                        <a:t>Master</a:t>
                      </a:r>
                      <a:endParaRPr lang="en-US" sz="2800" dirty="0">
                        <a:effectLst/>
                        <a:latin typeface="新细明体"/>
                      </a:endParaRPr>
                    </a:p>
                  </a:txBody>
                  <a:tcPr marL="22860" marR="22860" marT="22860" marB="22860" anchor="ctr"/>
                </a:tc>
                <a:tc>
                  <a:txBody>
                    <a:bodyPr/>
                    <a:lstStyle/>
                    <a:p>
                      <a:pPr algn="l"/>
                      <a:r>
                        <a:rPr lang="en-US" sz="2800" dirty="0">
                          <a:effectLst/>
                        </a:rPr>
                        <a:t>Slave</a:t>
                      </a:r>
                      <a:endParaRPr lang="en-US" sz="2800" dirty="0">
                        <a:effectLst/>
                        <a:latin typeface="新细明体"/>
                      </a:endParaRPr>
                    </a:p>
                  </a:txBody>
                  <a:tcPr marL="22860" marR="22860" marT="22860" marB="22860" anchor="ctr"/>
                </a:tc>
                <a:extLst>
                  <a:ext uri="{0D108BD9-81ED-4DB2-BD59-A6C34878D82A}">
                    <a16:rowId xmlns:a16="http://schemas.microsoft.com/office/drawing/2014/main" val="3711302913"/>
                  </a:ext>
                </a:extLst>
              </a:tr>
              <a:tr h="0">
                <a:tc>
                  <a:txBody>
                    <a:bodyPr/>
                    <a:lstStyle/>
                    <a:p>
                      <a:pPr algn="l"/>
                      <a:r>
                        <a:rPr lang="en-US" sz="2800">
                          <a:effectLst/>
                        </a:rPr>
                        <a:t>IDE1(Primary)</a:t>
                      </a:r>
                      <a:endParaRPr lang="en-US" sz="2800">
                        <a:effectLst/>
                        <a:latin typeface="新细明体"/>
                      </a:endParaRPr>
                    </a:p>
                  </a:txBody>
                  <a:tcPr marL="22860" marR="22860" marT="22860" marB="22860" anchor="ctr"/>
                </a:tc>
                <a:tc>
                  <a:txBody>
                    <a:bodyPr/>
                    <a:lstStyle/>
                    <a:p>
                      <a:pPr algn="l"/>
                      <a:r>
                        <a:rPr lang="en-US" sz="2800" b="1">
                          <a:solidFill>
                            <a:srgbClr val="000088"/>
                          </a:solidFill>
                          <a:effectLst/>
                        </a:rPr>
                        <a:t>/dev/hda</a:t>
                      </a:r>
                      <a:endParaRPr lang="en-US" sz="2800" b="1">
                        <a:solidFill>
                          <a:srgbClr val="000088"/>
                        </a:solidFill>
                        <a:effectLst/>
                        <a:latin typeface="新细明体"/>
                      </a:endParaRPr>
                    </a:p>
                  </a:txBody>
                  <a:tcPr marL="22860" marR="22860" marT="22860" marB="22860" anchor="ctr"/>
                </a:tc>
                <a:tc>
                  <a:txBody>
                    <a:bodyPr/>
                    <a:lstStyle/>
                    <a:p>
                      <a:pPr algn="l"/>
                      <a:r>
                        <a:rPr lang="en-US" sz="2800" b="1" dirty="0">
                          <a:solidFill>
                            <a:srgbClr val="000088"/>
                          </a:solidFill>
                          <a:effectLst/>
                        </a:rPr>
                        <a:t>/dev/</a:t>
                      </a:r>
                      <a:r>
                        <a:rPr lang="en-US" sz="2800" b="1" dirty="0" err="1">
                          <a:solidFill>
                            <a:srgbClr val="000088"/>
                          </a:solidFill>
                          <a:effectLst/>
                        </a:rPr>
                        <a:t>hdb</a:t>
                      </a:r>
                      <a:endParaRPr lang="en-US" sz="2800" b="1" dirty="0">
                        <a:solidFill>
                          <a:srgbClr val="000088"/>
                        </a:solidFill>
                        <a:effectLst/>
                        <a:latin typeface="新细明体"/>
                      </a:endParaRPr>
                    </a:p>
                  </a:txBody>
                  <a:tcPr marL="22860" marR="22860" marT="22860" marB="22860" anchor="ctr"/>
                </a:tc>
                <a:extLst>
                  <a:ext uri="{0D108BD9-81ED-4DB2-BD59-A6C34878D82A}">
                    <a16:rowId xmlns:a16="http://schemas.microsoft.com/office/drawing/2014/main" val="2484665308"/>
                  </a:ext>
                </a:extLst>
              </a:tr>
              <a:tr h="0">
                <a:tc>
                  <a:txBody>
                    <a:bodyPr/>
                    <a:lstStyle/>
                    <a:p>
                      <a:pPr algn="l"/>
                      <a:r>
                        <a:rPr lang="en-US" sz="2800" dirty="0">
                          <a:effectLst/>
                        </a:rPr>
                        <a:t>IDE2(Secondary)</a:t>
                      </a:r>
                      <a:endParaRPr lang="en-US" sz="2800" dirty="0">
                        <a:effectLst/>
                        <a:latin typeface="新细明体"/>
                      </a:endParaRPr>
                    </a:p>
                  </a:txBody>
                  <a:tcPr marL="22860" marR="22860" marT="22860" marB="22860" anchor="ctr"/>
                </a:tc>
                <a:tc>
                  <a:txBody>
                    <a:bodyPr/>
                    <a:lstStyle/>
                    <a:p>
                      <a:pPr algn="l"/>
                      <a:r>
                        <a:rPr lang="en-US" sz="2800" b="1">
                          <a:solidFill>
                            <a:srgbClr val="000088"/>
                          </a:solidFill>
                          <a:effectLst/>
                        </a:rPr>
                        <a:t>/dev/hdc</a:t>
                      </a:r>
                      <a:endParaRPr lang="en-US" sz="2800" b="1">
                        <a:solidFill>
                          <a:srgbClr val="000088"/>
                        </a:solidFill>
                        <a:effectLst/>
                        <a:latin typeface="新细明体"/>
                      </a:endParaRPr>
                    </a:p>
                  </a:txBody>
                  <a:tcPr marL="22860" marR="22860" marT="22860" marB="22860" anchor="ctr"/>
                </a:tc>
                <a:tc>
                  <a:txBody>
                    <a:bodyPr/>
                    <a:lstStyle/>
                    <a:p>
                      <a:pPr algn="l"/>
                      <a:r>
                        <a:rPr lang="en-US" sz="2800" b="1" dirty="0">
                          <a:solidFill>
                            <a:srgbClr val="000088"/>
                          </a:solidFill>
                          <a:effectLst/>
                        </a:rPr>
                        <a:t>/dev/</a:t>
                      </a:r>
                      <a:r>
                        <a:rPr lang="en-US" sz="2800" b="1" dirty="0" err="1">
                          <a:solidFill>
                            <a:srgbClr val="000088"/>
                          </a:solidFill>
                          <a:effectLst/>
                        </a:rPr>
                        <a:t>hdd</a:t>
                      </a:r>
                      <a:endParaRPr lang="en-US" sz="2800" b="1" dirty="0">
                        <a:solidFill>
                          <a:srgbClr val="000088"/>
                        </a:solidFill>
                        <a:effectLst/>
                        <a:latin typeface="新细明体"/>
                      </a:endParaRPr>
                    </a:p>
                  </a:txBody>
                  <a:tcPr marL="22860" marR="22860" marT="22860" marB="22860" anchor="ctr"/>
                </a:tc>
                <a:extLst>
                  <a:ext uri="{0D108BD9-81ED-4DB2-BD59-A6C34878D82A}">
                    <a16:rowId xmlns:a16="http://schemas.microsoft.com/office/drawing/2014/main" val="4293702748"/>
                  </a:ext>
                </a:extLst>
              </a:tr>
            </a:tbl>
          </a:graphicData>
        </a:graphic>
      </p:graphicFrame>
      <p:sp>
        <p:nvSpPr>
          <p:cNvPr id="6" name="文本框 5">
            <a:extLst>
              <a:ext uri="{FF2B5EF4-FFF2-40B4-BE49-F238E27FC236}">
                <a16:creationId xmlns:a16="http://schemas.microsoft.com/office/drawing/2014/main" id="{ADEA5CF9-6242-4A84-BDB0-3F63615B76D0}"/>
              </a:ext>
            </a:extLst>
          </p:cNvPr>
          <p:cNvSpPr txBox="1"/>
          <p:nvPr/>
        </p:nvSpPr>
        <p:spPr>
          <a:xfrm>
            <a:off x="827584" y="1394100"/>
            <a:ext cx="7793036" cy="3736407"/>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200" dirty="0">
                <a:solidFill>
                  <a:srgbClr val="FF0000"/>
                </a:solidFill>
                <a:latin typeface="Tahoma" panose="020B0604030504040204" pitchFamily="34" charset="0"/>
              </a:rPr>
              <a:t>一个</a:t>
            </a:r>
            <a:r>
              <a:rPr lang="en-US" altLang="zh-CN" sz="3200" dirty="0">
                <a:solidFill>
                  <a:srgbClr val="FF0000"/>
                </a:solidFill>
                <a:latin typeface="Tahoma" panose="020B0604030504040204" pitchFamily="34" charset="0"/>
              </a:rPr>
              <a:t>IDE</a:t>
            </a:r>
            <a:r>
              <a:rPr lang="zh-CN" altLang="en-US" sz="3200" dirty="0">
                <a:solidFill>
                  <a:srgbClr val="FF0000"/>
                </a:solidFill>
                <a:latin typeface="Tahoma" panose="020B0604030504040204" pitchFamily="34" charset="0"/>
              </a:rPr>
              <a:t>排线</a:t>
            </a:r>
            <a:r>
              <a:rPr lang="zh-CN" altLang="en-US" sz="3200" dirty="0">
                <a:latin typeface="Tahoma" panose="020B0604030504040204" pitchFamily="34" charset="0"/>
              </a:rPr>
              <a:t>可以连接</a:t>
            </a:r>
            <a:r>
              <a:rPr lang="zh-CN" altLang="en-US" sz="3200" dirty="0">
                <a:solidFill>
                  <a:srgbClr val="FF0000"/>
                </a:solidFill>
                <a:latin typeface="Tahoma" panose="020B0604030504040204" pitchFamily="34" charset="0"/>
              </a:rPr>
              <a:t>两个</a:t>
            </a:r>
            <a:r>
              <a:rPr lang="en-US" altLang="zh-CN" sz="3200" dirty="0">
                <a:solidFill>
                  <a:srgbClr val="FF0000"/>
                </a:solidFill>
                <a:latin typeface="Tahoma" panose="020B0604030504040204" pitchFamily="34" charset="0"/>
              </a:rPr>
              <a:t>IDE</a:t>
            </a:r>
            <a:r>
              <a:rPr lang="zh-CN" altLang="en-US" sz="3200" dirty="0">
                <a:solidFill>
                  <a:srgbClr val="FF0000"/>
                </a:solidFill>
                <a:latin typeface="Tahoma" panose="020B0604030504040204" pitchFamily="34" charset="0"/>
              </a:rPr>
              <a:t>设备</a:t>
            </a:r>
            <a:r>
              <a:rPr lang="zh-CN" altLang="en-US" sz="3200" dirty="0">
                <a:latin typeface="Tahoma" panose="020B0604030504040204" pitchFamily="34" charset="0"/>
              </a:rPr>
              <a:t>，通常主机都会提供两个</a:t>
            </a:r>
            <a:r>
              <a:rPr lang="en-US" altLang="zh-CN" sz="3200" dirty="0">
                <a:latin typeface="Tahoma" panose="020B0604030504040204" pitchFamily="34" charset="0"/>
              </a:rPr>
              <a:t>IDE</a:t>
            </a:r>
            <a:r>
              <a:rPr lang="zh-CN" altLang="en-US" sz="3200" dirty="0">
                <a:latin typeface="Tahoma" panose="020B0604030504040204" pitchFamily="34" charset="0"/>
              </a:rPr>
              <a:t>接口，因此最多可以接四个</a:t>
            </a:r>
            <a:r>
              <a:rPr lang="en-US" altLang="zh-CN" sz="3200" dirty="0">
                <a:latin typeface="Tahoma" panose="020B0604030504040204" pitchFamily="34" charset="0"/>
              </a:rPr>
              <a:t>IDE</a:t>
            </a:r>
            <a:r>
              <a:rPr lang="zh-CN" altLang="en-US" sz="3200" dirty="0">
                <a:latin typeface="Tahoma" panose="020B0604030504040204" pitchFamily="34" charset="0"/>
              </a:rPr>
              <a:t>设备 </a:t>
            </a:r>
            <a:endParaRPr lang="en-US" altLang="zh-CN" sz="3200" dirty="0">
              <a:latin typeface="Tahoma" panose="020B0604030504040204" pitchFamily="34" charset="0"/>
            </a:endParaRPr>
          </a:p>
          <a:p>
            <a:pPr marL="342900" indent="-342900" eaLnBrk="0" hangingPunct="0">
              <a:spcBef>
                <a:spcPct val="20000"/>
              </a:spcBef>
              <a:buClr>
                <a:schemeClr val="folHlink"/>
              </a:buClr>
              <a:buSzPct val="60000"/>
              <a:buFont typeface="Wingdings" panose="05000000000000000000" pitchFamily="2" charset="2"/>
              <a:buChar char="n"/>
            </a:pPr>
            <a:r>
              <a:rPr lang="zh-CN" altLang="en-US" sz="3200" dirty="0">
                <a:latin typeface="Tahoma" panose="020B0604030504040204" pitchFamily="34" charset="0"/>
              </a:rPr>
              <a:t>两个</a:t>
            </a:r>
            <a:r>
              <a:rPr lang="en-US" altLang="zh-CN" sz="3200" dirty="0">
                <a:latin typeface="Tahoma" panose="020B0604030504040204" pitchFamily="34" charset="0"/>
              </a:rPr>
              <a:t>IDE</a:t>
            </a:r>
            <a:r>
              <a:rPr lang="zh-CN" altLang="en-US" sz="3200" dirty="0">
                <a:latin typeface="Tahoma" panose="020B0604030504040204" pitchFamily="34" charset="0"/>
              </a:rPr>
              <a:t>接口通常被称为</a:t>
            </a:r>
            <a:r>
              <a:rPr lang="en-US" altLang="zh-CN" sz="3200" dirty="0">
                <a:solidFill>
                  <a:srgbClr val="FF0000"/>
                </a:solidFill>
                <a:latin typeface="Tahoma" panose="020B0604030504040204" pitchFamily="34" charset="0"/>
              </a:rPr>
              <a:t>IDE1</a:t>
            </a:r>
            <a:r>
              <a:rPr lang="en-US" altLang="zh-CN" sz="3200" dirty="0">
                <a:latin typeface="Tahoma" panose="020B0604030504040204" pitchFamily="34" charset="0"/>
              </a:rPr>
              <a:t>(primary)</a:t>
            </a:r>
            <a:r>
              <a:rPr lang="zh-CN" altLang="en-US" sz="3200" dirty="0">
                <a:latin typeface="Tahoma" panose="020B0604030504040204" pitchFamily="34" charset="0"/>
              </a:rPr>
              <a:t>及</a:t>
            </a:r>
            <a:r>
              <a:rPr lang="en-US" altLang="zh-CN" sz="3200" dirty="0">
                <a:solidFill>
                  <a:srgbClr val="FF0000"/>
                </a:solidFill>
                <a:latin typeface="Tahoma" panose="020B0604030504040204" pitchFamily="34" charset="0"/>
              </a:rPr>
              <a:t>IDE2</a:t>
            </a:r>
            <a:r>
              <a:rPr lang="en-US" altLang="zh-CN" sz="3200" dirty="0">
                <a:latin typeface="Tahoma" panose="020B0604030504040204" pitchFamily="34" charset="0"/>
              </a:rPr>
              <a:t>(secondary)</a:t>
            </a:r>
          </a:p>
          <a:p>
            <a:pPr marL="342900" indent="-342900" eaLnBrk="0" hangingPunct="0">
              <a:spcBef>
                <a:spcPct val="20000"/>
              </a:spcBef>
              <a:buClr>
                <a:schemeClr val="folHlink"/>
              </a:buClr>
              <a:buSzPct val="60000"/>
              <a:buFont typeface="Wingdings" panose="05000000000000000000" pitchFamily="2" charset="2"/>
              <a:buChar char="n"/>
            </a:pPr>
            <a:r>
              <a:rPr lang="zh-CN" altLang="en-US" sz="3200" dirty="0">
                <a:solidFill>
                  <a:srgbClr val="FF0000"/>
                </a:solidFill>
                <a:latin typeface="Tahoma" panose="020B0604030504040204" pitchFamily="34" charset="0"/>
              </a:rPr>
              <a:t>每条排线</a:t>
            </a:r>
            <a:r>
              <a:rPr lang="zh-CN" altLang="en-US" sz="3200" dirty="0">
                <a:latin typeface="Tahoma" panose="020B0604030504040204" pitchFamily="34" charset="0"/>
              </a:rPr>
              <a:t>上面的</a:t>
            </a:r>
            <a:r>
              <a:rPr lang="en-US" altLang="zh-CN" sz="3200" dirty="0">
                <a:latin typeface="Tahoma" panose="020B0604030504040204" pitchFamily="34" charset="0"/>
              </a:rPr>
              <a:t>IDE</a:t>
            </a:r>
            <a:r>
              <a:rPr lang="zh-CN" altLang="en-US" sz="3200" dirty="0">
                <a:latin typeface="Tahoma" panose="020B0604030504040204" pitchFamily="34" charset="0"/>
              </a:rPr>
              <a:t>设备可以被区分为</a:t>
            </a:r>
            <a:r>
              <a:rPr lang="en-US" altLang="zh-CN" sz="3200" dirty="0">
                <a:solidFill>
                  <a:srgbClr val="FF0000"/>
                </a:solidFill>
                <a:latin typeface="Tahoma" panose="020B0604030504040204" pitchFamily="34" charset="0"/>
              </a:rPr>
              <a:t>Master</a:t>
            </a:r>
            <a:r>
              <a:rPr lang="zh-CN" altLang="en-US" sz="3200" dirty="0">
                <a:latin typeface="Tahoma" panose="020B0604030504040204" pitchFamily="34" charset="0"/>
              </a:rPr>
              <a:t>与</a:t>
            </a:r>
            <a:r>
              <a:rPr lang="en-US" altLang="zh-CN" sz="3200" dirty="0">
                <a:solidFill>
                  <a:srgbClr val="FF0000"/>
                </a:solidFill>
                <a:latin typeface="Tahoma" panose="020B0604030504040204" pitchFamily="34" charset="0"/>
              </a:rPr>
              <a:t>Slave</a:t>
            </a:r>
            <a:endParaRPr lang="zh-CN" altLang="en-US" sz="3200" dirty="0">
              <a:solidFill>
                <a:srgbClr val="FF0000"/>
              </a:solidFill>
              <a:latin typeface="Tahoma" panose="020B0604030504040204" pitchFamily="34" charset="0"/>
            </a:endParaRPr>
          </a:p>
        </p:txBody>
      </p:sp>
    </p:spTree>
    <p:extLst>
      <p:ext uri="{BB962C8B-B14F-4D97-AF65-F5344CB8AC3E}">
        <p14:creationId xmlns:p14="http://schemas.microsoft.com/office/powerpoint/2010/main" val="2189306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a:t>
            </a:r>
          </a:p>
        </p:txBody>
      </p:sp>
      <p:sp>
        <p:nvSpPr>
          <p:cNvPr id="9" name="内容占位符 2">
            <a:extLst>
              <a:ext uri="{FF2B5EF4-FFF2-40B4-BE49-F238E27FC236}">
                <a16:creationId xmlns:a16="http://schemas.microsoft.com/office/drawing/2014/main" id="{DA9551F1-8E62-4C65-97A6-479E872DA70D}"/>
              </a:ext>
            </a:extLst>
          </p:cNvPr>
          <p:cNvSpPr txBox="1">
            <a:spLocks/>
          </p:cNvSpPr>
          <p:nvPr/>
        </p:nvSpPr>
        <p:spPr bwMode="auto">
          <a:xfrm>
            <a:off x="323529" y="4415070"/>
            <a:ext cx="4968552" cy="192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b="0" dirty="0">
                <a:solidFill>
                  <a:srgbClr val="FF0000"/>
                </a:solidFill>
              </a:rPr>
              <a:t>MBR</a:t>
            </a:r>
            <a:r>
              <a:rPr lang="zh-CN" altLang="en-US" b="0" dirty="0"/>
              <a:t>（</a:t>
            </a:r>
            <a:r>
              <a:rPr lang="en-US" altLang="zh-CN" b="0" dirty="0"/>
              <a:t>Master Boot Record</a:t>
            </a:r>
            <a:r>
              <a:rPr lang="zh-CN" altLang="en-US" b="0" dirty="0"/>
              <a:t>）格式</a:t>
            </a:r>
            <a:endParaRPr lang="en-US" altLang="zh-CN" b="0" dirty="0"/>
          </a:p>
          <a:p>
            <a:pPr lvl="1"/>
            <a:r>
              <a:rPr lang="en-US" altLang="zh-CN" b="0" dirty="0"/>
              <a:t>GPT</a:t>
            </a:r>
            <a:r>
              <a:rPr lang="zh-CN" altLang="en-US" b="0" dirty="0"/>
              <a:t>（</a:t>
            </a:r>
            <a:r>
              <a:rPr lang="en-US" altLang="zh-CN" b="0" dirty="0"/>
              <a:t>GUID partition table</a:t>
            </a:r>
            <a:r>
              <a:rPr lang="zh-CN" altLang="en-US" b="0" dirty="0"/>
              <a:t>）格式</a:t>
            </a:r>
            <a:endParaRPr lang="en-US" altLang="zh-CN" b="0" dirty="0"/>
          </a:p>
        </p:txBody>
      </p:sp>
      <p:sp>
        <p:nvSpPr>
          <p:cNvPr id="3" name="内容占位符 2"/>
          <p:cNvSpPr>
            <a:spLocks noGrp="1"/>
          </p:cNvSpPr>
          <p:nvPr>
            <p:ph idx="1"/>
          </p:nvPr>
        </p:nvSpPr>
        <p:spPr>
          <a:xfrm>
            <a:off x="433433" y="1559617"/>
            <a:ext cx="4132996" cy="4893719"/>
          </a:xfrm>
        </p:spPr>
        <p:txBody>
          <a:bodyPr/>
          <a:lstStyle/>
          <a:p>
            <a:r>
              <a:rPr lang="zh-CN" altLang="en-US" sz="2800" b="1" dirty="0">
                <a:solidFill>
                  <a:srgbClr val="C00000"/>
                </a:solidFill>
              </a:rPr>
              <a:t>扇区</a:t>
            </a:r>
            <a:r>
              <a:rPr lang="zh-CN" altLang="en-US" sz="2800" dirty="0"/>
              <a:t>：</a:t>
            </a:r>
            <a:r>
              <a:rPr lang="en-US" altLang="zh-CN" sz="2800" dirty="0"/>
              <a:t>512B</a:t>
            </a:r>
            <a:r>
              <a:rPr lang="zh-CN" altLang="en-US" sz="2800" dirty="0"/>
              <a:t>或</a:t>
            </a:r>
            <a:r>
              <a:rPr lang="en-US" altLang="zh-CN" sz="2800" dirty="0"/>
              <a:t>4KB</a:t>
            </a:r>
          </a:p>
          <a:p>
            <a:r>
              <a:rPr lang="zh-CN" altLang="en-US" sz="2800" dirty="0">
                <a:solidFill>
                  <a:srgbClr val="FF0000"/>
                </a:solidFill>
              </a:rPr>
              <a:t>第一个扇区</a:t>
            </a:r>
            <a:r>
              <a:rPr lang="zh-CN" altLang="en-US" sz="2800" dirty="0"/>
              <a:t>特别重要，记录了整块磁盘的重要信息</a:t>
            </a:r>
            <a:endParaRPr lang="en-US" altLang="zh-CN" sz="2800" dirty="0"/>
          </a:p>
          <a:p>
            <a:r>
              <a:rPr lang="zh-CN" altLang="en-US" sz="2800" dirty="0"/>
              <a:t>磁盘第一个扇区里面含有的</a:t>
            </a:r>
            <a:r>
              <a:rPr lang="zh-CN" altLang="en-US" sz="2800" dirty="0">
                <a:solidFill>
                  <a:srgbClr val="FF0000"/>
                </a:solidFill>
              </a:rPr>
              <a:t>重要信息</a:t>
            </a:r>
            <a:r>
              <a:rPr lang="zh-CN" altLang="en-US" sz="2800" dirty="0"/>
              <a:t>称为：</a:t>
            </a:r>
            <a:endParaRPr lang="en-US" altLang="zh-CN" sz="2800" dirty="0"/>
          </a:p>
        </p:txBody>
      </p:sp>
      <p:grpSp>
        <p:nvGrpSpPr>
          <p:cNvPr id="26" name="组合 25">
            <a:extLst>
              <a:ext uri="{FF2B5EF4-FFF2-40B4-BE49-F238E27FC236}">
                <a16:creationId xmlns:a16="http://schemas.microsoft.com/office/drawing/2014/main" id="{B8561B53-67BB-4703-A2B3-5A116C2B637F}"/>
              </a:ext>
            </a:extLst>
          </p:cNvPr>
          <p:cNvGrpSpPr/>
          <p:nvPr/>
        </p:nvGrpSpPr>
        <p:grpSpPr>
          <a:xfrm>
            <a:off x="4572000" y="1844824"/>
            <a:ext cx="4894524" cy="3619500"/>
            <a:chOff x="4572000" y="1283878"/>
            <a:chExt cx="4894524" cy="3619500"/>
          </a:xfrm>
        </p:grpSpPr>
        <p:pic>
          <p:nvPicPr>
            <p:cNvPr id="5122" name="Picture 2" descr="磁碟盘组成示意图">
              <a:extLst>
                <a:ext uri="{FF2B5EF4-FFF2-40B4-BE49-F238E27FC236}">
                  <a16:creationId xmlns:a16="http://schemas.microsoft.com/office/drawing/2014/main" id="{7222853C-1EE1-4993-8CC0-B9F2568B8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83878"/>
              <a:ext cx="4543425" cy="3619500"/>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D4DA8CBF-99AF-4FCB-B623-C060300209B6}"/>
                </a:ext>
              </a:extLst>
            </p:cNvPr>
            <p:cNvPicPr>
              <a:picLocks noChangeAspect="1"/>
            </p:cNvPicPr>
            <p:nvPr/>
          </p:nvPicPr>
          <p:blipFill>
            <a:blip r:embed="rId4"/>
            <a:stretch>
              <a:fillRect/>
            </a:stretch>
          </p:blipFill>
          <p:spPr>
            <a:xfrm>
              <a:off x="7926814" y="1452948"/>
              <a:ext cx="821650" cy="283328"/>
            </a:xfrm>
            <a:prstGeom prst="rect">
              <a:avLst/>
            </a:prstGeom>
          </p:spPr>
        </p:pic>
        <p:sp>
          <p:nvSpPr>
            <p:cNvPr id="4" name="文本框 3">
              <a:extLst>
                <a:ext uri="{FF2B5EF4-FFF2-40B4-BE49-F238E27FC236}">
                  <a16:creationId xmlns:a16="http://schemas.microsoft.com/office/drawing/2014/main" id="{73A6DC44-3526-449E-8C79-7F7A6B8258D7}"/>
                </a:ext>
              </a:extLst>
            </p:cNvPr>
            <p:cNvSpPr txBox="1"/>
            <p:nvPr/>
          </p:nvSpPr>
          <p:spPr>
            <a:xfrm>
              <a:off x="7926814" y="1452948"/>
              <a:ext cx="543739" cy="307777"/>
            </a:xfrm>
            <a:prstGeom prst="rect">
              <a:avLst/>
            </a:prstGeom>
            <a:noFill/>
          </p:spPr>
          <p:txBody>
            <a:bodyPr wrap="none" rtlCol="0">
              <a:spAutoFit/>
            </a:bodyPr>
            <a:lstStyle/>
            <a:p>
              <a:r>
                <a:rPr lang="zh-CN" altLang="en-US" sz="1400" dirty="0"/>
                <a:t>扇区</a:t>
              </a:r>
            </a:p>
          </p:txBody>
        </p:sp>
        <p:sp>
          <p:nvSpPr>
            <p:cNvPr id="20" name="文本框 19">
              <a:extLst>
                <a:ext uri="{FF2B5EF4-FFF2-40B4-BE49-F238E27FC236}">
                  <a16:creationId xmlns:a16="http://schemas.microsoft.com/office/drawing/2014/main" id="{AF4663E7-8193-4049-9B0E-6EAB2F7BF0D9}"/>
                </a:ext>
              </a:extLst>
            </p:cNvPr>
            <p:cNvSpPr txBox="1"/>
            <p:nvPr/>
          </p:nvSpPr>
          <p:spPr>
            <a:xfrm>
              <a:off x="8056366" y="1969426"/>
              <a:ext cx="949935" cy="307777"/>
            </a:xfrm>
            <a:prstGeom prst="rect">
              <a:avLst/>
            </a:prstGeom>
            <a:noFill/>
          </p:spPr>
          <p:txBody>
            <a:bodyPr wrap="square" rtlCol="0">
              <a:spAutoFit/>
            </a:bodyPr>
            <a:lstStyle/>
            <a:p>
              <a:r>
                <a:rPr lang="zh-CN" altLang="en-US" sz="1400" dirty="0"/>
                <a:t>柱面</a:t>
              </a:r>
            </a:p>
          </p:txBody>
        </p:sp>
        <p:pic>
          <p:nvPicPr>
            <p:cNvPr id="21" name="图片 20">
              <a:extLst>
                <a:ext uri="{FF2B5EF4-FFF2-40B4-BE49-F238E27FC236}">
                  <a16:creationId xmlns:a16="http://schemas.microsoft.com/office/drawing/2014/main" id="{3CBAF6FD-96A0-45B3-8490-C1FDCA1CDBE5}"/>
                </a:ext>
              </a:extLst>
            </p:cNvPr>
            <p:cNvPicPr>
              <a:picLocks noChangeAspect="1"/>
            </p:cNvPicPr>
            <p:nvPr/>
          </p:nvPicPr>
          <p:blipFill rotWithShape="1">
            <a:blip r:embed="rId4"/>
            <a:srcRect r="39532" b="63048"/>
            <a:stretch/>
          </p:blipFill>
          <p:spPr>
            <a:xfrm>
              <a:off x="8429678" y="3213309"/>
              <a:ext cx="685747" cy="604456"/>
            </a:xfrm>
            <a:prstGeom prst="rect">
              <a:avLst/>
            </a:prstGeom>
          </p:spPr>
        </p:pic>
        <p:sp>
          <p:nvSpPr>
            <p:cNvPr id="22" name="文本框 21">
              <a:extLst>
                <a:ext uri="{FF2B5EF4-FFF2-40B4-BE49-F238E27FC236}">
                  <a16:creationId xmlns:a16="http://schemas.microsoft.com/office/drawing/2014/main" id="{04C98F75-192A-4CCB-9077-C8331B9C3757}"/>
                </a:ext>
              </a:extLst>
            </p:cNvPr>
            <p:cNvSpPr txBox="1"/>
            <p:nvPr/>
          </p:nvSpPr>
          <p:spPr>
            <a:xfrm>
              <a:off x="8309508" y="3233773"/>
              <a:ext cx="1157016" cy="307777"/>
            </a:xfrm>
            <a:prstGeom prst="rect">
              <a:avLst/>
            </a:prstGeom>
            <a:noFill/>
          </p:spPr>
          <p:txBody>
            <a:bodyPr wrap="square" rtlCol="0">
              <a:spAutoFit/>
            </a:bodyPr>
            <a:lstStyle/>
            <a:p>
              <a:r>
                <a:rPr lang="zh-CN" altLang="en-US" sz="1400" dirty="0"/>
                <a:t>开始磁道</a:t>
              </a:r>
            </a:p>
          </p:txBody>
        </p:sp>
        <p:sp>
          <p:nvSpPr>
            <p:cNvPr id="23" name="文本框 22">
              <a:extLst>
                <a:ext uri="{FF2B5EF4-FFF2-40B4-BE49-F238E27FC236}">
                  <a16:creationId xmlns:a16="http://schemas.microsoft.com/office/drawing/2014/main" id="{56D30F87-1B3D-4886-A5BF-7B1552AA5BCC}"/>
                </a:ext>
              </a:extLst>
            </p:cNvPr>
            <p:cNvSpPr txBox="1"/>
            <p:nvPr/>
          </p:nvSpPr>
          <p:spPr>
            <a:xfrm>
              <a:off x="8299666" y="3490486"/>
              <a:ext cx="1157016" cy="307777"/>
            </a:xfrm>
            <a:prstGeom prst="rect">
              <a:avLst/>
            </a:prstGeom>
            <a:noFill/>
          </p:spPr>
          <p:txBody>
            <a:bodyPr wrap="square" rtlCol="0">
              <a:spAutoFit/>
            </a:bodyPr>
            <a:lstStyle/>
            <a:p>
              <a:r>
                <a:rPr lang="zh-CN" altLang="en-US" sz="1400" dirty="0"/>
                <a:t>结束磁道</a:t>
              </a:r>
            </a:p>
          </p:txBody>
        </p:sp>
        <p:pic>
          <p:nvPicPr>
            <p:cNvPr id="7" name="图片 6">
              <a:extLst>
                <a:ext uri="{FF2B5EF4-FFF2-40B4-BE49-F238E27FC236}">
                  <a16:creationId xmlns:a16="http://schemas.microsoft.com/office/drawing/2014/main" id="{C6CDC095-DDE7-48DF-9527-551A849DBB86}"/>
                </a:ext>
              </a:extLst>
            </p:cNvPr>
            <p:cNvPicPr>
              <a:picLocks noChangeAspect="1"/>
            </p:cNvPicPr>
            <p:nvPr/>
          </p:nvPicPr>
          <p:blipFill>
            <a:blip r:embed="rId5"/>
            <a:stretch>
              <a:fillRect/>
            </a:stretch>
          </p:blipFill>
          <p:spPr>
            <a:xfrm flipV="1">
              <a:off x="5940152" y="1953492"/>
              <a:ext cx="864096" cy="340521"/>
            </a:xfrm>
            <a:prstGeom prst="rect">
              <a:avLst/>
            </a:prstGeom>
          </p:spPr>
        </p:pic>
        <p:sp>
          <p:nvSpPr>
            <p:cNvPr id="25" name="文本框 24">
              <a:extLst>
                <a:ext uri="{FF2B5EF4-FFF2-40B4-BE49-F238E27FC236}">
                  <a16:creationId xmlns:a16="http://schemas.microsoft.com/office/drawing/2014/main" id="{864C55EF-7741-44C9-82FB-E34FFCD86508}"/>
                </a:ext>
              </a:extLst>
            </p:cNvPr>
            <p:cNvSpPr txBox="1"/>
            <p:nvPr/>
          </p:nvSpPr>
          <p:spPr>
            <a:xfrm>
              <a:off x="5960003" y="1984816"/>
              <a:ext cx="800219" cy="276999"/>
            </a:xfrm>
            <a:prstGeom prst="rect">
              <a:avLst/>
            </a:prstGeom>
            <a:noFill/>
          </p:spPr>
          <p:txBody>
            <a:bodyPr wrap="none" rtlCol="0">
              <a:spAutoFit/>
            </a:bodyPr>
            <a:lstStyle/>
            <a:p>
              <a:r>
                <a:rPr lang="zh-CN" altLang="en-US" sz="1200" dirty="0"/>
                <a:t>文件系统</a:t>
              </a:r>
            </a:p>
          </p:txBody>
        </p:sp>
      </p:grpSp>
      <p:pic>
        <p:nvPicPr>
          <p:cNvPr id="18" name="图片 17">
            <a:extLst>
              <a:ext uri="{FF2B5EF4-FFF2-40B4-BE49-F238E27FC236}">
                <a16:creationId xmlns:a16="http://schemas.microsoft.com/office/drawing/2014/main" id="{2F338561-C29D-4E46-93FB-C4FEF46A8D24}"/>
              </a:ext>
            </a:extLst>
          </p:cNvPr>
          <p:cNvPicPr>
            <a:picLocks noChangeAspect="1"/>
          </p:cNvPicPr>
          <p:nvPr/>
        </p:nvPicPr>
        <p:blipFill rotWithShape="1">
          <a:blip r:embed="rId4"/>
          <a:srcRect l="1" r="-166519"/>
          <a:stretch/>
        </p:blipFill>
        <p:spPr>
          <a:xfrm>
            <a:off x="8088367" y="2513562"/>
            <a:ext cx="2808312" cy="341397"/>
          </a:xfrm>
          <a:prstGeom prst="rect">
            <a:avLst/>
          </a:prstGeom>
        </p:spPr>
      </p:pic>
      <p:sp>
        <p:nvSpPr>
          <p:cNvPr id="27" name="文本框 26">
            <a:extLst>
              <a:ext uri="{FF2B5EF4-FFF2-40B4-BE49-F238E27FC236}">
                <a16:creationId xmlns:a16="http://schemas.microsoft.com/office/drawing/2014/main" id="{9D720E6E-0E4B-48D3-BC58-2677AC4A3F19}"/>
              </a:ext>
            </a:extLst>
          </p:cNvPr>
          <p:cNvSpPr txBox="1"/>
          <p:nvPr/>
        </p:nvSpPr>
        <p:spPr>
          <a:xfrm>
            <a:off x="8065783" y="2619548"/>
            <a:ext cx="543739" cy="307777"/>
          </a:xfrm>
          <a:prstGeom prst="rect">
            <a:avLst/>
          </a:prstGeom>
          <a:noFill/>
        </p:spPr>
        <p:txBody>
          <a:bodyPr wrap="none" rtlCol="0">
            <a:spAutoFit/>
          </a:bodyPr>
          <a:lstStyle/>
          <a:p>
            <a:r>
              <a:rPr lang="zh-CN" altLang="en-US" sz="1400" dirty="0"/>
              <a:t>柱面</a:t>
            </a:r>
          </a:p>
        </p:txBody>
      </p:sp>
    </p:spTree>
    <p:extLst>
      <p:ext uri="{BB962C8B-B14F-4D97-AF65-F5344CB8AC3E}">
        <p14:creationId xmlns:p14="http://schemas.microsoft.com/office/powerpoint/2010/main" val="3933214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主引导记录（</a:t>
            </a:r>
            <a:r>
              <a:rPr lang="en-US" altLang="zh-CN" sz="4000" dirty="0"/>
              <a:t>MBR</a:t>
            </a:r>
            <a:r>
              <a:rPr lang="zh-CN" altLang="en-US" sz="4000" dirty="0"/>
              <a:t>）分区表</a:t>
            </a:r>
          </a:p>
        </p:txBody>
      </p:sp>
      <p:sp>
        <p:nvSpPr>
          <p:cNvPr id="3" name="内容占位符 2"/>
          <p:cNvSpPr>
            <a:spLocks noGrp="1"/>
          </p:cNvSpPr>
          <p:nvPr>
            <p:ph idx="1"/>
          </p:nvPr>
        </p:nvSpPr>
        <p:spPr>
          <a:xfrm>
            <a:off x="683568" y="1412776"/>
            <a:ext cx="8263582" cy="4502125"/>
          </a:xfrm>
        </p:spPr>
        <p:txBody>
          <a:bodyPr/>
          <a:lstStyle/>
          <a:p>
            <a:r>
              <a:rPr lang="en-US" altLang="zh-CN" sz="3000" dirty="0"/>
              <a:t>MBR</a:t>
            </a:r>
            <a:r>
              <a:rPr lang="zh-CN" altLang="en-US" sz="3000" dirty="0"/>
              <a:t>位于硬盘的</a:t>
            </a:r>
            <a:r>
              <a:rPr lang="en-US" altLang="zh-CN" sz="3000" dirty="0"/>
              <a:t>0</a:t>
            </a:r>
            <a:r>
              <a:rPr lang="zh-CN" altLang="en-US" sz="3000" dirty="0"/>
              <a:t>磁道</a:t>
            </a:r>
            <a:r>
              <a:rPr lang="en-US" altLang="zh-CN" sz="3000" dirty="0"/>
              <a:t>0</a:t>
            </a:r>
            <a:r>
              <a:rPr lang="zh-CN" altLang="en-US" sz="3000" dirty="0"/>
              <a:t>柱面</a:t>
            </a:r>
            <a:r>
              <a:rPr lang="en-US" altLang="zh-CN" sz="3000" dirty="0"/>
              <a:t>1</a:t>
            </a:r>
            <a:r>
              <a:rPr lang="zh-CN" altLang="en-US" sz="3000" dirty="0"/>
              <a:t>扇区</a:t>
            </a:r>
            <a:r>
              <a:rPr lang="en-US" altLang="zh-CN" sz="3000" dirty="0"/>
              <a:t>【512</a:t>
            </a:r>
            <a:r>
              <a:rPr lang="zh-CN" altLang="en-US" sz="3000" dirty="0"/>
              <a:t>字节</a:t>
            </a:r>
            <a:r>
              <a:rPr lang="en-US" altLang="zh-CN" sz="3000" dirty="0"/>
              <a:t>】</a:t>
            </a:r>
          </a:p>
          <a:p>
            <a:pPr lvl="1"/>
            <a:r>
              <a:rPr lang="zh-CN" altLang="en-US" sz="2600" dirty="0"/>
              <a:t>装载操作系统的硬盘</a:t>
            </a:r>
            <a:r>
              <a:rPr lang="zh-CN" altLang="en-US" sz="2600" dirty="0">
                <a:solidFill>
                  <a:srgbClr val="FF0000"/>
                </a:solidFill>
              </a:rPr>
              <a:t>引导程序</a:t>
            </a:r>
            <a:r>
              <a:rPr lang="en-US" altLang="zh-CN" sz="2600" dirty="0"/>
              <a:t>【446</a:t>
            </a:r>
            <a:r>
              <a:rPr lang="zh-CN" altLang="en-US" sz="2600" dirty="0"/>
              <a:t>字节</a:t>
            </a:r>
            <a:r>
              <a:rPr lang="en-US" altLang="zh-CN" sz="2600" dirty="0"/>
              <a:t>】</a:t>
            </a:r>
            <a:endParaRPr lang="zh-CN" altLang="en-US" sz="2600" dirty="0"/>
          </a:p>
          <a:p>
            <a:pPr lvl="1"/>
            <a:r>
              <a:rPr lang="zh-CN" altLang="en-US" sz="2600" dirty="0"/>
              <a:t>硬盘</a:t>
            </a:r>
            <a:r>
              <a:rPr lang="zh-CN" altLang="en-US" sz="2600" dirty="0">
                <a:solidFill>
                  <a:srgbClr val="FF0000"/>
                </a:solidFill>
              </a:rPr>
              <a:t>分区表</a:t>
            </a:r>
            <a:r>
              <a:rPr lang="en-US" altLang="zh-CN" sz="2600" dirty="0">
                <a:solidFill>
                  <a:srgbClr val="FF0000"/>
                </a:solidFill>
              </a:rPr>
              <a:t> </a:t>
            </a:r>
            <a:r>
              <a:rPr lang="en-US" altLang="zh-CN" sz="2600" dirty="0"/>
              <a:t>(Disk Partition Table, DPT) 【64</a:t>
            </a:r>
            <a:r>
              <a:rPr lang="zh-CN" altLang="en-US" sz="2600" dirty="0"/>
              <a:t>字节</a:t>
            </a:r>
            <a:r>
              <a:rPr lang="en-US" altLang="zh-CN" sz="2600" dirty="0"/>
              <a:t>】——</a:t>
            </a:r>
            <a:r>
              <a:rPr lang="zh-CN" altLang="en-US" sz="2600" dirty="0">
                <a:solidFill>
                  <a:srgbClr val="FF0000"/>
                </a:solidFill>
              </a:rPr>
              <a:t>最多有</a:t>
            </a:r>
            <a:r>
              <a:rPr lang="en-US" altLang="zh-CN" sz="2600" dirty="0">
                <a:solidFill>
                  <a:srgbClr val="FF0000"/>
                </a:solidFill>
              </a:rPr>
              <a:t>4</a:t>
            </a:r>
            <a:r>
              <a:rPr lang="zh-CN" altLang="en-US" sz="2600" dirty="0">
                <a:solidFill>
                  <a:srgbClr val="FF0000"/>
                </a:solidFill>
              </a:rPr>
              <a:t>组分区记录</a:t>
            </a:r>
            <a:endParaRPr lang="en-US" altLang="zh-CN" sz="2600" dirty="0">
              <a:solidFill>
                <a:srgbClr val="FF0000"/>
              </a:solidFill>
            </a:endParaRPr>
          </a:p>
          <a:p>
            <a:pPr lvl="2"/>
            <a:r>
              <a:rPr lang="zh-CN" altLang="en-US" dirty="0"/>
              <a:t>分区</a:t>
            </a:r>
            <a:r>
              <a:rPr lang="en-US" altLang="zh-CN" dirty="0"/>
              <a:t>ID</a:t>
            </a:r>
            <a:r>
              <a:rPr lang="zh-CN" altLang="en-US" dirty="0"/>
              <a:t>或者类型 </a:t>
            </a:r>
          </a:p>
          <a:p>
            <a:pPr lvl="2"/>
            <a:r>
              <a:rPr lang="zh-CN" altLang="en-US" dirty="0"/>
              <a:t>分区起始磁道 </a:t>
            </a:r>
          </a:p>
          <a:p>
            <a:pPr lvl="2"/>
            <a:r>
              <a:rPr lang="zh-CN" altLang="en-US" dirty="0"/>
              <a:t>分区磁道数</a:t>
            </a:r>
            <a:endParaRPr lang="en-US" altLang="zh-CN" dirty="0"/>
          </a:p>
          <a:p>
            <a:pPr lvl="1"/>
            <a:r>
              <a:rPr lang="zh-CN" altLang="en-US" sz="2600" dirty="0"/>
              <a:t>最后</a:t>
            </a:r>
            <a:r>
              <a:rPr lang="zh-CN" altLang="en-US" sz="2600" dirty="0">
                <a:solidFill>
                  <a:srgbClr val="FF0000"/>
                </a:solidFill>
              </a:rPr>
              <a:t>两个字节</a:t>
            </a:r>
            <a:r>
              <a:rPr lang="zh-CN" altLang="en-US" sz="2600" dirty="0"/>
              <a:t>“</a:t>
            </a:r>
            <a:r>
              <a:rPr lang="en-US" altLang="zh-CN" sz="2600" dirty="0"/>
              <a:t>55</a:t>
            </a:r>
            <a:r>
              <a:rPr lang="zh-CN" altLang="en-US" sz="2600" dirty="0"/>
              <a:t>，</a:t>
            </a:r>
            <a:r>
              <a:rPr lang="en-US" altLang="zh-CN" sz="2600" dirty="0"/>
              <a:t>AA”</a:t>
            </a:r>
            <a:r>
              <a:rPr lang="zh-CN" altLang="en-US" sz="2600" dirty="0"/>
              <a:t>是分区的</a:t>
            </a:r>
            <a:r>
              <a:rPr lang="zh-CN" altLang="en-US" sz="2600" dirty="0">
                <a:solidFill>
                  <a:srgbClr val="FF0000"/>
                </a:solidFill>
              </a:rPr>
              <a:t>结束标志</a:t>
            </a:r>
          </a:p>
          <a:p>
            <a:r>
              <a:rPr lang="en-US" altLang="zh-CN" sz="3000" dirty="0"/>
              <a:t>MBR</a:t>
            </a:r>
            <a:r>
              <a:rPr lang="zh-CN" altLang="en-US" sz="3000" dirty="0"/>
              <a:t>是由</a:t>
            </a:r>
            <a:r>
              <a:rPr lang="zh-CN" altLang="en-US" sz="3000" dirty="0">
                <a:solidFill>
                  <a:srgbClr val="FF0000"/>
                </a:solidFill>
              </a:rPr>
              <a:t>分区程序</a:t>
            </a:r>
            <a:r>
              <a:rPr lang="zh-CN" altLang="en-US" sz="3000" dirty="0"/>
              <a:t>（如</a:t>
            </a:r>
            <a:r>
              <a:rPr lang="en-US" altLang="zh-CN" sz="3000" dirty="0" err="1"/>
              <a:t>fdisk</a:t>
            </a:r>
            <a:r>
              <a:rPr lang="zh-CN" altLang="en-US" sz="3000" dirty="0"/>
              <a:t>）所产生的</a:t>
            </a:r>
            <a:endParaRPr lang="en-US" altLang="zh-CN" sz="3000" dirty="0"/>
          </a:p>
          <a:p>
            <a:pPr lvl="1"/>
            <a:r>
              <a:rPr lang="zh-CN" altLang="en-US" sz="2600" dirty="0"/>
              <a:t>不依赖任何操作系统</a:t>
            </a:r>
            <a:endParaRPr lang="en-US" altLang="zh-CN" sz="2600" dirty="0"/>
          </a:p>
          <a:p>
            <a:pPr lvl="1"/>
            <a:r>
              <a:rPr lang="zh-CN" altLang="en-US" sz="2600" dirty="0"/>
              <a:t>硬盘</a:t>
            </a:r>
            <a:r>
              <a:rPr lang="zh-CN" altLang="en-US" sz="2600" dirty="0">
                <a:solidFill>
                  <a:srgbClr val="FF0000"/>
                </a:solidFill>
              </a:rPr>
              <a:t>引导程序</a:t>
            </a:r>
            <a:r>
              <a:rPr lang="zh-CN" altLang="en-US" sz="2600" dirty="0"/>
              <a:t>是</a:t>
            </a:r>
            <a:r>
              <a:rPr lang="zh-CN" altLang="en-US" sz="2600" dirty="0">
                <a:solidFill>
                  <a:srgbClr val="FF0000"/>
                </a:solidFill>
              </a:rPr>
              <a:t>可以改变</a:t>
            </a:r>
            <a:r>
              <a:rPr lang="zh-CN" altLang="en-US" sz="2600" dirty="0"/>
              <a:t>的，从而实现多系统共存</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磁盘分区表的作用</a:t>
            </a:r>
          </a:p>
        </p:txBody>
      </p:sp>
      <p:grpSp>
        <p:nvGrpSpPr>
          <p:cNvPr id="16" name="组合 15">
            <a:extLst>
              <a:ext uri="{FF2B5EF4-FFF2-40B4-BE49-F238E27FC236}">
                <a16:creationId xmlns:a16="http://schemas.microsoft.com/office/drawing/2014/main" id="{2820F50E-D290-4CFD-B3A6-8561A09F13DF}"/>
              </a:ext>
            </a:extLst>
          </p:cNvPr>
          <p:cNvGrpSpPr/>
          <p:nvPr/>
        </p:nvGrpSpPr>
        <p:grpSpPr>
          <a:xfrm>
            <a:off x="218023" y="1326295"/>
            <a:ext cx="5660919" cy="3110817"/>
            <a:chOff x="1287345" y="1213597"/>
            <a:chExt cx="5012847" cy="3547386"/>
          </a:xfrm>
        </p:grpSpPr>
        <p:pic>
          <p:nvPicPr>
            <p:cNvPr id="6146" name="Picture 2" descr="磁盘分区表的作用示意图">
              <a:extLst>
                <a:ext uri="{FF2B5EF4-FFF2-40B4-BE49-F238E27FC236}">
                  <a16:creationId xmlns:a16="http://schemas.microsoft.com/office/drawing/2014/main" id="{80DCFBAF-2129-4E65-9E87-66AC3AF08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340768"/>
              <a:ext cx="4536504" cy="317056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2B8458CB-53A9-4413-86FC-282E15113CA0}"/>
                </a:ext>
              </a:extLst>
            </p:cNvPr>
            <p:cNvPicPr>
              <a:picLocks noChangeAspect="1"/>
            </p:cNvPicPr>
            <p:nvPr/>
          </p:nvPicPr>
          <p:blipFill>
            <a:blip r:embed="rId3"/>
            <a:stretch>
              <a:fillRect/>
            </a:stretch>
          </p:blipFill>
          <p:spPr>
            <a:xfrm>
              <a:off x="1763688" y="1393964"/>
              <a:ext cx="576064" cy="510602"/>
            </a:xfrm>
            <a:prstGeom prst="rect">
              <a:avLst/>
            </a:prstGeom>
          </p:spPr>
        </p:pic>
        <p:pic>
          <p:nvPicPr>
            <p:cNvPr id="11" name="图片 10">
              <a:extLst>
                <a:ext uri="{FF2B5EF4-FFF2-40B4-BE49-F238E27FC236}">
                  <a16:creationId xmlns:a16="http://schemas.microsoft.com/office/drawing/2014/main" id="{C1609A7E-AF56-45AC-9CED-93C880B9971B}"/>
                </a:ext>
              </a:extLst>
            </p:cNvPr>
            <p:cNvPicPr>
              <a:picLocks noChangeAspect="1"/>
            </p:cNvPicPr>
            <p:nvPr/>
          </p:nvPicPr>
          <p:blipFill>
            <a:blip r:embed="rId3"/>
            <a:stretch>
              <a:fillRect/>
            </a:stretch>
          </p:blipFill>
          <p:spPr>
            <a:xfrm>
              <a:off x="2945000" y="4389508"/>
              <a:ext cx="419100" cy="371475"/>
            </a:xfrm>
            <a:prstGeom prst="rect">
              <a:avLst/>
            </a:prstGeom>
          </p:spPr>
        </p:pic>
        <p:pic>
          <p:nvPicPr>
            <p:cNvPr id="13" name="图片 12">
              <a:extLst>
                <a:ext uri="{FF2B5EF4-FFF2-40B4-BE49-F238E27FC236}">
                  <a16:creationId xmlns:a16="http://schemas.microsoft.com/office/drawing/2014/main" id="{7A8A19B3-2E9E-4A24-9A62-8A40DBE1F33E}"/>
                </a:ext>
              </a:extLst>
            </p:cNvPr>
            <p:cNvPicPr>
              <a:picLocks noChangeAspect="1"/>
            </p:cNvPicPr>
            <p:nvPr/>
          </p:nvPicPr>
          <p:blipFill>
            <a:blip r:embed="rId3"/>
            <a:stretch>
              <a:fillRect/>
            </a:stretch>
          </p:blipFill>
          <p:spPr>
            <a:xfrm>
              <a:off x="3691322" y="1393964"/>
              <a:ext cx="1240718" cy="255786"/>
            </a:xfrm>
            <a:prstGeom prst="rect">
              <a:avLst/>
            </a:prstGeom>
          </p:spPr>
        </p:pic>
        <p:sp>
          <p:nvSpPr>
            <p:cNvPr id="14" name="文本框 13">
              <a:extLst>
                <a:ext uri="{FF2B5EF4-FFF2-40B4-BE49-F238E27FC236}">
                  <a16:creationId xmlns:a16="http://schemas.microsoft.com/office/drawing/2014/main" id="{92CA7498-C6C5-4363-B0C3-24E949BA7CB9}"/>
                </a:ext>
              </a:extLst>
            </p:cNvPr>
            <p:cNvSpPr txBox="1"/>
            <p:nvPr/>
          </p:nvSpPr>
          <p:spPr>
            <a:xfrm>
              <a:off x="1287345" y="1521857"/>
              <a:ext cx="1152128" cy="523220"/>
            </a:xfrm>
            <a:prstGeom prst="rect">
              <a:avLst/>
            </a:prstGeom>
            <a:noFill/>
          </p:spPr>
          <p:txBody>
            <a:bodyPr wrap="square" rtlCol="0">
              <a:spAutoFit/>
            </a:bodyPr>
            <a:lstStyle/>
            <a:p>
              <a:pPr algn="ctr"/>
              <a:r>
                <a:rPr lang="zh-CN" altLang="en-US" sz="1400" dirty="0"/>
                <a:t>第一扇区的</a:t>
              </a:r>
              <a:r>
                <a:rPr lang="en-US" altLang="zh-CN" sz="1400" dirty="0"/>
                <a:t>MBR</a:t>
              </a:r>
              <a:r>
                <a:rPr lang="zh-CN" altLang="en-US" sz="1400" dirty="0"/>
                <a:t>分区表</a:t>
              </a:r>
            </a:p>
          </p:txBody>
        </p:sp>
        <p:sp>
          <p:nvSpPr>
            <p:cNvPr id="17" name="文本框 16">
              <a:extLst>
                <a:ext uri="{FF2B5EF4-FFF2-40B4-BE49-F238E27FC236}">
                  <a16:creationId xmlns:a16="http://schemas.microsoft.com/office/drawing/2014/main" id="{EC7D34F3-D8EB-4C76-8822-D61994C0EAC0}"/>
                </a:ext>
              </a:extLst>
            </p:cNvPr>
            <p:cNvSpPr txBox="1"/>
            <p:nvPr/>
          </p:nvSpPr>
          <p:spPr>
            <a:xfrm>
              <a:off x="2900901" y="4312161"/>
              <a:ext cx="901058" cy="307777"/>
            </a:xfrm>
            <a:prstGeom prst="rect">
              <a:avLst/>
            </a:prstGeom>
            <a:noFill/>
          </p:spPr>
          <p:txBody>
            <a:bodyPr wrap="square">
              <a:spAutoFit/>
            </a:bodyPr>
            <a:lstStyle/>
            <a:p>
              <a:r>
                <a:rPr lang="zh-CN" altLang="en-US" sz="1400" dirty="0"/>
                <a:t>分区表</a:t>
              </a:r>
            </a:p>
          </p:txBody>
        </p:sp>
        <p:sp>
          <p:nvSpPr>
            <p:cNvPr id="18" name="文本框 17">
              <a:extLst>
                <a:ext uri="{FF2B5EF4-FFF2-40B4-BE49-F238E27FC236}">
                  <a16:creationId xmlns:a16="http://schemas.microsoft.com/office/drawing/2014/main" id="{0183C7C8-CCDC-4AD9-8E53-3F6D6B495BA7}"/>
                </a:ext>
              </a:extLst>
            </p:cNvPr>
            <p:cNvSpPr txBox="1"/>
            <p:nvPr/>
          </p:nvSpPr>
          <p:spPr>
            <a:xfrm>
              <a:off x="3746372" y="1213597"/>
              <a:ext cx="1240718" cy="523220"/>
            </a:xfrm>
            <a:prstGeom prst="rect">
              <a:avLst/>
            </a:prstGeom>
            <a:noFill/>
          </p:spPr>
          <p:txBody>
            <a:bodyPr wrap="square">
              <a:spAutoFit/>
            </a:bodyPr>
            <a:lstStyle/>
            <a:p>
              <a:pPr algn="ctr"/>
              <a:r>
                <a:rPr lang="zh-CN" altLang="en-US" sz="1400" dirty="0"/>
                <a:t>全部硬盘的磁柱区间</a:t>
              </a:r>
            </a:p>
          </p:txBody>
        </p:sp>
      </p:grpSp>
      <p:sp>
        <p:nvSpPr>
          <p:cNvPr id="3" name="内容占位符 2"/>
          <p:cNvSpPr>
            <a:spLocks noGrp="1"/>
          </p:cNvSpPr>
          <p:nvPr>
            <p:ph idx="1"/>
          </p:nvPr>
        </p:nvSpPr>
        <p:spPr>
          <a:xfrm>
            <a:off x="5822809" y="1444704"/>
            <a:ext cx="3397433" cy="2362996"/>
          </a:xfrm>
        </p:spPr>
        <p:txBody>
          <a:bodyPr/>
          <a:lstStyle/>
          <a:p>
            <a:r>
              <a:rPr lang="zh-CN" altLang="en-US" sz="2400" dirty="0"/>
              <a:t>硬盘</a:t>
            </a:r>
            <a:r>
              <a:rPr lang="zh-CN" altLang="en-US" sz="2400" dirty="0">
                <a:solidFill>
                  <a:srgbClr val="FF0000"/>
                </a:solidFill>
              </a:rPr>
              <a:t>设备文件名</a:t>
            </a:r>
            <a:r>
              <a:rPr lang="zh-CN" altLang="en-US" sz="2400" dirty="0"/>
              <a:t>为</a:t>
            </a:r>
            <a:r>
              <a:rPr lang="en-US" altLang="zh-CN" sz="2400" dirty="0">
                <a:solidFill>
                  <a:srgbClr val="FF0000"/>
                </a:solidFill>
              </a:rPr>
              <a:t>/dev/</a:t>
            </a:r>
            <a:r>
              <a:rPr lang="en-US" altLang="zh-CN" sz="2400" dirty="0" err="1">
                <a:solidFill>
                  <a:srgbClr val="FF0000"/>
                </a:solidFill>
              </a:rPr>
              <a:t>sda</a:t>
            </a:r>
            <a:endParaRPr lang="en-US" altLang="zh-CN" sz="2400" dirty="0">
              <a:solidFill>
                <a:srgbClr val="FF0000"/>
              </a:solidFill>
            </a:endParaRPr>
          </a:p>
          <a:p>
            <a:r>
              <a:rPr lang="zh-CN" altLang="en-US" sz="2400" dirty="0"/>
              <a:t>分区的设备文件名</a:t>
            </a:r>
            <a:endParaRPr lang="en-US" altLang="zh-CN" sz="2400" dirty="0"/>
          </a:p>
          <a:p>
            <a:pPr lvl="1"/>
            <a:r>
              <a:rPr lang="en-US" altLang="zh-CN" sz="2000" dirty="0"/>
              <a:t>P1:/dev/sda</a:t>
            </a:r>
            <a:r>
              <a:rPr lang="en-US" altLang="zh-CN" sz="2000" dirty="0">
                <a:solidFill>
                  <a:srgbClr val="FF0000"/>
                </a:solidFill>
              </a:rPr>
              <a:t>1</a:t>
            </a:r>
          </a:p>
          <a:p>
            <a:pPr lvl="1"/>
            <a:r>
              <a:rPr lang="en-US" altLang="zh-CN" sz="2000" dirty="0"/>
              <a:t>P2:/dev/sda</a:t>
            </a:r>
            <a:r>
              <a:rPr lang="en-US" altLang="zh-CN" sz="2000" dirty="0">
                <a:solidFill>
                  <a:srgbClr val="FF0000"/>
                </a:solidFill>
              </a:rPr>
              <a:t>2</a:t>
            </a:r>
          </a:p>
          <a:p>
            <a:pPr lvl="1"/>
            <a:r>
              <a:rPr lang="en-US" altLang="zh-CN" sz="2000" dirty="0"/>
              <a:t>P3:/dev/sda</a:t>
            </a:r>
            <a:r>
              <a:rPr lang="en-US" altLang="zh-CN" sz="2000" dirty="0">
                <a:solidFill>
                  <a:srgbClr val="FF0000"/>
                </a:solidFill>
              </a:rPr>
              <a:t>3</a:t>
            </a:r>
          </a:p>
          <a:p>
            <a:pPr lvl="1"/>
            <a:r>
              <a:rPr lang="en-US" altLang="zh-CN" sz="2000" dirty="0"/>
              <a:t>P4:/dev/sda</a:t>
            </a:r>
            <a:r>
              <a:rPr lang="en-US" altLang="zh-CN" sz="2000" dirty="0">
                <a:solidFill>
                  <a:srgbClr val="FF0000"/>
                </a:solidFill>
              </a:rPr>
              <a:t>4</a:t>
            </a:r>
            <a:endParaRPr lang="zh-CN" altLang="en-US" sz="2000" dirty="0">
              <a:solidFill>
                <a:srgbClr val="FF0000"/>
              </a:solidFill>
            </a:endParaRPr>
          </a:p>
        </p:txBody>
      </p:sp>
      <p:cxnSp>
        <p:nvCxnSpPr>
          <p:cNvPr id="21" name="直接箭头连接符 20">
            <a:extLst>
              <a:ext uri="{FF2B5EF4-FFF2-40B4-BE49-F238E27FC236}">
                <a16:creationId xmlns:a16="http://schemas.microsoft.com/office/drawing/2014/main" id="{7979DBDD-8EC6-4599-A658-54A09A786E99}"/>
              </a:ext>
            </a:extLst>
          </p:cNvPr>
          <p:cNvCxnSpPr/>
          <p:nvPr/>
        </p:nvCxnSpPr>
        <p:spPr bwMode="auto">
          <a:xfrm flipH="1">
            <a:off x="5580112" y="2996952"/>
            <a:ext cx="144016" cy="3600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文本框 23">
            <a:extLst>
              <a:ext uri="{FF2B5EF4-FFF2-40B4-BE49-F238E27FC236}">
                <a16:creationId xmlns:a16="http://schemas.microsoft.com/office/drawing/2014/main" id="{61D7EA55-3A54-452E-8A64-C70B50192B28}"/>
              </a:ext>
            </a:extLst>
          </p:cNvPr>
          <p:cNvSpPr txBox="1"/>
          <p:nvPr/>
        </p:nvSpPr>
        <p:spPr>
          <a:xfrm>
            <a:off x="5189467" y="3393654"/>
            <a:ext cx="1069322" cy="307777"/>
          </a:xfrm>
          <a:prstGeom prst="rect">
            <a:avLst/>
          </a:prstGeom>
          <a:noFill/>
        </p:spPr>
        <p:txBody>
          <a:bodyPr wrap="square">
            <a:spAutoFit/>
          </a:bodyPr>
          <a:lstStyle/>
          <a:p>
            <a:r>
              <a:rPr lang="zh-CN" altLang="en-US" sz="1400" dirty="0"/>
              <a:t>柱面号</a:t>
            </a:r>
          </a:p>
        </p:txBody>
      </p:sp>
      <p:sp>
        <p:nvSpPr>
          <p:cNvPr id="25" name="内容占位符 2">
            <a:extLst>
              <a:ext uri="{FF2B5EF4-FFF2-40B4-BE49-F238E27FC236}">
                <a16:creationId xmlns:a16="http://schemas.microsoft.com/office/drawing/2014/main" id="{4003BE1F-49EE-4CC7-A053-A71245669897}"/>
              </a:ext>
            </a:extLst>
          </p:cNvPr>
          <p:cNvSpPr txBox="1">
            <a:spLocks/>
          </p:cNvSpPr>
          <p:nvPr/>
        </p:nvSpPr>
        <p:spPr bwMode="auto">
          <a:xfrm>
            <a:off x="750338" y="4437112"/>
            <a:ext cx="7643324" cy="2273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kern="1200" baseline="0">
                <a:solidFill>
                  <a:schemeClr val="tx1"/>
                </a:solidFill>
                <a:latin typeface="Tahoma" panose="020B0604030504040204" pitchFamily="34" charset="0"/>
                <a:ea typeface="楷体_GB2312"/>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l"/>
              <a:defRPr sz="2800" b="1" i="0" kern="1200" baseline="0">
                <a:solidFill>
                  <a:schemeClr val="tx1"/>
                </a:solidFill>
                <a:latin typeface="Tahoma" panose="020B0604030504040204" pitchFamily="34" charset="0"/>
                <a:ea typeface="楷体_GB231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u"/>
              <a:defRPr sz="2400" b="1" kern="1200" baseline="0">
                <a:solidFill>
                  <a:schemeClr val="tx1"/>
                </a:solidFill>
                <a:latin typeface="Tahoma" panose="020B0604030504040204" pitchFamily="34" charset="0"/>
                <a:ea typeface="楷体_GB231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zh-CN" altLang="en-US" sz="2400" dirty="0"/>
              <a:t>分区是</a:t>
            </a:r>
            <a:r>
              <a:rPr lang="zh-CN" altLang="en-US" sz="2400" dirty="0">
                <a:solidFill>
                  <a:srgbClr val="FF0000"/>
                </a:solidFill>
              </a:rPr>
              <a:t>配置</a:t>
            </a:r>
            <a:r>
              <a:rPr lang="en-US" altLang="zh-CN" sz="2400" dirty="0">
                <a:solidFill>
                  <a:srgbClr val="FF0000"/>
                </a:solidFill>
              </a:rPr>
              <a:t>64</a:t>
            </a:r>
            <a:r>
              <a:rPr lang="zh-CN" altLang="en-US" sz="2400" dirty="0">
                <a:solidFill>
                  <a:srgbClr val="FF0000"/>
                </a:solidFill>
              </a:rPr>
              <a:t>字节的分区表</a:t>
            </a:r>
          </a:p>
          <a:p>
            <a:pPr lvl="1"/>
            <a:r>
              <a:rPr lang="zh-CN" altLang="en-US" sz="2400" dirty="0"/>
              <a:t>硬盘</a:t>
            </a:r>
            <a:r>
              <a:rPr lang="zh-CN" altLang="en-US" sz="2400" dirty="0">
                <a:solidFill>
                  <a:srgbClr val="FF0000"/>
                </a:solidFill>
              </a:rPr>
              <a:t>默认</a:t>
            </a:r>
            <a:r>
              <a:rPr lang="zh-CN" altLang="en-US" sz="2400" dirty="0"/>
              <a:t>的分割表仅能写入</a:t>
            </a:r>
            <a:r>
              <a:rPr lang="zh-CN" altLang="en-US" sz="2400" dirty="0">
                <a:solidFill>
                  <a:srgbClr val="FF0000"/>
                </a:solidFill>
              </a:rPr>
              <a:t>四组分区</a:t>
            </a:r>
            <a:r>
              <a:rPr lang="zh-CN" altLang="en-US" sz="2400" dirty="0"/>
              <a:t>信息</a:t>
            </a:r>
          </a:p>
          <a:p>
            <a:pPr lvl="1"/>
            <a:r>
              <a:rPr lang="zh-CN" altLang="en-US" sz="2400" dirty="0"/>
              <a:t>四组分区可以分为</a:t>
            </a:r>
            <a:r>
              <a:rPr lang="zh-CN" altLang="en-US" sz="2400" dirty="0">
                <a:solidFill>
                  <a:srgbClr val="FF0000"/>
                </a:solidFill>
              </a:rPr>
              <a:t>主要</a:t>
            </a:r>
            <a:r>
              <a:rPr lang="en-US" altLang="zh-CN" sz="2400" dirty="0">
                <a:solidFill>
                  <a:srgbClr val="FF0000"/>
                </a:solidFill>
              </a:rPr>
              <a:t>(Primary)</a:t>
            </a:r>
            <a:r>
              <a:rPr lang="zh-CN" altLang="en-US" sz="2400" dirty="0">
                <a:solidFill>
                  <a:srgbClr val="FF0000"/>
                </a:solidFill>
              </a:rPr>
              <a:t>或扩展</a:t>
            </a:r>
            <a:r>
              <a:rPr lang="en-US" altLang="zh-CN" sz="2400" dirty="0">
                <a:solidFill>
                  <a:srgbClr val="FF0000"/>
                </a:solidFill>
              </a:rPr>
              <a:t>(Extended)</a:t>
            </a:r>
            <a:r>
              <a:rPr lang="zh-CN" altLang="en-US" sz="2400" dirty="0">
                <a:solidFill>
                  <a:srgbClr val="FF0000"/>
                </a:solidFill>
              </a:rPr>
              <a:t>分区</a:t>
            </a:r>
          </a:p>
          <a:p>
            <a:pPr lvl="1"/>
            <a:r>
              <a:rPr lang="zh-CN" altLang="en-US" sz="2400" dirty="0"/>
              <a:t>分区的最小单位为</a:t>
            </a:r>
            <a:r>
              <a:rPr lang="zh-CN" altLang="en-US" sz="2400" dirty="0">
                <a:solidFill>
                  <a:srgbClr val="FF0000"/>
                </a:solidFill>
              </a:rPr>
              <a:t>磁柱</a:t>
            </a:r>
            <a:r>
              <a:rPr lang="en-US" altLang="zh-CN" sz="2400" dirty="0"/>
              <a:t>(cylinder)</a:t>
            </a:r>
          </a:p>
        </p:txBody>
      </p:sp>
    </p:spTree>
    <p:extLst>
      <p:ext uri="{BB962C8B-B14F-4D97-AF65-F5344CB8AC3E}">
        <p14:creationId xmlns:p14="http://schemas.microsoft.com/office/powerpoint/2010/main" val="370997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磁盘分区类型</a:t>
            </a:r>
          </a:p>
        </p:txBody>
      </p:sp>
      <p:sp>
        <p:nvSpPr>
          <p:cNvPr id="3" name="内容占位符 2"/>
          <p:cNvSpPr>
            <a:spLocks noGrp="1"/>
          </p:cNvSpPr>
          <p:nvPr>
            <p:ph idx="1"/>
          </p:nvPr>
        </p:nvSpPr>
        <p:spPr>
          <a:xfrm>
            <a:off x="971600" y="1390141"/>
            <a:ext cx="7772400" cy="2232248"/>
          </a:xfrm>
        </p:spPr>
        <p:txBody>
          <a:bodyPr/>
          <a:lstStyle/>
          <a:p>
            <a:r>
              <a:rPr lang="zh-CN" altLang="en-US" dirty="0"/>
              <a:t>扩展分区：指向附加分区描述符的</a:t>
            </a:r>
          </a:p>
          <a:p>
            <a:r>
              <a:rPr lang="zh-CN" altLang="en-US" dirty="0"/>
              <a:t>内核最多支持分区数： </a:t>
            </a:r>
          </a:p>
          <a:p>
            <a:pPr lvl="1"/>
            <a:r>
              <a:rPr lang="en-US" altLang="zh-CN" dirty="0"/>
              <a:t>SARA</a:t>
            </a:r>
            <a:r>
              <a:rPr lang="zh-CN" altLang="en-US" dirty="0"/>
              <a:t>驱动器为</a:t>
            </a:r>
            <a:r>
              <a:rPr lang="en-US" altLang="zh-CN" dirty="0">
                <a:solidFill>
                  <a:srgbClr val="FF0000"/>
                </a:solidFill>
              </a:rPr>
              <a:t>63</a:t>
            </a:r>
            <a:r>
              <a:rPr lang="en-US" altLang="zh-CN" dirty="0"/>
              <a:t> </a:t>
            </a:r>
          </a:p>
          <a:p>
            <a:pPr lvl="1"/>
            <a:r>
              <a:rPr lang="en-US" altLang="zh-CN" dirty="0"/>
              <a:t>SCSI</a:t>
            </a:r>
            <a:r>
              <a:rPr lang="zh-CN" altLang="en-US" dirty="0"/>
              <a:t>驱动器为</a:t>
            </a:r>
            <a:r>
              <a:rPr lang="en-US" altLang="zh-CN" dirty="0">
                <a:solidFill>
                  <a:srgbClr val="FF0000"/>
                </a:solidFill>
              </a:rPr>
              <a:t>15</a:t>
            </a:r>
            <a:r>
              <a:rPr lang="en-US" altLang="zh-CN" dirty="0"/>
              <a:t> </a:t>
            </a:r>
          </a:p>
        </p:txBody>
      </p:sp>
      <p:pic>
        <p:nvPicPr>
          <p:cNvPr id="5" name="Picture 4">
            <a:extLst>
              <a:ext uri="{FF2B5EF4-FFF2-40B4-BE49-F238E27FC236}">
                <a16:creationId xmlns:a16="http://schemas.microsoft.com/office/drawing/2014/main" id="{1F0CB2FC-84E7-49F5-ACDE-5BD521FFC488}"/>
              </a:ext>
            </a:extLst>
          </p:cNvPr>
          <p:cNvPicPr>
            <a:picLocks noChangeAspect="1" noChangeArrowheads="1"/>
          </p:cNvPicPr>
          <p:nvPr/>
        </p:nvPicPr>
        <p:blipFill rotWithShape="1">
          <a:blip r:embed="rId3" cstate="print"/>
          <a:srcRect l="20213" t="25236" r="5148" b="3031"/>
          <a:stretch/>
        </p:blipFill>
        <p:spPr bwMode="auto">
          <a:xfrm>
            <a:off x="1154113" y="3652755"/>
            <a:ext cx="6264696" cy="30701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磁盘分区类型</a:t>
            </a:r>
          </a:p>
        </p:txBody>
      </p:sp>
      <p:grpSp>
        <p:nvGrpSpPr>
          <p:cNvPr id="23" name="组合 22">
            <a:extLst>
              <a:ext uri="{FF2B5EF4-FFF2-40B4-BE49-F238E27FC236}">
                <a16:creationId xmlns:a16="http://schemas.microsoft.com/office/drawing/2014/main" id="{11A91A38-5EE7-48B7-BFF1-2F6C24E41644}"/>
              </a:ext>
            </a:extLst>
          </p:cNvPr>
          <p:cNvGrpSpPr/>
          <p:nvPr/>
        </p:nvGrpSpPr>
        <p:grpSpPr>
          <a:xfrm>
            <a:off x="261248" y="1312656"/>
            <a:ext cx="5220072" cy="3694331"/>
            <a:chOff x="179512" y="1340768"/>
            <a:chExt cx="5472608" cy="3864578"/>
          </a:xfrm>
        </p:grpSpPr>
        <p:pic>
          <p:nvPicPr>
            <p:cNvPr id="7170" name="Picture 2" descr="磁盘分区表的作用示意图">
              <a:extLst>
                <a:ext uri="{FF2B5EF4-FFF2-40B4-BE49-F238E27FC236}">
                  <a16:creationId xmlns:a16="http://schemas.microsoft.com/office/drawing/2014/main" id="{EF006854-1EED-4EC5-BE66-4AFCB36CC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340768"/>
              <a:ext cx="5112568" cy="368148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EAC5E4CA-151D-4A10-BBD3-1FC2F53B55CA}"/>
                </a:ext>
              </a:extLst>
            </p:cNvPr>
            <p:cNvPicPr>
              <a:picLocks noChangeAspect="1"/>
            </p:cNvPicPr>
            <p:nvPr/>
          </p:nvPicPr>
          <p:blipFill>
            <a:blip r:embed="rId4"/>
            <a:stretch>
              <a:fillRect/>
            </a:stretch>
          </p:blipFill>
          <p:spPr>
            <a:xfrm>
              <a:off x="539552" y="1516647"/>
              <a:ext cx="792087" cy="688217"/>
            </a:xfrm>
            <a:prstGeom prst="rect">
              <a:avLst/>
            </a:prstGeom>
          </p:spPr>
        </p:pic>
        <p:sp>
          <p:nvSpPr>
            <p:cNvPr id="8" name="文本框 7">
              <a:extLst>
                <a:ext uri="{FF2B5EF4-FFF2-40B4-BE49-F238E27FC236}">
                  <a16:creationId xmlns:a16="http://schemas.microsoft.com/office/drawing/2014/main" id="{E7F91FB2-D0F6-443E-9E9F-B6FC1A33EF65}"/>
                </a:ext>
              </a:extLst>
            </p:cNvPr>
            <p:cNvSpPr txBox="1"/>
            <p:nvPr/>
          </p:nvSpPr>
          <p:spPr>
            <a:xfrm>
              <a:off x="179512" y="1628800"/>
              <a:ext cx="1301078" cy="458828"/>
            </a:xfrm>
            <a:prstGeom prst="rect">
              <a:avLst/>
            </a:prstGeom>
            <a:noFill/>
          </p:spPr>
          <p:txBody>
            <a:bodyPr wrap="square" rtlCol="0">
              <a:spAutoFit/>
            </a:bodyPr>
            <a:lstStyle/>
            <a:p>
              <a:pPr algn="ctr"/>
              <a:r>
                <a:rPr lang="zh-CN" altLang="en-US" sz="1400" dirty="0"/>
                <a:t>第一扇区的</a:t>
              </a:r>
              <a:r>
                <a:rPr lang="en-US" altLang="zh-CN" sz="1400" dirty="0"/>
                <a:t>MBR</a:t>
              </a:r>
              <a:r>
                <a:rPr lang="zh-CN" altLang="en-US" sz="1400" dirty="0"/>
                <a:t>分区表</a:t>
              </a:r>
            </a:p>
          </p:txBody>
        </p:sp>
        <p:pic>
          <p:nvPicPr>
            <p:cNvPr id="5" name="图片 4">
              <a:extLst>
                <a:ext uri="{FF2B5EF4-FFF2-40B4-BE49-F238E27FC236}">
                  <a16:creationId xmlns:a16="http://schemas.microsoft.com/office/drawing/2014/main" id="{E5A320B4-A40B-4E77-87C4-281D5931FCD6}"/>
                </a:ext>
              </a:extLst>
            </p:cNvPr>
            <p:cNvPicPr>
              <a:picLocks noChangeAspect="1"/>
            </p:cNvPicPr>
            <p:nvPr/>
          </p:nvPicPr>
          <p:blipFill>
            <a:blip r:embed="rId5"/>
            <a:stretch>
              <a:fillRect/>
            </a:stretch>
          </p:blipFill>
          <p:spPr>
            <a:xfrm>
              <a:off x="2602974" y="1422505"/>
              <a:ext cx="1891202" cy="216024"/>
            </a:xfrm>
            <a:prstGeom prst="rect">
              <a:avLst/>
            </a:prstGeom>
          </p:spPr>
        </p:pic>
        <p:sp>
          <p:nvSpPr>
            <p:cNvPr id="9" name="文本框 8">
              <a:extLst>
                <a:ext uri="{FF2B5EF4-FFF2-40B4-BE49-F238E27FC236}">
                  <a16:creationId xmlns:a16="http://schemas.microsoft.com/office/drawing/2014/main" id="{3DADA96A-BEC3-4CF9-B7F7-2592CA98F541}"/>
                </a:ext>
              </a:extLst>
            </p:cNvPr>
            <p:cNvSpPr txBox="1"/>
            <p:nvPr/>
          </p:nvSpPr>
          <p:spPr>
            <a:xfrm>
              <a:off x="2598411" y="1403049"/>
              <a:ext cx="1891202" cy="307777"/>
            </a:xfrm>
            <a:prstGeom prst="rect">
              <a:avLst/>
            </a:prstGeom>
            <a:noFill/>
          </p:spPr>
          <p:txBody>
            <a:bodyPr wrap="square">
              <a:spAutoFit/>
            </a:bodyPr>
            <a:lstStyle/>
            <a:p>
              <a:pPr algn="ctr"/>
              <a:r>
                <a:rPr lang="zh-CN" altLang="en-US" sz="1400" dirty="0"/>
                <a:t>全部硬盘的磁柱区间</a:t>
              </a:r>
            </a:p>
          </p:txBody>
        </p:sp>
        <p:pic>
          <p:nvPicPr>
            <p:cNvPr id="11" name="图片 10">
              <a:extLst>
                <a:ext uri="{FF2B5EF4-FFF2-40B4-BE49-F238E27FC236}">
                  <a16:creationId xmlns:a16="http://schemas.microsoft.com/office/drawing/2014/main" id="{2E7A72E8-05DD-49DB-B6EE-26C1A220F03D}"/>
                </a:ext>
              </a:extLst>
            </p:cNvPr>
            <p:cNvPicPr>
              <a:picLocks noChangeAspect="1"/>
            </p:cNvPicPr>
            <p:nvPr/>
          </p:nvPicPr>
          <p:blipFill>
            <a:blip r:embed="rId6"/>
            <a:stretch>
              <a:fillRect/>
            </a:stretch>
          </p:blipFill>
          <p:spPr>
            <a:xfrm>
              <a:off x="3527822" y="1657985"/>
              <a:ext cx="1044178" cy="167397"/>
            </a:xfrm>
            <a:prstGeom prst="rect">
              <a:avLst/>
            </a:prstGeom>
          </p:spPr>
        </p:pic>
        <p:sp>
          <p:nvSpPr>
            <p:cNvPr id="13" name="文本框 12">
              <a:extLst>
                <a:ext uri="{FF2B5EF4-FFF2-40B4-BE49-F238E27FC236}">
                  <a16:creationId xmlns:a16="http://schemas.microsoft.com/office/drawing/2014/main" id="{BA9ACBF2-906B-49A7-AF7B-CEE24514B889}"/>
                </a:ext>
              </a:extLst>
            </p:cNvPr>
            <p:cNvSpPr txBox="1"/>
            <p:nvPr/>
          </p:nvSpPr>
          <p:spPr>
            <a:xfrm>
              <a:off x="3320334" y="1628800"/>
              <a:ext cx="1459155" cy="321960"/>
            </a:xfrm>
            <a:prstGeom prst="rect">
              <a:avLst/>
            </a:prstGeom>
            <a:noFill/>
          </p:spPr>
          <p:txBody>
            <a:bodyPr wrap="square" rtlCol="0">
              <a:spAutoFit/>
            </a:bodyPr>
            <a:lstStyle/>
            <a:p>
              <a:pPr algn="ctr"/>
              <a:r>
                <a:rPr lang="zh-CN" altLang="en-US" sz="1400" dirty="0"/>
                <a:t>扩展分区范围</a:t>
              </a:r>
            </a:p>
          </p:txBody>
        </p:sp>
        <p:pic>
          <p:nvPicPr>
            <p:cNvPr id="14" name="图片 13">
              <a:extLst>
                <a:ext uri="{FF2B5EF4-FFF2-40B4-BE49-F238E27FC236}">
                  <a16:creationId xmlns:a16="http://schemas.microsoft.com/office/drawing/2014/main" id="{2F2ACCFD-1F13-4E18-B2D1-13AC2CCE2F7F}"/>
                </a:ext>
              </a:extLst>
            </p:cNvPr>
            <p:cNvPicPr>
              <a:picLocks noChangeAspect="1"/>
            </p:cNvPicPr>
            <p:nvPr/>
          </p:nvPicPr>
          <p:blipFill>
            <a:blip r:embed="rId7"/>
            <a:stretch>
              <a:fillRect/>
            </a:stretch>
          </p:blipFill>
          <p:spPr>
            <a:xfrm>
              <a:off x="3240286" y="4886064"/>
              <a:ext cx="971674" cy="217198"/>
            </a:xfrm>
            <a:prstGeom prst="rect">
              <a:avLst/>
            </a:prstGeom>
          </p:spPr>
        </p:pic>
        <p:pic>
          <p:nvPicPr>
            <p:cNvPr id="16" name="图片 15">
              <a:extLst>
                <a:ext uri="{FF2B5EF4-FFF2-40B4-BE49-F238E27FC236}">
                  <a16:creationId xmlns:a16="http://schemas.microsoft.com/office/drawing/2014/main" id="{B135C90C-ECAD-43EE-A41D-E8B41ACF6791}"/>
                </a:ext>
              </a:extLst>
            </p:cNvPr>
            <p:cNvPicPr>
              <a:picLocks noChangeAspect="1"/>
            </p:cNvPicPr>
            <p:nvPr/>
          </p:nvPicPr>
          <p:blipFill>
            <a:blip r:embed="rId7"/>
            <a:stretch>
              <a:fillRect/>
            </a:stretch>
          </p:blipFill>
          <p:spPr>
            <a:xfrm>
              <a:off x="2018624" y="4875318"/>
              <a:ext cx="809625" cy="180975"/>
            </a:xfrm>
            <a:prstGeom prst="rect">
              <a:avLst/>
            </a:prstGeom>
          </p:spPr>
        </p:pic>
        <p:sp>
          <p:nvSpPr>
            <p:cNvPr id="19" name="文本框 18">
              <a:extLst>
                <a:ext uri="{FF2B5EF4-FFF2-40B4-BE49-F238E27FC236}">
                  <a16:creationId xmlns:a16="http://schemas.microsoft.com/office/drawing/2014/main" id="{924CF6A8-B4A1-40AB-AC03-54B01112E848}"/>
                </a:ext>
              </a:extLst>
            </p:cNvPr>
            <p:cNvSpPr txBox="1"/>
            <p:nvPr/>
          </p:nvSpPr>
          <p:spPr>
            <a:xfrm>
              <a:off x="1925960" y="4820955"/>
              <a:ext cx="809625" cy="307777"/>
            </a:xfrm>
            <a:prstGeom prst="rect">
              <a:avLst/>
            </a:prstGeom>
            <a:noFill/>
          </p:spPr>
          <p:txBody>
            <a:bodyPr wrap="square">
              <a:spAutoFit/>
            </a:bodyPr>
            <a:lstStyle/>
            <a:p>
              <a:r>
                <a:rPr lang="zh-CN" altLang="en-US" sz="1400" dirty="0"/>
                <a:t>分区表</a:t>
              </a:r>
            </a:p>
          </p:txBody>
        </p:sp>
        <p:sp>
          <p:nvSpPr>
            <p:cNvPr id="20" name="文本框 19">
              <a:extLst>
                <a:ext uri="{FF2B5EF4-FFF2-40B4-BE49-F238E27FC236}">
                  <a16:creationId xmlns:a16="http://schemas.microsoft.com/office/drawing/2014/main" id="{7974503E-E80B-47F4-AE9C-6D4468FF3F25}"/>
                </a:ext>
              </a:extLst>
            </p:cNvPr>
            <p:cNvSpPr txBox="1"/>
            <p:nvPr/>
          </p:nvSpPr>
          <p:spPr>
            <a:xfrm>
              <a:off x="3157091" y="4886836"/>
              <a:ext cx="1534486" cy="318510"/>
            </a:xfrm>
            <a:prstGeom prst="rect">
              <a:avLst/>
            </a:prstGeom>
            <a:noFill/>
          </p:spPr>
          <p:txBody>
            <a:bodyPr wrap="square">
              <a:spAutoFit/>
            </a:bodyPr>
            <a:lstStyle/>
            <a:p>
              <a:r>
                <a:rPr lang="zh-CN" altLang="en-US" sz="1400" dirty="0"/>
                <a:t>扩展分区记录</a:t>
              </a:r>
            </a:p>
          </p:txBody>
        </p:sp>
        <p:pic>
          <p:nvPicPr>
            <p:cNvPr id="22" name="图片 21">
              <a:extLst>
                <a:ext uri="{FF2B5EF4-FFF2-40B4-BE49-F238E27FC236}">
                  <a16:creationId xmlns:a16="http://schemas.microsoft.com/office/drawing/2014/main" id="{7DD3EC36-AA02-4042-B5F0-02F46C203935}"/>
                </a:ext>
              </a:extLst>
            </p:cNvPr>
            <p:cNvPicPr>
              <a:picLocks noChangeAspect="1"/>
            </p:cNvPicPr>
            <p:nvPr/>
          </p:nvPicPr>
          <p:blipFill>
            <a:blip r:embed="rId8"/>
            <a:stretch>
              <a:fillRect/>
            </a:stretch>
          </p:blipFill>
          <p:spPr>
            <a:xfrm>
              <a:off x="1337714" y="4437112"/>
              <a:ext cx="495581" cy="379945"/>
            </a:xfrm>
            <a:prstGeom prst="rect">
              <a:avLst/>
            </a:prstGeom>
          </p:spPr>
        </p:pic>
        <p:sp>
          <p:nvSpPr>
            <p:cNvPr id="24" name="文本框 23">
              <a:extLst>
                <a:ext uri="{FF2B5EF4-FFF2-40B4-BE49-F238E27FC236}">
                  <a16:creationId xmlns:a16="http://schemas.microsoft.com/office/drawing/2014/main" id="{A3424D54-D061-49C6-8D43-2F30ADE119FF}"/>
                </a:ext>
              </a:extLst>
            </p:cNvPr>
            <p:cNvSpPr txBox="1"/>
            <p:nvPr/>
          </p:nvSpPr>
          <p:spPr>
            <a:xfrm>
              <a:off x="1293854" y="4380795"/>
              <a:ext cx="809625" cy="261610"/>
            </a:xfrm>
            <a:prstGeom prst="rect">
              <a:avLst/>
            </a:prstGeom>
            <a:noFill/>
          </p:spPr>
          <p:txBody>
            <a:bodyPr wrap="square">
              <a:spAutoFit/>
            </a:bodyPr>
            <a:lstStyle/>
            <a:p>
              <a:r>
                <a:rPr lang="zh-CN" altLang="en-US" sz="1100" dirty="0"/>
                <a:t>无记录</a:t>
              </a:r>
            </a:p>
          </p:txBody>
        </p:sp>
        <p:sp>
          <p:nvSpPr>
            <p:cNvPr id="25" name="文本框 24">
              <a:extLst>
                <a:ext uri="{FF2B5EF4-FFF2-40B4-BE49-F238E27FC236}">
                  <a16:creationId xmlns:a16="http://schemas.microsoft.com/office/drawing/2014/main" id="{7D9DB106-81C4-48F5-9BC7-F26AE4582E69}"/>
                </a:ext>
              </a:extLst>
            </p:cNvPr>
            <p:cNvSpPr txBox="1"/>
            <p:nvPr/>
          </p:nvSpPr>
          <p:spPr>
            <a:xfrm>
              <a:off x="1279397" y="4562901"/>
              <a:ext cx="809625" cy="261610"/>
            </a:xfrm>
            <a:prstGeom prst="rect">
              <a:avLst/>
            </a:prstGeom>
            <a:noFill/>
          </p:spPr>
          <p:txBody>
            <a:bodyPr wrap="square">
              <a:spAutoFit/>
            </a:bodyPr>
            <a:lstStyle/>
            <a:p>
              <a:r>
                <a:rPr lang="zh-CN" altLang="en-US" sz="1100" dirty="0"/>
                <a:t>无记录</a:t>
              </a:r>
            </a:p>
          </p:txBody>
        </p:sp>
      </p:grpSp>
      <p:sp>
        <p:nvSpPr>
          <p:cNvPr id="27" name="内容占位符 2">
            <a:extLst>
              <a:ext uri="{FF2B5EF4-FFF2-40B4-BE49-F238E27FC236}">
                <a16:creationId xmlns:a16="http://schemas.microsoft.com/office/drawing/2014/main" id="{0952A517-2D4B-49E3-8EB6-B10694DCC64F}"/>
              </a:ext>
            </a:extLst>
          </p:cNvPr>
          <p:cNvSpPr>
            <a:spLocks noGrp="1"/>
          </p:cNvSpPr>
          <p:nvPr>
            <p:ph idx="1"/>
          </p:nvPr>
        </p:nvSpPr>
        <p:spPr>
          <a:xfrm>
            <a:off x="5602412" y="1331780"/>
            <a:ext cx="3573727" cy="2362996"/>
          </a:xfrm>
        </p:spPr>
        <p:txBody>
          <a:bodyPr/>
          <a:lstStyle/>
          <a:p>
            <a:r>
              <a:rPr lang="zh-CN" altLang="en-US" sz="2400" dirty="0"/>
              <a:t>硬盘</a:t>
            </a:r>
            <a:r>
              <a:rPr lang="zh-CN" altLang="en-US" sz="2400" dirty="0">
                <a:solidFill>
                  <a:srgbClr val="FF0000"/>
                </a:solidFill>
              </a:rPr>
              <a:t>设备文件名</a:t>
            </a:r>
            <a:r>
              <a:rPr lang="zh-CN" altLang="en-US" sz="2400" dirty="0"/>
              <a:t>为</a:t>
            </a:r>
            <a:r>
              <a:rPr lang="en-US" altLang="zh-CN" sz="2400" dirty="0">
                <a:solidFill>
                  <a:srgbClr val="FF0000"/>
                </a:solidFill>
              </a:rPr>
              <a:t>/dev/</a:t>
            </a:r>
            <a:r>
              <a:rPr lang="en-US" altLang="zh-CN" sz="2400" dirty="0" err="1">
                <a:solidFill>
                  <a:srgbClr val="FF0000"/>
                </a:solidFill>
              </a:rPr>
              <a:t>sda</a:t>
            </a:r>
            <a:endParaRPr lang="en-US" altLang="zh-CN" sz="2400" dirty="0">
              <a:solidFill>
                <a:srgbClr val="FF0000"/>
              </a:solidFill>
            </a:endParaRPr>
          </a:p>
          <a:p>
            <a:r>
              <a:rPr lang="zh-CN" altLang="en-US" sz="2400" dirty="0"/>
              <a:t>分区的设备文件名</a:t>
            </a:r>
            <a:endParaRPr lang="en-US" altLang="zh-CN" sz="2400" dirty="0"/>
          </a:p>
          <a:p>
            <a:pPr lvl="1">
              <a:spcBef>
                <a:spcPts val="200"/>
              </a:spcBef>
            </a:pPr>
            <a:r>
              <a:rPr lang="en-US" altLang="zh-CN" sz="2000" dirty="0"/>
              <a:t>P1:/dev/sda1</a:t>
            </a:r>
          </a:p>
          <a:p>
            <a:pPr lvl="1">
              <a:spcBef>
                <a:spcPts val="200"/>
              </a:spcBef>
            </a:pPr>
            <a:r>
              <a:rPr lang="en-US" altLang="zh-CN" sz="2000" dirty="0"/>
              <a:t>P2:/dev/sda2</a:t>
            </a:r>
          </a:p>
          <a:p>
            <a:pPr lvl="1">
              <a:spcBef>
                <a:spcPts val="200"/>
              </a:spcBef>
            </a:pPr>
            <a:r>
              <a:rPr lang="en-US" altLang="zh-CN" sz="2000" dirty="0">
                <a:solidFill>
                  <a:srgbClr val="FF0000"/>
                </a:solidFill>
              </a:rPr>
              <a:t>L1:/dev/sda5</a:t>
            </a:r>
          </a:p>
          <a:p>
            <a:pPr lvl="1">
              <a:spcBef>
                <a:spcPts val="200"/>
              </a:spcBef>
            </a:pPr>
            <a:r>
              <a:rPr lang="en-US" altLang="zh-CN" sz="2000" dirty="0"/>
              <a:t>L2:/dev/sda6</a:t>
            </a:r>
          </a:p>
          <a:p>
            <a:pPr lvl="1">
              <a:spcBef>
                <a:spcPts val="200"/>
              </a:spcBef>
            </a:pPr>
            <a:r>
              <a:rPr lang="en-US" altLang="zh-CN" sz="2000" dirty="0"/>
              <a:t>L3:/dev/sda7</a:t>
            </a:r>
          </a:p>
          <a:p>
            <a:pPr lvl="1">
              <a:spcBef>
                <a:spcPts val="200"/>
              </a:spcBef>
            </a:pPr>
            <a:r>
              <a:rPr lang="en-US" altLang="zh-CN" sz="2000" dirty="0"/>
              <a:t>L4:/dev/sda8</a:t>
            </a:r>
          </a:p>
          <a:p>
            <a:pPr lvl="1">
              <a:spcBef>
                <a:spcPts val="200"/>
              </a:spcBef>
            </a:pPr>
            <a:r>
              <a:rPr lang="en-US" altLang="zh-CN" sz="2000" dirty="0"/>
              <a:t>L5:/dev/sda9</a:t>
            </a:r>
            <a:endParaRPr lang="zh-CN" altLang="en-US" sz="2000" dirty="0">
              <a:solidFill>
                <a:srgbClr val="FF0000"/>
              </a:solidFill>
            </a:endParaRPr>
          </a:p>
        </p:txBody>
      </p:sp>
      <p:sp>
        <p:nvSpPr>
          <p:cNvPr id="31" name="文本框 30">
            <a:extLst>
              <a:ext uri="{FF2B5EF4-FFF2-40B4-BE49-F238E27FC236}">
                <a16:creationId xmlns:a16="http://schemas.microsoft.com/office/drawing/2014/main" id="{3939545D-605A-4CF2-82B7-02C22A04CE81}"/>
              </a:ext>
            </a:extLst>
          </p:cNvPr>
          <p:cNvSpPr txBox="1"/>
          <p:nvPr/>
        </p:nvSpPr>
        <p:spPr>
          <a:xfrm>
            <a:off x="-305878" y="4938007"/>
            <a:ext cx="8910326" cy="1815882"/>
          </a:xfrm>
          <a:prstGeom prst="rect">
            <a:avLst/>
          </a:prstGeom>
          <a:noFill/>
        </p:spPr>
        <p:txBody>
          <a:bodyPr wrap="square">
            <a:spAutoFit/>
          </a:bodyPr>
          <a:lstStyle/>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主要分区与扩展区</a:t>
            </a:r>
            <a:r>
              <a:rPr lang="zh-CN" altLang="en-US" sz="2000" b="1" dirty="0">
                <a:latin typeface="Tahoma" panose="020B0604030504040204" pitchFamily="34" charset="0"/>
              </a:rPr>
              <a:t>最多有</a:t>
            </a:r>
            <a:r>
              <a:rPr lang="zh-CN" altLang="en-US" sz="2000" b="1" dirty="0">
                <a:solidFill>
                  <a:srgbClr val="FF0000"/>
                </a:solidFill>
                <a:latin typeface="Tahoma" panose="020B0604030504040204" pitchFamily="34" charset="0"/>
              </a:rPr>
              <a:t>四个</a:t>
            </a:r>
            <a:r>
              <a:rPr lang="zh-CN" altLang="en-US" sz="2000" b="1" dirty="0">
                <a:latin typeface="Tahoma" panose="020B0604030504040204" pitchFamily="34" charset="0"/>
              </a:rPr>
              <a:t>，文件名为</a:t>
            </a:r>
            <a:r>
              <a:rPr lang="en-US" altLang="zh-CN" sz="2000" b="1" dirty="0">
                <a:solidFill>
                  <a:srgbClr val="FF0000"/>
                </a:solidFill>
                <a:latin typeface="Tahoma" panose="020B0604030504040204" pitchFamily="34" charset="0"/>
              </a:rPr>
              <a:t>/dev/</a:t>
            </a:r>
            <a:r>
              <a:rPr lang="en-US" altLang="zh-CN" sz="2000" b="1" dirty="0" err="1">
                <a:solidFill>
                  <a:srgbClr val="FF0000"/>
                </a:solidFill>
                <a:latin typeface="Tahoma" panose="020B0604030504040204" pitchFamily="34" charset="0"/>
              </a:rPr>
              <a:t>sda</a:t>
            </a:r>
            <a:r>
              <a:rPr lang="en-US" altLang="zh-CN" sz="2000" b="1" dirty="0">
                <a:solidFill>
                  <a:srgbClr val="FF0000"/>
                </a:solidFill>
                <a:latin typeface="Tahoma" panose="020B0604030504040204" pitchFamily="34" charset="0"/>
              </a:rPr>
              <a:t>[1-4] </a:t>
            </a:r>
            <a:r>
              <a:rPr lang="en-US" altLang="zh-CN" sz="2000" b="1" dirty="0">
                <a:latin typeface="Tahoma" panose="020B0604030504040204" pitchFamily="34" charset="0"/>
              </a:rPr>
              <a:t>(</a:t>
            </a:r>
            <a:r>
              <a:rPr lang="zh-CN" altLang="en-US" sz="2000" b="1" dirty="0">
                <a:latin typeface="Tahoma" panose="020B0604030504040204" pitchFamily="34" charset="0"/>
              </a:rPr>
              <a:t>硬盘限制</a:t>
            </a:r>
            <a:r>
              <a:rPr lang="en-US" altLang="zh-CN" sz="2000" b="1" dirty="0">
                <a:latin typeface="Tahoma" panose="020B0604030504040204" pitchFamily="34" charset="0"/>
              </a:rPr>
              <a:t>)</a:t>
            </a:r>
          </a:p>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扩展分区</a:t>
            </a:r>
            <a:r>
              <a:rPr lang="zh-CN" altLang="en-US" sz="2000" b="1" dirty="0">
                <a:latin typeface="Tahoma" panose="020B0604030504040204" pitchFamily="34" charset="0"/>
              </a:rPr>
              <a:t>是使用额外的扇区来记录分区信息，扩展分区最多有</a:t>
            </a:r>
            <a:r>
              <a:rPr lang="zh-CN" altLang="en-US" sz="2000" b="1" dirty="0">
                <a:solidFill>
                  <a:srgbClr val="FF0000"/>
                </a:solidFill>
                <a:latin typeface="Tahoma" panose="020B0604030504040204" pitchFamily="34" charset="0"/>
              </a:rPr>
              <a:t>一个</a:t>
            </a:r>
            <a:r>
              <a:rPr lang="en-US" altLang="zh-CN" sz="2000" b="1" dirty="0">
                <a:latin typeface="Tahoma" panose="020B0604030504040204" pitchFamily="34" charset="0"/>
              </a:rPr>
              <a:t>(</a:t>
            </a:r>
            <a:r>
              <a:rPr lang="zh-CN" altLang="en-US" sz="2000" b="1" dirty="0">
                <a:latin typeface="Tahoma" panose="020B0604030504040204" pitchFamily="34" charset="0"/>
              </a:rPr>
              <a:t>操作系统限制</a:t>
            </a:r>
            <a:r>
              <a:rPr lang="en-US" altLang="zh-CN" sz="2000" b="1" dirty="0">
                <a:latin typeface="Tahoma" panose="020B0604030504040204" pitchFamily="34" charset="0"/>
              </a:rPr>
              <a:t>)</a:t>
            </a:r>
            <a:r>
              <a:rPr lang="zh-CN" altLang="en-US" sz="2000" b="1" dirty="0">
                <a:latin typeface="Tahoma" panose="020B0604030504040204" pitchFamily="34" charset="0"/>
              </a:rPr>
              <a:t>，并且</a:t>
            </a:r>
            <a:r>
              <a:rPr lang="zh-CN" altLang="en-US" sz="2000" b="1" dirty="0">
                <a:solidFill>
                  <a:srgbClr val="FF0000"/>
                </a:solidFill>
                <a:latin typeface="Tahoma" panose="020B0604030504040204" pitchFamily="34" charset="0"/>
              </a:rPr>
              <a:t>无法格式化</a:t>
            </a:r>
            <a:endParaRPr lang="en-US" altLang="zh-CN" sz="2000" b="1" dirty="0">
              <a:solidFill>
                <a:srgbClr val="FF0000"/>
              </a:solidFill>
              <a:latin typeface="Tahoma" panose="020B0604030504040204" pitchFamily="34" charset="0"/>
            </a:endParaRPr>
          </a:p>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逻辑分区</a:t>
            </a:r>
            <a:r>
              <a:rPr lang="zh-CN" altLang="en-US" sz="2000" b="1" dirty="0">
                <a:latin typeface="Tahoma" panose="020B0604030504040204" pitchFamily="34" charset="0"/>
              </a:rPr>
              <a:t>是由</a:t>
            </a:r>
            <a:r>
              <a:rPr lang="zh-CN" altLang="en-US" sz="2000" b="1" dirty="0">
                <a:solidFill>
                  <a:srgbClr val="FF0000"/>
                </a:solidFill>
                <a:latin typeface="Tahoma" panose="020B0604030504040204" pitchFamily="34" charset="0"/>
              </a:rPr>
              <a:t>扩展分区</a:t>
            </a:r>
            <a:r>
              <a:rPr lang="zh-CN" altLang="en-US" sz="2000" b="1" dirty="0">
                <a:latin typeface="Tahoma" panose="020B0604030504040204" pitchFamily="34" charset="0"/>
              </a:rPr>
              <a:t>划分出来的分区</a:t>
            </a:r>
            <a:endParaRPr lang="en-US" altLang="zh-CN" sz="2000" b="1" dirty="0">
              <a:latin typeface="Tahoma" panose="020B0604030504040204" pitchFamily="34" charset="0"/>
            </a:endParaRPr>
          </a:p>
          <a:p>
            <a:pPr marL="742950" lvl="1" indent="-285750" eaLnBrk="0" hangingPunct="0">
              <a:spcBef>
                <a:spcPct val="20000"/>
              </a:spcBef>
              <a:buClr>
                <a:schemeClr val="folHlink"/>
              </a:buClr>
              <a:buSzPct val="60000"/>
              <a:buFont typeface="Wingdings" panose="05000000000000000000" pitchFamily="2" charset="2"/>
              <a:buChar char="l"/>
            </a:pPr>
            <a:r>
              <a:rPr lang="zh-CN" altLang="en-US" sz="2000" b="1" dirty="0">
                <a:solidFill>
                  <a:srgbClr val="FF0000"/>
                </a:solidFill>
                <a:latin typeface="Tahoma" panose="020B0604030504040204" pitchFamily="34" charset="0"/>
              </a:rPr>
              <a:t>主要分区</a:t>
            </a:r>
            <a:r>
              <a:rPr lang="zh-CN" altLang="en-US" sz="2000" b="1" dirty="0">
                <a:latin typeface="Tahoma" panose="020B0604030504040204" pitchFamily="34" charset="0"/>
              </a:rPr>
              <a:t>与</a:t>
            </a:r>
            <a:r>
              <a:rPr lang="zh-CN" altLang="en-US" sz="2000" b="1" dirty="0">
                <a:solidFill>
                  <a:srgbClr val="FF0000"/>
                </a:solidFill>
                <a:latin typeface="Tahoma" panose="020B0604030504040204" pitchFamily="34" charset="0"/>
              </a:rPr>
              <a:t>逻辑分区</a:t>
            </a:r>
            <a:r>
              <a:rPr lang="zh-CN" altLang="en-US" sz="2000" b="1" dirty="0">
                <a:latin typeface="Tahoma" panose="020B0604030504040204" pitchFamily="34" charset="0"/>
              </a:rPr>
              <a:t>能够被</a:t>
            </a:r>
            <a:r>
              <a:rPr lang="zh-CN" altLang="en-US" sz="2000" b="1" dirty="0">
                <a:solidFill>
                  <a:srgbClr val="FF0000"/>
                </a:solidFill>
                <a:latin typeface="Tahoma" panose="020B0604030504040204" pitchFamily="34" charset="0"/>
              </a:rPr>
              <a:t>格式化</a:t>
            </a:r>
            <a:r>
              <a:rPr lang="zh-CN" altLang="en-US" sz="2000" b="1" dirty="0">
                <a:latin typeface="Tahoma" panose="020B0604030504040204" pitchFamily="34" charset="0"/>
              </a:rPr>
              <a:t>后，作为</a:t>
            </a:r>
            <a:r>
              <a:rPr lang="zh-CN" altLang="en-US" sz="2000" b="1" dirty="0">
                <a:solidFill>
                  <a:srgbClr val="FF0000"/>
                </a:solidFill>
                <a:latin typeface="Tahoma" panose="020B0604030504040204" pitchFamily="34" charset="0"/>
              </a:rPr>
              <a:t>数据存取</a:t>
            </a:r>
            <a:r>
              <a:rPr lang="zh-CN" altLang="en-US" sz="2000" b="1" dirty="0">
                <a:latin typeface="Tahoma" panose="020B0604030504040204" pitchFamily="34" charset="0"/>
              </a:rPr>
              <a:t>的分区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GPT</a:t>
            </a:r>
            <a:r>
              <a:rPr lang="zh-CN" altLang="en-US" dirty="0"/>
              <a:t>分区表结构</a:t>
            </a:r>
          </a:p>
        </p:txBody>
      </p:sp>
      <p:sp>
        <p:nvSpPr>
          <p:cNvPr id="3" name="内容占位符 2"/>
          <p:cNvSpPr>
            <a:spLocks noGrp="1"/>
          </p:cNvSpPr>
          <p:nvPr>
            <p:ph idx="1"/>
          </p:nvPr>
        </p:nvSpPr>
        <p:spPr>
          <a:xfrm>
            <a:off x="467544" y="1531890"/>
            <a:ext cx="4392488" cy="4114800"/>
          </a:xfrm>
        </p:spPr>
        <p:txBody>
          <a:bodyPr/>
          <a:lstStyle/>
          <a:p>
            <a:r>
              <a:rPr lang="zh-CN" altLang="en-US" sz="3000" dirty="0"/>
              <a:t>逻辑区块地址（</a:t>
            </a:r>
            <a:r>
              <a:rPr lang="en-US" altLang="zh-CN" sz="3000" dirty="0"/>
              <a:t>Logical</a:t>
            </a:r>
            <a:r>
              <a:rPr lang="zh-CN" altLang="en-US" sz="3000" dirty="0"/>
              <a:t> </a:t>
            </a:r>
            <a:r>
              <a:rPr lang="en-US" altLang="zh-CN" sz="3000" dirty="0"/>
              <a:t>Block Address</a:t>
            </a:r>
            <a:r>
              <a:rPr lang="zh-CN" altLang="en-US" sz="3000" dirty="0"/>
              <a:t>，</a:t>
            </a:r>
            <a:r>
              <a:rPr lang="en-US" altLang="zh-CN" sz="3000" dirty="0">
                <a:solidFill>
                  <a:srgbClr val="FF0000"/>
                </a:solidFill>
              </a:rPr>
              <a:t>LBA</a:t>
            </a:r>
            <a:r>
              <a:rPr lang="zh-CN" altLang="en-US" sz="3000" dirty="0"/>
              <a:t>）</a:t>
            </a:r>
            <a:endParaRPr lang="en-US" altLang="zh-CN" sz="3000" dirty="0"/>
          </a:p>
          <a:p>
            <a:r>
              <a:rPr lang="zh-CN" altLang="en-US" sz="3000" dirty="0"/>
              <a:t>磁盘区块以</a:t>
            </a:r>
            <a:r>
              <a:rPr lang="en-US" altLang="zh-CN" sz="3000" dirty="0"/>
              <a:t>LBA</a:t>
            </a:r>
            <a:r>
              <a:rPr lang="zh-CN" altLang="en-US" sz="3000" dirty="0"/>
              <a:t>来规划</a:t>
            </a:r>
            <a:r>
              <a:rPr lang="en-US" altLang="zh-CN" sz="3000" dirty="0"/>
              <a:t> </a:t>
            </a:r>
          </a:p>
          <a:p>
            <a:pPr lvl="1"/>
            <a:r>
              <a:rPr lang="en-US" altLang="zh-CN" sz="2600" dirty="0"/>
              <a:t>LBA</a:t>
            </a:r>
            <a:r>
              <a:rPr lang="zh-CN" altLang="en-US" sz="2600" dirty="0"/>
              <a:t>默认</a:t>
            </a:r>
            <a:r>
              <a:rPr lang="en-US" altLang="zh-CN" sz="2600" dirty="0">
                <a:solidFill>
                  <a:srgbClr val="FF0000"/>
                </a:solidFill>
              </a:rPr>
              <a:t>512</a:t>
            </a:r>
            <a:r>
              <a:rPr lang="zh-CN" altLang="en-US" sz="2600" dirty="0">
                <a:solidFill>
                  <a:srgbClr val="FF0000"/>
                </a:solidFill>
              </a:rPr>
              <a:t>字节</a:t>
            </a:r>
            <a:r>
              <a:rPr lang="en-US" altLang="zh-CN" sz="2600" dirty="0">
                <a:solidFill>
                  <a:srgbClr val="FF0000"/>
                </a:solidFill>
              </a:rPr>
              <a:t> </a:t>
            </a:r>
          </a:p>
          <a:p>
            <a:pPr lvl="1"/>
            <a:r>
              <a:rPr lang="zh-CN" altLang="en-US" sz="2600" dirty="0"/>
              <a:t>第一个</a:t>
            </a:r>
            <a:r>
              <a:rPr lang="en-US" altLang="zh-CN" sz="2600" dirty="0"/>
              <a:t>LBA</a:t>
            </a:r>
            <a:r>
              <a:rPr lang="zh-CN" altLang="en-US" sz="2600" dirty="0"/>
              <a:t>称为</a:t>
            </a:r>
            <a:r>
              <a:rPr lang="en-US" altLang="zh-CN" sz="2600" dirty="0">
                <a:solidFill>
                  <a:srgbClr val="FF0000"/>
                </a:solidFill>
              </a:rPr>
              <a:t>LBA0</a:t>
            </a:r>
          </a:p>
          <a:p>
            <a:pPr lvl="1"/>
            <a:r>
              <a:rPr lang="en-US" altLang="zh-CN" sz="2600" dirty="0">
                <a:solidFill>
                  <a:srgbClr val="FF0000"/>
                </a:solidFill>
              </a:rPr>
              <a:t>LBA[1-34]</a:t>
            </a:r>
            <a:r>
              <a:rPr lang="zh-CN" altLang="en-US" sz="2600" dirty="0"/>
              <a:t>区块</a:t>
            </a:r>
            <a:r>
              <a:rPr lang="zh-CN" altLang="en-US" sz="2600" dirty="0">
                <a:solidFill>
                  <a:srgbClr val="FF0000"/>
                </a:solidFill>
              </a:rPr>
              <a:t>记录分区信息</a:t>
            </a:r>
            <a:endParaRPr lang="en-US" altLang="zh-CN" sz="2600" dirty="0">
              <a:solidFill>
                <a:srgbClr val="FF0000"/>
              </a:solidFill>
            </a:endParaRPr>
          </a:p>
          <a:p>
            <a:pPr lvl="1"/>
            <a:r>
              <a:rPr lang="en-US" altLang="zh-CN" sz="2600" dirty="0">
                <a:solidFill>
                  <a:srgbClr val="FF0000"/>
                </a:solidFill>
              </a:rPr>
              <a:t>LBA-[1-34]</a:t>
            </a:r>
            <a:r>
              <a:rPr lang="zh-CN" altLang="en-US" sz="2600" dirty="0"/>
              <a:t>区块</a:t>
            </a:r>
            <a:r>
              <a:rPr lang="zh-CN" altLang="en-US" sz="2600" dirty="0">
                <a:solidFill>
                  <a:srgbClr val="FF0000"/>
                </a:solidFill>
              </a:rPr>
              <a:t>备份</a:t>
            </a:r>
            <a:endParaRPr lang="en-US" altLang="zh-CN" sz="2600" dirty="0">
              <a:solidFill>
                <a:srgbClr val="FF0000"/>
              </a:solidFill>
            </a:endParaRPr>
          </a:p>
          <a:p>
            <a:pPr lvl="1"/>
            <a:endParaRPr lang="en-US" altLang="zh-CN" sz="2600" dirty="0">
              <a:solidFill>
                <a:srgbClr val="FF0000"/>
              </a:solidFill>
            </a:endParaRPr>
          </a:p>
        </p:txBody>
      </p:sp>
      <p:pic>
        <p:nvPicPr>
          <p:cNvPr id="10242" name="Picture 2">
            <a:extLst>
              <a:ext uri="{FF2B5EF4-FFF2-40B4-BE49-F238E27FC236}">
                <a16:creationId xmlns:a16="http://schemas.microsoft.com/office/drawing/2014/main" id="{37604C56-E951-4B57-A476-5ABAD85BDBE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19523" r="44921"/>
          <a:stretch/>
        </p:blipFill>
        <p:spPr bwMode="auto">
          <a:xfrm>
            <a:off x="4788024" y="1238301"/>
            <a:ext cx="4283968" cy="5356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423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D600EC6-4226-4115-8985-7BE60C0E57D9}"/>
              </a:ext>
            </a:extLst>
          </p:cNvPr>
          <p:cNvSpPr txBox="1"/>
          <p:nvPr/>
        </p:nvSpPr>
        <p:spPr>
          <a:xfrm>
            <a:off x="891022" y="1556792"/>
            <a:ext cx="7560840" cy="4671663"/>
          </a:xfrm>
          <a:prstGeom prst="rect">
            <a:avLst/>
          </a:prstGeom>
          <a:noFill/>
        </p:spPr>
        <p:txBody>
          <a:bodyPr wrap="square" rtlCol="0">
            <a:spAutoFit/>
          </a:bodyPr>
          <a:lstStyle/>
          <a:p>
            <a:pPr algn="just">
              <a:lnSpc>
                <a:spcPct val="120000"/>
              </a:lnSpc>
            </a:pPr>
            <a:r>
              <a:rPr lang="zh-CN" altLang="en-US" sz="3600" b="1" dirty="0">
                <a:solidFill>
                  <a:srgbClr val="C00000"/>
                </a:solidFill>
                <a:latin typeface="+mj-lt"/>
              </a:rPr>
              <a:t>假如你的计算机有两块</a:t>
            </a:r>
            <a:r>
              <a:rPr lang="en-US" altLang="zh-CN" sz="3600" b="1" dirty="0">
                <a:solidFill>
                  <a:srgbClr val="C00000"/>
                </a:solidFill>
                <a:latin typeface="+mj-lt"/>
              </a:rPr>
              <a:t>SATA</a:t>
            </a:r>
            <a:r>
              <a:rPr lang="zh-CN" altLang="en-US" sz="3600" b="1" dirty="0">
                <a:solidFill>
                  <a:srgbClr val="C00000"/>
                </a:solidFill>
                <a:latin typeface="+mj-lt"/>
              </a:rPr>
              <a:t>硬盘，现我们想在第二块硬盘划分出</a:t>
            </a:r>
            <a:r>
              <a:rPr lang="en-US" altLang="zh-CN" sz="3600" b="1" dirty="0">
                <a:solidFill>
                  <a:srgbClr val="C00000"/>
                </a:solidFill>
                <a:latin typeface="+mj-lt"/>
              </a:rPr>
              <a:t>6</a:t>
            </a:r>
            <a:r>
              <a:rPr lang="zh-CN" altLang="en-US" sz="3600" b="1" dirty="0">
                <a:solidFill>
                  <a:srgbClr val="C00000"/>
                </a:solidFill>
                <a:latin typeface="+mj-lt"/>
              </a:rPr>
              <a:t>个可用的分区</a:t>
            </a:r>
            <a:r>
              <a:rPr lang="en-US" altLang="zh-CN" sz="3600" b="1" dirty="0">
                <a:solidFill>
                  <a:srgbClr val="C00000"/>
                </a:solidFill>
                <a:latin typeface="+mj-lt"/>
              </a:rPr>
              <a:t>(</a:t>
            </a:r>
            <a:r>
              <a:rPr lang="zh-CN" altLang="en-US" sz="3600" b="1" dirty="0">
                <a:solidFill>
                  <a:srgbClr val="C00000"/>
                </a:solidFill>
                <a:latin typeface="+mj-lt"/>
              </a:rPr>
              <a:t>可以被格式化来存取数据用</a:t>
            </a:r>
            <a:r>
              <a:rPr lang="en-US" altLang="zh-CN" sz="3600" b="1" dirty="0">
                <a:solidFill>
                  <a:srgbClr val="C00000"/>
                </a:solidFill>
                <a:latin typeface="+mj-lt"/>
              </a:rPr>
              <a:t>)</a:t>
            </a:r>
            <a:r>
              <a:rPr lang="zh-CN" altLang="en-US" sz="3600" b="1" dirty="0">
                <a:solidFill>
                  <a:srgbClr val="C00000"/>
                </a:solidFill>
                <a:latin typeface="+mj-lt"/>
              </a:rPr>
              <a:t>， 那每个分割槽在</a:t>
            </a:r>
            <a:r>
              <a:rPr lang="en-US" altLang="zh-CN" sz="3600" b="1" dirty="0">
                <a:solidFill>
                  <a:srgbClr val="C00000"/>
                </a:solidFill>
                <a:latin typeface="+mj-lt"/>
              </a:rPr>
              <a:t>Linux</a:t>
            </a:r>
            <a:r>
              <a:rPr lang="zh-CN" altLang="en-US" sz="3600" b="1" dirty="0">
                <a:solidFill>
                  <a:srgbClr val="C00000"/>
                </a:solidFill>
                <a:latin typeface="+mj-lt"/>
              </a:rPr>
              <a:t>系统下的设备文件名是什么？分区类型分别为什么？至少给出两种不同的分割方式，并绘制分区示意图。</a:t>
            </a:r>
          </a:p>
        </p:txBody>
      </p:sp>
      <p:pic>
        <p:nvPicPr>
          <p:cNvPr id="6" name="Picture 2">
            <a:extLst>
              <a:ext uri="{FF2B5EF4-FFF2-40B4-BE49-F238E27FC236}">
                <a16:creationId xmlns:a16="http://schemas.microsoft.com/office/drawing/2014/main" id="{1D55D552-1419-44CC-9087-2E2E437C68C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70" t="15350" r="1723" b="11002"/>
          <a:stretch/>
        </p:blipFill>
        <p:spPr bwMode="auto">
          <a:xfrm>
            <a:off x="107504" y="404664"/>
            <a:ext cx="1512168" cy="121914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309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两种硬盘存储方式</a:t>
            </a:r>
          </a:p>
        </p:txBody>
      </p:sp>
      <p:sp>
        <p:nvSpPr>
          <p:cNvPr id="3" name="内容占位符 2"/>
          <p:cNvSpPr>
            <a:spLocks noGrp="1"/>
          </p:cNvSpPr>
          <p:nvPr>
            <p:ph idx="1"/>
          </p:nvPr>
        </p:nvSpPr>
        <p:spPr>
          <a:xfrm>
            <a:off x="1043608" y="1484784"/>
            <a:ext cx="7560840" cy="4114800"/>
          </a:xfrm>
        </p:spPr>
        <p:txBody>
          <a:bodyPr/>
          <a:lstStyle/>
          <a:p>
            <a:pPr>
              <a:lnSpc>
                <a:spcPct val="120000"/>
              </a:lnSpc>
            </a:pPr>
            <a:r>
              <a:rPr lang="zh-CN" altLang="en-US" dirty="0"/>
              <a:t>基本硬盘存储</a:t>
            </a:r>
            <a:endParaRPr lang="en-US" altLang="zh-CN" dirty="0"/>
          </a:p>
          <a:p>
            <a:pPr lvl="1">
              <a:lnSpc>
                <a:spcPct val="120000"/>
              </a:lnSpc>
            </a:pPr>
            <a:r>
              <a:rPr lang="zh-CN" altLang="en-US" dirty="0"/>
              <a:t>在基本磁盘上存储数据需要在磁盘上创建</a:t>
            </a:r>
            <a:r>
              <a:rPr lang="zh-CN" altLang="en-US" dirty="0">
                <a:solidFill>
                  <a:srgbClr val="FF0000"/>
                </a:solidFill>
              </a:rPr>
              <a:t>主分区、扩展分区和逻辑分区</a:t>
            </a:r>
            <a:r>
              <a:rPr lang="zh-CN" altLang="en-US" dirty="0"/>
              <a:t>，然后对这些分区进行管理。</a:t>
            </a:r>
          </a:p>
          <a:p>
            <a:pPr>
              <a:lnSpc>
                <a:spcPct val="120000"/>
              </a:lnSpc>
            </a:pPr>
            <a:r>
              <a:rPr lang="zh-CN" altLang="en-US" dirty="0">
                <a:solidFill>
                  <a:srgbClr val="FF0000"/>
                </a:solidFill>
              </a:rPr>
              <a:t>动态</a:t>
            </a:r>
            <a:r>
              <a:rPr lang="zh-CN" altLang="en-US" dirty="0"/>
              <a:t>硬盘存储</a:t>
            </a:r>
            <a:endParaRPr lang="en-US" altLang="zh-CN" dirty="0"/>
          </a:p>
          <a:p>
            <a:pPr lvl="1">
              <a:lnSpc>
                <a:spcPct val="120000"/>
              </a:lnSpc>
            </a:pPr>
            <a:r>
              <a:rPr lang="zh-CN" altLang="en-US" dirty="0"/>
              <a:t>在动态磁盘上存储数据需要在磁盘上</a:t>
            </a:r>
            <a:r>
              <a:rPr lang="zh-CN" altLang="en-US" dirty="0">
                <a:solidFill>
                  <a:srgbClr val="FF0000"/>
                </a:solidFill>
              </a:rPr>
              <a:t>创建动态卷</a:t>
            </a:r>
            <a:r>
              <a:rPr lang="zh-CN" altLang="en-US" dirty="0"/>
              <a:t>，然后对这些卷进行管理。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磁盘分区管理工具</a:t>
            </a:r>
          </a:p>
        </p:txBody>
      </p:sp>
      <p:sp>
        <p:nvSpPr>
          <p:cNvPr id="3" name="内容占位符 2"/>
          <p:cNvSpPr>
            <a:spLocks noGrp="1"/>
          </p:cNvSpPr>
          <p:nvPr>
            <p:ph idx="1"/>
          </p:nvPr>
        </p:nvSpPr>
        <p:spPr>
          <a:xfrm>
            <a:off x="971600" y="1700808"/>
            <a:ext cx="7772400" cy="4114800"/>
          </a:xfrm>
        </p:spPr>
        <p:txBody>
          <a:bodyPr/>
          <a:lstStyle/>
          <a:p>
            <a:r>
              <a:rPr lang="zh-CN" altLang="en-US" dirty="0"/>
              <a:t>常用的分区工具 </a:t>
            </a:r>
          </a:p>
          <a:p>
            <a:pPr lvl="1"/>
            <a:r>
              <a:rPr lang="en-US" altLang="zh-CN" dirty="0" err="1">
                <a:solidFill>
                  <a:srgbClr val="FF0000"/>
                </a:solidFill>
              </a:rPr>
              <a:t>fdisk</a:t>
            </a:r>
            <a:r>
              <a:rPr lang="en-US" altLang="zh-CN" dirty="0"/>
              <a:t> ——</a:t>
            </a:r>
            <a:r>
              <a:rPr lang="en-US" altLang="zh-CN" dirty="0">
                <a:solidFill>
                  <a:srgbClr val="FF0000"/>
                </a:solidFill>
              </a:rPr>
              <a:t>MBR</a:t>
            </a:r>
            <a:r>
              <a:rPr lang="zh-CN" altLang="en-US" dirty="0"/>
              <a:t>分区表</a:t>
            </a:r>
            <a:endParaRPr lang="en-US" altLang="zh-CN" dirty="0"/>
          </a:p>
          <a:p>
            <a:pPr lvl="1"/>
            <a:r>
              <a:rPr lang="en-US" altLang="zh-CN" dirty="0" err="1">
                <a:solidFill>
                  <a:srgbClr val="FF0000"/>
                </a:solidFill>
              </a:rPr>
              <a:t>gdisk</a:t>
            </a:r>
            <a:r>
              <a:rPr lang="en-US" altLang="zh-CN" dirty="0"/>
              <a:t> ——</a:t>
            </a:r>
            <a:r>
              <a:rPr lang="en-US" altLang="zh-CN" dirty="0">
                <a:solidFill>
                  <a:srgbClr val="FF0000"/>
                </a:solidFill>
              </a:rPr>
              <a:t>GPT</a:t>
            </a:r>
            <a:r>
              <a:rPr lang="zh-CN" altLang="en-US" dirty="0"/>
              <a:t>分区表</a:t>
            </a:r>
            <a:endParaRPr lang="en-US" altLang="zh-CN" dirty="0"/>
          </a:p>
          <a:p>
            <a:pPr lvl="1"/>
            <a:r>
              <a:rPr lang="en-US" altLang="zh-CN" dirty="0"/>
              <a:t>GNU </a:t>
            </a:r>
            <a:r>
              <a:rPr lang="en-US" altLang="zh-CN" dirty="0">
                <a:solidFill>
                  <a:srgbClr val="FF0000"/>
                </a:solidFill>
              </a:rPr>
              <a:t>parted</a:t>
            </a:r>
            <a:r>
              <a:rPr lang="zh-CN" altLang="en-US" dirty="0"/>
              <a:t>－高级分区操作（创建、复制、调整大小等等）</a:t>
            </a:r>
            <a:r>
              <a:rPr lang="en-US" altLang="zh-CN" dirty="0"/>
              <a:t>——</a:t>
            </a:r>
            <a:r>
              <a:rPr lang="en-US" altLang="zh-CN" dirty="0">
                <a:solidFill>
                  <a:srgbClr val="FF0000"/>
                </a:solidFill>
              </a:rPr>
              <a:t>MBR</a:t>
            </a:r>
            <a:r>
              <a:rPr lang="zh-CN" altLang="en-US" dirty="0">
                <a:solidFill>
                  <a:srgbClr val="FF0000"/>
                </a:solidFill>
              </a:rPr>
              <a:t>与</a:t>
            </a:r>
            <a:r>
              <a:rPr lang="en-US" altLang="zh-CN" dirty="0">
                <a:solidFill>
                  <a:srgbClr val="FF0000"/>
                </a:solidFill>
              </a:rPr>
              <a:t>GPT</a:t>
            </a:r>
            <a:r>
              <a:rPr lang="zh-CN" altLang="en-US" dirty="0"/>
              <a:t>分区表 </a:t>
            </a:r>
          </a:p>
          <a:p>
            <a:r>
              <a:rPr lang="en-US" altLang="zh-CN" sz="2800" dirty="0" err="1"/>
              <a:t>partprobe</a:t>
            </a:r>
            <a:r>
              <a:rPr lang="zh-CN" altLang="en-US" sz="2800" dirty="0"/>
              <a:t>－重新设置内存中的内核分区表版本</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a:t>
            </a:r>
            <a:r>
              <a:rPr lang="en-US" altLang="zh-CN" dirty="0" err="1"/>
              <a:t>fdisk</a:t>
            </a:r>
            <a:endParaRPr lang="zh-CN" altLang="en-US" dirty="0"/>
          </a:p>
        </p:txBody>
      </p:sp>
      <p:sp>
        <p:nvSpPr>
          <p:cNvPr id="3" name="内容占位符 2"/>
          <p:cNvSpPr>
            <a:spLocks noGrp="1"/>
          </p:cNvSpPr>
          <p:nvPr>
            <p:ph idx="1"/>
          </p:nvPr>
        </p:nvSpPr>
        <p:spPr>
          <a:xfrm>
            <a:off x="977552" y="1340768"/>
            <a:ext cx="7793037" cy="1944216"/>
          </a:xfrm>
        </p:spPr>
        <p:txBody>
          <a:bodyPr/>
          <a:lstStyle/>
          <a:p>
            <a:r>
              <a:rPr lang="zh-CN" altLang="en-US" dirty="0"/>
              <a:t>进入</a:t>
            </a:r>
            <a:r>
              <a:rPr lang="en-US" altLang="zh-CN" dirty="0" err="1"/>
              <a:t>fdisk</a:t>
            </a:r>
            <a:r>
              <a:rPr lang="zh-CN" altLang="en-US" dirty="0"/>
              <a:t>的</a:t>
            </a:r>
            <a:r>
              <a:rPr lang="zh-CN" altLang="en-US" dirty="0">
                <a:solidFill>
                  <a:srgbClr val="FF0000"/>
                </a:solidFill>
              </a:rPr>
              <a:t>交互操作</a:t>
            </a:r>
            <a:r>
              <a:rPr lang="zh-CN" altLang="en-US" dirty="0"/>
              <a:t>方式</a:t>
            </a:r>
          </a:p>
          <a:p>
            <a:pPr lvl="1">
              <a:buNone/>
            </a:pPr>
            <a:r>
              <a:rPr lang="en-US" altLang="zh-CN" dirty="0">
                <a:solidFill>
                  <a:schemeClr val="accent6">
                    <a:lumMod val="75000"/>
                  </a:schemeClr>
                </a:solidFill>
              </a:rPr>
              <a:t># </a:t>
            </a:r>
            <a:r>
              <a:rPr lang="en-US" altLang="zh-CN" dirty="0" err="1">
                <a:solidFill>
                  <a:schemeClr val="accent6">
                    <a:lumMod val="75000"/>
                  </a:schemeClr>
                </a:solidFill>
              </a:rPr>
              <a:t>fdisk</a:t>
            </a:r>
            <a:r>
              <a:rPr lang="en-US" altLang="zh-CN" dirty="0">
                <a:solidFill>
                  <a:schemeClr val="accent6">
                    <a:lumMod val="75000"/>
                  </a:schemeClr>
                </a:solidFill>
              </a:rPr>
              <a:t> &lt;</a:t>
            </a:r>
            <a:r>
              <a:rPr lang="zh-CN" altLang="en-US" dirty="0">
                <a:solidFill>
                  <a:schemeClr val="accent6">
                    <a:lumMod val="75000"/>
                  </a:schemeClr>
                </a:solidFill>
              </a:rPr>
              <a:t>硬盘设备名</a:t>
            </a:r>
            <a:r>
              <a:rPr lang="en-US" altLang="zh-CN" dirty="0">
                <a:solidFill>
                  <a:schemeClr val="accent6">
                    <a:lumMod val="75000"/>
                  </a:schemeClr>
                </a:solidFill>
              </a:rPr>
              <a:t>&gt; </a:t>
            </a:r>
          </a:p>
          <a:p>
            <a:r>
              <a:rPr lang="zh-CN" altLang="en-US" dirty="0"/>
              <a:t>在</a:t>
            </a:r>
            <a:r>
              <a:rPr lang="zh-CN" altLang="en-US" dirty="0">
                <a:solidFill>
                  <a:srgbClr val="FF0000"/>
                </a:solidFill>
              </a:rPr>
              <a:t>命令行方式</a:t>
            </a:r>
            <a:r>
              <a:rPr lang="zh-CN" altLang="en-US" dirty="0"/>
              <a:t>下显示指定硬盘的分区表信息</a:t>
            </a:r>
          </a:p>
          <a:p>
            <a:pPr lvl="1">
              <a:buNone/>
            </a:pPr>
            <a:r>
              <a:rPr lang="en-US" altLang="zh-CN" dirty="0">
                <a:solidFill>
                  <a:schemeClr val="accent6">
                    <a:lumMod val="75000"/>
                  </a:schemeClr>
                </a:solidFill>
              </a:rPr>
              <a:t># </a:t>
            </a:r>
            <a:r>
              <a:rPr lang="en-US" altLang="zh-CN" dirty="0" err="1">
                <a:solidFill>
                  <a:schemeClr val="accent6">
                    <a:lumMod val="75000"/>
                  </a:schemeClr>
                </a:solidFill>
              </a:rPr>
              <a:t>fdisk</a:t>
            </a:r>
            <a:r>
              <a:rPr lang="en-US" altLang="zh-CN" dirty="0">
                <a:solidFill>
                  <a:schemeClr val="accent6">
                    <a:lumMod val="75000"/>
                  </a:schemeClr>
                </a:solidFill>
              </a:rPr>
              <a:t> -l &lt;</a:t>
            </a:r>
            <a:r>
              <a:rPr lang="zh-CN" altLang="en-US" dirty="0">
                <a:solidFill>
                  <a:schemeClr val="accent6">
                    <a:lumMod val="75000"/>
                  </a:schemeClr>
                </a:solidFill>
              </a:rPr>
              <a:t>硬盘设备名</a:t>
            </a:r>
            <a:r>
              <a:rPr lang="en-US" altLang="zh-CN" dirty="0">
                <a:solidFill>
                  <a:schemeClr val="accent6">
                    <a:lumMod val="75000"/>
                  </a:schemeClr>
                </a:solidFill>
              </a:rPr>
              <a:t>&gt;</a:t>
            </a:r>
            <a:endParaRPr lang="zh-CN" altLang="en-US" dirty="0">
              <a:solidFill>
                <a:schemeClr val="accent6">
                  <a:lumMod val="75000"/>
                </a:schemeClr>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941777514"/>
              </p:ext>
            </p:extLst>
          </p:nvPr>
        </p:nvGraphicFramePr>
        <p:xfrm>
          <a:off x="62421" y="4288845"/>
          <a:ext cx="9019158" cy="2377440"/>
        </p:xfrm>
        <a:graphic>
          <a:graphicData uri="http://schemas.openxmlformats.org/drawingml/2006/table">
            <a:tbl>
              <a:tblPr firstRow="1" bandRow="1">
                <a:tableStyleId>{21E4AEA4-8DFA-4A89-87EB-49C32662AFE0}</a:tableStyleId>
              </a:tblPr>
              <a:tblGrid>
                <a:gridCol w="1046866">
                  <a:extLst>
                    <a:ext uri="{9D8B030D-6E8A-4147-A177-3AD203B41FA5}">
                      <a16:colId xmlns:a16="http://schemas.microsoft.com/office/drawing/2014/main" val="20000"/>
                    </a:ext>
                  </a:extLst>
                </a:gridCol>
                <a:gridCol w="3030665">
                  <a:extLst>
                    <a:ext uri="{9D8B030D-6E8A-4147-A177-3AD203B41FA5}">
                      <a16:colId xmlns:a16="http://schemas.microsoft.com/office/drawing/2014/main" val="20001"/>
                    </a:ext>
                  </a:extLst>
                </a:gridCol>
                <a:gridCol w="1142541">
                  <a:extLst>
                    <a:ext uri="{9D8B030D-6E8A-4147-A177-3AD203B41FA5}">
                      <a16:colId xmlns:a16="http://schemas.microsoft.com/office/drawing/2014/main" val="20002"/>
                    </a:ext>
                  </a:extLst>
                </a:gridCol>
                <a:gridCol w="3799086">
                  <a:extLst>
                    <a:ext uri="{9D8B030D-6E8A-4147-A177-3AD203B41FA5}">
                      <a16:colId xmlns:a16="http://schemas.microsoft.com/office/drawing/2014/main" val="20003"/>
                    </a:ext>
                  </a:extLst>
                </a:gridCol>
              </a:tblGrid>
              <a:tr h="370840">
                <a:tc>
                  <a:txBody>
                    <a:bodyPr/>
                    <a:lstStyle/>
                    <a:p>
                      <a:pPr algn="l"/>
                      <a:r>
                        <a:rPr lang="zh-CN" altLang="en-US" sz="2000" dirty="0">
                          <a:solidFill>
                            <a:srgbClr val="C00000"/>
                          </a:solidFill>
                        </a:rPr>
                        <a:t>子命令</a:t>
                      </a:r>
                    </a:p>
                  </a:txBody>
                  <a:tcPr/>
                </a:tc>
                <a:tc>
                  <a:txBody>
                    <a:bodyPr/>
                    <a:lstStyle/>
                    <a:p>
                      <a:pPr algn="l"/>
                      <a:r>
                        <a:rPr lang="zh-CN" altLang="en-US" sz="2000" dirty="0">
                          <a:solidFill>
                            <a:srgbClr val="C00000"/>
                          </a:solidFill>
                        </a:rPr>
                        <a:t>说明</a:t>
                      </a:r>
                    </a:p>
                  </a:txBody>
                  <a:tcPr/>
                </a:tc>
                <a:tc>
                  <a:txBody>
                    <a:bodyPr/>
                    <a:lstStyle/>
                    <a:p>
                      <a:pPr algn="l"/>
                      <a:r>
                        <a:rPr lang="zh-CN" altLang="en-US" sz="2000" dirty="0">
                          <a:solidFill>
                            <a:srgbClr val="C00000"/>
                          </a:solidFill>
                        </a:rPr>
                        <a:t>子命令</a:t>
                      </a:r>
                    </a:p>
                  </a:txBody>
                  <a:tcPr/>
                </a:tc>
                <a:tc>
                  <a:txBody>
                    <a:bodyPr/>
                    <a:lstStyle/>
                    <a:p>
                      <a:pPr algn="l"/>
                      <a:r>
                        <a:rPr lang="zh-CN" altLang="en-US" sz="2000" dirty="0">
                          <a:solidFill>
                            <a:srgbClr val="C00000"/>
                          </a:solidFill>
                        </a:rPr>
                        <a:t>说明</a:t>
                      </a:r>
                    </a:p>
                  </a:txBody>
                  <a:tcPr/>
                </a:tc>
                <a:extLst>
                  <a:ext uri="{0D108BD9-81ED-4DB2-BD59-A6C34878D82A}">
                    <a16:rowId xmlns:a16="http://schemas.microsoft.com/office/drawing/2014/main" val="10000"/>
                  </a:ext>
                </a:extLst>
              </a:tr>
              <a:tr h="370840">
                <a:tc>
                  <a:txBody>
                    <a:bodyPr/>
                    <a:lstStyle/>
                    <a:p>
                      <a:pPr algn="ctr"/>
                      <a:r>
                        <a:rPr lang="en-US" altLang="zh-CN" sz="2000" dirty="0">
                          <a:solidFill>
                            <a:srgbClr val="C00000"/>
                          </a:solidFill>
                        </a:rPr>
                        <a:t>a</a:t>
                      </a:r>
                      <a:endParaRPr lang="zh-CN" altLang="en-US" sz="2000" dirty="0">
                        <a:solidFill>
                          <a:srgbClr val="C00000"/>
                        </a:solidFill>
                      </a:endParaRPr>
                    </a:p>
                  </a:txBody>
                  <a:tcPr/>
                </a:tc>
                <a:tc>
                  <a:txBody>
                    <a:bodyPr/>
                    <a:lstStyle/>
                    <a:p>
                      <a:r>
                        <a:rPr lang="zh-CN" altLang="en-US" sz="2000" dirty="0"/>
                        <a:t>调整硬盘的启动分区</a:t>
                      </a:r>
                    </a:p>
                  </a:txBody>
                  <a:tcPr/>
                </a:tc>
                <a:tc>
                  <a:txBody>
                    <a:bodyPr/>
                    <a:lstStyle/>
                    <a:p>
                      <a:pPr algn="ctr"/>
                      <a:r>
                        <a:rPr lang="en-US" altLang="zh-CN" sz="2000" dirty="0">
                          <a:solidFill>
                            <a:srgbClr val="C00000"/>
                          </a:solidFill>
                        </a:rPr>
                        <a:t>p</a:t>
                      </a:r>
                      <a:endParaRPr lang="zh-CN" altLang="en-US" sz="2000" dirty="0">
                        <a:solidFill>
                          <a:srgbClr val="C00000"/>
                        </a:solidFill>
                      </a:endParaRPr>
                    </a:p>
                  </a:txBody>
                  <a:tcPr/>
                </a:tc>
                <a:tc>
                  <a:txBody>
                    <a:bodyPr/>
                    <a:lstStyle/>
                    <a:p>
                      <a:r>
                        <a:rPr lang="zh-CN" altLang="en-US" sz="2000" dirty="0"/>
                        <a:t>列出硬盘分区表</a:t>
                      </a:r>
                    </a:p>
                  </a:txBody>
                  <a:tcPr/>
                </a:tc>
                <a:extLst>
                  <a:ext uri="{0D108BD9-81ED-4DB2-BD59-A6C34878D82A}">
                    <a16:rowId xmlns:a16="http://schemas.microsoft.com/office/drawing/2014/main" val="10001"/>
                  </a:ext>
                </a:extLst>
              </a:tr>
              <a:tr h="370840">
                <a:tc>
                  <a:txBody>
                    <a:bodyPr/>
                    <a:lstStyle/>
                    <a:p>
                      <a:pPr algn="ctr"/>
                      <a:r>
                        <a:rPr lang="en-US" altLang="zh-CN" sz="2000" dirty="0">
                          <a:solidFill>
                            <a:srgbClr val="C00000"/>
                          </a:solidFill>
                        </a:rPr>
                        <a:t>d</a:t>
                      </a:r>
                      <a:endParaRPr lang="zh-CN" altLang="en-US" sz="2000" dirty="0">
                        <a:solidFill>
                          <a:srgbClr val="C00000"/>
                        </a:solidFill>
                      </a:endParaRPr>
                    </a:p>
                  </a:txBody>
                  <a:tcPr/>
                </a:tc>
                <a:tc>
                  <a:txBody>
                    <a:bodyPr/>
                    <a:lstStyle/>
                    <a:p>
                      <a:r>
                        <a:rPr lang="zh-CN" altLang="en-US" sz="2000" dirty="0">
                          <a:solidFill>
                            <a:srgbClr val="FF0000"/>
                          </a:solidFill>
                        </a:rPr>
                        <a:t>删除一个硬盘分区</a:t>
                      </a:r>
                    </a:p>
                  </a:txBody>
                  <a:tcPr/>
                </a:tc>
                <a:tc>
                  <a:txBody>
                    <a:bodyPr/>
                    <a:lstStyle/>
                    <a:p>
                      <a:pPr algn="ctr"/>
                      <a:r>
                        <a:rPr lang="en-US" altLang="zh-CN" sz="2000" dirty="0">
                          <a:solidFill>
                            <a:srgbClr val="C00000"/>
                          </a:solidFill>
                        </a:rPr>
                        <a:t>q</a:t>
                      </a:r>
                      <a:endParaRPr lang="zh-CN" altLang="en-US" sz="2000" dirty="0">
                        <a:solidFill>
                          <a:srgbClr val="C00000"/>
                        </a:solidFill>
                      </a:endParaRPr>
                    </a:p>
                  </a:txBody>
                  <a:tcPr/>
                </a:tc>
                <a:tc>
                  <a:txBody>
                    <a:bodyPr/>
                    <a:lstStyle/>
                    <a:p>
                      <a:r>
                        <a:rPr lang="zh-CN" altLang="en-US" sz="2000" dirty="0">
                          <a:solidFill>
                            <a:srgbClr val="FF0000"/>
                          </a:solidFill>
                        </a:rPr>
                        <a:t>退出</a:t>
                      </a:r>
                      <a:r>
                        <a:rPr lang="en-US" altLang="zh-CN" sz="2000" dirty="0" err="1">
                          <a:solidFill>
                            <a:srgbClr val="FF0000"/>
                          </a:solidFill>
                        </a:rPr>
                        <a:t>fdisk</a:t>
                      </a:r>
                      <a:r>
                        <a:rPr lang="zh-CN" altLang="en-US" sz="2000" dirty="0">
                          <a:solidFill>
                            <a:srgbClr val="FF0000"/>
                          </a:solidFill>
                        </a:rPr>
                        <a:t>，不保存更改</a:t>
                      </a:r>
                    </a:p>
                  </a:txBody>
                  <a:tcPr/>
                </a:tc>
                <a:extLst>
                  <a:ext uri="{0D108BD9-81ED-4DB2-BD59-A6C34878D82A}">
                    <a16:rowId xmlns:a16="http://schemas.microsoft.com/office/drawing/2014/main" val="10002"/>
                  </a:ext>
                </a:extLst>
              </a:tr>
              <a:tr h="370840">
                <a:tc>
                  <a:txBody>
                    <a:bodyPr/>
                    <a:lstStyle/>
                    <a:p>
                      <a:pPr algn="ctr"/>
                      <a:r>
                        <a:rPr lang="en-US" altLang="zh-CN" sz="2000" dirty="0">
                          <a:solidFill>
                            <a:srgbClr val="C00000"/>
                          </a:solidFill>
                        </a:rPr>
                        <a:t>l</a:t>
                      </a:r>
                      <a:endParaRPr lang="zh-CN" altLang="en-US" sz="2000" dirty="0">
                        <a:solidFill>
                          <a:srgbClr val="C00000"/>
                        </a:solidFill>
                      </a:endParaRPr>
                    </a:p>
                  </a:txBody>
                  <a:tcPr/>
                </a:tc>
                <a:tc>
                  <a:txBody>
                    <a:bodyPr/>
                    <a:lstStyle/>
                    <a:p>
                      <a:r>
                        <a:rPr lang="zh-CN" altLang="en-US" sz="2000" dirty="0"/>
                        <a:t>列出所有支持的分区类型</a:t>
                      </a:r>
                    </a:p>
                  </a:txBody>
                  <a:tcPr/>
                </a:tc>
                <a:tc>
                  <a:txBody>
                    <a:bodyPr/>
                    <a:lstStyle/>
                    <a:p>
                      <a:pPr algn="ctr"/>
                      <a:r>
                        <a:rPr lang="en-US" altLang="zh-CN" sz="2000" dirty="0">
                          <a:solidFill>
                            <a:srgbClr val="C00000"/>
                          </a:solidFill>
                        </a:rPr>
                        <a:t>t</a:t>
                      </a:r>
                      <a:endParaRPr lang="zh-CN" altLang="en-US" sz="2000" dirty="0">
                        <a:solidFill>
                          <a:srgbClr val="C00000"/>
                        </a:solidFill>
                      </a:endParaRPr>
                    </a:p>
                  </a:txBody>
                  <a:tcPr/>
                </a:tc>
                <a:tc>
                  <a:txBody>
                    <a:bodyPr/>
                    <a:lstStyle/>
                    <a:p>
                      <a:r>
                        <a:rPr lang="zh-CN" altLang="en-US" sz="2000" dirty="0"/>
                        <a:t>更改分区类型</a:t>
                      </a:r>
                    </a:p>
                  </a:txBody>
                  <a:tcPr/>
                </a:tc>
                <a:extLst>
                  <a:ext uri="{0D108BD9-81ED-4DB2-BD59-A6C34878D82A}">
                    <a16:rowId xmlns:a16="http://schemas.microsoft.com/office/drawing/2014/main" val="10003"/>
                  </a:ext>
                </a:extLst>
              </a:tr>
              <a:tr h="370840">
                <a:tc>
                  <a:txBody>
                    <a:bodyPr/>
                    <a:lstStyle/>
                    <a:p>
                      <a:pPr algn="ctr"/>
                      <a:r>
                        <a:rPr lang="en-US" altLang="zh-CN" sz="2000" dirty="0">
                          <a:solidFill>
                            <a:srgbClr val="C00000"/>
                          </a:solidFill>
                        </a:rPr>
                        <a:t>m</a:t>
                      </a:r>
                      <a:endParaRPr lang="zh-CN" altLang="en-US" sz="2000" dirty="0">
                        <a:solidFill>
                          <a:srgbClr val="C00000"/>
                        </a:solidFill>
                      </a:endParaRPr>
                    </a:p>
                  </a:txBody>
                  <a:tcPr/>
                </a:tc>
                <a:tc>
                  <a:txBody>
                    <a:bodyPr/>
                    <a:lstStyle/>
                    <a:p>
                      <a:r>
                        <a:rPr lang="zh-CN" altLang="en-US" sz="2000" dirty="0">
                          <a:solidFill>
                            <a:srgbClr val="FF0000"/>
                          </a:solidFill>
                        </a:rPr>
                        <a:t>列出所有命令介绍</a:t>
                      </a:r>
                    </a:p>
                  </a:txBody>
                  <a:tcPr/>
                </a:tc>
                <a:tc>
                  <a:txBody>
                    <a:bodyPr/>
                    <a:lstStyle/>
                    <a:p>
                      <a:pPr algn="ctr"/>
                      <a:r>
                        <a:rPr lang="en-US" altLang="zh-CN" sz="2000" dirty="0">
                          <a:solidFill>
                            <a:srgbClr val="C00000"/>
                          </a:solidFill>
                        </a:rPr>
                        <a:t>u</a:t>
                      </a:r>
                      <a:endParaRPr lang="zh-CN" altLang="en-US" sz="2000" dirty="0">
                        <a:solidFill>
                          <a:srgbClr val="C00000"/>
                        </a:solidFill>
                      </a:endParaRPr>
                    </a:p>
                  </a:txBody>
                  <a:tcPr/>
                </a:tc>
                <a:tc>
                  <a:txBody>
                    <a:bodyPr/>
                    <a:lstStyle/>
                    <a:p>
                      <a:r>
                        <a:rPr lang="zh-CN" altLang="en-US" sz="2000" dirty="0"/>
                        <a:t>切换所显示的分区大小的单位</a:t>
                      </a:r>
                    </a:p>
                  </a:txBody>
                  <a:tcPr/>
                </a:tc>
                <a:extLst>
                  <a:ext uri="{0D108BD9-81ED-4DB2-BD59-A6C34878D82A}">
                    <a16:rowId xmlns:a16="http://schemas.microsoft.com/office/drawing/2014/main" val="10004"/>
                  </a:ext>
                </a:extLst>
              </a:tr>
              <a:tr h="370840">
                <a:tc>
                  <a:txBody>
                    <a:bodyPr/>
                    <a:lstStyle/>
                    <a:p>
                      <a:pPr algn="ctr"/>
                      <a:r>
                        <a:rPr lang="en-US" altLang="zh-CN" sz="2000" dirty="0">
                          <a:solidFill>
                            <a:srgbClr val="C00000"/>
                          </a:solidFill>
                        </a:rPr>
                        <a:t>n</a:t>
                      </a:r>
                      <a:endParaRPr lang="zh-CN" altLang="en-US" sz="2000" dirty="0">
                        <a:solidFill>
                          <a:srgbClr val="C00000"/>
                        </a:solidFill>
                      </a:endParaRPr>
                    </a:p>
                  </a:txBody>
                  <a:tcPr/>
                </a:tc>
                <a:tc>
                  <a:txBody>
                    <a:bodyPr/>
                    <a:lstStyle/>
                    <a:p>
                      <a:r>
                        <a:rPr lang="zh-CN" altLang="en-US" sz="2000" dirty="0"/>
                        <a:t>创建一个新的分区</a:t>
                      </a:r>
                    </a:p>
                  </a:txBody>
                  <a:tcPr/>
                </a:tc>
                <a:tc>
                  <a:txBody>
                    <a:bodyPr/>
                    <a:lstStyle/>
                    <a:p>
                      <a:pPr algn="ctr"/>
                      <a:r>
                        <a:rPr lang="en-US" altLang="zh-CN" sz="2000" dirty="0">
                          <a:solidFill>
                            <a:srgbClr val="C00000"/>
                          </a:solidFill>
                        </a:rPr>
                        <a:t>w</a:t>
                      </a:r>
                      <a:endParaRPr lang="zh-CN" altLang="en-US" sz="2000" dirty="0">
                        <a:solidFill>
                          <a:srgbClr val="C00000"/>
                        </a:solidFill>
                      </a:endParaRPr>
                    </a:p>
                  </a:txBody>
                  <a:tcPr/>
                </a:tc>
                <a:tc>
                  <a:txBody>
                    <a:bodyPr/>
                    <a:lstStyle/>
                    <a:p>
                      <a:r>
                        <a:rPr lang="zh-CN" altLang="en-US" sz="2000" dirty="0">
                          <a:solidFill>
                            <a:srgbClr val="FF0000"/>
                          </a:solidFill>
                        </a:rPr>
                        <a:t>把设置写入硬盘分区表之后退出</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a:t>
            </a:r>
            <a:r>
              <a:rPr lang="en-US" altLang="zh-CN" dirty="0" err="1"/>
              <a:t>fdisk</a:t>
            </a:r>
            <a:r>
              <a:rPr lang="zh-CN" altLang="en-US" dirty="0"/>
              <a:t>举例</a:t>
            </a:r>
          </a:p>
        </p:txBody>
      </p:sp>
      <p:pic>
        <p:nvPicPr>
          <p:cNvPr id="5" name="图片 4">
            <a:extLst>
              <a:ext uri="{FF2B5EF4-FFF2-40B4-BE49-F238E27FC236}">
                <a16:creationId xmlns:a16="http://schemas.microsoft.com/office/drawing/2014/main" id="{24F0439F-BDDF-4FC7-9F4F-26DD4B38218A}"/>
              </a:ext>
            </a:extLst>
          </p:cNvPr>
          <p:cNvPicPr>
            <a:picLocks noChangeAspect="1"/>
          </p:cNvPicPr>
          <p:nvPr/>
        </p:nvPicPr>
        <p:blipFill rotWithShape="1">
          <a:blip r:embed="rId3"/>
          <a:srcRect l="380" r="-1"/>
          <a:stretch/>
        </p:blipFill>
        <p:spPr>
          <a:xfrm>
            <a:off x="323528" y="1336181"/>
            <a:ext cx="8776420" cy="5444099"/>
          </a:xfrm>
          <a:prstGeom prst="rect">
            <a:avLst/>
          </a:prstGeom>
        </p:spPr>
      </p:pic>
      <p:cxnSp>
        <p:nvCxnSpPr>
          <p:cNvPr id="8" name="直接连接符 7">
            <a:extLst>
              <a:ext uri="{FF2B5EF4-FFF2-40B4-BE49-F238E27FC236}">
                <a16:creationId xmlns:a16="http://schemas.microsoft.com/office/drawing/2014/main" id="{A9285372-8D99-49A0-8D67-49DFF6EB86D6}"/>
              </a:ext>
            </a:extLst>
          </p:cNvPr>
          <p:cNvCxnSpPr/>
          <p:nvPr/>
        </p:nvCxnSpPr>
        <p:spPr bwMode="auto">
          <a:xfrm>
            <a:off x="3851920" y="1628800"/>
            <a:ext cx="3168352"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a:extLst>
              <a:ext uri="{FF2B5EF4-FFF2-40B4-BE49-F238E27FC236}">
                <a16:creationId xmlns:a16="http://schemas.microsoft.com/office/drawing/2014/main" id="{7E82807D-4034-49C9-85A8-5BCD53D4C37E}"/>
              </a:ext>
            </a:extLst>
          </p:cNvPr>
          <p:cNvCxnSpPr/>
          <p:nvPr/>
        </p:nvCxnSpPr>
        <p:spPr bwMode="auto">
          <a:xfrm>
            <a:off x="4283968" y="3645024"/>
            <a:ext cx="648072"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a:extLst>
              <a:ext uri="{FF2B5EF4-FFF2-40B4-BE49-F238E27FC236}">
                <a16:creationId xmlns:a16="http://schemas.microsoft.com/office/drawing/2014/main" id="{B4FF0B1F-B160-41DF-93C1-E33CE6E1905D}"/>
              </a:ext>
            </a:extLst>
          </p:cNvPr>
          <p:cNvSpPr txBox="1"/>
          <p:nvPr/>
        </p:nvSpPr>
        <p:spPr>
          <a:xfrm>
            <a:off x="5447572" y="3520464"/>
            <a:ext cx="2358926" cy="400110"/>
          </a:xfrm>
          <a:prstGeom prst="rect">
            <a:avLst/>
          </a:prstGeom>
          <a:solidFill>
            <a:schemeClr val="accent2">
              <a:lumMod val="40000"/>
              <a:lumOff val="60000"/>
            </a:schemeClr>
          </a:solidFill>
        </p:spPr>
        <p:txBody>
          <a:bodyPr wrap="square" rtlCol="0">
            <a:spAutoFit/>
          </a:bodyPr>
          <a:lstStyle/>
          <a:p>
            <a:r>
              <a:rPr lang="zh-CN" altLang="en-US" sz="2000" dirty="0">
                <a:solidFill>
                  <a:srgbClr val="FF0000"/>
                </a:solidFill>
              </a:rPr>
              <a:t>列出所有命令介绍</a:t>
            </a:r>
          </a:p>
        </p:txBody>
      </p:sp>
      <p:cxnSp>
        <p:nvCxnSpPr>
          <p:cNvPr id="11" name="直接箭头连接符 10">
            <a:extLst>
              <a:ext uri="{FF2B5EF4-FFF2-40B4-BE49-F238E27FC236}">
                <a16:creationId xmlns:a16="http://schemas.microsoft.com/office/drawing/2014/main" id="{BC1574E3-FAF9-44EE-83FE-18E1D3B48F4F}"/>
              </a:ext>
            </a:extLst>
          </p:cNvPr>
          <p:cNvCxnSpPr/>
          <p:nvPr/>
        </p:nvCxnSpPr>
        <p:spPr bwMode="auto">
          <a:xfrm>
            <a:off x="4929058" y="3520464"/>
            <a:ext cx="507038" cy="200055"/>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98317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—parted</a:t>
            </a:r>
            <a:endParaRPr lang="zh-CN" altLang="en-US" dirty="0"/>
          </a:p>
        </p:txBody>
      </p:sp>
      <p:sp>
        <p:nvSpPr>
          <p:cNvPr id="3" name="内容占位符 2"/>
          <p:cNvSpPr>
            <a:spLocks noGrp="1"/>
          </p:cNvSpPr>
          <p:nvPr>
            <p:ph idx="1"/>
          </p:nvPr>
        </p:nvSpPr>
        <p:spPr>
          <a:xfrm>
            <a:off x="899592" y="1340768"/>
            <a:ext cx="7906072" cy="4646141"/>
          </a:xfrm>
        </p:spPr>
        <p:txBody>
          <a:bodyPr/>
          <a:lstStyle/>
          <a:p>
            <a:r>
              <a:rPr lang="zh-CN" altLang="en-US" dirty="0"/>
              <a:t>交互模式</a:t>
            </a:r>
            <a:endParaRPr lang="en-US" altLang="zh-CN" dirty="0"/>
          </a:p>
          <a:p>
            <a:pPr lvl="1">
              <a:buNone/>
            </a:pPr>
            <a:r>
              <a:rPr lang="en-US" altLang="zh-CN" sz="2600" dirty="0">
                <a:solidFill>
                  <a:srgbClr val="0000FF"/>
                </a:solidFill>
              </a:rPr>
              <a:t># parted [</a:t>
            </a:r>
            <a:r>
              <a:rPr lang="zh-CN" altLang="en-US" sz="2600" dirty="0">
                <a:solidFill>
                  <a:srgbClr val="0000FF"/>
                </a:solidFill>
              </a:rPr>
              <a:t>选项</a:t>
            </a:r>
            <a:r>
              <a:rPr lang="en-US" altLang="zh-CN" sz="2600" dirty="0">
                <a:solidFill>
                  <a:srgbClr val="0000FF"/>
                </a:solidFill>
              </a:rPr>
              <a:t>] &lt;</a:t>
            </a:r>
            <a:r>
              <a:rPr lang="zh-CN" altLang="en-US" sz="2600" dirty="0">
                <a:solidFill>
                  <a:srgbClr val="0000FF"/>
                </a:solidFill>
              </a:rPr>
              <a:t>硬盘设备名</a:t>
            </a:r>
            <a:r>
              <a:rPr lang="en-US" altLang="zh-CN" sz="2600" dirty="0">
                <a:solidFill>
                  <a:srgbClr val="0000FF"/>
                </a:solidFill>
              </a:rPr>
              <a:t>&gt; </a:t>
            </a:r>
          </a:p>
          <a:p>
            <a:r>
              <a:rPr lang="zh-CN" altLang="en-US" dirty="0"/>
              <a:t>命令行模式</a:t>
            </a:r>
            <a:endParaRPr lang="en-US" altLang="zh-CN" dirty="0"/>
          </a:p>
          <a:p>
            <a:pPr lvl="1">
              <a:buNone/>
            </a:pPr>
            <a:r>
              <a:rPr lang="en-US" altLang="zh-CN" sz="2600" dirty="0">
                <a:solidFill>
                  <a:srgbClr val="0000FF"/>
                </a:solidFill>
              </a:rPr>
              <a:t># parted [</a:t>
            </a:r>
            <a:r>
              <a:rPr lang="zh-CN" altLang="en-US" sz="2600" dirty="0">
                <a:solidFill>
                  <a:srgbClr val="0000FF"/>
                </a:solidFill>
              </a:rPr>
              <a:t>选项</a:t>
            </a:r>
            <a:r>
              <a:rPr lang="en-US" altLang="zh-CN" sz="2600" dirty="0">
                <a:solidFill>
                  <a:srgbClr val="0000FF"/>
                </a:solidFill>
              </a:rPr>
              <a:t>] &lt;</a:t>
            </a:r>
            <a:r>
              <a:rPr lang="zh-CN" altLang="en-US" sz="2600" dirty="0">
                <a:solidFill>
                  <a:srgbClr val="0000FF"/>
                </a:solidFill>
              </a:rPr>
              <a:t>硬盘设备名</a:t>
            </a:r>
            <a:r>
              <a:rPr lang="en-US" altLang="zh-CN" sz="2600" dirty="0">
                <a:solidFill>
                  <a:srgbClr val="0000FF"/>
                </a:solidFill>
              </a:rPr>
              <a:t>&gt; &lt;</a:t>
            </a:r>
            <a:r>
              <a:rPr lang="zh-CN" altLang="en-US" sz="2600" dirty="0">
                <a:solidFill>
                  <a:srgbClr val="0000FF"/>
                </a:solidFill>
              </a:rPr>
              <a:t>子命令</a:t>
            </a:r>
            <a:r>
              <a:rPr lang="en-US" altLang="zh-CN" sz="2600" dirty="0">
                <a:solidFill>
                  <a:srgbClr val="0000FF"/>
                </a:solidFill>
              </a:rPr>
              <a:t>&gt; [&lt;</a:t>
            </a:r>
            <a:r>
              <a:rPr lang="zh-CN" altLang="en-US" sz="2600" dirty="0">
                <a:solidFill>
                  <a:srgbClr val="0000FF"/>
                </a:solidFill>
              </a:rPr>
              <a:t>子命令参数</a:t>
            </a:r>
            <a:r>
              <a:rPr lang="en-US" altLang="zh-CN" sz="2600" dirty="0">
                <a:solidFill>
                  <a:srgbClr val="0000FF"/>
                </a:solidFill>
              </a:rPr>
              <a:t>&gt;]</a:t>
            </a:r>
          </a:p>
          <a:p>
            <a:pPr lvl="1"/>
            <a:r>
              <a:rPr lang="zh-CN" altLang="en-US" dirty="0">
                <a:solidFill>
                  <a:srgbClr val="0000FF"/>
                </a:solidFill>
              </a:rPr>
              <a:t>子命令</a:t>
            </a:r>
            <a:endParaRPr lang="en-US" altLang="zh-CN" dirty="0">
              <a:solidFill>
                <a:srgbClr val="0000FF"/>
              </a:solidFill>
            </a:endParaRPr>
          </a:p>
          <a:p>
            <a:pPr lvl="2"/>
            <a:r>
              <a:rPr lang="zh-CN" altLang="en-US" sz="2200" dirty="0">
                <a:solidFill>
                  <a:srgbClr val="0000FF"/>
                </a:solidFill>
              </a:rPr>
              <a:t>打印帮助信息：</a:t>
            </a:r>
            <a:r>
              <a:rPr lang="en-US" altLang="zh-CN" sz="2200" dirty="0">
                <a:solidFill>
                  <a:srgbClr val="0000FF"/>
                </a:solidFill>
              </a:rPr>
              <a:t>help [COMMAND] </a:t>
            </a:r>
          </a:p>
          <a:p>
            <a:pPr lvl="2"/>
            <a:r>
              <a:rPr lang="zh-CN" altLang="en-US" sz="2200" dirty="0">
                <a:solidFill>
                  <a:srgbClr val="0000FF"/>
                </a:solidFill>
              </a:rPr>
              <a:t>显示分区表： </a:t>
            </a:r>
            <a:r>
              <a:rPr lang="en-US" altLang="zh-CN" sz="2200" dirty="0">
                <a:solidFill>
                  <a:srgbClr val="0000FF"/>
                </a:solidFill>
              </a:rPr>
              <a:t>print [</a:t>
            </a:r>
            <a:r>
              <a:rPr lang="en-US" altLang="zh-CN" sz="2200" dirty="0" err="1">
                <a:solidFill>
                  <a:srgbClr val="0000FF"/>
                </a:solidFill>
              </a:rPr>
              <a:t>free|NUMBER|all</a:t>
            </a:r>
            <a:r>
              <a:rPr lang="en-US" altLang="zh-CN" sz="2200" dirty="0">
                <a:solidFill>
                  <a:srgbClr val="0000FF"/>
                </a:solidFill>
              </a:rPr>
              <a:t>]</a:t>
            </a:r>
          </a:p>
          <a:p>
            <a:pPr lvl="2"/>
            <a:r>
              <a:rPr lang="zh-CN" altLang="en-US" sz="2200" dirty="0">
                <a:solidFill>
                  <a:srgbClr val="0000FF"/>
                </a:solidFill>
              </a:rPr>
              <a:t>创建新分区：</a:t>
            </a:r>
            <a:r>
              <a:rPr lang="en-US" altLang="zh-CN" sz="2200" dirty="0" err="1">
                <a:solidFill>
                  <a:srgbClr val="0000FF"/>
                </a:solidFill>
              </a:rPr>
              <a:t>mkpart</a:t>
            </a:r>
            <a:r>
              <a:rPr lang="en-US" altLang="zh-CN" sz="2200" dirty="0">
                <a:solidFill>
                  <a:srgbClr val="0000FF"/>
                </a:solidFill>
              </a:rPr>
              <a:t> PART-TYPE [FS-TYPE] START END </a:t>
            </a:r>
          </a:p>
          <a:p>
            <a:pPr lvl="2"/>
            <a:r>
              <a:rPr lang="zh-CN" altLang="en-US" sz="2200" dirty="0">
                <a:solidFill>
                  <a:srgbClr val="0000FF"/>
                </a:solidFill>
              </a:rPr>
              <a:t>删除指定分区：</a:t>
            </a:r>
            <a:r>
              <a:rPr lang="en-US" altLang="zh-CN" sz="2200" dirty="0" err="1">
                <a:solidFill>
                  <a:srgbClr val="0000FF"/>
                </a:solidFill>
              </a:rPr>
              <a:t>rm</a:t>
            </a:r>
            <a:r>
              <a:rPr lang="en-US" altLang="zh-CN" sz="2200" dirty="0">
                <a:solidFill>
                  <a:srgbClr val="0000FF"/>
                </a:solidFill>
              </a:rPr>
              <a:t> NUMBER</a:t>
            </a:r>
          </a:p>
          <a:p>
            <a:pPr lvl="2"/>
            <a:r>
              <a:rPr lang="zh-CN" altLang="en-US" sz="2200" dirty="0">
                <a:solidFill>
                  <a:srgbClr val="0000FF"/>
                </a:solidFill>
              </a:rPr>
              <a:t>设置分区标记：</a:t>
            </a:r>
            <a:r>
              <a:rPr lang="en-US" altLang="zh-CN" sz="2200" dirty="0">
                <a:solidFill>
                  <a:srgbClr val="0000FF"/>
                </a:solidFill>
              </a:rPr>
              <a:t>set NUMBER FLAG STATE </a:t>
            </a:r>
          </a:p>
          <a:p>
            <a:endParaRPr lang="zh-CN" altLang="en-US" dirty="0"/>
          </a:p>
        </p:txBody>
      </p:sp>
    </p:spTree>
    <p:extLst>
      <p:ext uri="{BB962C8B-B14F-4D97-AF65-F5344CB8AC3E}">
        <p14:creationId xmlns:p14="http://schemas.microsoft.com/office/powerpoint/2010/main" val="3377890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磁盘分区工具</a:t>
            </a:r>
            <a:r>
              <a:rPr lang="en-US" altLang="zh-CN" dirty="0"/>
              <a:t>—parted</a:t>
            </a:r>
            <a:r>
              <a:rPr lang="zh-CN" altLang="en-US" dirty="0"/>
              <a:t>举例</a:t>
            </a:r>
          </a:p>
        </p:txBody>
      </p:sp>
      <p:pic>
        <p:nvPicPr>
          <p:cNvPr id="6" name="图片 5">
            <a:extLst>
              <a:ext uri="{FF2B5EF4-FFF2-40B4-BE49-F238E27FC236}">
                <a16:creationId xmlns:a16="http://schemas.microsoft.com/office/drawing/2014/main" id="{2074666D-6A86-4D2B-980D-F643C2774FA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0" y="3263658"/>
            <a:ext cx="9144000" cy="2253574"/>
          </a:xfrm>
          <a:prstGeom prst="rect">
            <a:avLst/>
          </a:prstGeom>
        </p:spPr>
      </p:pic>
      <p:pic>
        <p:nvPicPr>
          <p:cNvPr id="9" name="图片 8">
            <a:extLst>
              <a:ext uri="{FF2B5EF4-FFF2-40B4-BE49-F238E27FC236}">
                <a16:creationId xmlns:a16="http://schemas.microsoft.com/office/drawing/2014/main" id="{7BDD5CC3-C1FA-436A-B849-65AD2FD3F426}"/>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0" y="1340768"/>
            <a:ext cx="9144000" cy="1989027"/>
          </a:xfrm>
          <a:prstGeom prst="rect">
            <a:avLst/>
          </a:prstGeom>
        </p:spPr>
      </p:pic>
      <p:cxnSp>
        <p:nvCxnSpPr>
          <p:cNvPr id="11" name="直接连接符 10">
            <a:extLst>
              <a:ext uri="{FF2B5EF4-FFF2-40B4-BE49-F238E27FC236}">
                <a16:creationId xmlns:a16="http://schemas.microsoft.com/office/drawing/2014/main" id="{A8F867AF-5C80-46BD-AF30-3F7097BABFF4}"/>
              </a:ext>
            </a:extLst>
          </p:cNvPr>
          <p:cNvCxnSpPr/>
          <p:nvPr/>
        </p:nvCxnSpPr>
        <p:spPr bwMode="auto">
          <a:xfrm>
            <a:off x="3131840" y="3520464"/>
            <a:ext cx="3168352"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文本框 11">
            <a:extLst>
              <a:ext uri="{FF2B5EF4-FFF2-40B4-BE49-F238E27FC236}">
                <a16:creationId xmlns:a16="http://schemas.microsoft.com/office/drawing/2014/main" id="{5D4F7AD1-22F1-4602-BF0C-0CE8B218C0F7}"/>
              </a:ext>
            </a:extLst>
          </p:cNvPr>
          <p:cNvSpPr txBox="1"/>
          <p:nvPr/>
        </p:nvSpPr>
        <p:spPr>
          <a:xfrm>
            <a:off x="6588224" y="3645024"/>
            <a:ext cx="2358926" cy="707886"/>
          </a:xfrm>
          <a:prstGeom prst="rect">
            <a:avLst/>
          </a:prstGeom>
          <a:solidFill>
            <a:schemeClr val="accent2">
              <a:lumMod val="40000"/>
              <a:lumOff val="60000"/>
            </a:schemeClr>
          </a:solidFill>
        </p:spPr>
        <p:txBody>
          <a:bodyPr wrap="square" rtlCol="0">
            <a:spAutoFit/>
          </a:bodyPr>
          <a:lstStyle/>
          <a:p>
            <a:r>
              <a:rPr lang="zh-CN" altLang="en-US" sz="2000" dirty="0">
                <a:solidFill>
                  <a:srgbClr val="FF0000"/>
                </a:solidFill>
              </a:rPr>
              <a:t>列出磁盘的分区表类型与分区信息</a:t>
            </a:r>
          </a:p>
        </p:txBody>
      </p:sp>
      <p:cxnSp>
        <p:nvCxnSpPr>
          <p:cNvPr id="14" name="直接箭头连接符 13">
            <a:extLst>
              <a:ext uri="{FF2B5EF4-FFF2-40B4-BE49-F238E27FC236}">
                <a16:creationId xmlns:a16="http://schemas.microsoft.com/office/drawing/2014/main" id="{ABDB1419-B11B-4E3B-B5DF-CF5306A6AFC9}"/>
              </a:ext>
            </a:extLst>
          </p:cNvPr>
          <p:cNvCxnSpPr/>
          <p:nvPr/>
        </p:nvCxnSpPr>
        <p:spPr bwMode="auto">
          <a:xfrm>
            <a:off x="6084168" y="3520464"/>
            <a:ext cx="504056" cy="340584"/>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静态分区的缺点</a:t>
            </a:r>
          </a:p>
        </p:txBody>
      </p:sp>
      <p:sp>
        <p:nvSpPr>
          <p:cNvPr id="3" name="内容占位符 2"/>
          <p:cNvSpPr>
            <a:spLocks noGrp="1"/>
          </p:cNvSpPr>
          <p:nvPr>
            <p:ph idx="1"/>
          </p:nvPr>
        </p:nvSpPr>
        <p:spPr>
          <a:xfrm>
            <a:off x="395536" y="1484784"/>
            <a:ext cx="8472390" cy="4104456"/>
          </a:xfrm>
        </p:spPr>
        <p:txBody>
          <a:bodyPr/>
          <a:lstStyle/>
          <a:p>
            <a:pPr>
              <a:lnSpc>
                <a:spcPct val="120000"/>
              </a:lnSpc>
            </a:pPr>
            <a:r>
              <a:rPr lang="zh-CN" altLang="en-US" sz="2800" dirty="0"/>
              <a:t>在安装 </a:t>
            </a:r>
            <a:r>
              <a:rPr lang="en-US" altLang="zh-CN" sz="2800" dirty="0"/>
              <a:t>Linux </a:t>
            </a:r>
            <a:r>
              <a:rPr lang="zh-CN" altLang="en-US" sz="2800" dirty="0"/>
              <a:t>的过程中如何正确地</a:t>
            </a:r>
            <a:r>
              <a:rPr lang="zh-CN" altLang="en-US" sz="2800" dirty="0">
                <a:solidFill>
                  <a:srgbClr val="FF0000"/>
                </a:solidFill>
              </a:rPr>
              <a:t>评估各分区大小</a:t>
            </a:r>
            <a:r>
              <a:rPr lang="zh-CN" altLang="en-US" sz="2800" dirty="0"/>
              <a:t>是一个</a:t>
            </a:r>
            <a:r>
              <a:rPr lang="zh-CN" altLang="en-US" sz="2800" dirty="0">
                <a:solidFill>
                  <a:srgbClr val="FF0000"/>
                </a:solidFill>
              </a:rPr>
              <a:t>难题</a:t>
            </a:r>
            <a:r>
              <a:rPr lang="zh-CN" altLang="en-US" sz="2800" dirty="0"/>
              <a:t>，因为系统管理员不但要考虑到当前某个分区需要的容量，还要预见该分区以后可能需要的容量的最大值。 </a:t>
            </a:r>
          </a:p>
          <a:p>
            <a:pPr>
              <a:lnSpc>
                <a:spcPct val="80000"/>
              </a:lnSpc>
            </a:pPr>
            <a:r>
              <a:rPr lang="zh-CN" altLang="en-US" sz="2800" dirty="0"/>
              <a:t>某个分区空间耗尽时，通常的解决方法是：</a:t>
            </a:r>
          </a:p>
          <a:p>
            <a:pPr lvl="1">
              <a:lnSpc>
                <a:spcPct val="110000"/>
              </a:lnSpc>
            </a:pPr>
            <a:r>
              <a:rPr lang="zh-CN" altLang="en-US" sz="2400" dirty="0">
                <a:solidFill>
                  <a:srgbClr val="FF0000"/>
                </a:solidFill>
              </a:rPr>
              <a:t>使用符号链接 </a:t>
            </a:r>
            <a:r>
              <a:rPr lang="en-US" altLang="zh-CN" sz="2400" dirty="0"/>
              <a:t>—— </a:t>
            </a:r>
            <a:r>
              <a:rPr lang="zh-CN" altLang="en-US" sz="2400" dirty="0"/>
              <a:t>破坏 </a:t>
            </a:r>
            <a:r>
              <a:rPr lang="en-US" altLang="zh-CN" sz="2400" dirty="0"/>
              <a:t>Linux </a:t>
            </a:r>
            <a:r>
              <a:rPr lang="zh-CN" altLang="en-US" sz="2400" dirty="0"/>
              <a:t>文件系统的标准结构</a:t>
            </a:r>
          </a:p>
          <a:p>
            <a:pPr lvl="1">
              <a:lnSpc>
                <a:spcPct val="110000"/>
              </a:lnSpc>
            </a:pPr>
            <a:r>
              <a:rPr lang="zh-CN" altLang="en-US" sz="2400" dirty="0">
                <a:solidFill>
                  <a:srgbClr val="FF0000"/>
                </a:solidFill>
              </a:rPr>
              <a:t>使用调整分区大小的工具 </a:t>
            </a:r>
            <a:r>
              <a:rPr lang="en-US" altLang="zh-CN" sz="2400" dirty="0"/>
              <a:t>(</a:t>
            </a:r>
            <a:r>
              <a:rPr lang="zh-CN" altLang="en-US" sz="2400" dirty="0"/>
              <a:t>如：</a:t>
            </a:r>
            <a:r>
              <a:rPr lang="en-US" altLang="zh-CN" sz="2400" dirty="0" err="1"/>
              <a:t>Patition</a:t>
            </a:r>
            <a:r>
              <a:rPr lang="en-US" altLang="zh-CN" sz="2400" dirty="0"/>
              <a:t> Magic </a:t>
            </a:r>
            <a:r>
              <a:rPr lang="zh-CN" altLang="en-US" sz="2400" dirty="0"/>
              <a:t>等</a:t>
            </a:r>
            <a:r>
              <a:rPr lang="en-US" altLang="zh-CN" sz="2400" dirty="0"/>
              <a:t>) —— </a:t>
            </a:r>
            <a:r>
              <a:rPr lang="zh-CN" altLang="en-US" sz="2400" dirty="0"/>
              <a:t>必须停机一段时间进行调整</a:t>
            </a:r>
          </a:p>
          <a:p>
            <a:pPr lvl="1">
              <a:lnSpc>
                <a:spcPct val="110000"/>
              </a:lnSpc>
            </a:pPr>
            <a:r>
              <a:rPr lang="zh-CN" altLang="en-US" sz="2400" dirty="0">
                <a:solidFill>
                  <a:srgbClr val="FF0000"/>
                </a:solidFill>
              </a:rPr>
              <a:t>备份整个系统、清除硬盘、重新对硬盘分区，然后恢复数据到新分区 </a:t>
            </a:r>
            <a:r>
              <a:rPr lang="en-US" altLang="zh-CN" sz="2400" dirty="0"/>
              <a:t>—— </a:t>
            </a:r>
            <a:r>
              <a:rPr lang="zh-CN" altLang="en-US" sz="2400" dirty="0"/>
              <a:t>必须停机一段时间进行恢复</a:t>
            </a:r>
            <a:r>
              <a:rPr lang="zh-CN" altLang="en-US" sz="2400" dirty="0" smtClean="0"/>
              <a:t>操作。</a:t>
            </a:r>
            <a:endParaRPr lang="zh-CN" altLang="en-US" sz="2400" dirty="0"/>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4709205"/>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存储管理与磁盘分区</a:t>
            </a:r>
          </a:p>
          <a:p>
            <a:pPr lvl="1" algn="l">
              <a:lnSpc>
                <a:spcPct val="110000"/>
              </a:lnSpc>
              <a:spcBef>
                <a:spcPts val="600"/>
              </a:spcBef>
              <a:spcAft>
                <a:spcPts val="600"/>
              </a:spcAft>
            </a:pPr>
            <a:r>
              <a:rPr lang="zh-CN" altLang="en-US" dirty="0">
                <a:solidFill>
                  <a:schemeClr val="tx1"/>
                </a:solidFill>
              </a:rPr>
              <a:t>存储管理工具，</a:t>
            </a:r>
            <a:r>
              <a:rPr lang="en-US" altLang="zh-CN" dirty="0">
                <a:solidFill>
                  <a:schemeClr val="tx1"/>
                </a:solidFill>
              </a:rPr>
              <a:t>Linux</a:t>
            </a:r>
            <a:r>
              <a:rPr lang="zh-CN" altLang="en-US" dirty="0">
                <a:solidFill>
                  <a:schemeClr val="tx1"/>
                </a:solidFill>
              </a:rPr>
              <a:t>文件系统，硬盘的分类，硬盘的接口，硬盘分区</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逻辑卷管理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什么是</a:t>
            </a:r>
            <a:r>
              <a:rPr lang="en-US" altLang="zh-CN" dirty="0">
                <a:solidFill>
                  <a:prstClr val="black"/>
                </a:solidFill>
              </a:rPr>
              <a:t>LVM</a:t>
            </a:r>
            <a:r>
              <a:rPr lang="zh-CN" altLang="en-US" dirty="0">
                <a:solidFill>
                  <a:prstClr val="black"/>
                </a:solidFill>
              </a:rPr>
              <a:t>，</a:t>
            </a:r>
            <a:r>
              <a:rPr lang="en-US" altLang="zh-CN" dirty="0">
                <a:solidFill>
                  <a:prstClr val="black"/>
                </a:solidFill>
              </a:rPr>
              <a:t>LVM</a:t>
            </a:r>
            <a:r>
              <a:rPr lang="zh-CN" altLang="en-US" dirty="0">
                <a:solidFill>
                  <a:prstClr val="black"/>
                </a:solidFill>
              </a:rPr>
              <a:t>基本概念，</a:t>
            </a:r>
            <a:r>
              <a:rPr lang="en-US" altLang="zh-CN" dirty="0">
                <a:solidFill>
                  <a:prstClr val="black"/>
                </a:solidFill>
              </a:rPr>
              <a:t>LVM</a:t>
            </a:r>
            <a:r>
              <a:rPr lang="zh-CN" altLang="en-US" dirty="0">
                <a:solidFill>
                  <a:prstClr val="black"/>
                </a:solidFill>
              </a:rPr>
              <a:t>与文件系统之间的关系，如何管理</a:t>
            </a:r>
            <a:r>
              <a:rPr lang="en-US" altLang="zh-CN" dirty="0">
                <a:solidFill>
                  <a:prstClr val="black"/>
                </a:solidFill>
              </a:rPr>
              <a:t>LVM</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文件管理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创建文件系统，挂装文件系统，自动挂装文件系统，磁盘限额及其配置方法</a:t>
            </a:r>
          </a:p>
        </p:txBody>
      </p:sp>
      <p:sp>
        <p:nvSpPr>
          <p:cNvPr id="6" name="圆角矩形 1">
            <a:extLst>
              <a:ext uri="{FF2B5EF4-FFF2-40B4-BE49-F238E27FC236}">
                <a16:creationId xmlns:a16="http://schemas.microsoft.com/office/drawing/2014/main" id="{76CD7918-26CF-4B91-B8D7-A3F7D67A4545}"/>
              </a:ext>
            </a:extLst>
          </p:cNvPr>
          <p:cNvSpPr/>
          <p:nvPr/>
        </p:nvSpPr>
        <p:spPr>
          <a:xfrm>
            <a:off x="723663" y="3304566"/>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spTree>
    <p:extLst>
      <p:ext uri="{BB962C8B-B14F-4D97-AF65-F5344CB8AC3E}">
        <p14:creationId xmlns:p14="http://schemas.microsoft.com/office/powerpoint/2010/main" val="1064864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什么是逻辑卷管理器</a:t>
            </a:r>
          </a:p>
        </p:txBody>
      </p:sp>
      <p:sp>
        <p:nvSpPr>
          <p:cNvPr id="3" name="内容占位符 2"/>
          <p:cNvSpPr>
            <a:spLocks noGrp="1"/>
          </p:cNvSpPr>
          <p:nvPr>
            <p:ph idx="1"/>
          </p:nvPr>
        </p:nvSpPr>
        <p:spPr>
          <a:xfrm>
            <a:off x="755576" y="1484784"/>
            <a:ext cx="7848872" cy="4937720"/>
          </a:xfrm>
        </p:spPr>
        <p:txBody>
          <a:bodyPr/>
          <a:lstStyle/>
          <a:p>
            <a:pPr algn="just">
              <a:lnSpc>
                <a:spcPct val="120000"/>
              </a:lnSpc>
            </a:pPr>
            <a:r>
              <a:rPr lang="en-US" altLang="zh-CN" dirty="0">
                <a:solidFill>
                  <a:srgbClr val="FF0000"/>
                </a:solidFill>
              </a:rPr>
              <a:t>LVM</a:t>
            </a:r>
            <a:r>
              <a:rPr lang="en-US" altLang="zh-CN" dirty="0"/>
              <a:t> </a:t>
            </a:r>
            <a:r>
              <a:rPr lang="zh-CN" altLang="en-US" dirty="0"/>
              <a:t>是</a:t>
            </a:r>
            <a:r>
              <a:rPr lang="zh-CN" altLang="en-US" dirty="0">
                <a:solidFill>
                  <a:srgbClr val="FF0000"/>
                </a:solidFill>
              </a:rPr>
              <a:t>逻辑盘卷管理</a:t>
            </a:r>
            <a:r>
              <a:rPr lang="zh-CN" altLang="en-US" dirty="0"/>
              <a:t>（</a:t>
            </a:r>
            <a:r>
              <a:rPr lang="en-US" altLang="zh-CN" dirty="0"/>
              <a:t>Logical Volume Manager</a:t>
            </a:r>
            <a:r>
              <a:rPr lang="zh-CN" altLang="en-US" dirty="0"/>
              <a:t>）的简称，它是 </a:t>
            </a:r>
            <a:r>
              <a:rPr lang="en-US" altLang="zh-CN" dirty="0"/>
              <a:t>Linux </a:t>
            </a:r>
            <a:r>
              <a:rPr lang="zh-CN" altLang="en-US" dirty="0"/>
              <a:t>环境下对卷进行方便操作的</a:t>
            </a:r>
            <a:r>
              <a:rPr lang="zh-CN" altLang="en-US" dirty="0">
                <a:solidFill>
                  <a:srgbClr val="FF0000"/>
                </a:solidFill>
              </a:rPr>
              <a:t>抽象层</a:t>
            </a:r>
            <a:endParaRPr lang="en-US" altLang="zh-CN" dirty="0">
              <a:solidFill>
                <a:srgbClr val="FF0000"/>
              </a:solidFill>
            </a:endParaRPr>
          </a:p>
          <a:p>
            <a:pPr algn="just">
              <a:lnSpc>
                <a:spcPct val="120000"/>
              </a:lnSpc>
            </a:pPr>
            <a:r>
              <a:rPr lang="en-US" altLang="zh-CN" dirty="0"/>
              <a:t>LVM </a:t>
            </a:r>
            <a:r>
              <a:rPr lang="zh-CN" altLang="en-US" dirty="0"/>
              <a:t>是建立在</a:t>
            </a:r>
            <a:r>
              <a:rPr lang="zh-CN" altLang="en-US" dirty="0">
                <a:solidFill>
                  <a:srgbClr val="FF0000"/>
                </a:solidFill>
              </a:rPr>
              <a:t>硬盘和分区</a:t>
            </a:r>
            <a:r>
              <a:rPr lang="zh-CN" altLang="en-US" dirty="0"/>
              <a:t>之上的一个</a:t>
            </a:r>
            <a:r>
              <a:rPr lang="zh-CN" altLang="en-US" dirty="0">
                <a:solidFill>
                  <a:srgbClr val="FF0000"/>
                </a:solidFill>
              </a:rPr>
              <a:t>逻辑层</a:t>
            </a:r>
            <a:r>
              <a:rPr lang="zh-CN" altLang="en-US" dirty="0"/>
              <a:t>，来为文件系统</a:t>
            </a:r>
            <a:r>
              <a:rPr lang="zh-CN" altLang="en-US" dirty="0">
                <a:solidFill>
                  <a:srgbClr val="FF0000"/>
                </a:solidFill>
              </a:rPr>
              <a:t>屏蔽下层磁盘分区布局</a:t>
            </a:r>
            <a:r>
              <a:rPr lang="zh-CN" altLang="en-US" dirty="0"/>
              <a:t>，从而提高磁盘分区管理的灵活性</a:t>
            </a:r>
            <a:endParaRPr lang="en-US" altLang="zh-CN" dirty="0"/>
          </a:p>
          <a:p>
            <a:pPr algn="just">
              <a:lnSpc>
                <a:spcPct val="120000"/>
              </a:lnSpc>
            </a:pPr>
            <a:r>
              <a:rPr lang="en-US" altLang="zh-CN" dirty="0"/>
              <a:t>LVM</a:t>
            </a:r>
            <a:r>
              <a:rPr lang="zh-CN" altLang="en-US" dirty="0"/>
              <a:t>允许在多个物理设备间</a:t>
            </a:r>
            <a:r>
              <a:rPr lang="zh-CN" altLang="en-US" dirty="0">
                <a:solidFill>
                  <a:srgbClr val="FF0000"/>
                </a:solidFill>
              </a:rPr>
              <a:t>重新组织文件系统</a:t>
            </a:r>
            <a:r>
              <a:rPr lang="zh-CN" altLang="en-US" dirty="0"/>
              <a:t>，包括</a:t>
            </a:r>
            <a:r>
              <a:rPr lang="zh-CN" altLang="en-US" dirty="0">
                <a:solidFill>
                  <a:srgbClr val="FF0000"/>
                </a:solidFill>
              </a:rPr>
              <a:t>重新设定文件系统</a:t>
            </a:r>
            <a:r>
              <a:rPr lang="zh-CN" altLang="en-US" dirty="0"/>
              <a:t>的大小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dirty="0"/>
              <a:t>LVM</a:t>
            </a:r>
            <a:endParaRPr lang="zh-CN" altLang="en-US" dirty="0"/>
          </a:p>
        </p:txBody>
      </p:sp>
      <p:sp>
        <p:nvSpPr>
          <p:cNvPr id="3" name="内容占位符 2"/>
          <p:cNvSpPr>
            <a:spLocks noGrp="1"/>
          </p:cNvSpPr>
          <p:nvPr>
            <p:ph idx="1"/>
          </p:nvPr>
        </p:nvSpPr>
        <p:spPr>
          <a:xfrm>
            <a:off x="467544" y="1311584"/>
            <a:ext cx="8064896" cy="4718149"/>
          </a:xfrm>
        </p:spPr>
        <p:txBody>
          <a:bodyPr/>
          <a:lstStyle/>
          <a:p>
            <a:pPr algn="just">
              <a:lnSpc>
                <a:spcPct val="120000"/>
              </a:lnSpc>
            </a:pPr>
            <a:r>
              <a:rPr lang="zh-CN" altLang="en-US" sz="3200" dirty="0"/>
              <a:t>通过 </a:t>
            </a:r>
            <a:r>
              <a:rPr lang="en-US" altLang="zh-CN" sz="3200" dirty="0"/>
              <a:t>LVM </a:t>
            </a:r>
            <a:r>
              <a:rPr lang="zh-CN" altLang="en-US" sz="3200" dirty="0"/>
              <a:t>可以轻松</a:t>
            </a:r>
            <a:r>
              <a:rPr lang="zh-CN" altLang="en-US" sz="3200" dirty="0">
                <a:solidFill>
                  <a:srgbClr val="FF0000"/>
                </a:solidFill>
              </a:rPr>
              <a:t>管理磁盘分区</a:t>
            </a:r>
            <a:r>
              <a:rPr lang="zh-CN" altLang="en-US" sz="3200" dirty="0"/>
              <a:t>，如：将若干个磁盘分区连接为一个整块的卷组（</a:t>
            </a:r>
            <a:r>
              <a:rPr lang="en-US" altLang="zh-CN" sz="3200" dirty="0"/>
              <a:t>volume group</a:t>
            </a:r>
            <a:r>
              <a:rPr lang="zh-CN" altLang="en-US" sz="3200" dirty="0"/>
              <a:t>），形成一个存储池</a:t>
            </a:r>
          </a:p>
          <a:p>
            <a:pPr algn="just">
              <a:lnSpc>
                <a:spcPct val="120000"/>
              </a:lnSpc>
            </a:pPr>
            <a:r>
              <a:rPr lang="zh-CN" altLang="en-US" sz="3200" dirty="0"/>
              <a:t>可以在卷组中随意</a:t>
            </a:r>
            <a:r>
              <a:rPr lang="zh-CN" altLang="en-US" sz="3200" dirty="0">
                <a:solidFill>
                  <a:srgbClr val="FF0000"/>
                </a:solidFill>
              </a:rPr>
              <a:t>创建逻辑卷</a:t>
            </a:r>
            <a:r>
              <a:rPr lang="zh-CN" altLang="en-US" sz="3200" dirty="0"/>
              <a:t>（</a:t>
            </a:r>
            <a:r>
              <a:rPr lang="en-US" altLang="zh-CN" sz="3200" dirty="0"/>
              <a:t>logical volumes</a:t>
            </a:r>
            <a:r>
              <a:rPr lang="zh-CN" altLang="en-US" sz="3200" dirty="0"/>
              <a:t>），并进一步在逻辑卷上</a:t>
            </a:r>
            <a:r>
              <a:rPr lang="zh-CN" altLang="en-US" sz="3200" dirty="0">
                <a:solidFill>
                  <a:srgbClr val="FF0000"/>
                </a:solidFill>
              </a:rPr>
              <a:t>创建文件系统</a:t>
            </a:r>
            <a:endParaRPr lang="zh-CN" altLang="en-US" sz="3200" dirty="0"/>
          </a:p>
          <a:p>
            <a:pPr algn="just">
              <a:lnSpc>
                <a:spcPct val="120000"/>
              </a:lnSpc>
            </a:pPr>
            <a:r>
              <a:rPr lang="zh-CN" altLang="en-US" sz="3200" dirty="0"/>
              <a:t>通过 </a:t>
            </a:r>
            <a:r>
              <a:rPr lang="en-US" altLang="zh-CN" sz="3200" dirty="0"/>
              <a:t>LVM </a:t>
            </a:r>
            <a:r>
              <a:rPr lang="zh-CN" altLang="en-US" sz="3200" dirty="0"/>
              <a:t>可以方便的</a:t>
            </a:r>
            <a:r>
              <a:rPr lang="zh-CN" altLang="en-US" sz="3200" dirty="0">
                <a:solidFill>
                  <a:srgbClr val="FF0000"/>
                </a:solidFill>
              </a:rPr>
              <a:t>调整存储卷组的大小</a:t>
            </a:r>
            <a:r>
              <a:rPr lang="zh-CN" altLang="en-US" sz="3200" dirty="0"/>
              <a:t>，并且可以对</a:t>
            </a:r>
            <a:r>
              <a:rPr lang="zh-CN" altLang="en-US" sz="3200" dirty="0">
                <a:solidFill>
                  <a:srgbClr val="FF0000"/>
                </a:solidFill>
              </a:rPr>
              <a:t>磁盘存储按照组</a:t>
            </a:r>
            <a:r>
              <a:rPr lang="zh-CN" altLang="en-US" sz="3200" dirty="0"/>
              <a:t>的方式进行</a:t>
            </a:r>
            <a:r>
              <a:rPr lang="zh-CN" altLang="en-US" sz="3200" dirty="0">
                <a:solidFill>
                  <a:srgbClr val="FF0000"/>
                </a:solidFill>
              </a:rPr>
              <a:t>命名、管理和分配</a:t>
            </a:r>
            <a:endParaRPr lang="zh-CN" altLang="en-US"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Calibri" pitchFamily="34" charset="0"/>
                <a:ea typeface="宋体" pitchFamily="2" charset="-122"/>
              </a:rPr>
              <a:t>LVM </a:t>
            </a:r>
            <a:r>
              <a:rPr lang="zh-CN" altLang="en-US" dirty="0">
                <a:latin typeface="Calibri" pitchFamily="34" charset="0"/>
                <a:ea typeface="宋体" pitchFamily="2" charset="-122"/>
              </a:rPr>
              <a:t>结构图</a:t>
            </a:r>
            <a:r>
              <a:rPr lang="en-US" altLang="zh-CN" dirty="0">
                <a:latin typeface="Calibri" pitchFamily="34" charset="0"/>
                <a:ea typeface="宋体" pitchFamily="2" charset="-122"/>
              </a:rPr>
              <a:t>——</a:t>
            </a:r>
            <a:r>
              <a:rPr lang="zh-CN" altLang="en-US" dirty="0">
                <a:latin typeface="Calibri" pitchFamily="34" charset="0"/>
                <a:ea typeface="宋体" pitchFamily="2" charset="-122"/>
              </a:rPr>
              <a:t>流程</a:t>
            </a:r>
            <a:endParaRPr lang="zh-CN" altLang="en-US" dirty="0"/>
          </a:p>
        </p:txBody>
      </p:sp>
      <p:sp>
        <p:nvSpPr>
          <p:cNvPr id="7" name="内容占位符 2"/>
          <p:cNvSpPr>
            <a:spLocks noGrp="1"/>
          </p:cNvSpPr>
          <p:nvPr>
            <p:ph idx="1"/>
          </p:nvPr>
        </p:nvSpPr>
        <p:spPr>
          <a:xfrm>
            <a:off x="5660288" y="1145902"/>
            <a:ext cx="3600747" cy="5402360"/>
          </a:xfrm>
        </p:spPr>
        <p:txBody>
          <a:bodyPr/>
          <a:lstStyle/>
          <a:p>
            <a:pPr marL="0" indent="0">
              <a:spcBef>
                <a:spcPts val="0"/>
              </a:spcBef>
              <a:buNone/>
            </a:pPr>
            <a:r>
              <a:rPr lang="en-US" altLang="zh-CN" dirty="0">
                <a:latin typeface="Calibri" pitchFamily="34" charset="0"/>
                <a:ea typeface="宋体" pitchFamily="2" charset="-122"/>
              </a:rPr>
              <a:t>                                                                                                                                                                   </a:t>
            </a:r>
            <a:r>
              <a:rPr lang="zh-CN" altLang="en-US" sz="2000" dirty="0">
                <a:latin typeface="Calibri" pitchFamily="34" charset="0"/>
                <a:ea typeface="宋体" pitchFamily="2" charset="-122"/>
              </a:rPr>
              <a:t>物理分区阶段</a:t>
            </a:r>
            <a:r>
              <a:rPr lang="en-US" altLang="zh-CN" sz="2000" dirty="0">
                <a:latin typeface="Calibri" pitchFamily="34" charset="0"/>
                <a:ea typeface="宋体" pitchFamily="2" charset="-122"/>
              </a:rPr>
              <a:t>(</a:t>
            </a:r>
            <a:r>
              <a:rPr lang="en-US" altLang="zh-CN" sz="2000" b="1" dirty="0" err="1">
                <a:solidFill>
                  <a:srgbClr val="FF0000"/>
                </a:solidFill>
                <a:latin typeface="Calibri" pitchFamily="34" charset="0"/>
                <a:ea typeface="宋体" pitchFamily="2" charset="-122"/>
              </a:rPr>
              <a:t>fdisk</a:t>
            </a:r>
            <a:r>
              <a:rPr lang="zh-CN" altLang="en-US" sz="2000" b="1" dirty="0">
                <a:latin typeface="Calibri" pitchFamily="34" charset="0"/>
                <a:ea typeface="宋体" pitchFamily="2" charset="-122"/>
              </a:rPr>
              <a:t>等</a:t>
            </a:r>
            <a:r>
              <a:rPr lang="en-US" altLang="zh-CN" sz="2000" dirty="0">
                <a:latin typeface="Calibri" pitchFamily="34" charset="0"/>
                <a:ea typeface="宋体" pitchFamily="2" charset="-122"/>
              </a:rPr>
              <a:t>)</a:t>
            </a:r>
          </a:p>
          <a:p>
            <a:pPr marL="0" indent="0">
              <a:buFont typeface="Arial" pitchFamily="34" charset="0"/>
              <a:buNone/>
            </a:pPr>
            <a:r>
              <a:rPr lang="zh-CN" altLang="en-US" sz="2000" dirty="0">
                <a:latin typeface="Calibri" pitchFamily="34" charset="0"/>
                <a:ea typeface="宋体" pitchFamily="2" charset="-122"/>
              </a:rPr>
              <a:t>目标：将</a:t>
            </a:r>
            <a:r>
              <a:rPr lang="en-US" altLang="zh-CN" sz="2000" dirty="0">
                <a:latin typeface="Calibri" pitchFamily="34" charset="0"/>
                <a:ea typeface="宋体" pitchFamily="2" charset="-122"/>
              </a:rPr>
              <a:t>system ID</a:t>
            </a:r>
            <a:r>
              <a:rPr lang="zh-CN" altLang="en-US" sz="2000" dirty="0">
                <a:latin typeface="Calibri" pitchFamily="34" charset="0"/>
                <a:ea typeface="宋体" pitchFamily="2" charset="-122"/>
              </a:rPr>
              <a:t>改为</a:t>
            </a:r>
            <a:r>
              <a:rPr lang="en-US" altLang="zh-CN" sz="2000" dirty="0">
                <a:latin typeface="Calibri" pitchFamily="34" charset="0"/>
                <a:ea typeface="宋体" pitchFamily="2" charset="-122"/>
              </a:rPr>
              <a:t>8e</a:t>
            </a:r>
          </a:p>
          <a:p>
            <a:pPr marL="0" indent="0">
              <a:spcBef>
                <a:spcPts val="1800"/>
              </a:spcBef>
              <a:buFont typeface="Arial" pitchFamily="34" charset="0"/>
              <a:buNone/>
            </a:pPr>
            <a:r>
              <a:rPr lang="en-US" altLang="zh-CN" sz="1800" dirty="0">
                <a:latin typeface="Calibri" pitchFamily="34" charset="0"/>
                <a:ea typeface="宋体" pitchFamily="2" charset="-122"/>
              </a:rPr>
              <a:t>                                                                                                            </a:t>
            </a:r>
            <a:r>
              <a:rPr lang="en-US" altLang="zh-CN" sz="2000" dirty="0">
                <a:latin typeface="Calibri" pitchFamily="34" charset="0"/>
                <a:ea typeface="宋体" pitchFamily="2" charset="-122"/>
              </a:rPr>
              <a:t>PV</a:t>
            </a:r>
            <a:r>
              <a:rPr lang="zh-CN" altLang="en-US" sz="2000" dirty="0">
                <a:latin typeface="Calibri" pitchFamily="34" charset="0"/>
                <a:ea typeface="宋体" pitchFamily="2" charset="-122"/>
              </a:rPr>
              <a:t>阶段</a:t>
            </a:r>
            <a:r>
              <a:rPr lang="en-US" altLang="zh-CN" sz="2000" dirty="0">
                <a:latin typeface="Calibri" pitchFamily="34" charset="0"/>
                <a:ea typeface="宋体" pitchFamily="2" charset="-122"/>
              </a:rPr>
              <a:t>(</a:t>
            </a:r>
            <a:r>
              <a:rPr lang="en-US" altLang="zh-CN" sz="2000" b="1" dirty="0" err="1">
                <a:solidFill>
                  <a:srgbClr val="FF0000"/>
                </a:solidFill>
                <a:latin typeface="Calibri" pitchFamily="34" charset="0"/>
                <a:ea typeface="宋体" pitchFamily="2" charset="-122"/>
              </a:rPr>
              <a:t>pvcreate</a:t>
            </a:r>
            <a:r>
              <a:rPr lang="en-US" altLang="zh-CN" sz="2000" dirty="0">
                <a:latin typeface="Calibri" pitchFamily="34" charset="0"/>
                <a:ea typeface="宋体" pitchFamily="2" charset="-122"/>
              </a:rPr>
              <a:t>)</a:t>
            </a:r>
          </a:p>
          <a:p>
            <a:pPr marL="0" indent="0">
              <a:buNone/>
            </a:pPr>
            <a:r>
              <a:rPr lang="zh-CN" altLang="en-US" sz="2000" dirty="0">
                <a:latin typeface="Calibri" pitchFamily="34" charset="0"/>
                <a:ea typeface="宋体" pitchFamily="2" charset="-122"/>
              </a:rPr>
              <a:t>目标：创建</a:t>
            </a:r>
            <a:r>
              <a:rPr lang="en-US" altLang="zh-CN" sz="2000" dirty="0">
                <a:latin typeface="Calibri" pitchFamily="34" charset="0"/>
                <a:ea typeface="宋体" pitchFamily="2" charset="-122"/>
              </a:rPr>
              <a:t>PV</a:t>
            </a:r>
          </a:p>
          <a:p>
            <a:pPr marL="0" indent="0">
              <a:buFont typeface="Arial" pitchFamily="34" charset="0"/>
              <a:buNone/>
            </a:pPr>
            <a:endParaRPr lang="en-US" altLang="zh-CN" sz="1800" dirty="0">
              <a:latin typeface="Calibri" pitchFamily="34" charset="0"/>
              <a:ea typeface="宋体" pitchFamily="2" charset="-122"/>
            </a:endParaRPr>
          </a:p>
          <a:p>
            <a:pPr marL="0" indent="0">
              <a:spcBef>
                <a:spcPts val="0"/>
              </a:spcBef>
              <a:buFont typeface="Arial" pitchFamily="34" charset="0"/>
              <a:buNone/>
            </a:pPr>
            <a:r>
              <a:rPr lang="en-US" altLang="zh-CN" sz="1800" dirty="0">
                <a:latin typeface="Calibri" pitchFamily="34" charset="0"/>
                <a:ea typeface="宋体" pitchFamily="2" charset="-122"/>
              </a:rPr>
              <a:t>                                                                                                             </a:t>
            </a:r>
            <a:r>
              <a:rPr lang="en-US" altLang="zh-CN" sz="2000" dirty="0">
                <a:latin typeface="Calibri" pitchFamily="34" charset="0"/>
                <a:ea typeface="宋体" pitchFamily="2" charset="-122"/>
              </a:rPr>
              <a:t>VG</a:t>
            </a:r>
            <a:r>
              <a:rPr lang="zh-CN" altLang="en-US" sz="2000" dirty="0">
                <a:latin typeface="Calibri" pitchFamily="34" charset="0"/>
                <a:ea typeface="宋体" pitchFamily="2" charset="-122"/>
              </a:rPr>
              <a:t>阶段</a:t>
            </a:r>
            <a:r>
              <a:rPr lang="en-US" altLang="zh-CN" sz="2000" dirty="0">
                <a:latin typeface="Calibri" pitchFamily="34" charset="0"/>
                <a:ea typeface="宋体" pitchFamily="2" charset="-122"/>
              </a:rPr>
              <a:t>(</a:t>
            </a:r>
            <a:r>
              <a:rPr lang="en-US" altLang="zh-CN" sz="2000" b="1" dirty="0" err="1">
                <a:solidFill>
                  <a:srgbClr val="FF0000"/>
                </a:solidFill>
                <a:latin typeface="Calibri" pitchFamily="34" charset="0"/>
                <a:ea typeface="宋体" pitchFamily="2" charset="-122"/>
              </a:rPr>
              <a:t>vgcreate</a:t>
            </a:r>
            <a:r>
              <a:rPr lang="en-US" altLang="zh-CN" sz="2000" dirty="0">
                <a:latin typeface="Calibri" pitchFamily="34" charset="0"/>
                <a:ea typeface="宋体" pitchFamily="2" charset="-122"/>
              </a:rPr>
              <a:t>)</a:t>
            </a:r>
          </a:p>
          <a:p>
            <a:pPr marL="0" indent="0">
              <a:spcAft>
                <a:spcPts val="1200"/>
              </a:spcAft>
              <a:buNone/>
            </a:pPr>
            <a:r>
              <a:rPr lang="zh-CN" altLang="en-US" sz="2000" dirty="0">
                <a:latin typeface="Calibri" pitchFamily="34" charset="0"/>
                <a:ea typeface="宋体" pitchFamily="2" charset="-122"/>
              </a:rPr>
              <a:t>目标：以</a:t>
            </a:r>
            <a:r>
              <a:rPr lang="en-US" altLang="zh-CN" sz="2000" dirty="0">
                <a:latin typeface="Calibri" pitchFamily="34" charset="0"/>
                <a:ea typeface="宋体" pitchFamily="2" charset="-122"/>
              </a:rPr>
              <a:t>PV</a:t>
            </a:r>
            <a:r>
              <a:rPr lang="zh-CN" altLang="en-US" sz="2000" dirty="0">
                <a:latin typeface="Calibri" pitchFamily="34" charset="0"/>
                <a:ea typeface="宋体" pitchFamily="2" charset="-122"/>
              </a:rPr>
              <a:t>创建</a:t>
            </a:r>
            <a:r>
              <a:rPr lang="en-US" altLang="zh-CN" sz="2000" dirty="0">
                <a:latin typeface="Calibri" pitchFamily="34" charset="0"/>
                <a:ea typeface="宋体" pitchFamily="2" charset="-122"/>
              </a:rPr>
              <a:t>VG</a:t>
            </a:r>
            <a:r>
              <a:rPr lang="en-US" altLang="zh-CN" sz="1800" dirty="0">
                <a:latin typeface="Calibri" pitchFamily="34" charset="0"/>
                <a:ea typeface="宋体" pitchFamily="2" charset="-122"/>
              </a:rPr>
              <a:t>  </a:t>
            </a:r>
          </a:p>
          <a:p>
            <a:pPr marL="0" indent="0">
              <a:spcAft>
                <a:spcPts val="0"/>
              </a:spcAft>
              <a:buNone/>
            </a:pPr>
            <a:r>
              <a:rPr kumimoji="0" lang="en-US" altLang="zh-CN" sz="20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LV</a:t>
            </a:r>
            <a:r>
              <a:rPr kumimoji="0" lang="zh-CN" altLang="en-US" sz="20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阶段</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r>
              <a:rPr kumimoji="0" lang="en-US" altLang="zh-CN" sz="2000" b="1" i="0" u="none" strike="noStrike" kern="1200" cap="none" spc="0" normalizeH="0" baseline="0" noProof="0" dirty="0" err="1">
                <a:ln>
                  <a:noFill/>
                </a:ln>
                <a:solidFill>
                  <a:srgbClr val="FF0000"/>
                </a:solidFill>
                <a:effectLst/>
                <a:uLnTx/>
                <a:uFillTx/>
                <a:latin typeface="Calibri" pitchFamily="34" charset="0"/>
                <a:ea typeface="宋体" pitchFamily="2" charset="-122"/>
                <a:cs typeface="+mn-cs"/>
              </a:rPr>
              <a:t>lvcreate</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p>
          <a:p>
            <a:pPr marL="0" indent="0">
              <a:spcAft>
                <a:spcPts val="0"/>
              </a:spcAft>
              <a:buNone/>
            </a:pPr>
            <a:r>
              <a:rPr lang="zh-CN" altLang="en-US" sz="2000" dirty="0">
                <a:latin typeface="Calibri" pitchFamily="34" charset="0"/>
                <a:ea typeface="宋体" pitchFamily="2" charset="-122"/>
              </a:rPr>
              <a:t>目标：从</a:t>
            </a:r>
            <a:r>
              <a:rPr lang="en-US" altLang="zh-CN" sz="2000" dirty="0">
                <a:latin typeface="Calibri" pitchFamily="34" charset="0"/>
                <a:ea typeface="宋体" pitchFamily="2" charset="-122"/>
              </a:rPr>
              <a:t>VG</a:t>
            </a:r>
            <a:r>
              <a:rPr lang="zh-CN" altLang="en-US" sz="2000" dirty="0">
                <a:latin typeface="Calibri" pitchFamily="34" charset="0"/>
                <a:ea typeface="宋体" pitchFamily="2" charset="-122"/>
              </a:rPr>
              <a:t>划分出</a:t>
            </a:r>
            <a:r>
              <a:rPr lang="en-US" altLang="zh-CN" sz="2000" dirty="0">
                <a:latin typeface="Calibri" pitchFamily="34" charset="0"/>
                <a:ea typeface="宋体" pitchFamily="2" charset="-122"/>
              </a:rPr>
              <a:t>LV</a:t>
            </a:r>
          </a:p>
          <a:p>
            <a:pPr marL="0" indent="0">
              <a:spcBef>
                <a:spcPts val="1800"/>
              </a:spcBef>
              <a:spcAft>
                <a:spcPts val="0"/>
              </a:spcAft>
              <a:buNone/>
            </a:pPr>
            <a:r>
              <a:rPr lang="zh-CN" altLang="en-US" sz="1800" dirty="0">
                <a:latin typeface="Calibri" pitchFamily="34" charset="0"/>
                <a:ea typeface="宋体" pitchFamily="2" charset="-122"/>
              </a:rPr>
              <a:t>文件系统使用阶段</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r>
              <a:rPr kumimoji="0" lang="en-US" altLang="zh-CN" sz="1800" b="1" i="0" u="none" strike="noStrike" kern="1200" cap="none" spc="0" normalizeH="0" baseline="0" noProof="0" dirty="0" err="1">
                <a:ln>
                  <a:noFill/>
                </a:ln>
                <a:solidFill>
                  <a:srgbClr val="FF0000"/>
                </a:solidFill>
                <a:effectLst/>
                <a:uLnTx/>
                <a:uFillTx/>
                <a:latin typeface="Calibri" pitchFamily="34" charset="0"/>
                <a:ea typeface="宋体" pitchFamily="2" charset="-122"/>
                <a:cs typeface="+mn-cs"/>
              </a:rPr>
              <a:t>mkfs,mount</a:t>
            </a:r>
            <a:r>
              <a:rPr kumimoji="0" lang="en-US" altLang="zh-CN" sz="16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rPr>
              <a:t>)</a:t>
            </a:r>
          </a:p>
          <a:p>
            <a:pPr marL="0" indent="0">
              <a:spcBef>
                <a:spcPts val="0"/>
              </a:spcBef>
              <a:spcAft>
                <a:spcPts val="1800"/>
              </a:spcAft>
              <a:buNone/>
            </a:pPr>
            <a:r>
              <a:rPr lang="zh-CN" altLang="en-US" sz="2000" dirty="0">
                <a:latin typeface="Calibri" pitchFamily="34" charset="0"/>
                <a:ea typeface="宋体" pitchFamily="2" charset="-122"/>
              </a:rPr>
              <a:t>目标：格式化后挂载使用</a:t>
            </a:r>
            <a:endParaRPr lang="en-US" altLang="zh-CN" sz="2000" dirty="0">
              <a:latin typeface="Calibri" pitchFamily="34" charset="0"/>
              <a:ea typeface="宋体" pitchFamily="2" charset="-122"/>
            </a:endParaRPr>
          </a:p>
          <a:p>
            <a:pPr marL="0" indent="0">
              <a:spcBef>
                <a:spcPts val="1800"/>
              </a:spcBef>
              <a:spcAft>
                <a:spcPts val="1800"/>
              </a:spcAft>
              <a:buNone/>
            </a:pPr>
            <a:endParaRPr kumimoji="0" lang="en-US" altLang="zh-CN" sz="16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endParaRPr>
          </a:p>
          <a:p>
            <a:pPr marL="0" indent="0">
              <a:spcBef>
                <a:spcPts val="1800"/>
              </a:spcBef>
              <a:spcAft>
                <a:spcPts val="1800"/>
              </a:spcAft>
              <a:buNone/>
            </a:pPr>
            <a:endParaRPr kumimoji="0" lang="en-US" altLang="zh-CN" sz="16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endParaRPr>
          </a:p>
          <a:p>
            <a:pPr marL="0" indent="0">
              <a:spcBef>
                <a:spcPts val="1800"/>
              </a:spcBef>
              <a:spcAft>
                <a:spcPts val="1800"/>
              </a:spcAft>
              <a:buNone/>
            </a:pPr>
            <a:endParaRPr lang="en-US" altLang="zh-CN" sz="1800" dirty="0">
              <a:latin typeface="Calibri" pitchFamily="34" charset="0"/>
              <a:ea typeface="宋体" pitchFamily="2" charset="-122"/>
            </a:endParaRPr>
          </a:p>
          <a:p>
            <a:pPr marL="0" indent="0">
              <a:spcAft>
                <a:spcPts val="1800"/>
              </a:spcAft>
              <a:buNone/>
            </a:pPr>
            <a:endParaRPr lang="zh-CN" altLang="en-US" sz="1800" dirty="0">
              <a:latin typeface="Calibri" pitchFamily="34" charset="0"/>
              <a:ea typeface="宋体" pitchFamily="2" charset="-122"/>
            </a:endParaRPr>
          </a:p>
        </p:txBody>
      </p:sp>
      <p:sp>
        <p:nvSpPr>
          <p:cNvPr id="8" name="矩形 7"/>
          <p:cNvSpPr/>
          <p:nvPr/>
        </p:nvSpPr>
        <p:spPr>
          <a:xfrm>
            <a:off x="395536" y="1664221"/>
            <a:ext cx="1513451" cy="57626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/sda5</a:t>
            </a:r>
            <a:endParaRPr lang="zh-CN" altLang="en-US" sz="2000" dirty="0">
              <a:solidFill>
                <a:srgbClr val="C00000"/>
              </a:solidFill>
            </a:endParaRPr>
          </a:p>
        </p:txBody>
      </p:sp>
      <p:sp>
        <p:nvSpPr>
          <p:cNvPr id="9" name="矩形 8"/>
          <p:cNvSpPr/>
          <p:nvPr/>
        </p:nvSpPr>
        <p:spPr>
          <a:xfrm>
            <a:off x="2293721" y="1664221"/>
            <a:ext cx="1513460" cy="57626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/sda6</a:t>
            </a:r>
            <a:endParaRPr lang="zh-CN" altLang="en-US" sz="2000" dirty="0">
              <a:solidFill>
                <a:srgbClr val="C00000"/>
              </a:solidFill>
            </a:endParaRPr>
          </a:p>
        </p:txBody>
      </p:sp>
      <p:sp>
        <p:nvSpPr>
          <p:cNvPr id="10" name="矩形 9"/>
          <p:cNvSpPr/>
          <p:nvPr/>
        </p:nvSpPr>
        <p:spPr>
          <a:xfrm>
            <a:off x="4304931" y="1664221"/>
            <a:ext cx="1394152" cy="57626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/sda7</a:t>
            </a:r>
            <a:endParaRPr lang="zh-CN" altLang="en-US" sz="2000" dirty="0">
              <a:solidFill>
                <a:srgbClr val="C00000"/>
              </a:solidFill>
            </a:endParaRPr>
          </a:p>
        </p:txBody>
      </p:sp>
      <p:sp>
        <p:nvSpPr>
          <p:cNvPr id="11" name="矩形 10"/>
          <p:cNvSpPr/>
          <p:nvPr/>
        </p:nvSpPr>
        <p:spPr>
          <a:xfrm>
            <a:off x="423413" y="2923902"/>
            <a:ext cx="1437131" cy="7207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PV</a:t>
            </a:r>
          </a:p>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/sda5</a:t>
            </a:r>
            <a:endParaRPr lang="zh-CN" altLang="en-US" sz="2000" dirty="0">
              <a:solidFill>
                <a:srgbClr val="C00000"/>
              </a:solidFill>
            </a:endParaRPr>
          </a:p>
        </p:txBody>
      </p:sp>
      <p:sp>
        <p:nvSpPr>
          <p:cNvPr id="12" name="矩形 11"/>
          <p:cNvSpPr/>
          <p:nvPr/>
        </p:nvSpPr>
        <p:spPr>
          <a:xfrm>
            <a:off x="2331589" y="2923902"/>
            <a:ext cx="1366837" cy="7207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PV</a:t>
            </a:r>
          </a:p>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/sda6</a:t>
            </a:r>
            <a:endParaRPr lang="zh-CN" altLang="en-US" sz="2000" dirty="0">
              <a:solidFill>
                <a:srgbClr val="C00000"/>
              </a:solidFill>
            </a:endParaRPr>
          </a:p>
        </p:txBody>
      </p:sp>
      <p:sp>
        <p:nvSpPr>
          <p:cNvPr id="13" name="矩形 12"/>
          <p:cNvSpPr/>
          <p:nvPr/>
        </p:nvSpPr>
        <p:spPr>
          <a:xfrm>
            <a:off x="4311201" y="2923902"/>
            <a:ext cx="1368425" cy="7207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altLang="zh-CN" sz="2000" dirty="0">
                <a:solidFill>
                  <a:srgbClr val="C00000"/>
                </a:solidFill>
              </a:rPr>
              <a:t>PV</a:t>
            </a:r>
          </a:p>
          <a:p>
            <a:pPr algn="ctr">
              <a:defRPr/>
            </a:pPr>
            <a:r>
              <a:rPr lang="en-US" altLang="zh-CN" sz="2000" dirty="0">
                <a:solidFill>
                  <a:srgbClr val="C00000"/>
                </a:solidFill>
              </a:rPr>
              <a:t>/</a:t>
            </a:r>
            <a:r>
              <a:rPr lang="en-US" altLang="zh-CN" sz="2000" dirty="0" err="1">
                <a:solidFill>
                  <a:srgbClr val="C00000"/>
                </a:solidFill>
              </a:rPr>
              <a:t>dev</a:t>
            </a:r>
            <a:r>
              <a:rPr lang="en-US" altLang="zh-CN" sz="2000" dirty="0">
                <a:solidFill>
                  <a:srgbClr val="C00000"/>
                </a:solidFill>
              </a:rPr>
              <a:t>/sda7</a:t>
            </a:r>
            <a:endParaRPr lang="zh-CN" altLang="en-US" sz="2000" dirty="0">
              <a:solidFill>
                <a:srgbClr val="C00000"/>
              </a:solidFill>
            </a:endParaRPr>
          </a:p>
        </p:txBody>
      </p:sp>
      <p:cxnSp>
        <p:nvCxnSpPr>
          <p:cNvPr id="14" name="直接箭头连接符 13"/>
          <p:cNvCxnSpPr/>
          <p:nvPr/>
        </p:nvCxnSpPr>
        <p:spPr>
          <a:xfrm>
            <a:off x="1071114" y="2277789"/>
            <a:ext cx="0" cy="6461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cxnSpLocks/>
          </p:cNvCxnSpPr>
          <p:nvPr/>
        </p:nvCxnSpPr>
        <p:spPr>
          <a:xfrm flipH="1">
            <a:off x="3097230" y="2240483"/>
            <a:ext cx="1" cy="6103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cxnSpLocks/>
            <a:stCxn id="10" idx="2"/>
            <a:endCxn id="13" idx="0"/>
          </p:cNvCxnSpPr>
          <p:nvPr/>
        </p:nvCxnSpPr>
        <p:spPr>
          <a:xfrm flipH="1">
            <a:off x="4995414" y="2240483"/>
            <a:ext cx="6593" cy="6834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23414" y="4220889"/>
            <a:ext cx="5256212" cy="503238"/>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zh-CN" altLang="en-US" sz="2000" dirty="0">
                <a:solidFill>
                  <a:srgbClr val="C00000"/>
                </a:solidFill>
              </a:rPr>
              <a:t>合成一个</a:t>
            </a:r>
            <a:r>
              <a:rPr lang="en-US" altLang="zh-CN" sz="2000" dirty="0">
                <a:solidFill>
                  <a:srgbClr val="C00000"/>
                </a:solidFill>
              </a:rPr>
              <a:t>VG</a:t>
            </a:r>
            <a:r>
              <a:rPr lang="zh-CN" altLang="en-US" sz="2000" dirty="0">
                <a:solidFill>
                  <a:srgbClr val="C00000"/>
                </a:solidFill>
              </a:rPr>
              <a:t>大磁盘</a:t>
            </a:r>
          </a:p>
        </p:txBody>
      </p:sp>
      <p:cxnSp>
        <p:nvCxnSpPr>
          <p:cNvPr id="18" name="直接箭头连接符 17"/>
          <p:cNvCxnSpPr>
            <a:cxnSpLocks/>
            <a:stCxn id="11" idx="2"/>
          </p:cNvCxnSpPr>
          <p:nvPr/>
        </p:nvCxnSpPr>
        <p:spPr>
          <a:xfrm>
            <a:off x="1141979" y="3644627"/>
            <a:ext cx="1513460" cy="5032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2" idx="2"/>
          </p:cNvCxnSpPr>
          <p:nvPr/>
        </p:nvCxnSpPr>
        <p:spPr>
          <a:xfrm>
            <a:off x="3015801" y="3644627"/>
            <a:ext cx="0" cy="5032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3" idx="2"/>
          </p:cNvCxnSpPr>
          <p:nvPr/>
        </p:nvCxnSpPr>
        <p:spPr>
          <a:xfrm flipH="1">
            <a:off x="3519039" y="3644627"/>
            <a:ext cx="1476375" cy="5032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423414" y="5084489"/>
            <a:ext cx="5256212" cy="503238"/>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zh-CN" altLang="en-US" sz="2000" dirty="0">
                <a:solidFill>
                  <a:srgbClr val="C00000"/>
                </a:solidFill>
              </a:rPr>
              <a:t>再划分成若干个逻辑分区</a:t>
            </a:r>
          </a:p>
        </p:txBody>
      </p:sp>
      <p:cxnSp>
        <p:nvCxnSpPr>
          <p:cNvPr id="22" name="直接箭头连接符 21"/>
          <p:cNvCxnSpPr/>
          <p:nvPr/>
        </p:nvCxnSpPr>
        <p:spPr>
          <a:xfrm>
            <a:off x="3015801" y="4724127"/>
            <a:ext cx="0" cy="3603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23414" y="5876651"/>
            <a:ext cx="5256212" cy="67161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zh-CN" altLang="en-US" sz="2000" dirty="0">
                <a:solidFill>
                  <a:srgbClr val="C00000"/>
                </a:solidFill>
              </a:rPr>
              <a:t>像普通分区一样格式化后，直接挂载到文件系统中</a:t>
            </a:r>
          </a:p>
        </p:txBody>
      </p:sp>
      <p:cxnSp>
        <p:nvCxnSpPr>
          <p:cNvPr id="24" name="直接箭头连接符 23"/>
          <p:cNvCxnSpPr>
            <a:stCxn id="21" idx="2"/>
          </p:cNvCxnSpPr>
          <p:nvPr/>
        </p:nvCxnSpPr>
        <p:spPr>
          <a:xfrm>
            <a:off x="3050726" y="5587727"/>
            <a:ext cx="0" cy="288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物理卷</a:t>
            </a:r>
          </a:p>
        </p:txBody>
      </p:sp>
      <p:sp>
        <p:nvSpPr>
          <p:cNvPr id="3" name="内容占位符 2"/>
          <p:cNvSpPr>
            <a:spLocks noGrp="1"/>
          </p:cNvSpPr>
          <p:nvPr>
            <p:ph idx="1"/>
          </p:nvPr>
        </p:nvSpPr>
        <p:spPr>
          <a:xfrm>
            <a:off x="611560" y="1371600"/>
            <a:ext cx="8208912" cy="4937720"/>
          </a:xfrm>
        </p:spPr>
        <p:txBody>
          <a:bodyPr/>
          <a:lstStyle/>
          <a:p>
            <a:pPr algn="just">
              <a:lnSpc>
                <a:spcPct val="120000"/>
              </a:lnSpc>
            </a:pPr>
            <a:r>
              <a:rPr lang="zh-CN" altLang="en-US" dirty="0">
                <a:solidFill>
                  <a:srgbClr val="FF0000"/>
                </a:solidFill>
              </a:rPr>
              <a:t>物理卷</a:t>
            </a:r>
            <a:r>
              <a:rPr lang="en-US" altLang="zh-CN" dirty="0"/>
              <a:t>(physical volume, </a:t>
            </a:r>
            <a:r>
              <a:rPr lang="en-US" altLang="zh-CN" dirty="0">
                <a:solidFill>
                  <a:srgbClr val="FF0000"/>
                </a:solidFill>
              </a:rPr>
              <a:t>PV</a:t>
            </a:r>
            <a:r>
              <a:rPr lang="en-US" altLang="zh-CN" dirty="0"/>
              <a:t>)</a:t>
            </a:r>
            <a:r>
              <a:rPr lang="zh-CN" altLang="en-US" dirty="0"/>
              <a:t>在 </a:t>
            </a:r>
            <a:r>
              <a:rPr lang="en-US" altLang="zh-CN" dirty="0"/>
              <a:t>LVM </a:t>
            </a:r>
            <a:r>
              <a:rPr lang="zh-CN" altLang="en-US" dirty="0"/>
              <a:t>系统中处于</a:t>
            </a:r>
            <a:r>
              <a:rPr lang="zh-CN" altLang="en-US" dirty="0">
                <a:solidFill>
                  <a:srgbClr val="FF0000"/>
                </a:solidFill>
              </a:rPr>
              <a:t>最底层</a:t>
            </a:r>
          </a:p>
          <a:p>
            <a:pPr algn="just">
              <a:lnSpc>
                <a:spcPct val="120000"/>
              </a:lnSpc>
            </a:pPr>
            <a:r>
              <a:rPr lang="zh-CN" altLang="en-US" dirty="0"/>
              <a:t>物理卷可以是</a:t>
            </a:r>
            <a:r>
              <a:rPr lang="zh-CN" altLang="en-US" dirty="0">
                <a:solidFill>
                  <a:srgbClr val="FF0000"/>
                </a:solidFill>
              </a:rPr>
              <a:t>整个硬盘</a:t>
            </a:r>
            <a:r>
              <a:rPr lang="zh-CN" altLang="en-US" dirty="0"/>
              <a:t>、</a:t>
            </a:r>
            <a:r>
              <a:rPr lang="zh-CN" altLang="en-US" dirty="0">
                <a:solidFill>
                  <a:srgbClr val="FF0000"/>
                </a:solidFill>
              </a:rPr>
              <a:t>硬盘上的分区</a:t>
            </a:r>
            <a:r>
              <a:rPr lang="zh-CN" altLang="en-US" dirty="0"/>
              <a:t>或从逻辑上</a:t>
            </a:r>
            <a:r>
              <a:rPr lang="zh-CN" altLang="en-US" dirty="0">
                <a:solidFill>
                  <a:srgbClr val="FF0000"/>
                </a:solidFill>
              </a:rPr>
              <a:t>与磁盘分区具有同样功能的设备</a:t>
            </a:r>
            <a:r>
              <a:rPr lang="zh-CN" altLang="en-US" dirty="0"/>
              <a:t>（如：磁盘阵列</a:t>
            </a:r>
            <a:r>
              <a:rPr lang="en-US" altLang="zh-CN" dirty="0"/>
              <a:t>RAID</a:t>
            </a:r>
            <a:r>
              <a:rPr lang="zh-CN" altLang="en-US" dirty="0"/>
              <a:t>）</a:t>
            </a:r>
          </a:p>
          <a:p>
            <a:pPr algn="just">
              <a:lnSpc>
                <a:spcPct val="120000"/>
              </a:lnSpc>
            </a:pPr>
            <a:r>
              <a:rPr lang="zh-CN" altLang="en-US" dirty="0"/>
              <a:t>物理卷是 </a:t>
            </a:r>
            <a:r>
              <a:rPr lang="en-US" altLang="zh-CN" dirty="0"/>
              <a:t>LVM </a:t>
            </a:r>
            <a:r>
              <a:rPr lang="zh-CN" altLang="en-US" dirty="0"/>
              <a:t>的</a:t>
            </a:r>
            <a:r>
              <a:rPr lang="zh-CN" altLang="en-US" dirty="0">
                <a:solidFill>
                  <a:srgbClr val="FF0000"/>
                </a:solidFill>
              </a:rPr>
              <a:t>基本存储逻辑块</a:t>
            </a:r>
            <a:r>
              <a:rPr lang="zh-CN" altLang="en-US" dirty="0"/>
              <a:t>，但和基本的物理存储介质（如分区、磁盘等）比较，却</a:t>
            </a:r>
            <a:r>
              <a:rPr lang="zh-CN" altLang="en-US" dirty="0">
                <a:solidFill>
                  <a:srgbClr val="FF0000"/>
                </a:solidFill>
              </a:rPr>
              <a:t>包含有与 </a:t>
            </a:r>
            <a:r>
              <a:rPr lang="en-US" altLang="zh-CN" dirty="0">
                <a:solidFill>
                  <a:srgbClr val="FF0000"/>
                </a:solidFill>
              </a:rPr>
              <a:t>LVM </a:t>
            </a:r>
            <a:r>
              <a:rPr lang="zh-CN" altLang="en-US" dirty="0">
                <a:solidFill>
                  <a:srgbClr val="FF0000"/>
                </a:solidFill>
              </a:rPr>
              <a:t>相关的管理参数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物理扩展块</a:t>
            </a:r>
          </a:p>
        </p:txBody>
      </p:sp>
      <p:sp>
        <p:nvSpPr>
          <p:cNvPr id="3" name="内容占位符 2"/>
          <p:cNvSpPr>
            <a:spLocks noGrp="1"/>
          </p:cNvSpPr>
          <p:nvPr>
            <p:ph idx="1"/>
          </p:nvPr>
        </p:nvSpPr>
        <p:spPr>
          <a:xfrm>
            <a:off x="683568" y="1484784"/>
            <a:ext cx="8052445" cy="4536504"/>
          </a:xfrm>
        </p:spPr>
        <p:txBody>
          <a:bodyPr/>
          <a:lstStyle/>
          <a:p>
            <a:pPr>
              <a:lnSpc>
                <a:spcPct val="120000"/>
              </a:lnSpc>
              <a:spcAft>
                <a:spcPts val="600"/>
              </a:spcAft>
            </a:pPr>
            <a:r>
              <a:rPr lang="zh-CN" altLang="en-US" dirty="0"/>
              <a:t>每一个物理卷被划分为基本单元（称为 </a:t>
            </a:r>
            <a:r>
              <a:rPr lang="en-US" altLang="zh-CN" dirty="0"/>
              <a:t>Physical Extent, </a:t>
            </a:r>
            <a:r>
              <a:rPr lang="en-US" altLang="zh-CN" dirty="0">
                <a:solidFill>
                  <a:srgbClr val="FF0000"/>
                </a:solidFill>
              </a:rPr>
              <a:t>PE</a:t>
            </a:r>
            <a:r>
              <a:rPr lang="zh-CN" altLang="en-US" dirty="0"/>
              <a:t>），具有</a:t>
            </a:r>
            <a:r>
              <a:rPr lang="zh-CN" altLang="en-US" dirty="0">
                <a:solidFill>
                  <a:srgbClr val="FF0000"/>
                </a:solidFill>
              </a:rPr>
              <a:t>唯一编号</a:t>
            </a:r>
            <a:r>
              <a:rPr lang="zh-CN" altLang="en-US" dirty="0"/>
              <a:t>的 </a:t>
            </a:r>
            <a:r>
              <a:rPr lang="en-US" altLang="zh-CN" dirty="0"/>
              <a:t>PE </a:t>
            </a:r>
            <a:r>
              <a:rPr lang="zh-CN" altLang="en-US" dirty="0"/>
              <a:t>是</a:t>
            </a:r>
            <a:r>
              <a:rPr lang="en-US" altLang="zh-CN" dirty="0"/>
              <a:t>LVM </a:t>
            </a:r>
            <a:r>
              <a:rPr lang="zh-CN" altLang="en-US" dirty="0"/>
              <a:t>寻址的</a:t>
            </a:r>
            <a:r>
              <a:rPr lang="zh-CN" altLang="en-US" dirty="0">
                <a:solidFill>
                  <a:srgbClr val="FF0000"/>
                </a:solidFill>
              </a:rPr>
              <a:t>最小的数据存储单元</a:t>
            </a:r>
          </a:p>
          <a:p>
            <a:pPr>
              <a:lnSpc>
                <a:spcPct val="120000"/>
              </a:lnSpc>
              <a:spcAft>
                <a:spcPts val="600"/>
              </a:spcAft>
            </a:pPr>
            <a:r>
              <a:rPr lang="en-US" altLang="zh-CN" dirty="0"/>
              <a:t>PE </a:t>
            </a:r>
            <a:r>
              <a:rPr lang="zh-CN" altLang="en-US" dirty="0"/>
              <a:t>的大小可根据实际情况在创建物理卷时指定，</a:t>
            </a:r>
            <a:r>
              <a:rPr lang="zh-CN" altLang="en-US" dirty="0">
                <a:solidFill>
                  <a:srgbClr val="FF0000"/>
                </a:solidFill>
              </a:rPr>
              <a:t>默认</a:t>
            </a:r>
            <a:r>
              <a:rPr lang="zh-CN" altLang="en-US" dirty="0">
                <a:solidFill>
                  <a:schemeClr val="tx1">
                    <a:lumMod val="95000"/>
                    <a:lumOff val="5000"/>
                  </a:schemeClr>
                </a:solidFill>
              </a:rPr>
              <a:t>为</a:t>
            </a:r>
            <a:r>
              <a:rPr lang="zh-CN" altLang="en-US" dirty="0">
                <a:solidFill>
                  <a:srgbClr val="FF0000"/>
                </a:solidFill>
              </a:rPr>
              <a:t> </a:t>
            </a:r>
            <a:r>
              <a:rPr lang="en-US" altLang="zh-CN" dirty="0">
                <a:solidFill>
                  <a:srgbClr val="FF0000"/>
                </a:solidFill>
              </a:rPr>
              <a:t>4MB</a:t>
            </a:r>
            <a:r>
              <a:rPr lang="zh-CN" altLang="en-US" dirty="0"/>
              <a:t>，</a:t>
            </a:r>
            <a:r>
              <a:rPr lang="zh-CN" altLang="en-US" dirty="0">
                <a:solidFill>
                  <a:srgbClr val="FF0000"/>
                </a:solidFill>
              </a:rPr>
              <a:t>类似扇区</a:t>
            </a:r>
            <a:endParaRPr lang="en-US" altLang="zh-CN" dirty="0">
              <a:solidFill>
                <a:srgbClr val="FF0000"/>
              </a:solidFill>
            </a:endParaRPr>
          </a:p>
          <a:p>
            <a:pPr>
              <a:lnSpc>
                <a:spcPct val="120000"/>
              </a:lnSpc>
              <a:spcAft>
                <a:spcPts val="600"/>
              </a:spcAft>
            </a:pPr>
            <a:r>
              <a:rPr lang="en-US" altLang="zh-CN" dirty="0"/>
              <a:t>PE </a:t>
            </a:r>
            <a:r>
              <a:rPr lang="zh-CN" altLang="en-US" dirty="0"/>
              <a:t>的大小一旦确定将不能改变，</a:t>
            </a:r>
            <a:r>
              <a:rPr lang="zh-CN" altLang="en-US" dirty="0">
                <a:solidFill>
                  <a:srgbClr val="FF0000"/>
                </a:solidFill>
              </a:rPr>
              <a:t>同一个卷组</a:t>
            </a:r>
            <a:r>
              <a:rPr lang="zh-CN" altLang="en-US" dirty="0"/>
              <a:t>中的所有物理卷的 </a:t>
            </a:r>
            <a:r>
              <a:rPr lang="en-US" altLang="zh-CN" dirty="0">
                <a:solidFill>
                  <a:srgbClr val="FF0000"/>
                </a:solidFill>
              </a:rPr>
              <a:t>PE </a:t>
            </a:r>
            <a:r>
              <a:rPr lang="zh-CN" altLang="en-US" dirty="0"/>
              <a:t>的</a:t>
            </a:r>
            <a:r>
              <a:rPr lang="zh-CN" altLang="en-US" dirty="0">
                <a:solidFill>
                  <a:srgbClr val="FF0000"/>
                </a:solidFill>
              </a:rPr>
              <a:t>大小需要一致</a:t>
            </a:r>
            <a:endParaRPr lang="en-US" altLang="zh-CN"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卷组</a:t>
            </a:r>
          </a:p>
        </p:txBody>
      </p:sp>
      <p:sp>
        <p:nvSpPr>
          <p:cNvPr id="3" name="内容占位符 2"/>
          <p:cNvSpPr>
            <a:spLocks noGrp="1"/>
          </p:cNvSpPr>
          <p:nvPr>
            <p:ph idx="1"/>
          </p:nvPr>
        </p:nvSpPr>
        <p:spPr>
          <a:xfrm>
            <a:off x="708720" y="1484784"/>
            <a:ext cx="8238430" cy="4530725"/>
          </a:xfrm>
        </p:spPr>
        <p:txBody>
          <a:bodyPr/>
          <a:lstStyle/>
          <a:p>
            <a:pPr>
              <a:lnSpc>
                <a:spcPct val="120000"/>
              </a:lnSpc>
            </a:pPr>
            <a:r>
              <a:rPr lang="zh-CN" altLang="en-US" sz="3200" dirty="0">
                <a:solidFill>
                  <a:srgbClr val="FF0000"/>
                </a:solidFill>
              </a:rPr>
              <a:t>卷组</a:t>
            </a:r>
            <a:r>
              <a:rPr lang="en-US" altLang="zh-CN" sz="3200" dirty="0"/>
              <a:t>(Volume Group, </a:t>
            </a:r>
            <a:r>
              <a:rPr lang="en-US" altLang="zh-CN" sz="3200" dirty="0">
                <a:solidFill>
                  <a:srgbClr val="FF0000"/>
                </a:solidFill>
              </a:rPr>
              <a:t>VG</a:t>
            </a:r>
            <a:r>
              <a:rPr lang="en-US" altLang="zh-CN" sz="3200" dirty="0"/>
              <a:t>)</a:t>
            </a:r>
            <a:r>
              <a:rPr lang="zh-CN" altLang="en-US" sz="3200" dirty="0"/>
              <a:t>建立在物理卷之上，它由</a:t>
            </a:r>
            <a:r>
              <a:rPr lang="zh-CN" altLang="en-US" sz="3200" dirty="0">
                <a:solidFill>
                  <a:srgbClr val="FF0000"/>
                </a:solidFill>
              </a:rPr>
              <a:t>一个或多个物理卷</a:t>
            </a:r>
            <a:r>
              <a:rPr lang="zh-CN" altLang="en-US" sz="3200" dirty="0"/>
              <a:t>组成</a:t>
            </a:r>
          </a:p>
          <a:p>
            <a:pPr>
              <a:lnSpc>
                <a:spcPct val="120000"/>
              </a:lnSpc>
            </a:pPr>
            <a:r>
              <a:rPr lang="zh-CN" altLang="en-US" sz="3200" dirty="0"/>
              <a:t>卷组创建之后，可以</a:t>
            </a:r>
            <a:r>
              <a:rPr lang="zh-CN" altLang="en-US" sz="3200" dirty="0">
                <a:solidFill>
                  <a:srgbClr val="FF0000"/>
                </a:solidFill>
              </a:rPr>
              <a:t>动态添加物理卷</a:t>
            </a:r>
            <a:r>
              <a:rPr lang="zh-CN" altLang="en-US" sz="3200" dirty="0"/>
              <a:t>到卷组中，在卷组上可以创建</a:t>
            </a:r>
            <a:r>
              <a:rPr lang="zh-CN" altLang="en-US" sz="3200" dirty="0">
                <a:solidFill>
                  <a:srgbClr val="FF0000"/>
                </a:solidFill>
              </a:rPr>
              <a:t>一个或多个“</a:t>
            </a:r>
            <a:r>
              <a:rPr lang="en-US" altLang="zh-CN" sz="3200" dirty="0">
                <a:solidFill>
                  <a:srgbClr val="FF0000"/>
                </a:solidFill>
              </a:rPr>
              <a:t>LVM </a:t>
            </a:r>
            <a:r>
              <a:rPr lang="zh-CN" altLang="en-US" sz="3200" dirty="0">
                <a:solidFill>
                  <a:srgbClr val="FF0000"/>
                </a:solidFill>
              </a:rPr>
              <a:t>分区”（逻辑卷）</a:t>
            </a:r>
          </a:p>
          <a:p>
            <a:pPr>
              <a:lnSpc>
                <a:spcPct val="120000"/>
              </a:lnSpc>
            </a:pPr>
            <a:r>
              <a:rPr lang="zh-CN" altLang="en-US" sz="3200" dirty="0"/>
              <a:t>一个 </a:t>
            </a:r>
            <a:r>
              <a:rPr lang="en-US" altLang="zh-CN" sz="3200" dirty="0"/>
              <a:t>LVM </a:t>
            </a:r>
            <a:r>
              <a:rPr lang="zh-CN" altLang="en-US" sz="3200" dirty="0"/>
              <a:t>系统中可以只有</a:t>
            </a:r>
            <a:r>
              <a:rPr lang="zh-CN" altLang="en-US" sz="3200" dirty="0">
                <a:solidFill>
                  <a:srgbClr val="FF0000"/>
                </a:solidFill>
              </a:rPr>
              <a:t>一个卷组</a:t>
            </a:r>
            <a:r>
              <a:rPr lang="zh-CN" altLang="en-US" sz="3200" dirty="0"/>
              <a:t>，也可以包含</a:t>
            </a:r>
            <a:r>
              <a:rPr lang="zh-CN" altLang="en-US" sz="3200" dirty="0">
                <a:solidFill>
                  <a:srgbClr val="FF0000"/>
                </a:solidFill>
              </a:rPr>
              <a:t>多个卷组</a:t>
            </a:r>
          </a:p>
          <a:p>
            <a:pPr>
              <a:lnSpc>
                <a:spcPct val="120000"/>
              </a:lnSpc>
            </a:pPr>
            <a:r>
              <a:rPr lang="en-US" altLang="zh-CN" sz="3200" dirty="0"/>
              <a:t>LVM </a:t>
            </a:r>
            <a:r>
              <a:rPr lang="zh-CN" altLang="en-US" sz="3200" dirty="0"/>
              <a:t>的卷组</a:t>
            </a:r>
            <a:r>
              <a:rPr lang="zh-CN" altLang="en-US" sz="3200" dirty="0">
                <a:solidFill>
                  <a:srgbClr val="FF0000"/>
                </a:solidFill>
              </a:rPr>
              <a:t>类似</a:t>
            </a:r>
            <a:r>
              <a:rPr lang="zh-CN" altLang="en-US" sz="3200" dirty="0"/>
              <a:t>于非</a:t>
            </a:r>
            <a:r>
              <a:rPr lang="en-US" altLang="zh-CN" sz="3200" dirty="0"/>
              <a:t>LVM</a:t>
            </a:r>
            <a:r>
              <a:rPr lang="zh-CN" altLang="en-US" sz="3200" dirty="0"/>
              <a:t>系统中的物理</a:t>
            </a:r>
            <a:r>
              <a:rPr lang="zh-CN" altLang="en-US" sz="3200" dirty="0">
                <a:solidFill>
                  <a:srgbClr val="FF0000"/>
                </a:solidFill>
              </a:rPr>
              <a:t>硬盘</a:t>
            </a:r>
            <a:endParaRPr lang="zh-CN" altLang="en-US"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逻辑卷</a:t>
            </a:r>
          </a:p>
        </p:txBody>
      </p:sp>
      <p:sp>
        <p:nvSpPr>
          <p:cNvPr id="3" name="内容占位符 2"/>
          <p:cNvSpPr>
            <a:spLocks noGrp="1"/>
          </p:cNvSpPr>
          <p:nvPr>
            <p:ph idx="1"/>
          </p:nvPr>
        </p:nvSpPr>
        <p:spPr>
          <a:xfrm>
            <a:off x="963613" y="1484784"/>
            <a:ext cx="7983537" cy="5112568"/>
          </a:xfrm>
        </p:spPr>
        <p:txBody>
          <a:bodyPr/>
          <a:lstStyle/>
          <a:p>
            <a:pPr>
              <a:lnSpc>
                <a:spcPct val="120000"/>
              </a:lnSpc>
            </a:pPr>
            <a:r>
              <a:rPr lang="zh-CN" altLang="en-US" dirty="0">
                <a:solidFill>
                  <a:srgbClr val="FF0000"/>
                </a:solidFill>
              </a:rPr>
              <a:t>逻辑卷</a:t>
            </a:r>
            <a:r>
              <a:rPr lang="en-US" altLang="zh-CN" dirty="0"/>
              <a:t>(Logical Volume, </a:t>
            </a:r>
            <a:r>
              <a:rPr lang="en-US" altLang="zh-CN" dirty="0">
                <a:solidFill>
                  <a:srgbClr val="FF0000"/>
                </a:solidFill>
              </a:rPr>
              <a:t>LV</a:t>
            </a:r>
            <a:r>
              <a:rPr lang="en-US" altLang="zh-CN" dirty="0"/>
              <a:t>)</a:t>
            </a:r>
            <a:r>
              <a:rPr lang="zh-CN" altLang="en-US" dirty="0"/>
              <a:t>建立在卷组之上，它是从卷组中“切出”的一块空间</a:t>
            </a:r>
          </a:p>
          <a:p>
            <a:pPr>
              <a:lnSpc>
                <a:spcPct val="120000"/>
              </a:lnSpc>
            </a:pPr>
            <a:r>
              <a:rPr lang="zh-CN" altLang="en-US" dirty="0"/>
              <a:t>逻辑卷创建之后，其</a:t>
            </a:r>
            <a:r>
              <a:rPr lang="zh-CN" altLang="en-US" dirty="0">
                <a:solidFill>
                  <a:srgbClr val="FF0000"/>
                </a:solidFill>
              </a:rPr>
              <a:t>大小可以伸缩</a:t>
            </a:r>
          </a:p>
          <a:p>
            <a:pPr>
              <a:lnSpc>
                <a:spcPct val="120000"/>
              </a:lnSpc>
            </a:pPr>
            <a:r>
              <a:rPr lang="en-US" altLang="zh-CN" dirty="0"/>
              <a:t>LVM </a:t>
            </a:r>
            <a:r>
              <a:rPr lang="zh-CN" altLang="en-US" dirty="0"/>
              <a:t>的逻辑卷</a:t>
            </a:r>
            <a:r>
              <a:rPr lang="zh-CN" altLang="en-US" dirty="0">
                <a:solidFill>
                  <a:srgbClr val="FF0000"/>
                </a:solidFill>
              </a:rPr>
              <a:t>类似</a:t>
            </a:r>
            <a:r>
              <a:rPr lang="zh-CN" altLang="en-US" dirty="0"/>
              <a:t>于非 </a:t>
            </a:r>
            <a:r>
              <a:rPr lang="en-US" altLang="zh-CN" dirty="0"/>
              <a:t>LVM </a:t>
            </a:r>
            <a:r>
              <a:rPr lang="zh-CN" altLang="en-US" dirty="0"/>
              <a:t>系统中的硬盘</a:t>
            </a:r>
            <a:r>
              <a:rPr lang="zh-CN" altLang="en-US" dirty="0">
                <a:solidFill>
                  <a:srgbClr val="FF0000"/>
                </a:solidFill>
              </a:rPr>
              <a:t>分区</a:t>
            </a:r>
            <a:r>
              <a:rPr lang="zh-CN" altLang="en-US" dirty="0"/>
              <a:t>，可以被格式化使用</a:t>
            </a:r>
            <a:endParaRPr lang="en-US" altLang="zh-CN" dirty="0"/>
          </a:p>
          <a:p>
            <a:pPr>
              <a:lnSpc>
                <a:spcPct val="120000"/>
              </a:lnSpc>
            </a:pPr>
            <a:r>
              <a:rPr lang="zh-CN" altLang="en-US" dirty="0"/>
              <a:t>在</a:t>
            </a:r>
            <a:r>
              <a:rPr lang="zh-CN" altLang="en-US" dirty="0">
                <a:solidFill>
                  <a:srgbClr val="FF0000"/>
                </a:solidFill>
              </a:rPr>
              <a:t>逻辑卷之上</a:t>
            </a:r>
            <a:r>
              <a:rPr lang="zh-CN" altLang="en-US" dirty="0"/>
              <a:t>可以</a:t>
            </a:r>
            <a:r>
              <a:rPr lang="zh-CN" altLang="en-US" dirty="0">
                <a:solidFill>
                  <a:srgbClr val="FF0000"/>
                </a:solidFill>
              </a:rPr>
              <a:t>建立文件系统 </a:t>
            </a:r>
            <a:r>
              <a:rPr lang="zh-CN" altLang="en-US" dirty="0"/>
              <a:t>（比如 </a:t>
            </a:r>
            <a:r>
              <a:rPr lang="en-US" altLang="zh-CN" dirty="0"/>
              <a:t>/home </a:t>
            </a:r>
            <a:r>
              <a:rPr lang="zh-CN" altLang="en-US" dirty="0"/>
              <a:t>或者 </a:t>
            </a:r>
            <a:r>
              <a:rPr lang="en-US" altLang="zh-CN" dirty="0"/>
              <a:t>/</a:t>
            </a:r>
            <a:r>
              <a:rPr lang="en-US" altLang="zh-CN" dirty="0" err="1"/>
              <a:t>usr</a:t>
            </a:r>
            <a:r>
              <a:rPr lang="en-US" altLang="zh-CN" dirty="0"/>
              <a:t> </a:t>
            </a:r>
            <a:r>
              <a:rPr lang="zh-CN" altLang="en-US" dirty="0"/>
              <a:t>等）</a:t>
            </a:r>
            <a:endParaRPr lang="en-US" altLang="zh-CN" dirty="0"/>
          </a:p>
          <a:p>
            <a:pPr>
              <a:lnSpc>
                <a:spcPct val="120000"/>
              </a:lnSpc>
            </a:pPr>
            <a:r>
              <a:rPr lang="en-US" altLang="zh-CN" dirty="0"/>
              <a:t>LV</a:t>
            </a:r>
            <a:r>
              <a:rPr lang="zh-CN" altLang="en-US" dirty="0"/>
              <a:t>设备文件名：</a:t>
            </a:r>
            <a:r>
              <a:rPr lang="en-US" altLang="zh-CN" dirty="0">
                <a:solidFill>
                  <a:srgbClr val="FF0000"/>
                </a:solidFill>
              </a:rPr>
              <a:t>/dev/</a:t>
            </a:r>
            <a:r>
              <a:rPr lang="en-US" altLang="zh-CN" dirty="0" err="1">
                <a:solidFill>
                  <a:srgbClr val="FF0000"/>
                </a:solidFill>
              </a:rPr>
              <a:t>vgname</a:t>
            </a:r>
            <a:r>
              <a:rPr lang="en-US" altLang="zh-CN" dirty="0">
                <a:solidFill>
                  <a:srgbClr val="FF0000"/>
                </a:solidFill>
              </a:rPr>
              <a:t>/</a:t>
            </a:r>
            <a:r>
              <a:rPr lang="en-US" altLang="zh-CN" dirty="0" err="1">
                <a:solidFill>
                  <a:srgbClr val="FF0000"/>
                </a:solidFill>
              </a:rPr>
              <a:t>lvname</a:t>
            </a:r>
            <a:endParaRPr lang="zh-CN" altLang="en-US"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a:t>
            </a:r>
            <a:r>
              <a:rPr lang="zh-CN" altLang="en-US" dirty="0"/>
              <a:t>逻辑扩展区域</a:t>
            </a:r>
          </a:p>
        </p:txBody>
      </p:sp>
      <p:sp>
        <p:nvSpPr>
          <p:cNvPr id="3" name="内容占位符 2"/>
          <p:cNvSpPr>
            <a:spLocks noGrp="1"/>
          </p:cNvSpPr>
          <p:nvPr>
            <p:ph idx="1"/>
          </p:nvPr>
        </p:nvSpPr>
        <p:spPr/>
        <p:txBody>
          <a:bodyPr/>
          <a:lstStyle/>
          <a:p>
            <a:pPr>
              <a:lnSpc>
                <a:spcPct val="120000"/>
              </a:lnSpc>
            </a:pPr>
            <a:r>
              <a:rPr lang="zh-CN" altLang="en-US" dirty="0"/>
              <a:t>逻辑卷也被划分为</a:t>
            </a:r>
            <a:r>
              <a:rPr lang="zh-CN" altLang="en-US" dirty="0">
                <a:solidFill>
                  <a:srgbClr val="FF0000"/>
                </a:solidFill>
              </a:rPr>
              <a:t>可被寻址的基本单位</a:t>
            </a:r>
            <a:r>
              <a:rPr lang="zh-CN" altLang="en-US" dirty="0"/>
              <a:t>（称为 </a:t>
            </a:r>
            <a:r>
              <a:rPr lang="en-US" altLang="zh-CN" dirty="0"/>
              <a:t>Logical Extent, </a:t>
            </a:r>
            <a:r>
              <a:rPr lang="en-US" altLang="zh-CN" dirty="0">
                <a:solidFill>
                  <a:srgbClr val="FF0000"/>
                </a:solidFill>
              </a:rPr>
              <a:t>LE</a:t>
            </a:r>
            <a:r>
              <a:rPr lang="zh-CN" altLang="en-US" dirty="0"/>
              <a:t>）</a:t>
            </a:r>
          </a:p>
          <a:p>
            <a:pPr>
              <a:lnSpc>
                <a:spcPct val="120000"/>
              </a:lnSpc>
            </a:pPr>
            <a:r>
              <a:rPr lang="zh-CN" altLang="en-US" dirty="0"/>
              <a:t>在同一个卷组中，</a:t>
            </a:r>
            <a:r>
              <a:rPr lang="en-US" altLang="zh-CN" dirty="0">
                <a:solidFill>
                  <a:srgbClr val="FF0000"/>
                </a:solidFill>
              </a:rPr>
              <a:t>LE </a:t>
            </a:r>
            <a:r>
              <a:rPr lang="zh-CN" altLang="en-US" dirty="0">
                <a:solidFill>
                  <a:srgbClr val="FF0000"/>
                </a:solidFill>
              </a:rPr>
              <a:t>的大小和 </a:t>
            </a:r>
            <a:r>
              <a:rPr lang="en-US" altLang="zh-CN" dirty="0">
                <a:solidFill>
                  <a:srgbClr val="FF0000"/>
                </a:solidFill>
              </a:rPr>
              <a:t>PE </a:t>
            </a:r>
            <a:r>
              <a:rPr lang="zh-CN" altLang="en-US" dirty="0">
                <a:solidFill>
                  <a:srgbClr val="FF0000"/>
                </a:solidFill>
              </a:rPr>
              <a:t>是相同的，并且一一对应</a:t>
            </a:r>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a:t>
            </a:r>
            <a:r>
              <a:rPr lang="zh-CN" altLang="en-US" dirty="0"/>
              <a:t>术语</a:t>
            </a:r>
            <a:r>
              <a:rPr lang="en-US" altLang="zh-CN" dirty="0"/>
              <a:t>—— VGDA</a:t>
            </a:r>
            <a:endParaRPr lang="zh-CN" altLang="en-US" dirty="0"/>
          </a:p>
        </p:txBody>
      </p:sp>
      <p:sp>
        <p:nvSpPr>
          <p:cNvPr id="3" name="内容占位符 2"/>
          <p:cNvSpPr>
            <a:spLocks noGrp="1"/>
          </p:cNvSpPr>
          <p:nvPr>
            <p:ph idx="1"/>
          </p:nvPr>
        </p:nvSpPr>
        <p:spPr>
          <a:xfrm>
            <a:off x="971600" y="1628800"/>
            <a:ext cx="7772400" cy="4114800"/>
          </a:xfrm>
        </p:spPr>
        <p:txBody>
          <a:bodyPr/>
          <a:lstStyle/>
          <a:p>
            <a:pPr>
              <a:lnSpc>
                <a:spcPct val="120000"/>
              </a:lnSpc>
            </a:pPr>
            <a:r>
              <a:rPr lang="zh-CN" altLang="en-US" dirty="0"/>
              <a:t>和非 </a:t>
            </a:r>
            <a:r>
              <a:rPr lang="en-US" altLang="zh-CN" dirty="0"/>
              <a:t>LVM </a:t>
            </a:r>
            <a:r>
              <a:rPr lang="zh-CN" altLang="en-US" dirty="0"/>
              <a:t>系统将包含分区信息的元数据保存在位于分区的起始位置的分区表中一样，</a:t>
            </a:r>
            <a:r>
              <a:rPr lang="zh-CN" altLang="en-US" dirty="0">
                <a:solidFill>
                  <a:srgbClr val="FF0000"/>
                </a:solidFill>
              </a:rPr>
              <a:t>逻辑卷以及卷组相关的元数据</a:t>
            </a:r>
            <a:r>
              <a:rPr lang="zh-CN" altLang="en-US" dirty="0"/>
              <a:t>也是保存在位于</a:t>
            </a:r>
            <a:r>
              <a:rPr lang="zh-CN" altLang="en-US" dirty="0">
                <a:solidFill>
                  <a:srgbClr val="FF0000"/>
                </a:solidFill>
              </a:rPr>
              <a:t>物理卷起始处的卷组描述符区域 </a:t>
            </a:r>
            <a:r>
              <a:rPr lang="en-US" altLang="zh-CN" dirty="0"/>
              <a:t>(Volume Group Descriptor Area, </a:t>
            </a:r>
            <a:r>
              <a:rPr lang="en-US" altLang="zh-CN" dirty="0">
                <a:solidFill>
                  <a:srgbClr val="FF0000"/>
                </a:solidFill>
              </a:rPr>
              <a:t>VGDA</a:t>
            </a:r>
            <a:r>
              <a:rPr lang="en-US" altLang="zh-CN" dirty="0"/>
              <a:t>)</a:t>
            </a:r>
            <a:r>
              <a:rPr lang="zh-CN" altLang="en-US" dirty="0"/>
              <a:t>中</a:t>
            </a:r>
            <a:r>
              <a:rPr lang="en-US" altLang="zh-CN" dirty="0"/>
              <a:t>——</a:t>
            </a:r>
            <a:r>
              <a:rPr lang="zh-CN" altLang="en-US" dirty="0">
                <a:solidFill>
                  <a:srgbClr val="FF0000"/>
                </a:solidFill>
              </a:rPr>
              <a:t>类似</a:t>
            </a:r>
            <a:r>
              <a:rPr lang="en-US" altLang="zh-CN" dirty="0">
                <a:solidFill>
                  <a:srgbClr val="FF0000"/>
                </a:solidFill>
              </a:rPr>
              <a:t>MBR</a:t>
            </a:r>
            <a:r>
              <a:rPr lang="zh-CN" altLang="en-US" dirty="0">
                <a:solidFill>
                  <a:srgbClr val="FF0000"/>
                </a:solidFill>
              </a:rPr>
              <a:t>等</a:t>
            </a:r>
          </a:p>
          <a:p>
            <a:pPr>
              <a:lnSpc>
                <a:spcPct val="120000"/>
              </a:lnSpc>
            </a:pPr>
            <a:r>
              <a:rPr lang="en-US" altLang="zh-CN" dirty="0"/>
              <a:t>VGDA </a:t>
            </a:r>
            <a:r>
              <a:rPr lang="zh-CN" altLang="en-US" dirty="0"/>
              <a:t>包括以下内容： </a:t>
            </a:r>
            <a:r>
              <a:rPr lang="en-US" altLang="zh-CN" dirty="0"/>
              <a:t>PV</a:t>
            </a:r>
            <a:r>
              <a:rPr lang="zh-CN" altLang="en-US" dirty="0"/>
              <a:t>描述符、</a:t>
            </a:r>
            <a:r>
              <a:rPr lang="en-US" altLang="zh-CN" dirty="0"/>
              <a:t>VG</a:t>
            </a:r>
            <a:r>
              <a:rPr lang="zh-CN" altLang="en-US" dirty="0"/>
              <a:t>描述符、</a:t>
            </a:r>
            <a:r>
              <a:rPr lang="en-US" altLang="zh-CN" dirty="0"/>
              <a:t>LV</a:t>
            </a:r>
            <a:r>
              <a:rPr lang="zh-CN" altLang="en-US" dirty="0"/>
              <a:t>描述符、和一些</a:t>
            </a:r>
            <a:r>
              <a:rPr lang="en-US" altLang="zh-CN" dirty="0"/>
              <a:t>PE</a:t>
            </a:r>
            <a:r>
              <a:rPr lang="zh-CN" altLang="en-US" dirty="0"/>
              <a:t>描述符</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PV-VG-LV-PE </a:t>
            </a:r>
            <a:r>
              <a:rPr lang="zh-CN" altLang="en-US" dirty="0"/>
              <a:t>关系图</a:t>
            </a:r>
          </a:p>
        </p:txBody>
      </p:sp>
      <p:pic>
        <p:nvPicPr>
          <p:cNvPr id="7" name="Picture 4"/>
          <p:cNvPicPr>
            <a:picLocks noGrp="1" noChangeAspect="1" noChangeArrowheads="1"/>
          </p:cNvPicPr>
          <p:nvPr>
            <p:ph idx="1"/>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1115616" y="1412776"/>
            <a:ext cx="7466495" cy="4947404"/>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VG-LV-PE </a:t>
            </a:r>
            <a:r>
              <a:rPr lang="zh-CN" altLang="en-US" dirty="0"/>
              <a:t>关系图</a:t>
            </a:r>
          </a:p>
        </p:txBody>
      </p:sp>
      <p:pic>
        <p:nvPicPr>
          <p:cNvPr id="11266" name="Picture 2" descr="PE 与 VG 的相关性图示">
            <a:extLst>
              <a:ext uri="{FF2B5EF4-FFF2-40B4-BE49-F238E27FC236}">
                <a16:creationId xmlns:a16="http://schemas.microsoft.com/office/drawing/2014/main" id="{6A1EFA74-1339-4E11-9016-1B6B40B33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718" y="1336610"/>
            <a:ext cx="5276570" cy="298542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BD67DE5B-9F26-46FB-938C-071340C5EF87}"/>
              </a:ext>
            </a:extLst>
          </p:cNvPr>
          <p:cNvSpPr txBox="1"/>
          <p:nvPr/>
        </p:nvSpPr>
        <p:spPr>
          <a:xfrm>
            <a:off x="827584" y="4524758"/>
            <a:ext cx="7793037" cy="2363724"/>
          </a:xfrm>
          <a:prstGeom prst="rect">
            <a:avLst/>
          </a:prstGeom>
          <a:noFill/>
        </p:spPr>
        <p:txBody>
          <a:bodyPr wrap="square">
            <a:spAutoFit/>
          </a:bodyPr>
          <a:lstStyle/>
          <a:p>
            <a:pPr marL="342900" indent="-342900" eaLnBrk="0" hangingPunct="0">
              <a:lnSpc>
                <a:spcPct val="120000"/>
              </a:lnSpc>
              <a:spcBef>
                <a:spcPct val="20000"/>
              </a:spcBef>
              <a:buClr>
                <a:schemeClr val="folHlink"/>
              </a:buClr>
              <a:buSzPct val="60000"/>
              <a:buFont typeface="Wingdings" panose="05000000000000000000" pitchFamily="2" charset="2"/>
              <a:buChar char="n"/>
            </a:pPr>
            <a:r>
              <a:rPr lang="en-US" altLang="zh-CN" sz="2800" dirty="0">
                <a:solidFill>
                  <a:srgbClr val="0000FF"/>
                </a:solidFill>
                <a:latin typeface="Tahoma" panose="020B0604030504040204" pitchFamily="34" charset="0"/>
              </a:rPr>
              <a:t>LVM </a:t>
            </a:r>
            <a:r>
              <a:rPr lang="zh-CN" altLang="en-US" sz="2800" dirty="0">
                <a:solidFill>
                  <a:srgbClr val="0000FF"/>
                </a:solidFill>
                <a:latin typeface="Tahoma" panose="020B0604030504040204" pitchFamily="34" charset="0"/>
              </a:rPr>
              <a:t>如何实现可弹性的变更文件系统的容量？</a:t>
            </a:r>
            <a:endParaRPr lang="en-US" altLang="zh-CN" sz="2800" dirty="0">
              <a:solidFill>
                <a:srgbClr val="0000FF"/>
              </a:solidFill>
              <a:latin typeface="Tahoma" panose="020B0604030504040204" pitchFamily="34" charset="0"/>
            </a:endParaRPr>
          </a:p>
          <a:p>
            <a:pPr marL="742950" lvl="1" indent="-285750" eaLnBrk="0" hangingPunct="0">
              <a:spcBef>
                <a:spcPts val="0"/>
              </a:spcBef>
              <a:buClr>
                <a:schemeClr val="folHlink"/>
              </a:buClr>
              <a:buSzPct val="60000"/>
              <a:buFont typeface="Wingdings" panose="05000000000000000000" pitchFamily="2" charset="2"/>
              <a:buChar char="l"/>
            </a:pPr>
            <a:r>
              <a:rPr lang="zh-CN" altLang="en-US" sz="2400" b="1" dirty="0">
                <a:latin typeface="Tahoma" panose="020B0604030504040204" pitchFamily="34" charset="0"/>
              </a:rPr>
              <a:t>通过</a:t>
            </a:r>
            <a:r>
              <a:rPr lang="zh-CN" altLang="en-US" sz="2400" b="1" dirty="0">
                <a:solidFill>
                  <a:srgbClr val="FF0000"/>
                </a:solidFill>
                <a:latin typeface="Tahoma" panose="020B0604030504040204" pitchFamily="34" charset="0"/>
              </a:rPr>
              <a:t>交换 </a:t>
            </a:r>
            <a:r>
              <a:rPr lang="en-US" altLang="zh-CN" sz="2400" b="1" dirty="0">
                <a:solidFill>
                  <a:srgbClr val="FF0000"/>
                </a:solidFill>
                <a:latin typeface="Tahoma" panose="020B0604030504040204" pitchFamily="34" charset="0"/>
              </a:rPr>
              <a:t>PE </a:t>
            </a:r>
            <a:r>
              <a:rPr lang="zh-CN" altLang="en-US" sz="2400" b="1" dirty="0">
                <a:latin typeface="Tahoma" panose="020B0604030504040204" pitchFamily="34" charset="0"/>
              </a:rPr>
              <a:t>来进行数据转换， 将原本 </a:t>
            </a:r>
            <a:r>
              <a:rPr lang="en-US" altLang="zh-CN" sz="2400" b="1" dirty="0">
                <a:latin typeface="Tahoma" panose="020B0604030504040204" pitchFamily="34" charset="0"/>
              </a:rPr>
              <a:t>LV </a:t>
            </a:r>
            <a:r>
              <a:rPr lang="zh-CN" altLang="en-US" sz="2400" b="1" dirty="0">
                <a:latin typeface="Tahoma" panose="020B0604030504040204" pitchFamily="34" charset="0"/>
              </a:rPr>
              <a:t>内的 </a:t>
            </a:r>
            <a:r>
              <a:rPr lang="en-US" altLang="zh-CN" sz="2400" b="1" dirty="0">
                <a:latin typeface="Tahoma" panose="020B0604030504040204" pitchFamily="34" charset="0"/>
              </a:rPr>
              <a:t>PE </a:t>
            </a:r>
            <a:r>
              <a:rPr lang="zh-CN" altLang="en-US" sz="2400" b="1" dirty="0">
                <a:latin typeface="Tahoma" panose="020B0604030504040204" pitchFamily="34" charset="0"/>
              </a:rPr>
              <a:t>移转到其他设备中以</a:t>
            </a:r>
            <a:r>
              <a:rPr lang="zh-CN" altLang="en-US" sz="2400" b="1" dirty="0">
                <a:solidFill>
                  <a:srgbClr val="FF0000"/>
                </a:solidFill>
                <a:latin typeface="Tahoma" panose="020B0604030504040204" pitchFamily="34" charset="0"/>
              </a:rPr>
              <a:t>降低 </a:t>
            </a:r>
            <a:r>
              <a:rPr lang="en-US" altLang="zh-CN" sz="2400" b="1" dirty="0">
                <a:solidFill>
                  <a:srgbClr val="FF0000"/>
                </a:solidFill>
                <a:latin typeface="Tahoma" panose="020B0604030504040204" pitchFamily="34" charset="0"/>
              </a:rPr>
              <a:t>LV </a:t>
            </a:r>
            <a:r>
              <a:rPr lang="zh-CN" altLang="en-US" sz="2400" b="1" dirty="0">
                <a:solidFill>
                  <a:srgbClr val="FF0000"/>
                </a:solidFill>
                <a:latin typeface="Tahoma" panose="020B0604030504040204" pitchFamily="34" charset="0"/>
              </a:rPr>
              <a:t>容量</a:t>
            </a:r>
            <a:r>
              <a:rPr lang="zh-CN" altLang="en-US" sz="2400" b="1" dirty="0">
                <a:latin typeface="Tahoma" panose="020B0604030504040204" pitchFamily="34" charset="0"/>
              </a:rPr>
              <a:t>，或将其他设备的 </a:t>
            </a:r>
            <a:r>
              <a:rPr lang="en-US" altLang="zh-CN" sz="2400" b="1" dirty="0">
                <a:latin typeface="Tahoma" panose="020B0604030504040204" pitchFamily="34" charset="0"/>
              </a:rPr>
              <a:t>PE </a:t>
            </a:r>
            <a:r>
              <a:rPr lang="zh-CN" altLang="en-US" sz="2400" b="1" dirty="0">
                <a:latin typeface="Tahoma" panose="020B0604030504040204" pitchFamily="34" charset="0"/>
              </a:rPr>
              <a:t>加到此 </a:t>
            </a:r>
            <a:r>
              <a:rPr lang="en-US" altLang="zh-CN" sz="2400" b="1" dirty="0">
                <a:latin typeface="Tahoma" panose="020B0604030504040204" pitchFamily="34" charset="0"/>
              </a:rPr>
              <a:t>LV </a:t>
            </a:r>
            <a:r>
              <a:rPr lang="zh-CN" altLang="en-US" sz="2400" b="1" dirty="0">
                <a:latin typeface="Tahoma" panose="020B0604030504040204" pitchFamily="34" charset="0"/>
              </a:rPr>
              <a:t>中以</a:t>
            </a:r>
            <a:r>
              <a:rPr lang="zh-CN" altLang="en-US" sz="2400" b="1" dirty="0">
                <a:solidFill>
                  <a:srgbClr val="FF0000"/>
                </a:solidFill>
                <a:latin typeface="Tahoma" panose="020B0604030504040204" pitchFamily="34" charset="0"/>
              </a:rPr>
              <a:t>加大</a:t>
            </a:r>
            <a:r>
              <a:rPr lang="en-US" altLang="zh-CN" sz="2400" b="1" dirty="0">
                <a:solidFill>
                  <a:srgbClr val="FF0000"/>
                </a:solidFill>
                <a:latin typeface="Tahoma" panose="020B0604030504040204" pitchFamily="34" charset="0"/>
              </a:rPr>
              <a:t>LV</a:t>
            </a:r>
            <a:r>
              <a:rPr lang="zh-CN" altLang="en-US" sz="2400" b="1" dirty="0">
                <a:solidFill>
                  <a:srgbClr val="FF0000"/>
                </a:solidFill>
                <a:latin typeface="Tahoma" panose="020B0604030504040204" pitchFamily="34" charset="0"/>
              </a:rPr>
              <a:t>容量</a:t>
            </a:r>
            <a:endParaRPr lang="en-US" altLang="zh-CN" sz="2400" b="1" dirty="0">
              <a:solidFill>
                <a:srgbClr val="FF0000"/>
              </a:solidFill>
              <a:latin typeface="Tahoma" panose="020B0604030504040204" pitchFamily="34" charset="0"/>
            </a:endParaRPr>
          </a:p>
          <a:p>
            <a:pPr marL="742950" lvl="1" indent="-285750" eaLnBrk="0" hangingPunct="0">
              <a:spcBef>
                <a:spcPts val="0"/>
              </a:spcBef>
              <a:buClr>
                <a:schemeClr val="folHlink"/>
              </a:buClr>
              <a:buSzPct val="60000"/>
              <a:buFont typeface="Wingdings" panose="05000000000000000000" pitchFamily="2" charset="2"/>
              <a:buChar char="l"/>
            </a:pPr>
            <a:r>
              <a:rPr lang="en-US" altLang="zh-CN" sz="2400" b="1" dirty="0">
                <a:solidFill>
                  <a:srgbClr val="FF0000"/>
                </a:solidFill>
                <a:latin typeface="Tahoma" panose="020B0604030504040204" pitchFamily="34" charset="0"/>
              </a:rPr>
              <a:t>VG </a:t>
            </a:r>
            <a:r>
              <a:rPr lang="zh-CN" altLang="en-US" sz="2400" b="1" dirty="0">
                <a:latin typeface="Tahoma" panose="020B0604030504040204" pitchFamily="34" charset="0"/>
              </a:rPr>
              <a:t>要</a:t>
            </a:r>
            <a:r>
              <a:rPr lang="zh-CN" altLang="en-US" sz="2400" b="1" dirty="0">
                <a:solidFill>
                  <a:srgbClr val="FF0000"/>
                </a:solidFill>
                <a:latin typeface="Tahoma" panose="020B0604030504040204" pitchFamily="34" charset="0"/>
              </a:rPr>
              <a:t>扩充</a:t>
            </a:r>
            <a:r>
              <a:rPr lang="zh-CN" altLang="en-US" sz="2400" b="1" dirty="0">
                <a:latin typeface="Tahoma" panose="020B0604030504040204" pitchFamily="34" charset="0"/>
              </a:rPr>
              <a:t>的话，</a:t>
            </a:r>
            <a:r>
              <a:rPr lang="zh-CN" altLang="en-US" sz="2400" b="1" dirty="0">
                <a:solidFill>
                  <a:srgbClr val="FF0000"/>
                </a:solidFill>
                <a:latin typeface="Tahoma" panose="020B0604030504040204" pitchFamily="34" charset="0"/>
              </a:rPr>
              <a:t>加上</a:t>
            </a:r>
            <a:r>
              <a:rPr lang="zh-CN" altLang="en-US" sz="2400" b="1" dirty="0">
                <a:latin typeface="Tahoma" panose="020B0604030504040204" pitchFamily="34" charset="0"/>
              </a:rPr>
              <a:t>其他的</a:t>
            </a:r>
            <a:r>
              <a:rPr lang="zh-CN" altLang="en-US" sz="2400" b="1" dirty="0">
                <a:solidFill>
                  <a:srgbClr val="FF0000"/>
                </a:solidFill>
                <a:latin typeface="Tahoma" panose="020B0604030504040204" pitchFamily="34" charset="0"/>
              </a:rPr>
              <a:t> </a:t>
            </a:r>
            <a:r>
              <a:rPr lang="en-US" altLang="zh-CN" sz="2400" b="1" dirty="0">
                <a:solidFill>
                  <a:srgbClr val="FF0000"/>
                </a:solidFill>
                <a:latin typeface="Tahoma" panose="020B0604030504040204" pitchFamily="34" charset="0"/>
              </a:rPr>
              <a:t>PV </a:t>
            </a:r>
            <a:r>
              <a:rPr lang="zh-CN" altLang="en-US" sz="2400" b="1" dirty="0">
                <a:latin typeface="Tahoma" panose="020B0604030504040204" pitchFamily="34" charset="0"/>
              </a:rPr>
              <a:t>即可</a:t>
            </a:r>
          </a:p>
          <a:p>
            <a:endParaRPr lang="zh-CN" altLang="en-US" dirty="0"/>
          </a:p>
        </p:txBody>
      </p:sp>
    </p:spTree>
    <p:extLst>
      <p:ext uri="{BB962C8B-B14F-4D97-AF65-F5344CB8AC3E}">
        <p14:creationId xmlns:p14="http://schemas.microsoft.com/office/powerpoint/2010/main" val="327472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 </a:t>
            </a:r>
            <a:r>
              <a:rPr lang="zh-CN" altLang="en-US" dirty="0"/>
              <a:t>与文件系统之间的关系</a:t>
            </a:r>
          </a:p>
        </p:txBody>
      </p:sp>
      <p:sp>
        <p:nvSpPr>
          <p:cNvPr id="3" name="内容占位符 2"/>
          <p:cNvSpPr>
            <a:spLocks noGrp="1"/>
          </p:cNvSpPr>
          <p:nvPr>
            <p:ph idx="1"/>
          </p:nvPr>
        </p:nvSpPr>
        <p:spPr>
          <a:xfrm>
            <a:off x="611560" y="1579245"/>
            <a:ext cx="2674640" cy="4862165"/>
          </a:xfrm>
        </p:spPr>
        <p:txBody>
          <a:bodyPr/>
          <a:lstStyle/>
          <a:p>
            <a:r>
              <a:rPr lang="en-US" altLang="zh-CN" sz="2800" dirty="0">
                <a:solidFill>
                  <a:srgbClr val="FF0000"/>
                </a:solidFill>
              </a:rPr>
              <a:t>/boot </a:t>
            </a:r>
            <a:r>
              <a:rPr lang="zh-CN" altLang="en-US" sz="2800" dirty="0">
                <a:solidFill>
                  <a:srgbClr val="FF0000"/>
                </a:solidFill>
              </a:rPr>
              <a:t>分区不能位于卷组中</a:t>
            </a:r>
            <a:r>
              <a:rPr lang="zh-CN" altLang="en-US" sz="2800" dirty="0"/>
              <a:t>，因为引导装载程序无法从逻辑卷中读取</a:t>
            </a:r>
            <a:endParaRPr lang="en-US" altLang="zh-CN" sz="2800" dirty="0"/>
          </a:p>
          <a:p>
            <a:r>
              <a:rPr lang="zh-CN" altLang="en-US" sz="2800" dirty="0"/>
              <a:t>如果把 </a:t>
            </a:r>
            <a:r>
              <a:rPr lang="en-US" altLang="zh-CN" sz="2800" dirty="0">
                <a:solidFill>
                  <a:srgbClr val="FF0000"/>
                </a:solidFill>
              </a:rPr>
              <a:t>/ </a:t>
            </a:r>
            <a:r>
              <a:rPr lang="zh-CN" altLang="en-US" sz="2800" dirty="0">
                <a:solidFill>
                  <a:srgbClr val="FF0000"/>
                </a:solidFill>
              </a:rPr>
              <a:t>分区</a:t>
            </a:r>
            <a:r>
              <a:rPr lang="zh-CN" altLang="en-US" sz="2800" dirty="0"/>
              <a:t>放在</a:t>
            </a:r>
            <a:r>
              <a:rPr lang="zh-CN" altLang="en-US" sz="2800" dirty="0">
                <a:solidFill>
                  <a:srgbClr val="FF0000"/>
                </a:solidFill>
              </a:rPr>
              <a:t>逻辑卷</a:t>
            </a:r>
            <a:r>
              <a:rPr lang="zh-CN" altLang="en-US" sz="2800" dirty="0"/>
              <a:t>上，必须创建一个</a:t>
            </a:r>
            <a:r>
              <a:rPr lang="zh-CN" altLang="en-US" sz="2800" dirty="0">
                <a:solidFill>
                  <a:srgbClr val="FF0000"/>
                </a:solidFill>
              </a:rPr>
              <a:t>与卷组分离</a:t>
            </a:r>
            <a:r>
              <a:rPr lang="zh-CN" altLang="en-US" sz="2800" dirty="0"/>
              <a:t>的 </a:t>
            </a:r>
            <a:r>
              <a:rPr lang="en-US" altLang="zh-CN" sz="2800" dirty="0">
                <a:solidFill>
                  <a:srgbClr val="FF0000"/>
                </a:solidFill>
              </a:rPr>
              <a:t>/boot </a:t>
            </a:r>
            <a:r>
              <a:rPr lang="zh-CN" altLang="en-US" sz="2800" dirty="0">
                <a:solidFill>
                  <a:srgbClr val="FF0000"/>
                </a:solidFill>
              </a:rPr>
              <a:t>分区</a:t>
            </a:r>
          </a:p>
        </p:txBody>
      </p:sp>
      <p:pic>
        <p:nvPicPr>
          <p:cNvPr id="7" name="Picture 4"/>
          <p:cNvPicPr>
            <a:picLocks noChangeAspect="1" noChangeArrowheads="1"/>
          </p:cNvPicPr>
          <p:nvPr/>
        </p:nvPicPr>
        <p:blipFill>
          <a:blip r:embed="rId2" cstate="print"/>
          <a:srcRect/>
          <a:stretch>
            <a:fillRect/>
          </a:stretch>
        </p:blipFill>
        <p:spPr bwMode="auto">
          <a:xfrm>
            <a:off x="3491880" y="1582427"/>
            <a:ext cx="5545138" cy="41783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PV-VG-LV </a:t>
            </a:r>
            <a:r>
              <a:rPr lang="zh-CN" altLang="en-US" dirty="0"/>
              <a:t>的设备名</a:t>
            </a:r>
          </a:p>
        </p:txBody>
      </p:sp>
      <p:pic>
        <p:nvPicPr>
          <p:cNvPr id="7" name="Picture 4"/>
          <p:cNvPicPr>
            <a:picLocks noGrp="1" noChangeAspect="1" noChangeArrowheads="1"/>
          </p:cNvPicPr>
          <p:nvPr>
            <p:ph idx="1"/>
          </p:nvPr>
        </p:nvPicPr>
        <p:blipFill>
          <a:blip r:embed="rId3" cstate="print"/>
          <a:srcRect/>
          <a:stretch>
            <a:fillRect/>
          </a:stretch>
        </p:blipFill>
        <p:spPr bwMode="auto">
          <a:xfrm>
            <a:off x="431420" y="2060848"/>
            <a:ext cx="8515730" cy="2448272"/>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 </a:t>
            </a:r>
            <a:r>
              <a:rPr lang="en-US" altLang="zh-CN" dirty="0"/>
              <a:t>LVM </a:t>
            </a:r>
            <a:r>
              <a:rPr lang="zh-CN" altLang="en-US" dirty="0"/>
              <a:t>系统的步骤</a:t>
            </a:r>
          </a:p>
        </p:txBody>
      </p:sp>
      <p:sp>
        <p:nvSpPr>
          <p:cNvPr id="3" name="内容占位符 2"/>
          <p:cNvSpPr>
            <a:spLocks noGrp="1"/>
          </p:cNvSpPr>
          <p:nvPr>
            <p:ph idx="1"/>
          </p:nvPr>
        </p:nvSpPr>
        <p:spPr>
          <a:xfrm>
            <a:off x="1154113" y="1628800"/>
            <a:ext cx="7772400" cy="4114800"/>
          </a:xfrm>
        </p:spPr>
        <p:txBody>
          <a:bodyPr/>
          <a:lstStyle/>
          <a:p>
            <a:pPr>
              <a:lnSpc>
                <a:spcPct val="130000"/>
              </a:lnSpc>
            </a:pPr>
            <a:r>
              <a:rPr lang="zh-CN" altLang="en-US" dirty="0"/>
              <a:t>创建 </a:t>
            </a:r>
            <a:r>
              <a:rPr lang="en-US" altLang="zh-CN" dirty="0"/>
              <a:t>LVM </a:t>
            </a:r>
            <a:r>
              <a:rPr lang="zh-CN" altLang="en-US" dirty="0"/>
              <a:t>类型的</a:t>
            </a:r>
            <a:r>
              <a:rPr lang="zh-CN" altLang="en-US" dirty="0">
                <a:solidFill>
                  <a:srgbClr val="FF0000"/>
                </a:solidFill>
              </a:rPr>
              <a:t>分区</a:t>
            </a:r>
          </a:p>
          <a:p>
            <a:pPr>
              <a:lnSpc>
                <a:spcPct val="130000"/>
              </a:lnSpc>
            </a:pPr>
            <a:r>
              <a:rPr lang="zh-CN" altLang="en-US" dirty="0"/>
              <a:t>在新硬盘上</a:t>
            </a:r>
            <a:r>
              <a:rPr lang="zh-CN" altLang="en-US" dirty="0">
                <a:solidFill>
                  <a:srgbClr val="FF0000"/>
                </a:solidFill>
              </a:rPr>
              <a:t>创建物理卷</a:t>
            </a:r>
          </a:p>
          <a:p>
            <a:pPr>
              <a:lnSpc>
                <a:spcPct val="130000"/>
              </a:lnSpc>
            </a:pPr>
            <a:r>
              <a:rPr lang="zh-CN" altLang="en-US" dirty="0"/>
              <a:t>将新创建的物理卷添加到</a:t>
            </a:r>
            <a:r>
              <a:rPr lang="zh-CN" altLang="en-US" dirty="0">
                <a:solidFill>
                  <a:srgbClr val="FF0000"/>
                </a:solidFill>
              </a:rPr>
              <a:t>卷组</a:t>
            </a:r>
          </a:p>
          <a:p>
            <a:pPr>
              <a:lnSpc>
                <a:spcPct val="130000"/>
              </a:lnSpc>
            </a:pPr>
            <a:r>
              <a:rPr lang="zh-CN" altLang="en-US" dirty="0"/>
              <a:t>在卷组中创建</a:t>
            </a:r>
            <a:r>
              <a:rPr lang="zh-CN" altLang="en-US" dirty="0">
                <a:solidFill>
                  <a:srgbClr val="FF0000"/>
                </a:solidFill>
              </a:rPr>
              <a:t>逻辑卷</a:t>
            </a:r>
          </a:p>
          <a:p>
            <a:pPr>
              <a:lnSpc>
                <a:spcPct val="130000"/>
              </a:lnSpc>
            </a:pPr>
            <a:r>
              <a:rPr lang="zh-CN" altLang="en-US" dirty="0"/>
              <a:t>在逻辑卷中</a:t>
            </a:r>
            <a:r>
              <a:rPr lang="zh-CN" altLang="en-US" dirty="0">
                <a:solidFill>
                  <a:srgbClr val="FF0000"/>
                </a:solidFill>
              </a:rPr>
              <a:t>创建文件系统</a:t>
            </a:r>
          </a:p>
          <a:p>
            <a:pPr>
              <a:lnSpc>
                <a:spcPct val="130000"/>
              </a:lnSpc>
            </a:pPr>
            <a:r>
              <a:rPr lang="zh-CN" altLang="en-US" dirty="0">
                <a:solidFill>
                  <a:srgbClr val="FF0000"/>
                </a:solidFill>
              </a:rPr>
              <a:t>挂装</a:t>
            </a:r>
            <a:r>
              <a:rPr lang="zh-CN" altLang="en-US" dirty="0"/>
              <a:t>创建的文件系统</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 </a:t>
            </a:r>
            <a:r>
              <a:rPr lang="en-US" altLang="zh-CN" dirty="0"/>
              <a:t>LVM </a:t>
            </a:r>
            <a:r>
              <a:rPr lang="zh-CN" altLang="en-US" dirty="0"/>
              <a:t>的相关命令</a:t>
            </a:r>
          </a:p>
        </p:txBody>
      </p:sp>
      <p:sp>
        <p:nvSpPr>
          <p:cNvPr id="3" name="内容占位符 2"/>
          <p:cNvSpPr>
            <a:spLocks noGrp="1"/>
          </p:cNvSpPr>
          <p:nvPr>
            <p:ph idx="1"/>
          </p:nvPr>
        </p:nvSpPr>
        <p:spPr>
          <a:xfrm>
            <a:off x="846758" y="1412776"/>
            <a:ext cx="8100392" cy="3629000"/>
          </a:xfrm>
        </p:spPr>
        <p:txBody>
          <a:bodyPr/>
          <a:lstStyle/>
          <a:p>
            <a:r>
              <a:rPr lang="zh-CN" altLang="en-US" dirty="0"/>
              <a:t>创建物理卷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pvcreate</a:t>
            </a:r>
            <a:r>
              <a:rPr lang="en-US" altLang="zh-CN" dirty="0">
                <a:solidFill>
                  <a:schemeClr val="accent6">
                    <a:lumMod val="75000"/>
                  </a:schemeClr>
                </a:solidFill>
              </a:rPr>
              <a:t> &lt;</a:t>
            </a:r>
            <a:r>
              <a:rPr lang="zh-CN" altLang="en-US" dirty="0">
                <a:solidFill>
                  <a:schemeClr val="accent6">
                    <a:lumMod val="75000"/>
                  </a:schemeClr>
                </a:solidFill>
              </a:rPr>
              <a:t>磁盘或分区设备名</a:t>
            </a:r>
            <a:r>
              <a:rPr lang="en-US" altLang="zh-CN" dirty="0">
                <a:solidFill>
                  <a:schemeClr val="accent6">
                    <a:lumMod val="75000"/>
                  </a:schemeClr>
                </a:solidFill>
              </a:rPr>
              <a:t>&gt;</a:t>
            </a:r>
          </a:p>
          <a:p>
            <a:r>
              <a:rPr lang="zh-CN" altLang="en-US" dirty="0"/>
              <a:t>创建卷组</a:t>
            </a:r>
          </a:p>
          <a:p>
            <a:pPr lvl="1">
              <a:buNone/>
            </a:pPr>
            <a:r>
              <a:rPr lang="en-US" altLang="zh-CN" dirty="0">
                <a:solidFill>
                  <a:schemeClr val="accent6">
                    <a:lumMod val="75000"/>
                  </a:schemeClr>
                </a:solidFill>
              </a:rPr>
              <a:t># </a:t>
            </a:r>
            <a:r>
              <a:rPr lang="en-US" altLang="zh-CN" dirty="0" err="1">
                <a:solidFill>
                  <a:schemeClr val="accent6">
                    <a:lumMod val="75000"/>
                  </a:schemeClr>
                </a:solidFill>
              </a:rPr>
              <a:t>vgcreate</a:t>
            </a:r>
            <a:r>
              <a:rPr lang="en-US" altLang="zh-CN" dirty="0">
                <a:solidFill>
                  <a:schemeClr val="accent6">
                    <a:lumMod val="75000"/>
                  </a:schemeClr>
                </a:solidFill>
              </a:rPr>
              <a:t> &lt;</a:t>
            </a:r>
            <a:r>
              <a:rPr lang="zh-CN" altLang="en-US" dirty="0">
                <a:solidFill>
                  <a:schemeClr val="accent6">
                    <a:lumMod val="75000"/>
                  </a:schemeClr>
                </a:solidFill>
              </a:rPr>
              <a:t>卷组名</a:t>
            </a:r>
            <a:r>
              <a:rPr lang="en-US" altLang="zh-CN" dirty="0">
                <a:solidFill>
                  <a:schemeClr val="accent6">
                    <a:lumMod val="75000"/>
                  </a:schemeClr>
                </a:solidFill>
              </a:rPr>
              <a:t>&gt; &lt;</a:t>
            </a:r>
            <a:r>
              <a:rPr lang="zh-CN" altLang="en-US" dirty="0">
                <a:solidFill>
                  <a:schemeClr val="accent6">
                    <a:lumMod val="75000"/>
                  </a:schemeClr>
                </a:solidFill>
              </a:rPr>
              <a:t>物理卷设备名</a:t>
            </a:r>
            <a:r>
              <a:rPr lang="en-US" altLang="zh-CN" dirty="0">
                <a:solidFill>
                  <a:schemeClr val="accent6">
                    <a:lumMod val="75000"/>
                  </a:schemeClr>
                </a:solidFill>
              </a:rPr>
              <a:t>&gt; [...]</a:t>
            </a:r>
          </a:p>
          <a:p>
            <a:r>
              <a:rPr lang="zh-CN" altLang="en-US" dirty="0"/>
              <a:t>创建逻辑卷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lvcreate</a:t>
            </a:r>
            <a:r>
              <a:rPr lang="en-US" altLang="zh-CN" dirty="0">
                <a:solidFill>
                  <a:schemeClr val="accent6">
                    <a:lumMod val="75000"/>
                  </a:schemeClr>
                </a:solidFill>
              </a:rPr>
              <a:t> &lt;-L </a:t>
            </a:r>
            <a:r>
              <a:rPr lang="zh-CN" altLang="en-US" dirty="0">
                <a:solidFill>
                  <a:schemeClr val="accent6">
                    <a:lumMod val="75000"/>
                  </a:schemeClr>
                </a:solidFill>
              </a:rPr>
              <a:t>逻辑卷大小</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p>
          <a:p>
            <a:pPr lvl="1">
              <a:buNone/>
            </a:pPr>
            <a:r>
              <a:rPr lang="en-US" altLang="zh-CN" dirty="0">
                <a:solidFill>
                  <a:schemeClr val="accent6">
                    <a:lumMod val="75000"/>
                  </a:schemeClr>
                </a:solidFill>
              </a:rPr>
              <a:t># </a:t>
            </a:r>
            <a:r>
              <a:rPr lang="en-US" altLang="zh-CN" dirty="0" err="1">
                <a:solidFill>
                  <a:schemeClr val="accent6">
                    <a:lumMod val="75000"/>
                  </a:schemeClr>
                </a:solidFill>
              </a:rPr>
              <a:t>lvcreate</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&lt;-n </a:t>
            </a:r>
            <a:r>
              <a:rPr lang="zh-CN" altLang="en-US" dirty="0">
                <a:solidFill>
                  <a:schemeClr val="accent6">
                    <a:lumMod val="75000"/>
                  </a:schemeClr>
                </a:solidFill>
              </a:rPr>
              <a:t>逻辑卷名</a:t>
            </a:r>
            <a:r>
              <a:rPr lang="en-US" altLang="zh-CN" dirty="0">
                <a:solidFill>
                  <a:schemeClr val="accent6">
                    <a:lumMod val="75000"/>
                  </a:schemeClr>
                </a:solidFill>
              </a:rPr>
              <a:t>&gt; &lt;</a:t>
            </a:r>
            <a:r>
              <a:rPr lang="zh-CN" altLang="en-US" dirty="0">
                <a:solidFill>
                  <a:schemeClr val="accent6">
                    <a:lumMod val="75000"/>
                  </a:schemeClr>
                </a:solidFill>
              </a:rPr>
              <a:t>卷组名</a:t>
            </a:r>
            <a:r>
              <a:rPr lang="en-US" altLang="zh-CN" dirty="0">
                <a:solidFill>
                  <a:schemeClr val="accent6">
                    <a:lumMod val="75000"/>
                  </a:schemeClr>
                </a:solidFill>
              </a:rPr>
              <a:t>&gt;</a:t>
            </a:r>
            <a:endParaRPr lang="zh-CN" altLang="en-US" dirty="0">
              <a:solidFill>
                <a:schemeClr val="accent6">
                  <a:lumMod val="75000"/>
                </a:schemeClr>
              </a:solidFill>
            </a:endParaRPr>
          </a:p>
        </p:txBody>
      </p:sp>
      <p:sp>
        <p:nvSpPr>
          <p:cNvPr id="7" name="TextBox 6"/>
          <p:cNvSpPr txBox="1"/>
          <p:nvPr/>
        </p:nvSpPr>
        <p:spPr>
          <a:xfrm>
            <a:off x="1043608" y="6173810"/>
            <a:ext cx="7488832"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400" dirty="0"/>
              <a:t>PE</a:t>
            </a:r>
            <a:r>
              <a:rPr lang="zh-CN" altLang="zh-CN" sz="2400" dirty="0"/>
              <a:t>值可以通过使用命令 </a:t>
            </a:r>
            <a:r>
              <a:rPr lang="en-US" altLang="zh-CN" sz="2400" dirty="0" err="1"/>
              <a:t>vgdisplay|grep</a:t>
            </a:r>
            <a:r>
              <a:rPr lang="en-US" altLang="zh-CN" sz="2400" dirty="0"/>
              <a:t> "Free  PE" </a:t>
            </a:r>
            <a:r>
              <a:rPr lang="zh-CN" altLang="zh-CN" sz="2400" dirty="0"/>
              <a:t>获得</a:t>
            </a:r>
            <a:endParaRPr lang="zh-C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 </a:t>
            </a:r>
            <a:r>
              <a:rPr lang="en-US" altLang="zh-CN" dirty="0"/>
              <a:t>LVM </a:t>
            </a:r>
            <a:r>
              <a:rPr lang="zh-CN" altLang="en-US" dirty="0"/>
              <a:t>的命令举例</a:t>
            </a:r>
          </a:p>
        </p:txBody>
      </p:sp>
      <p:sp>
        <p:nvSpPr>
          <p:cNvPr id="3" name="内容占位符 2"/>
          <p:cNvSpPr>
            <a:spLocks noGrp="1"/>
          </p:cNvSpPr>
          <p:nvPr>
            <p:ph idx="1"/>
          </p:nvPr>
        </p:nvSpPr>
        <p:spPr>
          <a:xfrm>
            <a:off x="971600" y="1484784"/>
            <a:ext cx="7772400" cy="4114800"/>
          </a:xfrm>
        </p:spPr>
        <p:txBody>
          <a:bodyPr/>
          <a:lstStyle/>
          <a:p>
            <a:r>
              <a:rPr lang="zh-CN" altLang="en-US" dirty="0"/>
              <a:t>创建两个物理卷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pvcreate</a:t>
            </a:r>
            <a:r>
              <a:rPr lang="en-US" altLang="zh-CN" dirty="0">
                <a:solidFill>
                  <a:schemeClr val="accent6">
                    <a:lumMod val="75000"/>
                  </a:schemeClr>
                </a:solidFill>
              </a:rPr>
              <a:t> /dev/</a:t>
            </a:r>
            <a:r>
              <a:rPr lang="en-US" altLang="zh-CN" dirty="0" err="1">
                <a:solidFill>
                  <a:schemeClr val="accent6">
                    <a:lumMod val="75000"/>
                  </a:schemeClr>
                </a:solidFill>
              </a:rPr>
              <a:t>sdb</a:t>
            </a:r>
            <a:r>
              <a:rPr lang="en-US" altLang="zh-CN" dirty="0">
                <a:solidFill>
                  <a:schemeClr val="accent6">
                    <a:lumMod val="75000"/>
                  </a:schemeClr>
                </a:solidFill>
              </a:rPr>
              <a:t>{1,5}</a:t>
            </a:r>
          </a:p>
          <a:p>
            <a:r>
              <a:rPr lang="zh-CN" altLang="en-US" dirty="0"/>
              <a:t>用已创建的</a:t>
            </a:r>
            <a:r>
              <a:rPr lang="en-US" altLang="zh-CN" dirty="0"/>
              <a:t>2</a:t>
            </a:r>
            <a:r>
              <a:rPr lang="zh-CN" altLang="en-US" dirty="0"/>
              <a:t>个物理卷创建名为</a:t>
            </a:r>
            <a:r>
              <a:rPr lang="en-US" altLang="zh-CN" dirty="0" err="1"/>
              <a:t>wwwVG</a:t>
            </a:r>
            <a:r>
              <a:rPr lang="zh-CN" altLang="en-US" dirty="0"/>
              <a:t>的卷组 </a:t>
            </a:r>
          </a:p>
          <a:p>
            <a:pPr lvl="1">
              <a:buNone/>
            </a:pPr>
            <a:r>
              <a:rPr lang="en-US" altLang="zh-CN" dirty="0">
                <a:solidFill>
                  <a:schemeClr val="accent6">
                    <a:lumMod val="75000"/>
                  </a:schemeClr>
                </a:solidFill>
              </a:rPr>
              <a:t>#  </a:t>
            </a:r>
            <a:r>
              <a:rPr lang="en-US" altLang="zh-CN" dirty="0" err="1">
                <a:solidFill>
                  <a:schemeClr val="accent6">
                    <a:lumMod val="75000"/>
                  </a:schemeClr>
                </a:solidFill>
              </a:rPr>
              <a:t>vgcreate</a:t>
            </a:r>
            <a:r>
              <a:rPr lang="en-US" altLang="zh-CN" dirty="0">
                <a:solidFill>
                  <a:schemeClr val="accent6">
                    <a:lumMod val="75000"/>
                  </a:schemeClr>
                </a:solidFill>
              </a:rPr>
              <a:t> </a:t>
            </a:r>
            <a:r>
              <a:rPr lang="en-US" altLang="zh-CN" dirty="0" err="1">
                <a:solidFill>
                  <a:schemeClr val="accent6">
                    <a:lumMod val="75000"/>
                  </a:schemeClr>
                </a:solidFill>
              </a:rPr>
              <a:t>wwwVG</a:t>
            </a:r>
            <a:r>
              <a:rPr lang="en-US" altLang="zh-CN" dirty="0">
                <a:solidFill>
                  <a:schemeClr val="accent6">
                    <a:lumMod val="75000"/>
                  </a:schemeClr>
                </a:solidFill>
              </a:rPr>
              <a:t> /dev/sdb1 /dev/sdb5</a:t>
            </a:r>
          </a:p>
          <a:p>
            <a:r>
              <a:rPr lang="zh-CN" altLang="en-US" dirty="0"/>
              <a:t>在</a:t>
            </a:r>
            <a:r>
              <a:rPr lang="en-US" altLang="zh-CN" dirty="0" err="1"/>
              <a:t>wwwVG</a:t>
            </a:r>
            <a:r>
              <a:rPr lang="zh-CN" altLang="en-US" dirty="0"/>
              <a:t>卷组中创建大小为</a:t>
            </a:r>
            <a:r>
              <a:rPr lang="en-US" altLang="zh-CN" dirty="0"/>
              <a:t>2GB</a:t>
            </a:r>
            <a:r>
              <a:rPr lang="zh-CN" altLang="en-US" dirty="0"/>
              <a:t>，名字为</a:t>
            </a:r>
            <a:r>
              <a:rPr lang="en-US" altLang="zh-CN" dirty="0"/>
              <a:t>www</a:t>
            </a:r>
            <a:r>
              <a:rPr lang="zh-CN" altLang="en-US" dirty="0"/>
              <a:t>的逻辑卷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lvcreate</a:t>
            </a:r>
            <a:r>
              <a:rPr lang="en-US" altLang="zh-CN" dirty="0">
                <a:solidFill>
                  <a:schemeClr val="accent6">
                    <a:lumMod val="75000"/>
                  </a:schemeClr>
                </a:solidFill>
              </a:rPr>
              <a:t> -L 2G -n www </a:t>
            </a:r>
            <a:r>
              <a:rPr lang="en-US" altLang="zh-CN" dirty="0" err="1">
                <a:solidFill>
                  <a:schemeClr val="accent6">
                    <a:lumMod val="75000"/>
                  </a:schemeClr>
                </a:solidFill>
              </a:rPr>
              <a:t>wwwVG</a:t>
            </a:r>
            <a:endParaRPr lang="zh-CN" altLang="en-US" dirty="0">
              <a:solidFill>
                <a:schemeClr val="accent6">
                  <a:lumMod val="75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查看卷信息</a:t>
            </a:r>
          </a:p>
        </p:txBody>
      </p:sp>
      <p:sp>
        <p:nvSpPr>
          <p:cNvPr id="3" name="内容占位符 2"/>
          <p:cNvSpPr>
            <a:spLocks noGrp="1"/>
          </p:cNvSpPr>
          <p:nvPr>
            <p:ph idx="1"/>
          </p:nvPr>
        </p:nvSpPr>
        <p:spPr>
          <a:xfrm>
            <a:off x="1043608" y="1628800"/>
            <a:ext cx="7056784" cy="4114800"/>
          </a:xfrm>
        </p:spPr>
        <p:txBody>
          <a:bodyPr/>
          <a:lstStyle/>
          <a:p>
            <a:r>
              <a:rPr lang="zh-CN" altLang="en-US" dirty="0"/>
              <a:t>查看物理卷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pvdisplay</a:t>
            </a:r>
            <a:r>
              <a:rPr lang="en-US" altLang="zh-CN" dirty="0">
                <a:solidFill>
                  <a:schemeClr val="accent6">
                    <a:lumMod val="75000"/>
                  </a:schemeClr>
                </a:solidFill>
              </a:rPr>
              <a:t> [&lt;</a:t>
            </a:r>
            <a:r>
              <a:rPr lang="zh-CN" altLang="en-US" dirty="0">
                <a:solidFill>
                  <a:schemeClr val="accent6">
                    <a:lumMod val="75000"/>
                  </a:schemeClr>
                </a:solidFill>
              </a:rPr>
              <a:t>物理卷设备名</a:t>
            </a:r>
            <a:r>
              <a:rPr lang="en-US" altLang="zh-CN" dirty="0">
                <a:solidFill>
                  <a:schemeClr val="accent6">
                    <a:lumMod val="75000"/>
                  </a:schemeClr>
                </a:solidFill>
              </a:rPr>
              <a:t>&gt;]</a:t>
            </a:r>
          </a:p>
          <a:p>
            <a:r>
              <a:rPr lang="zh-CN" altLang="en-US" dirty="0"/>
              <a:t>查看卷组</a:t>
            </a:r>
          </a:p>
          <a:p>
            <a:pPr lvl="1">
              <a:buNone/>
            </a:pPr>
            <a:r>
              <a:rPr lang="en-US" altLang="zh-CN" dirty="0">
                <a:solidFill>
                  <a:schemeClr val="accent6">
                    <a:lumMod val="75000"/>
                  </a:schemeClr>
                </a:solidFill>
              </a:rPr>
              <a:t># </a:t>
            </a:r>
            <a:r>
              <a:rPr lang="en-US" altLang="zh-CN" dirty="0" err="1">
                <a:solidFill>
                  <a:schemeClr val="accent6">
                    <a:lumMod val="75000"/>
                  </a:schemeClr>
                </a:solidFill>
              </a:rPr>
              <a:t>vgdisplay</a:t>
            </a:r>
            <a:r>
              <a:rPr lang="en-US" altLang="zh-CN" dirty="0">
                <a:solidFill>
                  <a:schemeClr val="accent6">
                    <a:lumMod val="75000"/>
                  </a:schemeClr>
                </a:solidFill>
              </a:rPr>
              <a:t> [&lt;</a:t>
            </a:r>
            <a:r>
              <a:rPr lang="zh-CN" altLang="en-US" dirty="0">
                <a:solidFill>
                  <a:schemeClr val="accent6">
                    <a:lumMod val="75000"/>
                  </a:schemeClr>
                </a:solidFill>
              </a:rPr>
              <a:t>卷组名</a:t>
            </a:r>
            <a:r>
              <a:rPr lang="en-US" altLang="zh-CN" dirty="0">
                <a:solidFill>
                  <a:schemeClr val="accent6">
                    <a:lumMod val="75000"/>
                  </a:schemeClr>
                </a:solidFill>
              </a:rPr>
              <a:t>&gt;]</a:t>
            </a:r>
          </a:p>
          <a:p>
            <a:r>
              <a:rPr lang="zh-CN" altLang="en-US" dirty="0"/>
              <a:t>查看逻辑卷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lvdisplay</a:t>
            </a:r>
            <a:r>
              <a:rPr lang="en-US" altLang="zh-CN" dirty="0">
                <a:solidFill>
                  <a:schemeClr val="accent6">
                    <a:lumMod val="75000"/>
                  </a:schemeClr>
                </a:solidFill>
              </a:rPr>
              <a:t> [&lt;</a:t>
            </a:r>
            <a:r>
              <a:rPr lang="zh-CN" altLang="en-US" dirty="0">
                <a:solidFill>
                  <a:schemeClr val="accent6">
                    <a:lumMod val="75000"/>
                  </a:schemeClr>
                </a:solidFill>
              </a:rPr>
              <a:t>逻辑卷卷设备名</a:t>
            </a:r>
            <a:r>
              <a:rPr lang="en-US" altLang="zh-CN" dirty="0">
                <a:solidFill>
                  <a:schemeClr val="accent6">
                    <a:lumMod val="75000"/>
                  </a:schemeClr>
                </a:solidFill>
              </a:rPr>
              <a:t>&gt;]</a:t>
            </a:r>
            <a:endParaRPr lang="zh-CN" altLang="en-US" dirty="0">
              <a:solidFill>
                <a:schemeClr val="accent6">
                  <a:lumMod val="75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扩展逻辑卷</a:t>
            </a:r>
          </a:p>
        </p:txBody>
      </p:sp>
      <p:sp>
        <p:nvSpPr>
          <p:cNvPr id="3" name="内容占位符 2"/>
          <p:cNvSpPr>
            <a:spLocks noGrp="1"/>
          </p:cNvSpPr>
          <p:nvPr>
            <p:ph idx="1"/>
          </p:nvPr>
        </p:nvSpPr>
        <p:spPr>
          <a:xfrm>
            <a:off x="0" y="1244228"/>
            <a:ext cx="9338200" cy="4934173"/>
          </a:xfrm>
        </p:spPr>
        <p:txBody>
          <a:bodyPr/>
          <a:lstStyle/>
          <a:p>
            <a:r>
              <a:rPr lang="zh-CN" altLang="en-US" dirty="0"/>
              <a:t>若</a:t>
            </a:r>
            <a:r>
              <a:rPr lang="zh-CN" altLang="en-US" dirty="0">
                <a:solidFill>
                  <a:srgbClr val="FF0000"/>
                </a:solidFill>
              </a:rPr>
              <a:t>卷组</a:t>
            </a:r>
            <a:r>
              <a:rPr lang="zh-CN" altLang="en-US" dirty="0"/>
              <a:t>中</a:t>
            </a:r>
            <a:r>
              <a:rPr lang="zh-CN" altLang="en-US" dirty="0">
                <a:solidFill>
                  <a:srgbClr val="FF0000"/>
                </a:solidFill>
              </a:rPr>
              <a:t>无剩余</a:t>
            </a:r>
            <a:r>
              <a:rPr lang="zh-CN" altLang="en-US" dirty="0"/>
              <a:t>空间，首先</a:t>
            </a:r>
            <a:r>
              <a:rPr lang="zh-CN" altLang="en-US" dirty="0">
                <a:solidFill>
                  <a:srgbClr val="FF0000"/>
                </a:solidFill>
              </a:rPr>
              <a:t>扩展卷组</a:t>
            </a:r>
          </a:p>
          <a:p>
            <a:pPr lvl="1"/>
            <a:r>
              <a:rPr lang="zh-CN" altLang="en-US" dirty="0"/>
              <a:t>添加硬盘，在磁盘上</a:t>
            </a:r>
            <a:r>
              <a:rPr lang="zh-CN" altLang="en-US" dirty="0">
                <a:solidFill>
                  <a:srgbClr val="FF0000"/>
                </a:solidFill>
              </a:rPr>
              <a:t>创建</a:t>
            </a:r>
            <a:r>
              <a:rPr lang="zh-CN" altLang="en-US" dirty="0"/>
              <a:t> </a:t>
            </a:r>
            <a:r>
              <a:rPr lang="en-US" altLang="zh-CN" dirty="0"/>
              <a:t>8e </a:t>
            </a:r>
            <a:r>
              <a:rPr lang="zh-CN" altLang="en-US" dirty="0"/>
              <a:t>类型的</a:t>
            </a:r>
            <a:r>
              <a:rPr lang="zh-CN" altLang="en-US" dirty="0">
                <a:solidFill>
                  <a:srgbClr val="FF0000"/>
                </a:solidFill>
              </a:rPr>
              <a:t>分区</a:t>
            </a:r>
          </a:p>
          <a:p>
            <a:pPr lvl="1"/>
            <a:r>
              <a:rPr lang="zh-CN" altLang="en-US" dirty="0"/>
              <a:t>在分区上</a:t>
            </a:r>
            <a:r>
              <a:rPr lang="zh-CN" altLang="en-US" dirty="0">
                <a:solidFill>
                  <a:srgbClr val="FF0000"/>
                </a:solidFill>
              </a:rPr>
              <a:t>创建物理卷</a:t>
            </a:r>
          </a:p>
          <a:p>
            <a:pPr lvl="1"/>
            <a:r>
              <a:rPr lang="zh-CN" altLang="en-US" dirty="0"/>
              <a:t>将物理卷</a:t>
            </a:r>
            <a:r>
              <a:rPr lang="zh-CN" altLang="en-US" dirty="0">
                <a:solidFill>
                  <a:srgbClr val="FF0000"/>
                </a:solidFill>
              </a:rPr>
              <a:t>添加到卷组</a:t>
            </a:r>
            <a:r>
              <a:rPr lang="zh-CN" altLang="en-US" dirty="0"/>
              <a:t>中</a:t>
            </a:r>
          </a:p>
          <a:p>
            <a:pPr lvl="1">
              <a:buNone/>
            </a:pPr>
            <a:r>
              <a:rPr lang="en-US" altLang="zh-CN" dirty="0">
                <a:solidFill>
                  <a:schemeClr val="accent6">
                    <a:lumMod val="75000"/>
                  </a:schemeClr>
                </a:solidFill>
              </a:rPr>
              <a:t># </a:t>
            </a:r>
            <a:r>
              <a:rPr lang="en-US" altLang="zh-CN" dirty="0" err="1">
                <a:solidFill>
                  <a:schemeClr val="accent6">
                    <a:lumMod val="75000"/>
                  </a:schemeClr>
                </a:solidFill>
              </a:rPr>
              <a:t>vgextend</a:t>
            </a:r>
            <a:r>
              <a:rPr lang="en-US" altLang="zh-CN" dirty="0">
                <a:solidFill>
                  <a:schemeClr val="accent6">
                    <a:lumMod val="75000"/>
                  </a:schemeClr>
                </a:solidFill>
              </a:rPr>
              <a:t> &lt;</a:t>
            </a:r>
            <a:r>
              <a:rPr lang="zh-CN" altLang="en-US" dirty="0">
                <a:solidFill>
                  <a:schemeClr val="accent6">
                    <a:lumMod val="75000"/>
                  </a:schemeClr>
                </a:solidFill>
              </a:rPr>
              <a:t>卷组名</a:t>
            </a:r>
            <a:r>
              <a:rPr lang="en-US" altLang="zh-CN" dirty="0">
                <a:solidFill>
                  <a:schemeClr val="accent6">
                    <a:lumMod val="75000"/>
                  </a:schemeClr>
                </a:solidFill>
              </a:rPr>
              <a:t>&gt; &lt;</a:t>
            </a:r>
            <a:r>
              <a:rPr lang="zh-CN" altLang="en-US" dirty="0">
                <a:solidFill>
                  <a:schemeClr val="accent6">
                    <a:lumMod val="75000"/>
                  </a:schemeClr>
                </a:solidFill>
              </a:rPr>
              <a:t>物理卷设备名</a:t>
            </a:r>
            <a:r>
              <a:rPr lang="en-US" altLang="zh-CN" dirty="0">
                <a:solidFill>
                  <a:schemeClr val="accent6">
                    <a:lumMod val="75000"/>
                  </a:schemeClr>
                </a:solidFill>
              </a:rPr>
              <a:t>&gt; [...] </a:t>
            </a:r>
          </a:p>
          <a:p>
            <a:r>
              <a:rPr lang="zh-CN" altLang="en-US" dirty="0"/>
              <a:t>若</a:t>
            </a:r>
            <a:r>
              <a:rPr lang="zh-CN" altLang="en-US" dirty="0">
                <a:solidFill>
                  <a:srgbClr val="FF0000"/>
                </a:solidFill>
              </a:rPr>
              <a:t>卷组</a:t>
            </a:r>
            <a:r>
              <a:rPr lang="zh-CN" altLang="en-US" dirty="0"/>
              <a:t>中</a:t>
            </a:r>
            <a:r>
              <a:rPr lang="zh-CN" altLang="en-US" dirty="0">
                <a:solidFill>
                  <a:srgbClr val="FF0000"/>
                </a:solidFill>
              </a:rPr>
              <a:t>有剩余</a:t>
            </a:r>
            <a:r>
              <a:rPr lang="zh-CN" altLang="en-US" dirty="0"/>
              <a:t>空间，</a:t>
            </a:r>
            <a:r>
              <a:rPr lang="zh-CN" altLang="en-US" dirty="0">
                <a:solidFill>
                  <a:srgbClr val="FF0000"/>
                </a:solidFill>
              </a:rPr>
              <a:t>扩展</a:t>
            </a:r>
            <a:r>
              <a:rPr lang="zh-CN" altLang="en-US" dirty="0"/>
              <a:t>卷组中的</a:t>
            </a:r>
            <a:r>
              <a:rPr lang="zh-CN" altLang="en-US" dirty="0">
                <a:solidFill>
                  <a:srgbClr val="FF0000"/>
                </a:solidFill>
              </a:rPr>
              <a:t>逻辑卷</a:t>
            </a:r>
          </a:p>
          <a:p>
            <a:pPr lvl="1">
              <a:buNone/>
            </a:pPr>
            <a:r>
              <a:rPr lang="en-US" altLang="zh-CN" dirty="0">
                <a:solidFill>
                  <a:schemeClr val="accent6">
                    <a:lumMod val="75000"/>
                  </a:schemeClr>
                </a:solidFill>
              </a:rPr>
              <a:t># </a:t>
            </a:r>
            <a:r>
              <a:rPr lang="en-US" altLang="zh-CN" dirty="0" err="1">
                <a:solidFill>
                  <a:schemeClr val="accent6">
                    <a:lumMod val="75000"/>
                  </a:schemeClr>
                </a:solidFill>
              </a:rPr>
              <a:t>lvextend</a:t>
            </a:r>
            <a:r>
              <a:rPr lang="en-US" altLang="zh-CN" dirty="0">
                <a:solidFill>
                  <a:schemeClr val="accent6">
                    <a:lumMod val="75000"/>
                  </a:schemeClr>
                </a:solidFill>
              </a:rPr>
              <a:t> &lt;-L +</a:t>
            </a:r>
            <a:r>
              <a:rPr lang="zh-CN" altLang="en-US" dirty="0">
                <a:solidFill>
                  <a:schemeClr val="accent6">
                    <a:lumMod val="75000"/>
                  </a:schemeClr>
                </a:solidFill>
              </a:rPr>
              <a:t>逻辑卷增量</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p>
          <a:p>
            <a:pPr lvl="1">
              <a:buNone/>
            </a:pPr>
            <a:r>
              <a:rPr lang="en-US" altLang="zh-CN" dirty="0">
                <a:solidFill>
                  <a:schemeClr val="accent6">
                    <a:lumMod val="75000"/>
                  </a:schemeClr>
                </a:solidFill>
              </a:rPr>
              <a:t># </a:t>
            </a:r>
            <a:r>
              <a:rPr lang="en-US" altLang="zh-CN" dirty="0" err="1">
                <a:solidFill>
                  <a:schemeClr val="accent6">
                    <a:lumMod val="75000"/>
                  </a:schemeClr>
                </a:solidFill>
              </a:rPr>
              <a:t>lvextend</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p>
          <a:p>
            <a:r>
              <a:rPr lang="zh-CN" altLang="en-US" dirty="0"/>
              <a:t>对已扩展的逻辑卷中的</a:t>
            </a:r>
            <a:r>
              <a:rPr lang="zh-CN" altLang="en-US" dirty="0">
                <a:solidFill>
                  <a:srgbClr val="FF0000"/>
                </a:solidFill>
              </a:rPr>
              <a:t>文件系统</a:t>
            </a:r>
            <a:r>
              <a:rPr lang="zh-CN" altLang="en-US" dirty="0"/>
              <a:t>进行</a:t>
            </a:r>
            <a:r>
              <a:rPr lang="zh-CN" altLang="en-US" dirty="0">
                <a:solidFill>
                  <a:srgbClr val="FF0000"/>
                </a:solidFill>
              </a:rPr>
              <a:t> </a:t>
            </a:r>
          </a:p>
          <a:p>
            <a:pPr lvl="1">
              <a:buNone/>
            </a:pPr>
            <a:r>
              <a:rPr lang="en-US" altLang="zh-CN" dirty="0">
                <a:solidFill>
                  <a:schemeClr val="accent6">
                    <a:lumMod val="75000"/>
                  </a:schemeClr>
                </a:solidFill>
              </a:rPr>
              <a:t># resize2fs &lt;</a:t>
            </a:r>
            <a:r>
              <a:rPr lang="zh-CN" altLang="en-US" dirty="0">
                <a:solidFill>
                  <a:schemeClr val="accent6">
                    <a:lumMod val="75000"/>
                  </a:schemeClr>
                </a:solidFill>
              </a:rPr>
              <a:t>分区或逻辑卷设备名</a:t>
            </a:r>
            <a:r>
              <a:rPr lang="en-US" altLang="zh-CN" dirty="0">
                <a:solidFill>
                  <a:schemeClr val="accent6">
                    <a:lumMod val="75000"/>
                  </a:schemeClr>
                </a:solidFill>
              </a:rPr>
              <a:t>&gt; </a:t>
            </a:r>
            <a:endParaRPr lang="zh-CN" altLang="en-US" dirty="0">
              <a:solidFill>
                <a:schemeClr val="accent6">
                  <a:lumMod val="75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扩展逻辑卷举例</a:t>
            </a:r>
          </a:p>
        </p:txBody>
      </p:sp>
      <p:sp>
        <p:nvSpPr>
          <p:cNvPr id="3" name="内容占位符 2"/>
          <p:cNvSpPr>
            <a:spLocks noGrp="1"/>
          </p:cNvSpPr>
          <p:nvPr>
            <p:ph idx="1"/>
          </p:nvPr>
        </p:nvSpPr>
        <p:spPr>
          <a:xfrm>
            <a:off x="755576" y="1256221"/>
            <a:ext cx="8047558" cy="4114800"/>
          </a:xfrm>
        </p:spPr>
        <p:txBody>
          <a:bodyPr/>
          <a:lstStyle/>
          <a:p>
            <a:r>
              <a:rPr lang="zh-CN" altLang="en-US" dirty="0"/>
              <a:t>将两个物理卷扩展到已存在的</a:t>
            </a:r>
            <a:r>
              <a:rPr lang="en-US" altLang="zh-CN" dirty="0"/>
              <a:t>VolGroup00</a:t>
            </a:r>
            <a:r>
              <a:rPr lang="zh-CN" altLang="en-US" dirty="0"/>
              <a:t>卷组中 </a:t>
            </a:r>
          </a:p>
          <a:p>
            <a:pPr lvl="1">
              <a:buNone/>
            </a:pPr>
            <a:r>
              <a:rPr lang="en-US" altLang="zh-CN" dirty="0">
                <a:solidFill>
                  <a:schemeClr val="accent6">
                    <a:lumMod val="75000"/>
                  </a:schemeClr>
                </a:solidFill>
              </a:rPr>
              <a:t># </a:t>
            </a:r>
            <a:r>
              <a:rPr lang="en-US" altLang="zh-CN" dirty="0" err="1">
                <a:solidFill>
                  <a:schemeClr val="accent6">
                    <a:lumMod val="75000"/>
                  </a:schemeClr>
                </a:solidFill>
              </a:rPr>
              <a:t>vgextend</a:t>
            </a:r>
            <a:r>
              <a:rPr lang="en-US" altLang="zh-CN" dirty="0">
                <a:solidFill>
                  <a:schemeClr val="accent6">
                    <a:lumMod val="75000"/>
                  </a:schemeClr>
                </a:solidFill>
              </a:rPr>
              <a:t> VolGroup00 /dev/sdb1 /dev/sdb2</a:t>
            </a:r>
          </a:p>
          <a:p>
            <a:r>
              <a:rPr lang="zh-CN" altLang="en-US" dirty="0"/>
              <a:t>在</a:t>
            </a:r>
            <a:r>
              <a:rPr lang="en-US" altLang="zh-CN" dirty="0"/>
              <a:t>VolGroup00</a:t>
            </a:r>
            <a:r>
              <a:rPr lang="zh-CN" altLang="en-US" dirty="0"/>
              <a:t>卷组中扩展</a:t>
            </a:r>
            <a:r>
              <a:rPr lang="en-US" altLang="zh-CN" dirty="0" err="1"/>
              <a:t>LogVolHome</a:t>
            </a:r>
            <a:r>
              <a:rPr lang="zh-CN" altLang="en-US" dirty="0"/>
              <a:t>逻辑卷，扩展大小为</a:t>
            </a:r>
            <a:r>
              <a:rPr lang="en-US" altLang="zh-CN" dirty="0"/>
              <a:t>6GB </a:t>
            </a:r>
          </a:p>
          <a:p>
            <a:pPr lvl="1">
              <a:buNone/>
            </a:pPr>
            <a:r>
              <a:rPr lang="en-US" altLang="zh-CN" dirty="0">
                <a:solidFill>
                  <a:schemeClr val="accent6">
                    <a:lumMod val="75000"/>
                  </a:schemeClr>
                </a:solidFill>
              </a:rPr>
              <a:t># </a:t>
            </a:r>
            <a:r>
              <a:rPr lang="en-US" altLang="zh-CN" dirty="0" err="1">
                <a:solidFill>
                  <a:schemeClr val="accent6">
                    <a:lumMod val="75000"/>
                  </a:schemeClr>
                </a:solidFill>
              </a:rPr>
              <a:t>lvextend</a:t>
            </a:r>
            <a:r>
              <a:rPr lang="en-US" altLang="zh-CN" dirty="0">
                <a:solidFill>
                  <a:schemeClr val="accent6">
                    <a:lumMod val="75000"/>
                  </a:schemeClr>
                </a:solidFill>
              </a:rPr>
              <a:t> -L +6G /dev/VolGroup00/</a:t>
            </a:r>
            <a:r>
              <a:rPr lang="en-US" altLang="zh-CN" dirty="0" err="1">
                <a:solidFill>
                  <a:schemeClr val="accent6">
                    <a:lumMod val="75000"/>
                  </a:schemeClr>
                </a:solidFill>
              </a:rPr>
              <a:t>LogVolHome</a:t>
            </a:r>
            <a:endParaRPr lang="en-US" altLang="zh-CN" dirty="0">
              <a:solidFill>
                <a:schemeClr val="accent6">
                  <a:lumMod val="75000"/>
                </a:schemeClr>
              </a:solidFill>
            </a:endParaRPr>
          </a:p>
          <a:p>
            <a:r>
              <a:rPr lang="zh-CN" altLang="en-US" dirty="0"/>
              <a:t>为</a:t>
            </a:r>
            <a:r>
              <a:rPr lang="en-US" altLang="zh-CN" dirty="0"/>
              <a:t>home</a:t>
            </a:r>
            <a:r>
              <a:rPr lang="zh-CN" altLang="en-US" dirty="0"/>
              <a:t>文件系统（</a:t>
            </a:r>
            <a:r>
              <a:rPr lang="en-US" altLang="zh-CN" dirty="0"/>
              <a:t>ext3</a:t>
            </a:r>
            <a:r>
              <a:rPr lang="zh-CN" altLang="en-US" dirty="0"/>
              <a:t>）扩充容量</a:t>
            </a:r>
          </a:p>
          <a:p>
            <a:pPr lvl="1">
              <a:buNone/>
            </a:pPr>
            <a:r>
              <a:rPr lang="en-US" altLang="zh-CN" dirty="0">
                <a:solidFill>
                  <a:schemeClr val="accent6">
                    <a:lumMod val="75000"/>
                  </a:schemeClr>
                </a:solidFill>
              </a:rPr>
              <a:t>#  resize2fs -f /dev/VolGroup00/</a:t>
            </a:r>
            <a:r>
              <a:rPr lang="en-US" altLang="zh-CN" dirty="0" err="1">
                <a:solidFill>
                  <a:schemeClr val="accent6">
                    <a:lumMod val="75000"/>
                  </a:schemeClr>
                </a:solidFill>
              </a:rPr>
              <a:t>LogVolHome</a:t>
            </a:r>
            <a:endParaRPr lang="en-US" altLang="zh-CN" dirty="0">
              <a:solidFill>
                <a:schemeClr val="accent6">
                  <a:lumMod val="75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缩减逻辑卷</a:t>
            </a:r>
          </a:p>
        </p:txBody>
      </p:sp>
      <p:sp>
        <p:nvSpPr>
          <p:cNvPr id="3" name="内容占位符 2"/>
          <p:cNvSpPr>
            <a:spLocks noGrp="1"/>
          </p:cNvSpPr>
          <p:nvPr>
            <p:ph idx="1"/>
          </p:nvPr>
        </p:nvSpPr>
        <p:spPr>
          <a:xfrm>
            <a:off x="827584" y="1628800"/>
            <a:ext cx="8047558" cy="4114800"/>
          </a:xfrm>
        </p:spPr>
        <p:txBody>
          <a:bodyPr/>
          <a:lstStyle/>
          <a:p>
            <a:r>
              <a:rPr lang="zh-CN" altLang="en-US" dirty="0"/>
              <a:t>使用</a:t>
            </a:r>
            <a:r>
              <a:rPr lang="en-US" altLang="zh-CN" dirty="0" err="1"/>
              <a:t>umount</a:t>
            </a:r>
            <a:r>
              <a:rPr lang="zh-CN" altLang="en-US" dirty="0"/>
              <a:t>命令</a:t>
            </a:r>
            <a:r>
              <a:rPr lang="zh-CN" altLang="en-US" dirty="0">
                <a:solidFill>
                  <a:srgbClr val="FF0000"/>
                </a:solidFill>
              </a:rPr>
              <a:t>卸载文件系统</a:t>
            </a:r>
            <a:r>
              <a:rPr lang="en-US" altLang="zh-CN" dirty="0">
                <a:solidFill>
                  <a:srgbClr val="FF0000"/>
                </a:solidFill>
              </a:rPr>
              <a:t> </a:t>
            </a:r>
          </a:p>
          <a:p>
            <a:r>
              <a:rPr lang="zh-CN" altLang="en-US" dirty="0"/>
              <a:t>使用</a:t>
            </a:r>
            <a:r>
              <a:rPr lang="en-US" altLang="zh-CN" dirty="0"/>
              <a:t>e2fsck</a:t>
            </a:r>
            <a:r>
              <a:rPr lang="zh-CN" altLang="en-US" dirty="0"/>
              <a:t>命令</a:t>
            </a:r>
            <a:r>
              <a:rPr lang="zh-CN" altLang="en-US" dirty="0">
                <a:solidFill>
                  <a:srgbClr val="FF0000"/>
                </a:solidFill>
              </a:rPr>
              <a:t>检查文件系统 </a:t>
            </a:r>
            <a:endParaRPr lang="en-US" altLang="zh-CN" dirty="0">
              <a:solidFill>
                <a:srgbClr val="FF0000"/>
              </a:solidFill>
            </a:endParaRPr>
          </a:p>
          <a:p>
            <a:r>
              <a:rPr lang="zh-CN" altLang="en-US" dirty="0"/>
              <a:t>使用</a:t>
            </a:r>
            <a:r>
              <a:rPr lang="en-US" altLang="zh-CN" dirty="0"/>
              <a:t>resize2fs</a:t>
            </a:r>
            <a:r>
              <a:rPr lang="zh-CN" altLang="en-US" dirty="0"/>
              <a:t>命令</a:t>
            </a:r>
            <a:r>
              <a:rPr lang="zh-CN" altLang="en-US" dirty="0">
                <a:solidFill>
                  <a:srgbClr val="FF0000"/>
                </a:solidFill>
              </a:rPr>
              <a:t>缩减文件系统容量</a:t>
            </a:r>
            <a:r>
              <a:rPr lang="en-US" altLang="zh-CN" dirty="0">
                <a:solidFill>
                  <a:srgbClr val="FF0000"/>
                </a:solidFill>
              </a:rPr>
              <a:t> </a:t>
            </a:r>
          </a:p>
          <a:p>
            <a:r>
              <a:rPr lang="zh-CN" altLang="en-US" dirty="0"/>
              <a:t>缩减逻辑卷</a:t>
            </a:r>
            <a:endParaRPr lang="en-US" altLang="zh-CN" dirty="0"/>
          </a:p>
          <a:p>
            <a:pPr lvl="1">
              <a:buNone/>
            </a:pPr>
            <a:r>
              <a:rPr lang="en-US" altLang="zh-CN" dirty="0">
                <a:solidFill>
                  <a:schemeClr val="accent6">
                    <a:lumMod val="75000"/>
                  </a:schemeClr>
                </a:solidFill>
              </a:rPr>
              <a:t># </a:t>
            </a:r>
            <a:r>
              <a:rPr lang="en-US" altLang="zh-CN" dirty="0" err="1">
                <a:solidFill>
                  <a:schemeClr val="accent6">
                    <a:lumMod val="75000"/>
                  </a:schemeClr>
                </a:solidFill>
              </a:rPr>
              <a:t>lvreduce</a:t>
            </a:r>
            <a:r>
              <a:rPr lang="en-US" altLang="zh-CN" dirty="0">
                <a:solidFill>
                  <a:schemeClr val="accent6">
                    <a:lumMod val="75000"/>
                  </a:schemeClr>
                </a:solidFill>
              </a:rPr>
              <a:t> &lt;-L -</a:t>
            </a:r>
            <a:r>
              <a:rPr lang="zh-CN" altLang="en-US" dirty="0">
                <a:solidFill>
                  <a:schemeClr val="accent6">
                    <a:lumMod val="75000"/>
                  </a:schemeClr>
                </a:solidFill>
              </a:rPr>
              <a:t>逻辑卷增量</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p>
          <a:p>
            <a:pPr lvl="1">
              <a:buNone/>
            </a:pPr>
            <a:r>
              <a:rPr lang="en-US" altLang="zh-CN" dirty="0">
                <a:solidFill>
                  <a:schemeClr val="accent6">
                    <a:lumMod val="75000"/>
                  </a:schemeClr>
                </a:solidFill>
              </a:rPr>
              <a:t># </a:t>
            </a:r>
            <a:r>
              <a:rPr lang="en-US" altLang="zh-CN" dirty="0" err="1">
                <a:solidFill>
                  <a:schemeClr val="accent6">
                    <a:lumMod val="75000"/>
                  </a:schemeClr>
                </a:solidFill>
              </a:rPr>
              <a:t>lvreduce</a:t>
            </a:r>
            <a:r>
              <a:rPr lang="en-US" altLang="zh-CN" dirty="0">
                <a:solidFill>
                  <a:schemeClr val="accent6">
                    <a:lumMod val="75000"/>
                  </a:schemeClr>
                </a:solidFill>
              </a:rPr>
              <a:t> &lt;-l -PE</a:t>
            </a:r>
            <a:r>
              <a:rPr lang="zh-CN" altLang="en-US" dirty="0">
                <a:solidFill>
                  <a:schemeClr val="accent6">
                    <a:lumMod val="75000"/>
                  </a:schemeClr>
                </a:solidFill>
              </a:rPr>
              <a:t>值</a:t>
            </a:r>
            <a:r>
              <a:rPr lang="en-US" altLang="zh-CN" dirty="0">
                <a:solidFill>
                  <a:schemeClr val="accent6">
                    <a:lumMod val="75000"/>
                  </a:schemeClr>
                </a:solidFill>
              </a:rPr>
              <a:t>&gt;  &lt;</a:t>
            </a:r>
            <a:r>
              <a:rPr lang="zh-CN" altLang="en-US" dirty="0">
                <a:solidFill>
                  <a:schemeClr val="accent6">
                    <a:lumMod val="75000"/>
                  </a:schemeClr>
                </a:solidFill>
              </a:rPr>
              <a:t>逻辑卷设备名称</a:t>
            </a:r>
            <a:r>
              <a:rPr lang="en-US" altLang="zh-CN" dirty="0">
                <a:solidFill>
                  <a:schemeClr val="accent6">
                    <a:lumMod val="75000"/>
                  </a:schemeClr>
                </a:solidFill>
              </a:rPr>
              <a:t>&gt;</a:t>
            </a:r>
            <a:endParaRPr lang="zh-CN" altLang="en-US" dirty="0">
              <a:solidFill>
                <a:schemeClr val="accent6">
                  <a:lumMod val="75000"/>
                </a:schemeClr>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LVM </a:t>
            </a:r>
            <a:r>
              <a:rPr lang="zh-CN" altLang="en-US" dirty="0"/>
              <a:t>常用命令集</a:t>
            </a:r>
          </a:p>
        </p:txBody>
      </p:sp>
      <p:graphicFrame>
        <p:nvGraphicFramePr>
          <p:cNvPr id="10" name="内容占位符 6"/>
          <p:cNvGraphicFramePr>
            <a:graphicFrameLocks noGrp="1"/>
          </p:cNvGraphicFramePr>
          <p:nvPr>
            <p:ph idx="1"/>
            <p:extLst>
              <p:ext uri="{D42A27DB-BD31-4B8C-83A1-F6EECF244321}">
                <p14:modId xmlns:p14="http://schemas.microsoft.com/office/powerpoint/2010/main" val="4081621236"/>
              </p:ext>
            </p:extLst>
          </p:nvPr>
        </p:nvGraphicFramePr>
        <p:xfrm>
          <a:off x="395536" y="1484784"/>
          <a:ext cx="8229600" cy="3627120"/>
        </p:xfrm>
        <a:graphic>
          <a:graphicData uri="http://schemas.openxmlformats.org/drawingml/2006/table">
            <a:tbl>
              <a:tblPr firstRow="1" bandRow="1">
                <a:tableStyleId>{21E4AEA4-8DFA-4A89-87EB-49C32662AFE0}</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a:r>
                        <a:rPr lang="zh-CN" altLang="en-US" sz="2400" dirty="0">
                          <a:solidFill>
                            <a:srgbClr val="C00000"/>
                          </a:solidFill>
                        </a:rPr>
                        <a:t>任务</a:t>
                      </a:r>
                    </a:p>
                  </a:txBody>
                  <a:tcPr/>
                </a:tc>
                <a:tc>
                  <a:txBody>
                    <a:bodyPr/>
                    <a:lstStyle/>
                    <a:p>
                      <a:pPr algn="l"/>
                      <a:r>
                        <a:rPr lang="en-US" altLang="zh-CN" sz="2400" dirty="0">
                          <a:solidFill>
                            <a:srgbClr val="C00000"/>
                          </a:solidFill>
                        </a:rPr>
                        <a:t>PV</a:t>
                      </a:r>
                      <a:endParaRPr lang="zh-CN" altLang="en-US" sz="2400" dirty="0">
                        <a:solidFill>
                          <a:srgbClr val="C00000"/>
                        </a:solidFill>
                      </a:endParaRPr>
                    </a:p>
                  </a:txBody>
                  <a:tcPr/>
                </a:tc>
                <a:tc>
                  <a:txBody>
                    <a:bodyPr/>
                    <a:lstStyle/>
                    <a:p>
                      <a:pPr algn="l"/>
                      <a:r>
                        <a:rPr lang="en-US" altLang="zh-CN" sz="2400" dirty="0">
                          <a:solidFill>
                            <a:srgbClr val="C00000"/>
                          </a:solidFill>
                        </a:rPr>
                        <a:t>VG</a:t>
                      </a:r>
                      <a:endParaRPr lang="zh-CN" altLang="en-US" sz="2400" dirty="0">
                        <a:solidFill>
                          <a:srgbClr val="C00000"/>
                        </a:solidFill>
                      </a:endParaRPr>
                    </a:p>
                  </a:txBody>
                  <a:tcPr/>
                </a:tc>
                <a:tc>
                  <a:txBody>
                    <a:bodyPr/>
                    <a:lstStyle/>
                    <a:p>
                      <a:pPr algn="l"/>
                      <a:r>
                        <a:rPr lang="en-US" altLang="zh-CN" sz="2400" dirty="0">
                          <a:solidFill>
                            <a:srgbClr val="C00000"/>
                          </a:solidFill>
                        </a:rPr>
                        <a:t>LV</a:t>
                      </a:r>
                      <a:endParaRPr lang="zh-CN" altLang="en-US" sz="2400" dirty="0">
                        <a:solidFill>
                          <a:srgbClr val="C00000"/>
                        </a:solidFill>
                      </a:endParaRPr>
                    </a:p>
                  </a:txBody>
                  <a:tcPr/>
                </a:tc>
                <a:extLst>
                  <a:ext uri="{0D108BD9-81ED-4DB2-BD59-A6C34878D82A}">
                    <a16:rowId xmlns:a16="http://schemas.microsoft.com/office/drawing/2014/main" val="10000"/>
                  </a:ext>
                </a:extLst>
              </a:tr>
              <a:tr h="370840">
                <a:tc>
                  <a:txBody>
                    <a:bodyPr/>
                    <a:lstStyle/>
                    <a:p>
                      <a:r>
                        <a:rPr lang="zh-CN" altLang="en-US" sz="2000" dirty="0"/>
                        <a:t>创建</a:t>
                      </a:r>
                    </a:p>
                  </a:txBody>
                  <a:tcPr/>
                </a:tc>
                <a:tc>
                  <a:txBody>
                    <a:bodyPr/>
                    <a:lstStyle/>
                    <a:p>
                      <a:r>
                        <a:rPr lang="en-US" altLang="zh-CN" sz="2000" dirty="0" err="1"/>
                        <a:t>pvcreate</a:t>
                      </a:r>
                      <a:endParaRPr lang="zh-CN" altLang="en-US" sz="2000" dirty="0"/>
                    </a:p>
                  </a:txBody>
                  <a:tcPr/>
                </a:tc>
                <a:tc>
                  <a:txBody>
                    <a:bodyPr/>
                    <a:lstStyle/>
                    <a:p>
                      <a:r>
                        <a:rPr lang="en-US" altLang="zh-CN" sz="2000" dirty="0" err="1"/>
                        <a:t>vgcreate</a:t>
                      </a:r>
                      <a:endParaRPr lang="zh-CN" altLang="en-US" sz="2000" dirty="0"/>
                    </a:p>
                  </a:txBody>
                  <a:tcPr/>
                </a:tc>
                <a:tc>
                  <a:txBody>
                    <a:bodyPr/>
                    <a:lstStyle/>
                    <a:p>
                      <a:r>
                        <a:rPr lang="en-US" altLang="zh-CN" sz="2000" dirty="0" err="1"/>
                        <a:t>lvcreate</a:t>
                      </a:r>
                      <a:endParaRPr lang="zh-CN" altLang="en-US" sz="2000" dirty="0"/>
                    </a:p>
                  </a:txBody>
                  <a:tcPr/>
                </a:tc>
                <a:extLst>
                  <a:ext uri="{0D108BD9-81ED-4DB2-BD59-A6C34878D82A}">
                    <a16:rowId xmlns:a16="http://schemas.microsoft.com/office/drawing/2014/main" val="10001"/>
                  </a:ext>
                </a:extLst>
              </a:tr>
              <a:tr h="370840">
                <a:tc>
                  <a:txBody>
                    <a:bodyPr/>
                    <a:lstStyle/>
                    <a:p>
                      <a:r>
                        <a:rPr lang="zh-CN" altLang="en-US" sz="2000" dirty="0"/>
                        <a:t>删除</a:t>
                      </a:r>
                    </a:p>
                  </a:txBody>
                  <a:tcPr/>
                </a:tc>
                <a:tc>
                  <a:txBody>
                    <a:bodyPr/>
                    <a:lstStyle/>
                    <a:p>
                      <a:r>
                        <a:rPr lang="en-US" altLang="zh-CN" sz="2000" dirty="0" err="1"/>
                        <a:t>pvremove</a:t>
                      </a:r>
                      <a:endParaRPr lang="zh-CN" altLang="en-US" sz="2000" dirty="0"/>
                    </a:p>
                  </a:txBody>
                  <a:tcPr/>
                </a:tc>
                <a:tc>
                  <a:txBody>
                    <a:bodyPr/>
                    <a:lstStyle/>
                    <a:p>
                      <a:r>
                        <a:rPr lang="en-US" altLang="zh-CN" sz="2000" dirty="0" err="1"/>
                        <a:t>vgremove</a:t>
                      </a:r>
                      <a:endParaRPr lang="zh-CN" altLang="en-US" sz="2000" dirty="0"/>
                    </a:p>
                  </a:txBody>
                  <a:tcPr/>
                </a:tc>
                <a:tc>
                  <a:txBody>
                    <a:bodyPr/>
                    <a:lstStyle/>
                    <a:p>
                      <a:r>
                        <a:rPr lang="en-US" altLang="zh-CN" sz="2000" dirty="0" err="1"/>
                        <a:t>lvremove</a:t>
                      </a:r>
                      <a:endParaRPr lang="zh-CN" altLang="en-US" sz="2000" dirty="0"/>
                    </a:p>
                  </a:txBody>
                  <a:tcPr/>
                </a:tc>
                <a:extLst>
                  <a:ext uri="{0D108BD9-81ED-4DB2-BD59-A6C34878D82A}">
                    <a16:rowId xmlns:a16="http://schemas.microsoft.com/office/drawing/2014/main" val="10002"/>
                  </a:ext>
                </a:extLst>
              </a:tr>
              <a:tr h="370840">
                <a:tc>
                  <a:txBody>
                    <a:bodyPr/>
                    <a:lstStyle/>
                    <a:p>
                      <a:r>
                        <a:rPr lang="zh-CN" altLang="en-US" sz="2000" dirty="0"/>
                        <a:t>显示信息</a:t>
                      </a:r>
                    </a:p>
                  </a:txBody>
                  <a:tcPr/>
                </a:tc>
                <a:tc>
                  <a:txBody>
                    <a:bodyPr/>
                    <a:lstStyle/>
                    <a:p>
                      <a:r>
                        <a:rPr lang="en-US" altLang="zh-CN" sz="2000" dirty="0" err="1"/>
                        <a:t>pvs</a:t>
                      </a:r>
                      <a:endParaRPr lang="zh-CN" altLang="en-US" sz="2000" dirty="0"/>
                    </a:p>
                  </a:txBody>
                  <a:tcPr/>
                </a:tc>
                <a:tc>
                  <a:txBody>
                    <a:bodyPr/>
                    <a:lstStyle/>
                    <a:p>
                      <a:r>
                        <a:rPr lang="en-US" altLang="zh-CN" sz="2000" dirty="0" err="1"/>
                        <a:t>vgs</a:t>
                      </a:r>
                      <a:endParaRPr lang="zh-CN" altLang="en-US" sz="2000" dirty="0"/>
                    </a:p>
                  </a:txBody>
                  <a:tcPr/>
                </a:tc>
                <a:tc>
                  <a:txBody>
                    <a:bodyPr/>
                    <a:lstStyle/>
                    <a:p>
                      <a:r>
                        <a:rPr lang="en-US" altLang="zh-CN" sz="2000" dirty="0" err="1"/>
                        <a:t>lvs</a:t>
                      </a:r>
                      <a:endParaRPr lang="zh-CN" altLang="en-US" sz="2000" dirty="0"/>
                    </a:p>
                  </a:txBody>
                  <a:tcPr/>
                </a:tc>
                <a:extLst>
                  <a:ext uri="{0D108BD9-81ED-4DB2-BD59-A6C34878D82A}">
                    <a16:rowId xmlns:a16="http://schemas.microsoft.com/office/drawing/2014/main" val="10003"/>
                  </a:ext>
                </a:extLst>
              </a:tr>
              <a:tr h="370840">
                <a:tc>
                  <a:txBody>
                    <a:bodyPr/>
                    <a:lstStyle/>
                    <a:p>
                      <a:r>
                        <a:rPr lang="zh-CN" altLang="en-US" sz="2000" dirty="0"/>
                        <a:t>扫描列表</a:t>
                      </a:r>
                    </a:p>
                  </a:txBody>
                  <a:tcPr/>
                </a:tc>
                <a:tc>
                  <a:txBody>
                    <a:bodyPr/>
                    <a:lstStyle/>
                    <a:p>
                      <a:r>
                        <a:rPr lang="en-US" altLang="zh-CN" sz="2000" dirty="0" err="1"/>
                        <a:t>pvscan</a:t>
                      </a:r>
                      <a:endParaRPr lang="zh-CN" altLang="en-US" sz="2000" dirty="0"/>
                    </a:p>
                  </a:txBody>
                  <a:tcPr/>
                </a:tc>
                <a:tc>
                  <a:txBody>
                    <a:bodyPr/>
                    <a:lstStyle/>
                    <a:p>
                      <a:r>
                        <a:rPr lang="en-US" altLang="zh-CN" sz="2000" dirty="0" err="1"/>
                        <a:t>vgscan</a:t>
                      </a:r>
                      <a:endParaRPr lang="zh-CN" altLang="en-US" sz="2000" dirty="0"/>
                    </a:p>
                  </a:txBody>
                  <a:tcPr/>
                </a:tc>
                <a:tc>
                  <a:txBody>
                    <a:bodyPr/>
                    <a:lstStyle/>
                    <a:p>
                      <a:r>
                        <a:rPr lang="en-US" altLang="zh-CN" sz="2000" dirty="0" err="1"/>
                        <a:t>lvscan</a:t>
                      </a:r>
                      <a:endParaRPr lang="zh-CN" altLang="en-US" sz="2000" dirty="0"/>
                    </a:p>
                  </a:txBody>
                  <a:tcPr/>
                </a:tc>
                <a:extLst>
                  <a:ext uri="{0D108BD9-81ED-4DB2-BD59-A6C34878D82A}">
                    <a16:rowId xmlns:a16="http://schemas.microsoft.com/office/drawing/2014/main" val="10004"/>
                  </a:ext>
                </a:extLst>
              </a:tr>
              <a:tr h="370840">
                <a:tc>
                  <a:txBody>
                    <a:bodyPr/>
                    <a:lstStyle/>
                    <a:p>
                      <a:r>
                        <a:rPr lang="zh-CN" altLang="en-US" sz="2000" dirty="0"/>
                        <a:t>显示属性</a:t>
                      </a:r>
                    </a:p>
                  </a:txBody>
                  <a:tcPr/>
                </a:tc>
                <a:tc>
                  <a:txBody>
                    <a:bodyPr/>
                    <a:lstStyle/>
                    <a:p>
                      <a:r>
                        <a:rPr lang="en-US" altLang="zh-CN" sz="2000" dirty="0" err="1"/>
                        <a:t>pvdisplay</a:t>
                      </a:r>
                      <a:endParaRPr lang="zh-CN" altLang="en-US" sz="2000" dirty="0"/>
                    </a:p>
                  </a:txBody>
                  <a:tcPr/>
                </a:tc>
                <a:tc>
                  <a:txBody>
                    <a:bodyPr/>
                    <a:lstStyle/>
                    <a:p>
                      <a:r>
                        <a:rPr lang="en-US" altLang="zh-CN" sz="2000" dirty="0" err="1"/>
                        <a:t>vgdisplay</a:t>
                      </a:r>
                      <a:endParaRPr lang="zh-CN" altLang="en-US" sz="2000" dirty="0"/>
                    </a:p>
                  </a:txBody>
                  <a:tcPr/>
                </a:tc>
                <a:tc>
                  <a:txBody>
                    <a:bodyPr/>
                    <a:lstStyle/>
                    <a:p>
                      <a:r>
                        <a:rPr lang="en-US" altLang="zh-CN" sz="2000" dirty="0" err="1"/>
                        <a:t>lvdisplay</a:t>
                      </a:r>
                      <a:endParaRPr lang="zh-CN" altLang="en-US" sz="2000" dirty="0"/>
                    </a:p>
                  </a:txBody>
                  <a:tcPr/>
                </a:tc>
                <a:extLst>
                  <a:ext uri="{0D108BD9-81ED-4DB2-BD59-A6C34878D82A}">
                    <a16:rowId xmlns:a16="http://schemas.microsoft.com/office/drawing/2014/main" val="10005"/>
                  </a:ext>
                </a:extLst>
              </a:tr>
              <a:tr h="370840">
                <a:tc>
                  <a:txBody>
                    <a:bodyPr/>
                    <a:lstStyle/>
                    <a:p>
                      <a:r>
                        <a:rPr lang="zh-CN" altLang="en-US" sz="2000" dirty="0"/>
                        <a:t>更改属性</a:t>
                      </a:r>
                    </a:p>
                  </a:txBody>
                  <a:tcPr/>
                </a:tc>
                <a:tc>
                  <a:txBody>
                    <a:bodyPr/>
                    <a:lstStyle/>
                    <a:p>
                      <a:r>
                        <a:rPr lang="en-US" altLang="zh-CN" sz="2000" dirty="0" err="1"/>
                        <a:t>pvchange</a:t>
                      </a:r>
                      <a:endParaRPr lang="zh-CN" altLang="en-US" sz="2000" dirty="0"/>
                    </a:p>
                  </a:txBody>
                  <a:tcPr/>
                </a:tc>
                <a:tc>
                  <a:txBody>
                    <a:bodyPr/>
                    <a:lstStyle/>
                    <a:p>
                      <a:r>
                        <a:rPr lang="en-US" altLang="zh-CN" sz="2000" dirty="0" err="1"/>
                        <a:t>vgchange</a:t>
                      </a:r>
                      <a:endParaRPr lang="zh-CN" altLang="en-US" sz="2000" dirty="0"/>
                    </a:p>
                  </a:txBody>
                  <a:tcPr/>
                </a:tc>
                <a:tc>
                  <a:txBody>
                    <a:bodyPr/>
                    <a:lstStyle/>
                    <a:p>
                      <a:r>
                        <a:rPr lang="en-US" altLang="zh-CN" sz="2000" dirty="0" err="1"/>
                        <a:t>lvchange</a:t>
                      </a:r>
                      <a:endParaRPr lang="zh-CN" altLang="en-US" sz="2000" dirty="0"/>
                    </a:p>
                  </a:txBody>
                  <a:tcPr/>
                </a:tc>
                <a:extLst>
                  <a:ext uri="{0D108BD9-81ED-4DB2-BD59-A6C34878D82A}">
                    <a16:rowId xmlns:a16="http://schemas.microsoft.com/office/drawing/2014/main" val="10006"/>
                  </a:ext>
                </a:extLst>
              </a:tr>
              <a:tr h="370840">
                <a:tc>
                  <a:txBody>
                    <a:bodyPr/>
                    <a:lstStyle/>
                    <a:p>
                      <a:r>
                        <a:rPr lang="zh-CN" altLang="en-US" sz="2000" dirty="0"/>
                        <a:t>扩展</a:t>
                      </a:r>
                    </a:p>
                  </a:txBody>
                  <a:tcPr/>
                </a:tc>
                <a:tc>
                  <a:txBody>
                    <a:bodyPr/>
                    <a:lstStyle/>
                    <a:p>
                      <a:endParaRPr lang="zh-CN" altLang="en-US" sz="2000" dirty="0"/>
                    </a:p>
                  </a:txBody>
                  <a:tcPr/>
                </a:tc>
                <a:tc>
                  <a:txBody>
                    <a:bodyPr/>
                    <a:lstStyle/>
                    <a:p>
                      <a:r>
                        <a:rPr lang="en-US" altLang="zh-CN" sz="2000" dirty="0" err="1"/>
                        <a:t>vgextend</a:t>
                      </a:r>
                      <a:endParaRPr lang="zh-CN" altLang="en-US" sz="2000" dirty="0"/>
                    </a:p>
                  </a:txBody>
                  <a:tcPr/>
                </a:tc>
                <a:tc>
                  <a:txBody>
                    <a:bodyPr/>
                    <a:lstStyle/>
                    <a:p>
                      <a:r>
                        <a:rPr lang="en-US" altLang="zh-CN" sz="2000" dirty="0" err="1"/>
                        <a:t>lvextend</a:t>
                      </a:r>
                      <a:endParaRPr lang="zh-CN" altLang="en-US" sz="2000" dirty="0"/>
                    </a:p>
                  </a:txBody>
                  <a:tcPr/>
                </a:tc>
                <a:extLst>
                  <a:ext uri="{0D108BD9-81ED-4DB2-BD59-A6C34878D82A}">
                    <a16:rowId xmlns:a16="http://schemas.microsoft.com/office/drawing/2014/main" val="10007"/>
                  </a:ext>
                </a:extLst>
              </a:tr>
              <a:tr h="370840">
                <a:tc>
                  <a:txBody>
                    <a:bodyPr/>
                    <a:lstStyle/>
                    <a:p>
                      <a:r>
                        <a:rPr lang="zh-CN" altLang="en-US" sz="2000" dirty="0"/>
                        <a:t>缩减</a:t>
                      </a:r>
                    </a:p>
                  </a:txBody>
                  <a:tcPr/>
                </a:tc>
                <a:tc>
                  <a:txBody>
                    <a:bodyPr/>
                    <a:lstStyle/>
                    <a:p>
                      <a:endParaRPr lang="zh-CN" altLang="en-US" sz="2000" dirty="0"/>
                    </a:p>
                  </a:txBody>
                  <a:tcPr/>
                </a:tc>
                <a:tc>
                  <a:txBody>
                    <a:bodyPr/>
                    <a:lstStyle/>
                    <a:p>
                      <a:r>
                        <a:rPr lang="en-US" altLang="zh-CN" sz="2000" dirty="0" err="1"/>
                        <a:t>vgreduce</a:t>
                      </a:r>
                      <a:endParaRPr lang="zh-CN" altLang="en-US" sz="2000" dirty="0"/>
                    </a:p>
                  </a:txBody>
                  <a:tcPr/>
                </a:tc>
                <a:tc>
                  <a:txBody>
                    <a:bodyPr/>
                    <a:lstStyle/>
                    <a:p>
                      <a:r>
                        <a:rPr lang="en-US" altLang="zh-CN" sz="2000" dirty="0" err="1"/>
                        <a:t>lvreduce</a:t>
                      </a:r>
                      <a:endParaRPr lang="zh-CN" altLang="en-US" sz="2000" dirty="0"/>
                    </a:p>
                  </a:txBody>
                  <a:tcPr/>
                </a:tc>
                <a:extLst>
                  <a:ext uri="{0D108BD9-81ED-4DB2-BD59-A6C34878D82A}">
                    <a16:rowId xmlns:a16="http://schemas.microsoft.com/office/drawing/2014/main" val="10008"/>
                  </a:ext>
                </a:extLst>
              </a:tr>
            </a:tbl>
          </a:graphicData>
        </a:graphic>
      </p:graphicFrame>
      <p:sp>
        <p:nvSpPr>
          <p:cNvPr id="8" name="TextBox 7"/>
          <p:cNvSpPr txBox="1"/>
          <p:nvPr/>
        </p:nvSpPr>
        <p:spPr>
          <a:xfrm>
            <a:off x="647564" y="5373216"/>
            <a:ext cx="784887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buFont typeface="Arial" pitchFamily="34" charset="0"/>
              <a:buChar char="•"/>
            </a:pPr>
            <a:r>
              <a:rPr lang="zh-CN" altLang="en-US" sz="2400" dirty="0"/>
              <a:t> 可以使用 </a:t>
            </a:r>
            <a:r>
              <a:rPr lang="en-US" altLang="zh-CN" sz="2400" dirty="0" err="1">
                <a:solidFill>
                  <a:schemeClr val="accent6">
                    <a:lumMod val="75000"/>
                  </a:schemeClr>
                </a:solidFill>
              </a:rPr>
              <a:t>lvm</a:t>
            </a:r>
            <a:r>
              <a:rPr lang="en-US" altLang="zh-CN" sz="2400" dirty="0">
                <a:solidFill>
                  <a:schemeClr val="accent6">
                    <a:lumMod val="75000"/>
                  </a:schemeClr>
                </a:solidFill>
              </a:rPr>
              <a:t> help  </a:t>
            </a:r>
            <a:r>
              <a:rPr lang="zh-CN" altLang="en-US" sz="2400" dirty="0"/>
              <a:t>命令显示上述命令的功能。</a:t>
            </a:r>
          </a:p>
          <a:p>
            <a:pPr>
              <a:buFont typeface="Arial" pitchFamily="34" charset="0"/>
              <a:buChar char="•"/>
            </a:pPr>
            <a:r>
              <a:rPr lang="zh-CN" altLang="en-US" sz="2400" dirty="0"/>
              <a:t> 可以使用命令参数</a:t>
            </a:r>
            <a:r>
              <a:rPr lang="en-US" altLang="zh-CN" sz="2400" dirty="0">
                <a:solidFill>
                  <a:schemeClr val="accent6">
                    <a:lumMod val="75000"/>
                  </a:schemeClr>
                </a:solidFill>
              </a:rPr>
              <a:t>-h</a:t>
            </a:r>
            <a:r>
              <a:rPr lang="zh-CN" altLang="en-US" sz="2400" dirty="0"/>
              <a:t>查看每个命令的使用方法，如： </a:t>
            </a:r>
          </a:p>
          <a:p>
            <a:r>
              <a:rPr lang="en-US" altLang="zh-CN" sz="2400" dirty="0">
                <a:solidFill>
                  <a:schemeClr val="accent6">
                    <a:lumMod val="75000"/>
                  </a:schemeClr>
                </a:solidFill>
              </a:rPr>
              <a:t># </a:t>
            </a:r>
            <a:r>
              <a:rPr lang="en-US" altLang="zh-CN" sz="2400" dirty="0" err="1">
                <a:solidFill>
                  <a:schemeClr val="accent6">
                    <a:lumMod val="75000"/>
                  </a:schemeClr>
                </a:solidFill>
              </a:rPr>
              <a:t>lvreduce</a:t>
            </a:r>
            <a:r>
              <a:rPr lang="en-US" altLang="zh-CN" sz="2400" dirty="0">
                <a:solidFill>
                  <a:schemeClr val="accent6">
                    <a:lumMod val="75000"/>
                  </a:schemeClr>
                </a:solidFill>
              </a:rPr>
              <a:t> -h</a:t>
            </a:r>
            <a:endParaRPr lang="zh-CN" altLang="en-US" sz="2400" dirty="0">
              <a:solidFill>
                <a:schemeClr val="accent6">
                  <a:lumMod val="75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83568" y="1844824"/>
            <a:ext cx="7990656" cy="4114800"/>
          </a:xfrm>
        </p:spPr>
        <p:txBody>
          <a:bodyPr/>
          <a:lstStyle/>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简述硬盘的技术指标？如何挑选服务器硬盘？</a:t>
            </a:r>
          </a:p>
          <a:p>
            <a:pPr marL="0" indent="0" algn="ctr" eaLnBrk="1" hangingPunct="1">
              <a:lnSpc>
                <a:spcPct val="130000"/>
              </a:lnSpc>
              <a:spcBef>
                <a:spcPts val="600"/>
              </a:spcBef>
              <a:buClrTx/>
              <a:buSzTx/>
              <a:buNone/>
            </a:pPr>
            <a:r>
              <a:rPr lang="en-US" altLang="zh-CN" b="1" dirty="0" err="1">
                <a:solidFill>
                  <a:srgbClr val="C00000"/>
                </a:solidFill>
                <a:latin typeface="微软雅黑" panose="020B0503020204020204" pitchFamily="34" charset="-122"/>
                <a:ea typeface="微软雅黑" panose="020B0503020204020204" pitchFamily="34" charset="-122"/>
              </a:rPr>
              <a:t>fdisk</a:t>
            </a:r>
            <a:r>
              <a:rPr lang="en-US" altLang="zh-CN" b="1" dirty="0">
                <a:solidFill>
                  <a:srgbClr val="C00000"/>
                </a:solidFill>
                <a:latin typeface="微软雅黑" panose="020B0503020204020204" pitchFamily="34" charset="-122"/>
                <a:ea typeface="微软雅黑" panose="020B0503020204020204" pitchFamily="34" charset="-122"/>
              </a:rPr>
              <a:t>/parted</a:t>
            </a:r>
            <a:r>
              <a:rPr lang="zh-CN" altLang="en-US" b="1" dirty="0">
                <a:solidFill>
                  <a:srgbClr val="C00000"/>
                </a:solidFill>
                <a:latin typeface="微软雅黑" panose="020B0503020204020204" pitchFamily="34" charset="-122"/>
                <a:ea typeface="微软雅黑" panose="020B0503020204020204" pitchFamily="34" charset="-122"/>
              </a:rPr>
              <a:t>命令有哪些常用的子命令？含义是什么？</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什么是</a:t>
            </a:r>
            <a:r>
              <a:rPr lang="en-US" altLang="zh-CN" b="1" dirty="0">
                <a:solidFill>
                  <a:srgbClr val="C00000"/>
                </a:solidFill>
                <a:latin typeface="微软雅黑" panose="020B0503020204020204" pitchFamily="34" charset="-122"/>
                <a:ea typeface="微软雅黑" panose="020B0503020204020204" pitchFamily="34" charset="-122"/>
              </a:rPr>
              <a:t>MBR/GPT</a:t>
            </a:r>
            <a:r>
              <a:rPr lang="zh-CN" altLang="en-US" b="1" dirty="0">
                <a:solidFill>
                  <a:srgbClr val="C00000"/>
                </a:solidFill>
                <a:latin typeface="微软雅黑" panose="020B0503020204020204" pitchFamily="34" charset="-122"/>
                <a:ea typeface="微软雅黑" panose="020B0503020204020204" pitchFamily="34" charset="-122"/>
              </a:rPr>
              <a:t>，存放了什么信息？</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使用</a:t>
            </a:r>
            <a:r>
              <a:rPr lang="en-US" altLang="zh-CN" b="1" dirty="0">
                <a:solidFill>
                  <a:srgbClr val="C00000"/>
                </a:solidFill>
                <a:latin typeface="微软雅黑" panose="020B0503020204020204" pitchFamily="34" charset="-122"/>
                <a:ea typeface="微软雅黑" panose="020B0503020204020204" pitchFamily="34" charset="-122"/>
              </a:rPr>
              <a:t>LVM</a:t>
            </a:r>
            <a:r>
              <a:rPr lang="zh-CN" altLang="en-US" b="1" dirty="0">
                <a:solidFill>
                  <a:srgbClr val="C00000"/>
                </a:solidFill>
                <a:latin typeface="微软雅黑" panose="020B0503020204020204" pitchFamily="34" charset="-122"/>
                <a:ea typeface="微软雅黑" panose="020B0503020204020204" pitchFamily="34" charset="-122"/>
              </a:rPr>
              <a:t>比使用固定分区有哪些优点？</a:t>
            </a:r>
          </a:p>
          <a:p>
            <a:pPr marL="0" indent="0" algn="ctr" eaLnBrk="1" hangingPunct="1">
              <a:lnSpc>
                <a:spcPct val="130000"/>
              </a:lnSpc>
              <a:spcBef>
                <a:spcPts val="600"/>
              </a:spcBef>
              <a:buClrTx/>
              <a:buSzTx/>
              <a:buNone/>
            </a:pPr>
            <a:r>
              <a:rPr lang="zh-CN" altLang="en-US" b="1" dirty="0">
                <a:solidFill>
                  <a:srgbClr val="C00000"/>
                </a:solidFill>
                <a:latin typeface="微软雅黑" panose="020B0503020204020204" pitchFamily="34" charset="-122"/>
                <a:ea typeface="微软雅黑" panose="020B0503020204020204" pitchFamily="34" charset="-122"/>
              </a:rPr>
              <a:t>简述</a:t>
            </a:r>
            <a:r>
              <a:rPr lang="en-US" altLang="zh-CN" b="1" dirty="0">
                <a:solidFill>
                  <a:srgbClr val="C00000"/>
                </a:solidFill>
                <a:latin typeface="微软雅黑" panose="020B0503020204020204" pitchFamily="34" charset="-122"/>
                <a:ea typeface="微软雅黑" panose="020B0503020204020204" pitchFamily="34" charset="-122"/>
              </a:rPr>
              <a:t>PV-VG-LV-PE</a:t>
            </a:r>
            <a:r>
              <a:rPr lang="zh-CN" altLang="en-US" b="1" dirty="0">
                <a:solidFill>
                  <a:srgbClr val="C00000"/>
                </a:solidFill>
                <a:latin typeface="微软雅黑" panose="020B0503020204020204" pitchFamily="34" charset="-122"/>
                <a:ea typeface="微软雅黑" panose="020B0503020204020204" pitchFamily="34" charset="-122"/>
              </a:rPr>
              <a:t>的逻辑关系。</a:t>
            </a:r>
          </a:p>
          <a:p>
            <a:endParaRPr lang="zh-CN" altLang="en-US" dirty="0"/>
          </a:p>
        </p:txBody>
      </p:sp>
      <p:sp>
        <p:nvSpPr>
          <p:cNvPr id="2" name="标题 1"/>
          <p:cNvSpPr>
            <a:spLocks noGrp="1"/>
          </p:cNvSpPr>
          <p:nvPr>
            <p:ph type="title" idx="4294967295"/>
          </p:nvPr>
        </p:nvSpPr>
        <p:spPr>
          <a:xfrm>
            <a:off x="1187624" y="620688"/>
            <a:ext cx="6288087" cy="639762"/>
          </a:xfrm>
        </p:spPr>
        <p:txBody>
          <a:bodyPr/>
          <a:lstStyle/>
          <a:p>
            <a:r>
              <a:rPr lang="zh-CN" altLang="en-US" dirty="0"/>
              <a:t>思考</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4">
            <a:extLst>
              <a:ext uri="{FF2B5EF4-FFF2-40B4-BE49-F238E27FC236}">
                <a16:creationId xmlns:a16="http://schemas.microsoft.com/office/drawing/2014/main" id="{9AD9A78A-609F-4797-AA52-6B1406C11E73}"/>
              </a:ext>
            </a:extLst>
          </p:cNvPr>
          <p:cNvSpPr>
            <a:spLocks noGrp="1" noChangeArrowheads="1"/>
          </p:cNvSpPr>
          <p:nvPr>
            <p:ph type="title"/>
          </p:nvPr>
        </p:nvSpPr>
        <p:spPr>
          <a:xfrm>
            <a:off x="1223987" y="71399"/>
            <a:ext cx="7793037" cy="1204515"/>
          </a:xfrm>
        </p:spPr>
        <p:txBody>
          <a:bodyPr/>
          <a:lstStyle/>
          <a:p>
            <a:r>
              <a:rPr lang="zh-CN" altLang="en-US" dirty="0">
                <a:latin typeface="黑体" panose="02010609060101010101" pitchFamily="49" charset="-122"/>
                <a:ea typeface="黑体" panose="02010609060101010101" pitchFamily="49" charset="-122"/>
              </a:rPr>
              <a:t>本章内容要点</a:t>
            </a:r>
          </a:p>
        </p:txBody>
      </p:sp>
      <p:pic>
        <p:nvPicPr>
          <p:cNvPr id="9221" name="Picture 8">
            <a:extLst>
              <a:ext uri="{FF2B5EF4-FFF2-40B4-BE49-F238E27FC236}">
                <a16:creationId xmlns:a16="http://schemas.microsoft.com/office/drawing/2014/main" id="{30CF9F7C-A188-429C-86A1-CC0CA6E855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9014"/>
            <a:ext cx="1574994" cy="15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D35220A3-8319-42A1-BF3C-A9D0A093B9DF}"/>
              </a:ext>
            </a:extLst>
          </p:cNvPr>
          <p:cNvSpPr txBox="1">
            <a:spLocks noChangeArrowheads="1"/>
          </p:cNvSpPr>
          <p:nvPr/>
        </p:nvSpPr>
        <p:spPr>
          <a:xfrm>
            <a:off x="833406" y="1581667"/>
            <a:ext cx="7882441" cy="4709205"/>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000" kern="1200">
                <a:solidFill>
                  <a:schemeClr val="tx1">
                    <a:tint val="75000"/>
                  </a:schemeClr>
                </a:solidFill>
                <a:latin typeface="Broadway" panose="04040905080B02020502" pitchFamily="82"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存储管理与磁盘分区</a:t>
            </a:r>
          </a:p>
          <a:p>
            <a:pPr lvl="1" algn="l">
              <a:lnSpc>
                <a:spcPct val="110000"/>
              </a:lnSpc>
              <a:spcBef>
                <a:spcPts val="600"/>
              </a:spcBef>
              <a:spcAft>
                <a:spcPts val="600"/>
              </a:spcAft>
            </a:pPr>
            <a:r>
              <a:rPr lang="zh-CN" altLang="en-US" dirty="0">
                <a:solidFill>
                  <a:schemeClr val="tx1"/>
                </a:solidFill>
              </a:rPr>
              <a:t>存储管理工具，</a:t>
            </a:r>
            <a:r>
              <a:rPr lang="en-US" altLang="zh-CN" dirty="0">
                <a:solidFill>
                  <a:schemeClr val="tx1"/>
                </a:solidFill>
              </a:rPr>
              <a:t>Linux</a:t>
            </a:r>
            <a:r>
              <a:rPr lang="zh-CN" altLang="en-US" dirty="0">
                <a:solidFill>
                  <a:schemeClr val="tx1"/>
                </a:solidFill>
              </a:rPr>
              <a:t>文件系统，硬盘的分类，硬盘的接口，硬盘分区</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逻辑卷管理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什么是</a:t>
            </a:r>
            <a:r>
              <a:rPr lang="en-US" altLang="zh-CN" dirty="0">
                <a:solidFill>
                  <a:prstClr val="black"/>
                </a:solidFill>
              </a:rPr>
              <a:t>LVM</a:t>
            </a:r>
            <a:r>
              <a:rPr lang="zh-CN" altLang="en-US" dirty="0">
                <a:solidFill>
                  <a:prstClr val="black"/>
                </a:solidFill>
              </a:rPr>
              <a:t>，</a:t>
            </a:r>
            <a:r>
              <a:rPr lang="en-US" altLang="zh-CN" dirty="0">
                <a:solidFill>
                  <a:prstClr val="black"/>
                </a:solidFill>
              </a:rPr>
              <a:t>LVM</a:t>
            </a:r>
            <a:r>
              <a:rPr lang="zh-CN" altLang="en-US" dirty="0">
                <a:solidFill>
                  <a:prstClr val="black"/>
                </a:solidFill>
              </a:rPr>
              <a:t>基本概念，</a:t>
            </a:r>
            <a:r>
              <a:rPr lang="en-US" altLang="zh-CN" dirty="0">
                <a:solidFill>
                  <a:prstClr val="black"/>
                </a:solidFill>
              </a:rPr>
              <a:t>LVM</a:t>
            </a:r>
            <a:r>
              <a:rPr lang="zh-CN" altLang="en-US" dirty="0">
                <a:solidFill>
                  <a:prstClr val="black"/>
                </a:solidFill>
              </a:rPr>
              <a:t>与文件系统之间的关系，如何管理</a:t>
            </a:r>
            <a:r>
              <a:rPr lang="en-US" altLang="zh-CN" dirty="0">
                <a:solidFill>
                  <a:prstClr val="black"/>
                </a:solidFill>
              </a:rPr>
              <a:t>LVM</a:t>
            </a:r>
            <a:endParaRPr lang="en-US" altLang="zh-CN" dirty="0">
              <a:solidFill>
                <a:schemeClr val="tx1"/>
              </a:solidFill>
            </a:endParaRPr>
          </a:p>
          <a:p>
            <a:pPr marL="342900" indent="-342900" algn="l">
              <a:spcBef>
                <a:spcPts val="600"/>
              </a:spcBef>
              <a:spcAft>
                <a:spcPts val="600"/>
              </a:spcAft>
              <a:buFont typeface="Wingdings" panose="05000000000000000000" pitchFamily="2" charset="2"/>
              <a:buChar char="Ø"/>
            </a:pPr>
            <a:r>
              <a:rPr lang="zh-CN" altLang="en-US" sz="3200" dirty="0">
                <a:solidFill>
                  <a:schemeClr val="tx1"/>
                </a:solidFill>
              </a:rPr>
              <a:t> 文件管理</a:t>
            </a:r>
            <a:endParaRPr lang="en-US" altLang="zh-CN" sz="3200" dirty="0">
              <a:solidFill>
                <a:schemeClr val="tx1"/>
              </a:solidFill>
            </a:endParaRPr>
          </a:p>
          <a:p>
            <a:pPr lvl="1" algn="l">
              <a:lnSpc>
                <a:spcPct val="110000"/>
              </a:lnSpc>
              <a:spcBef>
                <a:spcPts val="600"/>
              </a:spcBef>
              <a:spcAft>
                <a:spcPts val="600"/>
              </a:spcAft>
            </a:pPr>
            <a:r>
              <a:rPr lang="zh-CN" altLang="en-US" dirty="0">
                <a:solidFill>
                  <a:prstClr val="black"/>
                </a:solidFill>
              </a:rPr>
              <a:t>创建文件系统，挂装文件系统，自动挂装文件系统，磁盘限额及其配置方法</a:t>
            </a:r>
          </a:p>
        </p:txBody>
      </p:sp>
      <p:sp>
        <p:nvSpPr>
          <p:cNvPr id="6" name="圆角矩形 1">
            <a:extLst>
              <a:ext uri="{FF2B5EF4-FFF2-40B4-BE49-F238E27FC236}">
                <a16:creationId xmlns:a16="http://schemas.microsoft.com/office/drawing/2014/main" id="{76CD7918-26CF-4B91-B8D7-A3F7D67A4545}"/>
              </a:ext>
            </a:extLst>
          </p:cNvPr>
          <p:cNvSpPr/>
          <p:nvPr/>
        </p:nvSpPr>
        <p:spPr>
          <a:xfrm>
            <a:off x="833406" y="5067252"/>
            <a:ext cx="7808777" cy="1667871"/>
          </a:xfrm>
          <a:prstGeom prst="round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spTree>
    <p:extLst>
      <p:ext uri="{BB962C8B-B14F-4D97-AF65-F5344CB8AC3E}">
        <p14:creationId xmlns:p14="http://schemas.microsoft.com/office/powerpoint/2010/main" val="4053518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8242423" cy="1052513"/>
          </a:xfrm>
        </p:spPr>
        <p:txBody>
          <a:bodyPr/>
          <a:lstStyle/>
          <a:p>
            <a:r>
              <a:rPr lang="zh-CN" altLang="en-US" dirty="0"/>
              <a:t>文件系统（</a:t>
            </a:r>
            <a:r>
              <a:rPr lang="en-US" altLang="zh-CN" dirty="0"/>
              <a:t>File System</a:t>
            </a:r>
            <a:r>
              <a:rPr lang="zh-CN" altLang="en-US" dirty="0"/>
              <a:t>）定义</a:t>
            </a:r>
          </a:p>
        </p:txBody>
      </p:sp>
      <p:sp>
        <p:nvSpPr>
          <p:cNvPr id="3" name="内容占位符 2"/>
          <p:cNvSpPr>
            <a:spLocks noGrp="1"/>
          </p:cNvSpPr>
          <p:nvPr>
            <p:ph idx="1"/>
          </p:nvPr>
        </p:nvSpPr>
        <p:spPr>
          <a:xfrm>
            <a:off x="827584" y="1371600"/>
            <a:ext cx="7848872" cy="5225752"/>
          </a:xfrm>
        </p:spPr>
        <p:txBody>
          <a:bodyPr/>
          <a:lstStyle/>
          <a:p>
            <a:pPr>
              <a:lnSpc>
                <a:spcPct val="120000"/>
              </a:lnSpc>
            </a:pPr>
            <a:r>
              <a:rPr lang="zh-CN" altLang="en-US" sz="2400" dirty="0"/>
              <a:t>文件系统是包括在一个磁盘（硬盘、光盘及其它存储设备）上的</a:t>
            </a:r>
            <a:r>
              <a:rPr lang="zh-CN" altLang="en-US" sz="2400" dirty="0">
                <a:solidFill>
                  <a:srgbClr val="FF0000"/>
                </a:solidFill>
              </a:rPr>
              <a:t>目录结构</a:t>
            </a:r>
            <a:r>
              <a:rPr lang="zh-CN" altLang="en-US" sz="2400" dirty="0"/>
              <a:t>；</a:t>
            </a:r>
            <a:r>
              <a:rPr lang="zh-CN" altLang="en-US" sz="2400" dirty="0">
                <a:solidFill>
                  <a:srgbClr val="FF0000"/>
                </a:solidFill>
              </a:rPr>
              <a:t>一个磁盘</a:t>
            </a:r>
            <a:r>
              <a:rPr lang="zh-CN" altLang="en-US" sz="2400" dirty="0"/>
              <a:t>设备可以</a:t>
            </a:r>
            <a:r>
              <a:rPr lang="zh-CN" altLang="en-US" sz="2400" dirty="0">
                <a:solidFill>
                  <a:srgbClr val="FF0000"/>
                </a:solidFill>
              </a:rPr>
              <a:t>包含一个或多个文件系统</a:t>
            </a:r>
            <a:endParaRPr lang="zh-CN" altLang="en-US" sz="2400" dirty="0"/>
          </a:p>
          <a:p>
            <a:pPr>
              <a:lnSpc>
                <a:spcPct val="120000"/>
              </a:lnSpc>
            </a:pPr>
            <a:r>
              <a:rPr lang="zh-CN" altLang="en-US" sz="2400" dirty="0"/>
              <a:t>文件系统是在一个磁盘（硬盘、光盘及其它存储设备）上</a:t>
            </a:r>
            <a:r>
              <a:rPr lang="zh-CN" altLang="en-US" sz="2400" dirty="0">
                <a:solidFill>
                  <a:srgbClr val="FF0000"/>
                </a:solidFill>
              </a:rPr>
              <a:t>组织文件的方法</a:t>
            </a:r>
            <a:endParaRPr lang="zh-CN" altLang="en-US" sz="2400" dirty="0"/>
          </a:p>
          <a:p>
            <a:pPr>
              <a:lnSpc>
                <a:spcPct val="120000"/>
              </a:lnSpc>
            </a:pPr>
            <a:r>
              <a:rPr lang="zh-CN" altLang="en-US" sz="2400" dirty="0"/>
              <a:t>文件系统是</a:t>
            </a:r>
            <a:r>
              <a:rPr lang="zh-CN" altLang="en-US" sz="2400" dirty="0">
                <a:solidFill>
                  <a:srgbClr val="FF0000"/>
                </a:solidFill>
              </a:rPr>
              <a:t>文件的数据结构</a:t>
            </a:r>
            <a:r>
              <a:rPr lang="zh-CN" altLang="en-US" sz="2400" dirty="0"/>
              <a:t>或组织方法</a:t>
            </a:r>
          </a:p>
          <a:p>
            <a:pPr>
              <a:lnSpc>
                <a:spcPct val="120000"/>
              </a:lnSpc>
            </a:pPr>
            <a:r>
              <a:rPr lang="zh-CN" altLang="en-US" sz="2400" dirty="0"/>
              <a:t>文件系统是基于被划分的存储设备上的一种</a:t>
            </a:r>
            <a:r>
              <a:rPr lang="zh-CN" altLang="en-US" sz="2400" dirty="0">
                <a:solidFill>
                  <a:srgbClr val="FF0000"/>
                </a:solidFill>
              </a:rPr>
              <a:t>文件的命名、存储、组织及读取的方法</a:t>
            </a:r>
            <a:endParaRPr lang="zh-CN" altLang="en-US" sz="2400" dirty="0"/>
          </a:p>
          <a:p>
            <a:pPr>
              <a:lnSpc>
                <a:spcPct val="120000"/>
              </a:lnSpc>
            </a:pPr>
            <a:r>
              <a:rPr lang="zh-CN" altLang="en-US" sz="2400" dirty="0"/>
              <a:t>一个文件系统是有组织存储文件或数据的方法，目的是易于查询和存取。文件系统是基于一个存储设备，比如硬盘或光盘，并且包含</a:t>
            </a:r>
            <a:r>
              <a:rPr lang="zh-CN" altLang="en-US" sz="2400" dirty="0">
                <a:solidFill>
                  <a:srgbClr val="FF0000"/>
                </a:solidFill>
              </a:rPr>
              <a:t>文件物理位置的维护</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的文件系统结构</a:t>
            </a:r>
          </a:p>
        </p:txBody>
      </p:sp>
      <p:sp>
        <p:nvSpPr>
          <p:cNvPr id="3" name="内容占位符 2"/>
          <p:cNvSpPr>
            <a:spLocks noGrp="1"/>
          </p:cNvSpPr>
          <p:nvPr>
            <p:ph idx="1"/>
          </p:nvPr>
        </p:nvSpPr>
        <p:spPr>
          <a:xfrm>
            <a:off x="457200" y="1412776"/>
            <a:ext cx="8229600" cy="5006181"/>
          </a:xfrm>
        </p:spPr>
        <p:txBody>
          <a:bodyPr/>
          <a:lstStyle/>
          <a:p>
            <a:pPr>
              <a:lnSpc>
                <a:spcPct val="90000"/>
              </a:lnSpc>
            </a:pPr>
            <a:r>
              <a:rPr lang="en-US" altLang="zh-CN" sz="2800" dirty="0"/>
              <a:t>Linux</a:t>
            </a:r>
            <a:r>
              <a:rPr lang="zh-CN" altLang="en-US" sz="2800" dirty="0"/>
              <a:t>下的所有文件和目录以一个</a:t>
            </a:r>
            <a:r>
              <a:rPr lang="zh-CN" altLang="en-US" sz="2800" dirty="0">
                <a:solidFill>
                  <a:srgbClr val="FF0000"/>
                </a:solidFill>
              </a:rPr>
              <a:t>树状的结构</a:t>
            </a:r>
            <a:r>
              <a:rPr lang="zh-CN" altLang="en-US" sz="2800" dirty="0"/>
              <a:t>组织构成了 </a:t>
            </a:r>
            <a:r>
              <a:rPr lang="en-US" altLang="zh-CN" sz="2800" dirty="0"/>
              <a:t>Linux </a:t>
            </a:r>
            <a:r>
              <a:rPr lang="zh-CN" altLang="en-US" sz="2800" dirty="0"/>
              <a:t>中的</a:t>
            </a:r>
            <a:r>
              <a:rPr lang="zh-CN" altLang="en-US" sz="2800" b="1" dirty="0" smtClean="0">
                <a:latin typeface="黑体" panose="02010609060101010101" pitchFamily="49" charset="-122"/>
                <a:ea typeface="黑体" panose="02010609060101010101" pitchFamily="49" charset="-122"/>
              </a:rPr>
              <a:t>文件系统结构</a:t>
            </a:r>
            <a:r>
              <a:rPr lang="zh-CN" altLang="en-US" sz="2800" dirty="0" smtClean="0"/>
              <a:t>（</a:t>
            </a:r>
            <a:r>
              <a:rPr lang="zh-CN" altLang="en-US" sz="2800" b="1" dirty="0">
                <a:latin typeface="黑体" panose="02010609060101010101" pitchFamily="49" charset="-122"/>
                <a:ea typeface="黑体" panose="02010609060101010101" pitchFamily="49" charset="-122"/>
              </a:rPr>
              <a:t>目录树</a:t>
            </a:r>
            <a:r>
              <a:rPr lang="zh-CN" altLang="en-US" sz="2800" dirty="0" smtClean="0"/>
              <a:t>）。</a:t>
            </a:r>
            <a:endParaRPr lang="zh-CN" altLang="en-US" sz="2800" dirty="0"/>
          </a:p>
          <a:p>
            <a:pPr lvl="1">
              <a:lnSpc>
                <a:spcPct val="90000"/>
              </a:lnSpc>
            </a:pPr>
            <a:r>
              <a:rPr lang="en-US" altLang="zh-CN" sz="2400" dirty="0">
                <a:solidFill>
                  <a:srgbClr val="FF0000"/>
                </a:solidFill>
              </a:rPr>
              <a:t>Linux</a:t>
            </a:r>
            <a:r>
              <a:rPr lang="zh-CN" altLang="en-US" sz="2400" dirty="0">
                <a:solidFill>
                  <a:srgbClr val="FF0000"/>
                </a:solidFill>
              </a:rPr>
              <a:t>文件系统标准</a:t>
            </a:r>
            <a:r>
              <a:rPr lang="zh-CN" altLang="en-US" sz="2400" dirty="0"/>
              <a:t>（</a:t>
            </a:r>
            <a:r>
              <a:rPr lang="en-US" altLang="zh-CN" sz="2400" dirty="0"/>
              <a:t>Linux File System Standard</a:t>
            </a:r>
            <a:r>
              <a:rPr lang="zh-CN" altLang="en-US" sz="2400" dirty="0"/>
              <a:t>，</a:t>
            </a:r>
            <a:r>
              <a:rPr lang="en-US" altLang="zh-CN" sz="2400" dirty="0"/>
              <a:t>FSSTND</a:t>
            </a:r>
            <a:r>
              <a:rPr lang="zh-CN" altLang="en-US" sz="2400" dirty="0"/>
              <a:t>） </a:t>
            </a:r>
          </a:p>
          <a:p>
            <a:pPr lvl="1">
              <a:lnSpc>
                <a:spcPct val="90000"/>
              </a:lnSpc>
            </a:pPr>
            <a:r>
              <a:rPr lang="zh-CN" altLang="en-US" sz="2400" dirty="0">
                <a:solidFill>
                  <a:srgbClr val="FF0000"/>
                </a:solidFill>
              </a:rPr>
              <a:t>文件系统层次结构标准</a:t>
            </a:r>
            <a:r>
              <a:rPr lang="zh-CN" altLang="en-US" sz="2400" dirty="0"/>
              <a:t>（</a:t>
            </a:r>
            <a:r>
              <a:rPr lang="en-US" altLang="zh-CN" sz="2400" dirty="0"/>
              <a:t>File System Hierarchy Standard</a:t>
            </a:r>
            <a:r>
              <a:rPr lang="zh-CN" altLang="en-US" sz="2400" dirty="0"/>
              <a:t>，</a:t>
            </a:r>
            <a:r>
              <a:rPr lang="en-US" altLang="zh-CN" sz="2400" dirty="0"/>
              <a:t>FHS</a:t>
            </a:r>
            <a:r>
              <a:rPr lang="zh-CN" altLang="en-US" sz="2400" dirty="0"/>
              <a:t>） </a:t>
            </a:r>
            <a:endParaRPr lang="zh-CN" altLang="en-US" dirty="0"/>
          </a:p>
        </p:txBody>
      </p:sp>
      <p:grpSp>
        <p:nvGrpSpPr>
          <p:cNvPr id="7" name="Group 6"/>
          <p:cNvGrpSpPr>
            <a:grpSpLocks/>
          </p:cNvGrpSpPr>
          <p:nvPr/>
        </p:nvGrpSpPr>
        <p:grpSpPr bwMode="auto">
          <a:xfrm>
            <a:off x="683568" y="3897477"/>
            <a:ext cx="8061325" cy="2708275"/>
            <a:chOff x="340" y="2478"/>
            <a:chExt cx="5078" cy="1706"/>
          </a:xfrm>
        </p:grpSpPr>
        <p:sp>
          <p:nvSpPr>
            <p:cNvPr id="8" name="Text Box 7"/>
            <p:cNvSpPr txBox="1">
              <a:spLocks noChangeArrowheads="1"/>
            </p:cNvSpPr>
            <p:nvPr/>
          </p:nvSpPr>
          <p:spPr bwMode="auto">
            <a:xfrm>
              <a:off x="2154" y="2523"/>
              <a:ext cx="1248" cy="288"/>
            </a:xfrm>
            <a:prstGeom prst="rect">
              <a:avLst/>
            </a:prstGeom>
            <a:noFill/>
            <a:ln w="9525">
              <a:noFill/>
              <a:miter lim="800000"/>
              <a:headEnd/>
              <a:tailEnd/>
            </a:ln>
            <a:effectLst/>
          </p:spPr>
          <p:txBody>
            <a:bodyPr>
              <a:spAutoFit/>
            </a:bodyPr>
            <a:lstStyle/>
            <a:p>
              <a:pPr>
                <a:spcBef>
                  <a:spcPct val="50000"/>
                </a:spcBef>
              </a:pPr>
              <a:r>
                <a:rPr kumimoji="1" lang="en-US" altLang="zh-CN" sz="2400" b="1" dirty="0">
                  <a:solidFill>
                    <a:srgbClr val="0033CC"/>
                  </a:solidFill>
                  <a:latin typeface="Tahoma" pitchFamily="34" charset="0"/>
                </a:rPr>
                <a:t>/</a:t>
              </a:r>
              <a:r>
                <a:rPr kumimoji="1" lang="zh-CN" altLang="en-US" sz="2000" b="1" dirty="0">
                  <a:latin typeface="Tahoma" pitchFamily="34" charset="0"/>
                </a:rPr>
                <a:t>（根目录）</a:t>
              </a:r>
            </a:p>
          </p:txBody>
        </p:sp>
        <p:sp>
          <p:nvSpPr>
            <p:cNvPr id="9" name="Line 8"/>
            <p:cNvSpPr>
              <a:spLocks noChangeShapeType="1"/>
            </p:cNvSpPr>
            <p:nvPr/>
          </p:nvSpPr>
          <p:spPr bwMode="auto">
            <a:xfrm>
              <a:off x="762" y="3003"/>
              <a:ext cx="3744" cy="0"/>
            </a:xfrm>
            <a:prstGeom prst="line">
              <a:avLst/>
            </a:prstGeom>
            <a:noFill/>
            <a:ln w="38100">
              <a:solidFill>
                <a:schemeClr val="tx1"/>
              </a:solidFill>
              <a:miter lim="800000"/>
              <a:headEnd/>
              <a:tailEnd/>
            </a:ln>
            <a:effectLst/>
          </p:spPr>
          <p:txBody>
            <a:bodyPr wrap="none"/>
            <a:lstStyle/>
            <a:p>
              <a:endParaRPr lang="zh-CN" altLang="en-US"/>
            </a:p>
          </p:txBody>
        </p:sp>
        <p:sp>
          <p:nvSpPr>
            <p:cNvPr id="10" name="Line 9"/>
            <p:cNvSpPr>
              <a:spLocks noChangeShapeType="1"/>
            </p:cNvSpPr>
            <p:nvPr/>
          </p:nvSpPr>
          <p:spPr bwMode="auto">
            <a:xfrm>
              <a:off x="2250" y="2811"/>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1" name="Line 10"/>
            <p:cNvSpPr>
              <a:spLocks noChangeShapeType="1"/>
            </p:cNvSpPr>
            <p:nvPr/>
          </p:nvSpPr>
          <p:spPr bwMode="auto">
            <a:xfrm>
              <a:off x="762"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2" name="Line 11"/>
            <p:cNvSpPr>
              <a:spLocks noChangeShapeType="1"/>
            </p:cNvSpPr>
            <p:nvPr/>
          </p:nvSpPr>
          <p:spPr bwMode="auto">
            <a:xfrm>
              <a:off x="1242"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3" name="Line 12"/>
            <p:cNvSpPr>
              <a:spLocks noChangeShapeType="1"/>
            </p:cNvSpPr>
            <p:nvPr/>
          </p:nvSpPr>
          <p:spPr bwMode="auto">
            <a:xfrm>
              <a:off x="1770"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4" name="Line 13"/>
            <p:cNvSpPr>
              <a:spLocks noChangeShapeType="1"/>
            </p:cNvSpPr>
            <p:nvPr/>
          </p:nvSpPr>
          <p:spPr bwMode="auto">
            <a:xfrm>
              <a:off x="2250"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5" name="Line 14"/>
            <p:cNvSpPr>
              <a:spLocks noChangeShapeType="1"/>
            </p:cNvSpPr>
            <p:nvPr/>
          </p:nvSpPr>
          <p:spPr bwMode="auto">
            <a:xfrm>
              <a:off x="2778"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6" name="Line 15"/>
            <p:cNvSpPr>
              <a:spLocks noChangeShapeType="1"/>
            </p:cNvSpPr>
            <p:nvPr/>
          </p:nvSpPr>
          <p:spPr bwMode="auto">
            <a:xfrm>
              <a:off x="3306"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7" name="Line 16"/>
            <p:cNvSpPr>
              <a:spLocks noChangeShapeType="1"/>
            </p:cNvSpPr>
            <p:nvPr/>
          </p:nvSpPr>
          <p:spPr bwMode="auto">
            <a:xfrm>
              <a:off x="3882"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8" name="Line 17"/>
            <p:cNvSpPr>
              <a:spLocks noChangeShapeType="1"/>
            </p:cNvSpPr>
            <p:nvPr/>
          </p:nvSpPr>
          <p:spPr bwMode="auto">
            <a:xfrm>
              <a:off x="4506" y="3003"/>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19" name="Text Box 18"/>
            <p:cNvSpPr txBox="1">
              <a:spLocks noChangeArrowheads="1"/>
            </p:cNvSpPr>
            <p:nvPr/>
          </p:nvSpPr>
          <p:spPr bwMode="auto">
            <a:xfrm>
              <a:off x="474" y="3160"/>
              <a:ext cx="4944" cy="250"/>
            </a:xfrm>
            <a:prstGeom prst="rect">
              <a:avLst/>
            </a:prstGeom>
            <a:noFill/>
            <a:ln w="9525">
              <a:noFill/>
              <a:miter lim="800000"/>
              <a:headEnd/>
              <a:tailEnd/>
            </a:ln>
            <a:effectLst/>
          </p:spPr>
          <p:txBody>
            <a:bodyPr>
              <a:spAutoFit/>
            </a:bodyPr>
            <a:lstStyle/>
            <a:p>
              <a:r>
                <a:rPr kumimoji="1" lang="en-US" altLang="zh-CN" sz="2000" b="1" dirty="0">
                  <a:solidFill>
                    <a:srgbClr val="0033CC"/>
                  </a:solidFill>
                  <a:latin typeface="Lucida Console" pitchFamily="49" charset="0"/>
                </a:rPr>
                <a:t>/bin  /</a:t>
              </a:r>
              <a:r>
                <a:rPr kumimoji="1" lang="en-US" altLang="zh-CN" sz="2000" b="1" dirty="0" err="1">
                  <a:solidFill>
                    <a:srgbClr val="0033CC"/>
                  </a:solidFill>
                  <a:latin typeface="Lucida Console" pitchFamily="49" charset="0"/>
                </a:rPr>
                <a:t>sbin</a:t>
              </a:r>
              <a:r>
                <a:rPr kumimoji="1" lang="en-US" altLang="zh-CN" sz="2000" b="1" dirty="0">
                  <a:solidFill>
                    <a:srgbClr val="0033CC"/>
                  </a:solidFill>
                  <a:latin typeface="Lucida Console" pitchFamily="49" charset="0"/>
                </a:rPr>
                <a:t> /</a:t>
              </a:r>
              <a:r>
                <a:rPr kumimoji="1" lang="en-US" altLang="zh-CN" sz="2000" b="1" dirty="0" err="1">
                  <a:solidFill>
                    <a:srgbClr val="0033CC"/>
                  </a:solidFill>
                  <a:latin typeface="Lucida Console" pitchFamily="49" charset="0"/>
                </a:rPr>
                <a:t>usr</a:t>
              </a:r>
              <a:r>
                <a:rPr kumimoji="1" lang="en-US" altLang="zh-CN" sz="2000" b="1" dirty="0">
                  <a:solidFill>
                    <a:srgbClr val="0033CC"/>
                  </a:solidFill>
                  <a:latin typeface="Lucida Console" pitchFamily="49" charset="0"/>
                </a:rPr>
                <a:t> /etc  /root /home /lib  . . .</a:t>
              </a:r>
            </a:p>
          </p:txBody>
        </p:sp>
        <p:sp>
          <p:nvSpPr>
            <p:cNvPr id="20" name="Line 19"/>
            <p:cNvSpPr>
              <a:spLocks noChangeShapeType="1"/>
            </p:cNvSpPr>
            <p:nvPr/>
          </p:nvSpPr>
          <p:spPr bwMode="auto">
            <a:xfrm>
              <a:off x="1290" y="3579"/>
              <a:ext cx="1008" cy="0"/>
            </a:xfrm>
            <a:prstGeom prst="line">
              <a:avLst/>
            </a:prstGeom>
            <a:noFill/>
            <a:ln w="38100">
              <a:solidFill>
                <a:schemeClr val="tx1"/>
              </a:solidFill>
              <a:miter lim="800000"/>
              <a:headEnd/>
              <a:tailEnd/>
            </a:ln>
            <a:effectLst/>
          </p:spPr>
          <p:txBody>
            <a:bodyPr wrap="none"/>
            <a:lstStyle/>
            <a:p>
              <a:endParaRPr lang="zh-CN" altLang="en-US"/>
            </a:p>
          </p:txBody>
        </p:sp>
        <p:sp>
          <p:nvSpPr>
            <p:cNvPr id="21" name="Line 20"/>
            <p:cNvSpPr>
              <a:spLocks noChangeShapeType="1"/>
            </p:cNvSpPr>
            <p:nvPr/>
          </p:nvSpPr>
          <p:spPr bwMode="auto">
            <a:xfrm>
              <a:off x="1770" y="338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2" name="Line 21"/>
            <p:cNvSpPr>
              <a:spLocks noChangeShapeType="1"/>
            </p:cNvSpPr>
            <p:nvPr/>
          </p:nvSpPr>
          <p:spPr bwMode="auto">
            <a:xfrm>
              <a:off x="1290" y="3579"/>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3" name="Line 22"/>
            <p:cNvSpPr>
              <a:spLocks noChangeShapeType="1"/>
            </p:cNvSpPr>
            <p:nvPr/>
          </p:nvSpPr>
          <p:spPr bwMode="auto">
            <a:xfrm>
              <a:off x="1770" y="3579"/>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4" name="Line 23"/>
            <p:cNvSpPr>
              <a:spLocks noChangeShapeType="1"/>
            </p:cNvSpPr>
            <p:nvPr/>
          </p:nvSpPr>
          <p:spPr bwMode="auto">
            <a:xfrm>
              <a:off x="2298" y="3579"/>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5" name="Rectangle 24"/>
            <p:cNvSpPr>
              <a:spLocks noChangeArrowheads="1"/>
            </p:cNvSpPr>
            <p:nvPr/>
          </p:nvSpPr>
          <p:spPr bwMode="auto">
            <a:xfrm>
              <a:off x="1098" y="3819"/>
              <a:ext cx="1584" cy="250"/>
            </a:xfrm>
            <a:prstGeom prst="rect">
              <a:avLst/>
            </a:prstGeom>
            <a:noFill/>
            <a:ln w="9525">
              <a:noFill/>
              <a:miter lim="800000"/>
              <a:headEnd/>
              <a:tailEnd/>
            </a:ln>
            <a:effectLst/>
          </p:spPr>
          <p:txBody>
            <a:bodyPr>
              <a:spAutoFit/>
            </a:bodyPr>
            <a:lstStyle/>
            <a:p>
              <a:r>
                <a:rPr kumimoji="1" lang="en-US" altLang="zh-CN" sz="2000" b="1">
                  <a:solidFill>
                    <a:srgbClr val="0033CC"/>
                  </a:solidFill>
                  <a:latin typeface="Lucida Console" pitchFamily="49" charset="0"/>
                </a:rPr>
                <a:t>. . . . . . .</a:t>
              </a:r>
            </a:p>
          </p:txBody>
        </p:sp>
        <p:sp>
          <p:nvSpPr>
            <p:cNvPr id="26" name="Line 25"/>
            <p:cNvSpPr>
              <a:spLocks noChangeShapeType="1"/>
            </p:cNvSpPr>
            <p:nvPr/>
          </p:nvSpPr>
          <p:spPr bwMode="auto">
            <a:xfrm>
              <a:off x="3402" y="3627"/>
              <a:ext cx="1008" cy="0"/>
            </a:xfrm>
            <a:prstGeom prst="line">
              <a:avLst/>
            </a:prstGeom>
            <a:noFill/>
            <a:ln w="38100">
              <a:solidFill>
                <a:schemeClr val="tx1"/>
              </a:solidFill>
              <a:miter lim="800000"/>
              <a:headEnd/>
              <a:tailEnd/>
            </a:ln>
            <a:effectLst/>
          </p:spPr>
          <p:txBody>
            <a:bodyPr wrap="none"/>
            <a:lstStyle/>
            <a:p>
              <a:endParaRPr lang="zh-CN" altLang="en-US"/>
            </a:p>
          </p:txBody>
        </p:sp>
        <p:sp>
          <p:nvSpPr>
            <p:cNvPr id="27" name="Line 26"/>
            <p:cNvSpPr>
              <a:spLocks noChangeShapeType="1"/>
            </p:cNvSpPr>
            <p:nvPr/>
          </p:nvSpPr>
          <p:spPr bwMode="auto">
            <a:xfrm>
              <a:off x="3882" y="3435"/>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8" name="Line 27"/>
            <p:cNvSpPr>
              <a:spLocks noChangeShapeType="1"/>
            </p:cNvSpPr>
            <p:nvPr/>
          </p:nvSpPr>
          <p:spPr bwMode="auto">
            <a:xfrm>
              <a:off x="3402" y="362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29" name="Line 28"/>
            <p:cNvSpPr>
              <a:spLocks noChangeShapeType="1"/>
            </p:cNvSpPr>
            <p:nvPr/>
          </p:nvSpPr>
          <p:spPr bwMode="auto">
            <a:xfrm>
              <a:off x="3882" y="362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30" name="Line 29"/>
            <p:cNvSpPr>
              <a:spLocks noChangeShapeType="1"/>
            </p:cNvSpPr>
            <p:nvPr/>
          </p:nvSpPr>
          <p:spPr bwMode="auto">
            <a:xfrm>
              <a:off x="4410" y="3627"/>
              <a:ext cx="0" cy="192"/>
            </a:xfrm>
            <a:prstGeom prst="line">
              <a:avLst/>
            </a:prstGeom>
            <a:noFill/>
            <a:ln w="38100">
              <a:solidFill>
                <a:schemeClr val="tx1"/>
              </a:solidFill>
              <a:miter lim="800000"/>
              <a:headEnd/>
              <a:tailEnd/>
            </a:ln>
            <a:effectLst/>
          </p:spPr>
          <p:txBody>
            <a:bodyPr wrap="none"/>
            <a:lstStyle/>
            <a:p>
              <a:endParaRPr lang="zh-CN" altLang="en-US"/>
            </a:p>
          </p:txBody>
        </p:sp>
        <p:sp>
          <p:nvSpPr>
            <p:cNvPr id="31" name="Rectangle 30"/>
            <p:cNvSpPr>
              <a:spLocks noChangeArrowheads="1"/>
            </p:cNvSpPr>
            <p:nvPr/>
          </p:nvSpPr>
          <p:spPr bwMode="auto">
            <a:xfrm>
              <a:off x="3210" y="3867"/>
              <a:ext cx="1584" cy="250"/>
            </a:xfrm>
            <a:prstGeom prst="rect">
              <a:avLst/>
            </a:prstGeom>
            <a:noFill/>
            <a:ln w="9525">
              <a:noFill/>
              <a:miter lim="800000"/>
              <a:headEnd/>
              <a:tailEnd/>
            </a:ln>
            <a:effectLst/>
          </p:spPr>
          <p:txBody>
            <a:bodyPr>
              <a:spAutoFit/>
            </a:bodyPr>
            <a:lstStyle/>
            <a:p>
              <a:r>
                <a:rPr kumimoji="1" lang="en-US" altLang="zh-CN" sz="2000" b="1">
                  <a:solidFill>
                    <a:srgbClr val="0033CC"/>
                  </a:solidFill>
                  <a:latin typeface="Lucida Console" pitchFamily="49" charset="0"/>
                </a:rPr>
                <a:t>. . . . . . .</a:t>
              </a:r>
            </a:p>
          </p:txBody>
        </p:sp>
        <p:sp>
          <p:nvSpPr>
            <p:cNvPr id="32" name="Rectangle 31"/>
            <p:cNvSpPr>
              <a:spLocks noChangeArrowheads="1"/>
            </p:cNvSpPr>
            <p:nvPr/>
          </p:nvSpPr>
          <p:spPr bwMode="auto">
            <a:xfrm>
              <a:off x="340" y="2478"/>
              <a:ext cx="5035" cy="1706"/>
            </a:xfrm>
            <a:prstGeom prst="rect">
              <a:avLst/>
            </a:prstGeom>
            <a:noFill/>
            <a:ln w="19050">
              <a:solidFill>
                <a:schemeClr val="hlink"/>
              </a:solidFill>
              <a:miter lim="800000"/>
              <a:headEnd/>
              <a:tailEn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4E694A60-FA7F-4B8E-AF43-F97D24C5F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361" y="2366883"/>
            <a:ext cx="5987466" cy="2920715"/>
          </a:xfrm>
          <a:prstGeom prst="rect">
            <a:avLst/>
          </a:prstGeom>
          <a:noFill/>
          <a:extLst>
            <a:ext uri="{909E8E84-426E-40DD-AFC4-6F175D3DCCD1}">
              <a14:hiddenFill xmlns:a14="http://schemas.microsoft.com/office/drawing/2010/main">
                <a:solidFill>
                  <a:srgbClr val="FFFFFF"/>
                </a:solidFill>
              </a14:hiddenFill>
            </a:ext>
          </a:extLst>
        </p:spPr>
      </p:pic>
      <p:sp>
        <p:nvSpPr>
          <p:cNvPr id="9" name="标题 1">
            <a:extLst>
              <a:ext uri="{FF2B5EF4-FFF2-40B4-BE49-F238E27FC236}">
                <a16:creationId xmlns:a16="http://schemas.microsoft.com/office/drawing/2014/main" id="{55E64269-9169-42D3-B276-960DD69232F8}"/>
              </a:ext>
            </a:extLst>
          </p:cNvPr>
          <p:cNvSpPr>
            <a:spLocks noGrp="1"/>
          </p:cNvSpPr>
          <p:nvPr>
            <p:ph type="title"/>
          </p:nvPr>
        </p:nvSpPr>
        <p:spPr>
          <a:xfrm>
            <a:off x="1154113" y="191715"/>
            <a:ext cx="8170415" cy="1052513"/>
          </a:xfrm>
        </p:spPr>
        <p:txBody>
          <a:bodyPr/>
          <a:lstStyle/>
          <a:p>
            <a:r>
              <a:rPr lang="zh-CN" altLang="en-US" sz="4400" dirty="0"/>
              <a:t>文件系统与目录树关系（挂装）</a:t>
            </a:r>
            <a:endParaRPr lang="zh-CN" altLang="en-US" dirty="0"/>
          </a:p>
        </p:txBody>
      </p:sp>
      <p:sp>
        <p:nvSpPr>
          <p:cNvPr id="8" name="文本框 7">
            <a:extLst>
              <a:ext uri="{FF2B5EF4-FFF2-40B4-BE49-F238E27FC236}">
                <a16:creationId xmlns:a16="http://schemas.microsoft.com/office/drawing/2014/main" id="{8EC05624-C74D-4403-8ADF-55C0FAC98F49}"/>
              </a:ext>
            </a:extLst>
          </p:cNvPr>
          <p:cNvSpPr txBox="1"/>
          <p:nvPr/>
        </p:nvSpPr>
        <p:spPr>
          <a:xfrm>
            <a:off x="1619672" y="1328502"/>
            <a:ext cx="6624736" cy="954107"/>
          </a:xfrm>
          <a:prstGeom prst="rect">
            <a:avLst/>
          </a:prstGeom>
          <a:noFill/>
        </p:spPr>
        <p:txBody>
          <a:bodyPr wrap="square" rtlCol="0">
            <a:spAutoFit/>
          </a:bodyPr>
          <a:lstStyle/>
          <a:p>
            <a:pPr algn="ctr"/>
            <a:r>
              <a:rPr lang="zh-CN" altLang="en-US" sz="2800" dirty="0">
                <a:solidFill>
                  <a:srgbClr val="C00000"/>
                </a:solidFill>
              </a:rPr>
              <a:t>文件数据放在磁盘分区中，那么如何结合目录树的架构与磁盘内的数据？</a:t>
            </a:r>
          </a:p>
        </p:txBody>
      </p:sp>
      <p:sp>
        <p:nvSpPr>
          <p:cNvPr id="11" name="文本框 10">
            <a:extLst>
              <a:ext uri="{FF2B5EF4-FFF2-40B4-BE49-F238E27FC236}">
                <a16:creationId xmlns:a16="http://schemas.microsoft.com/office/drawing/2014/main" id="{A05DBE08-DB12-472E-B531-A354B71A612B}"/>
              </a:ext>
            </a:extLst>
          </p:cNvPr>
          <p:cNvSpPr txBox="1"/>
          <p:nvPr/>
        </p:nvSpPr>
        <p:spPr>
          <a:xfrm>
            <a:off x="1154113" y="5529498"/>
            <a:ext cx="7632849" cy="1200329"/>
          </a:xfrm>
          <a:prstGeom prst="rect">
            <a:avLst/>
          </a:prstGeom>
          <a:noFill/>
        </p:spPr>
        <p:txBody>
          <a:bodyPr wrap="square" rtlCol="0">
            <a:spAutoFit/>
          </a:bodyPr>
          <a:lstStyle/>
          <a:p>
            <a:r>
              <a:rPr lang="zh-CN" altLang="en-US" sz="2400" b="1" dirty="0" smtClean="0">
                <a:solidFill>
                  <a:srgbClr val="C00000"/>
                </a:solidFill>
              </a:rPr>
              <a:t>挂载</a:t>
            </a:r>
            <a:r>
              <a:rPr lang="zh-CN" altLang="en-US" sz="2400" dirty="0" smtClean="0">
                <a:solidFill>
                  <a:srgbClr val="0000FF"/>
                </a:solidFill>
              </a:rPr>
              <a:t>：</a:t>
            </a:r>
            <a:r>
              <a:rPr lang="zh-CN" altLang="en-US" sz="2400" dirty="0">
                <a:solidFill>
                  <a:srgbClr val="0000FF"/>
                </a:solidFill>
              </a:rPr>
              <a:t>利用一个目录当成进入点，将磁盘分区的数据放置在该目录下；也就是说进入该目录就可以读取该分区</a:t>
            </a:r>
            <a:endParaRPr lang="en-US" altLang="zh-CN" sz="2400" dirty="0">
              <a:solidFill>
                <a:srgbClr val="0000FF"/>
              </a:solidFill>
            </a:endParaRPr>
          </a:p>
          <a:p>
            <a:r>
              <a:rPr lang="zh-CN" altLang="en-US" sz="2400" b="1" dirty="0" smtClean="0">
                <a:solidFill>
                  <a:srgbClr val="C00000"/>
                </a:solidFill>
              </a:rPr>
              <a:t>挂载</a:t>
            </a:r>
            <a:r>
              <a:rPr lang="zh-CN" altLang="en-US" sz="2400" b="1" dirty="0">
                <a:solidFill>
                  <a:srgbClr val="C00000"/>
                </a:solidFill>
              </a:rPr>
              <a:t>点</a:t>
            </a:r>
            <a:r>
              <a:rPr lang="zh-CN" altLang="en-US" sz="2400" dirty="0" smtClean="0">
                <a:solidFill>
                  <a:srgbClr val="0000FF"/>
                </a:solidFill>
              </a:rPr>
              <a:t>：</a:t>
            </a:r>
            <a:r>
              <a:rPr lang="zh-CN" altLang="en-US" sz="2400" dirty="0">
                <a:solidFill>
                  <a:srgbClr val="0000FF"/>
                </a:solidFill>
              </a:rPr>
              <a:t>一定是目录，该目录为进入文件系统的入口</a:t>
            </a:r>
          </a:p>
        </p:txBody>
      </p:sp>
    </p:spTree>
    <p:extLst>
      <p:ext uri="{BB962C8B-B14F-4D97-AF65-F5344CB8AC3E}">
        <p14:creationId xmlns:p14="http://schemas.microsoft.com/office/powerpoint/2010/main" val="1678293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的文件系统运行</a:t>
            </a:r>
          </a:p>
        </p:txBody>
      </p:sp>
      <p:sp>
        <p:nvSpPr>
          <p:cNvPr id="3" name="内容占位符 2"/>
          <p:cNvSpPr>
            <a:spLocks noGrp="1"/>
          </p:cNvSpPr>
          <p:nvPr>
            <p:ph idx="1"/>
          </p:nvPr>
        </p:nvSpPr>
        <p:spPr>
          <a:xfrm>
            <a:off x="755576" y="1412776"/>
            <a:ext cx="7931224" cy="5006181"/>
          </a:xfrm>
        </p:spPr>
        <p:txBody>
          <a:bodyPr/>
          <a:lstStyle/>
          <a:p>
            <a:pPr>
              <a:spcAft>
                <a:spcPts val="600"/>
              </a:spcAft>
            </a:pPr>
            <a:r>
              <a:rPr lang="zh-CN" altLang="en-US" sz="2800" dirty="0"/>
              <a:t>三个重要数据</a:t>
            </a:r>
          </a:p>
          <a:p>
            <a:pPr lvl="1">
              <a:lnSpc>
                <a:spcPct val="120000"/>
              </a:lnSpc>
            </a:pPr>
            <a:r>
              <a:rPr lang="zh-CN" altLang="en-US" sz="2400" dirty="0">
                <a:solidFill>
                  <a:srgbClr val="FF0000"/>
                </a:solidFill>
              </a:rPr>
              <a:t>数据区块</a:t>
            </a:r>
            <a:r>
              <a:rPr lang="zh-CN" altLang="en-US" sz="2400" dirty="0"/>
              <a:t>：实际记录</a:t>
            </a:r>
            <a:r>
              <a:rPr lang="zh-CN" altLang="en-US" sz="2400" dirty="0">
                <a:solidFill>
                  <a:srgbClr val="FF0000"/>
                </a:solidFill>
              </a:rPr>
              <a:t>文件的内容</a:t>
            </a:r>
            <a:r>
              <a:rPr lang="zh-CN" altLang="en-US" sz="2400" dirty="0"/>
              <a:t>，若文件太大时，会占用多个 </a:t>
            </a:r>
            <a:r>
              <a:rPr lang="en-US" altLang="zh-CN" sz="2400" dirty="0"/>
              <a:t>block </a:t>
            </a:r>
          </a:p>
          <a:p>
            <a:pPr lvl="1">
              <a:lnSpc>
                <a:spcPct val="120000"/>
              </a:lnSpc>
            </a:pPr>
            <a:r>
              <a:rPr lang="en-US" altLang="zh-CN" sz="2400" dirty="0">
                <a:solidFill>
                  <a:srgbClr val="FF0000"/>
                </a:solidFill>
              </a:rPr>
              <a:t>inode</a:t>
            </a:r>
            <a:r>
              <a:rPr lang="zh-CN" altLang="en-US" sz="2400" dirty="0"/>
              <a:t>：记录</a:t>
            </a:r>
            <a:r>
              <a:rPr lang="zh-CN" altLang="en-US" sz="2400" dirty="0">
                <a:solidFill>
                  <a:srgbClr val="FF0000"/>
                </a:solidFill>
              </a:rPr>
              <a:t>文件的属性</a:t>
            </a:r>
            <a:r>
              <a:rPr lang="zh-CN" altLang="en-US" sz="2400" dirty="0"/>
              <a:t>，同时记录此文件的数据所在的 </a:t>
            </a:r>
            <a:r>
              <a:rPr lang="en-US" altLang="zh-CN" sz="2400" dirty="0">
                <a:solidFill>
                  <a:srgbClr val="FF0000"/>
                </a:solidFill>
              </a:rPr>
              <a:t>block </a:t>
            </a:r>
            <a:r>
              <a:rPr lang="zh-CN" altLang="en-US" sz="2400" dirty="0">
                <a:solidFill>
                  <a:srgbClr val="FF0000"/>
                </a:solidFill>
              </a:rPr>
              <a:t>号码</a:t>
            </a:r>
            <a:r>
              <a:rPr lang="zh-CN" altLang="en-US" sz="2400" dirty="0"/>
              <a:t>，</a:t>
            </a:r>
            <a:r>
              <a:rPr lang="zh-CN" altLang="en-US" sz="2400" dirty="0">
                <a:solidFill>
                  <a:srgbClr val="FF0000"/>
                </a:solidFill>
              </a:rPr>
              <a:t>一个文件占用一个</a:t>
            </a:r>
            <a:r>
              <a:rPr lang="en-US" altLang="zh-CN" sz="2400" dirty="0">
                <a:solidFill>
                  <a:srgbClr val="FF0000"/>
                </a:solidFill>
              </a:rPr>
              <a:t>inode</a:t>
            </a:r>
            <a:endParaRPr lang="en-US" altLang="zh-CN" sz="2400" dirty="0"/>
          </a:p>
          <a:p>
            <a:pPr lvl="1">
              <a:lnSpc>
                <a:spcPct val="120000"/>
              </a:lnSpc>
            </a:pPr>
            <a:r>
              <a:rPr lang="zh-CN" altLang="en-US" sz="2400" dirty="0">
                <a:solidFill>
                  <a:srgbClr val="FF0000"/>
                </a:solidFill>
              </a:rPr>
              <a:t>超级区块</a:t>
            </a:r>
            <a:r>
              <a:rPr lang="zh-CN" altLang="en-US" sz="2400" dirty="0"/>
              <a:t>：记录</a:t>
            </a:r>
            <a:r>
              <a:rPr lang="zh-CN" altLang="en-US" sz="2400" dirty="0">
                <a:solidFill>
                  <a:srgbClr val="FF0000"/>
                </a:solidFill>
              </a:rPr>
              <a:t>文件系统的整体信息</a:t>
            </a:r>
            <a:r>
              <a:rPr lang="zh-CN" altLang="en-US" sz="2400" dirty="0"/>
              <a:t>，包括</a:t>
            </a:r>
            <a:r>
              <a:rPr lang="en-US" altLang="zh-CN" sz="2400" dirty="0"/>
              <a:t>inode/block</a:t>
            </a:r>
            <a:r>
              <a:rPr lang="zh-CN" altLang="en-US" sz="2400" dirty="0"/>
              <a:t>的总量、使用量、剩余量， 以及文件系统的格式与相关信息等</a:t>
            </a:r>
          </a:p>
          <a:p>
            <a:pPr marL="342900" lvl="1" indent="-342900">
              <a:lnSpc>
                <a:spcPct val="90000"/>
              </a:lnSpc>
              <a:spcAft>
                <a:spcPts val="600"/>
              </a:spcAft>
              <a:buFont typeface="Wingdings" panose="05000000000000000000" pitchFamily="2" charset="2"/>
              <a:buChar char="n"/>
            </a:pPr>
            <a:r>
              <a:rPr lang="en-US" altLang="zh-CN" b="0" dirty="0"/>
              <a:t>inode</a:t>
            </a:r>
            <a:r>
              <a:rPr lang="zh-CN" altLang="en-US" b="0" dirty="0"/>
              <a:t>与数据区块都有编号</a:t>
            </a:r>
          </a:p>
        </p:txBody>
      </p:sp>
    </p:spTree>
    <p:extLst>
      <p:ext uri="{BB962C8B-B14F-4D97-AF65-F5344CB8AC3E}">
        <p14:creationId xmlns:p14="http://schemas.microsoft.com/office/powerpoint/2010/main" val="29868737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55E64269-9169-42D3-B276-960DD69232F8}"/>
              </a:ext>
            </a:extLst>
          </p:cNvPr>
          <p:cNvSpPr>
            <a:spLocks noGrp="1"/>
          </p:cNvSpPr>
          <p:nvPr>
            <p:ph type="title"/>
          </p:nvPr>
        </p:nvSpPr>
        <p:spPr>
          <a:xfrm>
            <a:off x="1154113" y="191715"/>
            <a:ext cx="8170415" cy="1052513"/>
          </a:xfrm>
        </p:spPr>
        <p:txBody>
          <a:bodyPr/>
          <a:lstStyle/>
          <a:p>
            <a:r>
              <a:rPr lang="zh-CN" altLang="en-US" sz="4400" dirty="0"/>
              <a:t>文件系统数据存取</a:t>
            </a:r>
            <a:endParaRPr lang="zh-CN" altLang="en-US" dirty="0"/>
          </a:p>
        </p:txBody>
      </p:sp>
      <p:sp>
        <p:nvSpPr>
          <p:cNvPr id="8" name="文本框 7">
            <a:extLst>
              <a:ext uri="{FF2B5EF4-FFF2-40B4-BE49-F238E27FC236}">
                <a16:creationId xmlns:a16="http://schemas.microsoft.com/office/drawing/2014/main" id="{8EC05624-C74D-4403-8ADF-55C0FAC98F49}"/>
              </a:ext>
            </a:extLst>
          </p:cNvPr>
          <p:cNvSpPr txBox="1"/>
          <p:nvPr/>
        </p:nvSpPr>
        <p:spPr>
          <a:xfrm>
            <a:off x="6548270" y="2974414"/>
            <a:ext cx="2339752" cy="830997"/>
          </a:xfrm>
          <a:prstGeom prst="rect">
            <a:avLst/>
          </a:prstGeom>
          <a:noFill/>
        </p:spPr>
        <p:txBody>
          <a:bodyPr wrap="square" rtlCol="0">
            <a:spAutoFit/>
          </a:bodyPr>
          <a:lstStyle/>
          <a:p>
            <a:r>
              <a:rPr lang="zh-CN" altLang="en-US" sz="2400" dirty="0">
                <a:solidFill>
                  <a:srgbClr val="C00000"/>
                </a:solidFill>
              </a:rPr>
              <a:t>索引式文件系统并行同时读出</a:t>
            </a:r>
          </a:p>
        </p:txBody>
      </p:sp>
      <p:pic>
        <p:nvPicPr>
          <p:cNvPr id="15362" name="Picture 2" descr="inode/block 数据存取示意图">
            <a:extLst>
              <a:ext uri="{FF2B5EF4-FFF2-40B4-BE49-F238E27FC236}">
                <a16:creationId xmlns:a16="http://schemas.microsoft.com/office/drawing/2014/main" id="{44CF6E9E-531A-4889-8390-1B8ECFC74B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854" y="1556793"/>
            <a:ext cx="5234378" cy="262409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连接符: 曲线 2">
            <a:extLst>
              <a:ext uri="{FF2B5EF4-FFF2-40B4-BE49-F238E27FC236}">
                <a16:creationId xmlns:a16="http://schemas.microsoft.com/office/drawing/2014/main" id="{71380859-7634-49AB-8D72-423C7ABBA1CD}"/>
              </a:ext>
            </a:extLst>
          </p:cNvPr>
          <p:cNvCxnSpPr/>
          <p:nvPr/>
        </p:nvCxnSpPr>
        <p:spPr bwMode="auto">
          <a:xfrm flipV="1">
            <a:off x="6737591" y="1556792"/>
            <a:ext cx="642721" cy="144016"/>
          </a:xfrm>
          <a:prstGeom prst="curvedConnector3">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文本框 3">
            <a:extLst>
              <a:ext uri="{FF2B5EF4-FFF2-40B4-BE49-F238E27FC236}">
                <a16:creationId xmlns:a16="http://schemas.microsoft.com/office/drawing/2014/main" id="{A3919BE2-6195-47A5-85AB-DBB577F5E43A}"/>
              </a:ext>
            </a:extLst>
          </p:cNvPr>
          <p:cNvSpPr txBox="1"/>
          <p:nvPr/>
        </p:nvSpPr>
        <p:spPr>
          <a:xfrm>
            <a:off x="7350279" y="1363088"/>
            <a:ext cx="748923" cy="369332"/>
          </a:xfrm>
          <a:prstGeom prst="rect">
            <a:avLst/>
          </a:prstGeom>
          <a:noFill/>
        </p:spPr>
        <p:txBody>
          <a:bodyPr wrap="none" rtlCol="0">
            <a:spAutoFit/>
          </a:bodyPr>
          <a:lstStyle/>
          <a:p>
            <a:r>
              <a:rPr lang="en-US" altLang="zh-CN" dirty="0"/>
              <a:t>inode</a:t>
            </a:r>
            <a:endParaRPr lang="zh-CN" altLang="en-US" dirty="0"/>
          </a:p>
        </p:txBody>
      </p:sp>
      <p:cxnSp>
        <p:nvCxnSpPr>
          <p:cNvPr id="10" name="连接符: 曲线 9">
            <a:extLst>
              <a:ext uri="{FF2B5EF4-FFF2-40B4-BE49-F238E27FC236}">
                <a16:creationId xmlns:a16="http://schemas.microsoft.com/office/drawing/2014/main" id="{01E70B77-AD59-434B-80F0-FE53A58EFB5B}"/>
              </a:ext>
            </a:extLst>
          </p:cNvPr>
          <p:cNvCxnSpPr>
            <a:cxnSpLocks/>
          </p:cNvCxnSpPr>
          <p:nvPr/>
        </p:nvCxnSpPr>
        <p:spPr bwMode="auto">
          <a:xfrm rot="10800000" flipV="1">
            <a:off x="827586" y="2708921"/>
            <a:ext cx="598269" cy="576061"/>
          </a:xfrm>
          <a:prstGeom prst="curvedConnector3">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文本框 11">
            <a:extLst>
              <a:ext uri="{FF2B5EF4-FFF2-40B4-BE49-F238E27FC236}">
                <a16:creationId xmlns:a16="http://schemas.microsoft.com/office/drawing/2014/main" id="{3C9CFDA5-CBF6-43ED-9898-9DFF930DAAD3}"/>
              </a:ext>
            </a:extLst>
          </p:cNvPr>
          <p:cNvSpPr txBox="1"/>
          <p:nvPr/>
        </p:nvSpPr>
        <p:spPr>
          <a:xfrm>
            <a:off x="344490" y="3214657"/>
            <a:ext cx="748923" cy="369332"/>
          </a:xfrm>
          <a:prstGeom prst="rect">
            <a:avLst/>
          </a:prstGeom>
          <a:noFill/>
        </p:spPr>
        <p:txBody>
          <a:bodyPr wrap="square" rtlCol="0">
            <a:spAutoFit/>
          </a:bodyPr>
          <a:lstStyle/>
          <a:p>
            <a:r>
              <a:rPr lang="en-US" altLang="zh-CN" dirty="0"/>
              <a:t>block</a:t>
            </a:r>
            <a:endParaRPr lang="zh-CN" altLang="en-US" dirty="0"/>
          </a:p>
        </p:txBody>
      </p:sp>
      <p:pic>
        <p:nvPicPr>
          <p:cNvPr id="15364" name="Picture 4" descr="FAT文件系统数据存取示意图">
            <a:extLst>
              <a:ext uri="{FF2B5EF4-FFF2-40B4-BE49-F238E27FC236}">
                <a16:creationId xmlns:a16="http://schemas.microsoft.com/office/drawing/2014/main" id="{7C019A1B-7C01-436E-ACF4-3F4E66263B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5572" y="4642261"/>
            <a:ext cx="4752528" cy="1768997"/>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4CC9990E-3ED9-4ADE-A2E9-54E19DA0AC90}"/>
              </a:ext>
            </a:extLst>
          </p:cNvPr>
          <p:cNvSpPr txBox="1"/>
          <p:nvPr/>
        </p:nvSpPr>
        <p:spPr>
          <a:xfrm>
            <a:off x="2239794" y="4226908"/>
            <a:ext cx="4664412" cy="369332"/>
          </a:xfrm>
          <a:prstGeom prst="rect">
            <a:avLst/>
          </a:prstGeom>
          <a:noFill/>
        </p:spPr>
        <p:txBody>
          <a:bodyPr wrap="square">
            <a:spAutoFit/>
          </a:bodyPr>
          <a:lstStyle/>
          <a:p>
            <a:r>
              <a:rPr lang="en-US" altLang="zh-CN" b="0" i="0" dirty="0">
                <a:solidFill>
                  <a:srgbClr val="000000"/>
                </a:solidFill>
                <a:effectLst/>
                <a:latin typeface="新细明体"/>
              </a:rPr>
              <a:t>inode/block </a:t>
            </a:r>
            <a:r>
              <a:rPr lang="zh-CN" altLang="en-US" b="0" i="0" dirty="0">
                <a:solidFill>
                  <a:srgbClr val="000000"/>
                </a:solidFill>
                <a:effectLst/>
                <a:latin typeface="新细明体"/>
              </a:rPr>
              <a:t>数据存取示意图</a:t>
            </a:r>
            <a:endParaRPr lang="zh-CN" altLang="en-US" dirty="0"/>
          </a:p>
        </p:txBody>
      </p:sp>
      <p:sp>
        <p:nvSpPr>
          <p:cNvPr id="21" name="文本框 20">
            <a:extLst>
              <a:ext uri="{FF2B5EF4-FFF2-40B4-BE49-F238E27FC236}">
                <a16:creationId xmlns:a16="http://schemas.microsoft.com/office/drawing/2014/main" id="{E0213C44-E7F4-4A4D-BA0D-A8B96281BAD4}"/>
              </a:ext>
            </a:extLst>
          </p:cNvPr>
          <p:cNvSpPr txBox="1"/>
          <p:nvPr/>
        </p:nvSpPr>
        <p:spPr>
          <a:xfrm>
            <a:off x="2239794" y="6454287"/>
            <a:ext cx="4664412" cy="369332"/>
          </a:xfrm>
          <a:prstGeom prst="rect">
            <a:avLst/>
          </a:prstGeom>
          <a:noFill/>
        </p:spPr>
        <p:txBody>
          <a:bodyPr wrap="square">
            <a:spAutoFit/>
          </a:bodyPr>
          <a:lstStyle/>
          <a:p>
            <a:r>
              <a:rPr lang="en-US" altLang="zh-CN" b="0" i="0" dirty="0">
                <a:solidFill>
                  <a:srgbClr val="000000"/>
                </a:solidFill>
                <a:effectLst/>
                <a:latin typeface="新细明体"/>
              </a:rPr>
              <a:t>FAT</a:t>
            </a:r>
            <a:r>
              <a:rPr lang="zh-CN" altLang="en-US" b="0" i="0" dirty="0">
                <a:solidFill>
                  <a:srgbClr val="000000"/>
                </a:solidFill>
                <a:effectLst/>
                <a:latin typeface="新细明体"/>
              </a:rPr>
              <a:t>文件系统数据存取示意图</a:t>
            </a:r>
            <a:endParaRPr lang="zh-CN" altLang="en-US" dirty="0"/>
          </a:p>
        </p:txBody>
      </p:sp>
      <p:sp>
        <p:nvSpPr>
          <p:cNvPr id="22" name="文本框 21">
            <a:extLst>
              <a:ext uri="{FF2B5EF4-FFF2-40B4-BE49-F238E27FC236}">
                <a16:creationId xmlns:a16="http://schemas.microsoft.com/office/drawing/2014/main" id="{3A8E9E49-6A6F-483D-AC1C-2FA32CC070D4}"/>
              </a:ext>
            </a:extLst>
          </p:cNvPr>
          <p:cNvSpPr txBox="1"/>
          <p:nvPr/>
        </p:nvSpPr>
        <p:spPr>
          <a:xfrm>
            <a:off x="6694612" y="5047405"/>
            <a:ext cx="2339752" cy="830997"/>
          </a:xfrm>
          <a:prstGeom prst="rect">
            <a:avLst/>
          </a:prstGeom>
          <a:noFill/>
        </p:spPr>
        <p:txBody>
          <a:bodyPr wrap="square" rtlCol="0">
            <a:spAutoFit/>
          </a:bodyPr>
          <a:lstStyle/>
          <a:p>
            <a:r>
              <a:rPr lang="en-US" altLang="zh-CN" sz="2400" dirty="0">
                <a:solidFill>
                  <a:srgbClr val="C00000"/>
                </a:solidFill>
              </a:rPr>
              <a:t>U</a:t>
            </a:r>
            <a:r>
              <a:rPr lang="zh-CN" altLang="en-US" sz="2400" dirty="0">
                <a:solidFill>
                  <a:srgbClr val="C00000"/>
                </a:solidFill>
              </a:rPr>
              <a:t>盘</a:t>
            </a:r>
            <a:endParaRPr lang="en-US" altLang="zh-CN" sz="2400" dirty="0">
              <a:solidFill>
                <a:srgbClr val="C00000"/>
              </a:solidFill>
            </a:endParaRPr>
          </a:p>
          <a:p>
            <a:r>
              <a:rPr lang="zh-CN" altLang="en-US" sz="2400" dirty="0">
                <a:solidFill>
                  <a:srgbClr val="C00000"/>
                </a:solidFill>
              </a:rPr>
              <a:t>数据依次读取</a:t>
            </a:r>
          </a:p>
        </p:txBody>
      </p:sp>
    </p:spTree>
    <p:extLst>
      <p:ext uri="{BB962C8B-B14F-4D97-AF65-F5344CB8AC3E}">
        <p14:creationId xmlns:p14="http://schemas.microsoft.com/office/powerpoint/2010/main" val="918924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55E64269-9169-42D3-B276-960DD69232F8}"/>
              </a:ext>
            </a:extLst>
          </p:cNvPr>
          <p:cNvSpPr>
            <a:spLocks noGrp="1"/>
          </p:cNvSpPr>
          <p:nvPr>
            <p:ph type="title"/>
          </p:nvPr>
        </p:nvSpPr>
        <p:spPr>
          <a:xfrm>
            <a:off x="1154113" y="191715"/>
            <a:ext cx="8170415" cy="1052513"/>
          </a:xfrm>
        </p:spPr>
        <p:txBody>
          <a:bodyPr/>
          <a:lstStyle/>
          <a:p>
            <a:r>
              <a:rPr lang="zh-CN" altLang="en-US" sz="4400" dirty="0"/>
              <a:t>文件系统数据存取</a:t>
            </a:r>
            <a:endParaRPr lang="zh-CN" altLang="en-US" dirty="0"/>
          </a:p>
        </p:txBody>
      </p:sp>
      <p:sp>
        <p:nvSpPr>
          <p:cNvPr id="2" name="矩形 1"/>
          <p:cNvSpPr/>
          <p:nvPr/>
        </p:nvSpPr>
        <p:spPr>
          <a:xfrm>
            <a:off x="293037" y="1357675"/>
            <a:ext cx="8850963" cy="769441"/>
          </a:xfrm>
          <a:prstGeom prst="rect">
            <a:avLst/>
          </a:prstGeom>
        </p:spPr>
        <p:txBody>
          <a:bodyPr wrap="square">
            <a:spAutoFit/>
          </a:bodyPr>
          <a:lstStyle/>
          <a:p>
            <a:pPr marL="285750" indent="-285750">
              <a:buFont typeface="Arial" panose="020B0604020202020204" pitchFamily="34" charset="0"/>
              <a:buChar char="•"/>
            </a:pPr>
            <a:r>
              <a:rPr lang="zh-CN" altLang="en-US" sz="2200" b="1" dirty="0"/>
              <a:t>硬链接是通过相同的</a:t>
            </a:r>
            <a:r>
              <a:rPr lang="en-US" altLang="zh-CN" sz="2200" b="1" dirty="0"/>
              <a:t>inode</a:t>
            </a:r>
            <a:r>
              <a:rPr lang="zh-CN" altLang="en-US" sz="2200" b="1" dirty="0"/>
              <a:t>号码将多个文件名链接到同一个文件的数据块上</a:t>
            </a:r>
          </a:p>
        </p:txBody>
      </p:sp>
      <p:sp>
        <p:nvSpPr>
          <p:cNvPr id="5" name="矩形 4"/>
          <p:cNvSpPr/>
          <p:nvPr/>
        </p:nvSpPr>
        <p:spPr>
          <a:xfrm>
            <a:off x="318787" y="2105248"/>
            <a:ext cx="9097333" cy="430887"/>
          </a:xfrm>
          <a:prstGeom prst="rect">
            <a:avLst/>
          </a:prstGeom>
        </p:spPr>
        <p:txBody>
          <a:bodyPr wrap="square">
            <a:spAutoFit/>
          </a:bodyPr>
          <a:lstStyle/>
          <a:p>
            <a:pPr marL="285750" indent="-285750">
              <a:buFont typeface="Arial" panose="020B0604020202020204" pitchFamily="34" charset="0"/>
              <a:buChar char="•"/>
            </a:pPr>
            <a:r>
              <a:rPr lang="zh-CN" altLang="en-US" sz="2200" b="1" dirty="0"/>
              <a:t>软连接则是通过存储目标文件的路径信息来实现链接。</a:t>
            </a:r>
          </a:p>
        </p:txBody>
      </p:sp>
      <p:sp>
        <p:nvSpPr>
          <p:cNvPr id="3" name="矩形 2"/>
          <p:cNvSpPr/>
          <p:nvPr/>
        </p:nvSpPr>
        <p:spPr>
          <a:xfrm>
            <a:off x="502061" y="5776292"/>
            <a:ext cx="7882383" cy="769441"/>
          </a:xfrm>
          <a:prstGeom prst="rect">
            <a:avLst/>
          </a:prstGeom>
        </p:spPr>
        <p:txBody>
          <a:bodyPr wrap="square">
            <a:spAutoFit/>
          </a:bodyPr>
          <a:lstStyle/>
          <a:p>
            <a:pPr marL="285750" indent="-285750">
              <a:buFont typeface="Arial" panose="020B0604020202020204" pitchFamily="34" charset="0"/>
              <a:buChar char="•"/>
            </a:pPr>
            <a:r>
              <a:rPr lang="en-US" altLang="zh-CN" sz="2200" b="1" dirty="0" err="1" smtClean="0"/>
              <a:t>i</a:t>
            </a:r>
            <a:r>
              <a:rPr lang="zh-CN" altLang="en-US" sz="2200" b="1" dirty="0" smtClean="0"/>
              <a:t>节点记录该目录的权限与属性</a:t>
            </a:r>
            <a:r>
              <a:rPr lang="en-US" altLang="zh-CN" sz="2200" b="1" dirty="0"/>
              <a:t> </a:t>
            </a:r>
            <a:r>
              <a:rPr lang="en-US" altLang="zh-CN" sz="2200" b="1" dirty="0" smtClean="0"/>
              <a:t>&amp; </a:t>
            </a:r>
            <a:r>
              <a:rPr lang="zh-CN" altLang="en-US" sz="2200" b="1" dirty="0" smtClean="0"/>
              <a:t>分配到的区块的号码</a:t>
            </a:r>
            <a:endParaRPr lang="en-US" altLang="zh-CN" sz="2200" b="1" dirty="0" smtClean="0"/>
          </a:p>
          <a:p>
            <a:pPr marL="285750" indent="-285750">
              <a:buFont typeface="Arial" panose="020B0604020202020204" pitchFamily="34" charset="0"/>
              <a:buChar char="•"/>
            </a:pPr>
            <a:r>
              <a:rPr lang="zh-CN" altLang="en-US" sz="2200" b="1" dirty="0" smtClean="0"/>
              <a:t>区块记录该目录下的文件名和文件名占用的</a:t>
            </a:r>
            <a:r>
              <a:rPr lang="en-US" altLang="zh-CN" sz="2200" b="1" dirty="0" err="1" smtClean="0"/>
              <a:t>inode</a:t>
            </a:r>
            <a:r>
              <a:rPr lang="zh-CN" altLang="en-US" sz="2200" b="1" dirty="0" smtClean="0"/>
              <a:t>号码数据</a:t>
            </a:r>
            <a:endParaRPr lang="en-US" altLang="zh-CN" sz="2200" b="1" dirty="0" smtClean="0"/>
          </a:p>
        </p:txBody>
      </p:sp>
      <p:pic>
        <p:nvPicPr>
          <p:cNvPr id="1026" name="Picture 2" descr="https://img-blog.csdnimg.cn/20190725202228267.jpg?type_ZmFuZ3poZW5naGVpdGk,shadow_10,text_aHR0cHM6Ly9ibG9nLmNzZG4ubmV0L3B1Z29uZ3lpbmdfOTU=,size_16,color_FFFFFF,t_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567699"/>
            <a:ext cx="7530914" cy="3195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2118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支持多种文件系统</a:t>
            </a:r>
          </a:p>
        </p:txBody>
      </p:sp>
      <p:sp>
        <p:nvSpPr>
          <p:cNvPr id="3" name="内容占位符 2"/>
          <p:cNvSpPr>
            <a:spLocks noGrp="1"/>
          </p:cNvSpPr>
          <p:nvPr>
            <p:ph idx="1"/>
          </p:nvPr>
        </p:nvSpPr>
        <p:spPr>
          <a:xfrm>
            <a:off x="827584" y="1412776"/>
            <a:ext cx="7793037" cy="4114800"/>
          </a:xfrm>
        </p:spPr>
        <p:txBody>
          <a:bodyPr/>
          <a:lstStyle/>
          <a:p>
            <a:pPr>
              <a:lnSpc>
                <a:spcPct val="110000"/>
              </a:lnSpc>
            </a:pPr>
            <a:r>
              <a:rPr lang="en-US" altLang="zh-CN" dirty="0"/>
              <a:t>Linux</a:t>
            </a:r>
            <a:r>
              <a:rPr lang="zh-CN" altLang="en-US" dirty="0"/>
              <a:t>的内核采用</a:t>
            </a:r>
            <a:r>
              <a:rPr lang="zh-CN" altLang="en-US" b="1" dirty="0">
                <a:solidFill>
                  <a:schemeClr val="accent6">
                    <a:lumMod val="75000"/>
                  </a:schemeClr>
                </a:solidFill>
              </a:rPr>
              <a:t>虚拟文件系统</a:t>
            </a:r>
            <a:r>
              <a:rPr lang="zh-CN" altLang="en-US" dirty="0">
                <a:solidFill>
                  <a:schemeClr val="accent6">
                    <a:lumMod val="75000"/>
                  </a:schemeClr>
                </a:solidFill>
              </a:rPr>
              <a:t>（</a:t>
            </a:r>
            <a:r>
              <a:rPr lang="en-US" altLang="zh-CN" b="1" dirty="0">
                <a:solidFill>
                  <a:schemeClr val="accent6">
                    <a:lumMod val="75000"/>
                  </a:schemeClr>
                </a:solidFill>
              </a:rPr>
              <a:t>Virtual File System</a:t>
            </a:r>
            <a:r>
              <a:rPr lang="zh-CN" altLang="en-US" b="1" dirty="0">
                <a:solidFill>
                  <a:schemeClr val="accent6">
                    <a:lumMod val="75000"/>
                  </a:schemeClr>
                </a:solidFill>
              </a:rPr>
              <a:t>，</a:t>
            </a:r>
            <a:r>
              <a:rPr lang="en-US" altLang="zh-CN" b="1" dirty="0">
                <a:solidFill>
                  <a:schemeClr val="accent6">
                    <a:lumMod val="75000"/>
                  </a:schemeClr>
                </a:solidFill>
              </a:rPr>
              <a:t>VFS</a:t>
            </a:r>
            <a:r>
              <a:rPr lang="zh-CN" altLang="en-US" dirty="0">
                <a:solidFill>
                  <a:schemeClr val="accent6">
                    <a:lumMod val="75000"/>
                  </a:schemeClr>
                </a:solidFill>
              </a:rPr>
              <a:t>）</a:t>
            </a:r>
            <a:r>
              <a:rPr lang="zh-CN" altLang="en-US" dirty="0"/>
              <a:t>的技术，因此 </a:t>
            </a:r>
            <a:r>
              <a:rPr lang="en-US" altLang="zh-CN" dirty="0"/>
              <a:t>Linux </a:t>
            </a:r>
            <a:r>
              <a:rPr lang="zh-CN" altLang="en-US" dirty="0"/>
              <a:t>可以</a:t>
            </a:r>
            <a:r>
              <a:rPr lang="zh-CN" altLang="en-US" dirty="0">
                <a:solidFill>
                  <a:srgbClr val="FF0000"/>
                </a:solidFill>
              </a:rPr>
              <a:t>支持多种不同的文件系统类型</a:t>
            </a:r>
            <a:endParaRPr lang="en-US" altLang="zh-CN" dirty="0">
              <a:solidFill>
                <a:srgbClr val="FF0000"/>
              </a:solidFill>
            </a:endParaRPr>
          </a:p>
          <a:p>
            <a:pPr>
              <a:lnSpc>
                <a:spcPct val="110000"/>
              </a:lnSpc>
            </a:pPr>
            <a:r>
              <a:rPr lang="en-US" altLang="zh-CN" dirty="0"/>
              <a:t>Linux</a:t>
            </a:r>
            <a:r>
              <a:rPr lang="zh-CN" altLang="en-US" dirty="0"/>
              <a:t>可支持的文件系统</a:t>
            </a:r>
            <a:endParaRPr lang="en-US" altLang="zh-CN" dirty="0"/>
          </a:p>
          <a:p>
            <a:pPr lvl="1">
              <a:lnSpc>
                <a:spcPct val="110000"/>
              </a:lnSpc>
            </a:pPr>
            <a:r>
              <a:rPr lang="en-US" altLang="zh-CN" dirty="0"/>
              <a:t>Linux</a:t>
            </a:r>
            <a:r>
              <a:rPr lang="zh-CN" altLang="en-US" dirty="0"/>
              <a:t>目前几乎支持所有的</a:t>
            </a:r>
            <a:r>
              <a:rPr lang="en-US" altLang="zh-CN" dirty="0"/>
              <a:t>UNIX</a:t>
            </a:r>
            <a:r>
              <a:rPr lang="zh-CN" altLang="en-US" dirty="0"/>
              <a:t>类的文件系统，如 </a:t>
            </a:r>
            <a:r>
              <a:rPr lang="en-US" altLang="zh-CN" dirty="0"/>
              <a:t>HFS</a:t>
            </a:r>
            <a:r>
              <a:rPr lang="zh-CN" altLang="en-US" dirty="0"/>
              <a:t>、</a:t>
            </a:r>
            <a:r>
              <a:rPr lang="en-US" altLang="zh-CN" dirty="0"/>
              <a:t>XFS</a:t>
            </a:r>
            <a:r>
              <a:rPr lang="zh-CN" altLang="en-US" dirty="0"/>
              <a:t>、</a:t>
            </a:r>
            <a:r>
              <a:rPr lang="en-US" altLang="zh-CN" dirty="0"/>
              <a:t>JFS</a:t>
            </a:r>
            <a:r>
              <a:rPr lang="zh-CN" altLang="en-US" dirty="0"/>
              <a:t>、</a:t>
            </a:r>
            <a:r>
              <a:rPr lang="en-US" altLang="zh-CN" dirty="0" err="1"/>
              <a:t>Minix</a:t>
            </a:r>
            <a:r>
              <a:rPr lang="en-US" altLang="zh-CN" dirty="0"/>
              <a:t> FS </a:t>
            </a:r>
            <a:r>
              <a:rPr lang="zh-CN" altLang="en-US" dirty="0"/>
              <a:t>及 </a:t>
            </a:r>
            <a:r>
              <a:rPr lang="en-US" altLang="zh-CN" dirty="0"/>
              <a:t>UFS </a:t>
            </a:r>
            <a:r>
              <a:rPr lang="zh-CN" altLang="en-US" dirty="0"/>
              <a:t>等</a:t>
            </a:r>
          </a:p>
          <a:p>
            <a:pPr lvl="1">
              <a:lnSpc>
                <a:spcPct val="110000"/>
              </a:lnSpc>
            </a:pPr>
            <a:r>
              <a:rPr lang="en-US" altLang="zh-CN" dirty="0"/>
              <a:t>Linux </a:t>
            </a:r>
            <a:r>
              <a:rPr lang="zh-CN" altLang="en-US" dirty="0"/>
              <a:t>支持 </a:t>
            </a:r>
            <a:r>
              <a:rPr lang="en-US" altLang="zh-CN" dirty="0"/>
              <a:t>NFS </a:t>
            </a:r>
            <a:r>
              <a:rPr lang="zh-CN" altLang="en-US" dirty="0"/>
              <a:t>文件系统</a:t>
            </a:r>
          </a:p>
          <a:p>
            <a:pPr lvl="1">
              <a:lnSpc>
                <a:spcPct val="110000"/>
              </a:lnSpc>
            </a:pPr>
            <a:r>
              <a:rPr lang="en-US" altLang="zh-CN" dirty="0"/>
              <a:t>Linux </a:t>
            </a:r>
            <a:r>
              <a:rPr lang="zh-CN" altLang="en-US" dirty="0"/>
              <a:t>也支持 </a:t>
            </a:r>
            <a:r>
              <a:rPr lang="en-US" altLang="zh-CN" dirty="0"/>
              <a:t>NTFS </a:t>
            </a:r>
            <a:r>
              <a:rPr lang="zh-CN" altLang="en-US" dirty="0"/>
              <a:t>和 </a:t>
            </a:r>
            <a:r>
              <a:rPr lang="en-US" altLang="zh-CN" dirty="0" err="1"/>
              <a:t>vfat</a:t>
            </a:r>
            <a:r>
              <a:rPr lang="zh-CN" altLang="en-US" dirty="0"/>
              <a:t>（</a:t>
            </a:r>
            <a:r>
              <a:rPr lang="en-US" altLang="zh-CN" dirty="0"/>
              <a:t>FAT32</a:t>
            </a:r>
            <a:r>
              <a:rPr lang="zh-CN" altLang="en-US"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支持的日志文件系统 </a:t>
            </a:r>
          </a:p>
        </p:txBody>
      </p:sp>
      <p:sp>
        <p:nvSpPr>
          <p:cNvPr id="3" name="内容占位符 2"/>
          <p:cNvSpPr>
            <a:spLocks noGrp="1"/>
          </p:cNvSpPr>
          <p:nvPr>
            <p:ph idx="1"/>
          </p:nvPr>
        </p:nvSpPr>
        <p:spPr>
          <a:xfrm>
            <a:off x="1043608" y="1556792"/>
            <a:ext cx="7772400" cy="4114800"/>
          </a:xfrm>
        </p:spPr>
        <p:txBody>
          <a:bodyPr/>
          <a:lstStyle/>
          <a:p>
            <a:pPr>
              <a:lnSpc>
                <a:spcPct val="90000"/>
              </a:lnSpc>
            </a:pPr>
            <a:r>
              <a:rPr lang="en-US" altLang="zh-CN" dirty="0"/>
              <a:t>Linux </a:t>
            </a:r>
            <a:r>
              <a:rPr lang="zh-CN" altLang="en-US" dirty="0"/>
              <a:t>支持</a:t>
            </a:r>
          </a:p>
          <a:p>
            <a:pPr lvl="1">
              <a:lnSpc>
                <a:spcPct val="110000"/>
              </a:lnSpc>
            </a:pPr>
            <a:r>
              <a:rPr lang="en-US" altLang="zh-CN" sz="2400" dirty="0"/>
              <a:t>ext3/ext4</a:t>
            </a:r>
          </a:p>
          <a:p>
            <a:pPr lvl="1">
              <a:lnSpc>
                <a:spcPct val="110000"/>
              </a:lnSpc>
            </a:pPr>
            <a:r>
              <a:rPr lang="en-US" altLang="zh-CN" sz="2400" dirty="0"/>
              <a:t>JFS</a:t>
            </a:r>
            <a:r>
              <a:rPr lang="zh-CN" altLang="en-US" sz="2400" dirty="0"/>
              <a:t>（</a:t>
            </a:r>
            <a:r>
              <a:rPr lang="en-US" altLang="zh-CN" sz="2400" dirty="0"/>
              <a:t>IBM</a:t>
            </a:r>
            <a:r>
              <a:rPr lang="zh-CN" altLang="en-US" sz="2400" dirty="0"/>
              <a:t>）</a:t>
            </a:r>
          </a:p>
          <a:p>
            <a:pPr lvl="1">
              <a:lnSpc>
                <a:spcPct val="110000"/>
              </a:lnSpc>
            </a:pPr>
            <a:r>
              <a:rPr lang="en-US" altLang="zh-CN" sz="2400" dirty="0"/>
              <a:t>XFS</a:t>
            </a:r>
            <a:r>
              <a:rPr lang="zh-CN" altLang="en-US" sz="2400" dirty="0"/>
              <a:t>（ </a:t>
            </a:r>
            <a:r>
              <a:rPr lang="en-US" altLang="zh-CN" sz="2400" dirty="0"/>
              <a:t>SGI </a:t>
            </a:r>
            <a:r>
              <a:rPr lang="zh-CN" altLang="en-US" sz="2400" dirty="0"/>
              <a:t>）</a:t>
            </a:r>
          </a:p>
          <a:p>
            <a:pPr lvl="1">
              <a:lnSpc>
                <a:spcPct val="110000"/>
              </a:lnSpc>
            </a:pPr>
            <a:r>
              <a:rPr lang="en-US" altLang="zh-CN" sz="2400" dirty="0" err="1"/>
              <a:t>Reiserfs</a:t>
            </a:r>
            <a:endParaRPr lang="en-US" altLang="zh-CN" sz="2400" dirty="0"/>
          </a:p>
          <a:p>
            <a:pPr>
              <a:lnSpc>
                <a:spcPct val="90000"/>
              </a:lnSpc>
            </a:pPr>
            <a:r>
              <a:rPr lang="zh-CN" altLang="en-US" dirty="0"/>
              <a:t>日志文件系统的优点 </a:t>
            </a:r>
          </a:p>
          <a:p>
            <a:pPr lvl="1">
              <a:lnSpc>
                <a:spcPct val="120000"/>
              </a:lnSpc>
            </a:pPr>
            <a:r>
              <a:rPr lang="zh-CN" altLang="en-US" sz="2400" dirty="0"/>
              <a:t>提高了文件的存储安全性</a:t>
            </a:r>
          </a:p>
          <a:p>
            <a:pPr lvl="1">
              <a:lnSpc>
                <a:spcPct val="120000"/>
              </a:lnSpc>
            </a:pPr>
            <a:r>
              <a:rPr lang="zh-CN" altLang="en-US" sz="2400" dirty="0"/>
              <a:t>降低了文件被破坏的机率</a:t>
            </a:r>
          </a:p>
          <a:p>
            <a:pPr lvl="1">
              <a:lnSpc>
                <a:spcPct val="120000"/>
              </a:lnSpc>
            </a:pPr>
            <a:r>
              <a:rPr lang="zh-CN" altLang="en-US" sz="2400" dirty="0"/>
              <a:t>缩短了对磁盘的扫描时间</a:t>
            </a:r>
          </a:p>
          <a:p>
            <a:pPr lvl="1">
              <a:lnSpc>
                <a:spcPct val="120000"/>
              </a:lnSpc>
            </a:pPr>
            <a:r>
              <a:rPr lang="zh-CN" altLang="en-US" sz="2400" dirty="0"/>
              <a:t>减少了磁盘整体扫描次数</a:t>
            </a:r>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sz="4400" dirty="0"/>
              <a:t>Linux</a:t>
            </a:r>
            <a:r>
              <a:rPr lang="zh-CN" altLang="en-GB" sz="4400" dirty="0"/>
              <a:t>下常见的文件系统</a:t>
            </a:r>
            <a:endParaRPr lang="zh-CN" altLang="en-US" dirty="0"/>
          </a:p>
        </p:txBody>
      </p:sp>
      <p:sp>
        <p:nvSpPr>
          <p:cNvPr id="3" name="内容占位符 2"/>
          <p:cNvSpPr>
            <a:spLocks noGrp="1"/>
          </p:cNvSpPr>
          <p:nvPr>
            <p:ph idx="1"/>
          </p:nvPr>
        </p:nvSpPr>
        <p:spPr>
          <a:xfrm>
            <a:off x="1043608" y="1412776"/>
            <a:ext cx="6120680" cy="4718149"/>
          </a:xfrm>
        </p:spPr>
        <p:txBody>
          <a:bodyPr/>
          <a:lstStyle/>
          <a:p>
            <a:pPr>
              <a:lnSpc>
                <a:spcPct val="110000"/>
              </a:lnSpc>
            </a:pPr>
            <a:r>
              <a:rPr lang="en-GB" altLang="zh-CN" sz="2800" dirty="0">
                <a:solidFill>
                  <a:srgbClr val="FF0000"/>
                </a:solidFill>
              </a:rPr>
              <a:t>ext2</a:t>
            </a:r>
            <a:r>
              <a:rPr lang="en-US" altLang="zh-CN" sz="2800" dirty="0">
                <a:solidFill>
                  <a:srgbClr val="FF0000"/>
                </a:solidFill>
              </a:rPr>
              <a:t>/</a:t>
            </a:r>
            <a:r>
              <a:rPr lang="en-GB" altLang="zh-CN" sz="2800" dirty="0">
                <a:solidFill>
                  <a:srgbClr val="FF0000"/>
                </a:solidFill>
              </a:rPr>
              <a:t>ext</a:t>
            </a:r>
            <a:r>
              <a:rPr lang="en-US" altLang="zh-CN" sz="2800" dirty="0">
                <a:solidFill>
                  <a:srgbClr val="FF0000"/>
                </a:solidFill>
              </a:rPr>
              <a:t>3/</a:t>
            </a:r>
            <a:r>
              <a:rPr lang="en-GB" altLang="zh-CN" sz="2800" dirty="0">
                <a:solidFill>
                  <a:srgbClr val="FF0000"/>
                </a:solidFill>
              </a:rPr>
              <a:t>ext</a:t>
            </a:r>
            <a:r>
              <a:rPr lang="en-US" altLang="zh-CN" sz="2800" dirty="0">
                <a:solidFill>
                  <a:srgbClr val="FF0000"/>
                </a:solidFill>
              </a:rPr>
              <a:t>4</a:t>
            </a:r>
            <a:endParaRPr lang="en-GB" altLang="zh-CN" sz="2800" dirty="0">
              <a:solidFill>
                <a:srgbClr val="FF0000"/>
              </a:solidFill>
            </a:endParaRPr>
          </a:p>
          <a:p>
            <a:pPr lvl="1">
              <a:lnSpc>
                <a:spcPct val="110000"/>
              </a:lnSpc>
            </a:pPr>
            <a:r>
              <a:rPr lang="en-US" altLang="zh-CN" sz="2400" dirty="0"/>
              <a:t>Linux</a:t>
            </a:r>
            <a:r>
              <a:rPr lang="zh-CN" altLang="en-US" sz="2400" dirty="0"/>
              <a:t>使用的标准文件系统 </a:t>
            </a:r>
            <a:r>
              <a:rPr lang="en-US" altLang="zh-CN" sz="2400" dirty="0">
                <a:solidFill>
                  <a:srgbClr val="FF0000"/>
                </a:solidFill>
              </a:rPr>
              <a:t>ext2</a:t>
            </a:r>
            <a:endParaRPr lang="zh-CN" altLang="en-US" sz="2400" dirty="0">
              <a:solidFill>
                <a:srgbClr val="FF0000"/>
              </a:solidFill>
            </a:endParaRPr>
          </a:p>
          <a:p>
            <a:pPr>
              <a:lnSpc>
                <a:spcPct val="110000"/>
              </a:lnSpc>
            </a:pPr>
            <a:r>
              <a:rPr lang="en-US" altLang="zh-CN" sz="2800" dirty="0">
                <a:solidFill>
                  <a:srgbClr val="FF0000"/>
                </a:solidFill>
              </a:rPr>
              <a:t>swap</a:t>
            </a:r>
          </a:p>
          <a:p>
            <a:pPr lvl="1">
              <a:lnSpc>
                <a:spcPct val="110000"/>
              </a:lnSpc>
            </a:pPr>
            <a:r>
              <a:rPr lang="zh-CN" altLang="en-GB" sz="2400" dirty="0">
                <a:solidFill>
                  <a:srgbClr val="000000"/>
                </a:solidFill>
              </a:rPr>
              <a:t>交换文件系统</a:t>
            </a:r>
            <a:endParaRPr lang="en-GB" altLang="zh-CN" sz="2400" dirty="0">
              <a:solidFill>
                <a:srgbClr val="000000"/>
              </a:solidFill>
            </a:endParaRPr>
          </a:p>
          <a:p>
            <a:pPr>
              <a:lnSpc>
                <a:spcPct val="110000"/>
              </a:lnSpc>
            </a:pPr>
            <a:r>
              <a:rPr lang="en-GB" altLang="zh-CN" sz="2800" dirty="0">
                <a:solidFill>
                  <a:srgbClr val="FF0000"/>
                </a:solidFill>
              </a:rPr>
              <a:t>FAT32/</a:t>
            </a:r>
            <a:r>
              <a:rPr lang="en-GB" altLang="zh-CN" sz="2800" dirty="0" err="1">
                <a:solidFill>
                  <a:srgbClr val="FF0000"/>
                </a:solidFill>
              </a:rPr>
              <a:t>vfat</a:t>
            </a:r>
            <a:endParaRPr lang="zh-CN" altLang="en-GB" sz="2800" dirty="0">
              <a:solidFill>
                <a:srgbClr val="FF0000"/>
              </a:solidFill>
            </a:endParaRPr>
          </a:p>
          <a:p>
            <a:pPr lvl="1">
              <a:lnSpc>
                <a:spcPct val="110000"/>
              </a:lnSpc>
            </a:pPr>
            <a:r>
              <a:rPr lang="en-GB" altLang="zh-CN" sz="2400" dirty="0">
                <a:solidFill>
                  <a:srgbClr val="000000"/>
                </a:solidFill>
              </a:rPr>
              <a:t>Windows</a:t>
            </a:r>
            <a:r>
              <a:rPr lang="zh-CN" altLang="en-GB" sz="2400" dirty="0">
                <a:solidFill>
                  <a:srgbClr val="000000"/>
                </a:solidFill>
              </a:rPr>
              <a:t>文件系统</a:t>
            </a:r>
            <a:endParaRPr lang="en-GB" altLang="zh-CN" sz="2400" dirty="0">
              <a:solidFill>
                <a:srgbClr val="000000"/>
              </a:solidFill>
            </a:endParaRPr>
          </a:p>
          <a:p>
            <a:pPr>
              <a:lnSpc>
                <a:spcPct val="110000"/>
              </a:lnSpc>
            </a:pPr>
            <a:r>
              <a:rPr lang="en-GB" altLang="zh-CN" sz="2800" dirty="0">
                <a:solidFill>
                  <a:srgbClr val="FF0000"/>
                </a:solidFill>
              </a:rPr>
              <a:t>NFS</a:t>
            </a:r>
          </a:p>
          <a:p>
            <a:pPr lvl="1">
              <a:lnSpc>
                <a:spcPct val="110000"/>
              </a:lnSpc>
            </a:pPr>
            <a:r>
              <a:rPr lang="zh-CN" altLang="en-GB" sz="2400" dirty="0">
                <a:solidFill>
                  <a:srgbClr val="000000"/>
                </a:solidFill>
              </a:rPr>
              <a:t>网络文件系统</a:t>
            </a:r>
            <a:endParaRPr lang="en-GB" altLang="zh-CN" sz="2400" dirty="0">
              <a:solidFill>
                <a:srgbClr val="000000"/>
              </a:solidFill>
            </a:endParaRPr>
          </a:p>
          <a:p>
            <a:pPr>
              <a:lnSpc>
                <a:spcPct val="110000"/>
              </a:lnSpc>
            </a:pPr>
            <a:r>
              <a:rPr lang="en-GB" altLang="zh-CN" sz="2800" dirty="0">
                <a:solidFill>
                  <a:srgbClr val="FF0000"/>
                </a:solidFill>
              </a:rPr>
              <a:t>iso9660</a:t>
            </a:r>
          </a:p>
          <a:p>
            <a:pPr lvl="1">
              <a:lnSpc>
                <a:spcPct val="110000"/>
              </a:lnSpc>
            </a:pPr>
            <a:r>
              <a:rPr lang="zh-CN" altLang="en-US" sz="2400" dirty="0"/>
              <a:t>标准光盘文件系统</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989887" cy="1052513"/>
          </a:xfrm>
        </p:spPr>
        <p:txBody>
          <a:bodyPr/>
          <a:lstStyle/>
          <a:p>
            <a:r>
              <a:rPr lang="zh-CN" altLang="en-US" sz="4400" dirty="0"/>
              <a:t>使用</a:t>
            </a:r>
            <a:r>
              <a:rPr lang="en-US" altLang="zh-CN" sz="4400" dirty="0"/>
              <a:t>Linux</a:t>
            </a:r>
            <a:r>
              <a:rPr lang="zh-CN" altLang="en-US" sz="4400" dirty="0"/>
              <a:t>文件系统的一般方法</a:t>
            </a:r>
            <a:endParaRPr lang="zh-CN" altLang="en-US" dirty="0"/>
          </a:p>
        </p:txBody>
      </p:sp>
      <p:sp>
        <p:nvSpPr>
          <p:cNvPr id="3" name="内容占位符 2"/>
          <p:cNvSpPr>
            <a:spLocks noGrp="1"/>
          </p:cNvSpPr>
          <p:nvPr>
            <p:ph idx="1"/>
          </p:nvPr>
        </p:nvSpPr>
        <p:spPr>
          <a:xfrm>
            <a:off x="827584" y="1340768"/>
            <a:ext cx="7920880" cy="5517232"/>
          </a:xfrm>
        </p:spPr>
        <p:txBody>
          <a:bodyPr/>
          <a:lstStyle/>
          <a:p>
            <a:r>
              <a:rPr lang="zh-CN" altLang="en-US" sz="2800" dirty="0"/>
              <a:t>在硬盘上创建分区或逻辑卷</a:t>
            </a:r>
            <a:endParaRPr lang="en-US" altLang="zh-CN" sz="2800" dirty="0"/>
          </a:p>
          <a:p>
            <a:pPr lvl="1"/>
            <a:r>
              <a:rPr lang="zh-CN" altLang="en-US" sz="2400" dirty="0"/>
              <a:t>可以使用</a:t>
            </a:r>
            <a:r>
              <a:rPr lang="en-US" altLang="zh-CN" sz="2400" dirty="0" err="1"/>
              <a:t>fdisk</a:t>
            </a:r>
            <a:r>
              <a:rPr lang="zh-CN" altLang="en-US" sz="2400" dirty="0"/>
              <a:t>命令</a:t>
            </a:r>
            <a:r>
              <a:rPr lang="zh-CN" altLang="en-US" sz="2400" dirty="0">
                <a:solidFill>
                  <a:srgbClr val="FF0000"/>
                </a:solidFill>
              </a:rPr>
              <a:t>创建分区</a:t>
            </a:r>
            <a:endParaRPr lang="en-US" altLang="zh-CN" sz="2400" dirty="0">
              <a:solidFill>
                <a:srgbClr val="FF0000"/>
              </a:solidFill>
            </a:endParaRPr>
          </a:p>
          <a:p>
            <a:pPr lvl="1"/>
            <a:r>
              <a:rPr lang="zh-CN" altLang="en-US" sz="2400" dirty="0"/>
              <a:t>可以使用</a:t>
            </a:r>
            <a:r>
              <a:rPr lang="en-US" altLang="zh-CN" sz="2400" dirty="0"/>
              <a:t>LVM</a:t>
            </a:r>
            <a:r>
              <a:rPr lang="zh-CN" altLang="en-US" sz="2400" dirty="0"/>
              <a:t>的相关命令</a:t>
            </a:r>
            <a:r>
              <a:rPr lang="zh-CN" altLang="en-US" sz="2400" dirty="0">
                <a:solidFill>
                  <a:srgbClr val="FF0000"/>
                </a:solidFill>
              </a:rPr>
              <a:t>创建逻辑卷</a:t>
            </a:r>
          </a:p>
          <a:p>
            <a:r>
              <a:rPr lang="zh-CN" altLang="en-US" sz="2800" dirty="0"/>
              <a:t>在分区</a:t>
            </a:r>
            <a:r>
              <a:rPr lang="en-US" altLang="zh-CN" sz="2800" dirty="0"/>
              <a:t>/LV</a:t>
            </a:r>
            <a:r>
              <a:rPr lang="zh-CN" altLang="en-US" sz="2800" dirty="0"/>
              <a:t>上</a:t>
            </a:r>
            <a:r>
              <a:rPr lang="zh-CN" altLang="en-US" sz="2800" dirty="0">
                <a:solidFill>
                  <a:srgbClr val="FF0000"/>
                </a:solidFill>
              </a:rPr>
              <a:t>建立文件系统</a:t>
            </a:r>
            <a:endParaRPr lang="en-US" altLang="zh-CN" sz="2800" dirty="0">
              <a:solidFill>
                <a:srgbClr val="FF0000"/>
              </a:solidFill>
            </a:endParaRPr>
          </a:p>
          <a:p>
            <a:pPr lvl="1"/>
            <a:r>
              <a:rPr lang="zh-CN" altLang="en-US" sz="2400" dirty="0"/>
              <a:t>类似于在</a:t>
            </a:r>
            <a:r>
              <a:rPr lang="en-US" altLang="zh-CN" sz="2400" dirty="0"/>
              <a:t>Windows</a:t>
            </a:r>
            <a:r>
              <a:rPr lang="zh-CN" altLang="en-US" sz="2400" dirty="0"/>
              <a:t>下进行格式化操作</a:t>
            </a:r>
          </a:p>
          <a:p>
            <a:r>
              <a:rPr lang="zh-CN" altLang="en-US" dirty="0">
                <a:solidFill>
                  <a:srgbClr val="FF0000"/>
                </a:solidFill>
              </a:rPr>
              <a:t>挂</a:t>
            </a:r>
            <a:r>
              <a:rPr lang="zh-CN" altLang="en-US" dirty="0" smtClean="0">
                <a:solidFill>
                  <a:srgbClr val="FF0000"/>
                </a:solidFill>
              </a:rPr>
              <a:t>装</a:t>
            </a:r>
            <a:r>
              <a:rPr lang="zh-CN" altLang="en-US" b="1" dirty="0" smtClean="0">
                <a:solidFill>
                  <a:srgbClr val="FF0000"/>
                </a:solidFill>
              </a:rPr>
              <a:t>（挂载）</a:t>
            </a:r>
            <a:r>
              <a:rPr lang="zh-CN" altLang="en-US" dirty="0" smtClean="0"/>
              <a:t>文件系统</a:t>
            </a:r>
            <a:r>
              <a:rPr lang="zh-CN" altLang="en-US" dirty="0"/>
              <a:t>到系统中</a:t>
            </a:r>
            <a:endParaRPr lang="en-US" altLang="zh-CN" dirty="0"/>
          </a:p>
          <a:p>
            <a:pPr lvl="1"/>
            <a:r>
              <a:rPr lang="zh-CN" altLang="en-US" sz="2400" dirty="0">
                <a:solidFill>
                  <a:srgbClr val="FF0000"/>
                </a:solidFill>
              </a:rPr>
              <a:t>手工挂装</a:t>
            </a:r>
            <a:r>
              <a:rPr lang="zh-CN" altLang="en-US" sz="2400" dirty="0"/>
              <a:t>：使用</a:t>
            </a:r>
            <a:r>
              <a:rPr lang="en-US" altLang="zh-CN" sz="2400" dirty="0">
                <a:solidFill>
                  <a:srgbClr val="FF0000"/>
                </a:solidFill>
              </a:rPr>
              <a:t>mount</a:t>
            </a:r>
            <a:r>
              <a:rPr lang="zh-CN" altLang="en-US" sz="2400" dirty="0">
                <a:solidFill>
                  <a:srgbClr val="FF0000"/>
                </a:solidFill>
              </a:rPr>
              <a:t>命令</a:t>
            </a:r>
            <a:endParaRPr lang="en-US" altLang="zh-CN" sz="2400" dirty="0">
              <a:solidFill>
                <a:srgbClr val="FF0000"/>
              </a:solidFill>
            </a:endParaRPr>
          </a:p>
          <a:p>
            <a:pPr lvl="1"/>
            <a:r>
              <a:rPr lang="zh-CN" altLang="en-US" sz="2400" dirty="0">
                <a:solidFill>
                  <a:srgbClr val="FF0000"/>
                </a:solidFill>
              </a:rPr>
              <a:t>启动时自动挂装</a:t>
            </a:r>
            <a:r>
              <a:rPr lang="zh-CN" altLang="en-US" sz="2400" dirty="0"/>
              <a:t>：编辑“</a:t>
            </a:r>
            <a:r>
              <a:rPr lang="en-US" altLang="zh-CN" sz="2400" dirty="0">
                <a:solidFill>
                  <a:srgbClr val="FF0000"/>
                </a:solidFill>
              </a:rPr>
              <a:t>/etc/</a:t>
            </a:r>
            <a:r>
              <a:rPr lang="en-US" altLang="zh-CN" sz="2400" dirty="0" err="1">
                <a:solidFill>
                  <a:srgbClr val="FF0000"/>
                </a:solidFill>
              </a:rPr>
              <a:t>fstab</a:t>
            </a:r>
            <a:r>
              <a:rPr lang="en-US" altLang="zh-CN" sz="2400" dirty="0"/>
              <a:t>”</a:t>
            </a:r>
            <a:r>
              <a:rPr lang="zh-CN" altLang="en-US" sz="2400" dirty="0"/>
              <a:t> 添加相应的配置行</a:t>
            </a:r>
          </a:p>
          <a:p>
            <a:r>
              <a:rPr lang="zh-CN" altLang="en-US" sz="2800" dirty="0" smtClean="0">
                <a:solidFill>
                  <a:srgbClr val="FF0000"/>
                </a:solidFill>
              </a:rPr>
              <a:t>卸装</a:t>
            </a:r>
            <a:r>
              <a:rPr lang="zh-CN" altLang="en-US" sz="2800" b="1" dirty="0" smtClean="0">
                <a:solidFill>
                  <a:srgbClr val="FF0000"/>
                </a:solidFill>
              </a:rPr>
              <a:t>（卸载）</a:t>
            </a:r>
            <a:r>
              <a:rPr lang="zh-CN" altLang="en-US" sz="2800" dirty="0" smtClean="0"/>
              <a:t>文件系统</a:t>
            </a:r>
            <a:endParaRPr lang="en-US" altLang="zh-CN" sz="2800" dirty="0"/>
          </a:p>
          <a:p>
            <a:pPr lvl="1"/>
            <a:r>
              <a:rPr lang="zh-CN" altLang="en-US" sz="2400" dirty="0"/>
              <a:t>对于</a:t>
            </a:r>
            <a:r>
              <a:rPr lang="zh-CN" altLang="en-US" sz="2400" dirty="0">
                <a:solidFill>
                  <a:srgbClr val="FF0000"/>
                </a:solidFill>
              </a:rPr>
              <a:t>可移动介质</a:t>
            </a:r>
            <a:r>
              <a:rPr lang="zh-CN" altLang="en-US" sz="2400" dirty="0"/>
              <a:t>上的文件系统，当使用完毕可以使用</a:t>
            </a:r>
            <a:r>
              <a:rPr lang="en-US" altLang="zh-CN" sz="2400" dirty="0" err="1">
                <a:solidFill>
                  <a:srgbClr val="FF0000"/>
                </a:solidFill>
              </a:rPr>
              <a:t>umount</a:t>
            </a:r>
            <a:r>
              <a:rPr lang="zh-CN" altLang="en-US" sz="2400" dirty="0">
                <a:solidFill>
                  <a:srgbClr val="FF0000"/>
                </a:solidFill>
              </a:rPr>
              <a:t>命令</a:t>
            </a:r>
            <a:r>
              <a:rPr lang="zh-CN" altLang="en-US" sz="2400" dirty="0"/>
              <a:t>实施卸装操作</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创建文件系统</a:t>
            </a:r>
            <a:r>
              <a:rPr lang="en-US" altLang="zh-CN" dirty="0"/>
              <a:t>—</a:t>
            </a:r>
            <a:r>
              <a:rPr lang="zh-CN" altLang="en-US" dirty="0"/>
              <a:t>磁盘格式化</a:t>
            </a:r>
          </a:p>
        </p:txBody>
      </p:sp>
      <p:sp>
        <p:nvSpPr>
          <p:cNvPr id="3" name="内容占位符 2"/>
          <p:cNvSpPr>
            <a:spLocks noGrp="1"/>
          </p:cNvSpPr>
          <p:nvPr>
            <p:ph idx="1"/>
          </p:nvPr>
        </p:nvSpPr>
        <p:spPr>
          <a:xfrm>
            <a:off x="971600" y="1556792"/>
            <a:ext cx="7772400" cy="4114800"/>
          </a:xfrm>
        </p:spPr>
        <p:txBody>
          <a:bodyPr/>
          <a:lstStyle/>
          <a:p>
            <a:pPr>
              <a:lnSpc>
                <a:spcPct val="93000"/>
              </a:lnSpc>
            </a:pPr>
            <a:r>
              <a:rPr lang="zh-CN" altLang="en-GB" dirty="0"/>
              <a:t>前端命令</a:t>
            </a:r>
            <a:r>
              <a:rPr lang="en-GB" altLang="zh-CN" dirty="0" err="1">
                <a:solidFill>
                  <a:srgbClr val="FF0000"/>
                </a:solidFill>
              </a:rPr>
              <a:t>mkfs</a:t>
            </a:r>
            <a:r>
              <a:rPr lang="zh-CN" altLang="en-GB" dirty="0"/>
              <a:t>的格式</a:t>
            </a:r>
          </a:p>
          <a:p>
            <a:pPr lvl="1">
              <a:lnSpc>
                <a:spcPct val="93000"/>
              </a:lnSpc>
              <a:buNone/>
            </a:pPr>
            <a:r>
              <a:rPr lang="en-GB" altLang="zh-CN" dirty="0">
                <a:solidFill>
                  <a:schemeClr val="accent2">
                    <a:lumMod val="75000"/>
                  </a:schemeClr>
                </a:solidFill>
              </a:rPr>
              <a:t># </a:t>
            </a:r>
            <a:r>
              <a:rPr lang="en-GB" altLang="zh-CN" dirty="0" err="1">
                <a:solidFill>
                  <a:schemeClr val="accent2">
                    <a:lumMod val="75000"/>
                  </a:schemeClr>
                </a:solidFill>
              </a:rPr>
              <a:t>mkfs</a:t>
            </a:r>
            <a:r>
              <a:rPr lang="en-GB" altLang="zh-CN" dirty="0">
                <a:solidFill>
                  <a:schemeClr val="accent2">
                    <a:lumMod val="75000"/>
                  </a:schemeClr>
                </a:solidFill>
              </a:rPr>
              <a:t> </a:t>
            </a:r>
            <a:r>
              <a:rPr lang="en-GB" altLang="zh-CN" dirty="0">
                <a:solidFill>
                  <a:schemeClr val="accent2">
                    <a:lumMod val="75000"/>
                  </a:schemeClr>
                </a:solidFill>
                <a:latin typeface="Helvetica"/>
              </a:rPr>
              <a:t>-</a:t>
            </a:r>
            <a:r>
              <a:rPr lang="en-GB" altLang="zh-CN" dirty="0">
                <a:solidFill>
                  <a:schemeClr val="accent2">
                    <a:lumMod val="75000"/>
                  </a:schemeClr>
                </a:solidFill>
              </a:rPr>
              <a:t>t &lt;</a:t>
            </a:r>
            <a:r>
              <a:rPr lang="en-GB" altLang="zh-CN" dirty="0" err="1">
                <a:solidFill>
                  <a:schemeClr val="accent2">
                    <a:lumMod val="75000"/>
                  </a:schemeClr>
                </a:solidFill>
              </a:rPr>
              <a:t>fstype</a:t>
            </a:r>
            <a:r>
              <a:rPr lang="en-GB" altLang="zh-CN" dirty="0">
                <a:solidFill>
                  <a:schemeClr val="accent2">
                    <a:lumMod val="75000"/>
                  </a:schemeClr>
                </a:solidFill>
              </a:rPr>
              <a:t>&gt; </a:t>
            </a:r>
            <a:r>
              <a:rPr lang="en-GB" altLang="zh-CN" dirty="0">
                <a:solidFill>
                  <a:schemeClr val="accent2">
                    <a:lumMod val="75000"/>
                  </a:schemeClr>
                </a:solidFill>
                <a:latin typeface="Helvetica"/>
              </a:rPr>
              <a:t>-</a:t>
            </a:r>
            <a:r>
              <a:rPr lang="en-GB" altLang="zh-CN" dirty="0">
                <a:solidFill>
                  <a:schemeClr val="accent2">
                    <a:lumMod val="75000"/>
                  </a:schemeClr>
                </a:solidFill>
              </a:rPr>
              <a:t>c  </a:t>
            </a:r>
            <a:r>
              <a:rPr lang="en-US" altLang="zh-CN" dirty="0">
                <a:solidFill>
                  <a:schemeClr val="accent2">
                    <a:lumMod val="75000"/>
                  </a:schemeClr>
                </a:solidFill>
              </a:rPr>
              <a:t>&lt;</a:t>
            </a:r>
            <a:r>
              <a:rPr lang="zh-CN" altLang="en-GB" dirty="0">
                <a:solidFill>
                  <a:schemeClr val="accent2">
                    <a:lumMod val="75000"/>
                  </a:schemeClr>
                </a:solidFill>
              </a:rPr>
              <a:t>分区设备名</a:t>
            </a:r>
            <a:r>
              <a:rPr lang="en-US" altLang="zh-CN" dirty="0">
                <a:solidFill>
                  <a:schemeClr val="accent2">
                    <a:lumMod val="75000"/>
                  </a:schemeClr>
                </a:solidFill>
              </a:rPr>
              <a:t>&gt;</a:t>
            </a:r>
            <a:endParaRPr lang="zh-CN" altLang="en-GB" dirty="0">
              <a:solidFill>
                <a:schemeClr val="accent2">
                  <a:lumMod val="75000"/>
                </a:schemeClr>
              </a:solidFill>
            </a:endParaRPr>
          </a:p>
          <a:p>
            <a:pPr lvl="2"/>
            <a:r>
              <a:rPr lang="en-GB" altLang="zh-CN" dirty="0">
                <a:solidFill>
                  <a:srgbClr val="FF0000"/>
                </a:solidFill>
              </a:rPr>
              <a:t>-t </a:t>
            </a:r>
            <a:r>
              <a:rPr lang="en-GB" altLang="zh-CN" dirty="0" err="1">
                <a:solidFill>
                  <a:srgbClr val="FF0000"/>
                </a:solidFill>
              </a:rPr>
              <a:t>fstype</a:t>
            </a:r>
            <a:r>
              <a:rPr lang="en-GB" altLang="zh-CN" dirty="0"/>
              <a:t>：</a:t>
            </a:r>
            <a:r>
              <a:rPr lang="zh-CN" altLang="en-GB" dirty="0">
                <a:solidFill>
                  <a:srgbClr val="FF0000"/>
                </a:solidFill>
              </a:rPr>
              <a:t>指定文件系统类型</a:t>
            </a:r>
          </a:p>
          <a:p>
            <a:pPr lvl="2"/>
            <a:r>
              <a:rPr lang="zh-CN" altLang="en-GB" dirty="0">
                <a:solidFill>
                  <a:srgbClr val="FF0000"/>
                </a:solidFill>
              </a:rPr>
              <a:t>-</a:t>
            </a:r>
            <a:r>
              <a:rPr lang="en-GB" altLang="zh-CN" dirty="0">
                <a:solidFill>
                  <a:srgbClr val="FF0000"/>
                </a:solidFill>
              </a:rPr>
              <a:t>c</a:t>
            </a:r>
            <a:r>
              <a:rPr lang="en-GB" altLang="zh-CN" dirty="0"/>
              <a:t>：</a:t>
            </a:r>
            <a:r>
              <a:rPr lang="zh-CN" altLang="en-GB" dirty="0"/>
              <a:t>建立文件系统前</a:t>
            </a:r>
            <a:r>
              <a:rPr lang="zh-CN" altLang="en-GB" dirty="0">
                <a:solidFill>
                  <a:srgbClr val="FF0000"/>
                </a:solidFill>
              </a:rPr>
              <a:t>先检测有无坏块</a:t>
            </a:r>
          </a:p>
          <a:p>
            <a:pPr>
              <a:lnSpc>
                <a:spcPct val="93000"/>
              </a:lnSpc>
            </a:pPr>
            <a:r>
              <a:rPr lang="zh-CN" altLang="en-GB" dirty="0"/>
              <a:t>举例</a:t>
            </a:r>
          </a:p>
          <a:p>
            <a:pPr lvl="1">
              <a:lnSpc>
                <a:spcPct val="93000"/>
              </a:lnSpc>
              <a:buNone/>
            </a:pPr>
            <a:r>
              <a:rPr lang="zh-CN" altLang="en-GB" dirty="0">
                <a:solidFill>
                  <a:schemeClr val="accent6">
                    <a:lumMod val="75000"/>
                  </a:schemeClr>
                </a:solidFill>
              </a:rPr>
              <a:t># </a:t>
            </a:r>
            <a:r>
              <a:rPr lang="en-GB" altLang="zh-CN" dirty="0" err="1">
                <a:solidFill>
                  <a:schemeClr val="accent6">
                    <a:lumMod val="75000"/>
                  </a:schemeClr>
                </a:solidFill>
              </a:rPr>
              <a:t>mkfs</a:t>
            </a:r>
            <a:r>
              <a:rPr lang="en-GB" altLang="zh-CN" dirty="0">
                <a:solidFill>
                  <a:schemeClr val="accent6">
                    <a:lumMod val="75000"/>
                  </a:schemeClr>
                </a:solidFill>
              </a:rPr>
              <a:t> </a:t>
            </a:r>
            <a:r>
              <a:rPr lang="en-GB" altLang="zh-CN" dirty="0">
                <a:solidFill>
                  <a:srgbClr val="FF0000"/>
                </a:solidFill>
                <a:latin typeface="Helvetica"/>
              </a:rPr>
              <a:t>-</a:t>
            </a:r>
            <a:r>
              <a:rPr lang="en-GB" altLang="zh-CN" dirty="0">
                <a:solidFill>
                  <a:srgbClr val="FF0000"/>
                </a:solidFill>
              </a:rPr>
              <a:t>t ext3 </a:t>
            </a:r>
            <a:r>
              <a:rPr lang="en-GB" altLang="zh-CN" dirty="0">
                <a:solidFill>
                  <a:schemeClr val="accent6">
                    <a:lumMod val="75000"/>
                  </a:schemeClr>
                </a:solidFill>
                <a:latin typeface="Helvetica"/>
              </a:rPr>
              <a:t>-</a:t>
            </a:r>
            <a:r>
              <a:rPr lang="en-GB" altLang="zh-CN" dirty="0">
                <a:solidFill>
                  <a:schemeClr val="accent6">
                    <a:lumMod val="75000"/>
                  </a:schemeClr>
                </a:solidFill>
              </a:rPr>
              <a:t>c /dev/hda2</a:t>
            </a:r>
          </a:p>
          <a:p>
            <a:pPr lvl="1">
              <a:buNone/>
            </a:pPr>
            <a:r>
              <a:rPr lang="en-GB" altLang="zh-CN" dirty="0">
                <a:solidFill>
                  <a:schemeClr val="accent6">
                    <a:lumMod val="75000"/>
                  </a:schemeClr>
                </a:solidFill>
              </a:rPr>
              <a:t># </a:t>
            </a:r>
            <a:r>
              <a:rPr lang="en-GB" altLang="zh-CN" dirty="0" err="1">
                <a:solidFill>
                  <a:schemeClr val="accent6">
                    <a:lumMod val="75000"/>
                  </a:schemeClr>
                </a:solidFill>
              </a:rPr>
              <a:t>mkfs</a:t>
            </a:r>
            <a:r>
              <a:rPr lang="en-GB" altLang="zh-CN" dirty="0">
                <a:solidFill>
                  <a:schemeClr val="accent6">
                    <a:lumMod val="75000"/>
                  </a:schemeClr>
                </a:solidFill>
              </a:rPr>
              <a:t> </a:t>
            </a:r>
            <a:r>
              <a:rPr lang="en-GB" altLang="zh-CN" dirty="0">
                <a:solidFill>
                  <a:schemeClr val="accent6">
                    <a:lumMod val="75000"/>
                  </a:schemeClr>
                </a:solidFill>
                <a:latin typeface="Helvetica"/>
              </a:rPr>
              <a:t>-</a:t>
            </a:r>
            <a:r>
              <a:rPr lang="en-GB" altLang="zh-CN" dirty="0">
                <a:solidFill>
                  <a:schemeClr val="accent6">
                    <a:lumMod val="75000"/>
                  </a:schemeClr>
                </a:solidFill>
              </a:rPr>
              <a:t>t </a:t>
            </a:r>
            <a:r>
              <a:rPr lang="en-GB" altLang="zh-CN" dirty="0" err="1">
                <a:solidFill>
                  <a:schemeClr val="accent6">
                    <a:lumMod val="75000"/>
                  </a:schemeClr>
                </a:solidFill>
              </a:rPr>
              <a:t>vfat</a:t>
            </a:r>
            <a:r>
              <a:rPr lang="en-GB" altLang="zh-CN" dirty="0">
                <a:solidFill>
                  <a:schemeClr val="accent6">
                    <a:lumMod val="75000"/>
                  </a:schemeClr>
                </a:solidFill>
              </a:rPr>
              <a:t> /dev/hdb2</a:t>
            </a:r>
            <a:endParaRPr lang="en-US" altLang="zh-CN" dirty="0">
              <a:solidFill>
                <a:schemeClr val="accent6">
                  <a:lumMod val="75000"/>
                </a:schemeClr>
              </a:solidFill>
            </a:endParaRPr>
          </a:p>
          <a:p>
            <a:pPr lvl="1">
              <a:buNone/>
            </a:pPr>
            <a:r>
              <a:rPr lang="en-GB" altLang="zh-CN" dirty="0">
                <a:solidFill>
                  <a:schemeClr val="accent6">
                    <a:lumMod val="75000"/>
                  </a:schemeClr>
                </a:solidFill>
              </a:rPr>
              <a:t># mke2fs </a:t>
            </a:r>
            <a:r>
              <a:rPr lang="en-GB" altLang="zh-CN" dirty="0">
                <a:solidFill>
                  <a:schemeClr val="accent6">
                    <a:lumMod val="75000"/>
                  </a:schemeClr>
                </a:solidFill>
                <a:latin typeface="Helvetica"/>
              </a:rPr>
              <a:t>-</a:t>
            </a:r>
            <a:r>
              <a:rPr lang="en-GB" altLang="zh-CN" dirty="0">
                <a:solidFill>
                  <a:schemeClr val="accent6">
                    <a:lumMod val="75000"/>
                  </a:schemeClr>
                </a:solidFill>
              </a:rPr>
              <a:t>c /dev/hda2</a:t>
            </a:r>
          </a:p>
          <a:p>
            <a:pPr lvl="1">
              <a:buNone/>
            </a:pPr>
            <a:r>
              <a:rPr lang="zh-CN" altLang="en-GB" dirty="0">
                <a:solidFill>
                  <a:schemeClr val="accent6">
                    <a:lumMod val="75000"/>
                  </a:schemeClr>
                </a:solidFill>
              </a:rPr>
              <a:t># </a:t>
            </a:r>
            <a:r>
              <a:rPr lang="en-GB" altLang="zh-CN" dirty="0">
                <a:solidFill>
                  <a:schemeClr val="accent6">
                    <a:lumMod val="75000"/>
                  </a:schemeClr>
                </a:solidFill>
              </a:rPr>
              <a:t>mkfs</a:t>
            </a:r>
            <a:r>
              <a:rPr lang="en-GB" altLang="zh-CN" dirty="0">
                <a:solidFill>
                  <a:srgbClr val="FF0000"/>
                </a:solidFill>
              </a:rPr>
              <a:t>.ext4 </a:t>
            </a:r>
            <a:r>
              <a:rPr lang="en-GB" altLang="zh-CN" dirty="0">
                <a:solidFill>
                  <a:schemeClr val="accent6">
                    <a:lumMod val="75000"/>
                  </a:schemeClr>
                </a:solidFill>
              </a:rPr>
              <a:t>/dev/sda1</a:t>
            </a:r>
          </a:p>
          <a:p>
            <a:endParaRPr lang="zh-CN" altLang="en-US" dirty="0"/>
          </a:p>
        </p:txBody>
      </p:sp>
    </p:spTree>
    <p:extLst>
      <p:ext uri="{BB962C8B-B14F-4D97-AF65-F5344CB8AC3E}">
        <p14:creationId xmlns:p14="http://schemas.microsoft.com/office/powerpoint/2010/main" val="3806425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检查文件系统</a:t>
            </a:r>
          </a:p>
        </p:txBody>
      </p:sp>
      <p:sp>
        <p:nvSpPr>
          <p:cNvPr id="3" name="内容占位符 2"/>
          <p:cNvSpPr>
            <a:spLocks noGrp="1"/>
          </p:cNvSpPr>
          <p:nvPr>
            <p:ph idx="1"/>
          </p:nvPr>
        </p:nvSpPr>
        <p:spPr>
          <a:xfrm>
            <a:off x="755576" y="1556792"/>
            <a:ext cx="7772400" cy="5184576"/>
          </a:xfrm>
        </p:spPr>
        <p:txBody>
          <a:bodyPr/>
          <a:lstStyle/>
          <a:p>
            <a:r>
              <a:rPr lang="en-US" altLang="zh-CN" dirty="0" smtClean="0">
                <a:solidFill>
                  <a:srgbClr val="FF0000"/>
                </a:solidFill>
              </a:rPr>
              <a:t>fsck (File system Consistency Check)</a:t>
            </a:r>
            <a:r>
              <a:rPr lang="zh-CN" altLang="en-US" dirty="0" smtClean="0"/>
              <a:t>是</a:t>
            </a:r>
            <a:r>
              <a:rPr lang="zh-CN" altLang="en-US" dirty="0"/>
              <a:t>操作系统扫描文件系统内容检查内部一致性的工具。</a:t>
            </a:r>
            <a:endParaRPr lang="en-US" altLang="zh-CN" dirty="0"/>
          </a:p>
          <a:p>
            <a:r>
              <a:rPr lang="zh-CN" altLang="en-US" dirty="0"/>
              <a:t>主要功能</a:t>
            </a:r>
          </a:p>
          <a:p>
            <a:pPr lvl="1"/>
            <a:r>
              <a:rPr lang="zh-CN" altLang="en-US" dirty="0"/>
              <a:t>检测并修正</a:t>
            </a:r>
            <a:r>
              <a:rPr lang="zh-CN" altLang="en-US" dirty="0">
                <a:solidFill>
                  <a:srgbClr val="FF0000"/>
                </a:solidFill>
              </a:rPr>
              <a:t>链接中断的目录</a:t>
            </a:r>
          </a:p>
          <a:p>
            <a:pPr lvl="1"/>
            <a:r>
              <a:rPr lang="zh-CN" altLang="en-US" dirty="0"/>
              <a:t>检测并修正</a:t>
            </a:r>
            <a:r>
              <a:rPr lang="zh-CN" altLang="en-US" dirty="0">
                <a:solidFill>
                  <a:srgbClr val="FF0000"/>
                </a:solidFill>
              </a:rPr>
              <a:t>错误时间标记</a:t>
            </a:r>
          </a:p>
          <a:p>
            <a:pPr lvl="1"/>
            <a:r>
              <a:rPr lang="zh-CN" altLang="en-US" dirty="0"/>
              <a:t>检测并修正</a:t>
            </a:r>
            <a:r>
              <a:rPr lang="zh-CN" altLang="en-US" dirty="0">
                <a:solidFill>
                  <a:srgbClr val="FF0000"/>
                </a:solidFill>
              </a:rPr>
              <a:t>指向错误磁盘区域的</a:t>
            </a:r>
            <a:r>
              <a:rPr lang="en-US" altLang="zh-CN" dirty="0" err="1">
                <a:solidFill>
                  <a:srgbClr val="FF0000"/>
                </a:solidFill>
              </a:rPr>
              <a:t>i</a:t>
            </a:r>
            <a:r>
              <a:rPr lang="en-US" altLang="zh-CN" dirty="0">
                <a:solidFill>
                  <a:srgbClr val="FF0000"/>
                </a:solidFill>
              </a:rPr>
              <a:t>-node</a:t>
            </a:r>
          </a:p>
          <a:p>
            <a:r>
              <a:rPr lang="zh-CN" altLang="en-US" dirty="0"/>
              <a:t>命令格式</a:t>
            </a:r>
            <a:endParaRPr lang="en-US" altLang="zh-CN" dirty="0"/>
          </a:p>
          <a:p>
            <a:pPr lvl="1"/>
            <a:r>
              <a:rPr lang="en-US" altLang="zh-CN" dirty="0">
                <a:solidFill>
                  <a:schemeClr val="accent2">
                    <a:lumMod val="75000"/>
                  </a:schemeClr>
                </a:solidFill>
              </a:rPr>
              <a:t>fsck [</a:t>
            </a:r>
            <a:r>
              <a:rPr lang="zh-CN" altLang="en-US" dirty="0">
                <a:solidFill>
                  <a:schemeClr val="accent2">
                    <a:lumMod val="75000"/>
                  </a:schemeClr>
                </a:solidFill>
              </a:rPr>
              <a:t>选项</a:t>
            </a:r>
            <a:r>
              <a:rPr lang="en-US" altLang="zh-CN" dirty="0">
                <a:solidFill>
                  <a:schemeClr val="accent2">
                    <a:lumMod val="75000"/>
                  </a:schemeClr>
                </a:solidFill>
              </a:rPr>
              <a:t>][-t </a:t>
            </a:r>
            <a:r>
              <a:rPr lang="zh-CN" altLang="en-US" dirty="0">
                <a:solidFill>
                  <a:schemeClr val="accent2">
                    <a:lumMod val="75000"/>
                  </a:schemeClr>
                </a:solidFill>
              </a:rPr>
              <a:t>文件系统类型</a:t>
            </a:r>
            <a:r>
              <a:rPr lang="en-US" altLang="zh-CN" dirty="0">
                <a:solidFill>
                  <a:schemeClr val="accent2">
                    <a:lumMod val="75000"/>
                  </a:schemeClr>
                </a:solidFill>
              </a:rPr>
              <a:t>] &lt;</a:t>
            </a:r>
            <a:r>
              <a:rPr lang="zh-CN" altLang="en-US" dirty="0">
                <a:solidFill>
                  <a:schemeClr val="accent2">
                    <a:lumMod val="75000"/>
                  </a:schemeClr>
                </a:solidFill>
              </a:rPr>
              <a:t>设备名</a:t>
            </a:r>
            <a:r>
              <a:rPr lang="en-US" altLang="zh-CN" dirty="0">
                <a:solidFill>
                  <a:schemeClr val="accent2">
                    <a:lumMod val="75000"/>
                  </a:schemeClr>
                </a:solidFill>
              </a:rPr>
              <a:t>&gt; [</a:t>
            </a:r>
            <a:r>
              <a:rPr lang="zh-CN" altLang="en-US" dirty="0">
                <a:solidFill>
                  <a:schemeClr val="accent2">
                    <a:lumMod val="75000"/>
                  </a:schemeClr>
                </a:solidFill>
              </a:rPr>
              <a:t>特定文件系统的附加选项</a:t>
            </a:r>
            <a:r>
              <a:rPr lang="en-US" altLang="zh-CN" dirty="0">
                <a:solidFill>
                  <a:schemeClr val="accent2">
                    <a:lumMod val="75000"/>
                  </a:schemeClr>
                </a:solidFill>
              </a:rPr>
              <a:t>]</a:t>
            </a:r>
            <a:endParaRPr lang="zh-CN" altLang="en-US" dirty="0">
              <a:solidFill>
                <a:schemeClr val="accent2">
                  <a:lumMod val="75000"/>
                </a:schemeClr>
              </a:solidFill>
            </a:endParaRPr>
          </a:p>
        </p:txBody>
      </p:sp>
    </p:spTree>
    <p:extLst>
      <p:ext uri="{BB962C8B-B14F-4D97-AF65-F5344CB8AC3E}">
        <p14:creationId xmlns:p14="http://schemas.microsoft.com/office/powerpoint/2010/main" val="11011809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检查文件系统举例</a:t>
            </a:r>
          </a:p>
        </p:txBody>
      </p:sp>
      <p:sp>
        <p:nvSpPr>
          <p:cNvPr id="3" name="内容占位符 2"/>
          <p:cNvSpPr>
            <a:spLocks noGrp="1"/>
          </p:cNvSpPr>
          <p:nvPr>
            <p:ph idx="1"/>
          </p:nvPr>
        </p:nvSpPr>
        <p:spPr>
          <a:xfrm>
            <a:off x="899592" y="1628800"/>
            <a:ext cx="7772400" cy="4320480"/>
          </a:xfrm>
        </p:spPr>
        <p:txBody>
          <a:bodyPr/>
          <a:lstStyle/>
          <a:p>
            <a:r>
              <a:rPr lang="en-US" altLang="zh-CN" dirty="0"/>
              <a:t>fsck</a:t>
            </a:r>
            <a:r>
              <a:rPr lang="zh-CN" altLang="en-US" dirty="0"/>
              <a:t>举例</a:t>
            </a:r>
            <a:endParaRPr lang="en-US" altLang="zh-CN" dirty="0"/>
          </a:p>
          <a:p>
            <a:pPr lvl="1"/>
            <a:r>
              <a:rPr lang="zh-CN" altLang="en-US" dirty="0"/>
              <a:t>检查文件系统，对所有问题</a:t>
            </a:r>
            <a:r>
              <a:rPr lang="zh-CN" altLang="en-US" dirty="0">
                <a:solidFill>
                  <a:srgbClr val="FF0000"/>
                </a:solidFill>
              </a:rPr>
              <a:t>回答“</a:t>
            </a:r>
            <a:r>
              <a:rPr lang="en-US" altLang="zh-CN" dirty="0">
                <a:solidFill>
                  <a:srgbClr val="FF0000"/>
                </a:solidFill>
              </a:rPr>
              <a:t>yes”</a:t>
            </a:r>
          </a:p>
          <a:p>
            <a:pPr lvl="1">
              <a:buNone/>
            </a:pPr>
            <a:r>
              <a:rPr lang="en-US" altLang="zh-CN" dirty="0">
                <a:solidFill>
                  <a:schemeClr val="accent6">
                    <a:lumMod val="75000"/>
                  </a:schemeClr>
                </a:solidFill>
              </a:rPr>
              <a:t># fsck -t ext4 /dev/sdb2</a:t>
            </a:r>
          </a:p>
          <a:p>
            <a:pPr lvl="1"/>
            <a:r>
              <a:rPr lang="zh-CN" altLang="en-US" dirty="0">
                <a:solidFill>
                  <a:srgbClr val="FF0000"/>
                </a:solidFill>
              </a:rPr>
              <a:t>自动检查</a:t>
            </a:r>
            <a:r>
              <a:rPr lang="zh-CN" altLang="en-US" dirty="0"/>
              <a:t>并修复文件系统</a:t>
            </a:r>
          </a:p>
          <a:p>
            <a:pPr lvl="1">
              <a:buNone/>
            </a:pPr>
            <a:r>
              <a:rPr lang="en-US" altLang="zh-CN" dirty="0">
                <a:solidFill>
                  <a:schemeClr val="accent6">
                    <a:lumMod val="75000"/>
                  </a:schemeClr>
                </a:solidFill>
              </a:rPr>
              <a:t>#  e2fsck  -p  /dev/sda5 </a:t>
            </a:r>
          </a:p>
          <a:p>
            <a:pPr lvl="1"/>
            <a:r>
              <a:rPr lang="zh-CN" altLang="en-US" dirty="0"/>
              <a:t>强制进行文件系统检查，标识损坏区块，对所有问题</a:t>
            </a:r>
            <a:r>
              <a:rPr lang="zh-CN" altLang="en-US" dirty="0">
                <a:solidFill>
                  <a:srgbClr val="FF0000"/>
                </a:solidFill>
              </a:rPr>
              <a:t>回答“</a:t>
            </a:r>
            <a:r>
              <a:rPr lang="en-US" altLang="zh-CN" dirty="0">
                <a:solidFill>
                  <a:srgbClr val="FF0000"/>
                </a:solidFill>
              </a:rPr>
              <a:t>yes”</a:t>
            </a:r>
          </a:p>
          <a:p>
            <a:pPr lvl="1">
              <a:buNone/>
            </a:pPr>
            <a:r>
              <a:rPr lang="en-US" altLang="zh-CN" dirty="0">
                <a:solidFill>
                  <a:schemeClr val="accent6">
                    <a:lumMod val="75000"/>
                  </a:schemeClr>
                </a:solidFill>
              </a:rPr>
              <a:t>#  fsck.ext3  -f  -y  /dev/hda2</a:t>
            </a:r>
            <a:endParaRPr lang="zh-CN" altLang="en-US" dirty="0">
              <a:solidFill>
                <a:schemeClr val="accent6">
                  <a:lumMod val="75000"/>
                </a:schemeClr>
              </a:solidFill>
            </a:endParaRPr>
          </a:p>
        </p:txBody>
      </p:sp>
    </p:spTree>
    <p:extLst>
      <p:ext uri="{BB962C8B-B14F-4D97-AF65-F5344CB8AC3E}">
        <p14:creationId xmlns:p14="http://schemas.microsoft.com/office/powerpoint/2010/main" val="32477435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检查文件系统注意事项</a:t>
            </a:r>
          </a:p>
        </p:txBody>
      </p:sp>
      <p:sp>
        <p:nvSpPr>
          <p:cNvPr id="3" name="内容占位符 2"/>
          <p:cNvSpPr>
            <a:spLocks noGrp="1"/>
          </p:cNvSpPr>
          <p:nvPr>
            <p:ph idx="1"/>
          </p:nvPr>
        </p:nvSpPr>
        <p:spPr>
          <a:xfrm>
            <a:off x="963613" y="1736303"/>
            <a:ext cx="7856859" cy="4114800"/>
          </a:xfrm>
        </p:spPr>
        <p:txBody>
          <a:bodyPr/>
          <a:lstStyle/>
          <a:p>
            <a:pPr>
              <a:lnSpc>
                <a:spcPct val="120000"/>
              </a:lnSpc>
            </a:pPr>
            <a:r>
              <a:rPr lang="zh-CN" altLang="en-US" dirty="0"/>
              <a:t>一般情况下，无需用户手动执行</a:t>
            </a:r>
            <a:r>
              <a:rPr lang="en-US" altLang="zh-CN" dirty="0"/>
              <a:t>fsck</a:t>
            </a:r>
            <a:r>
              <a:rPr lang="zh-CN" altLang="en-US" dirty="0"/>
              <a:t>命令</a:t>
            </a:r>
          </a:p>
          <a:p>
            <a:pPr>
              <a:lnSpc>
                <a:spcPct val="120000"/>
              </a:lnSpc>
            </a:pPr>
            <a:r>
              <a:rPr lang="zh-CN" altLang="en-US" dirty="0"/>
              <a:t>在</a:t>
            </a:r>
            <a:r>
              <a:rPr lang="zh-CN" altLang="en-US" dirty="0">
                <a:solidFill>
                  <a:srgbClr val="FF0000"/>
                </a:solidFill>
              </a:rPr>
              <a:t>系统启动过程中</a:t>
            </a:r>
            <a:r>
              <a:rPr lang="zh-CN" altLang="en-US" dirty="0"/>
              <a:t>， 一旦系统检测到了不一致就会</a:t>
            </a:r>
            <a:r>
              <a:rPr lang="zh-CN" altLang="en-US" dirty="0">
                <a:solidFill>
                  <a:srgbClr val="FF0000"/>
                </a:solidFill>
              </a:rPr>
              <a:t>自动运行</a:t>
            </a:r>
            <a:r>
              <a:rPr lang="en-US" altLang="zh-CN" dirty="0">
                <a:solidFill>
                  <a:srgbClr val="FF0000"/>
                </a:solidFill>
              </a:rPr>
              <a:t>fsck</a:t>
            </a:r>
            <a:r>
              <a:rPr lang="zh-CN" altLang="en-US" dirty="0">
                <a:solidFill>
                  <a:srgbClr val="FF0000"/>
                </a:solidFill>
              </a:rPr>
              <a:t>命令</a:t>
            </a:r>
          </a:p>
          <a:p>
            <a:pPr>
              <a:lnSpc>
                <a:spcPct val="120000"/>
              </a:lnSpc>
            </a:pPr>
            <a:r>
              <a:rPr lang="zh-CN" altLang="en-US" dirty="0"/>
              <a:t>手动执行</a:t>
            </a:r>
            <a:r>
              <a:rPr lang="en-US" altLang="zh-CN" dirty="0"/>
              <a:t>fsck</a:t>
            </a:r>
            <a:r>
              <a:rPr lang="zh-CN" altLang="en-US" dirty="0"/>
              <a:t>命令，应该</a:t>
            </a:r>
            <a:r>
              <a:rPr lang="zh-CN" altLang="en-US" dirty="0">
                <a:solidFill>
                  <a:srgbClr val="FF0000"/>
                </a:solidFill>
              </a:rPr>
              <a:t>在单用户模式且文件系统被卸装</a:t>
            </a:r>
            <a:r>
              <a:rPr lang="zh-CN" altLang="en-US" dirty="0"/>
              <a:t>的情况下进行</a:t>
            </a:r>
          </a:p>
        </p:txBody>
      </p:sp>
    </p:spTree>
    <p:extLst>
      <p:ext uri="{BB962C8B-B14F-4D97-AF65-F5344CB8AC3E}">
        <p14:creationId xmlns:p14="http://schemas.microsoft.com/office/powerpoint/2010/main" val="38485808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文件系统的</a:t>
            </a:r>
            <a:r>
              <a:rPr lang="en-US" altLang="zh-CN" dirty="0"/>
              <a:t>LABEL</a:t>
            </a:r>
            <a:r>
              <a:rPr lang="zh-CN" altLang="en-US" b="1" dirty="0"/>
              <a:t>和</a:t>
            </a:r>
            <a:r>
              <a:rPr lang="en-US" altLang="zh-CN" dirty="0"/>
              <a:t>UUID</a:t>
            </a:r>
            <a:endParaRPr lang="zh-CN" altLang="en-US" dirty="0"/>
          </a:p>
        </p:txBody>
      </p:sp>
      <p:sp>
        <p:nvSpPr>
          <p:cNvPr id="3" name="内容占位符 2"/>
          <p:cNvSpPr>
            <a:spLocks noGrp="1"/>
          </p:cNvSpPr>
          <p:nvPr>
            <p:ph idx="1"/>
          </p:nvPr>
        </p:nvSpPr>
        <p:spPr>
          <a:xfrm>
            <a:off x="971600" y="1628800"/>
            <a:ext cx="7772400" cy="4114800"/>
          </a:xfrm>
        </p:spPr>
        <p:txBody>
          <a:bodyPr/>
          <a:lstStyle/>
          <a:p>
            <a:r>
              <a:rPr lang="zh-CN" altLang="en-US" dirty="0"/>
              <a:t>标识块设备的</a:t>
            </a:r>
            <a:r>
              <a:rPr lang="zh-CN" altLang="en-US" dirty="0">
                <a:solidFill>
                  <a:srgbClr val="FF0000"/>
                </a:solidFill>
              </a:rPr>
              <a:t>传统方法</a:t>
            </a:r>
            <a:endParaRPr lang="en-US" altLang="zh-CN" dirty="0">
              <a:solidFill>
                <a:srgbClr val="FF0000"/>
              </a:solidFill>
            </a:endParaRPr>
          </a:p>
          <a:p>
            <a:pPr lvl="1"/>
            <a:r>
              <a:rPr lang="zh-CN" altLang="en-US" dirty="0">
                <a:solidFill>
                  <a:srgbClr val="FF0000"/>
                </a:solidFill>
              </a:rPr>
              <a:t>设备名 </a:t>
            </a:r>
            <a:endParaRPr lang="en-US" altLang="zh-CN" dirty="0">
              <a:solidFill>
                <a:srgbClr val="FF0000"/>
              </a:solidFill>
            </a:endParaRPr>
          </a:p>
          <a:p>
            <a:pPr lvl="1"/>
            <a:r>
              <a:rPr lang="en-US" altLang="zh-CN" dirty="0"/>
              <a:t>/dev/sda1</a:t>
            </a:r>
            <a:r>
              <a:rPr lang="en-US" altLang="zh-CN" dirty="0" smtClean="0"/>
              <a:t>, /</a:t>
            </a:r>
            <a:r>
              <a:rPr lang="en-US" altLang="zh-CN" dirty="0"/>
              <a:t>dev/</a:t>
            </a:r>
            <a:r>
              <a:rPr lang="en-US" altLang="zh-CN" dirty="0" err="1"/>
              <a:t>my_vg</a:t>
            </a:r>
            <a:r>
              <a:rPr lang="en-US" altLang="zh-CN" dirty="0"/>
              <a:t>/</a:t>
            </a:r>
            <a:r>
              <a:rPr lang="en-US" altLang="zh-CN" dirty="0" err="1"/>
              <a:t>my_lv</a:t>
            </a:r>
            <a:endParaRPr lang="en-US" altLang="zh-CN" dirty="0"/>
          </a:p>
          <a:p>
            <a:r>
              <a:rPr lang="zh-CN" altLang="en-US" dirty="0"/>
              <a:t>标识块设备的</a:t>
            </a:r>
            <a:r>
              <a:rPr lang="zh-CN" altLang="en-US" dirty="0">
                <a:solidFill>
                  <a:srgbClr val="FF0000"/>
                </a:solidFill>
              </a:rPr>
              <a:t>其他方法</a:t>
            </a:r>
            <a:endParaRPr lang="en-US" altLang="zh-CN" dirty="0">
              <a:solidFill>
                <a:srgbClr val="FF0000"/>
              </a:solidFill>
            </a:endParaRPr>
          </a:p>
          <a:p>
            <a:pPr lvl="1"/>
            <a:r>
              <a:rPr lang="zh-CN" altLang="en-US" dirty="0"/>
              <a:t>文件系统的</a:t>
            </a:r>
            <a:r>
              <a:rPr lang="en-US" altLang="zh-CN" dirty="0">
                <a:solidFill>
                  <a:srgbClr val="FF0000"/>
                </a:solidFill>
              </a:rPr>
              <a:t>LABEL</a:t>
            </a:r>
          </a:p>
          <a:p>
            <a:pPr lvl="2"/>
            <a:r>
              <a:rPr lang="en-US" altLang="zh-CN" dirty="0"/>
              <a:t>e2label device [</a:t>
            </a:r>
            <a:r>
              <a:rPr lang="en-US" altLang="zh-CN" dirty="0" err="1"/>
              <a:t>fslabel</a:t>
            </a:r>
            <a:r>
              <a:rPr lang="en-US" altLang="zh-CN" dirty="0"/>
              <a:t>]</a:t>
            </a:r>
          </a:p>
          <a:p>
            <a:pPr lvl="1"/>
            <a:r>
              <a:rPr lang="zh-CN" altLang="en-US" dirty="0"/>
              <a:t>文件系统的</a:t>
            </a:r>
            <a:r>
              <a:rPr lang="en-US" altLang="zh-CN" dirty="0">
                <a:solidFill>
                  <a:srgbClr val="FF0000"/>
                </a:solidFill>
              </a:rPr>
              <a:t>UUID</a:t>
            </a:r>
          </a:p>
          <a:p>
            <a:pPr lvl="2"/>
            <a:r>
              <a:rPr lang="zh-CN" altLang="en-US" dirty="0"/>
              <a:t>在生成文件系统时</a:t>
            </a:r>
            <a:r>
              <a:rPr lang="zh-CN" altLang="en-US" dirty="0">
                <a:solidFill>
                  <a:srgbClr val="FF0000"/>
                </a:solidFill>
              </a:rPr>
              <a:t>自动为设备指定</a:t>
            </a:r>
            <a:r>
              <a:rPr lang="en-US" altLang="zh-CN" dirty="0">
                <a:solidFill>
                  <a:srgbClr val="FF0000"/>
                </a:solidFill>
              </a:rPr>
              <a:t>UUID</a:t>
            </a:r>
          </a:p>
          <a:p>
            <a:endParaRPr lang="zh-CN" altLang="en-US" dirty="0"/>
          </a:p>
        </p:txBody>
      </p:sp>
    </p:spTree>
    <p:extLst>
      <p:ext uri="{BB962C8B-B14F-4D97-AF65-F5344CB8AC3E}">
        <p14:creationId xmlns:p14="http://schemas.microsoft.com/office/powerpoint/2010/main" val="31044662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b="1" dirty="0"/>
              <a:t>LABEL</a:t>
            </a:r>
            <a:r>
              <a:rPr lang="zh-CN" altLang="en-US" b="1" dirty="0"/>
              <a:t>和</a:t>
            </a:r>
            <a:r>
              <a:rPr lang="en-US" altLang="zh-CN" b="1" dirty="0"/>
              <a:t>UUID</a:t>
            </a:r>
            <a:endParaRPr lang="zh-CN" altLang="en-US" dirty="0"/>
          </a:p>
        </p:txBody>
      </p:sp>
      <p:sp>
        <p:nvSpPr>
          <p:cNvPr id="8" name="内容占位符 2"/>
          <p:cNvSpPr>
            <a:spLocks noGrp="1"/>
          </p:cNvSpPr>
          <p:nvPr>
            <p:ph idx="1"/>
          </p:nvPr>
        </p:nvSpPr>
        <p:spPr>
          <a:xfrm>
            <a:off x="611560" y="1412776"/>
            <a:ext cx="8208912" cy="4752528"/>
          </a:xfrm>
        </p:spPr>
        <p:txBody>
          <a:bodyPr/>
          <a:lstStyle/>
          <a:p>
            <a:r>
              <a:rPr lang="zh-CN" altLang="en-US" sz="3000" dirty="0"/>
              <a:t>显示</a:t>
            </a:r>
            <a:r>
              <a:rPr lang="en-US" altLang="zh-CN" sz="3000" dirty="0"/>
              <a:t>Label</a:t>
            </a:r>
          </a:p>
          <a:p>
            <a:pPr lvl="1">
              <a:buNone/>
            </a:pPr>
            <a:r>
              <a:rPr lang="en-US" altLang="zh-CN" sz="2600" dirty="0">
                <a:solidFill>
                  <a:schemeClr val="accent6">
                    <a:lumMod val="75000"/>
                  </a:schemeClr>
                </a:solidFill>
              </a:rPr>
              <a:t>e2label  &lt;</a:t>
            </a:r>
            <a:r>
              <a:rPr lang="zh-CN" altLang="en-US" sz="2600" dirty="0">
                <a:solidFill>
                  <a:schemeClr val="accent6">
                    <a:lumMod val="75000"/>
                  </a:schemeClr>
                </a:solidFill>
              </a:rPr>
              <a:t>设备名</a:t>
            </a:r>
            <a:r>
              <a:rPr lang="en-US" altLang="zh-CN" sz="2600" dirty="0">
                <a:solidFill>
                  <a:schemeClr val="accent6">
                    <a:lumMod val="75000"/>
                  </a:schemeClr>
                </a:solidFill>
              </a:rPr>
              <a:t>&gt;</a:t>
            </a:r>
          </a:p>
          <a:p>
            <a:r>
              <a:rPr lang="zh-CN" altLang="en-US" sz="3000" dirty="0"/>
              <a:t>根据</a:t>
            </a:r>
            <a:r>
              <a:rPr lang="en-US" altLang="zh-CN" sz="3000" dirty="0"/>
              <a:t>Label</a:t>
            </a:r>
            <a:r>
              <a:rPr lang="zh-CN" altLang="en-US" sz="3000" dirty="0"/>
              <a:t>查找设备名</a:t>
            </a:r>
            <a:endParaRPr lang="en-US" altLang="zh-CN" sz="3000" dirty="0"/>
          </a:p>
          <a:p>
            <a:pPr lvl="1">
              <a:buNone/>
            </a:pPr>
            <a:r>
              <a:rPr lang="en-US" altLang="zh-CN" sz="2600" dirty="0" err="1">
                <a:solidFill>
                  <a:schemeClr val="accent6">
                    <a:lumMod val="75000"/>
                  </a:schemeClr>
                </a:solidFill>
              </a:rPr>
              <a:t>findfs</a:t>
            </a:r>
            <a:r>
              <a:rPr lang="en-US" altLang="zh-CN" sz="2600" dirty="0">
                <a:solidFill>
                  <a:schemeClr val="accent6">
                    <a:lumMod val="75000"/>
                  </a:schemeClr>
                </a:solidFill>
              </a:rPr>
              <a:t> LABEL=&lt;label</a:t>
            </a:r>
            <a:r>
              <a:rPr lang="en-US" altLang="zh-CN" sz="2600" i="1" dirty="0">
                <a:solidFill>
                  <a:schemeClr val="accent6">
                    <a:lumMod val="75000"/>
                  </a:schemeClr>
                </a:solidFill>
              </a:rPr>
              <a:t>&gt;</a:t>
            </a:r>
            <a:endParaRPr lang="en-US" altLang="zh-CN" sz="2600" dirty="0"/>
          </a:p>
          <a:p>
            <a:r>
              <a:rPr lang="zh-CN" altLang="en-US" dirty="0"/>
              <a:t>在 </a:t>
            </a:r>
            <a:r>
              <a:rPr lang="en-US" altLang="zh-CN" dirty="0"/>
              <a:t>mount </a:t>
            </a:r>
            <a:r>
              <a:rPr lang="zh-CN" altLang="en-US" dirty="0"/>
              <a:t>命令中使用 </a:t>
            </a:r>
            <a:r>
              <a:rPr lang="en-US" altLang="zh-CN" dirty="0"/>
              <a:t>LABEL</a:t>
            </a:r>
            <a:r>
              <a:rPr lang="zh-CN" altLang="en-US" dirty="0"/>
              <a:t>和</a:t>
            </a:r>
            <a:r>
              <a:rPr lang="en-US" altLang="zh-CN" dirty="0"/>
              <a:t>UUID</a:t>
            </a:r>
          </a:p>
          <a:p>
            <a:pPr lvl="1">
              <a:buNone/>
            </a:pPr>
            <a:r>
              <a:rPr lang="en-US" altLang="zh-CN" sz="2600" dirty="0">
                <a:solidFill>
                  <a:schemeClr val="accent6">
                    <a:lumMod val="75000"/>
                  </a:schemeClr>
                </a:solidFill>
              </a:rPr>
              <a:t>mount [options] -L &lt;label&gt; &lt;</a:t>
            </a:r>
            <a:r>
              <a:rPr lang="en-US" altLang="zh-CN" sz="2600" dirty="0" err="1">
                <a:solidFill>
                  <a:schemeClr val="accent6">
                    <a:lumMod val="75000"/>
                  </a:schemeClr>
                </a:solidFill>
              </a:rPr>
              <a:t>mount_point</a:t>
            </a:r>
            <a:r>
              <a:rPr lang="en-US" altLang="zh-CN" sz="2600" dirty="0">
                <a:solidFill>
                  <a:schemeClr val="accent6">
                    <a:lumMod val="75000"/>
                  </a:schemeClr>
                </a:solidFill>
              </a:rPr>
              <a:t>&gt;</a:t>
            </a:r>
          </a:p>
          <a:p>
            <a:pPr lvl="1">
              <a:buNone/>
            </a:pPr>
            <a:r>
              <a:rPr lang="en-US" altLang="zh-CN" sz="2600" dirty="0">
                <a:solidFill>
                  <a:schemeClr val="accent6">
                    <a:lumMod val="75000"/>
                  </a:schemeClr>
                </a:solidFill>
              </a:rPr>
              <a:t>mount [options] -U &lt;</a:t>
            </a:r>
            <a:r>
              <a:rPr lang="en-US" altLang="zh-CN" sz="2600" dirty="0" err="1">
                <a:solidFill>
                  <a:schemeClr val="accent6">
                    <a:lumMod val="75000"/>
                  </a:schemeClr>
                </a:solidFill>
              </a:rPr>
              <a:t>uuid</a:t>
            </a:r>
            <a:r>
              <a:rPr lang="en-US" altLang="zh-CN" sz="2600" dirty="0">
                <a:solidFill>
                  <a:schemeClr val="accent6">
                    <a:lumMod val="75000"/>
                  </a:schemeClr>
                </a:solidFill>
              </a:rPr>
              <a:t>&gt;  &lt;</a:t>
            </a:r>
            <a:r>
              <a:rPr lang="en-US" altLang="zh-CN" sz="2600" dirty="0" err="1">
                <a:solidFill>
                  <a:schemeClr val="accent6">
                    <a:lumMod val="75000"/>
                  </a:schemeClr>
                </a:solidFill>
              </a:rPr>
              <a:t>mount_point</a:t>
            </a:r>
            <a:r>
              <a:rPr lang="en-US" altLang="zh-CN" sz="2600" dirty="0">
                <a:solidFill>
                  <a:schemeClr val="accent6">
                    <a:lumMod val="75000"/>
                  </a:schemeClr>
                </a:solidFill>
              </a:rPr>
              <a:t>&gt;</a:t>
            </a:r>
          </a:p>
          <a:p>
            <a:r>
              <a:rPr lang="zh-CN" altLang="en-US" dirty="0"/>
              <a:t>在 </a:t>
            </a:r>
            <a:r>
              <a:rPr lang="en-US" altLang="zh-CN" dirty="0"/>
              <a:t>/etc/</a:t>
            </a:r>
            <a:r>
              <a:rPr lang="en-US" altLang="zh-CN" dirty="0" err="1"/>
              <a:t>fstab</a:t>
            </a:r>
            <a:r>
              <a:rPr lang="en-US" altLang="zh-CN" dirty="0"/>
              <a:t> </a:t>
            </a:r>
            <a:r>
              <a:rPr lang="zh-CN" altLang="en-US" dirty="0"/>
              <a:t>中使用 </a:t>
            </a:r>
            <a:r>
              <a:rPr lang="en-US" altLang="zh-CN" dirty="0"/>
              <a:t>LABEL</a:t>
            </a:r>
            <a:r>
              <a:rPr lang="zh-CN" altLang="en-US" dirty="0"/>
              <a:t>和</a:t>
            </a:r>
            <a:r>
              <a:rPr lang="en-US" altLang="zh-CN" dirty="0"/>
              <a:t>UUID</a:t>
            </a:r>
          </a:p>
          <a:p>
            <a:pPr lvl="1">
              <a:buNone/>
            </a:pPr>
            <a:r>
              <a:rPr lang="en-US" altLang="zh-CN" sz="2400" dirty="0">
                <a:solidFill>
                  <a:schemeClr val="accent6">
                    <a:lumMod val="75000"/>
                  </a:schemeClr>
                </a:solidFill>
              </a:rPr>
              <a:t>UUID=</a:t>
            </a:r>
            <a:r>
              <a:rPr lang="en-US" altLang="zh-CN" sz="2400" dirty="0" err="1">
                <a:solidFill>
                  <a:schemeClr val="accent6">
                    <a:lumMod val="75000"/>
                  </a:schemeClr>
                </a:solidFill>
              </a:rPr>
              <a:t>uuid</a:t>
            </a:r>
            <a:r>
              <a:rPr lang="en-US" altLang="zh-CN" sz="2400" dirty="0">
                <a:solidFill>
                  <a:schemeClr val="accent6">
                    <a:lumMod val="75000"/>
                  </a:schemeClr>
                </a:solidFill>
              </a:rPr>
              <a:t>    /</a:t>
            </a:r>
            <a:r>
              <a:rPr lang="en-US" altLang="zh-CN" sz="2400" dirty="0" err="1">
                <a:solidFill>
                  <a:schemeClr val="accent6">
                    <a:lumMod val="75000"/>
                  </a:schemeClr>
                </a:solidFill>
              </a:rPr>
              <a:t>mountpoint</a:t>
            </a:r>
            <a:r>
              <a:rPr lang="en-US" altLang="zh-CN" sz="2400" dirty="0">
                <a:solidFill>
                  <a:schemeClr val="accent6">
                    <a:lumMod val="75000"/>
                  </a:schemeClr>
                </a:solidFill>
              </a:rPr>
              <a:t>     ext4   default   1   2</a:t>
            </a:r>
          </a:p>
          <a:p>
            <a:pPr lvl="1">
              <a:buNone/>
            </a:pPr>
            <a:r>
              <a:rPr lang="en-US" altLang="zh-CN" sz="2400" dirty="0">
                <a:solidFill>
                  <a:schemeClr val="accent6">
                    <a:lumMod val="75000"/>
                  </a:schemeClr>
                </a:solidFill>
              </a:rPr>
              <a:t>LABEL=label  /</a:t>
            </a:r>
            <a:r>
              <a:rPr lang="en-US" altLang="zh-CN" sz="2400" dirty="0" err="1">
                <a:solidFill>
                  <a:schemeClr val="accent6">
                    <a:lumMod val="75000"/>
                  </a:schemeClr>
                </a:solidFill>
              </a:rPr>
              <a:t>mountpoint</a:t>
            </a:r>
            <a:r>
              <a:rPr lang="en-US" altLang="zh-CN" sz="2400" dirty="0">
                <a:solidFill>
                  <a:schemeClr val="accent6">
                    <a:lumMod val="75000"/>
                  </a:schemeClr>
                </a:solidFill>
              </a:rPr>
              <a:t>    ext4   default   1   2</a:t>
            </a:r>
          </a:p>
          <a:p>
            <a:pPr lvl="1">
              <a:buNone/>
            </a:pPr>
            <a:endParaRPr lang="en-US" altLang="zh-CN" dirty="0"/>
          </a:p>
        </p:txBody>
      </p:sp>
      <p:sp>
        <p:nvSpPr>
          <p:cNvPr id="9" name="内容占位符 3"/>
          <p:cNvSpPr txBox="1">
            <a:spLocks/>
          </p:cNvSpPr>
          <p:nvPr/>
        </p:nvSpPr>
        <p:spPr>
          <a:xfrm>
            <a:off x="4932040" y="1412776"/>
            <a:ext cx="4131691" cy="1872282"/>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zh-CN" altLang="en-US" sz="3000" b="0" i="0" u="none" strike="noStrike" kern="0" cap="none" spc="0" normalizeH="0" baseline="0" noProof="0" dirty="0">
                <a:ln>
                  <a:noFill/>
                </a:ln>
                <a:solidFill>
                  <a:schemeClr val="tx1"/>
                </a:solidFill>
                <a:effectLst/>
                <a:uLnTx/>
                <a:uFillTx/>
                <a:latin typeface="+mn-lt"/>
                <a:ea typeface="+mn-ea"/>
                <a:cs typeface="+mn-cs"/>
              </a:rPr>
              <a:t>显示</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UUID</a:t>
            </a:r>
          </a:p>
          <a:p>
            <a:pPr marL="742950" lvl="1" indent="-285750" eaLnBrk="0" hangingPunct="0">
              <a:spcBef>
                <a:spcPct val="20000"/>
              </a:spcBef>
              <a:buClr>
                <a:schemeClr val="folHlink"/>
              </a:buClr>
              <a:buSzPct val="60000"/>
              <a:buFont typeface="Wingdings" pitchFamily="2" charset="2"/>
              <a:buNone/>
              <a:defRPr/>
            </a:pPr>
            <a:r>
              <a:rPr lang="en-US" altLang="zh-CN" sz="2600" b="1" dirty="0" err="1">
                <a:solidFill>
                  <a:schemeClr val="accent6">
                    <a:lumMod val="75000"/>
                  </a:schemeClr>
                </a:solidFill>
                <a:latin typeface="Tahoma" panose="020B0604030504040204" pitchFamily="34" charset="0"/>
                <a:ea typeface="楷体_GB2312"/>
              </a:rPr>
              <a:t>blkid</a:t>
            </a:r>
            <a:r>
              <a:rPr lang="en-US" altLang="zh-CN" sz="2600" b="1" dirty="0">
                <a:solidFill>
                  <a:schemeClr val="accent6">
                    <a:lumMod val="75000"/>
                  </a:schemeClr>
                </a:solidFill>
                <a:latin typeface="Tahoma" panose="020B0604030504040204" pitchFamily="34" charset="0"/>
                <a:ea typeface="楷体_GB2312"/>
              </a:rPr>
              <a:t>   &lt;</a:t>
            </a:r>
            <a:r>
              <a:rPr lang="zh-CN" altLang="en-US" sz="2600" b="1" dirty="0">
                <a:solidFill>
                  <a:schemeClr val="accent6">
                    <a:lumMod val="75000"/>
                  </a:schemeClr>
                </a:solidFill>
                <a:latin typeface="Tahoma" panose="020B0604030504040204" pitchFamily="34" charset="0"/>
                <a:ea typeface="楷体_GB2312"/>
              </a:rPr>
              <a:t>设备名</a:t>
            </a:r>
            <a:r>
              <a:rPr lang="en-US" altLang="zh-CN" sz="2600" b="1" dirty="0">
                <a:solidFill>
                  <a:schemeClr val="accent6">
                    <a:lumMod val="75000"/>
                  </a:schemeClr>
                </a:solidFill>
                <a:latin typeface="Tahoma" panose="020B0604030504040204" pitchFamily="34" charset="0"/>
                <a:ea typeface="楷体_GB2312"/>
              </a:rPr>
              <a:t>&gt;</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zh-CN" altLang="en-US" sz="3000" b="0" i="0" u="none" strike="noStrike" kern="0" cap="none" spc="0" normalizeH="0" baseline="0" noProof="0" dirty="0">
                <a:ln>
                  <a:noFill/>
                </a:ln>
                <a:solidFill>
                  <a:schemeClr val="tx1"/>
                </a:solidFill>
                <a:effectLst/>
                <a:uLnTx/>
                <a:uFillTx/>
                <a:latin typeface="+mn-lt"/>
                <a:ea typeface="+mn-ea"/>
                <a:cs typeface="+mn-cs"/>
              </a:rPr>
              <a:t>根据</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UUID</a:t>
            </a:r>
            <a:r>
              <a:rPr kumimoji="0" lang="zh-CN" altLang="en-US" sz="3000" b="0" i="0" u="none" strike="noStrike" kern="0" cap="none" spc="0" normalizeH="0" baseline="0" noProof="0" dirty="0">
                <a:ln>
                  <a:noFill/>
                </a:ln>
                <a:solidFill>
                  <a:schemeClr val="tx1"/>
                </a:solidFill>
                <a:effectLst/>
                <a:uLnTx/>
                <a:uFillTx/>
                <a:latin typeface="+mn-lt"/>
                <a:ea typeface="+mn-ea"/>
                <a:cs typeface="+mn-cs"/>
              </a:rPr>
              <a:t>查找设备名</a:t>
            </a:r>
            <a:endParaRPr kumimoji="0" lang="en-US" altLang="zh-CN" sz="30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defTabSz="914400" eaLnBrk="0" latinLnBrk="0" hangingPunct="0">
              <a:lnSpc>
                <a:spcPct val="100000"/>
              </a:lnSpc>
              <a:spcBef>
                <a:spcPct val="20000"/>
              </a:spcBef>
              <a:buClr>
                <a:schemeClr val="folHlink"/>
              </a:buClr>
              <a:buSzPct val="60000"/>
              <a:tabLst/>
              <a:defRPr/>
            </a:pPr>
            <a:r>
              <a:rPr lang="en-US" altLang="zh-CN" sz="2600" b="1" dirty="0" err="1">
                <a:solidFill>
                  <a:schemeClr val="accent6">
                    <a:lumMod val="75000"/>
                  </a:schemeClr>
                </a:solidFill>
                <a:latin typeface="Tahoma" panose="020B0604030504040204" pitchFamily="34" charset="0"/>
                <a:ea typeface="楷体_GB2312"/>
              </a:rPr>
              <a:t>findfs</a:t>
            </a:r>
            <a:r>
              <a:rPr lang="en-US" altLang="zh-CN" sz="2600" b="1" dirty="0">
                <a:solidFill>
                  <a:schemeClr val="accent6">
                    <a:lumMod val="75000"/>
                  </a:schemeClr>
                </a:solidFill>
                <a:latin typeface="Tahoma" panose="020B0604030504040204" pitchFamily="34" charset="0"/>
                <a:ea typeface="楷体_GB2312"/>
              </a:rPr>
              <a:t> UUID=&lt;</a:t>
            </a:r>
            <a:r>
              <a:rPr lang="en-US" altLang="zh-CN" sz="2600" b="1" dirty="0" err="1">
                <a:solidFill>
                  <a:schemeClr val="accent6">
                    <a:lumMod val="75000"/>
                  </a:schemeClr>
                </a:solidFill>
                <a:latin typeface="Tahoma" panose="020B0604030504040204" pitchFamily="34" charset="0"/>
                <a:ea typeface="楷体_GB2312"/>
              </a:rPr>
              <a:t>uuid</a:t>
            </a:r>
            <a:r>
              <a:rPr lang="en-US" altLang="zh-CN" sz="2600" b="1" dirty="0">
                <a:solidFill>
                  <a:schemeClr val="accent6">
                    <a:lumMod val="75000"/>
                  </a:schemeClr>
                </a:solidFill>
                <a:latin typeface="Tahoma" panose="020B0604030504040204" pitchFamily="34" charset="0"/>
                <a:ea typeface="楷体_GB2312"/>
              </a:rPr>
              <a:t>&gt;</a:t>
            </a:r>
            <a:endParaRPr lang="zh-CN" altLang="en-US" sz="2600" b="1" dirty="0">
              <a:solidFill>
                <a:schemeClr val="accent6">
                  <a:lumMod val="75000"/>
                </a:schemeClr>
              </a:solidFill>
              <a:latin typeface="Tahoma" panose="020B0604030504040204" pitchFamily="34" charset="0"/>
              <a:ea typeface="楷体_GB2312"/>
            </a:endParaRPr>
          </a:p>
        </p:txBody>
      </p:sp>
    </p:spTree>
    <p:extLst>
      <p:ext uri="{BB962C8B-B14F-4D97-AF65-F5344CB8AC3E}">
        <p14:creationId xmlns:p14="http://schemas.microsoft.com/office/powerpoint/2010/main" val="3964420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挂装文件系统</a:t>
            </a:r>
            <a:r>
              <a:rPr lang="en-US" altLang="zh-CN" dirty="0"/>
              <a:t>—</a:t>
            </a:r>
            <a:r>
              <a:rPr lang="en-US" altLang="zh-CN" sz="4400" dirty="0"/>
              <a:t>mount</a:t>
            </a:r>
            <a:r>
              <a:rPr lang="zh-CN" altLang="en-US" sz="4400" dirty="0"/>
              <a:t>命令</a:t>
            </a:r>
            <a:endParaRPr lang="zh-CN" altLang="en-US" dirty="0"/>
          </a:p>
        </p:txBody>
      </p:sp>
      <p:sp>
        <p:nvSpPr>
          <p:cNvPr id="3" name="内容占位符 2"/>
          <p:cNvSpPr>
            <a:spLocks noGrp="1"/>
          </p:cNvSpPr>
          <p:nvPr>
            <p:ph idx="1"/>
          </p:nvPr>
        </p:nvSpPr>
        <p:spPr>
          <a:xfrm>
            <a:off x="179512" y="1484784"/>
            <a:ext cx="8568952" cy="5147370"/>
          </a:xfrm>
        </p:spPr>
        <p:txBody>
          <a:bodyPr/>
          <a:lstStyle/>
          <a:p>
            <a:pPr algn="just">
              <a:lnSpc>
                <a:spcPct val="90000"/>
              </a:lnSpc>
            </a:pPr>
            <a:r>
              <a:rPr lang="zh-CN" altLang="en-US" sz="3000" dirty="0"/>
              <a:t>功能：挂装文件系统</a:t>
            </a:r>
            <a:endParaRPr lang="en-US" altLang="zh-CN" sz="3000" dirty="0"/>
          </a:p>
          <a:p>
            <a:pPr algn="just">
              <a:lnSpc>
                <a:spcPct val="90000"/>
              </a:lnSpc>
            </a:pPr>
            <a:r>
              <a:rPr lang="zh-CN" altLang="en-US" sz="3000" dirty="0"/>
              <a:t>格式</a:t>
            </a:r>
          </a:p>
          <a:p>
            <a:pPr lvl="1" algn="just">
              <a:lnSpc>
                <a:spcPct val="90000"/>
              </a:lnSpc>
              <a:buNone/>
            </a:pPr>
            <a:r>
              <a:rPr lang="en-US" altLang="zh-CN" sz="2600" dirty="0">
                <a:solidFill>
                  <a:schemeClr val="accent6">
                    <a:lumMod val="75000"/>
                  </a:schemeClr>
                </a:solidFill>
              </a:rPr>
              <a:t>mount  [</a:t>
            </a:r>
            <a:r>
              <a:rPr lang="zh-CN" altLang="en-US" sz="2600" dirty="0">
                <a:solidFill>
                  <a:schemeClr val="accent6">
                    <a:lumMod val="75000"/>
                  </a:schemeClr>
                </a:solidFill>
              </a:rPr>
              <a:t>选项</a:t>
            </a:r>
            <a:r>
              <a:rPr lang="en-US" altLang="zh-CN" sz="2600" dirty="0">
                <a:solidFill>
                  <a:schemeClr val="accent6">
                    <a:lumMod val="75000"/>
                  </a:schemeClr>
                </a:solidFill>
              </a:rPr>
              <a:t>]  [&lt;</a:t>
            </a:r>
            <a:r>
              <a:rPr lang="zh-CN" altLang="en-US" sz="2600" dirty="0">
                <a:solidFill>
                  <a:schemeClr val="accent6">
                    <a:lumMod val="75000"/>
                  </a:schemeClr>
                </a:solidFill>
              </a:rPr>
              <a:t>分区设备名</a:t>
            </a:r>
            <a:r>
              <a:rPr lang="en-US" altLang="zh-CN" sz="2600" dirty="0">
                <a:solidFill>
                  <a:schemeClr val="accent6">
                    <a:lumMod val="75000"/>
                  </a:schemeClr>
                </a:solidFill>
              </a:rPr>
              <a:t>&gt;]  [&lt;</a:t>
            </a:r>
            <a:r>
              <a:rPr lang="zh-CN" altLang="en-US" sz="2600" dirty="0">
                <a:solidFill>
                  <a:schemeClr val="accent6">
                    <a:lumMod val="75000"/>
                  </a:schemeClr>
                </a:solidFill>
              </a:rPr>
              <a:t>挂装点</a:t>
            </a:r>
            <a:r>
              <a:rPr lang="en-US" altLang="zh-CN" sz="2600" dirty="0">
                <a:solidFill>
                  <a:schemeClr val="accent6">
                    <a:lumMod val="75000"/>
                  </a:schemeClr>
                </a:solidFill>
              </a:rPr>
              <a:t>&gt;]</a:t>
            </a:r>
          </a:p>
          <a:p>
            <a:pPr algn="just">
              <a:lnSpc>
                <a:spcPct val="90000"/>
              </a:lnSpc>
            </a:pPr>
            <a:r>
              <a:rPr lang="zh-CN" altLang="en-US" sz="3000" dirty="0"/>
              <a:t>常用选项</a:t>
            </a:r>
          </a:p>
          <a:p>
            <a:pPr lvl="1" algn="just">
              <a:lnSpc>
                <a:spcPct val="110000"/>
              </a:lnSpc>
            </a:pPr>
            <a:r>
              <a:rPr lang="en-US" altLang="zh-CN" sz="2600" dirty="0">
                <a:solidFill>
                  <a:srgbClr val="FF0000"/>
                </a:solidFill>
              </a:rPr>
              <a:t>-t &lt;</a:t>
            </a:r>
            <a:r>
              <a:rPr lang="zh-CN" altLang="en-US" sz="2600" dirty="0">
                <a:solidFill>
                  <a:srgbClr val="FF0000"/>
                </a:solidFill>
              </a:rPr>
              <a:t>文件系统类型</a:t>
            </a:r>
            <a:r>
              <a:rPr lang="en-US" altLang="zh-CN" sz="2600" dirty="0">
                <a:solidFill>
                  <a:srgbClr val="FF0000"/>
                </a:solidFill>
              </a:rPr>
              <a:t>&gt;</a:t>
            </a:r>
            <a:r>
              <a:rPr lang="zh-CN" altLang="en-US" sz="2600" dirty="0"/>
              <a:t>：指定文件系统类型</a:t>
            </a:r>
          </a:p>
          <a:p>
            <a:pPr lvl="1" algn="just">
              <a:lnSpc>
                <a:spcPct val="110000"/>
              </a:lnSpc>
            </a:pPr>
            <a:r>
              <a:rPr lang="en-US" altLang="zh-CN" sz="2600" dirty="0"/>
              <a:t>-r </a:t>
            </a:r>
            <a:r>
              <a:rPr lang="zh-CN" altLang="en-US" sz="2600" dirty="0"/>
              <a:t>：使用只读方式来挂载 </a:t>
            </a:r>
            <a:endParaRPr lang="en-US" altLang="zh-CN" sz="2600" dirty="0"/>
          </a:p>
          <a:p>
            <a:pPr lvl="1" algn="just">
              <a:lnSpc>
                <a:spcPct val="110000"/>
              </a:lnSpc>
            </a:pPr>
            <a:r>
              <a:rPr lang="en-US" altLang="zh-CN" sz="2600" dirty="0">
                <a:solidFill>
                  <a:srgbClr val="FF0000"/>
                </a:solidFill>
              </a:rPr>
              <a:t>-a</a:t>
            </a:r>
            <a:r>
              <a:rPr lang="zh-CN" altLang="en-US" sz="2600" dirty="0"/>
              <a:t>：依据</a:t>
            </a:r>
            <a:r>
              <a:rPr lang="en-US" altLang="zh-CN" sz="2600" dirty="0">
                <a:solidFill>
                  <a:srgbClr val="FF0000"/>
                </a:solidFill>
              </a:rPr>
              <a:t>/etc/</a:t>
            </a:r>
            <a:r>
              <a:rPr lang="en-US" altLang="zh-CN" sz="2600" dirty="0" err="1">
                <a:solidFill>
                  <a:srgbClr val="FF0000"/>
                </a:solidFill>
              </a:rPr>
              <a:t>fstab</a:t>
            </a:r>
            <a:r>
              <a:rPr lang="zh-CN" altLang="en-US" sz="2600" dirty="0">
                <a:solidFill>
                  <a:srgbClr val="FF0000"/>
                </a:solidFill>
              </a:rPr>
              <a:t>文件</a:t>
            </a:r>
            <a:r>
              <a:rPr lang="zh-CN" altLang="en-US" sz="2600" dirty="0"/>
              <a:t>中记录挂装所有设备</a:t>
            </a:r>
          </a:p>
          <a:p>
            <a:pPr lvl="1" algn="just">
              <a:lnSpc>
                <a:spcPct val="110000"/>
              </a:lnSpc>
            </a:pPr>
            <a:r>
              <a:rPr lang="en-US" altLang="zh-CN" sz="2600" dirty="0"/>
              <a:t>-o </a:t>
            </a:r>
            <a:r>
              <a:rPr lang="en-US" altLang="zh-CN" sz="2600" dirty="0" err="1"/>
              <a:t>iocharset</a:t>
            </a:r>
            <a:r>
              <a:rPr lang="en-US" altLang="zh-CN" sz="2600" dirty="0"/>
              <a:t>=cp936</a:t>
            </a:r>
            <a:r>
              <a:rPr lang="zh-CN" altLang="en-US" sz="2600" dirty="0"/>
              <a:t>：使挂装的设备可以显示中文文件名</a:t>
            </a:r>
          </a:p>
          <a:p>
            <a:pPr lvl="1" algn="just">
              <a:lnSpc>
                <a:spcPct val="110000"/>
              </a:lnSpc>
            </a:pPr>
            <a:r>
              <a:rPr lang="en-US" altLang="zh-CN" sz="2600" dirty="0">
                <a:solidFill>
                  <a:srgbClr val="FF0000"/>
                </a:solidFill>
                <a:latin typeface="Helvetica"/>
              </a:rPr>
              <a:t>-</a:t>
            </a:r>
            <a:r>
              <a:rPr lang="en-US" altLang="zh-CN" sz="2600" dirty="0">
                <a:solidFill>
                  <a:srgbClr val="FF0000"/>
                </a:solidFill>
              </a:rPr>
              <a:t>o loop</a:t>
            </a:r>
            <a:r>
              <a:rPr lang="zh-CN" altLang="en-US" sz="2600" dirty="0"/>
              <a:t>：使用回送设备挂装</a:t>
            </a:r>
            <a:r>
              <a:rPr lang="en-US" altLang="zh-CN" sz="2600" dirty="0">
                <a:solidFill>
                  <a:srgbClr val="FF0000"/>
                </a:solidFill>
              </a:rPr>
              <a:t>ISO</a:t>
            </a:r>
            <a:r>
              <a:rPr lang="zh-CN" altLang="en-US" sz="2600" dirty="0">
                <a:solidFill>
                  <a:srgbClr val="FF0000"/>
                </a:solidFill>
              </a:rPr>
              <a:t>文件和映像文件</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挂装选项</a:t>
            </a:r>
            <a:r>
              <a:rPr lang="en-US" altLang="zh-CN" dirty="0"/>
              <a:t>—1</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1892879137"/>
              </p:ext>
            </p:extLst>
          </p:nvPr>
        </p:nvGraphicFramePr>
        <p:xfrm>
          <a:off x="323528" y="1700808"/>
          <a:ext cx="8445624" cy="4392487"/>
        </p:xfrm>
        <a:graphic>
          <a:graphicData uri="http://schemas.openxmlformats.org/drawingml/2006/table">
            <a:tbl>
              <a:tblPr firstRow="1" bandRow="1">
                <a:tableStyleId>{21E4AEA4-8DFA-4A89-87EB-49C32662AFE0}</a:tableStyleId>
              </a:tblPr>
              <a:tblGrid>
                <a:gridCol w="2079765">
                  <a:extLst>
                    <a:ext uri="{9D8B030D-6E8A-4147-A177-3AD203B41FA5}">
                      <a16:colId xmlns:a16="http://schemas.microsoft.com/office/drawing/2014/main" val="20000"/>
                    </a:ext>
                  </a:extLst>
                </a:gridCol>
                <a:gridCol w="6365859">
                  <a:extLst>
                    <a:ext uri="{9D8B030D-6E8A-4147-A177-3AD203B41FA5}">
                      <a16:colId xmlns:a16="http://schemas.microsoft.com/office/drawing/2014/main" val="20001"/>
                    </a:ext>
                  </a:extLst>
                </a:gridCol>
              </a:tblGrid>
              <a:tr h="433062">
                <a:tc>
                  <a:txBody>
                    <a:bodyPr/>
                    <a:lstStyle/>
                    <a:p>
                      <a:r>
                        <a:rPr lang="zh-CN" altLang="en-US" sz="2200" dirty="0">
                          <a:solidFill>
                            <a:srgbClr val="C00000"/>
                          </a:solidFill>
                        </a:rPr>
                        <a:t>选项</a:t>
                      </a:r>
                    </a:p>
                  </a:txBody>
                  <a:tcPr/>
                </a:tc>
                <a:tc>
                  <a:txBody>
                    <a:bodyPr/>
                    <a:lstStyle/>
                    <a:p>
                      <a:r>
                        <a:rPr lang="zh-CN" altLang="en-US" sz="2200" dirty="0">
                          <a:solidFill>
                            <a:srgbClr val="C00000"/>
                          </a:solidFill>
                        </a:rPr>
                        <a:t>说明</a:t>
                      </a:r>
                    </a:p>
                  </a:txBody>
                  <a:tcPr/>
                </a:tc>
                <a:extLst>
                  <a:ext uri="{0D108BD9-81ED-4DB2-BD59-A6C34878D82A}">
                    <a16:rowId xmlns:a16="http://schemas.microsoft.com/office/drawing/2014/main" val="10000"/>
                  </a:ext>
                </a:extLst>
              </a:tr>
              <a:tr h="773325">
                <a:tc>
                  <a:txBody>
                    <a:bodyPr/>
                    <a:lstStyle/>
                    <a:p>
                      <a:r>
                        <a:rPr lang="en-US" altLang="zh-CN" sz="2200" dirty="0">
                          <a:solidFill>
                            <a:srgbClr val="FF0000"/>
                          </a:solidFill>
                        </a:rPr>
                        <a:t>defaults </a:t>
                      </a:r>
                      <a:endParaRPr lang="zh-CN" altLang="en-US" sz="2200" dirty="0">
                        <a:solidFill>
                          <a:srgbClr val="FF0000"/>
                        </a:solidFill>
                      </a:endParaRPr>
                    </a:p>
                  </a:txBody>
                  <a:tcPr/>
                </a:tc>
                <a:tc>
                  <a:txBody>
                    <a:bodyPr/>
                    <a:lstStyle/>
                    <a:p>
                      <a:r>
                        <a:rPr lang="zh-CN" altLang="en-US" sz="2200" dirty="0"/>
                        <a:t>使用 </a:t>
                      </a:r>
                      <a:r>
                        <a:rPr lang="en-US" altLang="zh-CN" sz="2200" dirty="0" err="1">
                          <a:solidFill>
                            <a:srgbClr val="C00000"/>
                          </a:solidFill>
                        </a:rPr>
                        <a:t>rw</a:t>
                      </a:r>
                      <a:r>
                        <a:rPr lang="en-US" altLang="zh-CN" sz="2200" dirty="0">
                          <a:solidFill>
                            <a:srgbClr val="C00000"/>
                          </a:solidFill>
                        </a:rPr>
                        <a:t>, </a:t>
                      </a:r>
                      <a:r>
                        <a:rPr lang="en-US" altLang="zh-CN" sz="2200" dirty="0" err="1">
                          <a:solidFill>
                            <a:srgbClr val="C00000"/>
                          </a:solidFill>
                        </a:rPr>
                        <a:t>suid</a:t>
                      </a:r>
                      <a:r>
                        <a:rPr lang="en-US" altLang="zh-CN" sz="2200" dirty="0">
                          <a:solidFill>
                            <a:srgbClr val="C00000"/>
                          </a:solidFill>
                        </a:rPr>
                        <a:t>, dev, exec, auto, </a:t>
                      </a:r>
                      <a:r>
                        <a:rPr lang="en-US" altLang="zh-CN" sz="2200" dirty="0" err="1">
                          <a:solidFill>
                            <a:srgbClr val="C00000"/>
                          </a:solidFill>
                        </a:rPr>
                        <a:t>nouser</a:t>
                      </a:r>
                      <a:r>
                        <a:rPr lang="en-US" altLang="zh-CN" sz="2200" dirty="0">
                          <a:solidFill>
                            <a:srgbClr val="C00000"/>
                          </a:solidFill>
                        </a:rPr>
                        <a:t> </a:t>
                      </a:r>
                      <a:r>
                        <a:rPr lang="zh-CN" altLang="en-US" sz="2200" dirty="0">
                          <a:solidFill>
                            <a:srgbClr val="C00000"/>
                          </a:solidFill>
                        </a:rPr>
                        <a:t>和 </a:t>
                      </a:r>
                      <a:r>
                        <a:rPr lang="en-US" altLang="zh-CN" sz="2200" dirty="0" err="1">
                          <a:solidFill>
                            <a:srgbClr val="C00000"/>
                          </a:solidFill>
                        </a:rPr>
                        <a:t>async</a:t>
                      </a:r>
                      <a:r>
                        <a:rPr lang="en-US" altLang="zh-CN" sz="2200" dirty="0">
                          <a:solidFill>
                            <a:srgbClr val="C00000"/>
                          </a:solidFill>
                        </a:rPr>
                        <a:t> </a:t>
                      </a:r>
                      <a:r>
                        <a:rPr lang="zh-CN" altLang="en-US" sz="2200" dirty="0"/>
                        <a:t>挂装设备</a:t>
                      </a:r>
                    </a:p>
                  </a:txBody>
                  <a:tcPr/>
                </a:tc>
                <a:extLst>
                  <a:ext uri="{0D108BD9-81ED-4DB2-BD59-A6C34878D82A}">
                    <a16:rowId xmlns:a16="http://schemas.microsoft.com/office/drawing/2014/main" val="10001"/>
                  </a:ext>
                </a:extLst>
              </a:tr>
              <a:tr h="433062">
                <a:tc>
                  <a:txBody>
                    <a:bodyPr/>
                    <a:lstStyle/>
                    <a:p>
                      <a:r>
                        <a:rPr lang="en-US" altLang="zh-CN" sz="2200" dirty="0" err="1"/>
                        <a:t>acl</a:t>
                      </a:r>
                      <a:r>
                        <a:rPr lang="en-US" altLang="zh-CN" sz="2200" dirty="0"/>
                        <a:t>/</a:t>
                      </a:r>
                      <a:r>
                        <a:rPr lang="en-US" altLang="zh-CN" sz="2200" dirty="0" err="1"/>
                        <a:t>noacl</a:t>
                      </a:r>
                      <a:r>
                        <a:rPr lang="en-US" altLang="zh-CN" sz="2200" dirty="0"/>
                        <a:t> </a:t>
                      </a:r>
                      <a:endParaRPr lang="zh-CN" altLang="en-US" sz="2200" dirty="0"/>
                    </a:p>
                  </a:txBody>
                  <a:tcPr/>
                </a:tc>
                <a:tc>
                  <a:txBody>
                    <a:bodyPr/>
                    <a:lstStyle/>
                    <a:p>
                      <a:r>
                        <a:rPr lang="zh-CN" altLang="en-US" sz="2200" dirty="0"/>
                        <a:t>支持</a:t>
                      </a:r>
                      <a:r>
                        <a:rPr lang="en-US" altLang="zh-CN" sz="2200" dirty="0"/>
                        <a:t>/</a:t>
                      </a:r>
                      <a:r>
                        <a:rPr lang="zh-CN" altLang="en-US" sz="2200" dirty="0"/>
                        <a:t>不支持 </a:t>
                      </a:r>
                      <a:r>
                        <a:rPr lang="en-US" altLang="zh-CN" sz="2200" dirty="0"/>
                        <a:t>POSIX Access Control Lists </a:t>
                      </a:r>
                      <a:r>
                        <a:rPr lang="zh-CN" altLang="en-US" sz="2200" dirty="0"/>
                        <a:t>（</a:t>
                      </a:r>
                      <a:r>
                        <a:rPr lang="en-US" altLang="zh-CN" sz="2200" dirty="0"/>
                        <a:t>ACL</a:t>
                      </a:r>
                      <a:r>
                        <a:rPr lang="zh-CN" altLang="en-US" sz="2200" dirty="0"/>
                        <a:t>）</a:t>
                      </a:r>
                    </a:p>
                  </a:txBody>
                  <a:tcPr/>
                </a:tc>
                <a:extLst>
                  <a:ext uri="{0D108BD9-81ED-4DB2-BD59-A6C34878D82A}">
                    <a16:rowId xmlns:a16="http://schemas.microsoft.com/office/drawing/2014/main" val="10002"/>
                  </a:ext>
                </a:extLst>
              </a:tr>
              <a:tr h="773325">
                <a:tc>
                  <a:txBody>
                    <a:bodyPr/>
                    <a:lstStyle/>
                    <a:p>
                      <a:r>
                        <a:rPr lang="en-US" altLang="zh-CN" sz="2200" dirty="0" err="1">
                          <a:solidFill>
                            <a:srgbClr val="FF0000"/>
                          </a:solidFill>
                        </a:rPr>
                        <a:t>async</a:t>
                      </a:r>
                      <a:r>
                        <a:rPr lang="en-US" altLang="zh-CN" sz="2200" dirty="0">
                          <a:solidFill>
                            <a:srgbClr val="FF0000"/>
                          </a:solidFill>
                        </a:rPr>
                        <a:t> </a:t>
                      </a:r>
                      <a:endParaRPr lang="zh-CN" altLang="en-US" sz="2200" dirty="0">
                        <a:solidFill>
                          <a:srgbClr val="FF0000"/>
                        </a:solidFill>
                      </a:endParaRPr>
                    </a:p>
                  </a:txBody>
                  <a:tcPr/>
                </a:tc>
                <a:tc>
                  <a:txBody>
                    <a:bodyPr/>
                    <a:lstStyle/>
                    <a:p>
                      <a:r>
                        <a:rPr lang="zh-CN" altLang="en-US" sz="2200" dirty="0"/>
                        <a:t>以非同步方式（延迟写）执行文件系统的输入输出操作</a:t>
                      </a:r>
                    </a:p>
                  </a:txBody>
                  <a:tcPr/>
                </a:tc>
                <a:extLst>
                  <a:ext uri="{0D108BD9-81ED-4DB2-BD59-A6C34878D82A}">
                    <a16:rowId xmlns:a16="http://schemas.microsoft.com/office/drawing/2014/main" val="10003"/>
                  </a:ext>
                </a:extLst>
              </a:tr>
              <a:tr h="1113589">
                <a:tc>
                  <a:txBody>
                    <a:bodyPr/>
                    <a:lstStyle/>
                    <a:p>
                      <a:r>
                        <a:rPr lang="en-US" altLang="zh-CN" sz="2200" dirty="0" err="1"/>
                        <a:t>atime</a:t>
                      </a:r>
                      <a:r>
                        <a:rPr lang="en-US" altLang="zh-CN" sz="2200" dirty="0"/>
                        <a:t>/</a:t>
                      </a:r>
                      <a:r>
                        <a:rPr lang="en-US" altLang="zh-CN" sz="2200" dirty="0" err="1"/>
                        <a:t>noatime</a:t>
                      </a:r>
                      <a:r>
                        <a:rPr lang="en-US" altLang="zh-CN" sz="2200" dirty="0"/>
                        <a:t> </a:t>
                      </a:r>
                      <a:endParaRPr lang="zh-CN" altLang="en-US" sz="2200" dirty="0"/>
                    </a:p>
                  </a:txBody>
                  <a:tcPr/>
                </a:tc>
                <a:tc>
                  <a:txBody>
                    <a:bodyPr/>
                    <a:lstStyle/>
                    <a:p>
                      <a:r>
                        <a:rPr lang="zh-CN" altLang="en-US" sz="2200" dirty="0"/>
                        <a:t>每次访问文件时都 更新</a:t>
                      </a:r>
                      <a:r>
                        <a:rPr lang="en-US" altLang="zh-CN" sz="2200" dirty="0"/>
                        <a:t>/</a:t>
                      </a:r>
                      <a:r>
                        <a:rPr lang="zh-CN" altLang="en-US" sz="2200" dirty="0"/>
                        <a:t>不更新 文件的访问时间，</a:t>
                      </a:r>
                      <a:r>
                        <a:rPr lang="en-US" altLang="zh-CN" sz="2200" dirty="0" err="1"/>
                        <a:t>atime</a:t>
                      </a:r>
                      <a:r>
                        <a:rPr lang="en-US" altLang="zh-CN" sz="2200" dirty="0"/>
                        <a:t> </a:t>
                      </a:r>
                      <a:r>
                        <a:rPr lang="zh-CN" altLang="en-US" sz="2200" dirty="0"/>
                        <a:t>为默认值，</a:t>
                      </a:r>
                      <a:r>
                        <a:rPr lang="en-US" altLang="zh-CN" sz="2200" dirty="0" err="1"/>
                        <a:t>noatime</a:t>
                      </a:r>
                      <a:r>
                        <a:rPr lang="en-US" altLang="zh-CN" sz="2200" dirty="0"/>
                        <a:t> </a:t>
                      </a:r>
                      <a:r>
                        <a:rPr lang="zh-CN" altLang="en-US" sz="2200" dirty="0"/>
                        <a:t>会提高文件系统的访问速度</a:t>
                      </a:r>
                    </a:p>
                  </a:txBody>
                  <a:tcPr/>
                </a:tc>
                <a:extLst>
                  <a:ext uri="{0D108BD9-81ED-4DB2-BD59-A6C34878D82A}">
                    <a16:rowId xmlns:a16="http://schemas.microsoft.com/office/drawing/2014/main" val="10004"/>
                  </a:ext>
                </a:extLst>
              </a:tr>
              <a:tr h="433062">
                <a:tc>
                  <a:txBody>
                    <a:bodyPr/>
                    <a:lstStyle/>
                    <a:p>
                      <a:r>
                        <a:rPr lang="en-US" altLang="zh-CN" sz="2200" dirty="0">
                          <a:solidFill>
                            <a:srgbClr val="FF0000"/>
                          </a:solidFill>
                        </a:rPr>
                        <a:t>auto/</a:t>
                      </a:r>
                      <a:r>
                        <a:rPr lang="en-US" altLang="zh-CN" sz="2200" dirty="0" err="1">
                          <a:solidFill>
                            <a:srgbClr val="FF0000"/>
                          </a:solidFill>
                        </a:rPr>
                        <a:t>noauto</a:t>
                      </a:r>
                      <a:r>
                        <a:rPr lang="en-US" altLang="zh-CN" sz="2200" dirty="0">
                          <a:solidFill>
                            <a:srgbClr val="FF0000"/>
                          </a:solidFill>
                        </a:rPr>
                        <a:t> </a:t>
                      </a:r>
                      <a:endParaRPr lang="zh-CN" altLang="en-US" sz="2200" dirty="0">
                        <a:solidFill>
                          <a:srgbClr val="FF0000"/>
                        </a:solidFill>
                      </a:endParaRPr>
                    </a:p>
                  </a:txBody>
                  <a:tcPr/>
                </a:tc>
                <a:tc>
                  <a:txBody>
                    <a:bodyPr/>
                    <a:lstStyle/>
                    <a:p>
                      <a:r>
                        <a:rPr lang="zh-CN" altLang="en-US" sz="2200" dirty="0"/>
                        <a:t>使用 </a:t>
                      </a:r>
                      <a:r>
                        <a:rPr lang="en-US" altLang="zh-CN" sz="2200" dirty="0"/>
                        <a:t>mount -a </a:t>
                      </a:r>
                      <a:r>
                        <a:rPr lang="zh-CN" altLang="en-US" sz="2200" dirty="0"/>
                        <a:t>或开机时 会</a:t>
                      </a:r>
                      <a:r>
                        <a:rPr lang="en-US" altLang="zh-CN" sz="2200" dirty="0"/>
                        <a:t>/</a:t>
                      </a:r>
                      <a:r>
                        <a:rPr lang="zh-CN" altLang="en-US" sz="2200" dirty="0"/>
                        <a:t>不会自动挂装</a:t>
                      </a:r>
                    </a:p>
                  </a:txBody>
                  <a:tcPr/>
                </a:tc>
                <a:extLst>
                  <a:ext uri="{0D108BD9-81ED-4DB2-BD59-A6C34878D82A}">
                    <a16:rowId xmlns:a16="http://schemas.microsoft.com/office/drawing/2014/main" val="10005"/>
                  </a:ext>
                </a:extLst>
              </a:tr>
              <a:tr h="433062">
                <a:tc>
                  <a:txBody>
                    <a:bodyPr/>
                    <a:lstStyle/>
                    <a:p>
                      <a:r>
                        <a:rPr lang="en-US" altLang="zh-CN" sz="2200" dirty="0"/>
                        <a:t>dev/</a:t>
                      </a:r>
                      <a:r>
                        <a:rPr lang="en-US" altLang="zh-CN" sz="2200" dirty="0" err="1"/>
                        <a:t>nodev</a:t>
                      </a:r>
                      <a:r>
                        <a:rPr lang="en-US" altLang="zh-CN" sz="2200" dirty="0"/>
                        <a:t> </a:t>
                      </a:r>
                      <a:endParaRPr lang="zh-CN" altLang="en-US" sz="2200" dirty="0"/>
                    </a:p>
                  </a:txBody>
                  <a:tcPr/>
                </a:tc>
                <a:tc>
                  <a:txBody>
                    <a:bodyPr/>
                    <a:lstStyle/>
                    <a:p>
                      <a:r>
                        <a:rPr lang="zh-CN" altLang="en-US" sz="2200" dirty="0"/>
                        <a:t>可以</a:t>
                      </a:r>
                      <a:r>
                        <a:rPr lang="en-US" altLang="zh-CN" sz="2200" dirty="0"/>
                        <a:t>/</a:t>
                      </a:r>
                      <a:r>
                        <a:rPr lang="zh-CN" altLang="en-US" sz="2200" dirty="0"/>
                        <a:t>不可 解读文件系统上的字符或区块设备</a:t>
                      </a:r>
                    </a:p>
                  </a:txBody>
                  <a:tcPr/>
                </a:tc>
                <a:extLst>
                  <a:ext uri="{0D108BD9-81ED-4DB2-BD59-A6C34878D82A}">
                    <a16:rowId xmlns:a16="http://schemas.microsoft.com/office/drawing/2014/main" val="10006"/>
                  </a:ext>
                </a:extLst>
              </a:tr>
            </a:tbl>
          </a:graphicData>
        </a:graphic>
      </p:graphicFrame>
      <p:sp>
        <p:nvSpPr>
          <p:cNvPr id="3" name="矩形 2"/>
          <p:cNvSpPr/>
          <p:nvPr/>
        </p:nvSpPr>
        <p:spPr>
          <a:xfrm>
            <a:off x="4705420" y="717971"/>
            <a:ext cx="4238661" cy="461665"/>
          </a:xfrm>
          <a:prstGeom prst="rect">
            <a:avLst/>
          </a:prstGeom>
        </p:spPr>
        <p:txBody>
          <a:bodyPr wrap="none">
            <a:spAutoFit/>
          </a:bodyPr>
          <a:lstStyle/>
          <a:p>
            <a:r>
              <a:rPr lang="en-US" altLang="zh-CN" sz="2400" dirty="0" smtClean="0"/>
              <a:t>-o option </a:t>
            </a:r>
            <a:r>
              <a:rPr lang="zh-CN" altLang="en-US" sz="2400" dirty="0" smtClean="0"/>
              <a:t>挂载文件系统的选项</a:t>
            </a:r>
            <a:endParaRPr lang="en-US" altLang="zh-CN" sz="2400" dirty="0"/>
          </a:p>
        </p:txBody>
      </p:sp>
    </p:spTree>
    <p:extLst>
      <p:ext uri="{BB962C8B-B14F-4D97-AF65-F5344CB8AC3E}">
        <p14:creationId xmlns:p14="http://schemas.microsoft.com/office/powerpoint/2010/main" val="36265577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挂装选项</a:t>
            </a:r>
            <a:r>
              <a:rPr lang="en-US" altLang="zh-CN" dirty="0"/>
              <a:t>—2</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1996376768"/>
              </p:ext>
            </p:extLst>
          </p:nvPr>
        </p:nvGraphicFramePr>
        <p:xfrm>
          <a:off x="899592" y="1700808"/>
          <a:ext cx="7772400" cy="4297680"/>
        </p:xfrm>
        <a:graphic>
          <a:graphicData uri="http://schemas.openxmlformats.org/drawingml/2006/table">
            <a:tbl>
              <a:tblPr firstRow="1" bandRow="1">
                <a:tableStyleId>{21E4AEA4-8DFA-4A89-87EB-49C32662AFE0}</a:tableStyleId>
              </a:tblPr>
              <a:tblGrid>
                <a:gridCol w="2118004">
                  <a:extLst>
                    <a:ext uri="{9D8B030D-6E8A-4147-A177-3AD203B41FA5}">
                      <a16:colId xmlns:a16="http://schemas.microsoft.com/office/drawing/2014/main" val="20000"/>
                    </a:ext>
                  </a:extLst>
                </a:gridCol>
                <a:gridCol w="5654396">
                  <a:extLst>
                    <a:ext uri="{9D8B030D-6E8A-4147-A177-3AD203B41FA5}">
                      <a16:colId xmlns:a16="http://schemas.microsoft.com/office/drawing/2014/main" val="20001"/>
                    </a:ext>
                  </a:extLst>
                </a:gridCol>
              </a:tblGrid>
              <a:tr h="370840">
                <a:tc>
                  <a:txBody>
                    <a:bodyPr/>
                    <a:lstStyle/>
                    <a:p>
                      <a:r>
                        <a:rPr lang="zh-CN" altLang="en-US" sz="2400" dirty="0">
                          <a:solidFill>
                            <a:srgbClr val="C00000"/>
                          </a:solidFill>
                        </a:rPr>
                        <a:t>选项</a:t>
                      </a:r>
                    </a:p>
                  </a:txBody>
                  <a:tcPr marL="86360" marR="86360"/>
                </a:tc>
                <a:tc>
                  <a:txBody>
                    <a:bodyPr/>
                    <a:lstStyle/>
                    <a:p>
                      <a:r>
                        <a:rPr lang="zh-CN" altLang="en-US" sz="2400" dirty="0">
                          <a:solidFill>
                            <a:srgbClr val="C00000"/>
                          </a:solidFill>
                        </a:rPr>
                        <a:t>说明</a:t>
                      </a:r>
                    </a:p>
                  </a:txBody>
                  <a:tcPr marL="86360" marR="86360"/>
                </a:tc>
                <a:extLst>
                  <a:ext uri="{0D108BD9-81ED-4DB2-BD59-A6C34878D82A}">
                    <a16:rowId xmlns:a16="http://schemas.microsoft.com/office/drawing/2014/main" val="10000"/>
                  </a:ext>
                </a:extLst>
              </a:tr>
              <a:tr h="370840">
                <a:tc>
                  <a:txBody>
                    <a:bodyPr/>
                    <a:lstStyle/>
                    <a:p>
                      <a:r>
                        <a:rPr lang="en-US" altLang="zh-CN" sz="2400" dirty="0"/>
                        <a:t>exec/</a:t>
                      </a:r>
                      <a:r>
                        <a:rPr lang="en-US" altLang="zh-CN" sz="2400" dirty="0" err="1"/>
                        <a:t>noexec</a:t>
                      </a:r>
                      <a:endParaRPr lang="zh-CN" altLang="en-US" sz="2400" dirty="0"/>
                    </a:p>
                  </a:txBody>
                  <a:tcPr marL="86360" marR="86360"/>
                </a:tc>
                <a:tc>
                  <a:txBody>
                    <a:bodyPr/>
                    <a:lstStyle/>
                    <a:p>
                      <a:r>
                        <a:rPr lang="zh-CN" altLang="en-US" sz="2400" dirty="0"/>
                        <a:t>可以</a:t>
                      </a:r>
                      <a:r>
                        <a:rPr lang="en-US" altLang="zh-CN" sz="2400" dirty="0"/>
                        <a:t>/</a:t>
                      </a:r>
                      <a:r>
                        <a:rPr lang="zh-CN" altLang="en-US" sz="2400" dirty="0"/>
                        <a:t>不可 执行文件系统上的二进制文件</a:t>
                      </a:r>
                    </a:p>
                  </a:txBody>
                  <a:tcPr marL="86360" marR="86360"/>
                </a:tc>
                <a:extLst>
                  <a:ext uri="{0D108BD9-81ED-4DB2-BD59-A6C34878D82A}">
                    <a16:rowId xmlns:a16="http://schemas.microsoft.com/office/drawing/2014/main" val="10001"/>
                  </a:ext>
                </a:extLst>
              </a:tr>
              <a:tr h="370840">
                <a:tc>
                  <a:txBody>
                    <a:bodyPr/>
                    <a:lstStyle/>
                    <a:p>
                      <a:r>
                        <a:rPr lang="en-US" altLang="zh-CN" sz="2400" dirty="0" err="1"/>
                        <a:t>suid</a:t>
                      </a:r>
                      <a:r>
                        <a:rPr lang="en-US" altLang="zh-CN" sz="2400" dirty="0"/>
                        <a:t>/</a:t>
                      </a:r>
                      <a:r>
                        <a:rPr lang="en-US" altLang="zh-CN" sz="2400" dirty="0" err="1"/>
                        <a:t>nosuid</a:t>
                      </a:r>
                      <a:r>
                        <a:rPr lang="en-US" altLang="zh-CN" sz="2400" dirty="0"/>
                        <a:t> </a:t>
                      </a:r>
                      <a:endParaRPr lang="zh-CN" altLang="en-US" sz="2400" dirty="0"/>
                    </a:p>
                  </a:txBody>
                  <a:tcPr marL="86360" marR="86360"/>
                </a:tc>
                <a:tc>
                  <a:txBody>
                    <a:bodyPr/>
                    <a:lstStyle/>
                    <a:p>
                      <a:r>
                        <a:rPr lang="zh-CN" altLang="en-US" sz="2400" dirty="0"/>
                        <a:t>开启</a:t>
                      </a:r>
                      <a:r>
                        <a:rPr lang="en-US" altLang="zh-CN" sz="2400" dirty="0"/>
                        <a:t>/</a:t>
                      </a:r>
                      <a:r>
                        <a:rPr lang="zh-CN" altLang="en-US" sz="2400" dirty="0"/>
                        <a:t>禁用 </a:t>
                      </a:r>
                      <a:r>
                        <a:rPr lang="en-US" altLang="zh-CN" sz="2400" dirty="0"/>
                        <a:t>SUID</a:t>
                      </a:r>
                      <a:r>
                        <a:rPr lang="zh-CN" altLang="en-US" sz="2400" dirty="0"/>
                        <a:t>和</a:t>
                      </a:r>
                      <a:r>
                        <a:rPr lang="en-US" altLang="zh-CN" sz="2400" dirty="0"/>
                        <a:t>SGID</a:t>
                      </a:r>
                      <a:r>
                        <a:rPr lang="zh-CN" altLang="en-US" sz="2400" dirty="0"/>
                        <a:t>设置位</a:t>
                      </a:r>
                    </a:p>
                  </a:txBody>
                  <a:tcPr marL="86360" marR="86360"/>
                </a:tc>
                <a:extLst>
                  <a:ext uri="{0D108BD9-81ED-4DB2-BD59-A6C34878D82A}">
                    <a16:rowId xmlns:a16="http://schemas.microsoft.com/office/drawing/2014/main" val="10002"/>
                  </a:ext>
                </a:extLst>
              </a:tr>
              <a:tr h="370840">
                <a:tc>
                  <a:txBody>
                    <a:bodyPr/>
                    <a:lstStyle/>
                    <a:p>
                      <a:r>
                        <a:rPr lang="en-US" altLang="zh-CN" sz="2400" dirty="0"/>
                        <a:t>user/</a:t>
                      </a:r>
                      <a:r>
                        <a:rPr lang="en-US" altLang="zh-CN" sz="2400" dirty="0" err="1"/>
                        <a:t>nouser</a:t>
                      </a:r>
                      <a:r>
                        <a:rPr lang="en-US" altLang="zh-CN" sz="2400" dirty="0"/>
                        <a:t> </a:t>
                      </a:r>
                      <a:endParaRPr lang="zh-CN" altLang="en-US" sz="2400" dirty="0"/>
                    </a:p>
                  </a:txBody>
                  <a:tcPr marL="86360" marR="86360"/>
                </a:tc>
                <a:tc>
                  <a:txBody>
                    <a:bodyPr/>
                    <a:lstStyle/>
                    <a:p>
                      <a:r>
                        <a:rPr lang="zh-CN" altLang="en-US" sz="2400" dirty="0"/>
                        <a:t>允许普通用户</a:t>
                      </a:r>
                      <a:r>
                        <a:rPr lang="en-US" altLang="zh-CN" sz="2400" dirty="0"/>
                        <a:t>/</a:t>
                      </a:r>
                      <a:r>
                        <a:rPr lang="zh-CN" altLang="en-US" sz="2400" dirty="0"/>
                        <a:t>仅超级用户 挂装这个文件系统</a:t>
                      </a:r>
                    </a:p>
                  </a:txBody>
                  <a:tcPr marL="86360" marR="86360"/>
                </a:tc>
                <a:extLst>
                  <a:ext uri="{0D108BD9-81ED-4DB2-BD59-A6C34878D82A}">
                    <a16:rowId xmlns:a16="http://schemas.microsoft.com/office/drawing/2014/main" val="10003"/>
                  </a:ext>
                </a:extLst>
              </a:tr>
              <a:tr h="370840">
                <a:tc>
                  <a:txBody>
                    <a:bodyPr/>
                    <a:lstStyle/>
                    <a:p>
                      <a:r>
                        <a:rPr lang="en-US" altLang="zh-CN" sz="2400" dirty="0"/>
                        <a:t>users </a:t>
                      </a:r>
                      <a:endParaRPr lang="zh-CN" altLang="en-US" sz="2400" dirty="0"/>
                    </a:p>
                  </a:txBody>
                  <a:tcPr marL="86360" marR="86360"/>
                </a:tc>
                <a:tc>
                  <a:txBody>
                    <a:bodyPr/>
                    <a:lstStyle/>
                    <a:p>
                      <a:r>
                        <a:rPr lang="zh-CN" altLang="en-US" sz="2400" dirty="0"/>
                        <a:t>使一般用户可以挂装</a:t>
                      </a:r>
                      <a:r>
                        <a:rPr lang="en-US" altLang="zh-CN" sz="2400" dirty="0"/>
                        <a:t>/</a:t>
                      </a:r>
                      <a:r>
                        <a:rPr lang="zh-CN" altLang="en-US" sz="2400" dirty="0"/>
                        <a:t>卸载</a:t>
                      </a:r>
                      <a:r>
                        <a:rPr lang="en-US" altLang="zh-CN" sz="2400" dirty="0"/>
                        <a:t>,</a:t>
                      </a:r>
                      <a:r>
                        <a:rPr lang="zh-CN" altLang="en-US" sz="2400" dirty="0"/>
                        <a:t>用于桌面环境，包含 </a:t>
                      </a:r>
                      <a:r>
                        <a:rPr lang="en-US" altLang="zh-CN" sz="2400" dirty="0" err="1"/>
                        <a:t>noexec</a:t>
                      </a:r>
                      <a:r>
                        <a:rPr lang="zh-CN" altLang="en-US" sz="2400" dirty="0"/>
                        <a:t>、</a:t>
                      </a:r>
                      <a:r>
                        <a:rPr lang="en-US" altLang="zh-CN" sz="2400" dirty="0" err="1"/>
                        <a:t>nosuid</a:t>
                      </a:r>
                      <a:r>
                        <a:rPr lang="zh-CN" altLang="en-US" sz="2400" dirty="0"/>
                        <a:t>、</a:t>
                      </a:r>
                      <a:r>
                        <a:rPr lang="en-US" altLang="zh-CN" sz="2400" dirty="0" err="1"/>
                        <a:t>nodev</a:t>
                      </a:r>
                      <a:r>
                        <a:rPr lang="en-US" altLang="zh-CN" sz="2400" dirty="0"/>
                        <a:t> </a:t>
                      </a:r>
                      <a:r>
                        <a:rPr lang="zh-CN" altLang="en-US" sz="2400" dirty="0"/>
                        <a:t>选项 </a:t>
                      </a:r>
                    </a:p>
                  </a:txBody>
                  <a:tcPr marL="86360" marR="86360"/>
                </a:tc>
                <a:extLst>
                  <a:ext uri="{0D108BD9-81ED-4DB2-BD59-A6C34878D82A}">
                    <a16:rowId xmlns:a16="http://schemas.microsoft.com/office/drawing/2014/main" val="10004"/>
                  </a:ext>
                </a:extLst>
              </a:tr>
              <a:tr h="370840">
                <a:tc>
                  <a:txBody>
                    <a:bodyPr/>
                    <a:lstStyle/>
                    <a:p>
                      <a:r>
                        <a:rPr lang="en-US" altLang="zh-CN" sz="2400" dirty="0" err="1">
                          <a:solidFill>
                            <a:srgbClr val="FF0000"/>
                          </a:solidFill>
                        </a:rPr>
                        <a:t>rw</a:t>
                      </a:r>
                      <a:r>
                        <a:rPr lang="en-US" altLang="zh-CN" sz="2400" dirty="0">
                          <a:solidFill>
                            <a:srgbClr val="FF0000"/>
                          </a:solidFill>
                        </a:rPr>
                        <a:t>/</a:t>
                      </a:r>
                      <a:r>
                        <a:rPr lang="en-US" altLang="zh-CN" sz="2400" dirty="0" err="1">
                          <a:solidFill>
                            <a:srgbClr val="FF0000"/>
                          </a:solidFill>
                        </a:rPr>
                        <a:t>ro</a:t>
                      </a:r>
                      <a:endParaRPr lang="zh-CN" altLang="en-US" sz="2400" dirty="0">
                        <a:solidFill>
                          <a:srgbClr val="FF0000"/>
                        </a:solidFill>
                      </a:endParaRPr>
                    </a:p>
                  </a:txBody>
                  <a:tcPr marL="86360" marR="86360"/>
                </a:tc>
                <a:tc>
                  <a:txBody>
                    <a:bodyPr/>
                    <a:lstStyle/>
                    <a:p>
                      <a:r>
                        <a:rPr lang="zh-CN" altLang="en-US" sz="2400" dirty="0"/>
                        <a:t>以 读写</a:t>
                      </a:r>
                      <a:r>
                        <a:rPr lang="en-US" altLang="zh-CN" sz="2400" dirty="0"/>
                        <a:t>/</a:t>
                      </a:r>
                      <a:r>
                        <a:rPr lang="zh-CN" altLang="en-US" sz="2400" dirty="0"/>
                        <a:t>只读 方式挂装文件系统。</a:t>
                      </a:r>
                    </a:p>
                  </a:txBody>
                  <a:tcPr marL="86360" marR="86360"/>
                </a:tc>
                <a:extLst>
                  <a:ext uri="{0D108BD9-81ED-4DB2-BD59-A6C34878D82A}">
                    <a16:rowId xmlns:a16="http://schemas.microsoft.com/office/drawing/2014/main" val="10005"/>
                  </a:ext>
                </a:extLst>
              </a:tr>
              <a:tr h="370840">
                <a:tc>
                  <a:txBody>
                    <a:bodyPr/>
                    <a:lstStyle/>
                    <a:p>
                      <a:r>
                        <a:rPr lang="en-US" altLang="zh-CN" sz="2400" dirty="0"/>
                        <a:t>remount </a:t>
                      </a:r>
                      <a:endParaRPr lang="zh-CN" altLang="en-US" sz="2400" dirty="0"/>
                    </a:p>
                  </a:txBody>
                  <a:tcPr marL="86360" marR="86360"/>
                </a:tc>
                <a:tc>
                  <a:txBody>
                    <a:bodyPr/>
                    <a:lstStyle/>
                    <a:p>
                      <a:r>
                        <a:rPr lang="zh-CN" altLang="en-US" sz="2400" dirty="0"/>
                        <a:t>重新挂装已挂装的文件系统（通常用于</a:t>
                      </a:r>
                      <a:r>
                        <a:rPr lang="en-US" altLang="zh-CN" sz="2400" dirty="0"/>
                        <a:t>mount</a:t>
                      </a:r>
                      <a:r>
                        <a:rPr lang="zh-CN" altLang="en-US" sz="2400" dirty="0"/>
                        <a:t>命令行）</a:t>
                      </a:r>
                    </a:p>
                  </a:txBody>
                  <a:tcPr marL="86360" marR="8636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482293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mount</a:t>
            </a:r>
            <a:r>
              <a:rPr lang="zh-CN" altLang="en-US" dirty="0"/>
              <a:t>命令举例</a:t>
            </a:r>
          </a:p>
        </p:txBody>
      </p:sp>
      <p:sp>
        <p:nvSpPr>
          <p:cNvPr id="3" name="内容占位符 2"/>
          <p:cNvSpPr>
            <a:spLocks noGrp="1"/>
          </p:cNvSpPr>
          <p:nvPr>
            <p:ph idx="1"/>
          </p:nvPr>
        </p:nvSpPr>
        <p:spPr>
          <a:xfrm>
            <a:off x="611560" y="1700808"/>
            <a:ext cx="8229600" cy="4349079"/>
          </a:xfrm>
        </p:spPr>
        <p:style>
          <a:lnRef idx="1">
            <a:schemeClr val="accent2"/>
          </a:lnRef>
          <a:fillRef idx="2">
            <a:schemeClr val="accent2"/>
          </a:fillRef>
          <a:effectRef idx="1">
            <a:schemeClr val="accent2"/>
          </a:effectRef>
          <a:fontRef idx="minor">
            <a:schemeClr val="dk1"/>
          </a:fontRef>
        </p:style>
        <p:txBody>
          <a:bodyPr/>
          <a:lstStyle/>
          <a:p>
            <a:pPr>
              <a:lnSpc>
                <a:spcPct val="93000"/>
              </a:lnSpc>
              <a:spcBef>
                <a:spcPts val="675"/>
              </a:spcBef>
              <a:buNone/>
            </a:pPr>
            <a:r>
              <a:rPr lang="en-US" altLang="zh-CN" sz="2400" dirty="0"/>
              <a:t>$ mount </a:t>
            </a:r>
          </a:p>
          <a:p>
            <a:pPr>
              <a:lnSpc>
                <a:spcPct val="93000"/>
              </a:lnSpc>
              <a:spcBef>
                <a:spcPts val="675"/>
              </a:spcBef>
              <a:buNone/>
            </a:pPr>
            <a:endParaRPr lang="en-US" altLang="zh-CN" sz="2400" dirty="0"/>
          </a:p>
          <a:p>
            <a:pPr>
              <a:lnSpc>
                <a:spcPct val="93000"/>
              </a:lnSpc>
              <a:spcBef>
                <a:spcPts val="675"/>
              </a:spcBef>
              <a:buNone/>
            </a:pPr>
            <a:r>
              <a:rPr lang="zh-CN" altLang="en-GB" sz="2400" dirty="0"/>
              <a:t># </a:t>
            </a:r>
            <a:r>
              <a:rPr lang="en-GB" altLang="zh-CN" sz="2400" dirty="0"/>
              <a:t>mount </a:t>
            </a:r>
            <a:r>
              <a:rPr lang="en-GB" altLang="zh-CN" sz="2400" dirty="0">
                <a:latin typeface="Helvetica"/>
              </a:rPr>
              <a:t>-</a:t>
            </a:r>
            <a:r>
              <a:rPr lang="en-GB" altLang="zh-CN" sz="2400" dirty="0"/>
              <a:t>t ext3 /dev/sdb1 /opt</a:t>
            </a:r>
          </a:p>
          <a:p>
            <a:pPr>
              <a:lnSpc>
                <a:spcPct val="93000"/>
              </a:lnSpc>
              <a:spcBef>
                <a:spcPts val="675"/>
              </a:spcBef>
              <a:buNone/>
            </a:pPr>
            <a:r>
              <a:rPr lang="en-GB" altLang="zh-CN" sz="2400" dirty="0"/>
              <a:t># mount -t ext4 /dev/sdb2 /data</a:t>
            </a:r>
          </a:p>
          <a:p>
            <a:pPr>
              <a:lnSpc>
                <a:spcPct val="90000"/>
              </a:lnSpc>
              <a:spcBef>
                <a:spcPts val="675"/>
              </a:spcBef>
              <a:buNone/>
            </a:pPr>
            <a:r>
              <a:rPr lang="en-GB" altLang="zh-CN" sz="2400" dirty="0"/>
              <a:t># mount </a:t>
            </a:r>
            <a:r>
              <a:rPr lang="en-GB" altLang="zh-CN" sz="2400" dirty="0">
                <a:latin typeface="Helvetica"/>
              </a:rPr>
              <a:t>-</a:t>
            </a:r>
            <a:r>
              <a:rPr lang="en-GB" altLang="zh-CN" sz="2400" dirty="0"/>
              <a:t>t </a:t>
            </a:r>
            <a:r>
              <a:rPr lang="en-GB" altLang="zh-CN" sz="2400" dirty="0" err="1"/>
              <a:t>vfat</a:t>
            </a:r>
            <a:r>
              <a:rPr lang="en-GB" altLang="zh-CN" sz="2400" dirty="0"/>
              <a:t> /dev/hda6 /</a:t>
            </a:r>
            <a:r>
              <a:rPr lang="en-GB" altLang="zh-CN" sz="2400" dirty="0" err="1"/>
              <a:t>mnt</a:t>
            </a:r>
            <a:r>
              <a:rPr lang="en-GB" altLang="zh-CN" sz="2400" dirty="0"/>
              <a:t>/win</a:t>
            </a:r>
          </a:p>
          <a:p>
            <a:pPr>
              <a:lnSpc>
                <a:spcPct val="90000"/>
              </a:lnSpc>
              <a:spcBef>
                <a:spcPts val="675"/>
              </a:spcBef>
              <a:buNone/>
            </a:pPr>
            <a:r>
              <a:rPr lang="en-GB" altLang="zh-CN" sz="2400" dirty="0"/>
              <a:t># </a:t>
            </a:r>
            <a:r>
              <a:rPr lang="en-US" altLang="zh-CN" sz="2400" dirty="0"/>
              <a:t>mount -t </a:t>
            </a:r>
            <a:r>
              <a:rPr lang="en-US" altLang="zh-CN" sz="2400" dirty="0" err="1"/>
              <a:t>vfat</a:t>
            </a:r>
            <a:r>
              <a:rPr lang="en-US" altLang="zh-CN" sz="2400" dirty="0"/>
              <a:t> -o </a:t>
            </a:r>
            <a:r>
              <a:rPr lang="en-US" altLang="zh-CN" sz="2400" dirty="0" err="1"/>
              <a:t>iocharset</a:t>
            </a:r>
            <a:r>
              <a:rPr lang="en-US" altLang="zh-CN" sz="2400" dirty="0"/>
              <a:t>=cp936   /dev/hda8  /</a:t>
            </a:r>
            <a:r>
              <a:rPr lang="en-US" altLang="zh-CN" sz="2400" dirty="0" err="1"/>
              <a:t>mnt</a:t>
            </a:r>
            <a:r>
              <a:rPr lang="en-US" altLang="zh-CN" sz="2400" dirty="0"/>
              <a:t>/win2</a:t>
            </a:r>
          </a:p>
          <a:p>
            <a:pPr>
              <a:lnSpc>
                <a:spcPct val="90000"/>
              </a:lnSpc>
              <a:spcBef>
                <a:spcPts val="675"/>
              </a:spcBef>
              <a:buNone/>
            </a:pPr>
            <a:r>
              <a:rPr lang="en-GB" altLang="zh-CN" sz="2400" dirty="0"/>
              <a:t># </a:t>
            </a:r>
            <a:r>
              <a:rPr lang="en-US" altLang="zh-CN" sz="2400" dirty="0"/>
              <a:t>mount -o loop CentOS-6.5-x86_64-bin-DVD1.iso /</a:t>
            </a:r>
            <a:r>
              <a:rPr lang="en-US" altLang="zh-CN" sz="2400" dirty="0" err="1"/>
              <a:t>mnt</a:t>
            </a:r>
            <a:r>
              <a:rPr lang="en-US" altLang="zh-CN" sz="2400" dirty="0"/>
              <a:t>/</a:t>
            </a:r>
            <a:r>
              <a:rPr lang="en-US" altLang="zh-CN" sz="2400" dirty="0" err="1"/>
              <a:t>iso</a:t>
            </a:r>
            <a:r>
              <a:rPr lang="en-US" altLang="zh-CN" sz="2400" dirty="0"/>
              <a:t> </a:t>
            </a:r>
          </a:p>
          <a:p>
            <a:pPr>
              <a:lnSpc>
                <a:spcPct val="90000"/>
              </a:lnSpc>
              <a:spcBef>
                <a:spcPts val="675"/>
              </a:spcBef>
              <a:buNone/>
            </a:pPr>
            <a:r>
              <a:rPr lang="en-US" altLang="zh-CN" sz="2400" dirty="0"/>
              <a:t># mount -o </a:t>
            </a:r>
            <a:r>
              <a:rPr lang="en-US" altLang="zh-CN" sz="2400" dirty="0" err="1"/>
              <a:t>remount,ro</a:t>
            </a:r>
            <a:r>
              <a:rPr lang="en-US" altLang="zh-CN" sz="2400" dirty="0"/>
              <a:t> /data</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GB" dirty="0"/>
              <a:t>卸装文件系统</a:t>
            </a:r>
            <a:r>
              <a:rPr lang="en-US" altLang="zh-CN" dirty="0"/>
              <a:t>—</a:t>
            </a:r>
            <a:r>
              <a:rPr lang="en-US" altLang="zh-CN" dirty="0" err="1"/>
              <a:t>umount</a:t>
            </a:r>
            <a:r>
              <a:rPr lang="zh-CN" altLang="en-US" dirty="0"/>
              <a:t>命令</a:t>
            </a:r>
          </a:p>
        </p:txBody>
      </p:sp>
      <p:sp>
        <p:nvSpPr>
          <p:cNvPr id="3" name="内容占位符 2"/>
          <p:cNvSpPr>
            <a:spLocks noGrp="1"/>
          </p:cNvSpPr>
          <p:nvPr>
            <p:ph idx="1"/>
          </p:nvPr>
        </p:nvSpPr>
        <p:spPr>
          <a:xfrm>
            <a:off x="1154113" y="1628800"/>
            <a:ext cx="7378327" cy="4114800"/>
          </a:xfrm>
        </p:spPr>
        <p:txBody>
          <a:bodyPr/>
          <a:lstStyle/>
          <a:p>
            <a:r>
              <a:rPr lang="en-US" altLang="zh-CN" dirty="0" err="1"/>
              <a:t>umount</a:t>
            </a:r>
            <a:r>
              <a:rPr lang="zh-CN" altLang="en-US" dirty="0"/>
              <a:t>命令的格式</a:t>
            </a:r>
          </a:p>
          <a:p>
            <a:pPr lvl="1"/>
            <a:r>
              <a:rPr lang="en-US" altLang="zh-CN" dirty="0">
                <a:solidFill>
                  <a:schemeClr val="accent2">
                    <a:lumMod val="75000"/>
                  </a:schemeClr>
                </a:solidFill>
              </a:rPr>
              <a:t># </a:t>
            </a:r>
            <a:r>
              <a:rPr lang="en-US" altLang="zh-CN" dirty="0" err="1">
                <a:solidFill>
                  <a:schemeClr val="accent2">
                    <a:lumMod val="75000"/>
                  </a:schemeClr>
                </a:solidFill>
              </a:rPr>
              <a:t>umount</a:t>
            </a:r>
            <a:r>
              <a:rPr lang="en-US" altLang="zh-CN" dirty="0">
                <a:solidFill>
                  <a:schemeClr val="accent2">
                    <a:lumMod val="75000"/>
                  </a:schemeClr>
                </a:solidFill>
              </a:rPr>
              <a:t> &lt; </a:t>
            </a:r>
            <a:r>
              <a:rPr lang="zh-CN" altLang="en-US" dirty="0">
                <a:solidFill>
                  <a:schemeClr val="accent2">
                    <a:lumMod val="75000"/>
                  </a:schemeClr>
                </a:solidFill>
              </a:rPr>
              <a:t>分区设备名或挂装点</a:t>
            </a:r>
            <a:r>
              <a:rPr lang="en-US" altLang="zh-CN" dirty="0">
                <a:solidFill>
                  <a:schemeClr val="accent2">
                    <a:lumMod val="75000"/>
                  </a:schemeClr>
                </a:solidFill>
              </a:rPr>
              <a:t>&gt;</a:t>
            </a:r>
          </a:p>
          <a:p>
            <a:r>
              <a:rPr lang="zh-CN" altLang="en-US" dirty="0"/>
              <a:t>举例</a:t>
            </a:r>
          </a:p>
          <a:p>
            <a:pPr lvl="1"/>
            <a:r>
              <a:rPr lang="en-US" altLang="zh-CN" dirty="0">
                <a:solidFill>
                  <a:schemeClr val="accent2">
                    <a:lumMod val="75000"/>
                  </a:schemeClr>
                </a:solidFill>
              </a:rPr>
              <a:t># </a:t>
            </a:r>
            <a:r>
              <a:rPr lang="en-US" altLang="zh-CN" dirty="0" err="1">
                <a:solidFill>
                  <a:schemeClr val="accent2">
                    <a:lumMod val="75000"/>
                  </a:schemeClr>
                </a:solidFill>
              </a:rPr>
              <a:t>umount</a:t>
            </a:r>
            <a:r>
              <a:rPr lang="en-US" altLang="zh-CN" dirty="0">
                <a:solidFill>
                  <a:schemeClr val="accent2">
                    <a:lumMod val="75000"/>
                  </a:schemeClr>
                </a:solidFill>
              </a:rPr>
              <a:t> </a:t>
            </a:r>
            <a:r>
              <a:rPr lang="en-GB" altLang="zh-CN" dirty="0">
                <a:solidFill>
                  <a:schemeClr val="accent2">
                    <a:lumMod val="75000"/>
                  </a:schemeClr>
                </a:solidFill>
              </a:rPr>
              <a:t>/dev/hda6</a:t>
            </a:r>
          </a:p>
          <a:p>
            <a:pPr lvl="1"/>
            <a:r>
              <a:rPr lang="en-GB" altLang="zh-CN" dirty="0">
                <a:solidFill>
                  <a:schemeClr val="accent2">
                    <a:lumMod val="75000"/>
                  </a:schemeClr>
                </a:solidFill>
              </a:rPr>
              <a:t># </a:t>
            </a:r>
            <a:r>
              <a:rPr lang="en-GB" altLang="zh-CN" dirty="0" err="1">
                <a:solidFill>
                  <a:schemeClr val="accent2">
                    <a:lumMod val="75000"/>
                  </a:schemeClr>
                </a:solidFill>
              </a:rPr>
              <a:t>umount</a:t>
            </a:r>
            <a:r>
              <a:rPr lang="en-GB" altLang="zh-CN" dirty="0">
                <a:solidFill>
                  <a:schemeClr val="accent2">
                    <a:lumMod val="75000"/>
                  </a:schemeClr>
                </a:solidFill>
              </a:rPr>
              <a:t> /dev/sdb1</a:t>
            </a:r>
          </a:p>
          <a:p>
            <a:pPr lvl="1"/>
            <a:r>
              <a:rPr lang="en-GB" altLang="zh-CN" dirty="0">
                <a:solidFill>
                  <a:schemeClr val="accent2">
                    <a:lumMod val="75000"/>
                  </a:schemeClr>
                </a:solidFill>
              </a:rPr>
              <a:t># </a:t>
            </a:r>
            <a:r>
              <a:rPr lang="en-GB" altLang="zh-CN" dirty="0" err="1">
                <a:solidFill>
                  <a:schemeClr val="accent2">
                    <a:lumMod val="75000"/>
                  </a:schemeClr>
                </a:solidFill>
              </a:rPr>
              <a:t>umount</a:t>
            </a:r>
            <a:r>
              <a:rPr lang="en-GB" altLang="zh-CN" dirty="0">
                <a:solidFill>
                  <a:schemeClr val="accent2">
                    <a:lumMod val="75000"/>
                  </a:schemeClr>
                </a:solidFill>
              </a:rPr>
              <a:t> /opt</a:t>
            </a:r>
            <a:endParaRPr lang="en-US" altLang="zh-CN" dirty="0">
              <a:solidFill>
                <a:schemeClr val="accent2">
                  <a:lumMod val="75000"/>
                </a:schemeClr>
              </a:solidFill>
            </a:endParaRPr>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113" y="191715"/>
            <a:ext cx="7162303" cy="1052513"/>
          </a:xfrm>
        </p:spPr>
        <p:txBody>
          <a:bodyPr/>
          <a:lstStyle/>
          <a:p>
            <a:r>
              <a:rPr lang="zh-CN" altLang="en-US" dirty="0"/>
              <a:t>挂装</a:t>
            </a:r>
            <a:r>
              <a:rPr lang="en-US" altLang="zh-CN" dirty="0"/>
              <a:t>/</a:t>
            </a:r>
            <a:r>
              <a:rPr lang="zh-CN" altLang="en-US" dirty="0"/>
              <a:t>卸装文件系统注意事项</a:t>
            </a:r>
          </a:p>
        </p:txBody>
      </p:sp>
      <p:sp>
        <p:nvSpPr>
          <p:cNvPr id="3" name="内容占位符 2"/>
          <p:cNvSpPr>
            <a:spLocks noGrp="1"/>
          </p:cNvSpPr>
          <p:nvPr>
            <p:ph idx="1"/>
          </p:nvPr>
        </p:nvSpPr>
        <p:spPr>
          <a:xfrm>
            <a:off x="971600" y="1275792"/>
            <a:ext cx="7992888" cy="5105535"/>
          </a:xfrm>
        </p:spPr>
        <p:txBody>
          <a:bodyPr/>
          <a:lstStyle/>
          <a:p>
            <a:pPr>
              <a:lnSpc>
                <a:spcPct val="110000"/>
              </a:lnSpc>
            </a:pPr>
            <a:r>
              <a:rPr lang="zh-CN" altLang="en-US" sz="3000" dirty="0"/>
              <a:t>挂装点目录</a:t>
            </a:r>
            <a:r>
              <a:rPr lang="zh-CN" altLang="en-US" sz="3000" dirty="0">
                <a:solidFill>
                  <a:srgbClr val="FF0000"/>
                </a:solidFill>
              </a:rPr>
              <a:t>必须存在</a:t>
            </a:r>
          </a:p>
          <a:p>
            <a:pPr>
              <a:lnSpc>
                <a:spcPct val="110000"/>
              </a:lnSpc>
            </a:pPr>
            <a:r>
              <a:rPr lang="zh-CN" altLang="en-US" sz="3000" dirty="0"/>
              <a:t>应该在挂装目录的上级目录下进行挂装操作</a:t>
            </a:r>
          </a:p>
          <a:p>
            <a:pPr>
              <a:lnSpc>
                <a:spcPct val="110000"/>
              </a:lnSpc>
            </a:pPr>
            <a:r>
              <a:rPr lang="zh-CN" altLang="en-US" sz="3000" dirty="0">
                <a:solidFill>
                  <a:srgbClr val="FF0000"/>
                </a:solidFill>
              </a:rPr>
              <a:t>不</a:t>
            </a:r>
            <a:r>
              <a:rPr lang="zh-CN" altLang="en-US" sz="3000" dirty="0"/>
              <a:t>该在</a:t>
            </a:r>
            <a:r>
              <a:rPr lang="zh-CN" altLang="en-US" sz="3000" dirty="0">
                <a:solidFill>
                  <a:srgbClr val="FF0000"/>
                </a:solidFill>
              </a:rPr>
              <a:t>同一个</a:t>
            </a:r>
            <a:r>
              <a:rPr lang="zh-CN" altLang="en-US" sz="3000" dirty="0"/>
              <a:t>挂装点目录下挂装</a:t>
            </a:r>
            <a:r>
              <a:rPr lang="zh-CN" altLang="en-US" sz="3000" dirty="0">
                <a:solidFill>
                  <a:srgbClr val="FF0000"/>
                </a:solidFill>
              </a:rPr>
              <a:t>两个文件系统</a:t>
            </a:r>
          </a:p>
          <a:p>
            <a:pPr>
              <a:lnSpc>
                <a:spcPct val="110000"/>
              </a:lnSpc>
            </a:pPr>
            <a:r>
              <a:rPr lang="zh-CN" altLang="en-US" sz="3000" dirty="0"/>
              <a:t>当文件系统处于</a:t>
            </a:r>
            <a:r>
              <a:rPr lang="zh-CN" altLang="en-US" sz="3000" dirty="0">
                <a:solidFill>
                  <a:srgbClr val="FF0000"/>
                </a:solidFill>
              </a:rPr>
              <a:t>“</a:t>
            </a:r>
            <a:r>
              <a:rPr lang="en-US" altLang="zh-CN" sz="3000" dirty="0">
                <a:solidFill>
                  <a:srgbClr val="FF0000"/>
                </a:solidFill>
              </a:rPr>
              <a:t>busy”</a:t>
            </a:r>
            <a:r>
              <a:rPr lang="zh-CN" altLang="en-US" sz="3000" dirty="0">
                <a:solidFill>
                  <a:srgbClr val="FF0000"/>
                </a:solidFill>
              </a:rPr>
              <a:t>状态</a:t>
            </a:r>
            <a:r>
              <a:rPr lang="zh-CN" altLang="en-US" sz="3000" dirty="0"/>
              <a:t>时</a:t>
            </a:r>
            <a:r>
              <a:rPr lang="zh-CN" altLang="en-US" sz="3000" dirty="0">
                <a:solidFill>
                  <a:srgbClr val="FF0000"/>
                </a:solidFill>
              </a:rPr>
              <a:t>不能</a:t>
            </a:r>
            <a:r>
              <a:rPr lang="zh-CN" altLang="en-US" sz="3000" dirty="0"/>
              <a:t>进行卸装</a:t>
            </a:r>
            <a:endParaRPr lang="en-US" altLang="zh-CN" sz="3000" dirty="0"/>
          </a:p>
          <a:p>
            <a:pPr>
              <a:lnSpc>
                <a:spcPct val="110000"/>
              </a:lnSpc>
            </a:pPr>
            <a:r>
              <a:rPr lang="zh-CN" altLang="en-US" sz="3000" dirty="0"/>
              <a:t>文件系统何时处于“</a:t>
            </a:r>
            <a:r>
              <a:rPr lang="en-US" altLang="zh-CN" sz="3000" dirty="0"/>
              <a:t>busy”</a:t>
            </a:r>
            <a:r>
              <a:rPr lang="zh-CN" altLang="en-US" sz="3000" dirty="0"/>
              <a:t>状态</a:t>
            </a:r>
          </a:p>
          <a:p>
            <a:pPr lvl="1"/>
            <a:r>
              <a:rPr lang="zh-CN" altLang="en-US" dirty="0"/>
              <a:t>文件系统上面</a:t>
            </a:r>
            <a:r>
              <a:rPr lang="zh-CN" altLang="en-US" dirty="0">
                <a:solidFill>
                  <a:srgbClr val="FF0000"/>
                </a:solidFill>
              </a:rPr>
              <a:t>有打开的文件</a:t>
            </a:r>
          </a:p>
          <a:p>
            <a:pPr lvl="1"/>
            <a:r>
              <a:rPr lang="zh-CN" altLang="en-US" dirty="0"/>
              <a:t>某个</a:t>
            </a:r>
            <a:r>
              <a:rPr lang="zh-CN" altLang="en-US" dirty="0">
                <a:solidFill>
                  <a:srgbClr val="FF0000"/>
                </a:solidFill>
              </a:rPr>
              <a:t>进程的工作目录</a:t>
            </a:r>
            <a:r>
              <a:rPr lang="zh-CN" altLang="en-US" dirty="0"/>
              <a:t>在此文件系统上</a:t>
            </a:r>
          </a:p>
          <a:p>
            <a:pPr lvl="1"/>
            <a:r>
              <a:rPr lang="zh-CN" altLang="en-US" dirty="0"/>
              <a:t>文件系统上面的</a:t>
            </a:r>
            <a:r>
              <a:rPr lang="zh-CN" altLang="en-US" dirty="0">
                <a:solidFill>
                  <a:srgbClr val="FF0000"/>
                </a:solidFill>
              </a:rPr>
              <a:t>缓存文件正在被使用 </a:t>
            </a:r>
          </a:p>
          <a:p>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fuser</a:t>
            </a:r>
            <a:r>
              <a:rPr lang="zh-CN" altLang="en-US" dirty="0"/>
              <a:t>命令</a:t>
            </a:r>
          </a:p>
        </p:txBody>
      </p:sp>
      <p:sp>
        <p:nvSpPr>
          <p:cNvPr id="3" name="内容占位符 2"/>
          <p:cNvSpPr>
            <a:spLocks noGrp="1"/>
          </p:cNvSpPr>
          <p:nvPr>
            <p:ph idx="1"/>
          </p:nvPr>
        </p:nvSpPr>
        <p:spPr>
          <a:xfrm>
            <a:off x="971600" y="1340768"/>
            <a:ext cx="7382842" cy="5328592"/>
          </a:xfrm>
        </p:spPr>
        <p:txBody>
          <a:bodyPr/>
          <a:lstStyle/>
          <a:p>
            <a:r>
              <a:rPr lang="en-US" altLang="zh-CN" sz="2800" dirty="0"/>
              <a:t>fuser</a:t>
            </a:r>
            <a:r>
              <a:rPr lang="zh-CN" altLang="en-US" sz="2800" dirty="0"/>
              <a:t>命令：根据文件（目录、设备）</a:t>
            </a:r>
            <a:r>
              <a:rPr lang="zh-CN" altLang="en-US" sz="2800" dirty="0">
                <a:solidFill>
                  <a:srgbClr val="FF0000"/>
                </a:solidFill>
              </a:rPr>
              <a:t>查找</a:t>
            </a:r>
            <a:r>
              <a:rPr lang="zh-CN" altLang="en-US" sz="2800" dirty="0"/>
              <a:t>使用它的</a:t>
            </a:r>
            <a:r>
              <a:rPr lang="zh-CN" altLang="en-US" sz="2800" dirty="0">
                <a:solidFill>
                  <a:srgbClr val="FF0000"/>
                </a:solidFill>
              </a:rPr>
              <a:t>进程</a:t>
            </a:r>
            <a:r>
              <a:rPr lang="zh-CN" altLang="en-US" sz="2800" dirty="0"/>
              <a:t>，同时也提供了杀死这些进程的方法</a:t>
            </a:r>
            <a:endParaRPr lang="en-US" altLang="zh-CN" sz="2800" dirty="0"/>
          </a:p>
          <a:p>
            <a:r>
              <a:rPr lang="zh-CN" altLang="en-US" sz="2800" dirty="0"/>
              <a:t>使用举例</a:t>
            </a:r>
            <a:endParaRPr lang="en-US" altLang="zh-CN" sz="2800" dirty="0"/>
          </a:p>
          <a:p>
            <a:pPr lvl="1"/>
            <a:r>
              <a:rPr lang="zh-CN" altLang="en-US" sz="2400" dirty="0">
                <a:solidFill>
                  <a:srgbClr val="FF0000"/>
                </a:solidFill>
              </a:rPr>
              <a:t>查看</a:t>
            </a:r>
            <a:r>
              <a:rPr lang="zh-CN" altLang="en-US" sz="2400" dirty="0"/>
              <a:t>挂接点有哪些进程需要杀掉</a:t>
            </a:r>
          </a:p>
          <a:p>
            <a:pPr lvl="1">
              <a:buNone/>
            </a:pPr>
            <a:r>
              <a:rPr lang="en-US" altLang="zh-CN" sz="2400" dirty="0">
                <a:solidFill>
                  <a:schemeClr val="accent6">
                    <a:lumMod val="75000"/>
                  </a:schemeClr>
                </a:solidFill>
              </a:rPr>
              <a:t># fuser  -cu  /</a:t>
            </a:r>
            <a:r>
              <a:rPr lang="en-US" altLang="zh-CN" sz="2400" dirty="0" err="1">
                <a:solidFill>
                  <a:schemeClr val="accent6">
                    <a:lumMod val="75000"/>
                  </a:schemeClr>
                </a:solidFill>
              </a:rPr>
              <a:t>mount_point</a:t>
            </a:r>
            <a:endParaRPr lang="en-US" altLang="zh-CN" sz="2400" dirty="0">
              <a:solidFill>
                <a:schemeClr val="accent6">
                  <a:lumMod val="75000"/>
                </a:schemeClr>
              </a:solidFill>
            </a:endParaRPr>
          </a:p>
          <a:p>
            <a:pPr lvl="1"/>
            <a:r>
              <a:rPr lang="zh-CN" altLang="en-US" sz="2400" dirty="0">
                <a:solidFill>
                  <a:srgbClr val="FF0000"/>
                </a:solidFill>
              </a:rPr>
              <a:t>杀死</a:t>
            </a:r>
            <a:r>
              <a:rPr lang="zh-CN" altLang="en-US" sz="2400" dirty="0"/>
              <a:t>这些进程（向其发送</a:t>
            </a:r>
            <a:r>
              <a:rPr lang="en-US" altLang="zh-CN" sz="2400" dirty="0"/>
              <a:t>[SIGKILL, 9]</a:t>
            </a:r>
            <a:r>
              <a:rPr lang="zh-CN" altLang="en-US" sz="2400" dirty="0"/>
              <a:t>信号）</a:t>
            </a:r>
          </a:p>
          <a:p>
            <a:pPr lvl="1">
              <a:buNone/>
            </a:pPr>
            <a:r>
              <a:rPr lang="en-US" altLang="zh-CN" sz="2400" dirty="0">
                <a:solidFill>
                  <a:schemeClr val="accent6">
                    <a:lumMod val="75000"/>
                  </a:schemeClr>
                </a:solidFill>
              </a:rPr>
              <a:t># fuser  -ck  /</a:t>
            </a:r>
            <a:r>
              <a:rPr lang="en-US" altLang="zh-CN" sz="2400" dirty="0" err="1">
                <a:solidFill>
                  <a:schemeClr val="accent6">
                    <a:lumMod val="75000"/>
                  </a:schemeClr>
                </a:solidFill>
              </a:rPr>
              <a:t>mount_point</a:t>
            </a:r>
            <a:endParaRPr lang="en-US" altLang="zh-CN" sz="2400" dirty="0">
              <a:solidFill>
                <a:schemeClr val="accent6">
                  <a:lumMod val="75000"/>
                </a:schemeClr>
              </a:solidFill>
            </a:endParaRPr>
          </a:p>
          <a:p>
            <a:pPr lvl="1"/>
            <a:r>
              <a:rPr lang="zh-CN" altLang="en-US" sz="2400" dirty="0"/>
              <a:t>查看是否还有进程在访问挂接点</a:t>
            </a:r>
          </a:p>
          <a:p>
            <a:pPr lvl="1">
              <a:buNone/>
            </a:pPr>
            <a:r>
              <a:rPr lang="en-US" altLang="zh-CN" sz="2400" dirty="0">
                <a:solidFill>
                  <a:schemeClr val="accent6">
                    <a:lumMod val="75000"/>
                  </a:schemeClr>
                </a:solidFill>
              </a:rPr>
              <a:t># fuser  -c  /</a:t>
            </a:r>
            <a:r>
              <a:rPr lang="en-US" altLang="zh-CN" sz="2400" dirty="0" err="1">
                <a:solidFill>
                  <a:schemeClr val="accent6">
                    <a:lumMod val="75000"/>
                  </a:schemeClr>
                </a:solidFill>
              </a:rPr>
              <a:t>mount_point</a:t>
            </a:r>
            <a:endParaRPr lang="en-US" altLang="zh-CN" sz="2400" dirty="0">
              <a:solidFill>
                <a:schemeClr val="accent6">
                  <a:lumMod val="75000"/>
                </a:schemeClr>
              </a:solidFill>
            </a:endParaRPr>
          </a:p>
          <a:p>
            <a:pPr lvl="1"/>
            <a:r>
              <a:rPr lang="zh-CN" altLang="en-US" sz="2400" dirty="0"/>
              <a:t>卸载挂接点上的设备</a:t>
            </a:r>
          </a:p>
          <a:p>
            <a:pPr lvl="1">
              <a:buNone/>
            </a:pPr>
            <a:r>
              <a:rPr lang="en-US" altLang="zh-CN" sz="2400" dirty="0">
                <a:solidFill>
                  <a:schemeClr val="accent6">
                    <a:lumMod val="75000"/>
                  </a:schemeClr>
                </a:solidFill>
              </a:rPr>
              <a:t># </a:t>
            </a:r>
            <a:r>
              <a:rPr lang="en-US" altLang="zh-CN" sz="2400" dirty="0" err="1">
                <a:solidFill>
                  <a:schemeClr val="accent6">
                    <a:lumMod val="75000"/>
                  </a:schemeClr>
                </a:solidFill>
              </a:rPr>
              <a:t>umount</a:t>
            </a:r>
            <a:r>
              <a:rPr lang="en-US" altLang="zh-CN" sz="2400" dirty="0">
                <a:solidFill>
                  <a:schemeClr val="accent6">
                    <a:lumMod val="75000"/>
                  </a:schemeClr>
                </a:solidFill>
              </a:rPr>
              <a:t>  /</a:t>
            </a:r>
            <a:r>
              <a:rPr lang="en-US" altLang="zh-CN" sz="2400" dirty="0" err="1">
                <a:solidFill>
                  <a:schemeClr val="accent6">
                    <a:lumMod val="75000"/>
                  </a:schemeClr>
                </a:solidFill>
              </a:rPr>
              <a:t>mount_point</a:t>
            </a:r>
            <a:endParaRPr lang="zh-CN" altLang="en-US" sz="2400" dirty="0">
              <a:solidFill>
                <a:schemeClr val="accent6">
                  <a:lumMod val="75000"/>
                </a:schemeClr>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显示和调整文件系统属性</a:t>
            </a:r>
          </a:p>
        </p:txBody>
      </p:sp>
      <p:sp>
        <p:nvSpPr>
          <p:cNvPr id="3" name="内容占位符 2"/>
          <p:cNvSpPr>
            <a:spLocks noGrp="1"/>
          </p:cNvSpPr>
          <p:nvPr>
            <p:ph idx="1"/>
          </p:nvPr>
        </p:nvSpPr>
        <p:spPr>
          <a:xfrm>
            <a:off x="1043608" y="1628800"/>
            <a:ext cx="7772400" cy="4114800"/>
          </a:xfrm>
        </p:spPr>
        <p:txBody>
          <a:bodyPr/>
          <a:lstStyle/>
          <a:p>
            <a:r>
              <a:rPr lang="zh-CN" altLang="en-US" dirty="0"/>
              <a:t>显示文件系统属性参数</a:t>
            </a:r>
          </a:p>
          <a:p>
            <a:pPr lvl="1"/>
            <a:r>
              <a:rPr lang="en-US" altLang="zh-CN" dirty="0">
                <a:solidFill>
                  <a:schemeClr val="accent2">
                    <a:lumMod val="75000"/>
                  </a:schemeClr>
                </a:solidFill>
              </a:rPr>
              <a:t>tune2fs -l  &lt;device&gt; </a:t>
            </a:r>
          </a:p>
          <a:p>
            <a:pPr lvl="1"/>
            <a:r>
              <a:rPr lang="en-US" altLang="zh-CN" dirty="0">
                <a:solidFill>
                  <a:schemeClr val="accent2">
                    <a:lumMod val="75000"/>
                  </a:schemeClr>
                </a:solidFill>
              </a:rPr>
              <a:t>dumpe2fs -h &lt;device&gt; </a:t>
            </a:r>
          </a:p>
          <a:p>
            <a:r>
              <a:rPr lang="zh-CN" altLang="en-US" dirty="0">
                <a:solidFill>
                  <a:srgbClr val="FF0000"/>
                </a:solidFill>
              </a:rPr>
              <a:t>可调整</a:t>
            </a:r>
            <a:r>
              <a:rPr lang="zh-CN" altLang="en-US" dirty="0"/>
              <a:t>的文件系统</a:t>
            </a:r>
            <a:r>
              <a:rPr lang="zh-CN" altLang="en-US" dirty="0">
                <a:solidFill>
                  <a:srgbClr val="FF0000"/>
                </a:solidFill>
              </a:rPr>
              <a:t>属性参数 </a:t>
            </a:r>
          </a:p>
          <a:p>
            <a:pPr lvl="1"/>
            <a:r>
              <a:rPr lang="zh-CN" altLang="en-US" dirty="0">
                <a:solidFill>
                  <a:srgbClr val="FF0000"/>
                </a:solidFill>
              </a:rPr>
              <a:t>保留块 </a:t>
            </a:r>
          </a:p>
          <a:p>
            <a:pPr lvl="1"/>
            <a:r>
              <a:rPr lang="zh-CN" altLang="en-US" dirty="0">
                <a:solidFill>
                  <a:srgbClr val="FF0000"/>
                </a:solidFill>
              </a:rPr>
              <a:t>默认挂载选项 </a:t>
            </a:r>
          </a:p>
          <a:p>
            <a:pPr lvl="1"/>
            <a:r>
              <a:rPr lang="en-US" altLang="zh-CN" dirty="0">
                <a:solidFill>
                  <a:srgbClr val="FF0000"/>
                </a:solidFill>
              </a:rPr>
              <a:t>fsck </a:t>
            </a:r>
            <a:r>
              <a:rPr lang="zh-CN" altLang="en-US" dirty="0">
                <a:solidFill>
                  <a:srgbClr val="FF0000"/>
                </a:solidFill>
              </a:rPr>
              <a:t>频率</a:t>
            </a:r>
          </a:p>
        </p:txBody>
      </p:sp>
    </p:spTree>
    <p:extLst>
      <p:ext uri="{BB962C8B-B14F-4D97-AF65-F5344CB8AC3E}">
        <p14:creationId xmlns:p14="http://schemas.microsoft.com/office/powerpoint/2010/main" val="36571277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tune2fs</a:t>
            </a:r>
            <a:r>
              <a:rPr lang="zh-CN" altLang="en-US" dirty="0"/>
              <a:t>命令</a:t>
            </a:r>
          </a:p>
        </p:txBody>
      </p:sp>
      <p:sp>
        <p:nvSpPr>
          <p:cNvPr id="3" name="内容占位符 2"/>
          <p:cNvSpPr>
            <a:spLocks noGrp="1"/>
          </p:cNvSpPr>
          <p:nvPr>
            <p:ph idx="1"/>
          </p:nvPr>
        </p:nvSpPr>
        <p:spPr>
          <a:xfrm>
            <a:off x="827585" y="1484784"/>
            <a:ext cx="7704856" cy="4862165"/>
          </a:xfrm>
        </p:spPr>
        <p:txBody>
          <a:bodyPr/>
          <a:lstStyle/>
          <a:p>
            <a:r>
              <a:rPr lang="zh-CN" altLang="en-US" dirty="0"/>
              <a:t>格式</a:t>
            </a:r>
          </a:p>
          <a:p>
            <a:pPr lvl="1"/>
            <a:r>
              <a:rPr lang="en-US" altLang="zh-CN" dirty="0"/>
              <a:t>tune2fs [&lt;</a:t>
            </a:r>
            <a:r>
              <a:rPr lang="zh-CN" altLang="en-US" dirty="0"/>
              <a:t>选项</a:t>
            </a:r>
            <a:r>
              <a:rPr lang="en-US" altLang="zh-CN" dirty="0"/>
              <a:t>&gt;] &lt;</a:t>
            </a:r>
            <a:r>
              <a:rPr lang="zh-CN" altLang="en-US" dirty="0"/>
              <a:t>设备名</a:t>
            </a:r>
            <a:r>
              <a:rPr lang="en-US" altLang="zh-CN" dirty="0"/>
              <a:t>&gt;</a:t>
            </a:r>
          </a:p>
          <a:p>
            <a:r>
              <a:rPr lang="zh-CN" altLang="en-US" dirty="0"/>
              <a:t>常用选项</a:t>
            </a:r>
          </a:p>
          <a:p>
            <a:pPr lvl="1"/>
            <a:r>
              <a:rPr lang="en-US" altLang="zh-CN" sz="2000" dirty="0"/>
              <a:t>-c</a:t>
            </a:r>
            <a:r>
              <a:rPr lang="zh-CN" altLang="en-US" sz="2000" dirty="0"/>
              <a:t>：表示文件系统</a:t>
            </a:r>
            <a:r>
              <a:rPr lang="zh-CN" altLang="en-US" sz="2000" dirty="0">
                <a:solidFill>
                  <a:srgbClr val="FF0000"/>
                </a:solidFill>
              </a:rPr>
              <a:t>在 </a:t>
            </a:r>
            <a:r>
              <a:rPr lang="en-US" altLang="zh-CN" sz="2000" dirty="0">
                <a:solidFill>
                  <a:srgbClr val="FF0000"/>
                </a:solidFill>
              </a:rPr>
              <a:t>mount </a:t>
            </a:r>
            <a:r>
              <a:rPr lang="zh-CN" altLang="en-US" sz="2000" dirty="0">
                <a:solidFill>
                  <a:srgbClr val="FF0000"/>
                </a:solidFill>
              </a:rPr>
              <a:t>次数</a:t>
            </a:r>
            <a:r>
              <a:rPr lang="zh-CN" altLang="en-US" sz="2000" dirty="0"/>
              <a:t>达到设定后，需要运行 </a:t>
            </a:r>
            <a:r>
              <a:rPr lang="en-US" altLang="zh-CN" sz="2000" dirty="0"/>
              <a:t>fsck </a:t>
            </a:r>
            <a:r>
              <a:rPr lang="zh-CN" altLang="en-US" sz="2000" dirty="0"/>
              <a:t>检查文件系统 </a:t>
            </a:r>
          </a:p>
          <a:p>
            <a:pPr lvl="1"/>
            <a:r>
              <a:rPr lang="en-US" altLang="zh-CN" sz="2000" dirty="0"/>
              <a:t>-</a:t>
            </a:r>
            <a:r>
              <a:rPr lang="en-US" altLang="zh-CN" sz="2000" dirty="0" err="1"/>
              <a:t>i</a:t>
            </a:r>
            <a:r>
              <a:rPr lang="zh-CN" altLang="en-US" sz="2000" dirty="0"/>
              <a:t>：文件系统的</a:t>
            </a:r>
            <a:r>
              <a:rPr lang="zh-CN" altLang="en-US" sz="2000" dirty="0">
                <a:solidFill>
                  <a:srgbClr val="FF0000"/>
                </a:solidFill>
              </a:rPr>
              <a:t>检查间隔时间</a:t>
            </a:r>
            <a:r>
              <a:rPr lang="zh-CN" altLang="en-US" sz="2000" dirty="0"/>
              <a:t>，系统在达到时间间隔时，自动检查文件系统</a:t>
            </a:r>
          </a:p>
          <a:p>
            <a:pPr lvl="1"/>
            <a:r>
              <a:rPr lang="en-US" altLang="zh-CN" sz="2000" dirty="0"/>
              <a:t>-j</a:t>
            </a:r>
            <a:r>
              <a:rPr lang="zh-CN" altLang="en-US" sz="2000" dirty="0"/>
              <a:t>：为 </a:t>
            </a:r>
            <a:r>
              <a:rPr lang="en-US" altLang="zh-CN" sz="2000" dirty="0"/>
              <a:t>ext2 </a:t>
            </a:r>
            <a:r>
              <a:rPr lang="zh-CN" altLang="en-US" sz="2000" dirty="0"/>
              <a:t>文件系统添加文件系统日志，转换为 </a:t>
            </a:r>
            <a:r>
              <a:rPr lang="en-US" altLang="zh-CN" sz="2000" dirty="0"/>
              <a:t>ext3 </a:t>
            </a:r>
            <a:r>
              <a:rPr lang="zh-CN" altLang="en-US" sz="2000" dirty="0"/>
              <a:t>文件系统</a:t>
            </a:r>
          </a:p>
          <a:p>
            <a:pPr lvl="1"/>
            <a:r>
              <a:rPr lang="en-US" altLang="zh-CN" sz="2000" dirty="0"/>
              <a:t>-m: </a:t>
            </a:r>
            <a:r>
              <a:rPr lang="zh-CN" altLang="en-US" sz="2000" dirty="0"/>
              <a:t>设置</a:t>
            </a:r>
            <a:r>
              <a:rPr lang="zh-CN" altLang="en-US" sz="2000" dirty="0">
                <a:solidFill>
                  <a:srgbClr val="FF0000"/>
                </a:solidFill>
              </a:rPr>
              <a:t>保留的空间百分比</a:t>
            </a:r>
            <a:r>
              <a:rPr lang="zh-CN" altLang="en-US" sz="2000" dirty="0"/>
              <a:t>，预设为 </a:t>
            </a:r>
            <a:r>
              <a:rPr lang="en-US" altLang="zh-CN" sz="2000" dirty="0"/>
              <a:t>5%</a:t>
            </a:r>
            <a:r>
              <a:rPr lang="zh-CN" altLang="en-US" sz="2000" dirty="0"/>
              <a:t> </a:t>
            </a:r>
          </a:p>
          <a:p>
            <a:pPr lvl="1"/>
            <a:r>
              <a:rPr lang="en-US" altLang="zh-CN" sz="2000" dirty="0"/>
              <a:t>-o: </a:t>
            </a:r>
            <a:r>
              <a:rPr lang="zh-CN" altLang="en-US" sz="2000" dirty="0"/>
              <a:t>设置默认加载参数 </a:t>
            </a:r>
          </a:p>
          <a:p>
            <a:pPr lvl="1"/>
            <a:r>
              <a:rPr lang="en-US" altLang="zh-CN" sz="2000" dirty="0"/>
              <a:t>-L: </a:t>
            </a:r>
            <a:r>
              <a:rPr lang="zh-CN" altLang="en-US" sz="2000" dirty="0"/>
              <a:t>为指定设备设置卷标，不大于 </a:t>
            </a:r>
            <a:r>
              <a:rPr lang="en-US" altLang="zh-CN" sz="2000" dirty="0"/>
              <a:t>16 </a:t>
            </a:r>
            <a:r>
              <a:rPr lang="zh-CN" altLang="en-US" sz="2000" dirty="0"/>
              <a:t>字符</a:t>
            </a:r>
          </a:p>
        </p:txBody>
      </p:sp>
    </p:spTree>
    <p:extLst>
      <p:ext uri="{BB962C8B-B14F-4D97-AF65-F5344CB8AC3E}">
        <p14:creationId xmlns:p14="http://schemas.microsoft.com/office/powerpoint/2010/main" val="20029764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tune2fs</a:t>
            </a:r>
            <a:r>
              <a:rPr lang="zh-CN" altLang="en-US" dirty="0"/>
              <a:t>命令举例</a:t>
            </a:r>
          </a:p>
        </p:txBody>
      </p:sp>
      <p:sp>
        <p:nvSpPr>
          <p:cNvPr id="3" name="内容占位符 2"/>
          <p:cNvSpPr>
            <a:spLocks noGrp="1"/>
          </p:cNvSpPr>
          <p:nvPr>
            <p:ph idx="1"/>
          </p:nvPr>
        </p:nvSpPr>
        <p:spPr>
          <a:xfrm>
            <a:off x="935596" y="1556792"/>
            <a:ext cx="7272808" cy="4934173"/>
          </a:xfrm>
        </p:spPr>
        <p:txBody>
          <a:bodyPr/>
          <a:lstStyle/>
          <a:p>
            <a:r>
              <a:rPr lang="zh-CN" altLang="en-US" sz="2400" dirty="0"/>
              <a:t>设置默认挂载参数</a:t>
            </a:r>
          </a:p>
          <a:p>
            <a:pPr lvl="1">
              <a:buNone/>
            </a:pPr>
            <a:r>
              <a:rPr lang="en-US" altLang="zh-CN" sz="2000" dirty="0">
                <a:solidFill>
                  <a:schemeClr val="accent6">
                    <a:lumMod val="75000"/>
                  </a:schemeClr>
                </a:solidFill>
              </a:rPr>
              <a:t># tune2fs -o </a:t>
            </a:r>
            <a:r>
              <a:rPr lang="en-US" altLang="zh-CN" sz="2000" dirty="0" err="1">
                <a:solidFill>
                  <a:schemeClr val="accent6">
                    <a:lumMod val="75000"/>
                  </a:schemeClr>
                </a:solidFill>
              </a:rPr>
              <a:t>acl</a:t>
            </a:r>
            <a:r>
              <a:rPr lang="en-US" altLang="zh-CN" sz="2000" dirty="0" smtClean="0">
                <a:solidFill>
                  <a:schemeClr val="accent6">
                    <a:lumMod val="75000"/>
                  </a:schemeClr>
                </a:solidFill>
              </a:rPr>
              <a:t>, </a:t>
            </a:r>
            <a:r>
              <a:rPr lang="en-US" altLang="zh-CN" sz="2000" dirty="0" err="1" smtClean="0">
                <a:solidFill>
                  <a:schemeClr val="accent6">
                    <a:lumMod val="75000"/>
                  </a:schemeClr>
                </a:solidFill>
              </a:rPr>
              <a:t>user_xattr</a:t>
            </a:r>
            <a:r>
              <a:rPr lang="en-US" altLang="zh-CN" sz="2000" dirty="0" smtClean="0">
                <a:solidFill>
                  <a:schemeClr val="accent6">
                    <a:lumMod val="75000"/>
                  </a:schemeClr>
                </a:solidFill>
              </a:rPr>
              <a:t> </a:t>
            </a:r>
            <a:r>
              <a:rPr lang="en-US" altLang="zh-CN" sz="2000" dirty="0">
                <a:solidFill>
                  <a:schemeClr val="accent6">
                    <a:lumMod val="75000"/>
                  </a:schemeClr>
                </a:solidFill>
              </a:rPr>
              <a:t>/dev/sda1</a:t>
            </a:r>
          </a:p>
          <a:p>
            <a:r>
              <a:rPr lang="zh-CN" altLang="en-US" sz="2200" dirty="0"/>
              <a:t>将</a:t>
            </a:r>
            <a:r>
              <a:rPr lang="en-US" altLang="zh-CN" sz="2200" dirty="0"/>
              <a:t>ext2</a:t>
            </a:r>
            <a:r>
              <a:rPr lang="zh-CN" altLang="en-US" sz="2200" dirty="0"/>
              <a:t>文件系统转换成</a:t>
            </a:r>
            <a:r>
              <a:rPr lang="en-US" altLang="zh-CN" sz="2200" dirty="0"/>
              <a:t>ext3</a:t>
            </a:r>
            <a:r>
              <a:rPr lang="zh-CN" altLang="en-US" sz="2200" dirty="0"/>
              <a:t>文件系统。</a:t>
            </a:r>
          </a:p>
          <a:p>
            <a:pPr lvl="1">
              <a:buNone/>
            </a:pPr>
            <a:r>
              <a:rPr lang="en-US" altLang="zh-CN" sz="2000" dirty="0">
                <a:solidFill>
                  <a:schemeClr val="accent6">
                    <a:lumMod val="75000"/>
                  </a:schemeClr>
                </a:solidFill>
              </a:rPr>
              <a:t>#  tune2fs -j /dev/sdb2</a:t>
            </a:r>
          </a:p>
          <a:p>
            <a:r>
              <a:rPr lang="zh-CN" altLang="en-US" sz="2200" dirty="0"/>
              <a:t>将每两次完整性检查之间的装载次数调整为</a:t>
            </a:r>
            <a:r>
              <a:rPr lang="en-US" altLang="zh-CN" sz="2200" dirty="0"/>
              <a:t>10</a:t>
            </a:r>
            <a:r>
              <a:rPr lang="zh-CN" altLang="en-US" sz="2200" dirty="0"/>
              <a:t>次。</a:t>
            </a:r>
          </a:p>
          <a:p>
            <a:pPr lvl="1">
              <a:buNone/>
            </a:pPr>
            <a:r>
              <a:rPr lang="en-US" altLang="zh-CN" sz="2000" dirty="0">
                <a:solidFill>
                  <a:schemeClr val="accent6">
                    <a:lumMod val="75000"/>
                  </a:schemeClr>
                </a:solidFill>
              </a:rPr>
              <a:t>#  tune2fs -c 10 /dev/sdb5</a:t>
            </a:r>
          </a:p>
          <a:p>
            <a:r>
              <a:rPr lang="zh-CN" altLang="en-US" sz="2200" dirty="0"/>
              <a:t>将每两次完整性检查的</a:t>
            </a:r>
            <a:r>
              <a:rPr lang="zh-CN" altLang="en-US" sz="2400" dirty="0"/>
              <a:t>时间间隔</a:t>
            </a:r>
            <a:r>
              <a:rPr lang="zh-CN" altLang="en-US" sz="2200" dirty="0"/>
              <a:t>调整为</a:t>
            </a:r>
            <a:r>
              <a:rPr lang="en-US" altLang="zh-CN" sz="2200" dirty="0"/>
              <a:t>2</a:t>
            </a:r>
            <a:r>
              <a:rPr lang="zh-CN" altLang="en-US" sz="2200" dirty="0"/>
              <a:t>个月。</a:t>
            </a:r>
          </a:p>
          <a:p>
            <a:pPr lvl="1">
              <a:buNone/>
            </a:pPr>
            <a:r>
              <a:rPr lang="en-US" altLang="zh-CN" sz="2000" dirty="0">
                <a:solidFill>
                  <a:schemeClr val="accent6">
                    <a:lumMod val="75000"/>
                  </a:schemeClr>
                </a:solidFill>
              </a:rPr>
              <a:t>#  tune2fs -</a:t>
            </a:r>
            <a:r>
              <a:rPr lang="en-US" altLang="zh-CN" sz="2000" dirty="0" err="1">
                <a:solidFill>
                  <a:schemeClr val="accent6">
                    <a:lumMod val="75000"/>
                  </a:schemeClr>
                </a:solidFill>
              </a:rPr>
              <a:t>i</a:t>
            </a:r>
            <a:r>
              <a:rPr lang="en-US" altLang="zh-CN" sz="2000" dirty="0">
                <a:solidFill>
                  <a:schemeClr val="accent6">
                    <a:lumMod val="75000"/>
                  </a:schemeClr>
                </a:solidFill>
              </a:rPr>
              <a:t> 2m /dev/sdb5</a:t>
            </a:r>
          </a:p>
          <a:p>
            <a:r>
              <a:rPr lang="zh-CN" altLang="en-US" sz="2200" dirty="0"/>
              <a:t>调整指定文件系统的</a:t>
            </a:r>
            <a:r>
              <a:rPr lang="zh-CN" altLang="en-US" sz="2400" dirty="0"/>
              <a:t>预留</a:t>
            </a:r>
            <a:r>
              <a:rPr lang="zh-CN" altLang="en-US" sz="2200" dirty="0"/>
              <a:t>块比例为</a:t>
            </a:r>
            <a:r>
              <a:rPr lang="en-US" altLang="zh-CN" sz="2200" dirty="0"/>
              <a:t>2%</a:t>
            </a:r>
            <a:r>
              <a:rPr lang="zh-CN" altLang="en-US" sz="2200" dirty="0"/>
              <a:t>。</a:t>
            </a:r>
          </a:p>
          <a:p>
            <a:pPr lvl="1">
              <a:buNone/>
            </a:pPr>
            <a:r>
              <a:rPr lang="en-US" altLang="zh-CN" sz="2000" dirty="0">
                <a:solidFill>
                  <a:schemeClr val="accent6">
                    <a:lumMod val="75000"/>
                  </a:schemeClr>
                </a:solidFill>
              </a:rPr>
              <a:t>#  tune2fs -m 2 /dev/sdb5</a:t>
            </a:r>
          </a:p>
          <a:p>
            <a:r>
              <a:rPr lang="zh-CN" altLang="en-US" sz="2200" dirty="0"/>
              <a:t>禁用强制</a:t>
            </a:r>
            <a:r>
              <a:rPr lang="zh-CN" altLang="en-US" sz="2400" dirty="0"/>
              <a:t>文件系统</a:t>
            </a:r>
            <a:r>
              <a:rPr lang="zh-CN" altLang="en-US" sz="2200" dirty="0"/>
              <a:t>检查</a:t>
            </a:r>
          </a:p>
          <a:p>
            <a:pPr lvl="1">
              <a:buNone/>
            </a:pPr>
            <a:r>
              <a:rPr lang="en-US" altLang="zh-CN" sz="2000" dirty="0">
                <a:solidFill>
                  <a:schemeClr val="accent6">
                    <a:lumMod val="75000"/>
                  </a:schemeClr>
                </a:solidFill>
              </a:rPr>
              <a:t>#  tune2fs -i0 -c0 /dev/sda1</a:t>
            </a:r>
            <a:endParaRPr lang="zh-CN" altLang="en-US" sz="2000" dirty="0">
              <a:solidFill>
                <a:schemeClr val="accent6">
                  <a:lumMod val="75000"/>
                </a:schemeClr>
              </a:solidFill>
            </a:endParaRPr>
          </a:p>
        </p:txBody>
      </p:sp>
    </p:spTree>
    <p:extLst>
      <p:ext uri="{BB962C8B-B14F-4D97-AF65-F5344CB8AC3E}">
        <p14:creationId xmlns:p14="http://schemas.microsoft.com/office/powerpoint/2010/main" val="5018006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可移动介质简介</a:t>
            </a:r>
          </a:p>
        </p:txBody>
      </p:sp>
      <p:sp>
        <p:nvSpPr>
          <p:cNvPr id="3" name="内容占位符 2"/>
          <p:cNvSpPr>
            <a:spLocks noGrp="1"/>
          </p:cNvSpPr>
          <p:nvPr>
            <p:ph idx="1"/>
          </p:nvPr>
        </p:nvSpPr>
        <p:spPr/>
        <p:txBody>
          <a:bodyPr/>
          <a:lstStyle/>
          <a:p>
            <a:r>
              <a:rPr lang="zh-CN" altLang="en-US" dirty="0"/>
              <a:t>挂载（</a:t>
            </a:r>
            <a:r>
              <a:rPr lang="en-US" altLang="zh-CN" dirty="0"/>
              <a:t>Mounting</a:t>
            </a:r>
            <a:r>
              <a:rPr lang="zh-CN" altLang="en-US" dirty="0"/>
              <a:t>）意味着使外来的文件系统看起来如同是主目录树的一部分</a:t>
            </a:r>
          </a:p>
          <a:p>
            <a:r>
              <a:rPr lang="zh-CN" altLang="en-US" dirty="0">
                <a:solidFill>
                  <a:srgbClr val="FF0000"/>
                </a:solidFill>
              </a:rPr>
              <a:t>访问</a:t>
            </a:r>
            <a:r>
              <a:rPr lang="zh-CN" altLang="en-US" dirty="0"/>
              <a:t>前，介质必须被</a:t>
            </a:r>
            <a:r>
              <a:rPr lang="zh-CN" altLang="en-US" dirty="0">
                <a:solidFill>
                  <a:srgbClr val="FF0000"/>
                </a:solidFill>
              </a:rPr>
              <a:t>挂载</a:t>
            </a:r>
            <a:r>
              <a:rPr lang="zh-CN" altLang="en-US" dirty="0"/>
              <a:t> </a:t>
            </a:r>
          </a:p>
          <a:p>
            <a:r>
              <a:rPr lang="zh-CN" altLang="en-US" dirty="0">
                <a:solidFill>
                  <a:srgbClr val="FF0000"/>
                </a:solidFill>
              </a:rPr>
              <a:t>摘除</a:t>
            </a:r>
            <a:r>
              <a:rPr lang="zh-CN" altLang="en-US" dirty="0"/>
              <a:t>时，介质必须被</a:t>
            </a:r>
            <a:r>
              <a:rPr lang="zh-CN" altLang="en-US" dirty="0">
                <a:solidFill>
                  <a:srgbClr val="FF0000"/>
                </a:solidFill>
              </a:rPr>
              <a:t>卸载</a:t>
            </a:r>
            <a:r>
              <a:rPr lang="zh-CN" altLang="en-US" dirty="0"/>
              <a:t> </a:t>
            </a:r>
          </a:p>
          <a:p>
            <a:r>
              <a:rPr lang="zh-CN" altLang="en-US" dirty="0"/>
              <a:t>按照默认设置，</a:t>
            </a:r>
            <a:r>
              <a:rPr lang="zh-CN" altLang="en-US" dirty="0" smtClean="0"/>
              <a:t>非</a:t>
            </a:r>
            <a:r>
              <a:rPr lang="en-US" altLang="zh-CN" dirty="0" smtClean="0"/>
              <a:t>root</a:t>
            </a:r>
            <a:r>
              <a:rPr lang="zh-CN" altLang="en-US" dirty="0" smtClean="0"/>
              <a:t>用户</a:t>
            </a:r>
            <a:r>
              <a:rPr lang="zh-CN" altLang="en-US" dirty="0"/>
              <a:t>只能挂载某些设备（光盘、</a:t>
            </a:r>
            <a:r>
              <a:rPr lang="en-US" altLang="zh-CN" dirty="0"/>
              <a:t>DVD</a:t>
            </a:r>
            <a:r>
              <a:rPr lang="zh-CN" altLang="en-US" dirty="0"/>
              <a:t>、软盘、</a:t>
            </a:r>
            <a:r>
              <a:rPr lang="en-US" altLang="zh-CN" dirty="0"/>
              <a:t>USB</a:t>
            </a:r>
            <a:r>
              <a:rPr lang="zh-CN" altLang="en-US" dirty="0"/>
              <a:t>等等） </a:t>
            </a:r>
          </a:p>
          <a:p>
            <a:r>
              <a:rPr lang="zh-CN" altLang="en-US" dirty="0"/>
              <a:t>挂载点通常在</a:t>
            </a:r>
            <a:r>
              <a:rPr lang="zh-CN" altLang="en-US" dirty="0">
                <a:solidFill>
                  <a:srgbClr val="FF0000"/>
                </a:solidFill>
              </a:rPr>
              <a:t> </a:t>
            </a:r>
            <a:r>
              <a:rPr lang="en-US" altLang="zh-CN" dirty="0">
                <a:solidFill>
                  <a:srgbClr val="FF0000"/>
                </a:solidFill>
              </a:rPr>
              <a:t>/media </a:t>
            </a:r>
            <a:r>
              <a:rPr lang="zh-CN" altLang="en-US" dirty="0"/>
              <a:t>下</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CD</a:t>
            </a:r>
            <a:r>
              <a:rPr lang="zh-CN" altLang="en-US" dirty="0"/>
              <a:t>和</a:t>
            </a:r>
            <a:r>
              <a:rPr lang="en-US" altLang="zh-CN" dirty="0"/>
              <a:t>DVD</a:t>
            </a:r>
            <a:endParaRPr lang="zh-CN" altLang="en-US" dirty="0"/>
          </a:p>
        </p:txBody>
      </p:sp>
      <p:sp>
        <p:nvSpPr>
          <p:cNvPr id="3" name="内容占位符 2"/>
          <p:cNvSpPr>
            <a:spLocks noGrp="1"/>
          </p:cNvSpPr>
          <p:nvPr>
            <p:ph idx="1"/>
          </p:nvPr>
        </p:nvSpPr>
        <p:spPr>
          <a:xfrm>
            <a:off x="251520" y="1412776"/>
            <a:ext cx="9577064" cy="4934173"/>
          </a:xfrm>
        </p:spPr>
        <p:txBody>
          <a:bodyPr/>
          <a:lstStyle/>
          <a:p>
            <a:r>
              <a:rPr lang="zh-CN" altLang="en-US" dirty="0"/>
              <a:t>在</a:t>
            </a:r>
            <a:r>
              <a:rPr lang="en-US" altLang="zh-CN" dirty="0"/>
              <a:t>Gnome/KDE</a:t>
            </a:r>
            <a:r>
              <a:rPr lang="zh-CN" altLang="en-US" dirty="0"/>
              <a:t>中自动挂载 </a:t>
            </a:r>
          </a:p>
          <a:p>
            <a:r>
              <a:rPr lang="zh-CN" altLang="en-US" dirty="0"/>
              <a:t>使用命令行手工挂载 </a:t>
            </a:r>
            <a:endParaRPr lang="en-US" altLang="zh-CN" dirty="0" smtClean="0"/>
          </a:p>
          <a:p>
            <a:pPr marL="0" lvl="1" indent="0">
              <a:buNone/>
            </a:pP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root@localhost</a:t>
            </a:r>
            <a:r>
              <a:rPr lang="en-US" altLang="zh-CN" sz="2200" b="0" dirty="0">
                <a:solidFill>
                  <a:srgbClr val="0000FF"/>
                </a:solidFill>
                <a:latin typeface="Times New Roman" panose="02020603050405020304" pitchFamily="18" charset="0"/>
                <a:cs typeface="Times New Roman" panose="02020603050405020304" pitchFamily="18" charset="0"/>
              </a:rPr>
              <a:t> ~]# </a:t>
            </a:r>
            <a:r>
              <a:rPr lang="en-US" altLang="zh-CN" sz="2200" b="0" dirty="0" err="1">
                <a:solidFill>
                  <a:srgbClr val="0000FF"/>
                </a:solidFill>
                <a:latin typeface="Times New Roman" panose="02020603050405020304" pitchFamily="18" charset="0"/>
                <a:cs typeface="Times New Roman" panose="02020603050405020304" pitchFamily="18" charset="0"/>
              </a:rPr>
              <a:t>blkid</a:t>
            </a:r>
            <a:endParaRPr lang="en-US" altLang="zh-CN" sz="2200" b="0" dirty="0">
              <a:solidFill>
                <a:srgbClr val="0000FF"/>
              </a:solidFill>
              <a:latin typeface="Times New Roman" panose="02020603050405020304" pitchFamily="18" charset="0"/>
              <a:cs typeface="Times New Roman" panose="02020603050405020304" pitchFamily="18" charset="0"/>
            </a:endParaRPr>
          </a:p>
          <a:p>
            <a:pPr marL="0" lvl="1" indent="0">
              <a:buNone/>
            </a:pPr>
            <a:r>
              <a:rPr lang="en-US" altLang="zh-CN" sz="2200" b="0" dirty="0">
                <a:latin typeface="Times New Roman" panose="02020603050405020304" pitchFamily="18" charset="0"/>
                <a:cs typeface="Times New Roman" panose="02020603050405020304" pitchFamily="18" charset="0"/>
              </a:rPr>
              <a:t>/dev/sda1: UUID="123b74f8-53bf-46a9-a257-153f6ef48417" TYPE="ext4" </a:t>
            </a:r>
          </a:p>
          <a:p>
            <a:pPr marL="0" lvl="1" indent="0">
              <a:buNone/>
            </a:pP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root@localhost</a:t>
            </a:r>
            <a:r>
              <a:rPr lang="en-US" altLang="zh-CN" sz="2200" b="0" dirty="0">
                <a:solidFill>
                  <a:srgbClr val="0000FF"/>
                </a:solidFill>
                <a:latin typeface="Times New Roman" panose="02020603050405020304" pitchFamily="18" charset="0"/>
                <a:cs typeface="Times New Roman" panose="02020603050405020304" pitchFamily="18" charset="0"/>
              </a:rPr>
              <a:t> ~]# </a:t>
            </a:r>
            <a:r>
              <a:rPr lang="en-US" altLang="zh-CN" sz="2200" b="0" dirty="0" err="1">
                <a:solidFill>
                  <a:srgbClr val="0000FF"/>
                </a:solidFill>
                <a:latin typeface="Times New Roman" panose="02020603050405020304" pitchFamily="18" charset="0"/>
                <a:cs typeface="Times New Roman" panose="02020603050405020304" pitchFamily="18" charset="0"/>
              </a:rPr>
              <a:t>mkdir</a:t>
            </a:r>
            <a:r>
              <a:rPr lang="en-US" altLang="zh-CN" sz="2200" b="0" dirty="0">
                <a:solidFill>
                  <a:srgbClr val="0000FF"/>
                </a:solidFill>
                <a:latin typeface="Times New Roman" panose="02020603050405020304" pitchFamily="18" charset="0"/>
                <a:cs typeface="Times New Roman" panose="02020603050405020304" pitchFamily="18" charset="0"/>
              </a:rPr>
              <a:t> /</a:t>
            </a:r>
            <a:r>
              <a:rPr lang="en-US" altLang="zh-CN" sz="2200" b="0" dirty="0" err="1">
                <a:solidFill>
                  <a:srgbClr val="0000FF"/>
                </a:solidFill>
                <a:latin typeface="Times New Roman" panose="02020603050405020304" pitchFamily="18" charset="0"/>
                <a:cs typeface="Times New Roman" panose="02020603050405020304" pitchFamily="18" charset="0"/>
              </a:rPr>
              <a:t>mnt</a:t>
            </a: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cdrom</a:t>
            </a:r>
            <a:endParaRPr lang="en-US" altLang="zh-CN" sz="2200" b="0" dirty="0">
              <a:solidFill>
                <a:srgbClr val="0000FF"/>
              </a:solidFill>
              <a:latin typeface="Times New Roman" panose="02020603050405020304" pitchFamily="18" charset="0"/>
              <a:cs typeface="Times New Roman" panose="02020603050405020304" pitchFamily="18" charset="0"/>
            </a:endParaRPr>
          </a:p>
          <a:p>
            <a:pPr marL="0" lvl="1" indent="0">
              <a:buNone/>
            </a:pP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root@localhost</a:t>
            </a:r>
            <a:r>
              <a:rPr lang="en-US" altLang="zh-CN" sz="2200" b="0" dirty="0">
                <a:solidFill>
                  <a:srgbClr val="0000FF"/>
                </a:solidFill>
                <a:latin typeface="Times New Roman" panose="02020603050405020304" pitchFamily="18" charset="0"/>
                <a:cs typeface="Times New Roman" panose="02020603050405020304" pitchFamily="18" charset="0"/>
              </a:rPr>
              <a:t> ~]# mount -U 'a28dfe71-98fb-4be8-92ba-1f0e1b337594' /</a:t>
            </a:r>
            <a:r>
              <a:rPr lang="en-US" altLang="zh-CN" sz="2200" b="0" dirty="0" err="1">
                <a:solidFill>
                  <a:srgbClr val="0000FF"/>
                </a:solidFill>
                <a:latin typeface="Times New Roman" panose="02020603050405020304" pitchFamily="18" charset="0"/>
                <a:cs typeface="Times New Roman" panose="02020603050405020304" pitchFamily="18" charset="0"/>
              </a:rPr>
              <a:t>mnt</a:t>
            </a:r>
            <a:r>
              <a:rPr lang="en-US" altLang="zh-CN" sz="2200" b="0" dirty="0">
                <a:solidFill>
                  <a:srgbClr val="0000FF"/>
                </a:solidFill>
                <a:latin typeface="Times New Roman" panose="02020603050405020304" pitchFamily="18" charset="0"/>
                <a:cs typeface="Times New Roman" panose="02020603050405020304" pitchFamily="18" charset="0"/>
              </a:rPr>
              <a:t>/</a:t>
            </a:r>
            <a:r>
              <a:rPr lang="en-US" altLang="zh-CN" sz="2200" b="0" dirty="0" err="1">
                <a:solidFill>
                  <a:srgbClr val="0000FF"/>
                </a:solidFill>
                <a:latin typeface="Times New Roman" panose="02020603050405020304" pitchFamily="18" charset="0"/>
                <a:cs typeface="Times New Roman" panose="02020603050405020304" pitchFamily="18" charset="0"/>
              </a:rPr>
              <a:t>cdrom</a:t>
            </a:r>
            <a:endParaRPr lang="en-US" altLang="zh-CN" sz="2200" b="0" dirty="0">
              <a:solidFill>
                <a:srgbClr val="0000FF"/>
              </a:solidFill>
              <a:latin typeface="Times New Roman" panose="02020603050405020304" pitchFamily="18" charset="0"/>
              <a:cs typeface="Times New Roman" panose="02020603050405020304" pitchFamily="18" charset="0"/>
            </a:endParaRPr>
          </a:p>
          <a:p>
            <a:r>
              <a:rPr lang="zh-CN" altLang="en-US" dirty="0" smtClean="0"/>
              <a:t>卸载</a:t>
            </a:r>
            <a:endParaRPr lang="zh-CN" altLang="en-US" dirty="0"/>
          </a:p>
          <a:p>
            <a:pPr lvl="1"/>
            <a:r>
              <a:rPr lang="en-US" altLang="zh-CN" dirty="0" err="1" smtClean="0">
                <a:solidFill>
                  <a:schemeClr val="accent6">
                    <a:lumMod val="75000"/>
                  </a:schemeClr>
                </a:solidFill>
              </a:rPr>
              <a:t>umount</a:t>
            </a:r>
            <a:r>
              <a:rPr lang="en-US" altLang="zh-CN" dirty="0">
                <a:solidFill>
                  <a:schemeClr val="accent6">
                    <a:lumMod val="75000"/>
                  </a:schemeClr>
                </a:solidFill>
              </a:rPr>
              <a:t> /</a:t>
            </a:r>
            <a:r>
              <a:rPr lang="en-US" altLang="zh-CN" dirty="0" err="1">
                <a:solidFill>
                  <a:schemeClr val="accent6">
                    <a:lumMod val="75000"/>
                  </a:schemeClr>
                </a:solidFill>
              </a:rPr>
              <a:t>mnt</a:t>
            </a:r>
            <a:r>
              <a:rPr lang="en-US" altLang="zh-CN" dirty="0">
                <a:solidFill>
                  <a:schemeClr val="accent6">
                    <a:lumMod val="75000"/>
                  </a:schemeClr>
                </a:solidFill>
              </a:rPr>
              <a:t>/</a:t>
            </a:r>
            <a:r>
              <a:rPr lang="en-US" altLang="zh-CN" dirty="0" err="1">
                <a:solidFill>
                  <a:schemeClr val="accent6">
                    <a:lumMod val="75000"/>
                  </a:schemeClr>
                </a:solidFill>
              </a:rPr>
              <a:t>cdrom</a:t>
            </a:r>
            <a:endParaRPr lang="en-US" altLang="zh-CN" dirty="0">
              <a:solidFill>
                <a:schemeClr val="accent6">
                  <a:lumMod val="75000"/>
                </a:schemeClr>
              </a:solidFill>
            </a:endParaRPr>
          </a:p>
          <a:p>
            <a:pPr lvl="1"/>
            <a:r>
              <a:rPr lang="en-US" altLang="zh-CN" dirty="0" smtClean="0">
                <a:solidFill>
                  <a:schemeClr val="accent6">
                    <a:lumMod val="75000"/>
                  </a:schemeClr>
                </a:solidFill>
              </a:rPr>
              <a:t>eject</a:t>
            </a:r>
            <a:r>
              <a:rPr lang="zh-CN" altLang="en-US" dirty="0" smtClean="0"/>
              <a:t> </a:t>
            </a:r>
            <a:r>
              <a:rPr lang="en-US" altLang="zh-CN" dirty="0"/>
              <a:t>—— </a:t>
            </a:r>
            <a:r>
              <a:rPr lang="zh-CN" altLang="en-US" dirty="0"/>
              <a:t>卸载并弹出光盘</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USB</a:t>
            </a:r>
            <a:r>
              <a:rPr lang="zh-CN" altLang="en-US" dirty="0"/>
              <a:t>存储设备</a:t>
            </a:r>
          </a:p>
        </p:txBody>
      </p:sp>
      <p:sp>
        <p:nvSpPr>
          <p:cNvPr id="3" name="内容占位符 2"/>
          <p:cNvSpPr>
            <a:spLocks noGrp="1"/>
          </p:cNvSpPr>
          <p:nvPr>
            <p:ph idx="1"/>
          </p:nvPr>
        </p:nvSpPr>
        <p:spPr>
          <a:xfrm>
            <a:off x="323528" y="1484784"/>
            <a:ext cx="8623622" cy="5256584"/>
          </a:xfrm>
        </p:spPr>
        <p:txBody>
          <a:bodyPr/>
          <a:lstStyle/>
          <a:p>
            <a:r>
              <a:rPr lang="zh-CN" altLang="en-US" dirty="0"/>
              <a:t>被内核探测为</a:t>
            </a:r>
            <a:r>
              <a:rPr lang="en-US" altLang="zh-CN" dirty="0"/>
              <a:t>SCSI</a:t>
            </a:r>
            <a:r>
              <a:rPr lang="zh-CN" altLang="en-US" dirty="0"/>
              <a:t>设备 </a:t>
            </a:r>
          </a:p>
          <a:p>
            <a:pPr lvl="1"/>
            <a:r>
              <a:rPr lang="en-US" altLang="zh-CN" dirty="0"/>
              <a:t>/dev/</a:t>
            </a:r>
            <a:r>
              <a:rPr lang="en-US" altLang="zh-CN" dirty="0" err="1"/>
              <a:t>sdaX</a:t>
            </a:r>
            <a:r>
              <a:rPr lang="zh-CN" altLang="en-US" dirty="0"/>
              <a:t>、</a:t>
            </a:r>
            <a:r>
              <a:rPr lang="en-US" altLang="zh-CN" dirty="0"/>
              <a:t>/dev/</a:t>
            </a:r>
            <a:r>
              <a:rPr lang="en-US" altLang="zh-CN" dirty="0" err="1"/>
              <a:t>sdbX</a:t>
            </a:r>
            <a:r>
              <a:rPr lang="zh-CN" altLang="en-US" dirty="0"/>
              <a:t>、或类似的设备文件 </a:t>
            </a:r>
          </a:p>
          <a:p>
            <a:r>
              <a:rPr lang="zh-CN" altLang="en-US" dirty="0"/>
              <a:t>在</a:t>
            </a:r>
            <a:r>
              <a:rPr lang="en-US" altLang="zh-CN" dirty="0"/>
              <a:t>Gnome/KDE</a:t>
            </a:r>
            <a:r>
              <a:rPr lang="zh-CN" altLang="en-US" dirty="0"/>
              <a:t>中</a:t>
            </a:r>
            <a:r>
              <a:rPr lang="zh-CN" altLang="en-US" dirty="0">
                <a:solidFill>
                  <a:srgbClr val="FF0000"/>
                </a:solidFill>
              </a:rPr>
              <a:t>自动挂载 </a:t>
            </a:r>
          </a:p>
          <a:p>
            <a:pPr lvl="1"/>
            <a:r>
              <a:rPr lang="zh-CN" altLang="en-US" dirty="0"/>
              <a:t>在</a:t>
            </a:r>
            <a:r>
              <a:rPr lang="en-US" altLang="zh-CN" dirty="0"/>
              <a:t>[</a:t>
            </a:r>
            <a:r>
              <a:rPr lang="zh-CN" altLang="en-US" dirty="0"/>
              <a:t>计算机</a:t>
            </a:r>
            <a:r>
              <a:rPr lang="en-US" altLang="zh-CN" dirty="0"/>
              <a:t>]</a:t>
            </a:r>
            <a:r>
              <a:rPr lang="zh-CN" altLang="en-US" dirty="0"/>
              <a:t>窗口中创建图标</a:t>
            </a:r>
          </a:p>
          <a:p>
            <a:pPr lvl="1"/>
            <a:r>
              <a:rPr lang="zh-CN" altLang="en-US" dirty="0"/>
              <a:t>挂载在</a:t>
            </a:r>
            <a:r>
              <a:rPr lang="en-US" altLang="zh-CN" dirty="0"/>
              <a:t>/media/&lt;</a:t>
            </a:r>
            <a:r>
              <a:rPr lang="zh-CN" altLang="en-US" dirty="0"/>
              <a:t>设备</a:t>
            </a:r>
            <a:r>
              <a:rPr lang="en-US" altLang="zh-CN" dirty="0"/>
              <a:t>ID&gt;</a:t>
            </a:r>
            <a:r>
              <a:rPr lang="zh-CN" altLang="en-US" dirty="0"/>
              <a:t>下 </a:t>
            </a:r>
          </a:p>
          <a:p>
            <a:pPr lvl="2"/>
            <a:r>
              <a:rPr lang="en-US" altLang="zh-CN" dirty="0"/>
              <a:t>&lt;</a:t>
            </a:r>
            <a:r>
              <a:rPr lang="zh-CN" altLang="en-US" dirty="0"/>
              <a:t>设备</a:t>
            </a:r>
            <a:r>
              <a:rPr lang="en-US" altLang="zh-CN" dirty="0"/>
              <a:t>ID&gt;</a:t>
            </a:r>
            <a:r>
              <a:rPr lang="zh-CN" altLang="en-US" dirty="0"/>
              <a:t>被厂商内建在设备中</a:t>
            </a:r>
          </a:p>
          <a:p>
            <a:r>
              <a:rPr lang="zh-CN" altLang="en-US" dirty="0"/>
              <a:t>命令行下</a:t>
            </a:r>
            <a:r>
              <a:rPr lang="zh-CN" altLang="en-US" dirty="0">
                <a:solidFill>
                  <a:srgbClr val="FF0000"/>
                </a:solidFill>
              </a:rPr>
              <a:t>手动挂载</a:t>
            </a:r>
            <a:r>
              <a:rPr lang="en-US" altLang="zh-CN" dirty="0">
                <a:solidFill>
                  <a:srgbClr val="FF0000"/>
                </a:solidFill>
              </a:rPr>
              <a:t>/</a:t>
            </a:r>
            <a:r>
              <a:rPr lang="zh-CN" altLang="en-US" dirty="0">
                <a:solidFill>
                  <a:srgbClr val="FF0000"/>
                </a:solidFill>
              </a:rPr>
              <a:t>卸载</a:t>
            </a:r>
          </a:p>
          <a:p>
            <a:pPr lvl="1"/>
            <a:r>
              <a:rPr lang="en-US" altLang="zh-CN" dirty="0">
                <a:solidFill>
                  <a:schemeClr val="accent6">
                    <a:lumMod val="75000"/>
                  </a:schemeClr>
                </a:solidFill>
              </a:rPr>
              <a:t>mount -t </a:t>
            </a:r>
            <a:r>
              <a:rPr lang="en-US" altLang="zh-CN" dirty="0" err="1">
                <a:solidFill>
                  <a:schemeClr val="accent6">
                    <a:lumMod val="75000"/>
                  </a:schemeClr>
                </a:solidFill>
              </a:rPr>
              <a:t>vfat</a:t>
            </a:r>
            <a:r>
              <a:rPr lang="en-US" altLang="zh-CN" dirty="0">
                <a:solidFill>
                  <a:schemeClr val="accent6">
                    <a:lumMod val="75000"/>
                  </a:schemeClr>
                </a:solidFill>
              </a:rPr>
              <a:t> /dev/sda1 /</a:t>
            </a:r>
            <a:r>
              <a:rPr lang="en-US" altLang="zh-CN" dirty="0" err="1">
                <a:solidFill>
                  <a:schemeClr val="accent6">
                    <a:lumMod val="75000"/>
                  </a:schemeClr>
                </a:solidFill>
              </a:rPr>
              <a:t>mnt</a:t>
            </a:r>
            <a:r>
              <a:rPr lang="en-US" altLang="zh-CN" dirty="0">
                <a:solidFill>
                  <a:schemeClr val="accent6">
                    <a:lumMod val="75000"/>
                  </a:schemeClr>
                </a:solidFill>
              </a:rPr>
              <a:t>/usb1 </a:t>
            </a:r>
          </a:p>
          <a:p>
            <a:pPr lvl="1"/>
            <a:r>
              <a:rPr lang="en-US" altLang="zh-CN" dirty="0" err="1">
                <a:solidFill>
                  <a:schemeClr val="accent6">
                    <a:lumMod val="75000"/>
                  </a:schemeClr>
                </a:solidFill>
              </a:rPr>
              <a:t>umount</a:t>
            </a:r>
            <a:r>
              <a:rPr lang="en-US" altLang="zh-CN" dirty="0">
                <a:solidFill>
                  <a:schemeClr val="accent6">
                    <a:lumMod val="75000"/>
                  </a:schemeClr>
                </a:solidFill>
              </a:rPr>
              <a:t> /</a:t>
            </a:r>
            <a:r>
              <a:rPr lang="en-US" altLang="zh-CN" dirty="0" err="1">
                <a:solidFill>
                  <a:schemeClr val="accent6">
                    <a:lumMod val="75000"/>
                  </a:schemeClr>
                </a:solidFill>
              </a:rPr>
              <a:t>mnt</a:t>
            </a:r>
            <a:r>
              <a:rPr lang="en-US" altLang="zh-CN" dirty="0">
                <a:solidFill>
                  <a:schemeClr val="accent6">
                    <a:lumMod val="75000"/>
                  </a:schemeClr>
                </a:solidFill>
              </a:rPr>
              <a:t>/usb1 </a:t>
            </a:r>
            <a:endParaRPr lang="zh-CN" altLang="en-US" dirty="0">
              <a:solidFill>
                <a:schemeClr val="accent6">
                  <a:lumMod val="75000"/>
                </a:schemeClr>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软盘</a:t>
            </a:r>
          </a:p>
        </p:txBody>
      </p:sp>
      <p:sp>
        <p:nvSpPr>
          <p:cNvPr id="3" name="内容占位符 2"/>
          <p:cNvSpPr>
            <a:spLocks noGrp="1"/>
          </p:cNvSpPr>
          <p:nvPr>
            <p:ph idx="1"/>
          </p:nvPr>
        </p:nvSpPr>
        <p:spPr>
          <a:xfrm>
            <a:off x="611560" y="1628800"/>
            <a:ext cx="8312938" cy="4114800"/>
          </a:xfrm>
        </p:spPr>
        <p:txBody>
          <a:bodyPr/>
          <a:lstStyle/>
          <a:p>
            <a:r>
              <a:rPr lang="zh-CN" altLang="en-US" dirty="0"/>
              <a:t>必须被手工挂载和卸载 </a:t>
            </a:r>
          </a:p>
          <a:p>
            <a:pPr lvl="1"/>
            <a:r>
              <a:rPr lang="en-US" altLang="zh-CN" dirty="0">
                <a:solidFill>
                  <a:schemeClr val="accent6">
                    <a:lumMod val="75000"/>
                  </a:schemeClr>
                </a:solidFill>
              </a:rPr>
              <a:t>mount /media/floppy</a:t>
            </a:r>
          </a:p>
          <a:p>
            <a:pPr lvl="1"/>
            <a:r>
              <a:rPr lang="en-US" altLang="zh-CN" dirty="0" err="1">
                <a:solidFill>
                  <a:schemeClr val="accent6">
                    <a:lumMod val="75000"/>
                  </a:schemeClr>
                </a:solidFill>
              </a:rPr>
              <a:t>umount</a:t>
            </a:r>
            <a:r>
              <a:rPr lang="en-US" altLang="zh-CN" dirty="0">
                <a:solidFill>
                  <a:schemeClr val="accent6">
                    <a:lumMod val="75000"/>
                  </a:schemeClr>
                </a:solidFill>
              </a:rPr>
              <a:t> /media/floppy</a:t>
            </a:r>
          </a:p>
          <a:p>
            <a:r>
              <a:rPr lang="en-US" altLang="zh-CN" dirty="0"/>
              <a:t>DOS</a:t>
            </a:r>
            <a:r>
              <a:rPr lang="zh-CN" altLang="en-US" dirty="0"/>
              <a:t>软盘可以使用</a:t>
            </a:r>
            <a:r>
              <a:rPr lang="en-US" altLang="zh-CN" dirty="0" err="1"/>
              <a:t>mtools</a:t>
            </a:r>
            <a:r>
              <a:rPr lang="zh-CN" altLang="en-US" dirty="0"/>
              <a:t>工具</a:t>
            </a:r>
          </a:p>
          <a:p>
            <a:pPr lvl="1"/>
            <a:r>
              <a:rPr lang="zh-CN" altLang="en-US" dirty="0"/>
              <a:t>透明地挂载和卸载设备 </a:t>
            </a:r>
          </a:p>
          <a:p>
            <a:pPr lvl="1"/>
            <a:r>
              <a:rPr lang="zh-CN" altLang="en-US" dirty="0"/>
              <a:t>使用</a:t>
            </a:r>
            <a:r>
              <a:rPr lang="en-US" altLang="zh-CN" dirty="0"/>
              <a:t>DOS</a:t>
            </a:r>
            <a:r>
              <a:rPr lang="zh-CN" altLang="en-US" dirty="0"/>
              <a:t>命名规则 </a:t>
            </a:r>
          </a:p>
          <a:p>
            <a:pPr lvl="2">
              <a:buNone/>
            </a:pPr>
            <a:r>
              <a:rPr lang="en-US" altLang="zh-CN" dirty="0" err="1">
                <a:solidFill>
                  <a:schemeClr val="accent6">
                    <a:lumMod val="75000"/>
                  </a:schemeClr>
                </a:solidFill>
              </a:rPr>
              <a:t>mdir</a:t>
            </a:r>
            <a:r>
              <a:rPr lang="en-US" altLang="zh-CN" dirty="0">
                <a:solidFill>
                  <a:schemeClr val="accent6">
                    <a:lumMod val="75000"/>
                  </a:schemeClr>
                </a:solidFill>
              </a:rPr>
              <a:t> a:</a:t>
            </a:r>
          </a:p>
          <a:p>
            <a:pPr lvl="2">
              <a:buNone/>
            </a:pPr>
            <a:r>
              <a:rPr lang="en-US" altLang="zh-CN" dirty="0" err="1">
                <a:solidFill>
                  <a:schemeClr val="accent6">
                    <a:lumMod val="75000"/>
                  </a:schemeClr>
                </a:solidFill>
              </a:rPr>
              <a:t>mcopy</a:t>
            </a:r>
            <a:r>
              <a:rPr lang="en-US" altLang="zh-CN" dirty="0">
                <a:solidFill>
                  <a:schemeClr val="accent6">
                    <a:lumMod val="75000"/>
                  </a:schemeClr>
                </a:solidFill>
              </a:rPr>
              <a:t>  /home/file.txt  a:</a:t>
            </a:r>
            <a:endParaRPr lang="zh-CN" altLang="en-US" dirty="0">
              <a:solidFill>
                <a:schemeClr val="accent6">
                  <a:lumMod val="75000"/>
                </a:schemeClr>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直接挂装使用映像文件</a:t>
            </a:r>
          </a:p>
        </p:txBody>
      </p:sp>
      <p:sp>
        <p:nvSpPr>
          <p:cNvPr id="3" name="内容占位符 2"/>
          <p:cNvSpPr>
            <a:spLocks noGrp="1"/>
          </p:cNvSpPr>
          <p:nvPr>
            <p:ph idx="1"/>
          </p:nvPr>
        </p:nvSpPr>
        <p:spPr>
          <a:xfrm>
            <a:off x="179512" y="1556792"/>
            <a:ext cx="7992888" cy="3052936"/>
          </a:xfrm>
        </p:spPr>
        <p:txBody>
          <a:bodyPr/>
          <a:lstStyle/>
          <a:p>
            <a:r>
              <a:rPr lang="zh-CN" altLang="en-US" dirty="0">
                <a:solidFill>
                  <a:srgbClr val="FF0000"/>
                </a:solidFill>
              </a:rPr>
              <a:t>用</a:t>
            </a:r>
            <a:r>
              <a:rPr lang="en-US" altLang="zh-CN" dirty="0">
                <a:solidFill>
                  <a:srgbClr val="FF0000"/>
                </a:solidFill>
              </a:rPr>
              <a:t>mount</a:t>
            </a:r>
            <a:r>
              <a:rPr lang="zh-CN" altLang="en-US" dirty="0">
                <a:solidFill>
                  <a:srgbClr val="FF0000"/>
                </a:solidFill>
              </a:rPr>
              <a:t>命令加</a:t>
            </a:r>
            <a:r>
              <a:rPr lang="en-US" altLang="zh-CN" dirty="0">
                <a:solidFill>
                  <a:srgbClr val="FF0000"/>
                </a:solidFill>
              </a:rPr>
              <a:t>-o loop</a:t>
            </a:r>
            <a:r>
              <a:rPr lang="zh-CN" altLang="en-US" dirty="0">
                <a:solidFill>
                  <a:srgbClr val="FF0000"/>
                </a:solidFill>
              </a:rPr>
              <a:t>选项挂装光盘镜像文件</a:t>
            </a:r>
          </a:p>
          <a:p>
            <a:pPr lvl="1">
              <a:buNone/>
            </a:pPr>
            <a:r>
              <a:rPr lang="en-US" altLang="zh-CN" dirty="0">
                <a:solidFill>
                  <a:schemeClr val="accent6">
                    <a:lumMod val="75000"/>
                  </a:schemeClr>
                </a:solidFill>
              </a:rPr>
              <a:t># mount -o loop &lt;ISO</a:t>
            </a:r>
            <a:r>
              <a:rPr lang="zh-CN" altLang="en-US" dirty="0">
                <a:solidFill>
                  <a:schemeClr val="accent6">
                    <a:lumMod val="75000"/>
                  </a:schemeClr>
                </a:solidFill>
              </a:rPr>
              <a:t>文件名</a:t>
            </a:r>
            <a:r>
              <a:rPr lang="en-US" altLang="zh-CN" dirty="0">
                <a:solidFill>
                  <a:schemeClr val="accent6">
                    <a:lumMod val="75000"/>
                  </a:schemeClr>
                </a:solidFill>
              </a:rPr>
              <a:t>&gt; &lt;</a:t>
            </a:r>
            <a:r>
              <a:rPr lang="zh-CN" altLang="en-US" dirty="0">
                <a:solidFill>
                  <a:schemeClr val="accent6">
                    <a:lumMod val="75000"/>
                  </a:schemeClr>
                </a:solidFill>
              </a:rPr>
              <a:t>挂装点</a:t>
            </a:r>
            <a:r>
              <a:rPr lang="en-US" altLang="zh-CN" dirty="0">
                <a:solidFill>
                  <a:schemeClr val="accent6">
                    <a:lumMod val="75000"/>
                  </a:schemeClr>
                </a:solidFill>
              </a:rPr>
              <a:t>&gt;</a:t>
            </a:r>
          </a:p>
          <a:p>
            <a:r>
              <a:rPr lang="zh-CN" altLang="en-US" dirty="0"/>
              <a:t>例如：</a:t>
            </a:r>
            <a:endParaRPr lang="en-US" altLang="zh-CN" dirty="0"/>
          </a:p>
          <a:p>
            <a:pPr lvl="1">
              <a:buNone/>
            </a:pPr>
            <a:r>
              <a:rPr lang="en-US" altLang="zh-CN" sz="2400" dirty="0">
                <a:solidFill>
                  <a:schemeClr val="accent6">
                    <a:lumMod val="75000"/>
                  </a:schemeClr>
                </a:solidFill>
              </a:rPr>
              <a:t># mount -o loop CentOS-6.5-x86_64-bin-DVD1.iso /</a:t>
            </a:r>
            <a:r>
              <a:rPr lang="en-US" altLang="zh-CN" sz="2400" dirty="0" err="1">
                <a:solidFill>
                  <a:schemeClr val="accent6">
                    <a:lumMod val="75000"/>
                  </a:schemeClr>
                </a:solidFill>
              </a:rPr>
              <a:t>mnt</a:t>
            </a:r>
            <a:r>
              <a:rPr lang="en-US" altLang="zh-CN" sz="2400" dirty="0">
                <a:solidFill>
                  <a:schemeClr val="accent6">
                    <a:lumMod val="75000"/>
                  </a:schemeClr>
                </a:solidFill>
              </a:rPr>
              <a:t>/</a:t>
            </a:r>
            <a:r>
              <a:rPr lang="en-US" altLang="zh-CN" sz="2400" dirty="0" err="1">
                <a:solidFill>
                  <a:schemeClr val="accent6">
                    <a:lumMod val="75000"/>
                  </a:schemeClr>
                </a:solidFill>
              </a:rPr>
              <a:t>iso</a:t>
            </a:r>
            <a:r>
              <a:rPr lang="en-US" altLang="zh-CN" sz="2400" dirty="0">
                <a:solidFill>
                  <a:schemeClr val="accent6">
                    <a:lumMod val="75000"/>
                  </a:schemeClr>
                </a:solidFill>
              </a:rPr>
              <a:t> </a:t>
            </a:r>
          </a:p>
          <a:p>
            <a:r>
              <a:rPr lang="zh-CN" altLang="en-US" dirty="0"/>
              <a:t>卸装</a:t>
            </a:r>
            <a:r>
              <a:rPr lang="en-US" altLang="zh-CN" dirty="0"/>
              <a:t>ISO</a:t>
            </a:r>
            <a:r>
              <a:rPr lang="zh-CN" altLang="en-US" dirty="0"/>
              <a:t>文件</a:t>
            </a:r>
          </a:p>
          <a:p>
            <a:pPr lvl="1">
              <a:buNone/>
            </a:pPr>
            <a:r>
              <a:rPr lang="en-US" altLang="zh-CN" dirty="0">
                <a:solidFill>
                  <a:schemeClr val="accent6">
                    <a:lumMod val="75000"/>
                  </a:schemeClr>
                </a:solidFill>
              </a:rPr>
              <a:t># </a:t>
            </a:r>
            <a:r>
              <a:rPr lang="en-US" altLang="zh-CN" dirty="0" err="1">
                <a:solidFill>
                  <a:schemeClr val="accent6">
                    <a:lumMod val="75000"/>
                  </a:schemeClr>
                </a:solidFill>
              </a:rPr>
              <a:t>umount</a:t>
            </a:r>
            <a:r>
              <a:rPr lang="en-US" altLang="zh-CN" dirty="0">
                <a:solidFill>
                  <a:schemeClr val="accent6">
                    <a:lumMod val="75000"/>
                  </a:schemeClr>
                </a:solidFill>
              </a:rPr>
              <a:t> /</a:t>
            </a:r>
            <a:r>
              <a:rPr lang="en-US" altLang="zh-CN" dirty="0" err="1">
                <a:solidFill>
                  <a:schemeClr val="accent6">
                    <a:lumMod val="75000"/>
                  </a:schemeClr>
                </a:solidFill>
              </a:rPr>
              <a:t>mnt</a:t>
            </a:r>
            <a:r>
              <a:rPr lang="en-US" altLang="zh-CN" dirty="0">
                <a:solidFill>
                  <a:schemeClr val="accent6">
                    <a:lumMod val="75000"/>
                  </a:schemeClr>
                </a:solidFill>
              </a:rPr>
              <a:t>/</a:t>
            </a:r>
            <a:r>
              <a:rPr lang="en-US" altLang="zh-CN" dirty="0" err="1">
                <a:solidFill>
                  <a:schemeClr val="accent6">
                    <a:lumMod val="75000"/>
                  </a:schemeClr>
                </a:solidFill>
              </a:rPr>
              <a:t>iso</a:t>
            </a:r>
            <a:endParaRPr lang="zh-CN" altLang="en-US" dirty="0">
              <a:solidFill>
                <a:schemeClr val="accent6">
                  <a:lumMod val="75000"/>
                </a:schemeClr>
              </a:solidFill>
            </a:endParaRPr>
          </a:p>
        </p:txBody>
      </p:sp>
      <p:sp>
        <p:nvSpPr>
          <p:cNvPr id="7" name="TextBox 6"/>
          <p:cNvSpPr txBox="1"/>
          <p:nvPr/>
        </p:nvSpPr>
        <p:spPr>
          <a:xfrm>
            <a:off x="683568" y="6021288"/>
            <a:ext cx="720080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2400" dirty="0"/>
              <a:t>类似地，可以用同样的方法挂装使用 </a:t>
            </a:r>
            <a:r>
              <a:rPr lang="en-US" altLang="zh-CN" sz="2400" dirty="0"/>
              <a:t>IMG </a:t>
            </a:r>
            <a:r>
              <a:rPr lang="zh-CN" altLang="en-US" sz="2400" dirty="0"/>
              <a:t>映像文件。</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系统启动时自动挂装文件系统</a:t>
            </a:r>
          </a:p>
        </p:txBody>
      </p:sp>
      <p:sp>
        <p:nvSpPr>
          <p:cNvPr id="3" name="内容占位符 2"/>
          <p:cNvSpPr>
            <a:spLocks noGrp="1"/>
          </p:cNvSpPr>
          <p:nvPr>
            <p:ph idx="1"/>
          </p:nvPr>
        </p:nvSpPr>
        <p:spPr>
          <a:xfrm>
            <a:off x="717550" y="1340768"/>
            <a:ext cx="8229600" cy="5400600"/>
          </a:xfrm>
        </p:spPr>
        <p:txBody>
          <a:bodyPr/>
          <a:lstStyle/>
          <a:p>
            <a:pPr>
              <a:lnSpc>
                <a:spcPct val="93000"/>
              </a:lnSpc>
            </a:pPr>
            <a:r>
              <a:rPr lang="zh-CN" altLang="en-GB" dirty="0">
                <a:solidFill>
                  <a:srgbClr val="FF0000"/>
                </a:solidFill>
              </a:rPr>
              <a:t>/</a:t>
            </a:r>
            <a:r>
              <a:rPr lang="en-GB" altLang="zh-CN" dirty="0">
                <a:solidFill>
                  <a:srgbClr val="FF0000"/>
                </a:solidFill>
              </a:rPr>
              <a:t>etc/</a:t>
            </a:r>
            <a:r>
              <a:rPr lang="en-GB" altLang="zh-CN" dirty="0" err="1">
                <a:solidFill>
                  <a:srgbClr val="FF0000"/>
                </a:solidFill>
              </a:rPr>
              <a:t>fstab</a:t>
            </a:r>
            <a:endParaRPr lang="zh-CN" altLang="en-GB" dirty="0">
              <a:solidFill>
                <a:srgbClr val="FF0000"/>
              </a:solidFill>
            </a:endParaRPr>
          </a:p>
          <a:p>
            <a:pPr lvl="1">
              <a:lnSpc>
                <a:spcPct val="110000"/>
              </a:lnSpc>
            </a:pPr>
            <a:r>
              <a:rPr lang="en-US" altLang="zh-CN" dirty="0" err="1">
                <a:solidFill>
                  <a:srgbClr val="FF0000"/>
                </a:solidFill>
              </a:rPr>
              <a:t>fstab</a:t>
            </a:r>
            <a:r>
              <a:rPr lang="en-US" altLang="zh-CN" dirty="0">
                <a:solidFill>
                  <a:srgbClr val="FF0000"/>
                </a:solidFill>
              </a:rPr>
              <a:t> </a:t>
            </a:r>
            <a:r>
              <a:rPr lang="en-US" altLang="zh-CN" dirty="0"/>
              <a:t>(file system table) </a:t>
            </a:r>
            <a:r>
              <a:rPr lang="zh-CN" altLang="en-US" dirty="0"/>
              <a:t>是一个纯文本文件，开机后，系统会自动搜索该文件中的内容，对列于该文件中的文件系统进行</a:t>
            </a:r>
            <a:r>
              <a:rPr lang="zh-CN" altLang="en-US" dirty="0">
                <a:solidFill>
                  <a:srgbClr val="FF0000"/>
                </a:solidFill>
              </a:rPr>
              <a:t>自动挂载</a:t>
            </a:r>
          </a:p>
          <a:p>
            <a:pPr lvl="1">
              <a:lnSpc>
                <a:spcPct val="110000"/>
              </a:lnSpc>
            </a:pPr>
            <a:r>
              <a:rPr lang="zh-CN" altLang="en-US" dirty="0"/>
              <a:t>系统重启时保留文件系统体系结构</a:t>
            </a:r>
          </a:p>
          <a:p>
            <a:pPr lvl="1">
              <a:lnSpc>
                <a:spcPct val="110000"/>
              </a:lnSpc>
            </a:pPr>
            <a:r>
              <a:rPr lang="zh-CN" altLang="en-US" dirty="0"/>
              <a:t>配置文件系统体系结构</a:t>
            </a:r>
          </a:p>
          <a:p>
            <a:pPr lvl="1">
              <a:lnSpc>
                <a:spcPct val="110000"/>
              </a:lnSpc>
            </a:pPr>
            <a:r>
              <a:rPr lang="zh-CN" altLang="en-US" dirty="0"/>
              <a:t>被 </a:t>
            </a:r>
            <a:r>
              <a:rPr lang="en-US" altLang="zh-CN" dirty="0">
                <a:solidFill>
                  <a:srgbClr val="FF0000"/>
                </a:solidFill>
              </a:rPr>
              <a:t>mount</a:t>
            </a:r>
            <a:r>
              <a:rPr lang="zh-CN" altLang="en-US" dirty="0"/>
              <a:t>、</a:t>
            </a:r>
            <a:r>
              <a:rPr lang="en-US" altLang="zh-CN" dirty="0">
                <a:solidFill>
                  <a:srgbClr val="FF0000"/>
                </a:solidFill>
              </a:rPr>
              <a:t>fsck </a:t>
            </a:r>
            <a:r>
              <a:rPr lang="zh-CN" altLang="en-US" dirty="0"/>
              <a:t>和</a:t>
            </a:r>
            <a:r>
              <a:rPr lang="zh-CN" altLang="en-US" dirty="0">
                <a:solidFill>
                  <a:srgbClr val="FF0000"/>
                </a:solidFill>
              </a:rPr>
              <a:t>其它程序</a:t>
            </a:r>
            <a:r>
              <a:rPr lang="zh-CN" altLang="en-US" dirty="0"/>
              <a:t>使用</a:t>
            </a:r>
            <a:endParaRPr lang="en-US" altLang="zh-CN" dirty="0"/>
          </a:p>
          <a:p>
            <a:pPr lvl="1">
              <a:lnSpc>
                <a:spcPct val="110000"/>
              </a:lnSpc>
            </a:pPr>
            <a:r>
              <a:rPr lang="zh-CN" altLang="en-US" dirty="0"/>
              <a:t>使用 </a:t>
            </a:r>
            <a:r>
              <a:rPr lang="en-US" altLang="zh-CN" dirty="0">
                <a:solidFill>
                  <a:srgbClr val="FF0000"/>
                </a:solidFill>
              </a:rPr>
              <a:t>mount -a </a:t>
            </a:r>
            <a:r>
              <a:rPr lang="zh-CN" altLang="en-US" dirty="0"/>
              <a:t>命令挂载 </a:t>
            </a:r>
            <a:r>
              <a:rPr lang="en-US" altLang="zh-CN" dirty="0">
                <a:solidFill>
                  <a:srgbClr val="FF0000"/>
                </a:solidFill>
              </a:rPr>
              <a:t>/etc/</a:t>
            </a:r>
            <a:r>
              <a:rPr lang="en-US" altLang="zh-CN" dirty="0" err="1">
                <a:solidFill>
                  <a:srgbClr val="FF0000"/>
                </a:solidFill>
              </a:rPr>
              <a:t>fstab</a:t>
            </a:r>
            <a:r>
              <a:rPr lang="en-US" altLang="zh-CN" dirty="0">
                <a:solidFill>
                  <a:srgbClr val="FF0000"/>
                </a:solidFill>
              </a:rPr>
              <a:t> </a:t>
            </a:r>
            <a:r>
              <a:rPr lang="zh-CN" altLang="en-US" dirty="0"/>
              <a:t>中的所有文件系统</a:t>
            </a:r>
          </a:p>
          <a:p>
            <a:pPr lvl="1">
              <a:lnSpc>
                <a:spcPct val="110000"/>
              </a:lnSpc>
            </a:pPr>
            <a:r>
              <a:rPr lang="zh-CN" altLang="en-US" dirty="0"/>
              <a:t>可以在</a:t>
            </a:r>
            <a:r>
              <a:rPr lang="zh-CN" altLang="en-US" dirty="0">
                <a:solidFill>
                  <a:srgbClr val="FF0000"/>
                </a:solidFill>
              </a:rPr>
              <a:t>设备栏</a:t>
            </a:r>
            <a:r>
              <a:rPr lang="zh-CN" altLang="en-US" dirty="0"/>
              <a:t>使用文件</a:t>
            </a:r>
            <a:r>
              <a:rPr lang="zh-CN" altLang="en-US" dirty="0">
                <a:solidFill>
                  <a:srgbClr val="FF0000"/>
                </a:solidFill>
              </a:rPr>
              <a:t>系统卷标</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/etc/</a:t>
            </a:r>
            <a:r>
              <a:rPr lang="en-US" altLang="zh-CN" dirty="0" err="1"/>
              <a:t>fstab</a:t>
            </a:r>
            <a:r>
              <a:rPr lang="zh-CN" altLang="en-US" dirty="0"/>
              <a:t>文件的格式</a:t>
            </a:r>
          </a:p>
        </p:txBody>
      </p:sp>
      <p:sp>
        <p:nvSpPr>
          <p:cNvPr id="3" name="内容占位符 2"/>
          <p:cNvSpPr>
            <a:spLocks noGrp="1"/>
          </p:cNvSpPr>
          <p:nvPr>
            <p:ph idx="1"/>
          </p:nvPr>
        </p:nvSpPr>
        <p:spPr>
          <a:xfrm>
            <a:off x="727894" y="1442552"/>
            <a:ext cx="8219256" cy="1944216"/>
          </a:xfrm>
        </p:spPr>
        <p:txBody>
          <a:bodyPr/>
          <a:lstStyle/>
          <a:p>
            <a:pPr algn="just">
              <a:lnSpc>
                <a:spcPct val="90000"/>
              </a:lnSpc>
            </a:pPr>
            <a:r>
              <a:rPr lang="zh-CN" altLang="en-GB" dirty="0"/>
              <a:t>/</a:t>
            </a:r>
            <a:r>
              <a:rPr lang="en-GB" altLang="zh-CN" dirty="0"/>
              <a:t>etc/</a:t>
            </a:r>
            <a:r>
              <a:rPr lang="en-GB" altLang="zh-CN" dirty="0" err="1"/>
              <a:t>fstab</a:t>
            </a:r>
            <a:r>
              <a:rPr lang="zh-CN" altLang="en-US" dirty="0">
                <a:latin typeface="Times New Roman" pitchFamily="18" charset="0"/>
              </a:rPr>
              <a:t>包含的信息</a:t>
            </a:r>
            <a:endParaRPr lang="en-US" altLang="zh-CN" dirty="0">
              <a:latin typeface="Times New Roman" pitchFamily="18" charset="0"/>
            </a:endParaRPr>
          </a:p>
          <a:p>
            <a:pPr lvl="1" algn="just">
              <a:lnSpc>
                <a:spcPct val="90000"/>
              </a:lnSpc>
            </a:pPr>
            <a:r>
              <a:rPr lang="zh-CN" altLang="en-US" dirty="0">
                <a:solidFill>
                  <a:srgbClr val="FF0000"/>
                </a:solidFill>
              </a:rPr>
              <a:t>每一行</a:t>
            </a:r>
            <a:r>
              <a:rPr lang="zh-CN" altLang="en-US" dirty="0"/>
              <a:t>说明</a:t>
            </a:r>
            <a:r>
              <a:rPr lang="zh-CN" altLang="en-US" dirty="0">
                <a:solidFill>
                  <a:srgbClr val="FF0000"/>
                </a:solidFill>
              </a:rPr>
              <a:t>一个文件系统</a:t>
            </a:r>
            <a:r>
              <a:rPr lang="zh-CN" altLang="en-US" dirty="0"/>
              <a:t>的挂载信息</a:t>
            </a:r>
            <a:endParaRPr lang="en-US" altLang="zh-CN" dirty="0"/>
          </a:p>
          <a:p>
            <a:pPr lvl="1" algn="just">
              <a:lnSpc>
                <a:spcPct val="90000"/>
              </a:lnSpc>
            </a:pPr>
            <a:r>
              <a:rPr lang="zh-CN" altLang="en-US" dirty="0"/>
              <a:t>每一行由 </a:t>
            </a:r>
            <a:r>
              <a:rPr lang="en-US" altLang="zh-CN" dirty="0">
                <a:solidFill>
                  <a:srgbClr val="FF0000"/>
                </a:solidFill>
              </a:rPr>
              <a:t>6 </a:t>
            </a:r>
            <a:r>
              <a:rPr lang="zh-CN" altLang="en-US" dirty="0"/>
              <a:t>列信息组成，列与列之间用 </a:t>
            </a:r>
            <a:r>
              <a:rPr lang="en-US" altLang="zh-CN" dirty="0">
                <a:solidFill>
                  <a:srgbClr val="FF0000"/>
                </a:solidFill>
              </a:rPr>
              <a:t>TAB</a:t>
            </a:r>
            <a:r>
              <a:rPr lang="en-US" altLang="zh-CN" dirty="0"/>
              <a:t> </a:t>
            </a:r>
            <a:r>
              <a:rPr lang="zh-CN" altLang="en-US" dirty="0"/>
              <a:t>键隔开，一般格式如下：</a:t>
            </a:r>
          </a:p>
          <a:p>
            <a:pPr lvl="1">
              <a:buNone/>
            </a:pPr>
            <a:endParaRPr lang="zh-CN" altLang="en-US" sz="2400" dirty="0"/>
          </a:p>
        </p:txBody>
      </p:sp>
      <p:sp>
        <p:nvSpPr>
          <p:cNvPr id="7" name="Rectangle 11"/>
          <p:cNvSpPr>
            <a:spLocks noChangeArrowheads="1"/>
          </p:cNvSpPr>
          <p:nvPr/>
        </p:nvSpPr>
        <p:spPr bwMode="auto">
          <a:xfrm>
            <a:off x="810246" y="3789040"/>
            <a:ext cx="7848600" cy="533400"/>
          </a:xfrm>
          <a:prstGeom prst="rect">
            <a:avLst/>
          </a:prstGeom>
          <a:noFill/>
          <a:ln w="9525">
            <a:noFill/>
            <a:miter lim="800000"/>
            <a:headEnd/>
            <a:tailEnd/>
          </a:ln>
          <a:effectLst/>
        </p:spPr>
        <p:txBody>
          <a:bodyPr/>
          <a:lstStyle/>
          <a:p>
            <a:pPr>
              <a:spcBef>
                <a:spcPct val="20000"/>
              </a:spcBef>
              <a:buClr>
                <a:schemeClr val="hlink"/>
              </a:buClr>
              <a:buFont typeface="Wingdings" pitchFamily="2" charset="2"/>
              <a:buNone/>
            </a:pPr>
            <a:r>
              <a:rPr lang="zh-CN" altLang="en-US" sz="2400" b="1" dirty="0">
                <a:solidFill>
                  <a:srgbClr val="006600"/>
                </a:solidFill>
                <a:latin typeface="Courier New" pitchFamily="49" charset="0"/>
                <a:ea typeface="黑体" pitchFamily="49" charset="-122"/>
              </a:rPr>
              <a:t>/</a:t>
            </a:r>
            <a:r>
              <a:rPr lang="en-US" altLang="zh-CN" sz="2400" b="1" dirty="0">
                <a:solidFill>
                  <a:srgbClr val="006600"/>
                </a:solidFill>
                <a:latin typeface="Courier New" pitchFamily="49" charset="0"/>
                <a:ea typeface="黑体" pitchFamily="49" charset="-122"/>
              </a:rPr>
              <a:t>dev/sda10   </a:t>
            </a:r>
            <a:r>
              <a:rPr lang="en-US" altLang="zh-CN" sz="2400" b="1" dirty="0">
                <a:solidFill>
                  <a:schemeClr val="tx1"/>
                </a:solidFill>
                <a:latin typeface="Courier New" pitchFamily="49" charset="0"/>
                <a:ea typeface="黑体" pitchFamily="49" charset="-122"/>
              </a:rPr>
              <a:t>/opt</a:t>
            </a:r>
            <a:r>
              <a:rPr lang="en-US" altLang="zh-CN" sz="2400" b="1" dirty="0">
                <a:solidFill>
                  <a:srgbClr val="006600"/>
                </a:solidFill>
                <a:latin typeface="Courier New" pitchFamily="49" charset="0"/>
                <a:ea typeface="黑体" pitchFamily="49" charset="-122"/>
              </a:rPr>
              <a:t>	ext4  </a:t>
            </a:r>
            <a:r>
              <a:rPr lang="en-US" altLang="zh-CN" sz="2400" b="1" dirty="0">
                <a:solidFill>
                  <a:schemeClr val="tx1"/>
                </a:solidFill>
                <a:latin typeface="Courier New" pitchFamily="49" charset="0"/>
                <a:ea typeface="黑体" pitchFamily="49" charset="-122"/>
              </a:rPr>
              <a:t>defaults</a:t>
            </a:r>
            <a:r>
              <a:rPr lang="en-US" altLang="zh-CN" sz="2400" b="1" dirty="0">
                <a:solidFill>
                  <a:srgbClr val="006600"/>
                </a:solidFill>
                <a:latin typeface="Courier New" pitchFamily="49" charset="0"/>
                <a:ea typeface="黑体" pitchFamily="49" charset="-122"/>
              </a:rPr>
              <a:t>	 0  </a:t>
            </a:r>
            <a:r>
              <a:rPr lang="en-US" altLang="zh-CN" sz="2400" b="1" dirty="0">
                <a:solidFill>
                  <a:schemeClr val="tx1"/>
                </a:solidFill>
                <a:latin typeface="Courier New" pitchFamily="49" charset="0"/>
                <a:ea typeface="黑体" pitchFamily="49" charset="-122"/>
              </a:rPr>
              <a:t>0</a:t>
            </a:r>
          </a:p>
        </p:txBody>
      </p:sp>
      <p:grpSp>
        <p:nvGrpSpPr>
          <p:cNvPr id="8" name="Group 30"/>
          <p:cNvGrpSpPr>
            <a:grpSpLocks/>
          </p:cNvGrpSpPr>
          <p:nvPr/>
        </p:nvGrpSpPr>
        <p:grpSpPr bwMode="auto">
          <a:xfrm>
            <a:off x="761034" y="4220838"/>
            <a:ext cx="1993900" cy="1849436"/>
            <a:chOff x="490" y="3203"/>
            <a:chExt cx="1256" cy="1165"/>
          </a:xfrm>
        </p:grpSpPr>
        <p:sp>
          <p:nvSpPr>
            <p:cNvPr id="9" name="Line 12"/>
            <p:cNvSpPr>
              <a:spLocks noChangeShapeType="1"/>
            </p:cNvSpPr>
            <p:nvPr/>
          </p:nvSpPr>
          <p:spPr bwMode="auto">
            <a:xfrm flipH="1">
              <a:off x="839" y="3249"/>
              <a:ext cx="91" cy="333"/>
            </a:xfrm>
            <a:prstGeom prst="line">
              <a:avLst/>
            </a:prstGeom>
            <a:noFill/>
            <a:ln w="28575">
              <a:solidFill>
                <a:schemeClr val="hlink"/>
              </a:solidFill>
              <a:miter lim="800000"/>
              <a:headEnd/>
              <a:tailEnd type="triangle" w="med" len="med"/>
            </a:ln>
            <a:effectLst/>
          </p:spPr>
          <p:txBody>
            <a:bodyPr wrap="none"/>
            <a:lstStyle/>
            <a:p>
              <a:endParaRPr lang="zh-CN" altLang="en-US"/>
            </a:p>
          </p:txBody>
        </p:sp>
        <p:sp>
          <p:nvSpPr>
            <p:cNvPr id="10" name="Text Box 13"/>
            <p:cNvSpPr txBox="1">
              <a:spLocks noChangeArrowheads="1"/>
            </p:cNvSpPr>
            <p:nvPr/>
          </p:nvSpPr>
          <p:spPr bwMode="auto">
            <a:xfrm>
              <a:off x="490" y="3612"/>
              <a:ext cx="768" cy="756"/>
            </a:xfrm>
            <a:prstGeom prst="rect">
              <a:avLst/>
            </a:prstGeom>
            <a:noFill/>
            <a:ln w="9525">
              <a:solidFill>
                <a:schemeClr val="tx1"/>
              </a:solidFill>
              <a:miter lim="800000"/>
              <a:headEnd/>
              <a:tailEnd/>
            </a:ln>
            <a:effectLst/>
          </p:spPr>
          <p:txBody>
            <a:bodyPr wrap="square">
              <a:spAutoFit/>
            </a:bodyPr>
            <a:lstStyle/>
            <a:p>
              <a:pPr>
                <a:spcBef>
                  <a:spcPct val="50000"/>
                </a:spcBef>
              </a:pPr>
              <a:r>
                <a:rPr lang="zh-CN" altLang="en-US" sz="2400" b="0" dirty="0">
                  <a:solidFill>
                    <a:srgbClr val="0000CC"/>
                  </a:solidFill>
                  <a:ea typeface="黑体" pitchFamily="49" charset="-122"/>
                </a:rPr>
                <a:t>设备名</a:t>
              </a:r>
              <a:r>
                <a:rPr lang="en-US" altLang="zh-CN" sz="2400" b="0" dirty="0">
                  <a:solidFill>
                    <a:srgbClr val="0000CC"/>
                  </a:solidFill>
                  <a:ea typeface="黑体" pitchFamily="49" charset="-122"/>
                </a:rPr>
                <a:t>/UUID/LABEL</a:t>
              </a:r>
              <a:endParaRPr lang="zh-CN" altLang="en-US" sz="2400" b="0" dirty="0">
                <a:solidFill>
                  <a:srgbClr val="0000CC"/>
                </a:solidFill>
                <a:ea typeface="黑体" pitchFamily="49" charset="-122"/>
              </a:endParaRPr>
            </a:p>
          </p:txBody>
        </p:sp>
        <p:sp>
          <p:nvSpPr>
            <p:cNvPr id="11" name="Line 24"/>
            <p:cNvSpPr>
              <a:spLocks noChangeShapeType="1"/>
            </p:cNvSpPr>
            <p:nvPr/>
          </p:nvSpPr>
          <p:spPr bwMode="auto">
            <a:xfrm>
              <a:off x="567" y="3203"/>
              <a:ext cx="1179"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12" name="Group 31"/>
          <p:cNvGrpSpPr>
            <a:grpSpLocks/>
          </p:cNvGrpSpPr>
          <p:nvPr/>
        </p:nvGrpSpPr>
        <p:grpSpPr bwMode="auto">
          <a:xfrm>
            <a:off x="2258046" y="4220840"/>
            <a:ext cx="1865312" cy="1101725"/>
            <a:chOff x="1433" y="3203"/>
            <a:chExt cx="1175" cy="694"/>
          </a:xfrm>
        </p:grpSpPr>
        <p:sp>
          <p:nvSpPr>
            <p:cNvPr id="13" name="Line 14"/>
            <p:cNvSpPr>
              <a:spLocks noChangeShapeType="1"/>
            </p:cNvSpPr>
            <p:nvPr/>
          </p:nvSpPr>
          <p:spPr bwMode="auto">
            <a:xfrm flipH="1">
              <a:off x="1701" y="3249"/>
              <a:ext cx="499" cy="333"/>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14" name="Text Box 15"/>
            <p:cNvSpPr txBox="1">
              <a:spLocks noChangeArrowheads="1"/>
            </p:cNvSpPr>
            <p:nvPr/>
          </p:nvSpPr>
          <p:spPr bwMode="auto">
            <a:xfrm>
              <a:off x="1433" y="3603"/>
              <a:ext cx="768" cy="294"/>
            </a:xfrm>
            <a:prstGeom prst="rect">
              <a:avLst/>
            </a:prstGeom>
            <a:noFill/>
            <a:ln w="9525">
              <a:solidFill>
                <a:schemeClr val="tx1"/>
              </a:solidFill>
              <a:miter lim="800000"/>
              <a:headEnd/>
              <a:tailEnd/>
            </a:ln>
            <a:effectLst/>
          </p:spPr>
          <p:txBody>
            <a:bodyPr>
              <a:spAutoFit/>
            </a:bodyPr>
            <a:lstStyle/>
            <a:p>
              <a:pPr>
                <a:spcBef>
                  <a:spcPct val="50000"/>
                </a:spcBef>
              </a:pPr>
              <a:r>
                <a:rPr lang="zh-CN" altLang="en-US" sz="2400" b="0" dirty="0">
                  <a:solidFill>
                    <a:srgbClr val="0000CC"/>
                  </a:solidFill>
                  <a:ea typeface="黑体" pitchFamily="49" charset="-122"/>
                </a:rPr>
                <a:t>挂载点</a:t>
              </a:r>
            </a:p>
          </p:txBody>
        </p:sp>
        <p:sp>
          <p:nvSpPr>
            <p:cNvPr id="15" name="Line 25"/>
            <p:cNvSpPr>
              <a:spLocks noChangeShapeType="1"/>
            </p:cNvSpPr>
            <p:nvPr/>
          </p:nvSpPr>
          <p:spPr bwMode="auto">
            <a:xfrm>
              <a:off x="2018" y="3203"/>
              <a:ext cx="590"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16" name="Group 32"/>
          <p:cNvGrpSpPr>
            <a:grpSpLocks/>
          </p:cNvGrpSpPr>
          <p:nvPr/>
        </p:nvGrpSpPr>
        <p:grpSpPr bwMode="auto">
          <a:xfrm>
            <a:off x="3834433" y="4220840"/>
            <a:ext cx="1441450" cy="1408112"/>
            <a:chOff x="2426" y="3203"/>
            <a:chExt cx="908" cy="887"/>
          </a:xfrm>
        </p:grpSpPr>
        <p:sp>
          <p:nvSpPr>
            <p:cNvPr id="17" name="Line 16"/>
            <p:cNvSpPr>
              <a:spLocks noChangeShapeType="1"/>
            </p:cNvSpPr>
            <p:nvPr/>
          </p:nvSpPr>
          <p:spPr bwMode="auto">
            <a:xfrm flipH="1">
              <a:off x="2744" y="3249"/>
              <a:ext cx="272" cy="317"/>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18" name="Text Box 17"/>
            <p:cNvSpPr txBox="1">
              <a:spLocks noChangeArrowheads="1"/>
            </p:cNvSpPr>
            <p:nvPr/>
          </p:nvSpPr>
          <p:spPr bwMode="auto">
            <a:xfrm>
              <a:off x="2426" y="3566"/>
              <a:ext cx="726" cy="524"/>
            </a:xfrm>
            <a:prstGeom prst="rect">
              <a:avLst/>
            </a:prstGeom>
            <a:noFill/>
            <a:ln w="9525">
              <a:solidFill>
                <a:schemeClr val="tx1"/>
              </a:solidFill>
              <a:miter lim="800000"/>
              <a:headEnd/>
              <a:tailEnd/>
            </a:ln>
            <a:effectLst/>
          </p:spPr>
          <p:txBody>
            <a:bodyPr wrap="square">
              <a:spAutoFit/>
            </a:bodyPr>
            <a:lstStyle/>
            <a:p>
              <a:pPr>
                <a:spcBef>
                  <a:spcPct val="50000"/>
                </a:spcBef>
              </a:pPr>
              <a:r>
                <a:rPr lang="zh-CN" altLang="en-US" sz="2400" b="0" dirty="0">
                  <a:solidFill>
                    <a:srgbClr val="0000CC"/>
                  </a:solidFill>
                  <a:ea typeface="黑体" pitchFamily="49" charset="-122"/>
                </a:rPr>
                <a:t>文件系统类型</a:t>
              </a:r>
            </a:p>
          </p:txBody>
        </p:sp>
        <p:sp>
          <p:nvSpPr>
            <p:cNvPr id="19" name="Line 26"/>
            <p:cNvSpPr>
              <a:spLocks noChangeShapeType="1"/>
            </p:cNvSpPr>
            <p:nvPr/>
          </p:nvSpPr>
          <p:spPr bwMode="auto">
            <a:xfrm>
              <a:off x="2835" y="3203"/>
              <a:ext cx="499"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20" name="Group 33"/>
          <p:cNvGrpSpPr>
            <a:grpSpLocks/>
          </p:cNvGrpSpPr>
          <p:nvPr/>
        </p:nvGrpSpPr>
        <p:grpSpPr bwMode="auto">
          <a:xfrm>
            <a:off x="5347321" y="4220840"/>
            <a:ext cx="1728787" cy="1704975"/>
            <a:chOff x="3379" y="3203"/>
            <a:chExt cx="1089" cy="1074"/>
          </a:xfrm>
        </p:grpSpPr>
        <p:sp>
          <p:nvSpPr>
            <p:cNvPr id="21" name="Line 18"/>
            <p:cNvSpPr>
              <a:spLocks noChangeShapeType="1"/>
            </p:cNvSpPr>
            <p:nvPr/>
          </p:nvSpPr>
          <p:spPr bwMode="auto">
            <a:xfrm flipH="1">
              <a:off x="3696" y="3249"/>
              <a:ext cx="91" cy="272"/>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22" name="Text Box 19"/>
            <p:cNvSpPr txBox="1">
              <a:spLocks noChangeArrowheads="1"/>
            </p:cNvSpPr>
            <p:nvPr/>
          </p:nvSpPr>
          <p:spPr bwMode="auto">
            <a:xfrm>
              <a:off x="3379" y="3521"/>
              <a:ext cx="589" cy="756"/>
            </a:xfrm>
            <a:prstGeom prst="rect">
              <a:avLst/>
            </a:prstGeom>
            <a:noFill/>
            <a:ln w="9525">
              <a:solidFill>
                <a:schemeClr val="tx1"/>
              </a:solidFill>
              <a:miter lim="800000"/>
              <a:headEnd/>
              <a:tailEnd/>
            </a:ln>
            <a:effectLst/>
          </p:spPr>
          <p:txBody>
            <a:bodyPr wrap="square">
              <a:spAutoFit/>
            </a:bodyPr>
            <a:lstStyle/>
            <a:p>
              <a:pPr>
                <a:spcBef>
                  <a:spcPct val="50000"/>
                </a:spcBef>
              </a:pPr>
              <a:r>
                <a:rPr lang="zh-CN" altLang="en-US" sz="2400" b="0" dirty="0">
                  <a:solidFill>
                    <a:srgbClr val="0000CC"/>
                  </a:solidFill>
                  <a:ea typeface="黑体" pitchFamily="49" charset="-122"/>
                </a:rPr>
                <a:t>挂装选项列表</a:t>
              </a:r>
            </a:p>
          </p:txBody>
        </p:sp>
        <p:sp>
          <p:nvSpPr>
            <p:cNvPr id="23" name="Line 27"/>
            <p:cNvSpPr>
              <a:spLocks noChangeShapeType="1"/>
            </p:cNvSpPr>
            <p:nvPr/>
          </p:nvSpPr>
          <p:spPr bwMode="auto">
            <a:xfrm>
              <a:off x="3560" y="3203"/>
              <a:ext cx="908"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24" name="Group 34"/>
          <p:cNvGrpSpPr>
            <a:grpSpLocks/>
          </p:cNvGrpSpPr>
          <p:nvPr/>
        </p:nvGrpSpPr>
        <p:grpSpPr bwMode="auto">
          <a:xfrm>
            <a:off x="6499846" y="4220839"/>
            <a:ext cx="1223962" cy="2146299"/>
            <a:chOff x="4105" y="3203"/>
            <a:chExt cx="771" cy="1352"/>
          </a:xfrm>
        </p:grpSpPr>
        <p:sp>
          <p:nvSpPr>
            <p:cNvPr id="25" name="Line 20"/>
            <p:cNvSpPr>
              <a:spLocks noChangeShapeType="1"/>
            </p:cNvSpPr>
            <p:nvPr/>
          </p:nvSpPr>
          <p:spPr bwMode="auto">
            <a:xfrm flipH="1">
              <a:off x="4558" y="3249"/>
              <a:ext cx="182" cy="272"/>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26" name="Text Box 21"/>
            <p:cNvSpPr txBox="1">
              <a:spLocks noChangeArrowheads="1"/>
            </p:cNvSpPr>
            <p:nvPr/>
          </p:nvSpPr>
          <p:spPr bwMode="auto">
            <a:xfrm>
              <a:off x="4105" y="3566"/>
              <a:ext cx="771" cy="989"/>
            </a:xfrm>
            <a:prstGeom prst="rect">
              <a:avLst/>
            </a:prstGeom>
            <a:noFill/>
            <a:ln w="9525">
              <a:solidFill>
                <a:schemeClr val="tx1"/>
              </a:solidFill>
              <a:miter lim="800000"/>
              <a:headEnd/>
              <a:tailEnd/>
            </a:ln>
            <a:effectLst/>
          </p:spPr>
          <p:txBody>
            <a:bodyPr>
              <a:spAutoFit/>
            </a:bodyPr>
            <a:lstStyle/>
            <a:p>
              <a:pPr>
                <a:spcBef>
                  <a:spcPct val="50000"/>
                </a:spcBef>
              </a:pPr>
              <a:r>
                <a:rPr lang="en-US" altLang="zh-CN" sz="2400" b="0" dirty="0">
                  <a:solidFill>
                    <a:srgbClr val="0000CC"/>
                  </a:solidFill>
                  <a:ea typeface="黑体" pitchFamily="49" charset="-122"/>
                </a:rPr>
                <a:t>Dump</a:t>
              </a:r>
              <a:r>
                <a:rPr lang="zh-CN" altLang="en-US" sz="2400" b="0" dirty="0">
                  <a:solidFill>
                    <a:srgbClr val="0000CC"/>
                  </a:solidFill>
                  <a:ea typeface="黑体" pitchFamily="49" charset="-122"/>
                </a:rPr>
                <a:t>备份</a:t>
              </a:r>
              <a:r>
                <a:rPr lang="zh-CN" altLang="en-US" sz="2400" dirty="0">
                  <a:solidFill>
                    <a:srgbClr val="0000CC"/>
                  </a:solidFill>
                  <a:ea typeface="黑体" pitchFamily="49" charset="-122"/>
                </a:rPr>
                <a:t>时是否记录</a:t>
              </a:r>
              <a:endParaRPr lang="en-US" altLang="zh-CN" sz="2400" dirty="0">
                <a:solidFill>
                  <a:srgbClr val="0000CC"/>
                </a:solidFill>
                <a:ea typeface="黑体" pitchFamily="49" charset="-122"/>
              </a:endParaRPr>
            </a:p>
          </p:txBody>
        </p:sp>
        <p:sp>
          <p:nvSpPr>
            <p:cNvPr id="27" name="Line 28"/>
            <p:cNvSpPr>
              <a:spLocks noChangeShapeType="1"/>
            </p:cNvSpPr>
            <p:nvPr/>
          </p:nvSpPr>
          <p:spPr bwMode="auto">
            <a:xfrm>
              <a:off x="4672" y="3203"/>
              <a:ext cx="204" cy="0"/>
            </a:xfrm>
            <a:prstGeom prst="line">
              <a:avLst/>
            </a:prstGeom>
            <a:noFill/>
            <a:ln w="28575">
              <a:solidFill>
                <a:schemeClr val="tx1"/>
              </a:solidFill>
              <a:miter lim="800000"/>
              <a:headEnd/>
              <a:tailEnd/>
            </a:ln>
            <a:effectLst/>
          </p:spPr>
          <p:txBody>
            <a:bodyPr wrap="none"/>
            <a:lstStyle/>
            <a:p>
              <a:endParaRPr lang="zh-CN" altLang="en-US"/>
            </a:p>
          </p:txBody>
        </p:sp>
      </p:grpSp>
      <p:grpSp>
        <p:nvGrpSpPr>
          <p:cNvPr id="28" name="Group 35"/>
          <p:cNvGrpSpPr>
            <a:grpSpLocks/>
          </p:cNvGrpSpPr>
          <p:nvPr/>
        </p:nvGrpSpPr>
        <p:grpSpPr bwMode="auto">
          <a:xfrm>
            <a:off x="7868279" y="4220840"/>
            <a:ext cx="935038" cy="1776412"/>
            <a:chOff x="4967" y="3203"/>
            <a:chExt cx="589" cy="1119"/>
          </a:xfrm>
        </p:grpSpPr>
        <p:sp>
          <p:nvSpPr>
            <p:cNvPr id="29" name="Line 22"/>
            <p:cNvSpPr>
              <a:spLocks noChangeShapeType="1"/>
            </p:cNvSpPr>
            <p:nvPr/>
          </p:nvSpPr>
          <p:spPr bwMode="auto">
            <a:xfrm>
              <a:off x="5129" y="3219"/>
              <a:ext cx="19" cy="347"/>
            </a:xfrm>
            <a:prstGeom prst="line">
              <a:avLst/>
            </a:prstGeom>
            <a:noFill/>
            <a:ln w="28575">
              <a:solidFill>
                <a:srgbClr val="FF3300"/>
              </a:solidFill>
              <a:miter lim="800000"/>
              <a:headEnd/>
              <a:tailEnd type="triangle" w="med" len="med"/>
            </a:ln>
            <a:effectLst/>
          </p:spPr>
          <p:txBody>
            <a:bodyPr wrap="none"/>
            <a:lstStyle/>
            <a:p>
              <a:endParaRPr lang="zh-CN" altLang="en-US"/>
            </a:p>
          </p:txBody>
        </p:sp>
        <p:sp>
          <p:nvSpPr>
            <p:cNvPr id="30" name="Text Box 23"/>
            <p:cNvSpPr txBox="1">
              <a:spLocks noChangeArrowheads="1"/>
            </p:cNvSpPr>
            <p:nvPr/>
          </p:nvSpPr>
          <p:spPr bwMode="auto">
            <a:xfrm>
              <a:off x="4967" y="3566"/>
              <a:ext cx="589" cy="756"/>
            </a:xfrm>
            <a:prstGeom prst="rect">
              <a:avLst/>
            </a:prstGeom>
            <a:noFill/>
            <a:ln w="9525">
              <a:solidFill>
                <a:schemeClr val="tx1"/>
              </a:solidFill>
              <a:miter lim="800000"/>
              <a:headEnd/>
              <a:tailEnd/>
            </a:ln>
            <a:effectLst/>
          </p:spPr>
          <p:txBody>
            <a:bodyPr wrap="square">
              <a:spAutoFit/>
            </a:bodyPr>
            <a:lstStyle/>
            <a:p>
              <a:pPr>
                <a:spcBef>
                  <a:spcPct val="50000"/>
                </a:spcBef>
              </a:pPr>
              <a:r>
                <a:rPr lang="en-US" altLang="zh-CN" sz="2400" b="0" dirty="0">
                  <a:solidFill>
                    <a:srgbClr val="0000CC"/>
                  </a:solidFill>
                  <a:ea typeface="黑体" pitchFamily="49" charset="-122"/>
                </a:rPr>
                <a:t>fsck</a:t>
              </a:r>
              <a:r>
                <a:rPr lang="zh-CN" altLang="en-US" sz="2400" dirty="0">
                  <a:solidFill>
                    <a:srgbClr val="0000CC"/>
                  </a:solidFill>
                  <a:ea typeface="黑体" pitchFamily="49" charset="-122"/>
                </a:rPr>
                <a:t>时的顺序</a:t>
              </a:r>
            </a:p>
          </p:txBody>
        </p:sp>
        <p:sp>
          <p:nvSpPr>
            <p:cNvPr id="31" name="Line 29"/>
            <p:cNvSpPr>
              <a:spLocks noChangeShapeType="1"/>
            </p:cNvSpPr>
            <p:nvPr/>
          </p:nvSpPr>
          <p:spPr bwMode="auto">
            <a:xfrm>
              <a:off x="5012" y="3203"/>
              <a:ext cx="227" cy="0"/>
            </a:xfrm>
            <a:prstGeom prst="line">
              <a:avLst/>
            </a:prstGeom>
            <a:noFill/>
            <a:ln w="28575">
              <a:solidFill>
                <a:schemeClr val="tx1"/>
              </a:solidFill>
              <a:miter lim="800000"/>
              <a:headEnd/>
              <a:tailEnd/>
            </a:ln>
            <a:effectLst/>
          </p:spPr>
          <p:txBody>
            <a:bodyPr wrap="none"/>
            <a:lstStyle/>
            <a:p>
              <a:endParaRPr lang="zh-CN" altLang="en-US"/>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/etc/</a:t>
            </a:r>
            <a:r>
              <a:rPr lang="en-US" altLang="zh-CN" dirty="0" err="1"/>
              <a:t>fstab</a:t>
            </a:r>
            <a:r>
              <a:rPr lang="zh-CN" altLang="en-US" dirty="0"/>
              <a:t>文件的列信息</a:t>
            </a:r>
          </a:p>
        </p:txBody>
      </p:sp>
      <p:sp>
        <p:nvSpPr>
          <p:cNvPr id="3" name="内容占位符 2"/>
          <p:cNvSpPr>
            <a:spLocks noGrp="1"/>
          </p:cNvSpPr>
          <p:nvPr>
            <p:ph idx="1"/>
          </p:nvPr>
        </p:nvSpPr>
        <p:spPr>
          <a:xfrm>
            <a:off x="520621" y="2564904"/>
            <a:ext cx="8363272" cy="3638029"/>
          </a:xfrm>
        </p:spPr>
        <p:txBody>
          <a:bodyPr/>
          <a:lstStyle/>
          <a:p>
            <a:r>
              <a:rPr lang="en-US" altLang="zh-CN" sz="2400" dirty="0" err="1"/>
              <a:t>fs_spec</a:t>
            </a:r>
            <a:r>
              <a:rPr lang="zh-CN" altLang="en-US" sz="2400" dirty="0"/>
              <a:t>：设备或远程文件系统 </a:t>
            </a:r>
          </a:p>
          <a:p>
            <a:r>
              <a:rPr lang="en-US" altLang="zh-CN" sz="2400" dirty="0" err="1"/>
              <a:t>fs_file</a:t>
            </a:r>
            <a:r>
              <a:rPr lang="zh-CN" altLang="en-US" sz="2400" dirty="0"/>
              <a:t>：挂装点目录 </a:t>
            </a:r>
          </a:p>
          <a:p>
            <a:r>
              <a:rPr lang="en-US" altLang="zh-CN" sz="2400" dirty="0" err="1"/>
              <a:t>fs_type</a:t>
            </a:r>
            <a:r>
              <a:rPr lang="zh-CN" altLang="en-US" sz="2400" dirty="0"/>
              <a:t>：文件系统类型 </a:t>
            </a:r>
          </a:p>
          <a:p>
            <a:r>
              <a:rPr lang="en-US" altLang="zh-CN" sz="2400" dirty="0" err="1"/>
              <a:t>fs_options</a:t>
            </a:r>
            <a:r>
              <a:rPr lang="zh-CN" altLang="en-US" sz="2400" dirty="0"/>
              <a:t>：文件系统挂载选项 </a:t>
            </a:r>
          </a:p>
          <a:p>
            <a:r>
              <a:rPr lang="en-US" altLang="zh-CN" sz="2400" dirty="0" err="1"/>
              <a:t>fs_dump</a:t>
            </a:r>
            <a:r>
              <a:rPr lang="zh-CN" altLang="en-US" sz="2400" dirty="0"/>
              <a:t>：被”</a:t>
            </a:r>
            <a:r>
              <a:rPr lang="en-US" altLang="zh-CN" sz="2400" dirty="0"/>
              <a:t>dump”</a:t>
            </a:r>
            <a:r>
              <a:rPr lang="zh-CN" altLang="en-US" sz="2400" dirty="0"/>
              <a:t>命令使用来检查一个文件系统应该以多快频率进行备份，若不需要备份则该字段为“</a:t>
            </a:r>
            <a:r>
              <a:rPr lang="en-US" altLang="zh-CN" sz="2400" dirty="0"/>
              <a:t>0” </a:t>
            </a:r>
          </a:p>
          <a:p>
            <a:r>
              <a:rPr lang="en-US" altLang="zh-CN" sz="2400" dirty="0" err="1"/>
              <a:t>fs_pass</a:t>
            </a:r>
            <a:r>
              <a:rPr lang="zh-CN" altLang="en-US" sz="2400" dirty="0"/>
              <a:t>：被”</a:t>
            </a:r>
            <a:r>
              <a:rPr lang="en-US" altLang="zh-CN" sz="2400" dirty="0"/>
              <a:t>fsck”</a:t>
            </a:r>
            <a:r>
              <a:rPr lang="zh-CN" altLang="en-US" sz="2400" dirty="0"/>
              <a:t>命令用来决定在启动时需要被扫描的文件系统的顺序，若无需在启动时扫描则该字段为“</a:t>
            </a:r>
            <a:r>
              <a:rPr lang="en-US" altLang="zh-CN" sz="2400" dirty="0"/>
              <a:t>0”</a:t>
            </a:r>
            <a:endParaRPr lang="zh-CN" altLang="en-US" dirty="0"/>
          </a:p>
        </p:txBody>
      </p:sp>
      <p:sp>
        <p:nvSpPr>
          <p:cNvPr id="7" name="TextBox 6"/>
          <p:cNvSpPr txBox="1"/>
          <p:nvPr/>
        </p:nvSpPr>
        <p:spPr>
          <a:xfrm>
            <a:off x="653510" y="1628800"/>
            <a:ext cx="8208912"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200" dirty="0">
                <a:solidFill>
                  <a:srgbClr val="002060"/>
                </a:solidFill>
              </a:rPr>
              <a:t>分区或</a:t>
            </a:r>
            <a:r>
              <a:rPr lang="en-US" altLang="zh-CN" sz="2200" dirty="0">
                <a:solidFill>
                  <a:srgbClr val="002060"/>
                </a:solidFill>
              </a:rPr>
              <a:t>LV  </a:t>
            </a:r>
            <a:r>
              <a:rPr lang="zh-CN" altLang="en-US" sz="2200" dirty="0">
                <a:solidFill>
                  <a:srgbClr val="002060"/>
                </a:solidFill>
              </a:rPr>
              <a:t>挂装点 文件系统类型 挂装选项    备份频率   检查顺序</a:t>
            </a:r>
          </a:p>
          <a:p>
            <a:r>
              <a:rPr lang="en-US" altLang="zh-CN" sz="2200" dirty="0" err="1">
                <a:solidFill>
                  <a:srgbClr val="002060"/>
                </a:solidFill>
              </a:rPr>
              <a:t>fs_spec</a:t>
            </a:r>
            <a:r>
              <a:rPr lang="en-US" altLang="zh-CN" sz="2200" dirty="0">
                <a:solidFill>
                  <a:srgbClr val="002060"/>
                </a:solidFill>
              </a:rPr>
              <a:t>     </a:t>
            </a:r>
            <a:r>
              <a:rPr lang="en-US" altLang="zh-CN" sz="2200" dirty="0" err="1">
                <a:solidFill>
                  <a:srgbClr val="002060"/>
                </a:solidFill>
              </a:rPr>
              <a:t>fs_file</a:t>
            </a:r>
            <a:r>
              <a:rPr lang="en-US" altLang="zh-CN" sz="2200" dirty="0">
                <a:solidFill>
                  <a:srgbClr val="002060"/>
                </a:solidFill>
              </a:rPr>
              <a:t>   </a:t>
            </a:r>
            <a:r>
              <a:rPr lang="en-US" altLang="zh-CN" sz="2200" dirty="0" err="1">
                <a:solidFill>
                  <a:srgbClr val="002060"/>
                </a:solidFill>
              </a:rPr>
              <a:t>fs_type</a:t>
            </a:r>
            <a:r>
              <a:rPr lang="en-US" altLang="zh-CN" sz="2200" dirty="0">
                <a:solidFill>
                  <a:srgbClr val="002060"/>
                </a:solidFill>
              </a:rPr>
              <a:t>          </a:t>
            </a:r>
            <a:r>
              <a:rPr lang="en-US" altLang="zh-CN" sz="2200" dirty="0" err="1">
                <a:solidFill>
                  <a:srgbClr val="002060"/>
                </a:solidFill>
              </a:rPr>
              <a:t>fs_options</a:t>
            </a:r>
            <a:r>
              <a:rPr lang="en-US" altLang="zh-CN" sz="2200" dirty="0">
                <a:solidFill>
                  <a:srgbClr val="002060"/>
                </a:solidFill>
              </a:rPr>
              <a:t>   </a:t>
            </a:r>
            <a:r>
              <a:rPr lang="en-US" altLang="zh-CN" sz="2200" dirty="0" err="1">
                <a:solidFill>
                  <a:srgbClr val="002060"/>
                </a:solidFill>
              </a:rPr>
              <a:t>fs_dump</a:t>
            </a:r>
            <a:r>
              <a:rPr lang="en-US" altLang="zh-CN" sz="2200" dirty="0">
                <a:solidFill>
                  <a:srgbClr val="002060"/>
                </a:solidFill>
              </a:rPr>
              <a:t>   </a:t>
            </a:r>
            <a:r>
              <a:rPr lang="en-US" altLang="zh-CN" sz="2200" dirty="0" err="1">
                <a:solidFill>
                  <a:srgbClr val="002060"/>
                </a:solidFill>
              </a:rPr>
              <a:t>fs_pass</a:t>
            </a:r>
            <a:endParaRPr lang="zh-CN" altLang="en-US" sz="2200" dirty="0">
              <a:solidFill>
                <a:srgbClr val="00206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a:t>
            </a:r>
            <a:r>
              <a:rPr lang="en-US" altLang="zh-CN" dirty="0"/>
              <a:t>/etc/</a:t>
            </a:r>
            <a:r>
              <a:rPr lang="en-US" altLang="zh-CN" dirty="0" err="1"/>
              <a:t>fstab</a:t>
            </a:r>
            <a:r>
              <a:rPr lang="zh-CN" altLang="en-US" dirty="0"/>
              <a:t>实例</a:t>
            </a:r>
          </a:p>
        </p:txBody>
      </p:sp>
      <p:sp>
        <p:nvSpPr>
          <p:cNvPr id="3" name="内容占位符 2"/>
          <p:cNvSpPr>
            <a:spLocks noGrp="1"/>
          </p:cNvSpPr>
          <p:nvPr>
            <p:ph idx="1"/>
          </p:nvPr>
        </p:nvSpPr>
        <p:spPr>
          <a:xfrm>
            <a:off x="0" y="1772816"/>
            <a:ext cx="9449438" cy="4530725"/>
          </a:xfrm>
        </p:spPr>
        <p:txBody>
          <a:bodyPr/>
          <a:lstStyle/>
          <a:p>
            <a:pPr>
              <a:buNone/>
            </a:pPr>
            <a:r>
              <a:rPr lang="en-US" altLang="zh-CN" sz="2000" dirty="0"/>
              <a:t># &lt;file system&gt; &lt;mount point&gt;   &lt;type&gt;         &lt;options&gt;          &lt;dump&gt;  &lt;pass&gt;</a:t>
            </a:r>
          </a:p>
          <a:p>
            <a:pPr>
              <a:buNone/>
            </a:pPr>
            <a:r>
              <a:rPr lang="en-US" altLang="zh-CN" sz="2000" dirty="0"/>
              <a:t>LABEL=/             /                            ext4           defaults                   1        1</a:t>
            </a:r>
          </a:p>
          <a:p>
            <a:pPr>
              <a:buNone/>
            </a:pPr>
            <a:r>
              <a:rPr lang="en-US" altLang="zh-CN" sz="2000" dirty="0"/>
              <a:t>none                   /dev/pts             </a:t>
            </a:r>
            <a:r>
              <a:rPr lang="en-US" altLang="zh-CN" sz="2000" dirty="0" err="1"/>
              <a:t>devpts</a:t>
            </a:r>
            <a:r>
              <a:rPr lang="en-US" altLang="zh-CN" sz="2000" dirty="0"/>
              <a:t>         </a:t>
            </a:r>
            <a:r>
              <a:rPr lang="en-US" altLang="zh-CN" sz="2000" dirty="0" err="1"/>
              <a:t>gid</a:t>
            </a:r>
            <a:r>
              <a:rPr lang="en-US" altLang="zh-CN" sz="2000" dirty="0"/>
              <a:t>=5,mode=620        0        0</a:t>
            </a:r>
          </a:p>
          <a:p>
            <a:pPr>
              <a:buNone/>
            </a:pPr>
            <a:r>
              <a:rPr lang="en-US" altLang="zh-CN" sz="2000" dirty="0"/>
              <a:t>LABEL=/home     /home                  ext4           defaults                   1        2</a:t>
            </a:r>
          </a:p>
          <a:p>
            <a:pPr>
              <a:buNone/>
            </a:pPr>
            <a:r>
              <a:rPr lang="en-US" altLang="zh-CN" sz="2000" dirty="0"/>
              <a:t>none                   /proc                     </a:t>
            </a:r>
            <a:r>
              <a:rPr lang="en-US" altLang="zh-CN" sz="2000" dirty="0" err="1"/>
              <a:t>proc</a:t>
            </a:r>
            <a:r>
              <a:rPr lang="en-US" altLang="zh-CN" sz="2000" dirty="0"/>
              <a:t>           defaults                   0        0</a:t>
            </a:r>
          </a:p>
          <a:p>
            <a:pPr>
              <a:buNone/>
            </a:pPr>
            <a:r>
              <a:rPr lang="en-US" altLang="zh-CN" sz="2000" dirty="0"/>
              <a:t>none                  /dev/</a:t>
            </a:r>
            <a:r>
              <a:rPr lang="en-US" altLang="zh-CN" sz="2000" dirty="0" err="1"/>
              <a:t>shm</a:t>
            </a:r>
            <a:r>
              <a:rPr lang="en-US" altLang="zh-CN" sz="2000" dirty="0"/>
              <a:t>             </a:t>
            </a:r>
            <a:r>
              <a:rPr lang="en-US" altLang="zh-CN" sz="2000" dirty="0" err="1"/>
              <a:t>tmpfs</a:t>
            </a:r>
            <a:r>
              <a:rPr lang="en-US" altLang="zh-CN" sz="2000" dirty="0"/>
              <a:t>          defaults                    0        0</a:t>
            </a:r>
          </a:p>
          <a:p>
            <a:pPr>
              <a:buNone/>
            </a:pPr>
            <a:r>
              <a:rPr lang="en-US" altLang="zh-CN" sz="2000" dirty="0"/>
              <a:t>LABEL=/</a:t>
            </a:r>
            <a:r>
              <a:rPr lang="en-US" altLang="zh-CN" sz="2000" dirty="0" err="1"/>
              <a:t>usr</a:t>
            </a:r>
            <a:r>
              <a:rPr lang="en-US" altLang="zh-CN" sz="2000" dirty="0"/>
              <a:t>       /</a:t>
            </a:r>
            <a:r>
              <a:rPr lang="en-US" altLang="zh-CN" sz="2000" dirty="0" err="1"/>
              <a:t>usr</a:t>
            </a:r>
            <a:r>
              <a:rPr lang="en-US" altLang="zh-CN" sz="2000" dirty="0"/>
              <a:t>                       ext4           defaults                   1        2</a:t>
            </a:r>
          </a:p>
          <a:p>
            <a:pPr>
              <a:buNone/>
            </a:pPr>
            <a:r>
              <a:rPr lang="en-US" altLang="zh-CN" sz="2000" dirty="0"/>
              <a:t>/dev/sda5           swap                   </a:t>
            </a:r>
            <a:r>
              <a:rPr lang="en-US" altLang="zh-CN" sz="2000" dirty="0" err="1"/>
              <a:t>swap</a:t>
            </a:r>
            <a:r>
              <a:rPr lang="en-US" altLang="zh-CN" sz="2000" dirty="0"/>
              <a:t>           defaults                   0        0</a:t>
            </a:r>
          </a:p>
          <a:p>
            <a:pPr>
              <a:buNone/>
            </a:pPr>
            <a:r>
              <a:rPr lang="en-US" altLang="zh-CN" sz="2000" dirty="0"/>
              <a:t>/dev/</a:t>
            </a:r>
            <a:r>
              <a:rPr lang="en-US" altLang="zh-CN" sz="2000" dirty="0" err="1"/>
              <a:t>cdrom</a:t>
            </a:r>
            <a:r>
              <a:rPr lang="en-US" altLang="zh-CN" sz="2000" dirty="0"/>
              <a:t>   /</a:t>
            </a:r>
            <a:r>
              <a:rPr lang="en-US" altLang="zh-CN" sz="2000" dirty="0" err="1"/>
              <a:t>mnt</a:t>
            </a:r>
            <a:r>
              <a:rPr lang="en-US" altLang="zh-CN" sz="2000" dirty="0"/>
              <a:t>/</a:t>
            </a:r>
            <a:r>
              <a:rPr lang="en-US" altLang="zh-CN" sz="2000" dirty="0" err="1"/>
              <a:t>cdrom</a:t>
            </a:r>
            <a:r>
              <a:rPr lang="en-US" altLang="zh-CN" sz="2000" dirty="0"/>
              <a:t>     udf,iso9660    </a:t>
            </a:r>
            <a:r>
              <a:rPr lang="en-US" altLang="zh-CN" sz="2000" dirty="0" err="1"/>
              <a:t>noauto,owner,kudzu,ro</a:t>
            </a:r>
            <a:r>
              <a:rPr lang="en-US" altLang="zh-CN" sz="2000" dirty="0"/>
              <a:t>   0        0</a:t>
            </a:r>
          </a:p>
          <a:p>
            <a:pPr>
              <a:buNone/>
            </a:pPr>
            <a:r>
              <a:rPr lang="en-US" altLang="zh-CN" sz="2000" dirty="0"/>
              <a:t>/dev/fd0        /</a:t>
            </a:r>
            <a:r>
              <a:rPr lang="en-US" altLang="zh-CN" sz="2000" dirty="0" err="1"/>
              <a:t>mnt</a:t>
            </a:r>
            <a:r>
              <a:rPr lang="en-US" altLang="zh-CN" sz="2000" dirty="0"/>
              <a:t>/floppy             auto        </a:t>
            </a:r>
            <a:r>
              <a:rPr lang="en-US" altLang="zh-CN" sz="2000" dirty="0" err="1"/>
              <a:t>noauto,owner,kudzu</a:t>
            </a:r>
            <a:r>
              <a:rPr lang="en-US" altLang="zh-CN" sz="2000" dirty="0"/>
              <a:t>       0        0</a:t>
            </a:r>
          </a:p>
          <a:p>
            <a:pPr>
              <a:buNone/>
            </a:pPr>
            <a:r>
              <a:rPr lang="en-US" altLang="zh-CN" sz="2000" dirty="0"/>
              <a:t>/dev/hda1            /</a:t>
            </a:r>
            <a:r>
              <a:rPr lang="en-US" altLang="zh-CN" sz="2000" dirty="0" err="1"/>
              <a:t>mnt</a:t>
            </a:r>
            <a:r>
              <a:rPr lang="en-US" altLang="zh-CN" sz="2000" dirty="0"/>
              <a:t>/</a:t>
            </a:r>
            <a:r>
              <a:rPr lang="en-US" altLang="zh-CN" sz="2000" dirty="0" err="1"/>
              <a:t>win_c</a:t>
            </a:r>
            <a:r>
              <a:rPr lang="en-US" altLang="zh-CN" sz="2000" dirty="0"/>
              <a:t>      </a:t>
            </a:r>
            <a:r>
              <a:rPr lang="en-US" altLang="zh-CN" sz="2000" dirty="0" err="1"/>
              <a:t>vfat</a:t>
            </a:r>
            <a:r>
              <a:rPr lang="en-US" altLang="zh-CN" sz="2000" dirty="0"/>
              <a:t>    </a:t>
            </a:r>
            <a:r>
              <a:rPr lang="en-US" altLang="zh-CN" sz="2000" dirty="0" err="1"/>
              <a:t>defaults,pagecode</a:t>
            </a:r>
            <a:r>
              <a:rPr lang="en-US" altLang="zh-CN" sz="2000" dirty="0"/>
              <a:t>=936,iocharset=cp936,umask=000               0        0</a:t>
            </a:r>
            <a:endParaRPr lang="zh-CN" alt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200818"/>
            <a:ext cx="8170415" cy="1052513"/>
          </a:xfrm>
        </p:spPr>
        <p:txBody>
          <a:bodyPr/>
          <a:lstStyle/>
          <a:p>
            <a:r>
              <a:rPr lang="zh-CN" altLang="en-US" dirty="0"/>
              <a:t>交换空间</a:t>
            </a:r>
            <a:r>
              <a:rPr lang="en-US" altLang="zh-CN" dirty="0"/>
              <a:t>—</a:t>
            </a:r>
            <a:r>
              <a:rPr lang="zh-CN" altLang="en-US" dirty="0"/>
              <a:t>交换分区和交换文件</a:t>
            </a:r>
          </a:p>
        </p:txBody>
      </p:sp>
      <p:sp>
        <p:nvSpPr>
          <p:cNvPr id="3" name="内容占位符 2"/>
          <p:cNvSpPr>
            <a:spLocks noGrp="1"/>
          </p:cNvSpPr>
          <p:nvPr>
            <p:ph idx="1"/>
          </p:nvPr>
        </p:nvSpPr>
        <p:spPr>
          <a:xfrm>
            <a:off x="395536" y="1412776"/>
            <a:ext cx="8424936" cy="5256584"/>
          </a:xfrm>
        </p:spPr>
        <p:txBody>
          <a:bodyPr/>
          <a:lstStyle/>
          <a:p>
            <a:r>
              <a:rPr lang="en-US" altLang="zh-CN" dirty="0"/>
              <a:t>Linux</a:t>
            </a:r>
            <a:r>
              <a:rPr lang="zh-CN" altLang="en-US" dirty="0"/>
              <a:t>系统使用交换分区</a:t>
            </a:r>
            <a:r>
              <a:rPr lang="en-US" altLang="zh-CN" dirty="0"/>
              <a:t>/</a:t>
            </a:r>
            <a:r>
              <a:rPr lang="zh-CN" altLang="en-US" dirty="0"/>
              <a:t>文件实现</a:t>
            </a:r>
            <a:r>
              <a:rPr lang="zh-CN" altLang="en-US" dirty="0">
                <a:solidFill>
                  <a:srgbClr val="FF0000"/>
                </a:solidFill>
              </a:rPr>
              <a:t>虚拟内存</a:t>
            </a:r>
            <a:r>
              <a:rPr lang="zh-CN" altLang="en-US" dirty="0"/>
              <a:t>技术，它是系统</a:t>
            </a:r>
            <a:r>
              <a:rPr lang="en-US" altLang="zh-CN" dirty="0">
                <a:solidFill>
                  <a:srgbClr val="FF0000"/>
                </a:solidFill>
              </a:rPr>
              <a:t>RAM</a:t>
            </a:r>
            <a:r>
              <a:rPr lang="zh-CN" altLang="en-US" dirty="0">
                <a:solidFill>
                  <a:srgbClr val="FF0000"/>
                </a:solidFill>
              </a:rPr>
              <a:t>的补充</a:t>
            </a:r>
            <a:r>
              <a:rPr lang="zh-CN" altLang="en-US" dirty="0"/>
              <a:t>，不需要挂装</a:t>
            </a:r>
          </a:p>
          <a:p>
            <a:r>
              <a:rPr lang="zh-CN" altLang="en-US" dirty="0" smtClean="0"/>
              <a:t>使用物理分区创建内存交换分区： </a:t>
            </a:r>
            <a:endParaRPr lang="zh-CN" altLang="en-US" dirty="0"/>
          </a:p>
          <a:p>
            <a:pPr lvl="1"/>
            <a:r>
              <a:rPr lang="zh-CN" altLang="en-US" dirty="0"/>
              <a:t>创建</a:t>
            </a:r>
            <a:r>
              <a:rPr lang="zh-CN" altLang="en-US" dirty="0">
                <a:solidFill>
                  <a:srgbClr val="FF0000"/>
                </a:solidFill>
              </a:rPr>
              <a:t>交换分区</a:t>
            </a:r>
            <a:r>
              <a:rPr lang="zh-CN" altLang="en-US" dirty="0"/>
              <a:t>或者</a:t>
            </a:r>
            <a:r>
              <a:rPr lang="zh-CN" altLang="en-US" dirty="0">
                <a:solidFill>
                  <a:srgbClr val="FF0000"/>
                </a:solidFill>
              </a:rPr>
              <a:t>文件 </a:t>
            </a:r>
          </a:p>
          <a:p>
            <a:pPr lvl="1"/>
            <a:r>
              <a:rPr lang="zh-CN" altLang="en-US" dirty="0"/>
              <a:t>使用 </a:t>
            </a:r>
            <a:r>
              <a:rPr lang="en-US" altLang="zh-CN" dirty="0">
                <a:solidFill>
                  <a:srgbClr val="FF0000"/>
                </a:solidFill>
              </a:rPr>
              <a:t>mkswap</a:t>
            </a:r>
            <a:r>
              <a:rPr lang="en-US" altLang="zh-CN" dirty="0"/>
              <a:t> </a:t>
            </a:r>
            <a:r>
              <a:rPr lang="zh-CN" altLang="en-US" dirty="0"/>
              <a:t>创建交换文件系统 </a:t>
            </a:r>
          </a:p>
          <a:p>
            <a:pPr lvl="1"/>
            <a:r>
              <a:rPr lang="zh-CN" altLang="en-US" dirty="0" smtClean="0"/>
              <a:t>使用 </a:t>
            </a:r>
            <a:r>
              <a:rPr lang="en-US" altLang="zh-CN" dirty="0">
                <a:solidFill>
                  <a:srgbClr val="FF0000"/>
                </a:solidFill>
              </a:rPr>
              <a:t>swapon -a</a:t>
            </a:r>
            <a:r>
              <a:rPr lang="en-US" altLang="zh-CN" dirty="0"/>
              <a:t> </a:t>
            </a:r>
            <a:r>
              <a:rPr lang="zh-CN" altLang="en-US" dirty="0"/>
              <a:t>激活交换空间 </a:t>
            </a:r>
          </a:p>
          <a:p>
            <a:r>
              <a:rPr lang="zh-CN" altLang="en-US" dirty="0" smtClean="0"/>
              <a:t>使用文件创建内存交换</a:t>
            </a:r>
            <a:r>
              <a:rPr lang="zh-CN" altLang="en-US" dirty="0"/>
              <a:t>文件 </a:t>
            </a:r>
          </a:p>
          <a:p>
            <a:pPr lvl="1"/>
            <a:r>
              <a:rPr lang="en-US" altLang="zh-CN" dirty="0">
                <a:solidFill>
                  <a:srgbClr val="FF0000"/>
                </a:solidFill>
              </a:rPr>
              <a:t>dd</a:t>
            </a:r>
            <a:r>
              <a:rPr lang="en-US" altLang="zh-CN" dirty="0"/>
              <a:t> if= </a:t>
            </a:r>
            <a:r>
              <a:rPr lang="en-US" altLang="zh-CN" dirty="0">
                <a:highlight>
                  <a:srgbClr val="00FF00"/>
                </a:highlight>
              </a:rPr>
              <a:t>/dev/zero</a:t>
            </a:r>
            <a:r>
              <a:rPr lang="en-US" altLang="zh-CN" dirty="0"/>
              <a:t> of=/</a:t>
            </a:r>
            <a:r>
              <a:rPr lang="en-US" altLang="zh-CN" dirty="0" err="1"/>
              <a:t>swapfile</a:t>
            </a:r>
            <a:r>
              <a:rPr lang="en-US" altLang="zh-CN" dirty="0"/>
              <a:t> bs=1024 count=X</a:t>
            </a:r>
            <a:endParaRPr lang="zh-CN" altLang="en-US" dirty="0"/>
          </a:p>
        </p:txBody>
      </p:sp>
      <p:sp>
        <p:nvSpPr>
          <p:cNvPr id="4" name="上箭头标注 3"/>
          <p:cNvSpPr/>
          <p:nvPr/>
        </p:nvSpPr>
        <p:spPr bwMode="auto">
          <a:xfrm>
            <a:off x="5076056" y="5661248"/>
            <a:ext cx="3672408" cy="1008112"/>
          </a:xfrm>
          <a:prstGeom prst="upArrowCallout">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22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产生了特定大小的空白文件</a:t>
            </a:r>
            <a:endParaRPr kumimoji="0" lang="zh-CN" altLang="en-US" sz="22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9512" y="-5417"/>
            <a:ext cx="9109012" cy="65248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zh-CN" altLang="en-US" sz="2200" dirty="0">
                <a:solidFill>
                  <a:srgbClr val="0000FF"/>
                </a:solidFill>
              </a:rPr>
              <a:t>[root@localhost ~]# </a:t>
            </a:r>
            <a:r>
              <a:rPr lang="zh-CN" altLang="en-US" sz="2200" dirty="0"/>
              <a:t>free -h</a:t>
            </a:r>
          </a:p>
          <a:p>
            <a:r>
              <a:rPr lang="zh-CN" altLang="en-US" sz="2200" dirty="0"/>
              <a:t>              total        used        free      shared  buff/cache   available</a:t>
            </a:r>
          </a:p>
          <a:p>
            <a:r>
              <a:rPr lang="zh-CN" altLang="en-US" sz="2200" dirty="0"/>
              <a:t>Mem:           1.8G        1.1G         89M         19M        591M        442M</a:t>
            </a:r>
          </a:p>
          <a:p>
            <a:r>
              <a:rPr lang="zh-CN" altLang="en-US" sz="2200" dirty="0"/>
              <a:t>Swap:          2.0G         25M        2.0G</a:t>
            </a:r>
          </a:p>
          <a:p>
            <a:r>
              <a:rPr lang="zh-CN" altLang="en-US" sz="2200" dirty="0"/>
              <a:t>[root@localhost ~]# dd if=/dev/zero of=/swapfile bs=1M count=512</a:t>
            </a:r>
          </a:p>
          <a:p>
            <a:r>
              <a:rPr lang="zh-CN" altLang="en-US" sz="2200" dirty="0"/>
              <a:t>记录了512+0 的读入</a:t>
            </a:r>
          </a:p>
          <a:p>
            <a:r>
              <a:rPr lang="zh-CN" altLang="en-US" sz="2200" dirty="0"/>
              <a:t>记录了512+0 的写出</a:t>
            </a:r>
          </a:p>
          <a:p>
            <a:r>
              <a:rPr lang="zh-CN" altLang="en-US" sz="2200" dirty="0"/>
              <a:t>536870912字节(537 MB)已复制，0.778282 秒，690 MB/秒</a:t>
            </a:r>
          </a:p>
          <a:p>
            <a:r>
              <a:rPr lang="zh-CN" altLang="en-US" sz="2200" dirty="0" smtClean="0">
                <a:solidFill>
                  <a:srgbClr val="0000FF"/>
                </a:solidFill>
              </a:rPr>
              <a:t>[</a:t>
            </a:r>
            <a:r>
              <a:rPr lang="zh-CN" altLang="en-US" sz="2200" dirty="0">
                <a:solidFill>
                  <a:srgbClr val="0000FF"/>
                </a:solidFill>
              </a:rPr>
              <a:t>root@localhost ~]# </a:t>
            </a:r>
            <a:r>
              <a:rPr lang="zh-CN" altLang="en-US" sz="2200" dirty="0"/>
              <a:t>mkswap /swapfile</a:t>
            </a:r>
          </a:p>
          <a:p>
            <a:r>
              <a:rPr lang="zh-CN" altLang="en-US" sz="2200" dirty="0"/>
              <a:t>正在设置交换空间版本 1，大小 = 524284 KiB</a:t>
            </a:r>
          </a:p>
          <a:p>
            <a:r>
              <a:rPr lang="zh-CN" altLang="en-US" sz="2200" dirty="0"/>
              <a:t>无标签，UUID=6176ecdc-cbc5-43e2-b6ed-bdc72538b511</a:t>
            </a:r>
          </a:p>
          <a:p>
            <a:r>
              <a:rPr lang="zh-CN" altLang="en-US" sz="2200" dirty="0"/>
              <a:t>[</a:t>
            </a:r>
            <a:r>
              <a:rPr lang="zh-CN" altLang="en-US" sz="2200" dirty="0">
                <a:solidFill>
                  <a:srgbClr val="0000FF"/>
                </a:solidFill>
              </a:rPr>
              <a:t>root@localhost ~]# </a:t>
            </a:r>
            <a:r>
              <a:rPr lang="zh-CN" altLang="en-US" sz="2200" dirty="0"/>
              <a:t>swapon /swapfile</a:t>
            </a:r>
          </a:p>
          <a:p>
            <a:r>
              <a:rPr lang="zh-CN" altLang="en-US" sz="2200" dirty="0"/>
              <a:t>swapon: /swapfile：不安全的权限 0644，建议使用 0600。</a:t>
            </a:r>
          </a:p>
          <a:p>
            <a:r>
              <a:rPr lang="zh-CN" altLang="en-US" sz="2200" dirty="0" smtClean="0">
                <a:solidFill>
                  <a:srgbClr val="0000FF"/>
                </a:solidFill>
              </a:rPr>
              <a:t>[</a:t>
            </a:r>
            <a:r>
              <a:rPr lang="zh-CN" altLang="en-US" sz="2200" dirty="0">
                <a:solidFill>
                  <a:srgbClr val="0000FF"/>
                </a:solidFill>
              </a:rPr>
              <a:t>root@localhost ~]# </a:t>
            </a:r>
            <a:r>
              <a:rPr lang="zh-CN" altLang="en-US" sz="2200" dirty="0"/>
              <a:t>free -h</a:t>
            </a:r>
          </a:p>
          <a:p>
            <a:r>
              <a:rPr lang="zh-CN" altLang="en-US" sz="2200" dirty="0"/>
              <a:t>              total        used        free      shared  buff/cache   available</a:t>
            </a:r>
          </a:p>
          <a:p>
            <a:r>
              <a:rPr lang="zh-CN" altLang="en-US" sz="2200" dirty="0"/>
              <a:t>Mem:           1.8G        1.1G         70M         19M        616M        446M</a:t>
            </a:r>
          </a:p>
          <a:p>
            <a:r>
              <a:rPr lang="zh-CN" altLang="en-US" sz="2200" dirty="0"/>
              <a:t>Swap:          2.5G         25M        2.5G</a:t>
            </a:r>
          </a:p>
          <a:p>
            <a:r>
              <a:rPr lang="zh-CN" altLang="en-US" sz="2200" dirty="0"/>
              <a:t>[root@localhost ~]# vim /etc/fstab</a:t>
            </a:r>
          </a:p>
          <a:p>
            <a:r>
              <a:rPr lang="zh-CN" altLang="en-US" sz="2200" dirty="0"/>
              <a:t>[root@localhost ~]# </a:t>
            </a:r>
          </a:p>
        </p:txBody>
      </p:sp>
    </p:spTree>
    <p:extLst>
      <p:ext uri="{BB962C8B-B14F-4D97-AF65-F5344CB8AC3E}">
        <p14:creationId xmlns:p14="http://schemas.microsoft.com/office/powerpoint/2010/main" val="21635642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17139" y="620688"/>
            <a:ext cx="8709721" cy="4320480"/>
          </a:xfrm>
          <a:prstGeom prst="rect">
            <a:avLst/>
          </a:prstGeom>
        </p:spPr>
      </p:pic>
    </p:spTree>
    <p:extLst>
      <p:ext uri="{BB962C8B-B14F-4D97-AF65-F5344CB8AC3E}">
        <p14:creationId xmlns:p14="http://schemas.microsoft.com/office/powerpoint/2010/main" val="37901327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dd</a:t>
            </a:r>
            <a:r>
              <a:rPr lang="zh-CN" altLang="en-US" dirty="0"/>
              <a:t>命令</a:t>
            </a:r>
          </a:p>
        </p:txBody>
      </p:sp>
      <p:sp>
        <p:nvSpPr>
          <p:cNvPr id="3" name="内容占位符 2"/>
          <p:cNvSpPr>
            <a:spLocks noGrp="1"/>
          </p:cNvSpPr>
          <p:nvPr>
            <p:ph idx="1"/>
          </p:nvPr>
        </p:nvSpPr>
        <p:spPr>
          <a:xfrm>
            <a:off x="539552" y="1556792"/>
            <a:ext cx="8407598" cy="4968552"/>
          </a:xfrm>
        </p:spPr>
        <p:txBody>
          <a:bodyPr/>
          <a:lstStyle/>
          <a:p>
            <a:r>
              <a:rPr lang="zh-CN" altLang="en-US" dirty="0"/>
              <a:t>功能：从</a:t>
            </a:r>
            <a:r>
              <a:rPr lang="zh-CN" altLang="en-US" dirty="0">
                <a:solidFill>
                  <a:srgbClr val="FF0000"/>
                </a:solidFill>
              </a:rPr>
              <a:t>标准输入</a:t>
            </a:r>
            <a:r>
              <a:rPr lang="zh-CN" altLang="en-US" dirty="0"/>
              <a:t>、</a:t>
            </a:r>
            <a:r>
              <a:rPr lang="zh-CN" altLang="en-US" dirty="0">
                <a:solidFill>
                  <a:srgbClr val="FF0000"/>
                </a:solidFill>
              </a:rPr>
              <a:t>文件</a:t>
            </a:r>
            <a:r>
              <a:rPr lang="zh-CN" altLang="en-US" dirty="0"/>
              <a:t>或</a:t>
            </a:r>
            <a:r>
              <a:rPr lang="zh-CN" altLang="en-US" dirty="0">
                <a:solidFill>
                  <a:srgbClr val="FF0000"/>
                </a:solidFill>
              </a:rPr>
              <a:t>设备</a:t>
            </a:r>
            <a:r>
              <a:rPr lang="zh-CN" altLang="en-US" dirty="0"/>
              <a:t>读取数据，依照指定的格式来转换数据， 再</a:t>
            </a:r>
            <a:r>
              <a:rPr lang="zh-CN" altLang="en-US" dirty="0">
                <a:solidFill>
                  <a:srgbClr val="FF0000"/>
                </a:solidFill>
              </a:rPr>
              <a:t>输出</a:t>
            </a:r>
            <a:r>
              <a:rPr lang="zh-CN" altLang="en-US" dirty="0"/>
              <a:t>至</a:t>
            </a:r>
            <a:r>
              <a:rPr lang="zh-CN" altLang="en-US" dirty="0">
                <a:solidFill>
                  <a:srgbClr val="FF0000"/>
                </a:solidFill>
              </a:rPr>
              <a:t>文件</a:t>
            </a:r>
            <a:r>
              <a:rPr lang="zh-CN" altLang="en-US" dirty="0"/>
              <a:t>、</a:t>
            </a:r>
            <a:r>
              <a:rPr lang="zh-CN" altLang="en-US" dirty="0">
                <a:solidFill>
                  <a:srgbClr val="FF0000"/>
                </a:solidFill>
              </a:rPr>
              <a:t>设备</a:t>
            </a:r>
            <a:r>
              <a:rPr lang="zh-CN" altLang="en-US" dirty="0"/>
              <a:t>或</a:t>
            </a:r>
            <a:r>
              <a:rPr lang="zh-CN" altLang="en-US" dirty="0">
                <a:solidFill>
                  <a:srgbClr val="FF0000"/>
                </a:solidFill>
              </a:rPr>
              <a:t>标准输出</a:t>
            </a:r>
            <a:r>
              <a:rPr lang="en-US" altLang="zh-CN" dirty="0"/>
              <a:t>——</a:t>
            </a:r>
            <a:r>
              <a:rPr lang="zh-CN" altLang="en-US" dirty="0">
                <a:solidFill>
                  <a:srgbClr val="FF0000"/>
                </a:solidFill>
              </a:rPr>
              <a:t>制作文件或备份功能</a:t>
            </a:r>
          </a:p>
          <a:p>
            <a:r>
              <a:rPr lang="zh-CN" altLang="en-US" dirty="0"/>
              <a:t>格式：</a:t>
            </a:r>
            <a:r>
              <a:rPr lang="en-US" altLang="zh-CN" dirty="0" err="1">
                <a:solidFill>
                  <a:schemeClr val="accent6">
                    <a:lumMod val="75000"/>
                  </a:schemeClr>
                </a:solidFill>
              </a:rPr>
              <a:t>dd</a:t>
            </a:r>
            <a:r>
              <a:rPr lang="en-US" altLang="zh-CN" dirty="0">
                <a:solidFill>
                  <a:schemeClr val="accent6">
                    <a:lumMod val="75000"/>
                  </a:schemeClr>
                </a:solidFill>
              </a:rPr>
              <a:t> &lt;</a:t>
            </a:r>
            <a:r>
              <a:rPr lang="zh-CN" altLang="en-US" dirty="0">
                <a:solidFill>
                  <a:schemeClr val="accent6">
                    <a:lumMod val="75000"/>
                  </a:schemeClr>
                </a:solidFill>
              </a:rPr>
              <a:t>选项</a:t>
            </a:r>
            <a:r>
              <a:rPr lang="en-US" altLang="zh-CN" dirty="0">
                <a:solidFill>
                  <a:schemeClr val="accent6">
                    <a:lumMod val="75000"/>
                  </a:schemeClr>
                </a:solidFill>
              </a:rPr>
              <a:t>=</a:t>
            </a:r>
            <a:r>
              <a:rPr lang="zh-CN" altLang="en-US" dirty="0">
                <a:solidFill>
                  <a:schemeClr val="accent6">
                    <a:lumMod val="75000"/>
                  </a:schemeClr>
                </a:solidFill>
              </a:rPr>
              <a:t>值</a:t>
            </a:r>
            <a:r>
              <a:rPr lang="en-US" altLang="zh-CN" dirty="0">
                <a:solidFill>
                  <a:schemeClr val="accent6">
                    <a:lumMod val="75000"/>
                  </a:schemeClr>
                </a:solidFill>
              </a:rPr>
              <a:t>&gt;</a:t>
            </a:r>
          </a:p>
          <a:p>
            <a:r>
              <a:rPr lang="zh-CN" altLang="en-US" dirty="0"/>
              <a:t>常用选项</a:t>
            </a:r>
          </a:p>
          <a:p>
            <a:pPr lvl="1"/>
            <a:r>
              <a:rPr lang="en-US" altLang="zh-CN" dirty="0">
                <a:solidFill>
                  <a:srgbClr val="FF0000"/>
                </a:solidFill>
              </a:rPr>
              <a:t>if=file</a:t>
            </a:r>
            <a:r>
              <a:rPr lang="zh-CN" altLang="en-US" dirty="0"/>
              <a:t>：</a:t>
            </a:r>
            <a:r>
              <a:rPr lang="zh-CN" altLang="en-US" dirty="0">
                <a:solidFill>
                  <a:srgbClr val="FF0000"/>
                </a:solidFill>
              </a:rPr>
              <a:t>输入</a:t>
            </a:r>
            <a:r>
              <a:rPr lang="zh-CN" altLang="en-US" dirty="0"/>
              <a:t>文件名或设备名，缺省标准输入</a:t>
            </a:r>
          </a:p>
          <a:p>
            <a:pPr lvl="1"/>
            <a:r>
              <a:rPr lang="en-US" altLang="zh-CN" dirty="0">
                <a:solidFill>
                  <a:srgbClr val="FF0000"/>
                </a:solidFill>
              </a:rPr>
              <a:t>of=file</a:t>
            </a:r>
            <a:r>
              <a:rPr lang="zh-CN" altLang="en-US" dirty="0"/>
              <a:t>：</a:t>
            </a:r>
            <a:r>
              <a:rPr lang="zh-CN" altLang="en-US" dirty="0">
                <a:solidFill>
                  <a:srgbClr val="FF0000"/>
                </a:solidFill>
              </a:rPr>
              <a:t>输出</a:t>
            </a:r>
            <a:r>
              <a:rPr lang="zh-CN" altLang="en-US" dirty="0"/>
              <a:t>文件名或设备名，缺省标准输出</a:t>
            </a:r>
          </a:p>
          <a:p>
            <a:pPr lvl="1"/>
            <a:r>
              <a:rPr lang="en-US" altLang="zh-CN" dirty="0" err="1">
                <a:solidFill>
                  <a:srgbClr val="FF0000"/>
                </a:solidFill>
              </a:rPr>
              <a:t>bs</a:t>
            </a:r>
            <a:r>
              <a:rPr lang="en-US" altLang="zh-CN" dirty="0">
                <a:solidFill>
                  <a:srgbClr val="FF0000"/>
                </a:solidFill>
              </a:rPr>
              <a:t>=n</a:t>
            </a:r>
            <a:r>
              <a:rPr lang="zh-CN" altLang="en-US" dirty="0"/>
              <a:t>：同时设置输入输出</a:t>
            </a:r>
            <a:r>
              <a:rPr lang="zh-CN" altLang="en-US" dirty="0">
                <a:solidFill>
                  <a:srgbClr val="FF0000"/>
                </a:solidFill>
              </a:rPr>
              <a:t>块</a:t>
            </a:r>
            <a:r>
              <a:rPr lang="zh-CN" altLang="en-US" dirty="0"/>
              <a:t>的</a:t>
            </a:r>
            <a:r>
              <a:rPr lang="zh-CN" altLang="en-US" dirty="0">
                <a:solidFill>
                  <a:srgbClr val="FF0000"/>
                </a:solidFill>
              </a:rPr>
              <a:t>大小</a:t>
            </a:r>
            <a:r>
              <a:rPr lang="zh-CN" altLang="en-US" dirty="0"/>
              <a:t>为</a:t>
            </a:r>
            <a:r>
              <a:rPr lang="en-US" altLang="zh-CN" dirty="0"/>
              <a:t>n</a:t>
            </a:r>
          </a:p>
          <a:p>
            <a:pPr lvl="1"/>
            <a:r>
              <a:rPr lang="en-US" altLang="zh-CN" dirty="0">
                <a:solidFill>
                  <a:srgbClr val="FF0000"/>
                </a:solidFill>
              </a:rPr>
              <a:t>count=n</a:t>
            </a:r>
            <a:r>
              <a:rPr lang="zh-CN" altLang="en-US" dirty="0"/>
              <a:t>：仅仅读取指定的</a:t>
            </a:r>
            <a:r>
              <a:rPr lang="en-US" altLang="zh-CN" dirty="0"/>
              <a:t>n</a:t>
            </a:r>
            <a:r>
              <a:rPr lang="zh-CN" altLang="en-US" dirty="0"/>
              <a:t>块数据</a:t>
            </a:r>
            <a:r>
              <a:rPr lang="en-US" altLang="zh-CN" dirty="0"/>
              <a:t>(</a:t>
            </a:r>
            <a:r>
              <a:rPr lang="en-US" altLang="zh-CN" dirty="0">
                <a:solidFill>
                  <a:srgbClr val="FF0000"/>
                </a:solidFill>
              </a:rPr>
              <a:t>bs</a:t>
            </a:r>
            <a:r>
              <a:rPr lang="zh-CN" altLang="en-US" dirty="0">
                <a:solidFill>
                  <a:srgbClr val="FF0000"/>
                </a:solidFill>
              </a:rPr>
              <a:t>数</a:t>
            </a:r>
            <a:r>
              <a:rPr lang="zh-CN" altLang="en-US" dirty="0"/>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dd</a:t>
            </a:r>
            <a:r>
              <a:rPr lang="zh-CN" altLang="en-US" dirty="0"/>
              <a:t>命令举例</a:t>
            </a:r>
          </a:p>
        </p:txBody>
      </p:sp>
      <p:sp>
        <p:nvSpPr>
          <p:cNvPr id="3" name="内容占位符 2"/>
          <p:cNvSpPr>
            <a:spLocks noGrp="1"/>
          </p:cNvSpPr>
          <p:nvPr>
            <p:ph idx="1"/>
          </p:nvPr>
        </p:nvSpPr>
        <p:spPr>
          <a:xfrm>
            <a:off x="488384" y="1412776"/>
            <a:ext cx="8435280" cy="5184576"/>
          </a:xfrm>
        </p:spPr>
        <p:txBody>
          <a:bodyPr/>
          <a:lstStyle/>
          <a:p>
            <a:r>
              <a:rPr lang="zh-CN" altLang="en-US" dirty="0"/>
              <a:t>将软盘的内容制作成映像文件</a:t>
            </a:r>
            <a:r>
              <a:rPr lang="zh-CN" altLang="en-US" dirty="0">
                <a:solidFill>
                  <a:srgbClr val="FF0000"/>
                </a:solidFill>
              </a:rPr>
              <a:t>备份</a:t>
            </a:r>
            <a:r>
              <a:rPr lang="zh-CN" altLang="en-US" dirty="0"/>
              <a:t>到硬盘</a:t>
            </a: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if=/dev/fd0</a:t>
            </a:r>
            <a:r>
              <a:rPr lang="zh-CN" altLang="en-US" dirty="0">
                <a:solidFill>
                  <a:schemeClr val="accent6">
                    <a:lumMod val="75000"/>
                  </a:schemeClr>
                </a:solidFill>
              </a:rPr>
              <a:t>　</a:t>
            </a:r>
            <a:r>
              <a:rPr lang="en-US" altLang="zh-CN" dirty="0">
                <a:solidFill>
                  <a:schemeClr val="accent6">
                    <a:lumMod val="75000"/>
                  </a:schemeClr>
                </a:solidFill>
              </a:rPr>
              <a:t>of=fdtemp.img</a:t>
            </a:r>
          </a:p>
          <a:p>
            <a:r>
              <a:rPr lang="zh-CN" altLang="en-US" dirty="0"/>
              <a:t>将硬盘上的软盘映像文件</a:t>
            </a:r>
            <a:r>
              <a:rPr lang="zh-CN" altLang="en-US" dirty="0">
                <a:solidFill>
                  <a:srgbClr val="FF0000"/>
                </a:solidFill>
              </a:rPr>
              <a:t>恢复</a:t>
            </a:r>
            <a:r>
              <a:rPr lang="zh-CN" altLang="en-US" dirty="0"/>
              <a:t>至软盘</a:t>
            </a: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if=fdtemp.img</a:t>
            </a:r>
            <a:r>
              <a:rPr lang="zh-CN" altLang="en-US" dirty="0">
                <a:solidFill>
                  <a:schemeClr val="accent6">
                    <a:lumMod val="75000"/>
                  </a:schemeClr>
                </a:solidFill>
              </a:rPr>
              <a:t>　</a:t>
            </a:r>
            <a:r>
              <a:rPr lang="en-US" altLang="zh-CN" dirty="0">
                <a:solidFill>
                  <a:schemeClr val="accent6">
                    <a:lumMod val="75000"/>
                  </a:schemeClr>
                </a:solidFill>
              </a:rPr>
              <a:t>of=/dev/fd0</a:t>
            </a:r>
          </a:p>
          <a:p>
            <a:r>
              <a:rPr lang="zh-CN" altLang="en-US" dirty="0"/>
              <a:t>将硬盘首扇</a:t>
            </a:r>
            <a:r>
              <a:rPr lang="zh-CN" altLang="en-US" dirty="0">
                <a:solidFill>
                  <a:srgbClr val="FF0000"/>
                </a:solidFill>
              </a:rPr>
              <a:t>备份</a:t>
            </a:r>
            <a:r>
              <a:rPr lang="zh-CN" altLang="en-US" dirty="0"/>
              <a:t>到文件</a:t>
            </a:r>
            <a:r>
              <a:rPr lang="en-US" altLang="zh-CN" dirty="0"/>
              <a:t>bootsector.bin</a:t>
            </a:r>
            <a:r>
              <a:rPr lang="zh-CN" altLang="en-US" dirty="0"/>
              <a:t>中</a:t>
            </a: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if=/dev/</a:t>
            </a:r>
            <a:r>
              <a:rPr lang="en-US" altLang="zh-CN" dirty="0" err="1">
                <a:solidFill>
                  <a:schemeClr val="accent6">
                    <a:lumMod val="75000"/>
                  </a:schemeClr>
                </a:solidFill>
              </a:rPr>
              <a:t>sda</a:t>
            </a:r>
            <a:r>
              <a:rPr lang="en-US" altLang="zh-CN" dirty="0">
                <a:solidFill>
                  <a:schemeClr val="accent6">
                    <a:lumMod val="75000"/>
                  </a:schemeClr>
                </a:solidFill>
              </a:rPr>
              <a:t> of=bootsector.bin </a:t>
            </a:r>
            <a:r>
              <a:rPr lang="en-US" altLang="zh-CN" dirty="0" err="1">
                <a:solidFill>
                  <a:schemeClr val="accent6">
                    <a:lumMod val="75000"/>
                  </a:schemeClr>
                </a:solidFill>
              </a:rPr>
              <a:t>bs</a:t>
            </a:r>
            <a:r>
              <a:rPr lang="en-US" altLang="zh-CN" dirty="0">
                <a:solidFill>
                  <a:schemeClr val="accent6">
                    <a:lumMod val="75000"/>
                  </a:schemeClr>
                </a:solidFill>
              </a:rPr>
              <a:t>=512 count=1</a:t>
            </a:r>
          </a:p>
          <a:p>
            <a:r>
              <a:rPr lang="zh-CN" altLang="en-US" dirty="0">
                <a:solidFill>
                  <a:srgbClr val="FF0000"/>
                </a:solidFill>
              </a:rPr>
              <a:t>创建</a:t>
            </a:r>
            <a:r>
              <a:rPr lang="zh-CN" altLang="en-US" dirty="0"/>
              <a:t>一个</a:t>
            </a:r>
            <a:r>
              <a:rPr lang="en-US" altLang="zh-CN" dirty="0"/>
              <a:t>800MB</a:t>
            </a:r>
            <a:r>
              <a:rPr lang="zh-CN" altLang="en-US" dirty="0"/>
              <a:t>的</a:t>
            </a:r>
            <a:r>
              <a:rPr lang="zh-CN" altLang="en-US" dirty="0">
                <a:solidFill>
                  <a:srgbClr val="FF0000"/>
                </a:solidFill>
              </a:rPr>
              <a:t>交换文件</a:t>
            </a:r>
            <a:endParaRPr lang="en-US" altLang="zh-CN" dirty="0">
              <a:solidFill>
                <a:srgbClr val="FF0000"/>
              </a:solidFill>
            </a:endParaRPr>
          </a:p>
          <a:p>
            <a:pPr lvl="1">
              <a:buNone/>
            </a:pPr>
            <a:r>
              <a:rPr lang="en-US" altLang="zh-CN" dirty="0">
                <a:solidFill>
                  <a:schemeClr val="accent6">
                    <a:lumMod val="75000"/>
                  </a:schemeClr>
                </a:solidFill>
              </a:rPr>
              <a:t># </a:t>
            </a:r>
            <a:r>
              <a:rPr lang="en-US" altLang="zh-CN" dirty="0" err="1">
                <a:solidFill>
                  <a:schemeClr val="accent6">
                    <a:lumMod val="75000"/>
                  </a:schemeClr>
                </a:solidFill>
              </a:rPr>
              <a:t>dd</a:t>
            </a:r>
            <a:r>
              <a:rPr lang="en-US" altLang="zh-CN" dirty="0">
                <a:solidFill>
                  <a:schemeClr val="accent6">
                    <a:lumMod val="75000"/>
                  </a:schemeClr>
                </a:solidFill>
              </a:rPr>
              <a:t> if=/dev/zero of=/</a:t>
            </a:r>
            <a:r>
              <a:rPr lang="en-US" altLang="zh-CN" dirty="0" err="1">
                <a:solidFill>
                  <a:schemeClr val="accent6">
                    <a:lumMod val="75000"/>
                  </a:schemeClr>
                </a:solidFill>
              </a:rPr>
              <a:t>swapfile</a:t>
            </a:r>
            <a:r>
              <a:rPr lang="en-US" altLang="zh-CN" dirty="0">
                <a:solidFill>
                  <a:schemeClr val="accent6">
                    <a:lumMod val="75000"/>
                  </a:schemeClr>
                </a:solidFill>
              </a:rPr>
              <a:t> </a:t>
            </a:r>
            <a:r>
              <a:rPr lang="en-US" altLang="zh-CN" dirty="0" err="1">
                <a:solidFill>
                  <a:schemeClr val="accent6">
                    <a:lumMod val="75000"/>
                  </a:schemeClr>
                </a:solidFill>
              </a:rPr>
              <a:t>bs</a:t>
            </a:r>
            <a:r>
              <a:rPr lang="en-US" altLang="zh-CN" dirty="0">
                <a:solidFill>
                  <a:schemeClr val="accent6">
                    <a:lumMod val="75000"/>
                  </a:schemeClr>
                </a:solidFill>
              </a:rPr>
              <a:t>=4096 count=200000</a:t>
            </a:r>
            <a:endParaRPr lang="zh-CN" altLang="en-US" dirty="0">
              <a:solidFill>
                <a:schemeClr val="accent6">
                  <a:lumMod val="75000"/>
                </a:schemeClr>
              </a:solidFill>
            </a:endParaRPr>
          </a:p>
          <a:p>
            <a:pPr lvl="1">
              <a:buNone/>
            </a:pPr>
            <a:endParaRPr lang="zh-CN" altLang="en-US" dirty="0">
              <a:solidFill>
                <a:schemeClr val="accent6">
                  <a:lumMod val="75000"/>
                </a:schemeClr>
              </a:solidFill>
            </a:endParaRPr>
          </a:p>
        </p:txBody>
      </p:sp>
      <p:sp>
        <p:nvSpPr>
          <p:cNvPr id="4" name="矩形 3"/>
          <p:cNvSpPr/>
          <p:nvPr/>
        </p:nvSpPr>
        <p:spPr>
          <a:xfrm>
            <a:off x="4067945" y="6165304"/>
            <a:ext cx="4879206" cy="646331"/>
          </a:xfrm>
          <a:prstGeom prst="rect">
            <a:avLst/>
          </a:prstGeom>
        </p:spPr>
        <p:txBody>
          <a:bodyPr wrap="square">
            <a:spAutoFit/>
          </a:bodyPr>
          <a:lstStyle/>
          <a:p>
            <a:pPr marL="285750" indent="-285750">
              <a:buFont typeface="Arial" panose="020B0604020202020204" pitchFamily="34" charset="0"/>
              <a:buChar char="•"/>
            </a:pPr>
            <a:r>
              <a:rPr lang="zh-CN" altLang="en-US" b="1" dirty="0"/>
              <a:t>同时设置读入</a:t>
            </a:r>
            <a:r>
              <a:rPr lang="en-US" altLang="zh-CN" b="1" dirty="0"/>
              <a:t>/</a:t>
            </a:r>
            <a:r>
              <a:rPr lang="zh-CN" altLang="en-US" b="1" dirty="0"/>
              <a:t>输出的块大小为</a:t>
            </a:r>
            <a:r>
              <a:rPr lang="en-US" altLang="zh-CN" b="1" dirty="0"/>
              <a:t>bytes</a:t>
            </a:r>
            <a:r>
              <a:rPr lang="zh-CN" altLang="en-US" b="1" dirty="0"/>
              <a:t>个字节</a:t>
            </a:r>
            <a:r>
              <a:rPr lang="zh-CN" altLang="en-US" b="1" dirty="0" smtClean="0"/>
              <a:t>。</a:t>
            </a:r>
            <a:endParaRPr lang="en-US" altLang="zh-CN" b="1" dirty="0" smtClean="0"/>
          </a:p>
          <a:p>
            <a:pPr marL="285750" indent="-285750">
              <a:buFont typeface="Arial" panose="020B0604020202020204" pitchFamily="34" charset="0"/>
              <a:buChar char="•"/>
            </a:pPr>
            <a:r>
              <a:rPr lang="zh-CN" altLang="en-US" b="1" dirty="0" smtClean="0"/>
              <a:t>拷贝</a:t>
            </a:r>
            <a:r>
              <a:rPr lang="en-US" altLang="zh-CN" b="1" dirty="0" smtClean="0"/>
              <a:t>count</a:t>
            </a:r>
            <a:r>
              <a:rPr lang="zh-CN" altLang="en-US" b="1" dirty="0" smtClean="0"/>
              <a:t>个</a:t>
            </a:r>
            <a:r>
              <a:rPr lang="zh-CN" altLang="en-US" b="1" dirty="0"/>
              <a:t>块</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a:t>
            </a:r>
          </a:p>
        </p:txBody>
      </p:sp>
      <p:sp>
        <p:nvSpPr>
          <p:cNvPr id="3" name="内容占位符 2"/>
          <p:cNvSpPr>
            <a:spLocks noGrp="1"/>
          </p:cNvSpPr>
          <p:nvPr>
            <p:ph idx="1"/>
          </p:nvPr>
        </p:nvSpPr>
        <p:spPr>
          <a:xfrm>
            <a:off x="467544" y="1371600"/>
            <a:ext cx="8280920" cy="5225752"/>
          </a:xfrm>
        </p:spPr>
        <p:txBody>
          <a:bodyPr/>
          <a:lstStyle/>
          <a:p>
            <a:r>
              <a:rPr lang="zh-CN" altLang="en-US" dirty="0">
                <a:solidFill>
                  <a:srgbClr val="FF0000"/>
                </a:solidFill>
              </a:rPr>
              <a:t>磁盘限额</a:t>
            </a:r>
            <a:r>
              <a:rPr lang="zh-CN" altLang="en-US" dirty="0"/>
              <a:t>是系统管理员用来</a:t>
            </a:r>
            <a:r>
              <a:rPr lang="zh-CN" altLang="en-US" dirty="0">
                <a:solidFill>
                  <a:srgbClr val="FF0000"/>
                </a:solidFill>
              </a:rPr>
              <a:t>监控和限制用户或组</a:t>
            </a:r>
            <a:r>
              <a:rPr lang="zh-CN" altLang="en-US" dirty="0"/>
              <a:t>对</a:t>
            </a:r>
            <a:r>
              <a:rPr lang="zh-CN" altLang="en-US" dirty="0">
                <a:solidFill>
                  <a:srgbClr val="FF0000"/>
                </a:solidFill>
              </a:rPr>
              <a:t>磁盘使用</a:t>
            </a:r>
            <a:r>
              <a:rPr lang="zh-CN" altLang="en-US" dirty="0"/>
              <a:t>的工具 </a:t>
            </a:r>
          </a:p>
          <a:p>
            <a:r>
              <a:rPr lang="zh-CN" altLang="en-US" dirty="0"/>
              <a:t>磁盘限额可以从两方面限制</a:t>
            </a:r>
          </a:p>
          <a:p>
            <a:pPr lvl="1"/>
            <a:r>
              <a:rPr lang="zh-CN" altLang="en-US" dirty="0"/>
              <a:t>限制用户或组可以拥有的</a:t>
            </a:r>
            <a:r>
              <a:rPr lang="en-US" altLang="zh-CN" dirty="0">
                <a:solidFill>
                  <a:srgbClr val="FF0000"/>
                </a:solidFill>
              </a:rPr>
              <a:t>inode</a:t>
            </a:r>
            <a:r>
              <a:rPr lang="zh-CN" altLang="en-US" dirty="0">
                <a:solidFill>
                  <a:srgbClr val="FF0000"/>
                </a:solidFill>
              </a:rPr>
              <a:t>数</a:t>
            </a:r>
            <a:r>
              <a:rPr lang="zh-CN" altLang="en-US" dirty="0"/>
              <a:t>（即文件个数） </a:t>
            </a:r>
          </a:p>
          <a:p>
            <a:pPr lvl="1"/>
            <a:r>
              <a:rPr lang="zh-CN" altLang="en-US" dirty="0"/>
              <a:t>限制分配给用户或组的</a:t>
            </a:r>
            <a:r>
              <a:rPr lang="zh-CN" altLang="en-US" dirty="0">
                <a:solidFill>
                  <a:srgbClr val="FF0000"/>
                </a:solidFill>
              </a:rPr>
              <a:t>磁盘块的数目</a:t>
            </a:r>
          </a:p>
          <a:p>
            <a:r>
              <a:rPr lang="zh-CN" altLang="en-US" dirty="0">
                <a:solidFill>
                  <a:srgbClr val="0000FF"/>
                </a:solidFill>
              </a:rPr>
              <a:t>磁盘配额是以每一使用者，每一文件系统为基础的。如果使用者可以在超过一个以上的文件系统上建立文件，那么必须在每一文件系统上分别设定。</a:t>
            </a:r>
            <a:r>
              <a:rPr lang="zh-CN" altLang="en-US" dirty="0"/>
              <a:t> </a:t>
            </a:r>
          </a:p>
        </p:txBody>
      </p:sp>
    </p:spTree>
    <p:extLst>
      <p:ext uri="{BB962C8B-B14F-4D97-AF65-F5344CB8AC3E}">
        <p14:creationId xmlns:p14="http://schemas.microsoft.com/office/powerpoint/2010/main" val="25145076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磁盘限额的限制策略</a:t>
            </a:r>
          </a:p>
        </p:txBody>
      </p:sp>
      <p:sp>
        <p:nvSpPr>
          <p:cNvPr id="3" name="内容占位符 2"/>
          <p:cNvSpPr>
            <a:spLocks noGrp="1"/>
          </p:cNvSpPr>
          <p:nvPr>
            <p:ph idx="1"/>
          </p:nvPr>
        </p:nvSpPr>
        <p:spPr>
          <a:xfrm>
            <a:off x="827584" y="1484783"/>
            <a:ext cx="7772400" cy="5181501"/>
          </a:xfrm>
        </p:spPr>
        <p:txBody>
          <a:bodyPr/>
          <a:lstStyle/>
          <a:p>
            <a:pPr>
              <a:lnSpc>
                <a:spcPct val="120000"/>
              </a:lnSpc>
            </a:pPr>
            <a:r>
              <a:rPr lang="zh-CN" altLang="en-US" dirty="0">
                <a:solidFill>
                  <a:srgbClr val="FF0000"/>
                </a:solidFill>
              </a:rPr>
              <a:t>硬限制</a:t>
            </a:r>
            <a:r>
              <a:rPr lang="zh-CN" altLang="en-US" dirty="0"/>
              <a:t>：超过此设定值后</a:t>
            </a:r>
            <a:r>
              <a:rPr lang="zh-CN" altLang="en-US" dirty="0">
                <a:solidFill>
                  <a:srgbClr val="FF0000"/>
                </a:solidFill>
              </a:rPr>
              <a:t>不能继续存储</a:t>
            </a:r>
            <a:r>
              <a:rPr lang="zh-CN" altLang="en-US" dirty="0"/>
              <a:t>新的文件</a:t>
            </a:r>
          </a:p>
          <a:p>
            <a:pPr>
              <a:lnSpc>
                <a:spcPct val="120000"/>
              </a:lnSpc>
            </a:pPr>
            <a:r>
              <a:rPr lang="zh-CN" altLang="en-US" dirty="0">
                <a:solidFill>
                  <a:srgbClr val="FF0000"/>
                </a:solidFill>
              </a:rPr>
              <a:t>软限制</a:t>
            </a:r>
            <a:r>
              <a:rPr lang="zh-CN" altLang="en-US" dirty="0"/>
              <a:t>：超过此设定值后仍旧</a:t>
            </a:r>
            <a:r>
              <a:rPr lang="zh-CN" altLang="en-US" dirty="0">
                <a:solidFill>
                  <a:srgbClr val="FF0000"/>
                </a:solidFill>
              </a:rPr>
              <a:t>可以继续存储</a:t>
            </a:r>
            <a:r>
              <a:rPr lang="zh-CN" altLang="en-US" dirty="0"/>
              <a:t>新的文件，同时系统</a:t>
            </a:r>
            <a:r>
              <a:rPr lang="zh-CN" altLang="en-US" dirty="0">
                <a:solidFill>
                  <a:srgbClr val="FF0000"/>
                </a:solidFill>
              </a:rPr>
              <a:t>发出警告</a:t>
            </a:r>
            <a:r>
              <a:rPr lang="zh-CN" altLang="en-US" dirty="0"/>
              <a:t>信息</a:t>
            </a:r>
            <a:r>
              <a:rPr lang="en-US" altLang="zh-CN" dirty="0"/>
              <a:t>, </a:t>
            </a:r>
            <a:r>
              <a:rPr lang="zh-CN" altLang="en-US" dirty="0"/>
              <a:t>建议用户清理自己的文件，释放出更多的空间</a:t>
            </a:r>
          </a:p>
          <a:p>
            <a:pPr>
              <a:lnSpc>
                <a:spcPct val="120000"/>
              </a:lnSpc>
            </a:pPr>
            <a:r>
              <a:rPr lang="zh-CN" altLang="en-US" dirty="0">
                <a:solidFill>
                  <a:srgbClr val="FF0000"/>
                </a:solidFill>
              </a:rPr>
              <a:t>宽限</a:t>
            </a:r>
            <a:r>
              <a:rPr lang="zh-CN" altLang="en-US" dirty="0" smtClean="0">
                <a:solidFill>
                  <a:srgbClr val="FF0000"/>
                </a:solidFill>
              </a:rPr>
              <a:t>制</a:t>
            </a:r>
            <a:r>
              <a:rPr lang="zh-CN" altLang="en-US" dirty="0" smtClean="0"/>
              <a:t>：</a:t>
            </a:r>
            <a:r>
              <a:rPr lang="zh-CN" altLang="en-US" dirty="0"/>
              <a:t>超过</a:t>
            </a:r>
            <a:r>
              <a:rPr lang="zh-CN" altLang="en-US" dirty="0">
                <a:solidFill>
                  <a:srgbClr val="FF0000"/>
                </a:solidFill>
              </a:rPr>
              <a:t>软限制</a:t>
            </a:r>
            <a:r>
              <a:rPr lang="zh-CN" altLang="en-US" dirty="0"/>
              <a:t>多长</a:t>
            </a:r>
            <a:r>
              <a:rPr lang="zh-CN" altLang="en-US" dirty="0">
                <a:solidFill>
                  <a:srgbClr val="FF0000"/>
                </a:solidFill>
              </a:rPr>
              <a:t>时间之内</a:t>
            </a:r>
            <a:r>
              <a:rPr lang="zh-CN" altLang="en-US" dirty="0"/>
              <a:t>（默认为</a:t>
            </a:r>
            <a:r>
              <a:rPr lang="en-US" altLang="zh-CN" dirty="0"/>
              <a:t>7</a:t>
            </a:r>
            <a:r>
              <a:rPr lang="zh-CN" altLang="en-US" dirty="0"/>
              <a:t>天）</a:t>
            </a:r>
            <a:r>
              <a:rPr lang="zh-CN" altLang="en-US" dirty="0">
                <a:solidFill>
                  <a:srgbClr val="FF0000"/>
                </a:solidFill>
              </a:rPr>
              <a:t>可以继续存储</a:t>
            </a:r>
            <a:r>
              <a:rPr lang="zh-CN" altLang="en-US" dirty="0"/>
              <a:t>新的文件</a:t>
            </a:r>
          </a:p>
          <a:p>
            <a:endParaRPr lang="zh-CN" altLang="en-US" dirty="0"/>
          </a:p>
        </p:txBody>
      </p:sp>
    </p:spTree>
    <p:extLst>
      <p:ext uri="{BB962C8B-B14F-4D97-AF65-F5344CB8AC3E}">
        <p14:creationId xmlns:p14="http://schemas.microsoft.com/office/powerpoint/2010/main" val="29776919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配置磁盘限额的前提</a:t>
            </a:r>
          </a:p>
        </p:txBody>
      </p:sp>
      <p:sp>
        <p:nvSpPr>
          <p:cNvPr id="3" name="内容占位符 2"/>
          <p:cNvSpPr>
            <a:spLocks noGrp="1"/>
          </p:cNvSpPr>
          <p:nvPr>
            <p:ph idx="1"/>
          </p:nvPr>
        </p:nvSpPr>
        <p:spPr>
          <a:xfrm>
            <a:off x="188181" y="1628800"/>
            <a:ext cx="8767638" cy="4114800"/>
          </a:xfrm>
        </p:spPr>
        <p:txBody>
          <a:bodyPr/>
          <a:lstStyle/>
          <a:p>
            <a:pPr>
              <a:lnSpc>
                <a:spcPct val="130000"/>
              </a:lnSpc>
            </a:pPr>
            <a:r>
              <a:rPr lang="zh-CN" altLang="en-US" dirty="0"/>
              <a:t>查看</a:t>
            </a:r>
            <a:r>
              <a:rPr lang="zh-CN" altLang="en-US" dirty="0">
                <a:solidFill>
                  <a:srgbClr val="FF0000"/>
                </a:solidFill>
              </a:rPr>
              <a:t>内核</a:t>
            </a:r>
            <a:r>
              <a:rPr lang="zh-CN" altLang="en-US" dirty="0"/>
              <a:t>是否支持</a:t>
            </a:r>
            <a:endParaRPr lang="en-US" altLang="zh-CN" dirty="0"/>
          </a:p>
          <a:p>
            <a:pPr lvl="1">
              <a:lnSpc>
                <a:spcPct val="130000"/>
              </a:lnSpc>
            </a:pPr>
            <a:r>
              <a:rPr lang="zh-CN" altLang="en-US" dirty="0"/>
              <a:t>默认安装时，是支持</a:t>
            </a:r>
            <a:r>
              <a:rPr lang="en-US" altLang="zh-CN" dirty="0"/>
              <a:t>quota</a:t>
            </a:r>
            <a:r>
              <a:rPr lang="zh-CN" altLang="en-US" dirty="0"/>
              <a:t>的</a:t>
            </a:r>
          </a:p>
          <a:p>
            <a:pPr>
              <a:lnSpc>
                <a:spcPct val="130000"/>
              </a:lnSpc>
            </a:pPr>
            <a:r>
              <a:rPr lang="zh-CN" altLang="en-US" dirty="0"/>
              <a:t>查看系统中</a:t>
            </a:r>
            <a:r>
              <a:rPr lang="zh-CN" altLang="en-US" dirty="0">
                <a:solidFill>
                  <a:srgbClr val="FF0000"/>
                </a:solidFill>
              </a:rPr>
              <a:t>是否安装</a:t>
            </a:r>
            <a:r>
              <a:rPr lang="zh-CN" altLang="en-US" dirty="0"/>
              <a:t>了</a:t>
            </a:r>
            <a:r>
              <a:rPr lang="en-US" altLang="zh-CN" dirty="0"/>
              <a:t>quota</a:t>
            </a:r>
            <a:r>
              <a:rPr lang="zh-CN" altLang="en-US" dirty="0"/>
              <a:t>的</a:t>
            </a:r>
            <a:r>
              <a:rPr lang="en-US" altLang="zh-CN" dirty="0"/>
              <a:t>RPM</a:t>
            </a:r>
          </a:p>
          <a:p>
            <a:pPr lvl="1">
              <a:lnSpc>
                <a:spcPct val="130000"/>
              </a:lnSpc>
            </a:pPr>
            <a:r>
              <a:rPr lang="en-US" altLang="zh-CN" dirty="0"/>
              <a:t>Red Hat/</a:t>
            </a:r>
            <a:r>
              <a:rPr lang="en-US" altLang="zh-CN" dirty="0" err="1"/>
              <a:t>CentOS</a:t>
            </a:r>
            <a:r>
              <a:rPr lang="en-US" altLang="zh-CN" dirty="0"/>
              <a:t> </a:t>
            </a:r>
            <a:r>
              <a:rPr lang="zh-CN" altLang="en-US" dirty="0"/>
              <a:t>默认已经安装</a:t>
            </a:r>
          </a:p>
          <a:p>
            <a:pPr>
              <a:lnSpc>
                <a:spcPct val="130000"/>
              </a:lnSpc>
            </a:pPr>
            <a:r>
              <a:rPr lang="zh-CN" altLang="en-US" dirty="0"/>
              <a:t>查看启动脚本</a:t>
            </a:r>
            <a:r>
              <a:rPr lang="zh-CN" altLang="en-US" dirty="0">
                <a:solidFill>
                  <a:srgbClr val="FF0000"/>
                </a:solidFill>
              </a:rPr>
              <a:t>是否</a:t>
            </a:r>
            <a:r>
              <a:rPr lang="zh-CN" altLang="en-US" dirty="0"/>
              <a:t>在系统启动时</a:t>
            </a:r>
            <a:r>
              <a:rPr lang="zh-CN" altLang="en-US" dirty="0">
                <a:solidFill>
                  <a:srgbClr val="FF0000"/>
                </a:solidFill>
              </a:rPr>
              <a:t>打开</a:t>
            </a:r>
            <a:r>
              <a:rPr lang="zh-CN" altLang="en-US" dirty="0"/>
              <a:t>了</a:t>
            </a:r>
            <a:r>
              <a:rPr lang="en-US" altLang="zh-CN" dirty="0"/>
              <a:t>quota</a:t>
            </a:r>
          </a:p>
          <a:p>
            <a:pPr lvl="1">
              <a:lnSpc>
                <a:spcPct val="130000"/>
              </a:lnSpc>
            </a:pPr>
            <a:r>
              <a:rPr lang="en-US" altLang="zh-CN" dirty="0"/>
              <a:t>RHEL/</a:t>
            </a:r>
            <a:r>
              <a:rPr lang="en-US" altLang="zh-CN" dirty="0" err="1"/>
              <a:t>CentOS</a:t>
            </a:r>
            <a:r>
              <a:rPr lang="zh-CN" altLang="en-US" dirty="0"/>
              <a:t>默认已经打开</a:t>
            </a:r>
          </a:p>
        </p:txBody>
      </p:sp>
    </p:spTree>
    <p:extLst>
      <p:ext uri="{BB962C8B-B14F-4D97-AF65-F5344CB8AC3E}">
        <p14:creationId xmlns:p14="http://schemas.microsoft.com/office/powerpoint/2010/main" val="16734845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配置磁盘限额的前提</a:t>
            </a:r>
          </a:p>
        </p:txBody>
      </p:sp>
      <p:sp>
        <p:nvSpPr>
          <p:cNvPr id="4" name="内容占位符 3"/>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392083" y="3140968"/>
            <a:ext cx="8343930" cy="2283323"/>
          </a:xfrm>
          <a:prstGeom prst="rect">
            <a:avLst/>
          </a:prstGeom>
        </p:spPr>
      </p:pic>
      <p:pic>
        <p:nvPicPr>
          <p:cNvPr id="6" name="图片 5"/>
          <p:cNvPicPr>
            <a:picLocks noChangeAspect="1"/>
          </p:cNvPicPr>
          <p:nvPr/>
        </p:nvPicPr>
        <p:blipFill>
          <a:blip r:embed="rId3"/>
          <a:stretch>
            <a:fillRect/>
          </a:stretch>
        </p:blipFill>
        <p:spPr>
          <a:xfrm>
            <a:off x="400035" y="1765812"/>
            <a:ext cx="8265986" cy="1228089"/>
          </a:xfrm>
          <a:prstGeom prst="rect">
            <a:avLst/>
          </a:prstGeom>
        </p:spPr>
      </p:pic>
      <p:pic>
        <p:nvPicPr>
          <p:cNvPr id="7" name="图片 6"/>
          <p:cNvPicPr>
            <a:picLocks noChangeAspect="1"/>
          </p:cNvPicPr>
          <p:nvPr/>
        </p:nvPicPr>
        <p:blipFill>
          <a:blip r:embed="rId4"/>
          <a:stretch>
            <a:fillRect/>
          </a:stretch>
        </p:blipFill>
        <p:spPr>
          <a:xfrm>
            <a:off x="400035" y="5600005"/>
            <a:ext cx="8412251" cy="493291"/>
          </a:xfrm>
          <a:prstGeom prst="rect">
            <a:avLst/>
          </a:prstGeom>
        </p:spPr>
      </p:pic>
    </p:spTree>
    <p:extLst>
      <p:ext uri="{BB962C8B-B14F-4D97-AF65-F5344CB8AC3E}">
        <p14:creationId xmlns:p14="http://schemas.microsoft.com/office/powerpoint/2010/main" val="41429470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磁盘限额配置步骤</a:t>
            </a:r>
          </a:p>
        </p:txBody>
      </p:sp>
      <p:sp>
        <p:nvSpPr>
          <p:cNvPr id="3" name="内容占位符 2"/>
          <p:cNvSpPr>
            <a:spLocks noGrp="1"/>
          </p:cNvSpPr>
          <p:nvPr>
            <p:ph idx="1"/>
          </p:nvPr>
        </p:nvSpPr>
        <p:spPr>
          <a:xfrm>
            <a:off x="587408" y="2132856"/>
            <a:ext cx="8556591" cy="4725144"/>
          </a:xfrm>
        </p:spPr>
        <p:txBody>
          <a:bodyPr/>
          <a:lstStyle/>
          <a:p>
            <a:r>
              <a:rPr lang="zh-CN" altLang="en-US" dirty="0"/>
              <a:t>编辑</a:t>
            </a:r>
            <a:r>
              <a:rPr lang="en-US" altLang="zh-CN" dirty="0"/>
              <a:t>/etc/</a:t>
            </a:r>
            <a:r>
              <a:rPr lang="en-US" altLang="zh-CN" dirty="0" err="1"/>
              <a:t>fstab</a:t>
            </a:r>
            <a:endParaRPr lang="en-US" altLang="zh-CN" dirty="0"/>
          </a:p>
          <a:p>
            <a:pPr lvl="1"/>
            <a:r>
              <a:rPr lang="zh-CN" altLang="en-US" dirty="0"/>
              <a:t>添加文件系统挂载</a:t>
            </a:r>
            <a:r>
              <a:rPr lang="zh-CN" altLang="en-US" dirty="0" smtClean="0"/>
              <a:t>选项</a:t>
            </a:r>
            <a:r>
              <a:rPr lang="en-US" altLang="zh-CN" dirty="0" err="1" smtClean="0"/>
              <a:t>usrquota,grpquota</a:t>
            </a:r>
            <a:endParaRPr lang="en-US" altLang="zh-CN" dirty="0"/>
          </a:p>
          <a:p>
            <a:pPr lvl="1"/>
            <a:r>
              <a:rPr lang="zh-CN" altLang="en-US" dirty="0"/>
              <a:t>例如</a:t>
            </a:r>
            <a:endParaRPr lang="en-US" altLang="zh-CN" dirty="0"/>
          </a:p>
          <a:p>
            <a:pPr lvl="1">
              <a:buNone/>
            </a:pPr>
            <a:r>
              <a:rPr lang="en-US" altLang="zh-CN" dirty="0"/>
              <a:t>LABEL=/home  /home  ext3 </a:t>
            </a:r>
          </a:p>
          <a:p>
            <a:pPr lvl="1">
              <a:buNone/>
            </a:pPr>
            <a:r>
              <a:rPr lang="en-US" altLang="zh-CN" dirty="0"/>
              <a:t>                </a:t>
            </a:r>
            <a:r>
              <a:rPr lang="en-US" altLang="zh-CN" dirty="0" err="1"/>
              <a:t>defaults</a:t>
            </a:r>
            <a:r>
              <a:rPr lang="en-US" altLang="zh-CN" dirty="0" err="1">
                <a:solidFill>
                  <a:srgbClr val="C00000"/>
                </a:solidFill>
              </a:rPr>
              <a:t>,grpquota,usrquota</a:t>
            </a:r>
            <a:r>
              <a:rPr lang="en-US" altLang="zh-CN" dirty="0"/>
              <a:t>    1  2</a:t>
            </a:r>
            <a:endParaRPr lang="zh-CN" altLang="zh-CN" dirty="0"/>
          </a:p>
          <a:p>
            <a:r>
              <a:rPr lang="zh-CN" altLang="en-US" dirty="0"/>
              <a:t>重新挂装文件系统</a:t>
            </a:r>
            <a:endParaRPr lang="en-US" altLang="zh-CN" dirty="0"/>
          </a:p>
          <a:p>
            <a:pPr lvl="1">
              <a:buNone/>
            </a:pPr>
            <a:r>
              <a:rPr lang="en-US" altLang="zh-CN" dirty="0">
                <a:solidFill>
                  <a:schemeClr val="accent6">
                    <a:lumMod val="75000"/>
                  </a:schemeClr>
                </a:solidFill>
              </a:rPr>
              <a:t># mount -o remount /home </a:t>
            </a:r>
            <a:r>
              <a:rPr lang="en-US" altLang="zh-CN" dirty="0" err="1">
                <a:solidFill>
                  <a:srgbClr val="FF0000"/>
                </a:solidFill>
              </a:rPr>
              <a:t>xfs</a:t>
            </a:r>
            <a:r>
              <a:rPr lang="zh-CN" altLang="en-US" dirty="0">
                <a:solidFill>
                  <a:srgbClr val="FF0000"/>
                </a:solidFill>
              </a:rPr>
              <a:t>文件系统失效</a:t>
            </a:r>
            <a:endParaRPr lang="en-US" altLang="zh-CN" dirty="0">
              <a:solidFill>
                <a:srgbClr val="FF0000"/>
              </a:solidFill>
            </a:endParaRPr>
          </a:p>
          <a:p>
            <a:pPr lvl="1">
              <a:buNone/>
            </a:pPr>
            <a:r>
              <a:rPr lang="en-US" altLang="zh-CN" dirty="0">
                <a:solidFill>
                  <a:srgbClr val="FF0000"/>
                </a:solidFill>
              </a:rPr>
              <a:t># </a:t>
            </a:r>
            <a:r>
              <a:rPr lang="en-US" altLang="zh-CN" dirty="0" err="1">
                <a:solidFill>
                  <a:srgbClr val="FF0000"/>
                </a:solidFill>
              </a:rPr>
              <a:t>umount</a:t>
            </a:r>
            <a:r>
              <a:rPr lang="en-US" altLang="zh-CN" dirty="0">
                <a:solidFill>
                  <a:srgbClr val="FF0000"/>
                </a:solidFill>
              </a:rPr>
              <a:t> /home</a:t>
            </a:r>
          </a:p>
          <a:p>
            <a:pPr lvl="1">
              <a:buNone/>
            </a:pPr>
            <a:r>
              <a:rPr lang="en-US" altLang="zh-CN" dirty="0">
                <a:solidFill>
                  <a:srgbClr val="FF0000"/>
                </a:solidFill>
              </a:rPr>
              <a:t># mount -a</a:t>
            </a:r>
          </a:p>
          <a:p>
            <a:pPr lvl="1">
              <a:buNone/>
            </a:pPr>
            <a:endParaRPr lang="zh-CN" altLang="en-US" dirty="0">
              <a:solidFill>
                <a:schemeClr val="accent6">
                  <a:lumMod val="75000"/>
                </a:schemeClr>
              </a:solidFill>
            </a:endParaRPr>
          </a:p>
        </p:txBody>
      </p:sp>
      <p:sp>
        <p:nvSpPr>
          <p:cNvPr id="5" name="文本框 4">
            <a:extLst>
              <a:ext uri="{FF2B5EF4-FFF2-40B4-BE49-F238E27FC236}">
                <a16:creationId xmlns:a16="http://schemas.microsoft.com/office/drawing/2014/main" id="{1F1776D0-3843-4AB2-ADEB-06664E997B22}"/>
              </a:ext>
            </a:extLst>
          </p:cNvPr>
          <p:cNvSpPr txBox="1"/>
          <p:nvPr/>
        </p:nvSpPr>
        <p:spPr>
          <a:xfrm>
            <a:off x="589658" y="1396154"/>
            <a:ext cx="7510734" cy="646331"/>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600" b="1" dirty="0">
                <a:solidFill>
                  <a:srgbClr val="C00000"/>
                </a:solidFill>
                <a:latin typeface="Tahoma" panose="020B0604030504040204" pitchFamily="34" charset="0"/>
              </a:rPr>
              <a:t>（</a:t>
            </a:r>
            <a:r>
              <a:rPr lang="en-US" altLang="zh-CN" sz="3600" b="1" dirty="0">
                <a:solidFill>
                  <a:srgbClr val="C00000"/>
                </a:solidFill>
                <a:latin typeface="Tahoma" panose="020B0604030504040204" pitchFamily="34" charset="0"/>
              </a:rPr>
              <a:t>1</a:t>
            </a:r>
            <a:r>
              <a:rPr lang="zh-CN" altLang="en-US" sz="3600" b="1" dirty="0">
                <a:solidFill>
                  <a:srgbClr val="C00000"/>
                </a:solidFill>
                <a:latin typeface="Tahoma" panose="020B0604030504040204" pitchFamily="34" charset="0"/>
              </a:rPr>
              <a:t>）</a:t>
            </a:r>
            <a:r>
              <a:rPr lang="zh-CN" altLang="zh-CN" sz="3600" b="1" dirty="0">
                <a:solidFill>
                  <a:srgbClr val="C00000"/>
                </a:solidFill>
                <a:latin typeface="Tahoma" panose="020B0604030504040204" pitchFamily="34" charset="0"/>
              </a:rPr>
              <a:t>启用文件系统的</a:t>
            </a:r>
            <a:r>
              <a:rPr lang="en-US" altLang="zh-CN" sz="3600" b="1" dirty="0">
                <a:solidFill>
                  <a:srgbClr val="C00000"/>
                </a:solidFill>
                <a:latin typeface="Tahoma" panose="020B0604030504040204" pitchFamily="34" charset="0"/>
              </a:rPr>
              <a:t>quota</a:t>
            </a:r>
            <a:r>
              <a:rPr lang="zh-CN" altLang="zh-CN" sz="3600" b="1" dirty="0">
                <a:solidFill>
                  <a:srgbClr val="C00000"/>
                </a:solidFill>
                <a:latin typeface="Tahoma" panose="020B0604030504040204" pitchFamily="34" charset="0"/>
              </a:rPr>
              <a:t>功能</a:t>
            </a:r>
            <a:endParaRPr lang="zh-CN" altLang="en-US" sz="3600" b="1" dirty="0">
              <a:solidFill>
                <a:srgbClr val="C00000"/>
              </a:solidFill>
              <a:latin typeface="Tahoma" panose="020B0604030504040204" pitchFamily="34" charset="0"/>
            </a:endParaRPr>
          </a:p>
        </p:txBody>
      </p:sp>
    </p:spTree>
    <p:extLst>
      <p:ext uri="{BB962C8B-B14F-4D97-AF65-F5344CB8AC3E}">
        <p14:creationId xmlns:p14="http://schemas.microsoft.com/office/powerpoint/2010/main" val="22233791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磁盘限额配置步骤</a:t>
            </a:r>
          </a:p>
        </p:txBody>
      </p:sp>
      <p:sp>
        <p:nvSpPr>
          <p:cNvPr id="3" name="内容占位符 2"/>
          <p:cNvSpPr>
            <a:spLocks noGrp="1"/>
          </p:cNvSpPr>
          <p:nvPr>
            <p:ph idx="1"/>
          </p:nvPr>
        </p:nvSpPr>
        <p:spPr>
          <a:xfrm>
            <a:off x="1259632" y="2349479"/>
            <a:ext cx="6408712" cy="4070077"/>
          </a:xfrm>
        </p:spPr>
        <p:txBody>
          <a:bodyPr/>
          <a:lstStyle/>
          <a:p>
            <a:pPr>
              <a:lnSpc>
                <a:spcPct val="130000"/>
              </a:lnSpc>
            </a:pPr>
            <a:r>
              <a:rPr lang="zh-CN" altLang="zh-CN" dirty="0"/>
              <a:t>创建</a:t>
            </a:r>
            <a:r>
              <a:rPr lang="en-US" altLang="zh-CN" dirty="0"/>
              <a:t>quota</a:t>
            </a:r>
            <a:r>
              <a:rPr lang="zh-CN" altLang="en-US" dirty="0"/>
              <a:t>数据库</a:t>
            </a:r>
            <a:endParaRPr lang="en-US" altLang="zh-CN" dirty="0"/>
          </a:p>
          <a:p>
            <a:pPr lvl="1">
              <a:lnSpc>
                <a:spcPct val="130000"/>
              </a:lnSpc>
              <a:buNone/>
            </a:pPr>
            <a:r>
              <a:rPr lang="en-US" altLang="zh-CN" dirty="0">
                <a:solidFill>
                  <a:schemeClr val="accent6">
                    <a:lumMod val="75000"/>
                  </a:schemeClr>
                </a:solidFill>
              </a:rPr>
              <a:t># </a:t>
            </a:r>
            <a:r>
              <a:rPr lang="en-US" altLang="zh-CN" dirty="0" err="1">
                <a:solidFill>
                  <a:schemeClr val="accent6">
                    <a:lumMod val="75000"/>
                  </a:schemeClr>
                </a:solidFill>
              </a:rPr>
              <a:t>quotacheck</a:t>
            </a:r>
            <a:r>
              <a:rPr lang="en-US" altLang="zh-CN" dirty="0">
                <a:solidFill>
                  <a:schemeClr val="accent6">
                    <a:lumMod val="75000"/>
                  </a:schemeClr>
                </a:solidFill>
              </a:rPr>
              <a:t> -</a:t>
            </a:r>
            <a:r>
              <a:rPr lang="en-US" altLang="zh-CN" dirty="0" err="1">
                <a:solidFill>
                  <a:schemeClr val="accent6">
                    <a:lumMod val="75000"/>
                  </a:schemeClr>
                </a:solidFill>
              </a:rPr>
              <a:t>cmvug</a:t>
            </a:r>
            <a:r>
              <a:rPr lang="en-US" altLang="zh-CN" dirty="0">
                <a:solidFill>
                  <a:schemeClr val="accent6">
                    <a:lumMod val="75000"/>
                  </a:schemeClr>
                </a:solidFill>
              </a:rPr>
              <a:t> /home</a:t>
            </a:r>
          </a:p>
          <a:p>
            <a:pPr>
              <a:lnSpc>
                <a:spcPct val="130000"/>
              </a:lnSpc>
            </a:pPr>
            <a:r>
              <a:rPr lang="zh-CN" altLang="en-US" dirty="0"/>
              <a:t>开启</a:t>
            </a:r>
            <a:r>
              <a:rPr lang="en-US" altLang="zh-CN" dirty="0"/>
              <a:t>quota</a:t>
            </a:r>
            <a:r>
              <a:rPr lang="zh-CN" altLang="en-US" dirty="0"/>
              <a:t>功能</a:t>
            </a:r>
            <a:endParaRPr lang="en-US" altLang="zh-CN" dirty="0"/>
          </a:p>
          <a:p>
            <a:pPr lvl="1">
              <a:lnSpc>
                <a:spcPct val="130000"/>
              </a:lnSpc>
              <a:buNone/>
            </a:pPr>
            <a:r>
              <a:rPr lang="en-US" altLang="zh-CN" dirty="0">
                <a:solidFill>
                  <a:schemeClr val="accent6">
                    <a:lumMod val="75000"/>
                  </a:schemeClr>
                </a:solidFill>
              </a:rPr>
              <a:t># </a:t>
            </a:r>
            <a:r>
              <a:rPr lang="en-US" altLang="zh-CN" dirty="0" err="1">
                <a:solidFill>
                  <a:schemeClr val="accent6">
                    <a:lumMod val="75000"/>
                  </a:schemeClr>
                </a:solidFill>
              </a:rPr>
              <a:t>quotaon</a:t>
            </a:r>
            <a:r>
              <a:rPr lang="en-US" altLang="zh-CN" dirty="0">
                <a:solidFill>
                  <a:schemeClr val="accent6">
                    <a:lumMod val="75000"/>
                  </a:schemeClr>
                </a:solidFill>
              </a:rPr>
              <a:t> -</a:t>
            </a:r>
            <a:r>
              <a:rPr lang="en-US" altLang="zh-CN" dirty="0" err="1">
                <a:solidFill>
                  <a:schemeClr val="accent6">
                    <a:lumMod val="75000"/>
                  </a:schemeClr>
                </a:solidFill>
              </a:rPr>
              <a:t>avug</a:t>
            </a:r>
            <a:endParaRPr lang="zh-CN" altLang="zh-CN" dirty="0">
              <a:solidFill>
                <a:schemeClr val="accent6">
                  <a:lumMod val="75000"/>
                </a:schemeClr>
              </a:solidFill>
            </a:endParaRPr>
          </a:p>
          <a:p>
            <a:endParaRPr lang="zh-CN" altLang="en-US" dirty="0"/>
          </a:p>
        </p:txBody>
      </p:sp>
      <p:sp>
        <p:nvSpPr>
          <p:cNvPr id="5" name="文本框 4">
            <a:extLst>
              <a:ext uri="{FF2B5EF4-FFF2-40B4-BE49-F238E27FC236}">
                <a16:creationId xmlns:a16="http://schemas.microsoft.com/office/drawing/2014/main" id="{7B7393E0-3387-434B-AE76-DD688B86A4D4}"/>
              </a:ext>
            </a:extLst>
          </p:cNvPr>
          <p:cNvSpPr txBox="1"/>
          <p:nvPr/>
        </p:nvSpPr>
        <p:spPr>
          <a:xfrm>
            <a:off x="717550" y="1473388"/>
            <a:ext cx="8172400" cy="646331"/>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600" b="1" dirty="0">
                <a:solidFill>
                  <a:srgbClr val="C00000"/>
                </a:solidFill>
                <a:latin typeface="Tahoma" panose="020B0604030504040204" pitchFamily="34" charset="0"/>
              </a:rPr>
              <a:t>（</a:t>
            </a:r>
            <a:r>
              <a:rPr lang="en-US" altLang="zh-CN" sz="3600" b="1" dirty="0">
                <a:solidFill>
                  <a:srgbClr val="C00000"/>
                </a:solidFill>
                <a:latin typeface="Tahoma" panose="020B0604030504040204" pitchFamily="34" charset="0"/>
              </a:rPr>
              <a:t>2</a:t>
            </a:r>
            <a:r>
              <a:rPr lang="zh-CN" altLang="en-US" sz="3600" b="1" dirty="0">
                <a:solidFill>
                  <a:srgbClr val="C00000"/>
                </a:solidFill>
                <a:latin typeface="Tahoma" panose="020B0604030504040204" pitchFamily="34" charset="0"/>
              </a:rPr>
              <a:t>）</a:t>
            </a:r>
            <a:r>
              <a:rPr lang="zh-CN" altLang="zh-CN" sz="3600" b="1" dirty="0">
                <a:solidFill>
                  <a:srgbClr val="C00000"/>
                </a:solidFill>
                <a:latin typeface="Tahoma" panose="020B0604030504040204" pitchFamily="34" charset="0"/>
              </a:rPr>
              <a:t>创建</a:t>
            </a:r>
            <a:r>
              <a:rPr lang="en-US" altLang="zh-CN" sz="3600" b="1" dirty="0">
                <a:solidFill>
                  <a:srgbClr val="C00000"/>
                </a:solidFill>
                <a:latin typeface="Tahoma" panose="020B0604030504040204" pitchFamily="34" charset="0"/>
              </a:rPr>
              <a:t>quota</a:t>
            </a:r>
            <a:r>
              <a:rPr lang="zh-CN" altLang="en-US" sz="3600" b="1" dirty="0">
                <a:solidFill>
                  <a:srgbClr val="C00000"/>
                </a:solidFill>
                <a:latin typeface="Tahoma" panose="020B0604030504040204" pitchFamily="34" charset="0"/>
              </a:rPr>
              <a:t>数据库</a:t>
            </a:r>
            <a:r>
              <a:rPr lang="zh-CN" altLang="zh-CN" sz="3600" b="1" dirty="0">
                <a:solidFill>
                  <a:srgbClr val="C00000"/>
                </a:solidFill>
                <a:latin typeface="Tahoma" panose="020B0604030504040204" pitchFamily="34" charset="0"/>
              </a:rPr>
              <a:t>并开启</a:t>
            </a:r>
            <a:r>
              <a:rPr lang="en-US" altLang="zh-CN" sz="3600" b="1" dirty="0">
                <a:solidFill>
                  <a:srgbClr val="C00000"/>
                </a:solidFill>
                <a:latin typeface="Tahoma" panose="020B0604030504040204" pitchFamily="34" charset="0"/>
              </a:rPr>
              <a:t>quota</a:t>
            </a:r>
            <a:endParaRPr lang="zh-CN" altLang="en-US" sz="3600" b="1" dirty="0">
              <a:solidFill>
                <a:srgbClr val="C00000"/>
              </a:solidFill>
              <a:latin typeface="Tahoma" panose="020B0604030504040204" pitchFamily="34" charset="0"/>
            </a:endParaRPr>
          </a:p>
        </p:txBody>
      </p:sp>
      <p:sp>
        <p:nvSpPr>
          <p:cNvPr id="4" name="文本框 3"/>
          <p:cNvSpPr txBox="1"/>
          <p:nvPr/>
        </p:nvSpPr>
        <p:spPr>
          <a:xfrm>
            <a:off x="6228184" y="3922852"/>
            <a:ext cx="324036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smtClean="0"/>
              <a:t>见表</a:t>
            </a:r>
            <a:r>
              <a:rPr lang="en-US" altLang="zh-CN" sz="2400" dirty="0" smtClean="0"/>
              <a:t>4-11</a:t>
            </a:r>
            <a:endParaRPr lang="zh-CN" altLang="en-US" sz="2400" dirty="0"/>
          </a:p>
        </p:txBody>
      </p:sp>
      <p:sp>
        <p:nvSpPr>
          <p:cNvPr id="6" name="矩形 5"/>
          <p:cNvSpPr/>
          <p:nvPr/>
        </p:nvSpPr>
        <p:spPr>
          <a:xfrm>
            <a:off x="932309" y="5219226"/>
            <a:ext cx="7742882" cy="1477328"/>
          </a:xfrm>
          <a:prstGeom prst="rect">
            <a:avLst/>
          </a:prstGeom>
        </p:spPr>
        <p:txBody>
          <a:bodyPr wrap="square">
            <a:spAutoFit/>
          </a:bodyPr>
          <a:lstStyle/>
          <a:p>
            <a:pPr>
              <a:buFont typeface="Arial" panose="020B0604020202020204" pitchFamily="34" charset="0"/>
              <a:buChar char="•"/>
            </a:pPr>
            <a:r>
              <a:rPr lang="en-US" altLang="zh-CN" dirty="0">
                <a:solidFill>
                  <a:srgbClr val="444444"/>
                </a:solidFill>
                <a:latin typeface="Consolas" panose="020B0609020204030204" pitchFamily="49" charset="0"/>
              </a:rPr>
              <a:t>-g, --group</a:t>
            </a:r>
            <a:r>
              <a:rPr lang="zh-CN" altLang="en-US" dirty="0">
                <a:solidFill>
                  <a:srgbClr val="111111"/>
                </a:solidFill>
                <a:latin typeface="Arial" panose="020B0604020202020204" pitchFamily="34" charset="0"/>
              </a:rPr>
              <a:t>：打印用户所在组的组配额。</a:t>
            </a:r>
          </a:p>
          <a:p>
            <a:pPr>
              <a:buFont typeface="Arial" panose="020B0604020202020204" pitchFamily="34" charset="0"/>
              <a:buChar char="•"/>
            </a:pPr>
            <a:r>
              <a:rPr lang="en-US" altLang="zh-CN" dirty="0">
                <a:solidFill>
                  <a:srgbClr val="444444"/>
                </a:solidFill>
                <a:latin typeface="Consolas" panose="020B0609020204030204" pitchFamily="49" charset="0"/>
              </a:rPr>
              <a:t>-u, --user</a:t>
            </a:r>
            <a:r>
              <a:rPr lang="zh-CN" altLang="en-US" dirty="0">
                <a:solidFill>
                  <a:srgbClr val="111111"/>
                </a:solidFill>
                <a:latin typeface="Arial" panose="020B0604020202020204" pitchFamily="34" charset="0"/>
              </a:rPr>
              <a:t>：打印用户配额，这是默认设置。</a:t>
            </a:r>
          </a:p>
          <a:p>
            <a:pPr>
              <a:buFont typeface="Arial" panose="020B0604020202020204" pitchFamily="34" charset="0"/>
              <a:buChar char="•"/>
            </a:pPr>
            <a:r>
              <a:rPr lang="en-US" altLang="zh-CN" dirty="0">
                <a:solidFill>
                  <a:srgbClr val="444444"/>
                </a:solidFill>
                <a:latin typeface="Consolas" panose="020B0609020204030204" pitchFamily="49" charset="0"/>
              </a:rPr>
              <a:t>-v, --verbose</a:t>
            </a:r>
            <a:r>
              <a:rPr lang="zh-CN" altLang="en-US" dirty="0">
                <a:solidFill>
                  <a:srgbClr val="111111"/>
                </a:solidFill>
                <a:latin typeface="Arial" panose="020B0604020202020204" pitchFamily="34" charset="0"/>
              </a:rPr>
              <a:t>：显示没有存储分配的文件系统的配额。</a:t>
            </a:r>
          </a:p>
          <a:p>
            <a:pPr>
              <a:buFont typeface="Arial" panose="020B0604020202020204" pitchFamily="34" charset="0"/>
              <a:buChar char="•"/>
            </a:pPr>
            <a:r>
              <a:rPr lang="en-US" altLang="zh-CN" dirty="0">
                <a:solidFill>
                  <a:srgbClr val="444444"/>
                </a:solidFill>
                <a:latin typeface="Consolas" panose="020B0609020204030204" pitchFamily="49" charset="0"/>
              </a:rPr>
              <a:t>-s, --human-readable</a:t>
            </a:r>
            <a:r>
              <a:rPr lang="zh-CN" altLang="en-US" dirty="0">
                <a:solidFill>
                  <a:srgbClr val="111111"/>
                </a:solidFill>
                <a:latin typeface="Arial" panose="020B0604020202020204" pitchFamily="34" charset="0"/>
              </a:rPr>
              <a:t>：以易读的方式显示限制、使用的空间和使用的</a:t>
            </a:r>
            <a:r>
              <a:rPr lang="en-US" altLang="zh-CN" dirty="0" err="1">
                <a:solidFill>
                  <a:srgbClr val="111111"/>
                </a:solidFill>
                <a:latin typeface="Arial" panose="020B0604020202020204" pitchFamily="34" charset="0"/>
              </a:rPr>
              <a:t>inode</a:t>
            </a:r>
            <a:r>
              <a:rPr lang="zh-CN" altLang="en-US" dirty="0">
                <a:solidFill>
                  <a:srgbClr val="111111"/>
                </a:solidFill>
                <a:latin typeface="Arial" panose="020B0604020202020204" pitchFamily="34" charset="0"/>
              </a:rPr>
              <a:t>的单位</a:t>
            </a:r>
            <a:endParaRPr lang="zh-CN" altLang="en-US" b="0" i="0" dirty="0">
              <a:solidFill>
                <a:srgbClr val="111111"/>
              </a:solidFill>
              <a:effectLst/>
              <a:latin typeface="Arial" panose="020B0604020202020204" pitchFamily="34" charset="0"/>
            </a:endParaRPr>
          </a:p>
        </p:txBody>
      </p:sp>
      <p:sp>
        <p:nvSpPr>
          <p:cNvPr id="7" name="矩形 6"/>
          <p:cNvSpPr/>
          <p:nvPr/>
        </p:nvSpPr>
        <p:spPr>
          <a:xfrm>
            <a:off x="4896544" y="2055317"/>
            <a:ext cx="4050606" cy="1200329"/>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r>
              <a:rPr lang="zh-CN" altLang="en-US" dirty="0"/>
              <a:t> </a:t>
            </a:r>
            <a:r>
              <a:rPr lang="en-US" altLang="zh-CN" dirty="0"/>
              <a:t>-c  </a:t>
            </a:r>
            <a:r>
              <a:rPr lang="en-US" altLang="zh-CN" dirty="0" smtClean="0"/>
              <a:t> </a:t>
            </a:r>
            <a:r>
              <a:rPr lang="zh-CN" altLang="en-US" dirty="0" smtClean="0"/>
              <a:t>不</a:t>
            </a:r>
            <a:r>
              <a:rPr lang="zh-CN" altLang="en-US" dirty="0"/>
              <a:t>读已经存在的配额文件</a:t>
            </a:r>
            <a:r>
              <a:rPr lang="en-US" altLang="zh-CN" dirty="0"/>
              <a:t>.</a:t>
            </a:r>
            <a:r>
              <a:rPr lang="zh-CN" altLang="en-US" dirty="0"/>
              <a:t>执行一次新的扫描</a:t>
            </a:r>
            <a:r>
              <a:rPr lang="en-US" altLang="zh-CN" dirty="0"/>
              <a:t>,</a:t>
            </a:r>
            <a:r>
              <a:rPr lang="zh-CN" altLang="en-US" dirty="0"/>
              <a:t>并且把结果保存到磁盘上</a:t>
            </a:r>
            <a:r>
              <a:rPr lang="en-US" altLang="zh-CN" dirty="0" smtClean="0"/>
              <a:t>.</a:t>
            </a:r>
          </a:p>
          <a:p>
            <a:r>
              <a:rPr lang="en-US" altLang="zh-CN" dirty="0" smtClean="0"/>
              <a:t>-m  </a:t>
            </a:r>
            <a:r>
              <a:rPr lang="zh-CN" altLang="en-US" dirty="0" smtClean="0"/>
              <a:t>不</a:t>
            </a:r>
            <a:r>
              <a:rPr lang="zh-CN" altLang="en-US" dirty="0"/>
              <a:t>尝试将文件系统重新挂载为只读</a:t>
            </a:r>
            <a:r>
              <a:rPr lang="zh-CN" altLang="en-US" dirty="0" smtClean="0"/>
              <a:t>模式</a:t>
            </a:r>
            <a:endParaRPr lang="zh-CN" altLang="en-US" dirty="0"/>
          </a:p>
        </p:txBody>
      </p:sp>
    </p:spTree>
    <p:extLst>
      <p:ext uri="{BB962C8B-B14F-4D97-AF65-F5344CB8AC3E}">
        <p14:creationId xmlns:p14="http://schemas.microsoft.com/office/powerpoint/2010/main" val="7507454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磁盘限额配置步骤</a:t>
            </a:r>
          </a:p>
        </p:txBody>
      </p:sp>
      <p:sp>
        <p:nvSpPr>
          <p:cNvPr id="3" name="内容占位符 2"/>
          <p:cNvSpPr>
            <a:spLocks noGrp="1"/>
          </p:cNvSpPr>
          <p:nvPr>
            <p:ph idx="1"/>
          </p:nvPr>
        </p:nvSpPr>
        <p:spPr>
          <a:xfrm>
            <a:off x="1259632" y="2204864"/>
            <a:ext cx="7772400" cy="4114800"/>
          </a:xfrm>
        </p:spPr>
        <p:txBody>
          <a:bodyPr/>
          <a:lstStyle/>
          <a:p>
            <a:pPr>
              <a:lnSpc>
                <a:spcPct val="120000"/>
              </a:lnSpc>
            </a:pPr>
            <a:r>
              <a:rPr lang="zh-CN" altLang="en-US" dirty="0">
                <a:solidFill>
                  <a:srgbClr val="FF0000"/>
                </a:solidFill>
              </a:rPr>
              <a:t>交互式编辑</a:t>
            </a:r>
            <a:r>
              <a:rPr lang="zh-CN" altLang="en-US" dirty="0"/>
              <a:t>配额</a:t>
            </a:r>
            <a:endParaRPr lang="en-US" altLang="zh-CN" dirty="0"/>
          </a:p>
          <a:p>
            <a:pPr lvl="1">
              <a:lnSpc>
                <a:spcPct val="120000"/>
              </a:lnSpc>
            </a:pPr>
            <a:r>
              <a:rPr lang="en-US" altLang="zh-CN" dirty="0" err="1"/>
              <a:t>edquota</a:t>
            </a:r>
            <a:endParaRPr lang="en-US" altLang="zh-CN" dirty="0"/>
          </a:p>
          <a:p>
            <a:pPr>
              <a:lnSpc>
                <a:spcPct val="120000"/>
              </a:lnSpc>
            </a:pPr>
            <a:r>
              <a:rPr lang="zh-CN" altLang="en-US" dirty="0">
                <a:solidFill>
                  <a:srgbClr val="FF0000"/>
                </a:solidFill>
              </a:rPr>
              <a:t>命令式设置</a:t>
            </a:r>
            <a:r>
              <a:rPr lang="zh-CN" altLang="en-US" dirty="0"/>
              <a:t>配额</a:t>
            </a:r>
            <a:endParaRPr lang="en-US" altLang="zh-CN" dirty="0"/>
          </a:p>
          <a:p>
            <a:pPr lvl="1">
              <a:lnSpc>
                <a:spcPct val="120000"/>
              </a:lnSpc>
            </a:pPr>
            <a:r>
              <a:rPr lang="en-US" altLang="zh-CN" dirty="0" err="1"/>
              <a:t>setquota</a:t>
            </a:r>
            <a:endParaRPr lang="en-US" altLang="zh-CN" dirty="0"/>
          </a:p>
          <a:p>
            <a:pPr>
              <a:lnSpc>
                <a:spcPct val="120000"/>
              </a:lnSpc>
            </a:pPr>
            <a:r>
              <a:rPr lang="zh-CN" altLang="en-US" dirty="0"/>
              <a:t>将参考用户</a:t>
            </a:r>
            <a:r>
              <a:rPr lang="en-US" altLang="zh-CN" dirty="0"/>
              <a:t>/</a:t>
            </a:r>
            <a:r>
              <a:rPr lang="zh-CN" altLang="en-US" dirty="0"/>
              <a:t>组的配额</a:t>
            </a:r>
            <a:r>
              <a:rPr lang="zh-CN" altLang="en-US" dirty="0">
                <a:solidFill>
                  <a:srgbClr val="FF0000"/>
                </a:solidFill>
              </a:rPr>
              <a:t>复制</a:t>
            </a:r>
            <a:r>
              <a:rPr lang="zh-CN" altLang="en-US" dirty="0"/>
              <a:t>给其他用户</a:t>
            </a:r>
            <a:r>
              <a:rPr lang="en-US" altLang="zh-CN" dirty="0"/>
              <a:t>/</a:t>
            </a:r>
            <a:r>
              <a:rPr lang="zh-CN" altLang="en-US" dirty="0"/>
              <a:t>组</a:t>
            </a:r>
            <a:endParaRPr lang="en-US" altLang="zh-CN" dirty="0"/>
          </a:p>
          <a:p>
            <a:pPr lvl="1">
              <a:lnSpc>
                <a:spcPct val="120000"/>
              </a:lnSpc>
            </a:pPr>
            <a:r>
              <a:rPr lang="en-US" altLang="zh-CN" dirty="0" err="1"/>
              <a:t>edquota</a:t>
            </a:r>
            <a:r>
              <a:rPr lang="en-US" altLang="zh-CN" dirty="0"/>
              <a:t>  </a:t>
            </a:r>
            <a:r>
              <a:rPr lang="en-US" altLang="zh-CN" dirty="0">
                <a:solidFill>
                  <a:srgbClr val="FF0000"/>
                </a:solidFill>
              </a:rPr>
              <a:t>-p </a:t>
            </a:r>
            <a:r>
              <a:rPr lang="en-US" altLang="zh-CN" dirty="0"/>
              <a:t>&lt;</a:t>
            </a:r>
            <a:r>
              <a:rPr lang="en-US" altLang="zh-CN" dirty="0" err="1"/>
              <a:t>protoname</a:t>
            </a:r>
            <a:r>
              <a:rPr lang="en-US" altLang="zh-CN" dirty="0"/>
              <a:t>&gt; ……</a:t>
            </a:r>
          </a:p>
          <a:p>
            <a:pPr lvl="1">
              <a:lnSpc>
                <a:spcPct val="120000"/>
              </a:lnSpc>
            </a:pPr>
            <a:r>
              <a:rPr lang="en-US" altLang="zh-CN" dirty="0" err="1"/>
              <a:t>setquota</a:t>
            </a:r>
            <a:r>
              <a:rPr lang="en-US" altLang="zh-CN" dirty="0"/>
              <a:t> </a:t>
            </a:r>
            <a:r>
              <a:rPr lang="en-US" altLang="zh-CN" dirty="0">
                <a:solidFill>
                  <a:srgbClr val="FF0000"/>
                </a:solidFill>
              </a:rPr>
              <a:t>-p </a:t>
            </a:r>
            <a:r>
              <a:rPr lang="en-US" altLang="zh-CN" dirty="0"/>
              <a:t>&lt;</a:t>
            </a:r>
            <a:r>
              <a:rPr lang="en-US" altLang="zh-CN" dirty="0" err="1"/>
              <a:t>protoname</a:t>
            </a:r>
            <a:r>
              <a:rPr lang="en-US" altLang="zh-CN" dirty="0"/>
              <a:t>&gt; ……</a:t>
            </a:r>
            <a:endParaRPr lang="zh-CN" altLang="en-US" dirty="0"/>
          </a:p>
        </p:txBody>
      </p:sp>
      <p:sp>
        <p:nvSpPr>
          <p:cNvPr id="5" name="文本框 4">
            <a:extLst>
              <a:ext uri="{FF2B5EF4-FFF2-40B4-BE49-F238E27FC236}">
                <a16:creationId xmlns:a16="http://schemas.microsoft.com/office/drawing/2014/main" id="{F5BD36B9-DD3B-4C10-A058-3A23B36C9221}"/>
              </a:ext>
            </a:extLst>
          </p:cNvPr>
          <p:cNvSpPr txBox="1"/>
          <p:nvPr/>
        </p:nvSpPr>
        <p:spPr>
          <a:xfrm>
            <a:off x="827584" y="1510492"/>
            <a:ext cx="7628384" cy="646331"/>
          </a:xfrm>
          <a:prstGeom prst="rect">
            <a:avLst/>
          </a:prstGeom>
          <a:noFill/>
        </p:spPr>
        <p:txBody>
          <a:bodyPr wrap="square">
            <a:spAutoFit/>
          </a:bodyPr>
          <a:lstStyle/>
          <a:p>
            <a:pPr marL="342900" indent="-342900" eaLnBrk="0" hangingPunct="0">
              <a:spcBef>
                <a:spcPct val="20000"/>
              </a:spcBef>
              <a:buClr>
                <a:schemeClr val="folHlink"/>
              </a:buClr>
              <a:buSzPct val="60000"/>
              <a:buFont typeface="Wingdings" panose="05000000000000000000" pitchFamily="2" charset="2"/>
              <a:buChar char="n"/>
            </a:pPr>
            <a:r>
              <a:rPr lang="zh-CN" altLang="en-US" sz="3600" b="1" dirty="0">
                <a:solidFill>
                  <a:srgbClr val="C00000"/>
                </a:solidFill>
                <a:latin typeface="Tahoma" panose="020B0604030504040204" pitchFamily="34" charset="0"/>
              </a:rPr>
              <a:t>（</a:t>
            </a:r>
            <a:r>
              <a:rPr lang="en-US" altLang="zh-CN" sz="3600" b="1" dirty="0">
                <a:solidFill>
                  <a:srgbClr val="C00000"/>
                </a:solidFill>
                <a:latin typeface="Tahoma" panose="020B0604030504040204" pitchFamily="34" charset="0"/>
              </a:rPr>
              <a:t>3</a:t>
            </a:r>
            <a:r>
              <a:rPr lang="zh-CN" altLang="en-US" sz="3600" b="1" dirty="0">
                <a:solidFill>
                  <a:srgbClr val="C00000"/>
                </a:solidFill>
                <a:latin typeface="Tahoma" panose="020B0604030504040204" pitchFamily="34" charset="0"/>
              </a:rPr>
              <a:t>）</a:t>
            </a:r>
            <a:r>
              <a:rPr lang="zh-CN" altLang="zh-CN" sz="3600" b="1" dirty="0">
                <a:solidFill>
                  <a:srgbClr val="C00000"/>
                </a:solidFill>
                <a:latin typeface="Tahoma" panose="020B0604030504040204" pitchFamily="34" charset="0"/>
              </a:rPr>
              <a:t>设置用户和组的</a:t>
            </a:r>
            <a:r>
              <a:rPr lang="en-US" altLang="zh-CN" sz="3600" b="1" dirty="0">
                <a:solidFill>
                  <a:srgbClr val="C00000"/>
                </a:solidFill>
                <a:latin typeface="Tahoma" panose="020B0604030504040204" pitchFamily="34" charset="0"/>
              </a:rPr>
              <a:t>quota</a:t>
            </a:r>
            <a:endParaRPr lang="zh-CN" altLang="en-US" sz="3600" b="1" dirty="0">
              <a:solidFill>
                <a:srgbClr val="C00000"/>
              </a:solidFill>
              <a:latin typeface="Tahoma" panose="020B0604030504040204" pitchFamily="34" charset="0"/>
            </a:endParaRPr>
          </a:p>
        </p:txBody>
      </p:sp>
    </p:spTree>
    <p:extLst>
      <p:ext uri="{BB962C8B-B14F-4D97-AF65-F5344CB8AC3E}">
        <p14:creationId xmlns:p14="http://schemas.microsoft.com/office/powerpoint/2010/main" val="20902149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en-US" altLang="zh-CN" dirty="0" err="1"/>
              <a:t>edquota</a:t>
            </a:r>
            <a:r>
              <a:rPr lang="zh-CN" altLang="en-US" dirty="0"/>
              <a:t>命令</a:t>
            </a:r>
          </a:p>
        </p:txBody>
      </p:sp>
      <p:sp>
        <p:nvSpPr>
          <p:cNvPr id="3" name="内容占位符 2"/>
          <p:cNvSpPr>
            <a:spLocks noGrp="1"/>
          </p:cNvSpPr>
          <p:nvPr>
            <p:ph idx="1"/>
          </p:nvPr>
        </p:nvSpPr>
        <p:spPr>
          <a:xfrm>
            <a:off x="736313" y="1379680"/>
            <a:ext cx="8388698" cy="5006181"/>
          </a:xfrm>
        </p:spPr>
        <p:txBody>
          <a:bodyPr/>
          <a:lstStyle/>
          <a:p>
            <a:r>
              <a:rPr lang="zh-CN" altLang="en-US" dirty="0"/>
              <a:t>编辑指定</a:t>
            </a:r>
            <a:r>
              <a:rPr lang="zh-CN" altLang="en-US" dirty="0">
                <a:solidFill>
                  <a:srgbClr val="FF0000"/>
                </a:solidFill>
              </a:rPr>
              <a:t>用户</a:t>
            </a:r>
            <a:r>
              <a:rPr lang="zh-CN" altLang="en-US" dirty="0"/>
              <a:t>的</a:t>
            </a:r>
            <a:r>
              <a:rPr lang="zh-CN" altLang="en-US" dirty="0">
                <a:solidFill>
                  <a:srgbClr val="FF0000"/>
                </a:solidFill>
              </a:rPr>
              <a:t>配额</a:t>
            </a:r>
          </a:p>
          <a:p>
            <a:pPr lvl="1"/>
            <a:r>
              <a:rPr lang="en-US" altLang="zh-CN" sz="2600" dirty="0" err="1"/>
              <a:t>edquota</a:t>
            </a:r>
            <a:r>
              <a:rPr lang="en-US" altLang="zh-CN" sz="2600" dirty="0"/>
              <a:t> [</a:t>
            </a:r>
            <a:r>
              <a:rPr lang="en-US" altLang="zh-CN" sz="2600" dirty="0">
                <a:solidFill>
                  <a:srgbClr val="FF0000"/>
                </a:solidFill>
              </a:rPr>
              <a:t>-u</a:t>
            </a:r>
            <a:r>
              <a:rPr lang="en-US" altLang="zh-CN" sz="2600" dirty="0"/>
              <a:t>]  [ -f </a:t>
            </a:r>
            <a:r>
              <a:rPr lang="en-US" altLang="zh-CN" sz="2600" dirty="0" err="1"/>
              <a:t>filesystem</a:t>
            </a:r>
            <a:r>
              <a:rPr lang="en-US" altLang="zh-CN" sz="2600" dirty="0"/>
              <a:t> ] &lt;username&gt;</a:t>
            </a:r>
          </a:p>
          <a:p>
            <a:r>
              <a:rPr lang="zh-CN" altLang="en-US" dirty="0"/>
              <a:t>编辑指定</a:t>
            </a:r>
            <a:r>
              <a:rPr lang="zh-CN" altLang="en-US" dirty="0">
                <a:solidFill>
                  <a:srgbClr val="FF0000"/>
                </a:solidFill>
              </a:rPr>
              <a:t>组</a:t>
            </a:r>
            <a:r>
              <a:rPr lang="zh-CN" altLang="en-US" dirty="0"/>
              <a:t>的</a:t>
            </a:r>
            <a:r>
              <a:rPr lang="zh-CN" altLang="en-US" dirty="0">
                <a:solidFill>
                  <a:srgbClr val="FF0000"/>
                </a:solidFill>
              </a:rPr>
              <a:t>配额</a:t>
            </a:r>
          </a:p>
          <a:p>
            <a:pPr lvl="1"/>
            <a:r>
              <a:rPr lang="en-US" altLang="zh-CN" sz="2600" dirty="0" err="1"/>
              <a:t>edquota</a:t>
            </a:r>
            <a:r>
              <a:rPr lang="en-US" altLang="zh-CN" sz="2600" dirty="0"/>
              <a:t> </a:t>
            </a:r>
            <a:r>
              <a:rPr lang="en-US" altLang="zh-CN" sz="2600" dirty="0">
                <a:solidFill>
                  <a:srgbClr val="FF0000"/>
                </a:solidFill>
              </a:rPr>
              <a:t>-g    </a:t>
            </a:r>
            <a:r>
              <a:rPr lang="en-US" altLang="zh-CN" sz="2600" dirty="0"/>
              <a:t>[ -f </a:t>
            </a:r>
            <a:r>
              <a:rPr lang="en-US" altLang="zh-CN" sz="2600" dirty="0" err="1"/>
              <a:t>filesystem</a:t>
            </a:r>
            <a:r>
              <a:rPr lang="en-US" altLang="zh-CN" sz="2600" dirty="0"/>
              <a:t> ] &lt;</a:t>
            </a:r>
            <a:r>
              <a:rPr lang="en-US" altLang="zh-CN" sz="2600" dirty="0" err="1"/>
              <a:t>groupname</a:t>
            </a:r>
            <a:r>
              <a:rPr lang="en-US" altLang="zh-CN" sz="2600" dirty="0"/>
              <a:t>&gt;</a:t>
            </a:r>
          </a:p>
          <a:p>
            <a:r>
              <a:rPr lang="zh-CN" altLang="en-US" dirty="0"/>
              <a:t>编辑指定</a:t>
            </a:r>
            <a:r>
              <a:rPr lang="zh-CN" altLang="en-US" dirty="0">
                <a:solidFill>
                  <a:srgbClr val="FF0000"/>
                </a:solidFill>
              </a:rPr>
              <a:t>用户</a:t>
            </a:r>
            <a:r>
              <a:rPr lang="zh-CN" altLang="en-US" dirty="0"/>
              <a:t>的配额</a:t>
            </a:r>
            <a:r>
              <a:rPr lang="zh-CN" altLang="en-US" dirty="0">
                <a:solidFill>
                  <a:srgbClr val="FF0000"/>
                </a:solidFill>
              </a:rPr>
              <a:t>时限</a:t>
            </a:r>
          </a:p>
          <a:p>
            <a:pPr lvl="1"/>
            <a:r>
              <a:rPr lang="en-US" altLang="zh-CN" sz="2600" dirty="0" err="1"/>
              <a:t>edquota</a:t>
            </a:r>
            <a:r>
              <a:rPr lang="en-US" altLang="zh-CN" sz="2600" dirty="0"/>
              <a:t> </a:t>
            </a:r>
            <a:r>
              <a:rPr lang="en-US" altLang="zh-CN" sz="2600" dirty="0">
                <a:solidFill>
                  <a:srgbClr val="FF0000"/>
                </a:solidFill>
              </a:rPr>
              <a:t>-t</a:t>
            </a:r>
            <a:r>
              <a:rPr lang="en-US" altLang="zh-CN" sz="2600" dirty="0"/>
              <a:t> [</a:t>
            </a:r>
            <a:r>
              <a:rPr lang="en-US" altLang="zh-CN" sz="2600" dirty="0">
                <a:solidFill>
                  <a:srgbClr val="FF0000"/>
                </a:solidFill>
              </a:rPr>
              <a:t>-u</a:t>
            </a:r>
            <a:r>
              <a:rPr lang="en-US" altLang="zh-CN" sz="2600" dirty="0"/>
              <a:t>]  [ -f </a:t>
            </a:r>
            <a:r>
              <a:rPr lang="en-US" altLang="zh-CN" sz="2600" dirty="0" err="1"/>
              <a:t>filesystem</a:t>
            </a:r>
            <a:r>
              <a:rPr lang="en-US" altLang="zh-CN" sz="2600" dirty="0"/>
              <a:t> ] </a:t>
            </a:r>
          </a:p>
          <a:p>
            <a:r>
              <a:rPr lang="zh-CN" altLang="en-US" dirty="0"/>
              <a:t>编辑指定</a:t>
            </a:r>
            <a:r>
              <a:rPr lang="zh-CN" altLang="en-US" dirty="0">
                <a:solidFill>
                  <a:srgbClr val="FF0000"/>
                </a:solidFill>
              </a:rPr>
              <a:t>组</a:t>
            </a:r>
            <a:r>
              <a:rPr lang="zh-CN" altLang="en-US" dirty="0"/>
              <a:t>的配额</a:t>
            </a:r>
            <a:r>
              <a:rPr lang="zh-CN" altLang="en-US" dirty="0">
                <a:solidFill>
                  <a:srgbClr val="FF0000"/>
                </a:solidFill>
              </a:rPr>
              <a:t>时限</a:t>
            </a:r>
          </a:p>
          <a:p>
            <a:pPr lvl="1"/>
            <a:r>
              <a:rPr lang="en-US" altLang="zh-CN" sz="2600" dirty="0" err="1"/>
              <a:t>edquota</a:t>
            </a:r>
            <a:r>
              <a:rPr lang="en-US" altLang="zh-CN" sz="2600" dirty="0"/>
              <a:t> </a:t>
            </a:r>
            <a:r>
              <a:rPr lang="en-US" altLang="zh-CN" sz="2600" dirty="0">
                <a:solidFill>
                  <a:srgbClr val="FF0000"/>
                </a:solidFill>
              </a:rPr>
              <a:t>-t -g    </a:t>
            </a:r>
            <a:r>
              <a:rPr lang="en-US" altLang="zh-CN" sz="2600" dirty="0"/>
              <a:t>[ -f </a:t>
            </a:r>
            <a:r>
              <a:rPr lang="en-US" altLang="zh-CN" sz="2600" dirty="0" err="1"/>
              <a:t>filesystem</a:t>
            </a:r>
            <a:r>
              <a:rPr lang="en-US" altLang="zh-CN" sz="2600" dirty="0"/>
              <a:t> ] </a:t>
            </a:r>
            <a:endParaRPr lang="zh-CN" altLang="en-US" sz="2600" dirty="0"/>
          </a:p>
        </p:txBody>
      </p:sp>
      <p:sp>
        <p:nvSpPr>
          <p:cNvPr id="7" name="Rectangle 11"/>
          <p:cNvSpPr>
            <a:spLocks noChangeArrowheads="1"/>
          </p:cNvSpPr>
          <p:nvPr/>
        </p:nvSpPr>
        <p:spPr bwMode="auto">
          <a:xfrm>
            <a:off x="736313" y="5762440"/>
            <a:ext cx="7705476" cy="830997"/>
          </a:xfrm>
          <a:prstGeom prst="rect">
            <a:avLst/>
          </a:prstGeom>
          <a:solidFill>
            <a:schemeClr val="bg1"/>
          </a:solidFill>
          <a:ln w="38100">
            <a:solidFill>
              <a:schemeClr val="hlink"/>
            </a:solidFill>
            <a:miter lim="800000"/>
            <a:headEnd/>
            <a:tailEnd/>
          </a:ln>
          <a:effectLst/>
        </p:spPr>
        <p:txBody>
          <a:bodyPr wrap="square">
            <a:spAutoFit/>
          </a:bodyPr>
          <a:lstStyle/>
          <a:p>
            <a:r>
              <a:rPr lang="en-US" altLang="zh-CN" sz="2400" dirty="0">
                <a:solidFill>
                  <a:srgbClr val="3333CC"/>
                </a:solidFill>
                <a:ea typeface="黑体" pitchFamily="49" charset="-122"/>
              </a:rPr>
              <a:t>-f </a:t>
            </a:r>
            <a:r>
              <a:rPr lang="en-US" altLang="zh-CN" sz="2400" dirty="0" err="1"/>
              <a:t>filesystem</a:t>
            </a:r>
            <a:r>
              <a:rPr lang="en-US" altLang="zh-CN" sz="2400" dirty="0"/>
              <a:t> </a:t>
            </a:r>
            <a:r>
              <a:rPr lang="zh-CN" altLang="en-US" sz="2400" dirty="0"/>
              <a:t>表示对指定的文件系统设置配额，</a:t>
            </a:r>
            <a:r>
              <a:rPr lang="zh-CN" altLang="en-US" sz="2400" dirty="0">
                <a:solidFill>
                  <a:srgbClr val="FF0000"/>
                </a:solidFill>
              </a:rPr>
              <a:t>省略</a:t>
            </a:r>
            <a:r>
              <a:rPr lang="zh-CN" altLang="en-US" sz="2400" dirty="0"/>
              <a:t>时表示对</a:t>
            </a:r>
            <a:r>
              <a:rPr lang="zh-CN" altLang="en-US" sz="2400" dirty="0">
                <a:solidFill>
                  <a:srgbClr val="FF0000"/>
                </a:solidFill>
              </a:rPr>
              <a:t>所有</a:t>
            </a:r>
            <a:r>
              <a:rPr lang="zh-CN" altLang="en-US" sz="2400" dirty="0"/>
              <a:t>启用了</a:t>
            </a:r>
            <a:r>
              <a:rPr lang="en-US" altLang="zh-CN" sz="2400" dirty="0"/>
              <a:t>quota</a:t>
            </a:r>
            <a:r>
              <a:rPr lang="zh-CN" altLang="en-US" sz="2400" dirty="0"/>
              <a:t>的</a:t>
            </a:r>
            <a:r>
              <a:rPr lang="zh-CN" altLang="en-US" sz="2400" dirty="0">
                <a:solidFill>
                  <a:srgbClr val="FF0000"/>
                </a:solidFill>
              </a:rPr>
              <a:t>文件系统</a:t>
            </a:r>
            <a:r>
              <a:rPr lang="zh-CN" altLang="en-US" sz="2400" dirty="0"/>
              <a:t>进行设置。</a:t>
            </a:r>
            <a:endParaRPr lang="zh-CN" altLang="en-US" sz="2400" dirty="0">
              <a:solidFill>
                <a:srgbClr val="006600"/>
              </a:solidFill>
              <a:latin typeface="Courier New" pitchFamily="49" charset="0"/>
              <a:ea typeface="黑体" pitchFamily="49" charset="-122"/>
            </a:endParaRPr>
          </a:p>
        </p:txBody>
      </p:sp>
    </p:spTree>
    <p:extLst>
      <p:ext uri="{BB962C8B-B14F-4D97-AF65-F5344CB8AC3E}">
        <p14:creationId xmlns:p14="http://schemas.microsoft.com/office/powerpoint/2010/main" val="8615218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en-US" altLang="zh-CN" dirty="0" err="1"/>
              <a:t>edquota</a:t>
            </a:r>
            <a:r>
              <a:rPr lang="zh-CN" altLang="en-US" dirty="0"/>
              <a:t>命令</a:t>
            </a:r>
          </a:p>
        </p:txBody>
      </p:sp>
      <p:pic>
        <p:nvPicPr>
          <p:cNvPr id="5" name="图片 4"/>
          <p:cNvPicPr>
            <a:picLocks noChangeAspect="1"/>
          </p:cNvPicPr>
          <p:nvPr/>
        </p:nvPicPr>
        <p:blipFill rotWithShape="1">
          <a:blip r:embed="rId2"/>
          <a:srcRect t="723"/>
          <a:stretch/>
        </p:blipFill>
        <p:spPr>
          <a:xfrm>
            <a:off x="560333" y="2497559"/>
            <a:ext cx="8175680" cy="2592288"/>
          </a:xfrm>
          <a:prstGeom prst="rect">
            <a:avLst/>
          </a:prstGeom>
        </p:spPr>
      </p:pic>
      <p:sp>
        <p:nvSpPr>
          <p:cNvPr id="3" name="矩形 2"/>
          <p:cNvSpPr/>
          <p:nvPr/>
        </p:nvSpPr>
        <p:spPr>
          <a:xfrm>
            <a:off x="560333" y="1682318"/>
            <a:ext cx="8175680" cy="830997"/>
          </a:xfrm>
          <a:prstGeom prst="rect">
            <a:avLst/>
          </a:prstGeom>
        </p:spPr>
        <p:txBody>
          <a:bodyPr wrap="square">
            <a:spAutoFit/>
          </a:bodyPr>
          <a:lstStyle/>
          <a:p>
            <a:r>
              <a:rPr lang="en-US" altLang="zh-CN" sz="2400" dirty="0"/>
              <a:t>[</a:t>
            </a:r>
            <a:r>
              <a:rPr lang="en-US" altLang="zh-CN" sz="2400" dirty="0" err="1"/>
              <a:t>root@localhost</a:t>
            </a:r>
            <a:r>
              <a:rPr lang="en-US" altLang="zh-CN" sz="2400" dirty="0"/>
              <a:t> ~]# </a:t>
            </a:r>
            <a:r>
              <a:rPr lang="en-US" altLang="zh-CN" sz="2400" dirty="0" err="1"/>
              <a:t>edquota</a:t>
            </a:r>
            <a:r>
              <a:rPr lang="en-US" altLang="zh-CN" sz="2400" dirty="0"/>
              <a:t> xl</a:t>
            </a:r>
          </a:p>
          <a:p>
            <a:r>
              <a:rPr lang="en-US" altLang="zh-CN" sz="2400" dirty="0"/>
              <a:t>[</a:t>
            </a:r>
            <a:r>
              <a:rPr lang="en-US" altLang="zh-CN" sz="2400" dirty="0" err="1"/>
              <a:t>root@localhost</a:t>
            </a:r>
            <a:r>
              <a:rPr lang="en-US" altLang="zh-CN" sz="2400" dirty="0"/>
              <a:t> ~]#</a:t>
            </a:r>
            <a:endParaRPr lang="zh-CN" altLang="en-US" sz="2400" dirty="0"/>
          </a:p>
        </p:txBody>
      </p:sp>
    </p:spTree>
    <p:extLst>
      <p:ext uri="{BB962C8B-B14F-4D97-AF65-F5344CB8AC3E}">
        <p14:creationId xmlns:p14="http://schemas.microsoft.com/office/powerpoint/2010/main" val="37348416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dirty="0" err="1"/>
              <a:t>setquota</a:t>
            </a:r>
            <a:r>
              <a:rPr lang="zh-CN" altLang="en-US" dirty="0"/>
              <a:t>命令</a:t>
            </a:r>
          </a:p>
        </p:txBody>
      </p:sp>
      <p:sp>
        <p:nvSpPr>
          <p:cNvPr id="3" name="内容占位符 2"/>
          <p:cNvSpPr>
            <a:spLocks noGrp="1"/>
          </p:cNvSpPr>
          <p:nvPr>
            <p:ph idx="1"/>
          </p:nvPr>
        </p:nvSpPr>
        <p:spPr>
          <a:xfrm>
            <a:off x="468738" y="1368536"/>
            <a:ext cx="8831014" cy="4718149"/>
          </a:xfrm>
        </p:spPr>
        <p:txBody>
          <a:bodyPr/>
          <a:lstStyle/>
          <a:p>
            <a:r>
              <a:rPr lang="zh-CN" altLang="en-US" dirty="0"/>
              <a:t>为指定</a:t>
            </a:r>
            <a:r>
              <a:rPr lang="zh-CN" altLang="en-US" dirty="0">
                <a:solidFill>
                  <a:srgbClr val="FF0000"/>
                </a:solidFill>
              </a:rPr>
              <a:t>用户</a:t>
            </a:r>
            <a:r>
              <a:rPr lang="zh-CN" altLang="en-US" dirty="0"/>
              <a:t>的设置</a:t>
            </a:r>
            <a:r>
              <a:rPr lang="zh-CN" altLang="en-US" dirty="0">
                <a:solidFill>
                  <a:srgbClr val="FF0000"/>
                </a:solidFill>
              </a:rPr>
              <a:t>配额</a:t>
            </a:r>
            <a:r>
              <a:rPr lang="zh-CN" altLang="en-US" dirty="0"/>
              <a:t> </a:t>
            </a:r>
          </a:p>
          <a:p>
            <a:pPr lvl="1"/>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&lt;username&gt; &lt;</a:t>
            </a:r>
            <a:r>
              <a:rPr lang="zh-CN" altLang="en-US" sz="2400" dirty="0">
                <a:solidFill>
                  <a:schemeClr val="accent6">
                    <a:lumMod val="75000"/>
                  </a:schemeClr>
                </a:solidFill>
              </a:rPr>
              <a:t>块软限制 块硬限制 </a:t>
            </a:r>
            <a:r>
              <a:rPr lang="en-US" altLang="zh-CN" sz="2400" dirty="0">
                <a:solidFill>
                  <a:schemeClr val="accent6">
                    <a:lumMod val="75000"/>
                  </a:schemeClr>
                </a:solidFill>
              </a:rPr>
              <a:t>inode</a:t>
            </a:r>
            <a:r>
              <a:rPr lang="zh-CN" altLang="en-US" sz="2400" dirty="0">
                <a:solidFill>
                  <a:schemeClr val="accent6">
                    <a:lumMod val="75000"/>
                  </a:schemeClr>
                </a:solidFill>
              </a:rPr>
              <a:t>软限制 </a:t>
            </a:r>
            <a:r>
              <a:rPr lang="en-US" altLang="zh-CN" sz="2400" dirty="0">
                <a:solidFill>
                  <a:schemeClr val="accent6">
                    <a:lumMod val="75000"/>
                  </a:schemeClr>
                </a:solidFill>
              </a:rPr>
              <a:t>inode</a:t>
            </a:r>
            <a:r>
              <a:rPr lang="zh-CN" altLang="en-US" sz="2400" dirty="0">
                <a:solidFill>
                  <a:schemeClr val="accent6">
                    <a:lumMod val="75000"/>
                  </a:schemeClr>
                </a:solidFill>
              </a:rPr>
              <a:t>硬限制</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p>
          <a:p>
            <a:r>
              <a:rPr lang="zh-CN" altLang="en-US" dirty="0"/>
              <a:t>为指定</a:t>
            </a:r>
            <a:r>
              <a:rPr lang="zh-CN" altLang="en-US" dirty="0">
                <a:solidFill>
                  <a:srgbClr val="FF0000"/>
                </a:solidFill>
              </a:rPr>
              <a:t>组</a:t>
            </a:r>
            <a:r>
              <a:rPr lang="zh-CN" altLang="en-US" dirty="0"/>
              <a:t>的设置</a:t>
            </a:r>
            <a:r>
              <a:rPr lang="zh-CN" altLang="en-US" dirty="0">
                <a:solidFill>
                  <a:srgbClr val="FF0000"/>
                </a:solidFill>
              </a:rPr>
              <a:t>配额 </a:t>
            </a:r>
          </a:p>
          <a:p>
            <a:pPr lvl="1"/>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-g</a:t>
            </a:r>
            <a:r>
              <a:rPr lang="en-US" altLang="zh-CN" sz="2400" dirty="0">
                <a:solidFill>
                  <a:schemeClr val="accent6">
                    <a:lumMod val="75000"/>
                  </a:schemeClr>
                </a:solidFill>
              </a:rPr>
              <a:t> &lt;</a:t>
            </a:r>
            <a:r>
              <a:rPr lang="en-US" altLang="zh-CN" sz="2400" dirty="0" err="1">
                <a:solidFill>
                  <a:schemeClr val="accent6">
                    <a:lumMod val="75000"/>
                  </a:schemeClr>
                </a:solidFill>
              </a:rPr>
              <a:t>groupname</a:t>
            </a:r>
            <a:r>
              <a:rPr lang="en-US" altLang="zh-CN" sz="2400" dirty="0">
                <a:solidFill>
                  <a:schemeClr val="accent6">
                    <a:lumMod val="75000"/>
                  </a:schemeClr>
                </a:solidFill>
              </a:rPr>
              <a:t>&gt; &lt;</a:t>
            </a:r>
            <a:r>
              <a:rPr lang="zh-CN" altLang="en-US" sz="2400" dirty="0">
                <a:solidFill>
                  <a:schemeClr val="accent6">
                    <a:lumMod val="75000"/>
                  </a:schemeClr>
                </a:solidFill>
              </a:rPr>
              <a:t>块软限制 块硬限制 </a:t>
            </a:r>
            <a:r>
              <a:rPr lang="en-US" altLang="zh-CN" sz="2400" dirty="0">
                <a:solidFill>
                  <a:schemeClr val="accent6">
                    <a:lumMod val="75000"/>
                  </a:schemeClr>
                </a:solidFill>
              </a:rPr>
              <a:t>inode</a:t>
            </a:r>
            <a:r>
              <a:rPr lang="zh-CN" altLang="en-US" sz="2400" dirty="0">
                <a:solidFill>
                  <a:schemeClr val="accent6">
                    <a:lumMod val="75000"/>
                  </a:schemeClr>
                </a:solidFill>
              </a:rPr>
              <a:t>软限制 </a:t>
            </a:r>
            <a:r>
              <a:rPr lang="en-US" altLang="zh-CN" sz="2400" dirty="0">
                <a:solidFill>
                  <a:schemeClr val="accent6">
                    <a:lumMod val="75000"/>
                  </a:schemeClr>
                </a:solidFill>
              </a:rPr>
              <a:t>inode</a:t>
            </a:r>
            <a:r>
              <a:rPr lang="zh-CN" altLang="en-US" sz="2400" dirty="0">
                <a:solidFill>
                  <a:schemeClr val="accent6">
                    <a:lumMod val="75000"/>
                  </a:schemeClr>
                </a:solidFill>
              </a:rPr>
              <a:t>硬限制</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p>
          <a:p>
            <a:r>
              <a:rPr lang="zh-CN" altLang="en-US" dirty="0"/>
              <a:t>为指定</a:t>
            </a:r>
            <a:r>
              <a:rPr lang="zh-CN" altLang="en-US" dirty="0">
                <a:solidFill>
                  <a:srgbClr val="FF0000"/>
                </a:solidFill>
              </a:rPr>
              <a:t>用户</a:t>
            </a:r>
            <a:r>
              <a:rPr lang="zh-CN" altLang="en-US" dirty="0"/>
              <a:t>的设置配额</a:t>
            </a:r>
            <a:r>
              <a:rPr lang="zh-CN" altLang="en-US" dirty="0">
                <a:solidFill>
                  <a:srgbClr val="FF0000"/>
                </a:solidFill>
              </a:rPr>
              <a:t>时限</a:t>
            </a:r>
          </a:p>
          <a:p>
            <a:pPr lvl="1">
              <a:spcBef>
                <a:spcPts val="0"/>
              </a:spcBef>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-t</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&lt;</a:t>
            </a:r>
            <a:r>
              <a:rPr lang="zh-CN" altLang="en-US" sz="2400" dirty="0">
                <a:solidFill>
                  <a:schemeClr val="accent6">
                    <a:lumMod val="75000"/>
                  </a:schemeClr>
                </a:solidFill>
              </a:rPr>
              <a:t>块时限 </a:t>
            </a:r>
            <a:r>
              <a:rPr lang="en-US" altLang="zh-CN" sz="2400" dirty="0">
                <a:solidFill>
                  <a:schemeClr val="accent6">
                    <a:lumMod val="75000"/>
                  </a:schemeClr>
                </a:solidFill>
              </a:rPr>
              <a:t>inode</a:t>
            </a:r>
            <a:r>
              <a:rPr lang="zh-CN" altLang="en-US" sz="2400" dirty="0">
                <a:solidFill>
                  <a:schemeClr val="accent6">
                    <a:lumMod val="75000"/>
                  </a:schemeClr>
                </a:solidFill>
              </a:rPr>
              <a:t>时限</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p>
          <a:p>
            <a:r>
              <a:rPr lang="zh-CN" altLang="en-US" dirty="0"/>
              <a:t>为指定</a:t>
            </a:r>
            <a:r>
              <a:rPr lang="zh-CN" altLang="en-US" dirty="0">
                <a:solidFill>
                  <a:srgbClr val="FF0000"/>
                </a:solidFill>
              </a:rPr>
              <a:t>组</a:t>
            </a:r>
            <a:r>
              <a:rPr lang="zh-CN" altLang="en-US" dirty="0"/>
              <a:t>的设置配额</a:t>
            </a:r>
            <a:r>
              <a:rPr lang="zh-CN" altLang="en-US" dirty="0">
                <a:solidFill>
                  <a:srgbClr val="FF0000"/>
                </a:solidFill>
              </a:rPr>
              <a:t>时限</a:t>
            </a:r>
          </a:p>
          <a:p>
            <a:pPr lvl="1">
              <a:spcBef>
                <a:spcPts val="0"/>
              </a:spcBef>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-t -g   </a:t>
            </a:r>
            <a:r>
              <a:rPr lang="en-US" altLang="zh-CN" sz="2400" dirty="0">
                <a:solidFill>
                  <a:schemeClr val="accent6">
                    <a:lumMod val="75000"/>
                  </a:schemeClr>
                </a:solidFill>
              </a:rPr>
              <a:t>&lt;</a:t>
            </a:r>
            <a:r>
              <a:rPr lang="zh-CN" altLang="en-US" sz="2400" dirty="0">
                <a:solidFill>
                  <a:schemeClr val="accent6">
                    <a:lumMod val="75000"/>
                  </a:schemeClr>
                </a:solidFill>
              </a:rPr>
              <a:t>块时限 </a:t>
            </a:r>
            <a:r>
              <a:rPr lang="en-US" altLang="zh-CN" sz="2400" dirty="0">
                <a:solidFill>
                  <a:schemeClr val="accent6">
                    <a:lumMod val="75000"/>
                  </a:schemeClr>
                </a:solidFill>
              </a:rPr>
              <a:t>inode</a:t>
            </a:r>
            <a:r>
              <a:rPr lang="zh-CN" altLang="en-US" sz="2400" dirty="0">
                <a:solidFill>
                  <a:schemeClr val="accent6">
                    <a:lumMod val="75000"/>
                  </a:schemeClr>
                </a:solidFill>
              </a:rPr>
              <a:t>时限</a:t>
            </a:r>
            <a:r>
              <a:rPr lang="en-US" altLang="zh-CN" sz="2400" dirty="0">
                <a:solidFill>
                  <a:schemeClr val="accent6">
                    <a:lumMod val="75000"/>
                  </a:schemeClr>
                </a:solidFill>
              </a:rPr>
              <a:t>&gt;  &lt;-a|</a:t>
            </a:r>
            <a:r>
              <a:rPr lang="zh-CN" altLang="en-US" sz="2400" dirty="0">
                <a:solidFill>
                  <a:schemeClr val="accent6">
                    <a:lumMod val="75000"/>
                  </a:schemeClr>
                </a:solidFill>
              </a:rPr>
              <a:t>文件系统</a:t>
            </a:r>
            <a:r>
              <a:rPr lang="en-US" altLang="zh-CN" sz="2400" dirty="0">
                <a:solidFill>
                  <a:schemeClr val="accent6">
                    <a:lumMod val="75000"/>
                  </a:schemeClr>
                </a:solidFill>
              </a:rPr>
              <a:t>&gt;</a:t>
            </a:r>
            <a:endParaRPr lang="zh-CN" altLang="en-US" sz="2400" dirty="0">
              <a:solidFill>
                <a:schemeClr val="accent6">
                  <a:lumMod val="75000"/>
                </a:schemeClr>
              </a:solidFill>
            </a:endParaRPr>
          </a:p>
        </p:txBody>
      </p:sp>
      <p:sp>
        <p:nvSpPr>
          <p:cNvPr id="7" name="Rectangle 11"/>
          <p:cNvSpPr>
            <a:spLocks noChangeArrowheads="1"/>
          </p:cNvSpPr>
          <p:nvPr/>
        </p:nvSpPr>
        <p:spPr bwMode="auto">
          <a:xfrm>
            <a:off x="1154113" y="6074126"/>
            <a:ext cx="7251844" cy="707886"/>
          </a:xfrm>
          <a:prstGeom prst="rect">
            <a:avLst/>
          </a:prstGeom>
          <a:solidFill>
            <a:schemeClr val="bg1"/>
          </a:solidFill>
          <a:ln w="38100">
            <a:solidFill>
              <a:schemeClr val="hlink"/>
            </a:solidFill>
            <a:miter lim="800000"/>
            <a:headEnd/>
            <a:tailEnd/>
          </a:ln>
          <a:effectLst/>
        </p:spPr>
        <p:txBody>
          <a:bodyPr wrap="square">
            <a:spAutoFit/>
          </a:bodyPr>
          <a:lstStyle/>
          <a:p>
            <a:r>
              <a:rPr lang="zh-CN" altLang="en-US" sz="2000" dirty="0"/>
              <a:t>若对</a:t>
            </a:r>
            <a:r>
              <a:rPr lang="zh-CN" altLang="en-US" sz="2000" dirty="0">
                <a:solidFill>
                  <a:srgbClr val="FF0000"/>
                </a:solidFill>
              </a:rPr>
              <a:t>所有</a:t>
            </a:r>
            <a:r>
              <a:rPr lang="zh-CN" altLang="en-US" sz="2000" dirty="0"/>
              <a:t>启用了</a:t>
            </a:r>
            <a:r>
              <a:rPr lang="en-US" altLang="zh-CN" sz="2000" dirty="0"/>
              <a:t>quota</a:t>
            </a:r>
            <a:r>
              <a:rPr lang="zh-CN" altLang="en-US" sz="2000" dirty="0"/>
              <a:t>的</a:t>
            </a:r>
            <a:r>
              <a:rPr lang="zh-CN" altLang="en-US" sz="2000" dirty="0">
                <a:solidFill>
                  <a:srgbClr val="FF0000"/>
                </a:solidFill>
              </a:rPr>
              <a:t>文件系统</a:t>
            </a:r>
            <a:r>
              <a:rPr lang="zh-CN" altLang="en-US" sz="2000" dirty="0"/>
              <a:t>设置配额，则使用</a:t>
            </a:r>
            <a:r>
              <a:rPr lang="en-US" altLang="zh-CN" sz="2000" dirty="0">
                <a:solidFill>
                  <a:srgbClr val="FF0000"/>
                </a:solidFill>
              </a:rPr>
              <a:t>-a</a:t>
            </a:r>
            <a:r>
              <a:rPr lang="zh-CN" altLang="en-US" sz="2000" dirty="0"/>
              <a:t>；否则，若对指定的文件系统设置配置，则需要指定文件系统。</a:t>
            </a:r>
            <a:endParaRPr lang="zh-CN" altLang="en-US" sz="2000" dirty="0">
              <a:solidFill>
                <a:srgbClr val="006600"/>
              </a:solidFill>
              <a:latin typeface="Courier New" pitchFamily="49" charset="0"/>
              <a:ea typeface="黑体" pitchFamily="49" charset="-122"/>
            </a:endParaRPr>
          </a:p>
        </p:txBody>
      </p:sp>
    </p:spTree>
    <p:extLst>
      <p:ext uri="{BB962C8B-B14F-4D97-AF65-F5344CB8AC3E}">
        <p14:creationId xmlns:p14="http://schemas.microsoft.com/office/powerpoint/2010/main" val="18110416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使用参考用户或组复制配额</a:t>
            </a:r>
          </a:p>
        </p:txBody>
      </p:sp>
      <p:sp>
        <p:nvSpPr>
          <p:cNvPr id="3" name="内容占位符 2"/>
          <p:cNvSpPr>
            <a:spLocks noGrp="1"/>
          </p:cNvSpPr>
          <p:nvPr>
            <p:ph idx="1"/>
          </p:nvPr>
        </p:nvSpPr>
        <p:spPr>
          <a:xfrm>
            <a:off x="467544" y="1556792"/>
            <a:ext cx="8208912" cy="4790157"/>
          </a:xfrm>
        </p:spPr>
        <p:txBody>
          <a:bodyPr/>
          <a:lstStyle/>
          <a:p>
            <a:r>
              <a:rPr lang="zh-CN" altLang="en-US" dirty="0"/>
              <a:t>将</a:t>
            </a:r>
            <a:r>
              <a:rPr lang="zh-CN" altLang="en-US" dirty="0">
                <a:solidFill>
                  <a:srgbClr val="FF0000"/>
                </a:solidFill>
              </a:rPr>
              <a:t>参考用户 </a:t>
            </a:r>
            <a:r>
              <a:rPr lang="en-US" altLang="zh-CN" dirty="0" err="1"/>
              <a:t>protouname</a:t>
            </a:r>
            <a:r>
              <a:rPr lang="en-US" altLang="zh-CN" dirty="0"/>
              <a:t> </a:t>
            </a:r>
            <a:r>
              <a:rPr lang="zh-CN" altLang="en-US" dirty="0"/>
              <a:t>的</a:t>
            </a:r>
            <a:r>
              <a:rPr lang="zh-CN" altLang="en-US" dirty="0">
                <a:solidFill>
                  <a:srgbClr val="FF0000"/>
                </a:solidFill>
              </a:rPr>
              <a:t>限额设置</a:t>
            </a:r>
            <a:r>
              <a:rPr lang="zh-CN" altLang="en-US" dirty="0"/>
              <a:t>复制给待设置用户 </a:t>
            </a:r>
            <a:r>
              <a:rPr lang="en-US" altLang="zh-CN" dirty="0"/>
              <a:t>username</a:t>
            </a:r>
          </a:p>
          <a:p>
            <a:pPr lvl="1">
              <a:lnSpc>
                <a:spcPct val="120000"/>
              </a:lnSpc>
            </a:pPr>
            <a:r>
              <a:rPr lang="en-US" altLang="zh-CN" sz="2400" dirty="0" err="1">
                <a:solidFill>
                  <a:schemeClr val="accent6">
                    <a:lumMod val="75000"/>
                  </a:schemeClr>
                </a:solidFill>
              </a:rPr>
              <a:t>edquota</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a:t>
            </a:r>
            <a:r>
              <a:rPr lang="en-US" altLang="zh-CN" sz="2400" dirty="0">
                <a:solidFill>
                  <a:srgbClr val="FF0000"/>
                </a:solidFill>
              </a:rPr>
              <a:t>-p </a:t>
            </a:r>
            <a:r>
              <a:rPr lang="en-US" altLang="zh-CN" sz="2400" dirty="0">
                <a:solidFill>
                  <a:schemeClr val="accent6">
                    <a:lumMod val="75000"/>
                  </a:schemeClr>
                </a:solidFill>
              </a:rPr>
              <a:t>&lt;</a:t>
            </a:r>
            <a:r>
              <a:rPr lang="en-US" altLang="zh-CN" sz="2400" dirty="0" err="1">
                <a:solidFill>
                  <a:schemeClr val="accent6">
                    <a:lumMod val="75000"/>
                  </a:schemeClr>
                </a:solidFill>
              </a:rPr>
              <a:t>protouname</a:t>
            </a:r>
            <a:r>
              <a:rPr lang="en-US" altLang="zh-CN" sz="2400" dirty="0">
                <a:solidFill>
                  <a:schemeClr val="accent6">
                    <a:lumMod val="75000"/>
                  </a:schemeClr>
                </a:solidFill>
              </a:rPr>
              <a:t>&gt; &lt;username&gt;</a:t>
            </a:r>
          </a:p>
          <a:p>
            <a:pPr lvl="1">
              <a:lnSpc>
                <a:spcPct val="120000"/>
              </a:lnSpc>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-u</a:t>
            </a:r>
            <a:r>
              <a:rPr lang="en-US" altLang="zh-CN" sz="2400" dirty="0">
                <a:solidFill>
                  <a:schemeClr val="accent6">
                    <a:lumMod val="75000"/>
                  </a:schemeClr>
                </a:solidFill>
              </a:rPr>
              <a:t>] </a:t>
            </a:r>
            <a:r>
              <a:rPr lang="en-US" altLang="zh-CN" sz="2400" dirty="0">
                <a:solidFill>
                  <a:srgbClr val="FF0000"/>
                </a:solidFill>
              </a:rPr>
              <a:t>-p </a:t>
            </a:r>
            <a:r>
              <a:rPr lang="en-US" altLang="zh-CN" sz="2400" dirty="0">
                <a:solidFill>
                  <a:schemeClr val="accent6">
                    <a:lumMod val="75000"/>
                  </a:schemeClr>
                </a:solidFill>
              </a:rPr>
              <a:t>&lt;</a:t>
            </a:r>
            <a:r>
              <a:rPr lang="en-US" altLang="zh-CN" sz="2400" dirty="0" err="1">
                <a:solidFill>
                  <a:schemeClr val="accent6">
                    <a:lumMod val="75000"/>
                  </a:schemeClr>
                </a:solidFill>
              </a:rPr>
              <a:t>protouname</a:t>
            </a:r>
            <a:r>
              <a:rPr lang="en-US" altLang="zh-CN" sz="2400" dirty="0">
                <a:solidFill>
                  <a:schemeClr val="accent6">
                    <a:lumMod val="75000"/>
                  </a:schemeClr>
                </a:solidFill>
              </a:rPr>
              <a:t>&gt; &lt;username&gt;</a:t>
            </a:r>
          </a:p>
          <a:p>
            <a:pPr lvl="1">
              <a:lnSpc>
                <a:spcPct val="120000"/>
              </a:lnSpc>
              <a:buNone/>
            </a:pPr>
            <a:r>
              <a:rPr lang="en-US" altLang="zh-CN" sz="2400" dirty="0">
                <a:solidFill>
                  <a:schemeClr val="accent6">
                    <a:lumMod val="75000"/>
                  </a:schemeClr>
                </a:solidFill>
              </a:rPr>
              <a:t>    &lt;-</a:t>
            </a:r>
            <a:r>
              <a:rPr lang="en-US" altLang="zh-CN" sz="2400" dirty="0" err="1">
                <a:solidFill>
                  <a:schemeClr val="accent6">
                    <a:lumMod val="75000"/>
                  </a:schemeClr>
                </a:solidFill>
              </a:rPr>
              <a:t>a|filesystem</a:t>
            </a:r>
            <a:r>
              <a:rPr lang="en-US" altLang="zh-CN" sz="2400" dirty="0">
                <a:solidFill>
                  <a:schemeClr val="accent6">
                    <a:lumMod val="75000"/>
                  </a:schemeClr>
                </a:solidFill>
              </a:rPr>
              <a:t>&gt;</a:t>
            </a:r>
          </a:p>
          <a:p>
            <a:r>
              <a:rPr lang="zh-CN" altLang="en-US" dirty="0"/>
              <a:t>将</a:t>
            </a:r>
            <a:r>
              <a:rPr lang="zh-CN" altLang="en-US" dirty="0">
                <a:solidFill>
                  <a:srgbClr val="FF0000"/>
                </a:solidFill>
              </a:rPr>
              <a:t>参考组</a:t>
            </a:r>
            <a:r>
              <a:rPr lang="zh-CN" altLang="en-US" dirty="0"/>
              <a:t> </a:t>
            </a:r>
            <a:r>
              <a:rPr lang="en-US" altLang="zh-CN" dirty="0" err="1"/>
              <a:t>protogname</a:t>
            </a:r>
            <a:r>
              <a:rPr lang="en-US" altLang="zh-CN" dirty="0"/>
              <a:t> </a:t>
            </a:r>
            <a:r>
              <a:rPr lang="zh-CN" altLang="en-US" dirty="0"/>
              <a:t>的</a:t>
            </a:r>
            <a:r>
              <a:rPr lang="zh-CN" altLang="en-US" dirty="0">
                <a:solidFill>
                  <a:srgbClr val="FF0000"/>
                </a:solidFill>
              </a:rPr>
              <a:t>限额设置</a:t>
            </a:r>
            <a:r>
              <a:rPr lang="zh-CN" altLang="en-US" dirty="0"/>
              <a:t>复制给待设置组 </a:t>
            </a:r>
            <a:r>
              <a:rPr lang="en-US" altLang="zh-CN" dirty="0" err="1"/>
              <a:t>groupname</a:t>
            </a:r>
            <a:endParaRPr lang="en-US" altLang="zh-CN" dirty="0"/>
          </a:p>
          <a:p>
            <a:pPr lvl="1">
              <a:lnSpc>
                <a:spcPct val="120000"/>
              </a:lnSpc>
            </a:pPr>
            <a:r>
              <a:rPr lang="en-US" altLang="zh-CN" sz="2400" dirty="0" err="1">
                <a:solidFill>
                  <a:schemeClr val="accent6">
                    <a:lumMod val="75000"/>
                  </a:schemeClr>
                </a:solidFill>
              </a:rPr>
              <a:t>edquota</a:t>
            </a:r>
            <a:r>
              <a:rPr lang="en-US" altLang="zh-CN" sz="2400" dirty="0">
                <a:solidFill>
                  <a:schemeClr val="accent6">
                    <a:lumMod val="75000"/>
                  </a:schemeClr>
                </a:solidFill>
              </a:rPr>
              <a:t> </a:t>
            </a:r>
            <a:r>
              <a:rPr lang="en-US" altLang="zh-CN" sz="2400" dirty="0">
                <a:solidFill>
                  <a:srgbClr val="FF0000"/>
                </a:solidFill>
              </a:rPr>
              <a:t>-g -p </a:t>
            </a:r>
            <a:r>
              <a:rPr lang="en-US" altLang="zh-CN" sz="2400" dirty="0">
                <a:solidFill>
                  <a:schemeClr val="accent6">
                    <a:lumMod val="75000"/>
                  </a:schemeClr>
                </a:solidFill>
              </a:rPr>
              <a:t>&lt;</a:t>
            </a:r>
            <a:r>
              <a:rPr lang="en-US" altLang="zh-CN" sz="2400" dirty="0" err="1">
                <a:solidFill>
                  <a:schemeClr val="accent6">
                    <a:lumMod val="75000"/>
                  </a:schemeClr>
                </a:solidFill>
              </a:rPr>
              <a:t>protogname</a:t>
            </a:r>
            <a:r>
              <a:rPr lang="en-US" altLang="zh-CN" sz="2400" dirty="0">
                <a:solidFill>
                  <a:schemeClr val="accent6">
                    <a:lumMod val="75000"/>
                  </a:schemeClr>
                </a:solidFill>
              </a:rPr>
              <a:t>&gt; &lt;</a:t>
            </a:r>
            <a:r>
              <a:rPr lang="en-US" altLang="zh-CN" sz="2400" dirty="0" err="1">
                <a:solidFill>
                  <a:schemeClr val="accent6">
                    <a:lumMod val="75000"/>
                  </a:schemeClr>
                </a:solidFill>
              </a:rPr>
              <a:t>groupname</a:t>
            </a:r>
            <a:r>
              <a:rPr lang="en-US" altLang="zh-CN" sz="2400" dirty="0">
                <a:solidFill>
                  <a:schemeClr val="accent6">
                    <a:lumMod val="75000"/>
                  </a:schemeClr>
                </a:solidFill>
              </a:rPr>
              <a:t>&gt;   </a:t>
            </a:r>
          </a:p>
          <a:p>
            <a:pPr lvl="1">
              <a:lnSpc>
                <a:spcPct val="120000"/>
              </a:lnSpc>
            </a:pPr>
            <a:r>
              <a:rPr lang="en-US" altLang="zh-CN" sz="2400" dirty="0" err="1">
                <a:solidFill>
                  <a:schemeClr val="accent6">
                    <a:lumMod val="75000"/>
                  </a:schemeClr>
                </a:solidFill>
              </a:rPr>
              <a:t>setquota</a:t>
            </a:r>
            <a:r>
              <a:rPr lang="en-US" altLang="zh-CN" sz="2400" dirty="0">
                <a:solidFill>
                  <a:schemeClr val="accent6">
                    <a:lumMod val="75000"/>
                  </a:schemeClr>
                </a:solidFill>
              </a:rPr>
              <a:t>  </a:t>
            </a:r>
            <a:r>
              <a:rPr lang="en-US" altLang="zh-CN" sz="2400" dirty="0">
                <a:solidFill>
                  <a:srgbClr val="FF0000"/>
                </a:solidFill>
              </a:rPr>
              <a:t>-g -p </a:t>
            </a:r>
            <a:r>
              <a:rPr lang="en-US" altLang="zh-CN" sz="2400" dirty="0">
                <a:solidFill>
                  <a:schemeClr val="accent6">
                    <a:lumMod val="75000"/>
                  </a:schemeClr>
                </a:solidFill>
              </a:rPr>
              <a:t>&lt;</a:t>
            </a:r>
            <a:r>
              <a:rPr lang="en-US" altLang="zh-CN" sz="2400" dirty="0" err="1">
                <a:solidFill>
                  <a:schemeClr val="accent6">
                    <a:lumMod val="75000"/>
                  </a:schemeClr>
                </a:solidFill>
              </a:rPr>
              <a:t>protogname</a:t>
            </a:r>
            <a:r>
              <a:rPr lang="en-US" altLang="zh-CN" sz="2400" dirty="0">
                <a:solidFill>
                  <a:schemeClr val="accent6">
                    <a:lumMod val="75000"/>
                  </a:schemeClr>
                </a:solidFill>
              </a:rPr>
              <a:t>&gt; &lt;</a:t>
            </a:r>
            <a:r>
              <a:rPr lang="en-US" altLang="zh-CN" sz="2400" dirty="0" err="1">
                <a:solidFill>
                  <a:schemeClr val="accent6">
                    <a:lumMod val="75000"/>
                  </a:schemeClr>
                </a:solidFill>
              </a:rPr>
              <a:t>groupname</a:t>
            </a:r>
            <a:r>
              <a:rPr lang="en-US" altLang="zh-CN" sz="2400" dirty="0">
                <a:solidFill>
                  <a:schemeClr val="accent6">
                    <a:lumMod val="75000"/>
                  </a:schemeClr>
                </a:solidFill>
              </a:rPr>
              <a:t>&gt; </a:t>
            </a:r>
          </a:p>
          <a:p>
            <a:pPr lvl="1">
              <a:lnSpc>
                <a:spcPct val="120000"/>
              </a:lnSpc>
              <a:buNone/>
            </a:pPr>
            <a:r>
              <a:rPr lang="en-US" altLang="zh-CN" sz="2400" dirty="0">
                <a:solidFill>
                  <a:schemeClr val="accent6">
                    <a:lumMod val="75000"/>
                  </a:schemeClr>
                </a:solidFill>
              </a:rPr>
              <a:t>    &lt;-</a:t>
            </a:r>
            <a:r>
              <a:rPr lang="en-US" altLang="zh-CN" sz="2400" dirty="0" err="1">
                <a:solidFill>
                  <a:schemeClr val="accent6">
                    <a:lumMod val="75000"/>
                  </a:schemeClr>
                </a:solidFill>
              </a:rPr>
              <a:t>a|filesystem</a:t>
            </a:r>
            <a:r>
              <a:rPr lang="en-US" altLang="zh-CN" sz="2400" dirty="0">
                <a:solidFill>
                  <a:schemeClr val="accent6">
                    <a:lumMod val="75000"/>
                  </a:schemeClr>
                </a:solidFill>
              </a:rPr>
              <a:t>&gt;</a:t>
            </a:r>
            <a:endParaRPr lang="zh-CN" altLang="en-US" sz="2400" dirty="0">
              <a:solidFill>
                <a:schemeClr val="accent6">
                  <a:lumMod val="75000"/>
                </a:schemeClr>
              </a:solidFill>
            </a:endParaRPr>
          </a:p>
        </p:txBody>
      </p:sp>
    </p:spTree>
    <p:extLst>
      <p:ext uri="{BB962C8B-B14F-4D97-AF65-F5344CB8AC3E}">
        <p14:creationId xmlns:p14="http://schemas.microsoft.com/office/powerpoint/2010/main" val="12321889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查看磁盘限额</a:t>
            </a:r>
          </a:p>
        </p:txBody>
      </p:sp>
      <p:sp>
        <p:nvSpPr>
          <p:cNvPr id="3" name="内容占位符 2"/>
          <p:cNvSpPr>
            <a:spLocks noGrp="1"/>
          </p:cNvSpPr>
          <p:nvPr>
            <p:ph idx="1"/>
          </p:nvPr>
        </p:nvSpPr>
        <p:spPr>
          <a:xfrm>
            <a:off x="717550" y="1484784"/>
            <a:ext cx="8229600" cy="4646141"/>
          </a:xfrm>
        </p:spPr>
        <p:txBody>
          <a:bodyPr/>
          <a:lstStyle/>
          <a:p>
            <a:pPr>
              <a:lnSpc>
                <a:spcPct val="90000"/>
              </a:lnSpc>
            </a:pPr>
            <a:r>
              <a:rPr lang="zh-CN" altLang="en-US" sz="3200" dirty="0"/>
              <a:t>查看指定用户或组的</a:t>
            </a:r>
            <a:r>
              <a:rPr lang="en-US" altLang="zh-CN" sz="3200" dirty="0"/>
              <a:t>quota</a:t>
            </a:r>
            <a:r>
              <a:rPr lang="zh-CN" altLang="en-US" sz="3200" dirty="0"/>
              <a:t>设置</a:t>
            </a:r>
          </a:p>
          <a:p>
            <a:pPr lvl="1">
              <a:lnSpc>
                <a:spcPct val="90000"/>
              </a:lnSpc>
              <a:buNone/>
            </a:pPr>
            <a:r>
              <a:rPr lang="en-US" altLang="zh-CN" sz="2800" dirty="0">
                <a:solidFill>
                  <a:schemeClr val="accent6">
                    <a:lumMod val="75000"/>
                  </a:schemeClr>
                </a:solidFill>
              </a:rPr>
              <a:t># quota [-</a:t>
            </a:r>
            <a:r>
              <a:rPr lang="en-US" altLang="zh-CN" sz="2800" dirty="0" err="1">
                <a:solidFill>
                  <a:schemeClr val="accent6">
                    <a:lumMod val="75000"/>
                  </a:schemeClr>
                </a:solidFill>
              </a:rPr>
              <a:t>vl</a:t>
            </a:r>
            <a:r>
              <a:rPr lang="en-US" altLang="zh-CN" sz="2800" dirty="0">
                <a:solidFill>
                  <a:schemeClr val="accent6">
                    <a:lumMod val="75000"/>
                  </a:schemeClr>
                </a:solidFill>
              </a:rPr>
              <a:t>] [-u &lt;username&gt;] </a:t>
            </a:r>
          </a:p>
          <a:p>
            <a:pPr lvl="1">
              <a:lnSpc>
                <a:spcPct val="90000"/>
              </a:lnSpc>
              <a:buNone/>
            </a:pPr>
            <a:r>
              <a:rPr lang="en-US" altLang="zh-CN" sz="2800" dirty="0">
                <a:solidFill>
                  <a:schemeClr val="accent6">
                    <a:lumMod val="75000"/>
                  </a:schemeClr>
                </a:solidFill>
              </a:rPr>
              <a:t># quota [-</a:t>
            </a:r>
            <a:r>
              <a:rPr lang="en-US" altLang="zh-CN" sz="2800" dirty="0" err="1">
                <a:solidFill>
                  <a:schemeClr val="accent6">
                    <a:lumMod val="75000"/>
                  </a:schemeClr>
                </a:solidFill>
              </a:rPr>
              <a:t>vl</a:t>
            </a:r>
            <a:r>
              <a:rPr lang="en-US" altLang="zh-CN" sz="2800" dirty="0">
                <a:solidFill>
                  <a:schemeClr val="accent6">
                    <a:lumMod val="75000"/>
                  </a:schemeClr>
                </a:solidFill>
              </a:rPr>
              <a:t>] [-g &lt;</a:t>
            </a:r>
            <a:r>
              <a:rPr lang="en-US" altLang="zh-CN" sz="2800" dirty="0" err="1">
                <a:solidFill>
                  <a:schemeClr val="accent6">
                    <a:lumMod val="75000"/>
                  </a:schemeClr>
                </a:solidFill>
              </a:rPr>
              <a:t>groupname</a:t>
            </a:r>
            <a:r>
              <a:rPr lang="en-US" altLang="zh-CN" sz="2800" dirty="0">
                <a:solidFill>
                  <a:schemeClr val="accent6">
                    <a:lumMod val="75000"/>
                  </a:schemeClr>
                </a:solidFill>
              </a:rPr>
              <a:t>&gt;] </a:t>
            </a:r>
          </a:p>
          <a:p>
            <a:pPr lvl="1">
              <a:lnSpc>
                <a:spcPct val="90000"/>
              </a:lnSpc>
              <a:buNone/>
            </a:pPr>
            <a:r>
              <a:rPr lang="en-US" altLang="zh-CN" sz="2800" dirty="0">
                <a:solidFill>
                  <a:schemeClr val="accent6">
                    <a:lumMod val="75000"/>
                  </a:schemeClr>
                </a:solidFill>
              </a:rPr>
              <a:t># quota -q </a:t>
            </a:r>
          </a:p>
          <a:p>
            <a:pPr>
              <a:lnSpc>
                <a:spcPct val="90000"/>
              </a:lnSpc>
            </a:pPr>
            <a:r>
              <a:rPr lang="zh-CN" altLang="en-US" sz="3200" dirty="0"/>
              <a:t>显示文件系统的磁盘限额汇总信息</a:t>
            </a:r>
          </a:p>
          <a:p>
            <a:pPr lvl="1">
              <a:lnSpc>
                <a:spcPct val="90000"/>
              </a:lnSpc>
            </a:pPr>
            <a:r>
              <a:rPr lang="zh-CN" altLang="en-US" sz="2800" dirty="0"/>
              <a:t>显示指定文件系统的磁盘限额汇总信息</a:t>
            </a:r>
            <a:endParaRPr lang="en-US" altLang="zh-CN" sz="2800" dirty="0"/>
          </a:p>
          <a:p>
            <a:pPr lvl="1">
              <a:lnSpc>
                <a:spcPct val="90000"/>
              </a:lnSpc>
              <a:buNone/>
            </a:pPr>
            <a:r>
              <a:rPr lang="en-US" altLang="zh-CN" sz="2800" dirty="0">
                <a:solidFill>
                  <a:schemeClr val="accent6">
                    <a:lumMod val="75000"/>
                  </a:schemeClr>
                </a:solidFill>
              </a:rPr>
              <a:t>   # </a:t>
            </a:r>
            <a:r>
              <a:rPr lang="en-US" altLang="zh-CN" sz="2800" dirty="0" err="1">
                <a:solidFill>
                  <a:schemeClr val="accent6">
                    <a:lumMod val="75000"/>
                  </a:schemeClr>
                </a:solidFill>
              </a:rPr>
              <a:t>repquota</a:t>
            </a:r>
            <a:r>
              <a:rPr lang="en-US" altLang="zh-CN" sz="2800" dirty="0">
                <a:solidFill>
                  <a:schemeClr val="accent6">
                    <a:lumMod val="75000"/>
                  </a:schemeClr>
                </a:solidFill>
              </a:rPr>
              <a:t> [-</a:t>
            </a:r>
            <a:r>
              <a:rPr lang="en-US" altLang="zh-CN" sz="2800" dirty="0" err="1">
                <a:solidFill>
                  <a:schemeClr val="accent6">
                    <a:lumMod val="75000"/>
                  </a:schemeClr>
                </a:solidFill>
              </a:rPr>
              <a:t>ugv</a:t>
            </a:r>
            <a:r>
              <a:rPr lang="en-US" altLang="zh-CN" sz="2800" dirty="0">
                <a:solidFill>
                  <a:schemeClr val="accent6">
                    <a:lumMod val="75000"/>
                  </a:schemeClr>
                </a:solidFill>
              </a:rPr>
              <a:t>] </a:t>
            </a:r>
            <a:r>
              <a:rPr lang="en-US" altLang="zh-CN" sz="2800" dirty="0" err="1">
                <a:solidFill>
                  <a:schemeClr val="accent6">
                    <a:lumMod val="75000"/>
                  </a:schemeClr>
                </a:solidFill>
              </a:rPr>
              <a:t>filesystem</a:t>
            </a:r>
            <a:r>
              <a:rPr lang="en-US" altLang="zh-CN" sz="2800" dirty="0">
                <a:solidFill>
                  <a:schemeClr val="accent6">
                    <a:lumMod val="75000"/>
                  </a:schemeClr>
                </a:solidFill>
              </a:rPr>
              <a:t>... </a:t>
            </a:r>
            <a:endParaRPr lang="zh-CN" altLang="en-US" sz="2800" dirty="0">
              <a:solidFill>
                <a:schemeClr val="accent6">
                  <a:lumMod val="75000"/>
                </a:schemeClr>
              </a:solidFill>
            </a:endParaRPr>
          </a:p>
          <a:p>
            <a:pPr lvl="1">
              <a:lnSpc>
                <a:spcPct val="90000"/>
              </a:lnSpc>
            </a:pPr>
            <a:r>
              <a:rPr lang="zh-CN" altLang="en-US" sz="2800" dirty="0"/>
              <a:t>显示所有文件系统的磁盘限额汇总信息</a:t>
            </a:r>
            <a:endParaRPr lang="en-US" altLang="zh-CN" sz="2800" dirty="0"/>
          </a:p>
          <a:p>
            <a:pPr lvl="1">
              <a:lnSpc>
                <a:spcPct val="90000"/>
              </a:lnSpc>
              <a:buNone/>
            </a:pPr>
            <a:r>
              <a:rPr lang="en-US" altLang="zh-CN" sz="2800" dirty="0">
                <a:solidFill>
                  <a:schemeClr val="accent6">
                    <a:lumMod val="75000"/>
                  </a:schemeClr>
                </a:solidFill>
              </a:rPr>
              <a:t>  </a:t>
            </a:r>
            <a:r>
              <a:rPr lang="zh-CN" altLang="en-US" sz="2800" dirty="0">
                <a:solidFill>
                  <a:schemeClr val="accent6">
                    <a:lumMod val="75000"/>
                  </a:schemeClr>
                </a:solidFill>
              </a:rPr>
              <a:t> </a:t>
            </a:r>
            <a:r>
              <a:rPr lang="en-US" altLang="zh-CN" sz="2800" dirty="0">
                <a:solidFill>
                  <a:schemeClr val="accent6">
                    <a:lumMod val="75000"/>
                  </a:schemeClr>
                </a:solidFill>
              </a:rPr>
              <a:t># </a:t>
            </a:r>
            <a:r>
              <a:rPr lang="en-US" altLang="zh-CN" sz="2800" dirty="0" err="1">
                <a:solidFill>
                  <a:schemeClr val="accent6">
                    <a:lumMod val="75000"/>
                  </a:schemeClr>
                </a:solidFill>
              </a:rPr>
              <a:t>repquota</a:t>
            </a:r>
            <a:r>
              <a:rPr lang="en-US" altLang="zh-CN" sz="2800" dirty="0">
                <a:solidFill>
                  <a:schemeClr val="accent6">
                    <a:lumMod val="75000"/>
                  </a:schemeClr>
                </a:solidFill>
              </a:rPr>
              <a:t> [-</a:t>
            </a:r>
            <a:r>
              <a:rPr lang="en-US" altLang="zh-CN" sz="2800" dirty="0" err="1">
                <a:solidFill>
                  <a:schemeClr val="accent6">
                    <a:lumMod val="75000"/>
                  </a:schemeClr>
                </a:solidFill>
              </a:rPr>
              <a:t>augv</a:t>
            </a:r>
            <a:r>
              <a:rPr lang="en-US" altLang="zh-CN" sz="2800" dirty="0">
                <a:solidFill>
                  <a:schemeClr val="accent6">
                    <a:lumMod val="75000"/>
                  </a:schemeClr>
                </a:solidFill>
              </a:rPr>
              <a:t>] </a:t>
            </a:r>
            <a:endParaRPr lang="zh-CN" altLang="en-US" sz="2800" dirty="0">
              <a:solidFill>
                <a:schemeClr val="accent6">
                  <a:lumMod val="75000"/>
                </a:schemeClr>
              </a:solidFill>
            </a:endParaRPr>
          </a:p>
          <a:p>
            <a:endParaRPr lang="zh-CN" altLang="en-US" dirty="0"/>
          </a:p>
        </p:txBody>
      </p:sp>
    </p:spTree>
    <p:extLst>
      <p:ext uri="{BB962C8B-B14F-4D97-AF65-F5344CB8AC3E}">
        <p14:creationId xmlns:p14="http://schemas.microsoft.com/office/powerpoint/2010/main" val="28806317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查看磁盘限额</a:t>
            </a:r>
          </a:p>
        </p:txBody>
      </p:sp>
      <p:sp>
        <p:nvSpPr>
          <p:cNvPr id="4" name="矩形 3"/>
          <p:cNvSpPr/>
          <p:nvPr/>
        </p:nvSpPr>
        <p:spPr>
          <a:xfrm>
            <a:off x="683568" y="1228368"/>
            <a:ext cx="8460432" cy="5632311"/>
          </a:xfrm>
          <a:prstGeom prst="rect">
            <a:avLst/>
          </a:prstGeom>
        </p:spPr>
        <p:txBody>
          <a:bodyPr wrap="square">
            <a:spAutoFit/>
          </a:bodyPr>
          <a:lstStyle/>
          <a:p>
            <a:r>
              <a:rPr lang="zh-CN" altLang="en-US" sz="2000" dirty="0">
                <a:solidFill>
                  <a:srgbClr val="0000FF"/>
                </a:solidFill>
              </a:rPr>
              <a:t>root@localhost ~]# vim /etc/fstab</a:t>
            </a:r>
          </a:p>
          <a:p>
            <a:r>
              <a:rPr lang="zh-CN" altLang="en-US" sz="2000" dirty="0">
                <a:solidFill>
                  <a:srgbClr val="0000FF"/>
                </a:solidFill>
              </a:rPr>
              <a:t>[root@localhost ~]# mount -o remount /</a:t>
            </a:r>
            <a:r>
              <a:rPr lang="zh-CN" altLang="en-US" sz="2000" dirty="0" smtClean="0">
                <a:solidFill>
                  <a:srgbClr val="0000FF"/>
                </a:solidFill>
              </a:rPr>
              <a:t>home</a:t>
            </a:r>
            <a:endParaRPr lang="en-US" altLang="zh-CN" sz="2000" dirty="0" smtClean="0">
              <a:solidFill>
                <a:srgbClr val="0000FF"/>
              </a:solidFill>
            </a:endParaRP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mount </a:t>
            </a:r>
            <a:r>
              <a:rPr lang="en-US" altLang="zh-CN" sz="2000" dirty="0" smtClean="0">
                <a:solidFill>
                  <a:srgbClr val="0000FF"/>
                </a:solidFill>
              </a:rPr>
              <a:t>–a</a:t>
            </a: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ls -l /home</a:t>
            </a:r>
          </a:p>
          <a:p>
            <a:r>
              <a:rPr lang="en-US" altLang="zh-CN" sz="2000" dirty="0"/>
              <a:t>total 80</a:t>
            </a:r>
          </a:p>
          <a:p>
            <a:r>
              <a:rPr lang="en-US" altLang="zh-CN" sz="2000" dirty="0"/>
              <a:t>-</a:t>
            </a:r>
            <a:r>
              <a:rPr lang="en-US" altLang="zh-CN" sz="2000" dirty="0" err="1"/>
              <a:t>rw</a:t>
            </a:r>
            <a:r>
              <a:rPr lang="en-US" altLang="zh-CN" sz="2000" dirty="0"/>
              <a:t>-------.  1 root     </a:t>
            </a:r>
            <a:r>
              <a:rPr lang="en-US" altLang="zh-CN" sz="2000" dirty="0" err="1"/>
              <a:t>root</a:t>
            </a:r>
            <a:r>
              <a:rPr lang="en-US" altLang="zh-CN" sz="2000" dirty="0"/>
              <a:t>      9216 May 15 23:01 </a:t>
            </a:r>
            <a:r>
              <a:rPr lang="en-US" altLang="zh-CN" sz="2000" dirty="0" err="1"/>
              <a:t>aquota.group</a:t>
            </a:r>
            <a:endParaRPr lang="en-US" altLang="zh-CN" sz="2000" dirty="0"/>
          </a:p>
          <a:p>
            <a:r>
              <a:rPr lang="en-US" altLang="zh-CN" sz="2000" dirty="0"/>
              <a:t>-</a:t>
            </a:r>
            <a:r>
              <a:rPr lang="en-US" altLang="zh-CN" sz="2000" dirty="0" err="1"/>
              <a:t>rw</a:t>
            </a:r>
            <a:r>
              <a:rPr lang="en-US" altLang="zh-CN" sz="2000" dirty="0"/>
              <a:t>-------.  1 root     </a:t>
            </a:r>
            <a:r>
              <a:rPr lang="en-US" altLang="zh-CN" sz="2000" dirty="0" err="1"/>
              <a:t>root</a:t>
            </a:r>
            <a:r>
              <a:rPr lang="en-US" altLang="zh-CN" sz="2000" dirty="0"/>
              <a:t>      8192 May 15 23:01 </a:t>
            </a:r>
            <a:r>
              <a:rPr lang="en-US" altLang="zh-CN" sz="2000" dirty="0" err="1"/>
              <a:t>aquota.user</a:t>
            </a:r>
            <a:endParaRPr lang="en-US" altLang="zh-CN" sz="2000" dirty="0"/>
          </a:p>
          <a:p>
            <a:r>
              <a:rPr lang="en-US" altLang="zh-CN" sz="2000" dirty="0"/>
              <a:t>-</a:t>
            </a:r>
            <a:r>
              <a:rPr lang="en-US" altLang="zh-CN" sz="2000" dirty="0" err="1"/>
              <a:t>rw</a:t>
            </a:r>
            <a:r>
              <a:rPr lang="en-US" altLang="zh-CN" sz="2000" dirty="0"/>
              <a:t>-r--r--.  1 root     </a:t>
            </a:r>
            <a:r>
              <a:rPr lang="en-US" altLang="zh-CN" sz="2000" dirty="0" err="1"/>
              <a:t>root</a:t>
            </a:r>
            <a:r>
              <a:rPr lang="en-US" altLang="zh-CN" sz="2000" dirty="0"/>
              <a:t>         0 Nov 18  2019 file_2</a:t>
            </a: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a:t>
            </a:r>
            <a:r>
              <a:rPr lang="en-US" altLang="zh-CN" sz="2000" dirty="0" err="1">
                <a:solidFill>
                  <a:srgbClr val="0000FF"/>
                </a:solidFill>
              </a:rPr>
              <a:t>setquota</a:t>
            </a:r>
            <a:r>
              <a:rPr lang="en-US" altLang="zh-CN" sz="2000" dirty="0">
                <a:solidFill>
                  <a:srgbClr val="0000FF"/>
                </a:solidFill>
              </a:rPr>
              <a:t> -u xl 5G 7G 3000 5000 /home</a:t>
            </a:r>
          </a:p>
          <a:p>
            <a:r>
              <a:rPr lang="en-US" altLang="zh-CN" sz="2000" dirty="0">
                <a:solidFill>
                  <a:srgbClr val="0000FF"/>
                </a:solidFill>
              </a:rPr>
              <a:t>[</a:t>
            </a:r>
            <a:r>
              <a:rPr lang="en-US" altLang="zh-CN" sz="2000" dirty="0" err="1">
                <a:solidFill>
                  <a:srgbClr val="0000FF"/>
                </a:solidFill>
              </a:rPr>
              <a:t>root@localhost</a:t>
            </a:r>
            <a:r>
              <a:rPr lang="en-US" altLang="zh-CN" sz="2000" dirty="0">
                <a:solidFill>
                  <a:srgbClr val="0000FF"/>
                </a:solidFill>
              </a:rPr>
              <a:t> ~]# </a:t>
            </a:r>
            <a:r>
              <a:rPr lang="en-US" altLang="zh-CN" sz="2000" dirty="0" err="1">
                <a:solidFill>
                  <a:srgbClr val="0000FF"/>
                </a:solidFill>
              </a:rPr>
              <a:t>repquota</a:t>
            </a:r>
            <a:r>
              <a:rPr lang="en-US" altLang="zh-CN" sz="2000" dirty="0">
                <a:solidFill>
                  <a:srgbClr val="0000FF"/>
                </a:solidFill>
              </a:rPr>
              <a:t> -</a:t>
            </a:r>
            <a:r>
              <a:rPr lang="en-US" altLang="zh-CN" sz="2000" dirty="0" err="1">
                <a:solidFill>
                  <a:srgbClr val="0000FF"/>
                </a:solidFill>
              </a:rPr>
              <a:t>auvg</a:t>
            </a:r>
            <a:endParaRPr lang="en-US" altLang="zh-CN" sz="2000" dirty="0">
              <a:solidFill>
                <a:srgbClr val="0000FF"/>
              </a:solidFill>
            </a:endParaRPr>
          </a:p>
          <a:p>
            <a:r>
              <a:rPr lang="en-US" altLang="zh-CN" sz="2000" dirty="0"/>
              <a:t>*** Report for user quotas on device /dev/sda2</a:t>
            </a:r>
          </a:p>
          <a:p>
            <a:r>
              <a:rPr lang="en-US" altLang="zh-CN" sz="2000" dirty="0"/>
              <a:t>Block grace time: 7days; Inode grace time: 7days</a:t>
            </a:r>
          </a:p>
          <a:p>
            <a:r>
              <a:rPr lang="en-US" altLang="zh-CN" sz="2000" dirty="0"/>
              <a:t>                        Block limits                File limits</a:t>
            </a:r>
          </a:p>
          <a:p>
            <a:r>
              <a:rPr lang="en-US" altLang="zh-CN" sz="2000" dirty="0"/>
              <a:t>User            used    soft    hard  grace    used  soft  hard  grace</a:t>
            </a:r>
          </a:p>
          <a:p>
            <a:r>
              <a:rPr lang="en-US" altLang="zh-CN" sz="2000" dirty="0"/>
              <a:t>----------------------------------------------------------------------</a:t>
            </a:r>
          </a:p>
          <a:p>
            <a:r>
              <a:rPr lang="en-US" altLang="zh-CN" sz="2000" dirty="0"/>
              <a:t>root      --      24       0       0              4     0     0       </a:t>
            </a:r>
          </a:p>
          <a:p>
            <a:r>
              <a:rPr lang="en-US" altLang="zh-CN" sz="2000" dirty="0"/>
              <a:t>xl        --   86204 5242880 7340032            811  3000  5000       </a:t>
            </a:r>
          </a:p>
          <a:p>
            <a:r>
              <a:rPr lang="en-US" altLang="zh-CN" sz="2000" dirty="0"/>
              <a:t>test      --      60       0       0             15     0     0       </a:t>
            </a:r>
          </a:p>
        </p:txBody>
      </p:sp>
    </p:spTree>
    <p:extLst>
      <p:ext uri="{BB962C8B-B14F-4D97-AF65-F5344CB8AC3E}">
        <p14:creationId xmlns:p14="http://schemas.microsoft.com/office/powerpoint/2010/main" val="37744602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查看磁盘限额</a:t>
            </a:r>
          </a:p>
        </p:txBody>
      </p:sp>
      <p:sp>
        <p:nvSpPr>
          <p:cNvPr id="4" name="矩形 3"/>
          <p:cNvSpPr/>
          <p:nvPr/>
        </p:nvSpPr>
        <p:spPr>
          <a:xfrm>
            <a:off x="179512" y="1484784"/>
            <a:ext cx="8640960" cy="4154984"/>
          </a:xfrm>
          <a:prstGeom prst="rect">
            <a:avLst/>
          </a:prstGeom>
        </p:spPr>
        <p:txBody>
          <a:bodyPr wrap="square">
            <a:spAutoFit/>
          </a:bodyPr>
          <a:lstStyle/>
          <a:p>
            <a:r>
              <a:rPr lang="en-US" altLang="zh-CN" sz="2400" dirty="0">
                <a:solidFill>
                  <a:srgbClr val="0000FF"/>
                </a:solidFill>
              </a:rPr>
              <a:t>[</a:t>
            </a:r>
            <a:r>
              <a:rPr lang="en-US" altLang="zh-CN" sz="2400" dirty="0" err="1">
                <a:solidFill>
                  <a:srgbClr val="0000FF"/>
                </a:solidFill>
              </a:rPr>
              <a:t>root@localhost</a:t>
            </a:r>
            <a:r>
              <a:rPr lang="en-US" altLang="zh-CN" sz="2400" dirty="0">
                <a:solidFill>
                  <a:srgbClr val="0000FF"/>
                </a:solidFill>
              </a:rPr>
              <a:t> ~]# </a:t>
            </a:r>
            <a:r>
              <a:rPr lang="en-US" altLang="zh-CN" sz="2400" dirty="0" err="1">
                <a:solidFill>
                  <a:srgbClr val="0000FF"/>
                </a:solidFill>
              </a:rPr>
              <a:t>useradd</a:t>
            </a:r>
            <a:r>
              <a:rPr lang="en-US" altLang="zh-CN" sz="2400" dirty="0">
                <a:solidFill>
                  <a:srgbClr val="0000FF"/>
                </a:solidFill>
              </a:rPr>
              <a:t> li2</a:t>
            </a:r>
          </a:p>
          <a:p>
            <a:r>
              <a:rPr lang="en-US" altLang="zh-CN" sz="2400" dirty="0" smtClean="0">
                <a:solidFill>
                  <a:srgbClr val="0000FF"/>
                </a:solidFill>
              </a:rPr>
              <a:t>[</a:t>
            </a:r>
            <a:r>
              <a:rPr lang="en-US" altLang="zh-CN" sz="2400" dirty="0" err="1">
                <a:solidFill>
                  <a:srgbClr val="0000FF"/>
                </a:solidFill>
              </a:rPr>
              <a:t>root@localhost</a:t>
            </a:r>
            <a:r>
              <a:rPr lang="en-US" altLang="zh-CN" sz="2400" dirty="0">
                <a:solidFill>
                  <a:srgbClr val="0000FF"/>
                </a:solidFill>
              </a:rPr>
              <a:t> ~]# </a:t>
            </a:r>
            <a:r>
              <a:rPr lang="en-US" altLang="zh-CN" sz="2400" dirty="0" err="1">
                <a:solidFill>
                  <a:srgbClr val="0000FF"/>
                </a:solidFill>
              </a:rPr>
              <a:t>setquota</a:t>
            </a:r>
            <a:r>
              <a:rPr lang="en-US" altLang="zh-CN" sz="2400" dirty="0">
                <a:solidFill>
                  <a:srgbClr val="0000FF"/>
                </a:solidFill>
              </a:rPr>
              <a:t> -u -p xl li2 /home</a:t>
            </a:r>
          </a:p>
          <a:p>
            <a:r>
              <a:rPr lang="en-US" altLang="zh-CN" sz="2400" dirty="0">
                <a:solidFill>
                  <a:srgbClr val="0000FF"/>
                </a:solidFill>
              </a:rPr>
              <a:t>[</a:t>
            </a:r>
            <a:r>
              <a:rPr lang="en-US" altLang="zh-CN" sz="2400" dirty="0" err="1">
                <a:solidFill>
                  <a:srgbClr val="0000FF"/>
                </a:solidFill>
              </a:rPr>
              <a:t>root@localhost</a:t>
            </a:r>
            <a:r>
              <a:rPr lang="en-US" altLang="zh-CN" sz="2400" dirty="0">
                <a:solidFill>
                  <a:srgbClr val="0000FF"/>
                </a:solidFill>
              </a:rPr>
              <a:t> ~]# quota -u li2</a:t>
            </a:r>
          </a:p>
          <a:p>
            <a:r>
              <a:rPr lang="en-US" altLang="zh-CN" sz="2400" dirty="0"/>
              <a:t>Disk quotas for user li2 (</a:t>
            </a:r>
            <a:r>
              <a:rPr lang="en-US" altLang="zh-CN" sz="2400" dirty="0" err="1"/>
              <a:t>uid</a:t>
            </a:r>
            <a:r>
              <a:rPr lang="en-US" altLang="zh-CN" sz="2400" dirty="0"/>
              <a:t> 2012): </a:t>
            </a:r>
          </a:p>
          <a:p>
            <a:r>
              <a:rPr lang="en-US" altLang="zh-CN" sz="2400" dirty="0"/>
              <a:t>     </a:t>
            </a:r>
            <a:r>
              <a:rPr lang="en-US" altLang="zh-CN" sz="2400" dirty="0" err="1"/>
              <a:t>Filesystem</a:t>
            </a:r>
            <a:r>
              <a:rPr lang="en-US" altLang="zh-CN" sz="2400" dirty="0"/>
              <a:t>  blocks   quota   limit   grace   files   quota   limit   grace</a:t>
            </a:r>
          </a:p>
          <a:p>
            <a:r>
              <a:rPr lang="en-US" altLang="zh-CN" sz="2400" dirty="0"/>
              <a:t>      /dev/sda2      28  5242880 7340032               7    3000    5000        </a:t>
            </a:r>
          </a:p>
          <a:p>
            <a:r>
              <a:rPr lang="en-US" altLang="zh-CN" sz="2400" dirty="0">
                <a:solidFill>
                  <a:srgbClr val="0000FF"/>
                </a:solidFill>
              </a:rPr>
              <a:t>[</a:t>
            </a:r>
            <a:r>
              <a:rPr lang="en-US" altLang="zh-CN" sz="2400" dirty="0" err="1">
                <a:solidFill>
                  <a:srgbClr val="0000FF"/>
                </a:solidFill>
              </a:rPr>
              <a:t>root@localhost</a:t>
            </a:r>
            <a:r>
              <a:rPr lang="en-US" altLang="zh-CN" sz="2400" dirty="0">
                <a:solidFill>
                  <a:srgbClr val="0000FF"/>
                </a:solidFill>
              </a:rPr>
              <a:t> ~]# </a:t>
            </a:r>
            <a:r>
              <a:rPr lang="en-US" altLang="zh-CN" sz="2400" dirty="0" err="1">
                <a:solidFill>
                  <a:srgbClr val="0000FF"/>
                </a:solidFill>
              </a:rPr>
              <a:t>df</a:t>
            </a:r>
            <a:endParaRPr lang="en-US" altLang="zh-CN" sz="2400" dirty="0">
              <a:solidFill>
                <a:srgbClr val="0000FF"/>
              </a:solidFill>
            </a:endParaRPr>
          </a:p>
          <a:p>
            <a:r>
              <a:rPr lang="en-US" altLang="zh-CN" sz="2400" dirty="0" err="1"/>
              <a:t>Filesystem</a:t>
            </a:r>
            <a:r>
              <a:rPr lang="en-US" altLang="zh-CN" sz="2400" dirty="0"/>
              <a:t>     1K-blocks    Used Available Use% Mounted on</a:t>
            </a:r>
          </a:p>
          <a:p>
            <a:r>
              <a:rPr lang="en-US" altLang="zh-CN" sz="2400" dirty="0" smtClean="0"/>
              <a:t>/</a:t>
            </a:r>
            <a:r>
              <a:rPr lang="en-US" altLang="zh-CN" sz="2400" dirty="0"/>
              <a:t>dev/sda2        9480384  123480   8852280   2% /home</a:t>
            </a:r>
          </a:p>
        </p:txBody>
      </p:sp>
    </p:spTree>
    <p:extLst>
      <p:ext uri="{BB962C8B-B14F-4D97-AF65-F5344CB8AC3E}">
        <p14:creationId xmlns:p14="http://schemas.microsoft.com/office/powerpoint/2010/main" val="5739280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a:t>思考</a:t>
            </a:r>
          </a:p>
        </p:txBody>
      </p:sp>
      <p:sp>
        <p:nvSpPr>
          <p:cNvPr id="108547" name="Rectangle 3"/>
          <p:cNvSpPr>
            <a:spLocks noGrp="1" noChangeArrowheads="1"/>
          </p:cNvSpPr>
          <p:nvPr>
            <p:ph idx="1"/>
          </p:nvPr>
        </p:nvSpPr>
        <p:spPr>
          <a:xfrm>
            <a:off x="485669" y="1412776"/>
            <a:ext cx="8496944" cy="5353124"/>
          </a:xfrm>
        </p:spPr>
        <p:txBody>
          <a:bodyPr/>
          <a:lstStyle/>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什么是</a:t>
            </a:r>
            <a:r>
              <a:rPr lang="en-US" altLang="zh-CN" sz="3000" b="1" dirty="0">
                <a:solidFill>
                  <a:srgbClr val="C00000"/>
                </a:solidFill>
                <a:latin typeface="微软雅黑" panose="020B0503020204020204" pitchFamily="34" charset="-122"/>
                <a:ea typeface="微软雅黑" panose="020B0503020204020204" pitchFamily="34" charset="-122"/>
              </a:rPr>
              <a:t>Linux</a:t>
            </a:r>
            <a:r>
              <a:rPr lang="zh-CN" altLang="en-US" sz="3000" b="1" dirty="0">
                <a:solidFill>
                  <a:srgbClr val="C00000"/>
                </a:solidFill>
                <a:latin typeface="微软雅黑" panose="020B0503020204020204" pitchFamily="34" charset="-122"/>
                <a:ea typeface="微软雅黑" panose="020B0503020204020204" pitchFamily="34" charset="-122"/>
              </a:rPr>
              <a:t>文件系统？</a:t>
            </a:r>
            <a:r>
              <a:rPr lang="en-US" altLang="zh-CN" sz="3000" b="1" dirty="0">
                <a:solidFill>
                  <a:srgbClr val="C00000"/>
                </a:solidFill>
                <a:latin typeface="微软雅黑" panose="020B0503020204020204" pitchFamily="34" charset="-122"/>
                <a:ea typeface="微软雅黑" panose="020B0503020204020204" pitchFamily="34" charset="-122"/>
              </a:rPr>
              <a:t>Linux</a:t>
            </a:r>
            <a:r>
              <a:rPr lang="zh-CN" altLang="en-US" sz="3000" b="1" dirty="0">
                <a:solidFill>
                  <a:srgbClr val="C00000"/>
                </a:solidFill>
                <a:latin typeface="微软雅黑" panose="020B0503020204020204" pitchFamily="34" charset="-122"/>
                <a:ea typeface="微软雅黑" panose="020B0503020204020204" pitchFamily="34" charset="-122"/>
              </a:rPr>
              <a:t>下常用的文件系统有哪些？</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非日志文件系统和日志文件系统有何区别？</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简述在</a:t>
            </a:r>
            <a:r>
              <a:rPr lang="en-US" altLang="zh-CN" sz="3000" b="1" dirty="0">
                <a:solidFill>
                  <a:srgbClr val="C00000"/>
                </a:solidFill>
                <a:latin typeface="微软雅黑" panose="020B0503020204020204" pitchFamily="34" charset="-122"/>
                <a:ea typeface="微软雅黑" panose="020B0503020204020204" pitchFamily="34" charset="-122"/>
              </a:rPr>
              <a:t>Linux</a:t>
            </a:r>
            <a:r>
              <a:rPr lang="zh-CN" altLang="en-US" sz="3000" b="1" dirty="0">
                <a:solidFill>
                  <a:srgbClr val="C00000"/>
                </a:solidFill>
                <a:latin typeface="微软雅黑" panose="020B0503020204020204" pitchFamily="34" charset="-122"/>
                <a:ea typeface="微软雅黑" panose="020B0503020204020204" pitchFamily="34" charset="-122"/>
              </a:rPr>
              <a:t>环境下使用文件系统的一般方法。</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如何创建文件系统？创建文件系统的操作类似于</a:t>
            </a:r>
            <a:r>
              <a:rPr lang="en-US" altLang="zh-CN" sz="3000" b="1" dirty="0">
                <a:solidFill>
                  <a:srgbClr val="C00000"/>
                </a:solidFill>
                <a:latin typeface="微软雅黑" panose="020B0503020204020204" pitchFamily="34" charset="-122"/>
                <a:ea typeface="微软雅黑" panose="020B0503020204020204" pitchFamily="34" charset="-122"/>
              </a:rPr>
              <a:t>Windows</a:t>
            </a:r>
            <a:r>
              <a:rPr lang="zh-CN" altLang="en-US" sz="3000" b="1" dirty="0">
                <a:solidFill>
                  <a:srgbClr val="C00000"/>
                </a:solidFill>
                <a:latin typeface="微软雅黑" panose="020B0503020204020204" pitchFamily="34" charset="-122"/>
                <a:ea typeface="微软雅黑" panose="020B0503020204020204" pitchFamily="34" charset="-122"/>
              </a:rPr>
              <a:t>下的什么操作？</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如何设置</a:t>
            </a:r>
            <a:r>
              <a:rPr lang="en-US" altLang="zh-CN" sz="3000" b="1" dirty="0">
                <a:solidFill>
                  <a:srgbClr val="C00000"/>
                </a:solidFill>
                <a:latin typeface="微软雅黑" panose="020B0503020204020204" pitchFamily="34" charset="-122"/>
                <a:ea typeface="微软雅黑" panose="020B0503020204020204" pitchFamily="34" charset="-122"/>
              </a:rPr>
              <a:t>ext2/3/4</a:t>
            </a:r>
            <a:r>
              <a:rPr lang="zh-CN" altLang="en-US" sz="3000" b="1" dirty="0">
                <a:solidFill>
                  <a:srgbClr val="C00000"/>
                </a:solidFill>
                <a:latin typeface="微软雅黑" panose="020B0503020204020204" pitchFamily="34" charset="-122"/>
                <a:ea typeface="微软雅黑" panose="020B0503020204020204" pitchFamily="34" charset="-122"/>
              </a:rPr>
              <a:t>文件系统的属性？</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如何挂装和卸装文件系统？</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dirty="0"/>
              <a:t>思考</a:t>
            </a:r>
          </a:p>
        </p:txBody>
      </p:sp>
      <p:sp>
        <p:nvSpPr>
          <p:cNvPr id="5" name="Rectangle 3">
            <a:extLst>
              <a:ext uri="{FF2B5EF4-FFF2-40B4-BE49-F238E27FC236}">
                <a16:creationId xmlns:a16="http://schemas.microsoft.com/office/drawing/2014/main" id="{9F8652B7-A4BD-4372-B0C1-47883C42F350}"/>
              </a:ext>
            </a:extLst>
          </p:cNvPr>
          <p:cNvSpPr>
            <a:spLocks noGrp="1" noChangeArrowheads="1"/>
          </p:cNvSpPr>
          <p:nvPr>
            <p:ph idx="1"/>
          </p:nvPr>
        </p:nvSpPr>
        <p:spPr>
          <a:xfrm>
            <a:off x="107504" y="1412776"/>
            <a:ext cx="9036496" cy="4464496"/>
          </a:xfrm>
        </p:spPr>
        <p:txBody>
          <a:bodyPr/>
          <a:lstStyle/>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如何使用可移动存储介质（软盘、光盘、</a:t>
            </a:r>
            <a:r>
              <a:rPr lang="en-US" altLang="zh-CN" sz="3000" b="1" dirty="0">
                <a:solidFill>
                  <a:srgbClr val="C00000"/>
                </a:solidFill>
                <a:latin typeface="微软雅黑" panose="020B0503020204020204" pitchFamily="34" charset="-122"/>
                <a:ea typeface="微软雅黑" panose="020B0503020204020204" pitchFamily="34" charset="-122"/>
              </a:rPr>
              <a:t>USB</a:t>
            </a:r>
            <a:r>
              <a:rPr lang="zh-CN" altLang="en-US" sz="3000" b="1" dirty="0">
                <a:solidFill>
                  <a:srgbClr val="C00000"/>
                </a:solidFill>
                <a:latin typeface="微软雅黑" panose="020B0503020204020204" pitchFamily="34" charset="-122"/>
                <a:ea typeface="微软雅黑" panose="020B0503020204020204" pitchFamily="34" charset="-122"/>
              </a:rPr>
              <a:t>盘）？</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如何直接挂装使用</a:t>
            </a:r>
            <a:r>
              <a:rPr lang="en-US" altLang="zh-CN" sz="3000" b="1" dirty="0">
                <a:solidFill>
                  <a:srgbClr val="C00000"/>
                </a:solidFill>
                <a:latin typeface="微软雅黑" panose="020B0503020204020204" pitchFamily="34" charset="-122"/>
                <a:ea typeface="微软雅黑" panose="020B0503020204020204" pitchFamily="34" charset="-122"/>
              </a:rPr>
              <a:t>ISO</a:t>
            </a:r>
            <a:r>
              <a:rPr lang="zh-CN" altLang="en-US" sz="3000" b="1" dirty="0">
                <a:solidFill>
                  <a:srgbClr val="C00000"/>
                </a:solidFill>
                <a:latin typeface="微软雅黑" panose="020B0503020204020204" pitchFamily="34" charset="-122"/>
                <a:ea typeface="微软雅黑" panose="020B0503020204020204" pitchFamily="34" charset="-122"/>
              </a:rPr>
              <a:t>文件和</a:t>
            </a:r>
            <a:r>
              <a:rPr lang="en-US" altLang="zh-CN" sz="3000" b="1" dirty="0">
                <a:solidFill>
                  <a:srgbClr val="C00000"/>
                </a:solidFill>
                <a:latin typeface="微软雅黑" panose="020B0503020204020204" pitchFamily="34" charset="-122"/>
                <a:ea typeface="微软雅黑" panose="020B0503020204020204" pitchFamily="34" charset="-122"/>
              </a:rPr>
              <a:t>IMG</a:t>
            </a:r>
            <a:r>
              <a:rPr lang="zh-CN" altLang="en-US" sz="3000" b="1" dirty="0">
                <a:solidFill>
                  <a:srgbClr val="C00000"/>
                </a:solidFill>
                <a:latin typeface="微软雅黑" panose="020B0503020204020204" pitchFamily="34" charset="-122"/>
                <a:ea typeface="微软雅黑" panose="020B0503020204020204" pitchFamily="34" charset="-122"/>
              </a:rPr>
              <a:t>文件？</a:t>
            </a: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如何在系统启动时自动挂装文件系统？简述</a:t>
            </a:r>
            <a:r>
              <a:rPr lang="en-US" altLang="zh-CN" sz="3000" b="1" dirty="0">
                <a:solidFill>
                  <a:srgbClr val="C00000"/>
                </a:solidFill>
                <a:latin typeface="微软雅黑" panose="020B0503020204020204" pitchFamily="34" charset="-122"/>
                <a:ea typeface="微软雅黑" panose="020B0503020204020204" pitchFamily="34" charset="-122"/>
              </a:rPr>
              <a:t>/</a:t>
            </a:r>
            <a:r>
              <a:rPr lang="en-US" altLang="zh-CN" sz="3000" b="1" dirty="0" err="1">
                <a:solidFill>
                  <a:srgbClr val="C00000"/>
                </a:solidFill>
                <a:latin typeface="微软雅黑" panose="020B0503020204020204" pitchFamily="34" charset="-122"/>
                <a:ea typeface="微软雅黑" panose="020B0503020204020204" pitchFamily="34" charset="-122"/>
              </a:rPr>
              <a:t>etc</a:t>
            </a:r>
            <a:r>
              <a:rPr lang="en-US" altLang="zh-CN" sz="3000" b="1" dirty="0">
                <a:solidFill>
                  <a:srgbClr val="C00000"/>
                </a:solidFill>
                <a:latin typeface="微软雅黑" panose="020B0503020204020204" pitchFamily="34" charset="-122"/>
                <a:ea typeface="微软雅黑" panose="020B0503020204020204" pitchFamily="34" charset="-122"/>
              </a:rPr>
              <a:t>/</a:t>
            </a:r>
            <a:r>
              <a:rPr lang="en-US" altLang="zh-CN" sz="3000" b="1" dirty="0" err="1">
                <a:solidFill>
                  <a:srgbClr val="C00000"/>
                </a:solidFill>
                <a:latin typeface="微软雅黑" panose="020B0503020204020204" pitchFamily="34" charset="-122"/>
                <a:ea typeface="微软雅黑" panose="020B0503020204020204" pitchFamily="34" charset="-122"/>
              </a:rPr>
              <a:t>fstab</a:t>
            </a:r>
            <a:r>
              <a:rPr lang="zh-CN" altLang="en-US" sz="3000" b="1" dirty="0">
                <a:solidFill>
                  <a:srgbClr val="C00000"/>
                </a:solidFill>
                <a:latin typeface="微软雅黑" panose="020B0503020204020204" pitchFamily="34" charset="-122"/>
                <a:ea typeface="微软雅黑" panose="020B0503020204020204" pitchFamily="34" charset="-122"/>
              </a:rPr>
              <a:t>文件各个字段的含义。</a:t>
            </a:r>
            <a:endParaRPr lang="en-US" altLang="zh-CN" sz="3000" b="1" dirty="0">
              <a:solidFill>
                <a:srgbClr val="C00000"/>
              </a:solidFill>
              <a:latin typeface="微软雅黑" panose="020B0503020204020204" pitchFamily="34" charset="-122"/>
              <a:ea typeface="微软雅黑" panose="020B0503020204020204" pitchFamily="34" charset="-122"/>
            </a:endParaRPr>
          </a:p>
          <a:p>
            <a:pPr marL="0" indent="0" algn="ctr" eaLnBrk="1" hangingPunct="1">
              <a:lnSpc>
                <a:spcPct val="130000"/>
              </a:lnSpc>
              <a:spcBef>
                <a:spcPts val="600"/>
              </a:spcBef>
              <a:buClrTx/>
              <a:buSzTx/>
              <a:buNone/>
            </a:pPr>
            <a:r>
              <a:rPr lang="zh-CN" altLang="zh-CN" sz="3000" b="1" dirty="0">
                <a:solidFill>
                  <a:srgbClr val="C00000"/>
                </a:solidFill>
                <a:latin typeface="微软雅黑" panose="020B0503020204020204" pitchFamily="34" charset="-122"/>
                <a:ea typeface="微软雅黑" panose="020B0503020204020204" pitchFamily="34" charset="-122"/>
              </a:rPr>
              <a:t>简述添加新硬盘并扩展现有逻辑卷的步骤</a:t>
            </a:r>
            <a:r>
              <a:rPr lang="zh-CN" altLang="en-US" sz="3000" b="1" dirty="0">
                <a:solidFill>
                  <a:srgbClr val="C00000"/>
                </a:solidFill>
                <a:latin typeface="微软雅黑" panose="020B0503020204020204" pitchFamily="34" charset="-122"/>
                <a:ea typeface="微软雅黑" panose="020B0503020204020204" pitchFamily="34" charset="-122"/>
              </a:rPr>
              <a:t>。</a:t>
            </a:r>
            <a:endParaRPr lang="en-US" altLang="zh-CN" sz="3000" b="1" dirty="0">
              <a:solidFill>
                <a:srgbClr val="C00000"/>
              </a:solidFill>
              <a:latin typeface="微软雅黑" panose="020B0503020204020204" pitchFamily="34" charset="-122"/>
              <a:ea typeface="微软雅黑" panose="020B0503020204020204" pitchFamily="34" charset="-122"/>
            </a:endParaRP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什么是磁盘限额？为何要设置磁盘限额？什么是硬限制、软限制和宽限制？</a:t>
            </a:r>
            <a:endParaRPr lang="en-US" altLang="zh-CN" sz="3000" b="1" dirty="0">
              <a:solidFill>
                <a:srgbClr val="C00000"/>
              </a:solidFill>
              <a:latin typeface="微软雅黑" panose="020B0503020204020204" pitchFamily="34" charset="-122"/>
              <a:ea typeface="微软雅黑" panose="020B0503020204020204" pitchFamily="34" charset="-122"/>
            </a:endParaRPr>
          </a:p>
          <a:p>
            <a:pPr marL="0" indent="0" algn="ctr" eaLnBrk="1" hangingPunct="1">
              <a:lnSpc>
                <a:spcPct val="130000"/>
              </a:lnSpc>
              <a:spcBef>
                <a:spcPts val="600"/>
              </a:spcBef>
              <a:buClrTx/>
              <a:buSzTx/>
              <a:buNone/>
            </a:pPr>
            <a:r>
              <a:rPr lang="zh-CN" altLang="en-US" sz="3000" b="1" dirty="0">
                <a:solidFill>
                  <a:srgbClr val="C00000"/>
                </a:solidFill>
                <a:latin typeface="微软雅黑" panose="020B0503020204020204" pitchFamily="34" charset="-122"/>
                <a:ea typeface="微软雅黑" panose="020B0503020204020204" pitchFamily="34" charset="-122"/>
              </a:rPr>
              <a:t>磁盘限额可以从哪两方面限制用户和</a:t>
            </a:r>
            <a:r>
              <a:rPr lang="en-US" altLang="zh-CN" sz="3000" b="1" dirty="0">
                <a:solidFill>
                  <a:srgbClr val="C00000"/>
                </a:solidFill>
                <a:latin typeface="微软雅黑" panose="020B0503020204020204" pitchFamily="34" charset="-122"/>
                <a:ea typeface="微软雅黑" panose="020B0503020204020204" pitchFamily="34" charset="-122"/>
              </a:rPr>
              <a:t>/</a:t>
            </a:r>
            <a:r>
              <a:rPr lang="zh-CN" altLang="en-US" sz="3000" b="1" dirty="0">
                <a:solidFill>
                  <a:srgbClr val="C00000"/>
                </a:solidFill>
                <a:latin typeface="微软雅黑" panose="020B0503020204020204" pitchFamily="34" charset="-122"/>
                <a:ea typeface="微软雅黑" panose="020B0503020204020204" pitchFamily="34" charset="-122"/>
              </a:rPr>
              <a:t>或组的使用？</a:t>
            </a:r>
          </a:p>
        </p:txBody>
      </p:sp>
    </p:spTree>
    <p:extLst>
      <p:ext uri="{BB962C8B-B14F-4D97-AF65-F5344CB8AC3E}">
        <p14:creationId xmlns:p14="http://schemas.microsoft.com/office/powerpoint/2010/main" val="771025944"/>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10407</TotalTime>
  <Words>8968</Words>
  <Application>Microsoft Office PowerPoint</Application>
  <PresentationFormat>全屏显示(4:3)</PresentationFormat>
  <Paragraphs>1025</Paragraphs>
  <Slides>102</Slides>
  <Notes>61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102</vt:i4>
      </vt:variant>
    </vt:vector>
  </HeadingPairs>
  <TitlesOfParts>
    <vt:vector size="121" baseType="lpstr">
      <vt:lpstr>方正粗倩简体</vt:lpstr>
      <vt:lpstr>仿宋</vt:lpstr>
      <vt:lpstr>黑体</vt:lpstr>
      <vt:lpstr>华文行楷</vt:lpstr>
      <vt:lpstr>楷体_GB2312</vt:lpstr>
      <vt:lpstr>宋体</vt:lpstr>
      <vt:lpstr>微软雅黑</vt:lpstr>
      <vt:lpstr>新细明体</vt:lpstr>
      <vt:lpstr>Arial</vt:lpstr>
      <vt:lpstr>Broadway</vt:lpstr>
      <vt:lpstr>Calibri</vt:lpstr>
      <vt:lpstr>Consolas</vt:lpstr>
      <vt:lpstr>Courier New</vt:lpstr>
      <vt:lpstr>Helvetica</vt:lpstr>
      <vt:lpstr>Lucida Console</vt:lpstr>
      <vt:lpstr>Tahoma</vt:lpstr>
      <vt:lpstr>Times New Roman</vt:lpstr>
      <vt:lpstr>Wingdings</vt:lpstr>
      <vt:lpstr>Blends</vt:lpstr>
      <vt:lpstr>     Linux操作系统</vt:lpstr>
      <vt:lpstr>本章内容要点</vt:lpstr>
      <vt:lpstr>硬盘的技术指标</vt:lpstr>
      <vt:lpstr>碟片上的数据格式</vt:lpstr>
      <vt:lpstr>碟片上的数据格式</vt:lpstr>
      <vt:lpstr>硬盘接口方式</vt:lpstr>
      <vt:lpstr>磁盘设备的文件名</vt:lpstr>
      <vt:lpstr>IDE接口设备的文件名</vt:lpstr>
      <vt:lpstr>磁盘分区</vt:lpstr>
      <vt:lpstr>主引导记录（MBR）分区表</vt:lpstr>
      <vt:lpstr>磁盘分区表的作用</vt:lpstr>
      <vt:lpstr>磁盘分区类型</vt:lpstr>
      <vt:lpstr>磁盘分区类型</vt:lpstr>
      <vt:lpstr>GPT分区表结构</vt:lpstr>
      <vt:lpstr>PowerPoint 演示文稿</vt:lpstr>
      <vt:lpstr>两种硬盘存储方式</vt:lpstr>
      <vt:lpstr>磁盘分区管理工具</vt:lpstr>
      <vt:lpstr>磁盘分区工具—fdisk</vt:lpstr>
      <vt:lpstr>磁盘分区工具—fdisk举例</vt:lpstr>
      <vt:lpstr>磁盘分区工具—parted</vt:lpstr>
      <vt:lpstr>磁盘分区工具—parted举例</vt:lpstr>
      <vt:lpstr>静态分区的缺点</vt:lpstr>
      <vt:lpstr>本章内容要点</vt:lpstr>
      <vt:lpstr>什么是逻辑卷管理器</vt:lpstr>
      <vt:lpstr>使用LVM</vt:lpstr>
      <vt:lpstr>LVM 结构图——流程</vt:lpstr>
      <vt:lpstr>LVM术语——物理卷</vt:lpstr>
      <vt:lpstr>LVM术语——物理扩展块</vt:lpstr>
      <vt:lpstr>LVM术语——卷组</vt:lpstr>
      <vt:lpstr>LVM术语——逻辑卷</vt:lpstr>
      <vt:lpstr>LVM术语——逻辑扩展区域</vt:lpstr>
      <vt:lpstr>LVM术语—— VGDA</vt:lpstr>
      <vt:lpstr>PV-VG-LV-PE 关系图</vt:lpstr>
      <vt:lpstr>VG-LV-PE 关系图</vt:lpstr>
      <vt:lpstr>LVM 与文件系统之间的关系</vt:lpstr>
      <vt:lpstr>PV-VG-LV 的设备名</vt:lpstr>
      <vt:lpstr>使用 LVM 系统的步骤</vt:lpstr>
      <vt:lpstr>创建 LVM 的相关命令</vt:lpstr>
      <vt:lpstr>创建 LVM 的命令举例</vt:lpstr>
      <vt:lpstr>查看卷信息</vt:lpstr>
      <vt:lpstr>扩展逻辑卷</vt:lpstr>
      <vt:lpstr>扩展逻辑卷举例</vt:lpstr>
      <vt:lpstr>缩减逻辑卷</vt:lpstr>
      <vt:lpstr>LVM 常用命令集</vt:lpstr>
      <vt:lpstr>思考</vt:lpstr>
      <vt:lpstr>本章内容要点</vt:lpstr>
      <vt:lpstr>文件系统（File System）定义</vt:lpstr>
      <vt:lpstr>Linux的文件系统结构</vt:lpstr>
      <vt:lpstr>文件系统与目录树关系（挂装）</vt:lpstr>
      <vt:lpstr>Linux的文件系统运行</vt:lpstr>
      <vt:lpstr>文件系统数据存取</vt:lpstr>
      <vt:lpstr>文件系统数据存取</vt:lpstr>
      <vt:lpstr>Linux支持多种文件系统</vt:lpstr>
      <vt:lpstr>Linux支持的日志文件系统 </vt:lpstr>
      <vt:lpstr>Linux下常见的文件系统</vt:lpstr>
      <vt:lpstr>使用Linux文件系统的一般方法</vt:lpstr>
      <vt:lpstr>创建文件系统—磁盘格式化</vt:lpstr>
      <vt:lpstr>检查文件系统</vt:lpstr>
      <vt:lpstr>检查文件系统举例</vt:lpstr>
      <vt:lpstr>检查文件系统注意事项</vt:lpstr>
      <vt:lpstr>文件系统的LABEL和UUID</vt:lpstr>
      <vt:lpstr>使用LABEL和UUID</vt:lpstr>
      <vt:lpstr>挂装文件系统—mount命令</vt:lpstr>
      <vt:lpstr>挂装选项—1</vt:lpstr>
      <vt:lpstr>挂装选项—2</vt:lpstr>
      <vt:lpstr>mount命令举例</vt:lpstr>
      <vt:lpstr>卸装文件系统—umount命令</vt:lpstr>
      <vt:lpstr>挂装/卸装文件系统注意事项</vt:lpstr>
      <vt:lpstr>fuser命令</vt:lpstr>
      <vt:lpstr>显示和调整文件系统属性</vt:lpstr>
      <vt:lpstr>tune2fs命令</vt:lpstr>
      <vt:lpstr>tune2fs命令举例</vt:lpstr>
      <vt:lpstr>可移动介质简介</vt:lpstr>
      <vt:lpstr>CD和DVD</vt:lpstr>
      <vt:lpstr>USB存储设备</vt:lpstr>
      <vt:lpstr>软盘</vt:lpstr>
      <vt:lpstr>直接挂装使用映像文件</vt:lpstr>
      <vt:lpstr>系统启动时自动挂装文件系统</vt:lpstr>
      <vt:lpstr>/etc/fstab文件的格式</vt:lpstr>
      <vt:lpstr>/etc/fstab文件的列信息</vt:lpstr>
      <vt:lpstr>文件/etc/fstab实例</vt:lpstr>
      <vt:lpstr>交换空间—交换分区和交换文件</vt:lpstr>
      <vt:lpstr>PowerPoint 演示文稿</vt:lpstr>
      <vt:lpstr>PowerPoint 演示文稿</vt:lpstr>
      <vt:lpstr>dd命令</vt:lpstr>
      <vt:lpstr>dd命令举例</vt:lpstr>
      <vt:lpstr>磁盘限额</vt:lpstr>
      <vt:lpstr>磁盘限额的限制策略</vt:lpstr>
      <vt:lpstr>配置磁盘限额的前提</vt:lpstr>
      <vt:lpstr>配置磁盘限额的前提</vt:lpstr>
      <vt:lpstr>磁盘限额配置步骤</vt:lpstr>
      <vt:lpstr>磁盘限额配置步骤</vt:lpstr>
      <vt:lpstr>磁盘限额配置步骤</vt:lpstr>
      <vt:lpstr>edquota命令</vt:lpstr>
      <vt:lpstr>edquota命令</vt:lpstr>
      <vt:lpstr>setquota命令</vt:lpstr>
      <vt:lpstr>使用参考用户或组复制配额</vt:lpstr>
      <vt:lpstr>查看磁盘限额</vt:lpstr>
      <vt:lpstr>查看磁盘限额</vt:lpstr>
      <vt:lpstr>查看磁盘限额</vt:lpstr>
      <vt:lpstr>思考</vt:lpstr>
      <vt:lpstr>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文件系统管理</dc:title>
  <dc:creator>osmond</dc:creator>
  <cp:lastModifiedBy>Hewlett-Packard Company</cp:lastModifiedBy>
  <cp:revision>298</cp:revision>
  <cp:lastPrinted>2022-04-30T13:45:32Z</cp:lastPrinted>
  <dcterms:created xsi:type="dcterms:W3CDTF">2011-06-09T22:49:50Z</dcterms:created>
  <dcterms:modified xsi:type="dcterms:W3CDTF">2025-05-09T10:29:41Z</dcterms:modified>
</cp:coreProperties>
</file>