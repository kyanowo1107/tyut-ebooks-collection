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8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89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55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491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626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56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9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66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10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28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96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432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686B1E5-CABA-41F6-8FFB-49B8F800CBE6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F5E41-D2D1-4D1B-AFFD-08961DA16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0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1469" y="803635"/>
            <a:ext cx="781526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altLang="zh-CN" sz="2200" kern="100" dirty="0" smtClean="0">
                <a:latin typeface="等线" panose="02010600030101010101" pitchFamily="2" charset="-122"/>
                <a:cs typeface="Times New Roman" panose="02020603050405020304" pitchFamily="18" charset="0"/>
              </a:rPr>
              <a:t>1.1.2 </a:t>
            </a: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系统的组成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1.1.3 Linux</a:t>
            </a: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的内核版与发行版本，结合</a:t>
            </a: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p19</a:t>
            </a: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页实例，使用命令查看</a:t>
            </a: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的内核版、发行版的信息。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Windows/Linux</a:t>
            </a: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端远程登录</a:t>
            </a: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的方式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掌握获得命令帮助的方法：</a:t>
            </a: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man</a:t>
            </a: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help</a:t>
            </a: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info</a:t>
            </a:r>
            <a:endParaRPr lang="zh-CN" altLang="zh-CN" sz="2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查看</a:t>
            </a: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系统的信息：</a:t>
            </a:r>
            <a:r>
              <a:rPr lang="en-US" altLang="zh-CN" sz="22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、物理内存、发行版、内核版、块设备、主机名、磁盘剩余空间等，结合表</a:t>
            </a:r>
            <a:r>
              <a:rPr lang="en-US" altLang="zh-CN" sz="22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1-7</a:t>
            </a:r>
            <a:endParaRPr lang="zh-CN" altLang="zh-CN" sz="22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333375"/>
            <a:ext cx="9144000" cy="47026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第一章</a:t>
            </a:r>
          </a:p>
        </p:txBody>
      </p:sp>
    </p:spTree>
    <p:extLst>
      <p:ext uri="{BB962C8B-B14F-4D97-AF65-F5344CB8AC3E}">
        <p14:creationId xmlns:p14="http://schemas.microsoft.com/office/powerpoint/2010/main" val="75470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9094" y="832210"/>
            <a:ext cx="811768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Shell</a:t>
            </a:r>
            <a:r>
              <a:rPr lang="zh-CN" altLang="zh-CN" sz="2000" dirty="0"/>
              <a:t>的概念（结合图</a:t>
            </a:r>
            <a:r>
              <a:rPr lang="en-US" altLang="zh-CN" sz="2000" dirty="0"/>
              <a:t>2-1</a:t>
            </a:r>
            <a:r>
              <a:rPr lang="zh-CN" altLang="zh-CN" sz="2000" dirty="0"/>
              <a:t>）；</a:t>
            </a:r>
            <a:r>
              <a:rPr lang="en-US" altLang="zh-CN" sz="2000" dirty="0"/>
              <a:t>shell</a:t>
            </a:r>
            <a:r>
              <a:rPr lang="zh-CN" altLang="zh-CN" sz="2000" dirty="0"/>
              <a:t>的版本；</a:t>
            </a:r>
            <a:r>
              <a:rPr lang="en-US" altLang="zh-CN" sz="2000" dirty="0"/>
              <a:t>shell</a:t>
            </a:r>
            <a:r>
              <a:rPr lang="zh-CN" altLang="zh-CN" sz="2000" dirty="0"/>
              <a:t>通配符；</a:t>
            </a:r>
            <a:r>
              <a:rPr lang="en-US" altLang="zh-CN" sz="2000" dirty="0"/>
              <a:t>Linux</a:t>
            </a:r>
            <a:r>
              <a:rPr lang="zh-CN" altLang="zh-CN" sz="2000" dirty="0"/>
              <a:t>下的各种文件类型；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2000" dirty="0"/>
              <a:t>2.1.3 </a:t>
            </a:r>
            <a:r>
              <a:rPr lang="zh-CN" altLang="zh-CN" sz="2000" dirty="0"/>
              <a:t>文件及</a:t>
            </a:r>
            <a:r>
              <a:rPr lang="en-US" altLang="zh-CN" sz="2000" dirty="0"/>
              <a:t>Linux</a:t>
            </a:r>
            <a:r>
              <a:rPr lang="zh-CN" altLang="zh-CN" sz="2000" dirty="0"/>
              <a:t>目录结构，特别是磁盘设备的文件名命名规则，如</a:t>
            </a:r>
            <a:r>
              <a:rPr lang="en-US" altLang="zh-CN" sz="2000" dirty="0" err="1"/>
              <a:t>sda</a:t>
            </a:r>
            <a:r>
              <a:rPr lang="zh-CN" altLang="zh-CN" sz="2000" dirty="0"/>
              <a:t>、</a:t>
            </a:r>
            <a:r>
              <a:rPr lang="en-US" altLang="zh-CN" sz="2000" dirty="0" err="1"/>
              <a:t>sdb</a:t>
            </a:r>
            <a:r>
              <a:rPr lang="zh-CN" altLang="zh-CN" sz="2000" dirty="0"/>
              <a:t>、</a:t>
            </a:r>
            <a:r>
              <a:rPr lang="en-US" altLang="zh-CN" sz="2000" dirty="0"/>
              <a:t>sdb3</a:t>
            </a:r>
            <a:r>
              <a:rPr lang="zh-CN" altLang="zh-CN" sz="2000" dirty="0"/>
              <a:t>表示的含义</a:t>
            </a:r>
            <a:r>
              <a:rPr lang="en-US" altLang="zh-CN" sz="2000" dirty="0"/>
              <a:t>(</a:t>
            </a:r>
            <a:r>
              <a:rPr lang="zh-CN" altLang="zh-CN" sz="2000" dirty="0"/>
              <a:t>表</a:t>
            </a:r>
            <a:r>
              <a:rPr lang="en-US" altLang="zh-CN" sz="2000" dirty="0"/>
              <a:t>2-7)</a:t>
            </a:r>
            <a:r>
              <a:rPr lang="zh-CN" altLang="zh-CN" sz="2000" dirty="0"/>
              <a:t>、</a:t>
            </a:r>
            <a:r>
              <a:rPr lang="en-US" altLang="zh-CN" sz="2000" dirty="0"/>
              <a:t>Linux</a:t>
            </a:r>
            <a:r>
              <a:rPr lang="zh-CN" altLang="zh-CN" sz="2000" dirty="0"/>
              <a:t>文件系统各目录的功能（表</a:t>
            </a:r>
            <a:r>
              <a:rPr lang="en-US" altLang="zh-CN" sz="2000" dirty="0"/>
              <a:t>2-8</a:t>
            </a:r>
            <a:r>
              <a:rPr lang="zh-CN" altLang="zh-CN" sz="2000" dirty="0"/>
              <a:t>）。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000" dirty="0"/>
              <a:t>表</a:t>
            </a:r>
            <a:r>
              <a:rPr lang="en-US" altLang="zh-CN" sz="2000" dirty="0"/>
              <a:t>2-9</a:t>
            </a:r>
            <a:r>
              <a:rPr lang="zh-CN" altLang="zh-CN" sz="2000" dirty="0"/>
              <a:t>，常用的文件目录操作命令用法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000" dirty="0"/>
              <a:t>表</a:t>
            </a:r>
            <a:r>
              <a:rPr lang="en-US" altLang="zh-CN" sz="2000" dirty="0"/>
              <a:t>2-11</a:t>
            </a:r>
            <a:r>
              <a:rPr lang="zh-CN" altLang="zh-CN" sz="2000" dirty="0"/>
              <a:t>，常用的文本文件操作命令用法</a:t>
            </a:r>
            <a:r>
              <a:rPr lang="en-US" altLang="zh-CN" sz="2000" dirty="0"/>
              <a:t>cat</a:t>
            </a:r>
            <a:r>
              <a:rPr lang="zh-CN" altLang="zh-CN" sz="2000" dirty="0"/>
              <a:t>、</a:t>
            </a:r>
            <a:r>
              <a:rPr lang="en-US" altLang="zh-CN" sz="2000" dirty="0"/>
              <a:t>more</a:t>
            </a:r>
            <a:r>
              <a:rPr lang="zh-CN" altLang="zh-CN" sz="2000" dirty="0"/>
              <a:t>、</a:t>
            </a:r>
            <a:r>
              <a:rPr lang="en-US" altLang="zh-CN" sz="2000" dirty="0"/>
              <a:t>less</a:t>
            </a:r>
            <a:r>
              <a:rPr lang="zh-CN" altLang="zh-CN" sz="2000" dirty="0"/>
              <a:t>、</a:t>
            </a:r>
            <a:r>
              <a:rPr lang="en-US" altLang="zh-CN" sz="2000" dirty="0"/>
              <a:t>head</a:t>
            </a:r>
            <a:r>
              <a:rPr lang="zh-CN" altLang="zh-CN" sz="2000" dirty="0"/>
              <a:t>、</a:t>
            </a:r>
            <a:r>
              <a:rPr lang="en-US" altLang="zh-CN" sz="2000" dirty="0"/>
              <a:t>tail</a:t>
            </a:r>
            <a:r>
              <a:rPr lang="zh-CN" altLang="zh-CN" sz="2000" dirty="0"/>
              <a:t>、</a:t>
            </a:r>
            <a:r>
              <a:rPr lang="en-US" altLang="zh-CN" sz="2000" dirty="0"/>
              <a:t>cut</a:t>
            </a:r>
            <a:r>
              <a:rPr lang="zh-CN" altLang="zh-CN" sz="2000" dirty="0"/>
              <a:t>、</a:t>
            </a:r>
            <a:r>
              <a:rPr lang="en-US" altLang="zh-CN" sz="2000" dirty="0"/>
              <a:t>paste</a:t>
            </a:r>
            <a:r>
              <a:rPr lang="zh-CN" altLang="zh-CN" sz="2000" dirty="0"/>
              <a:t>、</a:t>
            </a:r>
            <a:r>
              <a:rPr lang="en-US" altLang="zh-CN" sz="2000" dirty="0" err="1"/>
              <a:t>grep</a:t>
            </a:r>
            <a:r>
              <a:rPr lang="zh-CN" altLang="zh-CN" sz="2000" dirty="0"/>
              <a:t>、</a:t>
            </a:r>
            <a:r>
              <a:rPr lang="en-US" altLang="zh-CN" sz="2000" dirty="0" err="1"/>
              <a:t>wc</a:t>
            </a:r>
            <a:r>
              <a:rPr lang="zh-CN" altLang="zh-CN" sz="2000" dirty="0"/>
              <a:t>、</a:t>
            </a:r>
            <a:r>
              <a:rPr lang="en-US" altLang="zh-CN" sz="2000" dirty="0" err="1"/>
              <a:t>sed</a:t>
            </a:r>
            <a:r>
              <a:rPr lang="zh-CN" altLang="zh-CN" sz="2000" dirty="0"/>
              <a:t>命令。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000" dirty="0"/>
              <a:t>常用的压缩工具；</a:t>
            </a:r>
            <a:r>
              <a:rPr lang="en-US" altLang="zh-CN" sz="2000" dirty="0"/>
              <a:t>tar</a:t>
            </a:r>
            <a:r>
              <a:rPr lang="zh-CN" altLang="zh-CN" sz="2000" dirty="0"/>
              <a:t>实现打包、压缩的命令表</a:t>
            </a:r>
            <a:r>
              <a:rPr lang="en-US" altLang="zh-CN" sz="2000" dirty="0"/>
              <a:t>2-17</a:t>
            </a:r>
            <a:r>
              <a:rPr lang="zh-CN" altLang="zh-CN" sz="2000" dirty="0"/>
              <a:t>；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000" dirty="0"/>
              <a:t>表</a:t>
            </a:r>
            <a:r>
              <a:rPr lang="en-US" altLang="zh-CN" sz="2000" dirty="0"/>
              <a:t>2.18</a:t>
            </a:r>
            <a:r>
              <a:rPr lang="zh-CN" altLang="zh-CN" sz="2000" dirty="0"/>
              <a:t>中常用的信息显示的命令</a:t>
            </a:r>
            <a:r>
              <a:rPr lang="en-US" altLang="zh-CN" sz="2000" dirty="0"/>
              <a:t>file</a:t>
            </a:r>
            <a:r>
              <a:rPr lang="zh-CN" altLang="zh-CN" sz="2000" dirty="0"/>
              <a:t>、</a:t>
            </a:r>
            <a:r>
              <a:rPr lang="en-US" altLang="zh-CN" sz="2000" dirty="0"/>
              <a:t>find</a:t>
            </a:r>
            <a:r>
              <a:rPr lang="zh-CN" altLang="zh-CN" sz="2000" dirty="0"/>
              <a:t>、</a:t>
            </a:r>
            <a:r>
              <a:rPr lang="en-US" altLang="zh-CN" sz="2000" dirty="0"/>
              <a:t>locate</a:t>
            </a:r>
            <a:r>
              <a:rPr lang="zh-CN" altLang="zh-CN" sz="2000" dirty="0"/>
              <a:t>、</a:t>
            </a:r>
            <a:r>
              <a:rPr lang="en-US" altLang="zh-CN" sz="2000" dirty="0" err="1"/>
              <a:t>whereis</a:t>
            </a:r>
            <a:r>
              <a:rPr lang="zh-CN" altLang="zh-CN" sz="2000" dirty="0"/>
              <a:t>、</a:t>
            </a:r>
            <a:r>
              <a:rPr lang="en-US" altLang="zh-CN" sz="2000" dirty="0"/>
              <a:t>id</a:t>
            </a:r>
            <a:r>
              <a:rPr lang="zh-CN" altLang="zh-CN" sz="2000" dirty="0"/>
              <a:t>、</a:t>
            </a:r>
            <a:r>
              <a:rPr lang="en-US" altLang="zh-CN" sz="2000" dirty="0"/>
              <a:t>du</a:t>
            </a:r>
            <a:r>
              <a:rPr lang="zh-CN" altLang="zh-CN" sz="2000" dirty="0"/>
              <a:t>、</a:t>
            </a:r>
            <a:r>
              <a:rPr lang="en-US" altLang="zh-CN" sz="2000" dirty="0" err="1"/>
              <a:t>df</a:t>
            </a:r>
            <a:r>
              <a:rPr lang="zh-CN" altLang="zh-CN" sz="2000" dirty="0"/>
              <a:t>、</a:t>
            </a:r>
            <a:r>
              <a:rPr lang="en-US" altLang="zh-CN" sz="2000" dirty="0" err="1"/>
              <a:t>ifconfig</a:t>
            </a:r>
            <a:r>
              <a:rPr lang="zh-CN" altLang="zh-CN" sz="2000" dirty="0"/>
              <a:t>、</a:t>
            </a:r>
            <a:r>
              <a:rPr lang="en-US" altLang="zh-CN" sz="2000" dirty="0"/>
              <a:t>date</a:t>
            </a:r>
            <a:r>
              <a:rPr lang="zh-CN" altLang="zh-CN" sz="2000" dirty="0"/>
              <a:t>、</a:t>
            </a:r>
            <a:r>
              <a:rPr lang="en-US" altLang="zh-CN" sz="2000" dirty="0"/>
              <a:t>groups</a:t>
            </a:r>
            <a:r>
              <a:rPr lang="zh-CN" altLang="zh-CN" sz="2000" dirty="0"/>
              <a:t>、</a:t>
            </a:r>
            <a:r>
              <a:rPr lang="en-US" altLang="zh-CN" sz="2000" dirty="0" err="1"/>
              <a:t>ps</a:t>
            </a:r>
            <a:r>
              <a:rPr lang="zh-CN" altLang="zh-CN" sz="2000" dirty="0"/>
              <a:t>、</a:t>
            </a:r>
            <a:r>
              <a:rPr lang="en-US" altLang="zh-CN" sz="2000" dirty="0"/>
              <a:t>stat</a:t>
            </a:r>
            <a:r>
              <a:rPr lang="zh-CN" altLang="zh-CN" sz="2000" dirty="0"/>
              <a:t>等的功能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2000" dirty="0"/>
              <a:t>2.2</a:t>
            </a:r>
            <a:r>
              <a:rPr lang="zh-CN" altLang="zh-CN" sz="2000" dirty="0"/>
              <a:t>节</a:t>
            </a:r>
            <a:r>
              <a:rPr lang="en-US" altLang="zh-CN" sz="2000" dirty="0"/>
              <a:t>--Vi</a:t>
            </a:r>
            <a:r>
              <a:rPr lang="zh-CN" altLang="zh-CN" sz="2000" dirty="0"/>
              <a:t>编辑器的使用：</a:t>
            </a:r>
            <a:r>
              <a:rPr lang="en-US" altLang="zh-CN" sz="2000" dirty="0"/>
              <a:t>p43</a:t>
            </a:r>
            <a:r>
              <a:rPr lang="zh-CN" altLang="zh-CN" sz="2000" dirty="0"/>
              <a:t>页，结合图</a:t>
            </a:r>
            <a:r>
              <a:rPr lang="en-US" altLang="zh-CN" sz="2000" dirty="0"/>
              <a:t>2-3</a:t>
            </a:r>
            <a:r>
              <a:rPr lang="zh-CN" altLang="zh-CN" sz="2000" dirty="0"/>
              <a:t>，理解</a:t>
            </a:r>
            <a:r>
              <a:rPr lang="en-US" altLang="zh-CN" sz="2000" dirty="0"/>
              <a:t>vim</a:t>
            </a:r>
            <a:r>
              <a:rPr lang="zh-CN" altLang="zh-CN" sz="2000" dirty="0"/>
              <a:t>编辑器的基本运行模式，如何新建文件、编辑文件中如何切换模式图</a:t>
            </a:r>
            <a:r>
              <a:rPr lang="en-US" altLang="zh-CN" sz="2000" dirty="0"/>
              <a:t>2-3</a:t>
            </a:r>
            <a:r>
              <a:rPr lang="zh-CN" altLang="zh-CN" sz="2000" dirty="0"/>
              <a:t>、如何保存文件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2000" dirty="0"/>
              <a:t>2.3.1</a:t>
            </a:r>
            <a:r>
              <a:rPr lang="zh-CN" altLang="zh-CN" sz="2000" dirty="0"/>
              <a:t>节</a:t>
            </a:r>
            <a:r>
              <a:rPr lang="en-US" altLang="zh-CN" sz="2000" dirty="0"/>
              <a:t>—shell</a:t>
            </a:r>
            <a:r>
              <a:rPr lang="zh-CN" altLang="zh-CN" sz="2000" dirty="0"/>
              <a:t>变量的分类、</a:t>
            </a:r>
            <a:r>
              <a:rPr lang="en-US" altLang="zh-CN" sz="2000" dirty="0"/>
              <a:t>shell</a:t>
            </a:r>
            <a:r>
              <a:rPr lang="zh-CN" altLang="zh-CN" sz="2000" dirty="0"/>
              <a:t>变量的定义和输出、变量的作用范围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000" dirty="0"/>
              <a:t>环境变量的作用，及常见的环境变量</a:t>
            </a:r>
            <a:r>
              <a:rPr lang="en-US" altLang="zh-CN" sz="2000" dirty="0"/>
              <a:t>BASH</a:t>
            </a:r>
            <a:r>
              <a:rPr lang="zh-CN" altLang="zh-CN" sz="2000" dirty="0"/>
              <a:t>、</a:t>
            </a:r>
            <a:r>
              <a:rPr lang="en-US" altLang="zh-CN" sz="2000" dirty="0"/>
              <a:t>HISTFILE</a:t>
            </a:r>
            <a:r>
              <a:rPr lang="zh-CN" altLang="zh-CN" sz="2000" dirty="0"/>
              <a:t>、</a:t>
            </a:r>
            <a:r>
              <a:rPr lang="en-US" altLang="zh-CN" sz="2000" dirty="0"/>
              <a:t>HISTSIZE</a:t>
            </a:r>
            <a:r>
              <a:rPr lang="zh-CN" altLang="zh-CN" sz="2000" dirty="0"/>
              <a:t>、</a:t>
            </a:r>
            <a:r>
              <a:rPr lang="en-US" altLang="zh-CN" sz="2000" dirty="0"/>
              <a:t>HOME</a:t>
            </a:r>
            <a:r>
              <a:rPr lang="zh-CN" altLang="zh-CN" sz="2000" dirty="0"/>
              <a:t>、</a:t>
            </a:r>
            <a:r>
              <a:rPr lang="en-US" altLang="zh-CN" sz="2000" dirty="0"/>
              <a:t>UID</a:t>
            </a:r>
            <a:r>
              <a:rPr lang="zh-CN" altLang="zh-CN" sz="2000" dirty="0"/>
              <a:t>、</a:t>
            </a:r>
            <a:r>
              <a:rPr lang="en-US" altLang="zh-CN" sz="2000" dirty="0"/>
              <a:t>PATH</a:t>
            </a:r>
            <a:r>
              <a:rPr lang="zh-CN" altLang="zh-CN" sz="2000" dirty="0"/>
              <a:t>等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000" dirty="0"/>
              <a:t>重定向、管道、命令替换、命令组合的用法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333375"/>
            <a:ext cx="9144000" cy="47026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第二章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80527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1925" y="882916"/>
            <a:ext cx="854392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buFont typeface="Wingdings 2" panose="05020102010507070707" pitchFamily="18" charset="2"/>
              <a:buChar char=""/>
            </a:pPr>
            <a:r>
              <a:rPr lang="en-US" altLang="zh-CN" sz="2000" kern="100" dirty="0" smtClean="0">
                <a:latin typeface="等线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的账户包括用户账户和组账户两种。用户账户的分类、组账户的分类。标准组、私有组、主组、附加组的概念。</a:t>
            </a:r>
          </a:p>
          <a:p>
            <a:pPr marL="257175" indent="-257175" algn="just">
              <a:buFont typeface="Wingdings 2" panose="05020102010507070707" pitchFamily="18" charset="2"/>
              <a:buChar char=""/>
            </a:pP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四个账户的系统文件的基本作用，及文件中每个字段的含义。</a:t>
            </a:r>
          </a:p>
          <a:p>
            <a:pPr marL="257175" indent="-257175" algn="just">
              <a:buFont typeface="Wingdings 2" panose="05020102010507070707" pitchFamily="18" charset="2"/>
              <a:buChar char=""/>
            </a:pP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会基本的管理用户账户，如用户的添加、设置密码、删除用户、锁定用户；会修改用户的用户名、组名；会切换用户身份，区分</a:t>
            </a:r>
            <a:r>
              <a:rPr lang="en-US" altLang="zh-CN" sz="20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su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sudo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257175" indent="-257175" algn="just">
              <a:buFont typeface="Wingdings 2" panose="05020102010507070707" pitchFamily="18" charset="2"/>
              <a:buChar char=""/>
            </a:pP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会批量管理用户；</a:t>
            </a:r>
          </a:p>
          <a:p>
            <a:pPr marL="257175" indent="-257175" algn="just">
              <a:buFont typeface="Wingdings 2" panose="05020102010507070707" pitchFamily="18" charset="2"/>
              <a:buChar char=""/>
            </a:pP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文件权限：文件的三种基本权限；会查看</a:t>
            </a:r>
            <a:r>
              <a:rPr lang="en-US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分析文件的权限；更改文件的权限（文字设定法、数字设定法）；会更改文件的属主和同组人；对文件和目录，</a:t>
            </a:r>
            <a:r>
              <a:rPr lang="en-US" altLang="zh-CN" sz="20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rwx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权限分别对应的操作；</a:t>
            </a:r>
            <a:r>
              <a:rPr lang="en-US" altLang="zh-CN" sz="20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umask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的含义，默认状态下文件和目录的</a:t>
            </a:r>
            <a:r>
              <a:rPr lang="en-US" altLang="zh-CN" sz="20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umask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值是多少，对应的新建文件</a:t>
            </a:r>
            <a:r>
              <a:rPr lang="en-US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目录的权限是什么。</a:t>
            </a:r>
          </a:p>
          <a:p>
            <a:pPr marL="257175" indent="-257175" algn="just">
              <a:buFont typeface="Wingdings 2" panose="05020102010507070707" pitchFamily="18" charset="2"/>
              <a:buChar char=""/>
            </a:pP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文件访问控制</a:t>
            </a:r>
            <a:r>
              <a:rPr lang="en-US" altLang="zh-CN" sz="20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acl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的作用，会对某一用户设置访问控制权限。</a:t>
            </a:r>
          </a:p>
          <a:p>
            <a:pPr marL="257175" indent="-257175" algn="just">
              <a:buFont typeface="Wingdings 2" panose="05020102010507070707" pitchFamily="18" charset="2"/>
              <a:buChar char=""/>
            </a:pP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进程和程序的比较；进程识别号</a:t>
            </a:r>
            <a:r>
              <a:rPr lang="en-US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，进程的</a:t>
            </a:r>
            <a:r>
              <a:rPr lang="en-US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种类型，能区分前台进程、后台进程的概念，会用命令查看进程、杀死进程；会使用</a:t>
            </a:r>
            <a:r>
              <a:rPr lang="en-US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jobs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bg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fg</a:t>
            </a:r>
            <a:r>
              <a:rPr lang="zh-CN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命令进行作业控制。</a:t>
            </a:r>
          </a:p>
          <a:p>
            <a:pPr algn="just"/>
            <a:r>
              <a:rPr lang="en-US" altLang="zh-CN" sz="20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33375"/>
            <a:ext cx="9144000" cy="47026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第三章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4414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025" y="882916"/>
            <a:ext cx="854392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 smtClean="0"/>
              <a:t>磁盘</a:t>
            </a:r>
            <a:r>
              <a:rPr lang="zh-CN" altLang="zh-CN" sz="2200" dirty="0"/>
              <a:t>分区的两种类型、各种类型下的分区工具；静态分区的缺点和使用</a:t>
            </a:r>
            <a:r>
              <a:rPr lang="en-US" altLang="zh-CN" sz="2200" dirty="0"/>
              <a:t>LVM</a:t>
            </a:r>
            <a:r>
              <a:rPr lang="zh-CN" altLang="zh-CN" sz="2200" dirty="0"/>
              <a:t>分区的优点；</a:t>
            </a:r>
            <a:r>
              <a:rPr lang="en-US" altLang="zh-CN" sz="2200" dirty="0"/>
              <a:t>SCSI/SATA/SAS/USB</a:t>
            </a:r>
            <a:r>
              <a:rPr lang="zh-CN" altLang="zh-CN" sz="2200" dirty="0"/>
              <a:t>、光盘、</a:t>
            </a:r>
            <a:r>
              <a:rPr lang="en-US" altLang="zh-CN" sz="2200" dirty="0"/>
              <a:t>IDE</a:t>
            </a:r>
            <a:r>
              <a:rPr lang="zh-CN" altLang="zh-CN" sz="2200" dirty="0"/>
              <a:t>磁盘等磁盘设备的命名规则；结合分区、各种分区的命名规则；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逻辑卷管理中物理分区、</a:t>
            </a:r>
            <a:r>
              <a:rPr lang="en-US" altLang="zh-CN" sz="2200" dirty="0"/>
              <a:t>PE</a:t>
            </a:r>
            <a:r>
              <a:rPr lang="zh-CN" altLang="zh-CN" sz="2200" dirty="0"/>
              <a:t>、</a:t>
            </a:r>
            <a:r>
              <a:rPr lang="en-US" altLang="zh-CN" sz="2200" dirty="0"/>
              <a:t>PV</a:t>
            </a:r>
            <a:r>
              <a:rPr lang="zh-CN" altLang="zh-CN" sz="2200" dirty="0"/>
              <a:t>、</a:t>
            </a:r>
            <a:r>
              <a:rPr lang="en-US" altLang="zh-CN" sz="2200" dirty="0"/>
              <a:t>VG</a:t>
            </a:r>
            <a:r>
              <a:rPr lang="zh-CN" altLang="zh-CN" sz="2200" dirty="0"/>
              <a:t>、</a:t>
            </a:r>
            <a:r>
              <a:rPr lang="en-US" altLang="zh-CN" sz="2200" dirty="0"/>
              <a:t>LV</a:t>
            </a:r>
            <a:r>
              <a:rPr lang="zh-CN" altLang="zh-CN" sz="2200" dirty="0"/>
              <a:t>的概念；及创建逻辑卷的流程；流程各个环节相应的工具名称；</a:t>
            </a:r>
            <a:r>
              <a:rPr lang="en-US" altLang="zh-CN" sz="2200" dirty="0"/>
              <a:t>/boot</a:t>
            </a:r>
            <a:r>
              <a:rPr lang="zh-CN" altLang="zh-CN" sz="2200" dirty="0"/>
              <a:t>分区不能在逻辑卷中创建。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了解文件系统的概念；文件系统的类型；</a:t>
            </a:r>
            <a:r>
              <a:rPr lang="en-US" altLang="zh-CN" sz="2200" dirty="0"/>
              <a:t>Linux</a:t>
            </a:r>
            <a:r>
              <a:rPr lang="zh-CN" altLang="zh-CN" sz="2200" dirty="0"/>
              <a:t>支持的文件系统类型；会创建文件系统，挂载、卸载文件系统；</a:t>
            </a:r>
            <a:r>
              <a:rPr lang="en-US" altLang="zh-CN" sz="2200" dirty="0"/>
              <a:t>u</a:t>
            </a:r>
            <a:r>
              <a:rPr lang="zh-CN" altLang="zh-CN" sz="2200" dirty="0"/>
              <a:t>盘、光盘、</a:t>
            </a:r>
            <a:r>
              <a:rPr lang="en-US" altLang="zh-CN" sz="2200" dirty="0" err="1"/>
              <a:t>iso</a:t>
            </a:r>
            <a:r>
              <a:rPr lang="zh-CN" altLang="zh-CN" sz="2200" dirty="0"/>
              <a:t>文件的挂载卸载命令。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磁盘限额的作用</a:t>
            </a:r>
            <a:r>
              <a:rPr lang="en-US" altLang="zh-CN" sz="2200" dirty="0"/>
              <a:t>/</a:t>
            </a:r>
            <a:r>
              <a:rPr lang="zh-CN" altLang="zh-CN" sz="2200" dirty="0"/>
              <a:t>用途。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333375"/>
            <a:ext cx="9144000" cy="47026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第四章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3552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0500" y="1082941"/>
            <a:ext cx="854392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200" dirty="0" smtClean="0"/>
              <a:t>Linux</a:t>
            </a:r>
            <a:r>
              <a:rPr lang="zh-CN" altLang="zh-CN" sz="2200" dirty="0"/>
              <a:t>支持常见的网络协议，由内核支持；各种网络接口的驱动由内核模块提供；网络设备的命名方法；网络连接中，使用</a:t>
            </a:r>
            <a:r>
              <a:rPr lang="en-US" altLang="zh-CN" sz="2200" dirty="0" err="1"/>
              <a:t>ip</a:t>
            </a:r>
            <a:r>
              <a:rPr lang="zh-CN" altLang="zh-CN" sz="2200" dirty="0"/>
              <a:t>命令查看网络地址、路由信息、添加</a:t>
            </a:r>
            <a:r>
              <a:rPr lang="en-US" altLang="zh-CN" sz="2200" dirty="0"/>
              <a:t>/</a:t>
            </a:r>
            <a:r>
              <a:rPr lang="zh-CN" altLang="zh-CN" sz="2200" dirty="0"/>
              <a:t>删除</a:t>
            </a:r>
            <a:r>
              <a:rPr lang="en-US" altLang="zh-CN" sz="2200" dirty="0" err="1"/>
              <a:t>ip</a:t>
            </a:r>
            <a:r>
              <a:rPr lang="zh-CN" altLang="zh-CN" sz="2200" dirty="0"/>
              <a:t>地址的方法；各网络配置文件的基本用途。</a:t>
            </a:r>
            <a:r>
              <a:rPr lang="en-US" altLang="zh-CN" sz="2200" dirty="0" err="1"/>
              <a:t>NetworkManager</a:t>
            </a:r>
            <a:r>
              <a:rPr lang="zh-CN" altLang="zh-CN" sz="2200" dirty="0"/>
              <a:t>的功能。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200" dirty="0"/>
              <a:t>Linux</a:t>
            </a:r>
            <a:r>
              <a:rPr lang="zh-CN" altLang="zh-CN" sz="2200" dirty="0"/>
              <a:t>系统中常用的网络检测工具</a:t>
            </a:r>
            <a:r>
              <a:rPr lang="en-US" altLang="zh-CN" sz="2200" dirty="0"/>
              <a:t>ping</a:t>
            </a:r>
            <a:r>
              <a:rPr lang="zh-CN" altLang="zh-CN" sz="2200" dirty="0"/>
              <a:t>、</a:t>
            </a:r>
            <a:r>
              <a:rPr lang="en-US" altLang="zh-CN" sz="2200" dirty="0" err="1"/>
              <a:t>ifconfig</a:t>
            </a:r>
            <a:r>
              <a:rPr lang="zh-CN" altLang="zh-CN" sz="2200" dirty="0"/>
              <a:t>、</a:t>
            </a:r>
            <a:r>
              <a:rPr lang="en-US" altLang="zh-CN" sz="2200" dirty="0"/>
              <a:t>route</a:t>
            </a:r>
            <a:r>
              <a:rPr lang="zh-CN" altLang="zh-CN" sz="2200" dirty="0"/>
              <a:t>的用法，</a:t>
            </a:r>
            <a:r>
              <a:rPr lang="en-US" altLang="zh-CN" sz="2200" dirty="0"/>
              <a:t>Linux</a:t>
            </a:r>
            <a:r>
              <a:rPr lang="zh-CN" altLang="zh-CN" sz="2200" dirty="0"/>
              <a:t>系统中文件传输、远程登录的工具有哪些，能区分各个工具的作用，会使用</a:t>
            </a:r>
            <a:r>
              <a:rPr lang="en-US" altLang="zh-CN" sz="2200" dirty="0" err="1"/>
              <a:t>ssh</a:t>
            </a:r>
            <a:r>
              <a:rPr lang="zh-CN" altLang="zh-CN" sz="2200" dirty="0"/>
              <a:t>、</a:t>
            </a:r>
            <a:r>
              <a:rPr lang="en-US" altLang="zh-CN" sz="2200" dirty="0" err="1"/>
              <a:t>scp</a:t>
            </a:r>
            <a:r>
              <a:rPr lang="zh-CN" altLang="zh-CN" sz="2200" dirty="0"/>
              <a:t>、</a:t>
            </a:r>
            <a:r>
              <a:rPr lang="en-US" altLang="zh-CN" sz="2200" dirty="0" err="1"/>
              <a:t>sftp</a:t>
            </a:r>
            <a:r>
              <a:rPr lang="zh-CN" altLang="zh-CN" sz="2200" dirty="0"/>
              <a:t>、</a:t>
            </a:r>
            <a:r>
              <a:rPr lang="en-US" altLang="zh-CN" sz="2200" dirty="0" err="1"/>
              <a:t>wget</a:t>
            </a:r>
            <a:r>
              <a:rPr lang="zh-CN" altLang="zh-CN" sz="2200" dirty="0"/>
              <a:t>、</a:t>
            </a:r>
            <a:r>
              <a:rPr lang="en-US" altLang="zh-CN" sz="2200" dirty="0" err="1"/>
              <a:t>rsync</a:t>
            </a:r>
            <a:r>
              <a:rPr lang="zh-CN" altLang="zh-CN" sz="2200" dirty="0"/>
              <a:t>的基本命令。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200" dirty="0"/>
              <a:t>rpm</a:t>
            </a:r>
            <a:r>
              <a:rPr lang="zh-CN" altLang="zh-CN" sz="2200" dirty="0"/>
              <a:t>包的命名格式，</a:t>
            </a:r>
            <a:r>
              <a:rPr lang="en-US" altLang="zh-CN" sz="2200" dirty="0"/>
              <a:t>rpm</a:t>
            </a:r>
            <a:r>
              <a:rPr lang="zh-CN" altLang="zh-CN" sz="2200" dirty="0"/>
              <a:t>包的安装、升级、卸载命令，查询系统是否安装了某软件包的方法、查询系统安装所有软件包的方法，查询某一软件包的信息的方法，根据磁盘文件查询相应软件包的方法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200" dirty="0"/>
              <a:t>yum</a:t>
            </a:r>
            <a:r>
              <a:rPr lang="zh-CN" altLang="zh-CN" sz="2200" dirty="0"/>
              <a:t>仓库安装、升级、卸载软件包的命令。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333375"/>
            <a:ext cx="9144000" cy="47026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第五章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6934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9550" y="1330591"/>
            <a:ext cx="8543925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2200" dirty="0" smtClean="0"/>
              <a:t>Shell</a:t>
            </a:r>
            <a:r>
              <a:rPr lang="zh-CN" altLang="zh-CN" sz="2200" dirty="0"/>
              <a:t>脚本中的选择结构、循环结构的用法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执行脚本的方法：子</a:t>
            </a:r>
            <a:r>
              <a:rPr lang="en-US" altLang="zh-CN" sz="2200" dirty="0"/>
              <a:t>shell</a:t>
            </a:r>
            <a:r>
              <a:rPr lang="zh-CN" altLang="zh-CN" sz="2200" dirty="0"/>
              <a:t>中执行、当前</a:t>
            </a:r>
            <a:r>
              <a:rPr lang="en-US" altLang="zh-CN" sz="2200" dirty="0"/>
              <a:t>shell</a:t>
            </a:r>
            <a:r>
              <a:rPr lang="zh-CN" altLang="zh-CN" sz="2200" dirty="0"/>
              <a:t>执行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2200" dirty="0"/>
              <a:t>Shell</a:t>
            </a:r>
            <a:r>
              <a:rPr lang="zh-CN" altLang="zh-CN" sz="2200" dirty="0"/>
              <a:t>脚本中变量的定义，变量的输入</a:t>
            </a:r>
            <a:r>
              <a:rPr lang="en-US" altLang="zh-CN" sz="2200" dirty="0"/>
              <a:t>read</a:t>
            </a:r>
            <a:r>
              <a:rPr lang="zh-CN" altLang="zh-CN" sz="2200" dirty="0"/>
              <a:t>，字符串输出</a:t>
            </a:r>
            <a:r>
              <a:rPr lang="en-US" altLang="zh-CN" sz="2200" dirty="0"/>
              <a:t>echo</a:t>
            </a:r>
            <a:r>
              <a:rPr lang="zh-CN" altLang="zh-CN" sz="2200" dirty="0"/>
              <a:t>，</a:t>
            </a:r>
            <a:r>
              <a:rPr lang="en-US" altLang="zh-CN" sz="2200" dirty="0"/>
              <a:t>shell</a:t>
            </a:r>
            <a:r>
              <a:rPr lang="zh-CN" altLang="zh-CN" sz="2200" dirty="0"/>
              <a:t>中的特殊变量表</a:t>
            </a:r>
            <a:r>
              <a:rPr lang="en-US" altLang="zh-CN" sz="2200" dirty="0"/>
              <a:t>10-4</a:t>
            </a:r>
            <a:r>
              <a:rPr lang="zh-CN" altLang="zh-CN" sz="2200" dirty="0"/>
              <a:t>；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会写脚本，运行脚本，带参数运行脚本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条件测试语句，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针对文件，能判断文件是否存在、是文件</a:t>
            </a:r>
            <a:r>
              <a:rPr lang="en-US" altLang="zh-CN" sz="2200" dirty="0"/>
              <a:t>or</a:t>
            </a:r>
            <a:r>
              <a:rPr lang="zh-CN" altLang="zh-CN" sz="2200" dirty="0"/>
              <a:t>目录、判断文件的权限等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针对字符串，能判断字符串空</a:t>
            </a:r>
            <a:r>
              <a:rPr lang="en-US" altLang="zh-CN" sz="2200" dirty="0"/>
              <a:t>or</a:t>
            </a:r>
            <a:r>
              <a:rPr lang="zh-CN" altLang="zh-CN" sz="2200" dirty="0"/>
              <a:t>非空、相等</a:t>
            </a:r>
            <a:r>
              <a:rPr lang="en-US" altLang="zh-CN" sz="2200" dirty="0"/>
              <a:t>or</a:t>
            </a:r>
            <a:r>
              <a:rPr lang="zh-CN" altLang="zh-CN" sz="2200" dirty="0"/>
              <a:t>不相等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针对整数，表</a:t>
            </a:r>
            <a:r>
              <a:rPr lang="en-US" altLang="zh-CN" sz="2200" dirty="0"/>
              <a:t>10-9</a:t>
            </a:r>
            <a:endParaRPr lang="zh-CN" altLang="zh-CN" sz="22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结合逻辑运算符操作以上内容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200" dirty="0"/>
              <a:t>函数定义、函数调用、引用函数的返回值。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2200" dirty="0"/>
              <a:t>break</a:t>
            </a:r>
            <a:r>
              <a:rPr lang="zh-CN" altLang="zh-CN" sz="2200" dirty="0"/>
              <a:t>、</a:t>
            </a:r>
            <a:r>
              <a:rPr lang="en-US" altLang="zh-CN" sz="2200" dirty="0"/>
              <a:t>continue</a:t>
            </a:r>
            <a:r>
              <a:rPr lang="zh-CN" altLang="zh-CN" sz="2200" dirty="0"/>
              <a:t>语句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333375"/>
            <a:ext cx="9144000" cy="470260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第十章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4162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" y="1416316"/>
            <a:ext cx="85439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2000" dirty="0"/>
              <a:t>考试</a:t>
            </a:r>
            <a:r>
              <a:rPr lang="zh-CN" altLang="zh-CN" sz="2000" dirty="0"/>
              <a:t>题型包括：单选题、填空题、简答题、操作题；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000" dirty="0"/>
              <a:t>各章节可结合知识点重点复习。</a:t>
            </a:r>
            <a:endParaRPr lang="en-US" altLang="zh-C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000" dirty="0"/>
              <a:t>每章课后习题，讲过的内容。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zh-CN" sz="2000" dirty="0"/>
              <a:t>其他一些基本操作</a:t>
            </a:r>
            <a:r>
              <a:rPr lang="en-US" altLang="zh-CN" sz="2000" dirty="0"/>
              <a:t>/</a:t>
            </a:r>
            <a:r>
              <a:rPr lang="zh-CN" altLang="zh-CN" sz="2000" dirty="0"/>
              <a:t>命令自行复习。</a:t>
            </a:r>
          </a:p>
        </p:txBody>
      </p:sp>
    </p:spTree>
    <p:extLst>
      <p:ext uri="{BB962C8B-B14F-4D97-AF65-F5344CB8AC3E}">
        <p14:creationId xmlns:p14="http://schemas.microsoft.com/office/powerpoint/2010/main" val="356625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TM02892315[[fn=丝状]]</Template>
  <TotalTime>23</TotalTime>
  <Words>1043</Words>
  <Application>Microsoft Office PowerPoint</Application>
  <PresentationFormat>全屏显示(4:3)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宋体</vt:lpstr>
      <vt:lpstr>Arial</vt:lpstr>
      <vt:lpstr>Calibri</vt:lpstr>
      <vt:lpstr>Calibri Light</vt:lpstr>
      <vt:lpstr>Times New Roman</vt:lpstr>
      <vt:lpstr>Wingdings 2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Hewlett-Packard Company</dc:creator>
  <cp:lastModifiedBy>Hewlett-Packard Company</cp:lastModifiedBy>
  <cp:revision>15</cp:revision>
  <dcterms:created xsi:type="dcterms:W3CDTF">2025-05-23T08:39:17Z</dcterms:created>
  <dcterms:modified xsi:type="dcterms:W3CDTF">2025-05-23T09:02:26Z</dcterms:modified>
</cp:coreProperties>
</file>