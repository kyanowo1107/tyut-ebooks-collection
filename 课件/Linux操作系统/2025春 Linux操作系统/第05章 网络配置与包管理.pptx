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142"/>
  </p:notesMasterIdLst>
  <p:sldIdLst>
    <p:sldId id="528" r:id="rId2"/>
    <p:sldId id="332" r:id="rId3"/>
    <p:sldId id="368" r:id="rId4"/>
    <p:sldId id="369" r:id="rId5"/>
    <p:sldId id="370" r:id="rId6"/>
    <p:sldId id="510" r:id="rId7"/>
    <p:sldId id="511" r:id="rId8"/>
    <p:sldId id="512" r:id="rId9"/>
    <p:sldId id="373" r:id="rId10"/>
    <p:sldId id="374" r:id="rId11"/>
    <p:sldId id="544" r:id="rId12"/>
    <p:sldId id="513" r:id="rId13"/>
    <p:sldId id="515" r:id="rId14"/>
    <p:sldId id="514" r:id="rId15"/>
    <p:sldId id="516" r:id="rId16"/>
    <p:sldId id="382" r:id="rId17"/>
    <p:sldId id="383" r:id="rId18"/>
    <p:sldId id="568" r:id="rId19"/>
    <p:sldId id="384" r:id="rId20"/>
    <p:sldId id="385" r:id="rId21"/>
    <p:sldId id="517" r:id="rId22"/>
    <p:sldId id="387" r:id="rId23"/>
    <p:sldId id="389" r:id="rId24"/>
    <p:sldId id="390" r:id="rId25"/>
    <p:sldId id="391" r:id="rId26"/>
    <p:sldId id="392" r:id="rId27"/>
    <p:sldId id="393" r:id="rId28"/>
    <p:sldId id="519" r:id="rId29"/>
    <p:sldId id="545" r:id="rId30"/>
    <p:sldId id="520" r:id="rId31"/>
    <p:sldId id="546" r:id="rId32"/>
    <p:sldId id="547" r:id="rId33"/>
    <p:sldId id="521" r:id="rId34"/>
    <p:sldId id="522" r:id="rId35"/>
    <p:sldId id="523" r:id="rId36"/>
    <p:sldId id="524" r:id="rId37"/>
    <p:sldId id="525" r:id="rId38"/>
    <p:sldId id="526" r:id="rId39"/>
    <p:sldId id="543" r:id="rId40"/>
    <p:sldId id="396" r:id="rId41"/>
    <p:sldId id="421" r:id="rId42"/>
    <p:sldId id="418" r:id="rId43"/>
    <p:sldId id="527" r:id="rId44"/>
    <p:sldId id="419" r:id="rId45"/>
    <p:sldId id="422" r:id="rId46"/>
    <p:sldId id="397" r:id="rId47"/>
    <p:sldId id="398" r:id="rId48"/>
    <p:sldId id="399" r:id="rId49"/>
    <p:sldId id="400" r:id="rId50"/>
    <p:sldId id="401" r:id="rId51"/>
    <p:sldId id="402" r:id="rId52"/>
    <p:sldId id="548" r:id="rId53"/>
    <p:sldId id="404" r:id="rId54"/>
    <p:sldId id="406" r:id="rId55"/>
    <p:sldId id="407" r:id="rId56"/>
    <p:sldId id="408" r:id="rId57"/>
    <p:sldId id="409" r:id="rId58"/>
    <p:sldId id="410" r:id="rId59"/>
    <p:sldId id="414" r:id="rId60"/>
    <p:sldId id="415" r:id="rId61"/>
    <p:sldId id="424" r:id="rId62"/>
    <p:sldId id="425" r:id="rId63"/>
    <p:sldId id="549" r:id="rId64"/>
    <p:sldId id="572" r:id="rId65"/>
    <p:sldId id="428" r:id="rId66"/>
    <p:sldId id="550" r:id="rId67"/>
    <p:sldId id="430" r:id="rId68"/>
    <p:sldId id="429" r:id="rId69"/>
    <p:sldId id="435" r:id="rId70"/>
    <p:sldId id="436" r:id="rId71"/>
    <p:sldId id="437" r:id="rId72"/>
    <p:sldId id="438" r:id="rId73"/>
    <p:sldId id="439" r:id="rId74"/>
    <p:sldId id="440" r:id="rId75"/>
    <p:sldId id="441" r:id="rId76"/>
    <p:sldId id="443" r:id="rId77"/>
    <p:sldId id="447" r:id="rId78"/>
    <p:sldId id="448" r:id="rId79"/>
    <p:sldId id="569" r:id="rId80"/>
    <p:sldId id="570" r:id="rId81"/>
    <p:sldId id="571" r:id="rId82"/>
    <p:sldId id="541" r:id="rId83"/>
    <p:sldId id="553" r:id="rId84"/>
    <p:sldId id="554" r:id="rId85"/>
    <p:sldId id="557" r:id="rId86"/>
    <p:sldId id="555" r:id="rId87"/>
    <p:sldId id="558" r:id="rId88"/>
    <p:sldId id="559" r:id="rId89"/>
    <p:sldId id="560" r:id="rId90"/>
    <p:sldId id="561" r:id="rId91"/>
    <p:sldId id="529" r:id="rId92"/>
    <p:sldId id="471" r:id="rId93"/>
    <p:sldId id="472" r:id="rId94"/>
    <p:sldId id="530" r:id="rId95"/>
    <p:sldId id="475" r:id="rId96"/>
    <p:sldId id="476" r:id="rId97"/>
    <p:sldId id="473" r:id="rId98"/>
    <p:sldId id="477" r:id="rId99"/>
    <p:sldId id="531" r:id="rId100"/>
    <p:sldId id="533" r:id="rId101"/>
    <p:sldId id="532" r:id="rId102"/>
    <p:sldId id="565" r:id="rId103"/>
    <p:sldId id="566" r:id="rId104"/>
    <p:sldId id="567" r:id="rId105"/>
    <p:sldId id="478" r:id="rId106"/>
    <p:sldId id="534" r:id="rId107"/>
    <p:sldId id="535" r:id="rId108"/>
    <p:sldId id="480" r:id="rId109"/>
    <p:sldId id="537" r:id="rId110"/>
    <p:sldId id="538" r:id="rId111"/>
    <p:sldId id="539" r:id="rId112"/>
    <p:sldId id="540" r:id="rId113"/>
    <p:sldId id="481" r:id="rId114"/>
    <p:sldId id="536" r:id="rId115"/>
    <p:sldId id="483" r:id="rId116"/>
    <p:sldId id="484" r:id="rId117"/>
    <p:sldId id="485" r:id="rId118"/>
    <p:sldId id="486" r:id="rId119"/>
    <p:sldId id="487" r:id="rId120"/>
    <p:sldId id="542" r:id="rId121"/>
    <p:sldId id="490" r:id="rId122"/>
    <p:sldId id="502" r:id="rId123"/>
    <p:sldId id="503" r:id="rId124"/>
    <p:sldId id="504" r:id="rId125"/>
    <p:sldId id="562" r:id="rId126"/>
    <p:sldId id="563" r:id="rId127"/>
    <p:sldId id="564" r:id="rId128"/>
    <p:sldId id="505" r:id="rId129"/>
    <p:sldId id="494" r:id="rId130"/>
    <p:sldId id="495" r:id="rId131"/>
    <p:sldId id="551" r:id="rId132"/>
    <p:sldId id="496" r:id="rId133"/>
    <p:sldId id="552" r:id="rId134"/>
    <p:sldId id="498" r:id="rId135"/>
    <p:sldId id="499" r:id="rId136"/>
    <p:sldId id="500" r:id="rId137"/>
    <p:sldId id="507" r:id="rId138"/>
    <p:sldId id="508" r:id="rId139"/>
    <p:sldId id="509" r:id="rId140"/>
    <p:sldId id="270" r:id="rId14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2" autoAdjust="0"/>
    <p:restoredTop sz="89399" autoAdjust="0"/>
  </p:normalViewPr>
  <p:slideViewPr>
    <p:cSldViewPr>
      <p:cViewPr varScale="1">
        <p:scale>
          <a:sx n="95" d="100"/>
          <a:sy n="95" d="100"/>
        </p:scale>
        <p:origin x="1992"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253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6D6CB1-C28C-4AC0-9E57-7AED4F13BECC}" type="datetimeFigureOut">
              <a:rPr lang="zh-CN" altLang="en-US" smtClean="0"/>
              <a:pPr/>
              <a:t>2025/5/7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E67A7B-7D8A-4E03-B174-B3300045038D}" type="slidenum">
              <a:rPr lang="zh-CN" altLang="en-US" smtClean="0"/>
              <a:pPr/>
              <a:t>‹#›</a:t>
            </a:fld>
            <a:endParaRPr lang="zh-CN" altLang="en-US"/>
          </a:p>
        </p:txBody>
      </p:sp>
    </p:spTree>
    <p:extLst>
      <p:ext uri="{BB962C8B-B14F-4D97-AF65-F5344CB8AC3E}">
        <p14:creationId xmlns:p14="http://schemas.microsoft.com/office/powerpoint/2010/main" val="3256696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docs.oracle.com/cd/E37670_01/E41138/html/ol_about_netconf.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docs.oracle.com/cd/E37670_01/E41138/html/ol_about_netconf.html"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a:t>
            </a:fld>
            <a:endParaRPr lang="zh-CN" altLang="en-US"/>
          </a:p>
        </p:txBody>
      </p:sp>
    </p:spTree>
    <p:extLst>
      <p:ext uri="{BB962C8B-B14F-4D97-AF65-F5344CB8AC3E}">
        <p14:creationId xmlns:p14="http://schemas.microsoft.com/office/powerpoint/2010/main" val="677316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Linux</a:t>
            </a:r>
            <a:r>
              <a:rPr lang="zh-CN" altLang="en-US" dirty="0"/>
              <a:t>操作系统的用户要上网，另外架设服务器要让用户联网访问。</a:t>
            </a:r>
          </a:p>
          <a:p>
            <a:r>
              <a:rPr lang="en-US" altLang="zh-CN" dirty="0"/>
              <a:t> P111</a:t>
            </a:r>
            <a:r>
              <a:rPr lang="zh-CN" altLang="en-US" dirty="0"/>
              <a:t>表格</a:t>
            </a:r>
            <a:r>
              <a:rPr lang="en-US" altLang="zh-CN" dirty="0"/>
              <a:t>5-1</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a:t>
            </a:fld>
            <a:endParaRPr lang="zh-CN" altLang="en-US"/>
          </a:p>
        </p:txBody>
      </p:sp>
    </p:spTree>
    <p:extLst>
      <p:ext uri="{BB962C8B-B14F-4D97-AF65-F5344CB8AC3E}">
        <p14:creationId xmlns:p14="http://schemas.microsoft.com/office/powerpoint/2010/main" val="3470389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内核模块是</a:t>
            </a:r>
            <a:r>
              <a:rPr lang="en-US" altLang="zh-CN" dirty="0" smtClean="0"/>
              <a:t>Linux</a:t>
            </a:r>
            <a:r>
              <a:rPr lang="zh-CN" altLang="en-US" dirty="0" smtClean="0"/>
              <a:t>操作系统中的一种独特机制，允许用户在不重新编译内核的情况下动态地加载或卸载模块。</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a:t>
            </a:fld>
            <a:endParaRPr lang="zh-CN" altLang="en-US"/>
          </a:p>
        </p:txBody>
      </p:sp>
    </p:spTree>
    <p:extLst>
      <p:ext uri="{BB962C8B-B14F-4D97-AF65-F5344CB8AC3E}">
        <p14:creationId xmlns:p14="http://schemas.microsoft.com/office/powerpoint/2010/main" val="2652500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P112   </a:t>
            </a:r>
            <a:r>
              <a:rPr lang="zh-CN" altLang="en-US" dirty="0"/>
              <a:t>网卡名是采用内核模块对应的设备名称来表示的，不同于</a:t>
            </a:r>
            <a:r>
              <a:rPr lang="en-US" altLang="zh-CN" dirty="0"/>
              <a:t>Linux</a:t>
            </a:r>
            <a:r>
              <a:rPr lang="zh-CN" altLang="en-US" dirty="0"/>
              <a:t>操作系统的设备以文件名的形式来表示，网卡的内核模块即为驱动程序。</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a:t>
            </a:fld>
            <a:endParaRPr lang="zh-CN" altLang="en-US"/>
          </a:p>
        </p:txBody>
      </p:sp>
    </p:spTree>
    <p:extLst>
      <p:ext uri="{BB962C8B-B14F-4D97-AF65-F5344CB8AC3E}">
        <p14:creationId xmlns:p14="http://schemas.microsoft.com/office/powerpoint/2010/main" val="1308387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为了避免由内核鉴别网络接口设备名可能存在的不确定性和不能直接反应硬件信息的缺点，</a:t>
            </a:r>
            <a:r>
              <a:rPr lang="en-US" altLang="zh-CN" dirty="0"/>
              <a:t>centos7</a:t>
            </a:r>
            <a:r>
              <a:rPr lang="zh-CN" altLang="en-US" dirty="0"/>
              <a:t>使用了一</a:t>
            </a:r>
            <a:r>
              <a:rPr lang="zh-CN" altLang="zh-CN" dirty="0"/>
              <a:t>致</a:t>
            </a:r>
            <a:r>
              <a:rPr lang="zh-CN" altLang="en-US" dirty="0"/>
              <a:t>的网络设备命名。</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a:t>
            </a:fld>
            <a:endParaRPr lang="zh-CN" altLang="en-US"/>
          </a:p>
        </p:txBody>
      </p:sp>
    </p:spTree>
    <p:extLst>
      <p:ext uri="{BB962C8B-B14F-4D97-AF65-F5344CB8AC3E}">
        <p14:creationId xmlns:p14="http://schemas.microsoft.com/office/powerpoint/2010/main" val="248219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7</a:t>
            </a:fld>
            <a:endParaRPr lang="zh-CN" altLang="en-US"/>
          </a:p>
        </p:txBody>
      </p:sp>
    </p:spTree>
    <p:extLst>
      <p:ext uri="{BB962C8B-B14F-4D97-AF65-F5344CB8AC3E}">
        <p14:creationId xmlns:p14="http://schemas.microsoft.com/office/powerpoint/2010/main" val="1988777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一致的网络设备</a:t>
            </a:r>
            <a:r>
              <a:rPr lang="zh-CN" altLang="en-US" dirty="0" smtClean="0"/>
              <a:t>命名：是</a:t>
            </a:r>
            <a:r>
              <a:rPr lang="zh-CN" altLang="en-US" dirty="0"/>
              <a:t>基于系统硬件的，所以不同系统上的网络接口名称可能不同。若要禁用可以使用如下两种方法之一</a:t>
            </a:r>
            <a:r>
              <a:rPr lang="zh-CN" altLang="en-US" dirty="0" smtClean="0"/>
              <a:t>。</a:t>
            </a:r>
            <a:endParaRPr lang="en-US" altLang="zh-CN" dirty="0" smtClean="0"/>
          </a:p>
          <a:p>
            <a:r>
              <a:rPr lang="en-US" altLang="zh-CN" sz="1200" b="1" i="0" kern="1200" dirty="0" smtClean="0">
                <a:solidFill>
                  <a:schemeClr val="tx1"/>
                </a:solidFill>
                <a:effectLst/>
                <a:latin typeface="+mn-lt"/>
                <a:ea typeface="+mn-ea"/>
                <a:cs typeface="+mn-cs"/>
              </a:rPr>
              <a:t>GRUB</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GRand</a:t>
            </a:r>
            <a:r>
              <a:rPr lang="en-US" altLang="zh-CN" sz="1200" b="0" i="0" kern="1200" dirty="0" smtClean="0">
                <a:solidFill>
                  <a:schemeClr val="tx1"/>
                </a:solidFill>
                <a:effectLst/>
                <a:latin typeface="+mn-lt"/>
                <a:ea typeface="+mn-ea"/>
                <a:cs typeface="+mn-cs"/>
              </a:rPr>
              <a:t> Unified Bootloader</a:t>
            </a:r>
            <a:r>
              <a:rPr lang="zh-CN" altLang="en-US" sz="1200" b="0" i="0" kern="1200" dirty="0" smtClean="0">
                <a:solidFill>
                  <a:schemeClr val="tx1"/>
                </a:solidFill>
                <a:effectLst/>
                <a:latin typeface="+mn-lt"/>
                <a:ea typeface="+mn-ea"/>
                <a:cs typeface="+mn-cs"/>
              </a:rPr>
              <a:t>）：是一个多操作系统启动程序，它允许用户在计算机启动时选择不同的操作系统或内核。</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a:t>
            </a:fld>
            <a:endParaRPr lang="zh-CN" altLang="en-US"/>
          </a:p>
        </p:txBody>
      </p:sp>
    </p:spTree>
    <p:extLst>
      <p:ext uri="{BB962C8B-B14F-4D97-AF65-F5344CB8AC3E}">
        <p14:creationId xmlns:p14="http://schemas.microsoft.com/office/powerpoint/2010/main" val="3986351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P114 </a:t>
            </a:r>
            <a:r>
              <a:rPr lang="zh-CN" altLang="en-US" dirty="0"/>
              <a:t>表格</a:t>
            </a:r>
            <a:r>
              <a:rPr lang="en-US" altLang="zh-CN" dirty="0"/>
              <a:t>5-3</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11</a:t>
            </a:fld>
            <a:endParaRPr lang="zh-CN" altLang="en-US"/>
          </a:p>
        </p:txBody>
      </p:sp>
    </p:spTree>
    <p:extLst>
      <p:ext uri="{BB962C8B-B14F-4D97-AF65-F5344CB8AC3E}">
        <p14:creationId xmlns:p14="http://schemas.microsoft.com/office/powerpoint/2010/main" val="31242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P114 </a:t>
            </a:r>
            <a:r>
              <a:rPr lang="zh-CN" altLang="en-US" dirty="0"/>
              <a:t>表格</a:t>
            </a:r>
            <a:r>
              <a:rPr lang="en-US" altLang="zh-CN" dirty="0"/>
              <a:t>5-3</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12</a:t>
            </a:fld>
            <a:endParaRPr lang="zh-CN" altLang="en-US"/>
          </a:p>
        </p:txBody>
      </p:sp>
    </p:spTree>
    <p:extLst>
      <p:ext uri="{BB962C8B-B14F-4D97-AF65-F5344CB8AC3E}">
        <p14:creationId xmlns:p14="http://schemas.microsoft.com/office/powerpoint/2010/main" val="1503938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Links </a:t>
            </a:r>
            <a:r>
              <a:rPr lang="zh-CN" altLang="en-US" dirty="0"/>
              <a:t>链路层相关的信息，</a:t>
            </a:r>
            <a:r>
              <a:rPr lang="en-US" altLang="zh-CN" dirty="0"/>
              <a:t>address </a:t>
            </a:r>
            <a:r>
              <a:rPr lang="zh-CN" altLang="en-US" dirty="0"/>
              <a:t>网络层相关的信息 </a:t>
            </a:r>
            <a:r>
              <a:rPr lang="en-US" altLang="zh-CN" dirty="0"/>
              <a:t>route </a:t>
            </a:r>
            <a:r>
              <a:rPr lang="zh-CN" altLang="en-US" dirty="0"/>
              <a:t>路由相关的信息 </a:t>
            </a:r>
            <a:r>
              <a:rPr lang="en-US" altLang="zh-CN" dirty="0"/>
              <a:t>ARP</a:t>
            </a:r>
            <a:r>
              <a:rPr lang="zh-CN" altLang="en-US" dirty="0"/>
              <a:t>是</a:t>
            </a:r>
            <a:r>
              <a:rPr lang="en-US" altLang="zh-CN" dirty="0"/>
              <a:t>MAC</a:t>
            </a:r>
            <a:r>
              <a:rPr lang="zh-CN" altLang="en-US" dirty="0"/>
              <a:t>和</a:t>
            </a:r>
            <a:r>
              <a:rPr lang="en-US" altLang="zh-CN" dirty="0"/>
              <a:t>IP</a:t>
            </a:r>
            <a:r>
              <a:rPr lang="zh-CN" altLang="en-US" dirty="0"/>
              <a:t>的转换 </a:t>
            </a:r>
            <a:r>
              <a:rPr lang="en-US" altLang="zh-CN" dirty="0"/>
              <a:t>DNS </a:t>
            </a:r>
            <a:r>
              <a:rPr lang="zh-CN" altLang="en-US" dirty="0"/>
              <a:t>是域名与</a:t>
            </a:r>
            <a:r>
              <a:rPr lang="en-US" altLang="zh-CN" dirty="0"/>
              <a:t>IP</a:t>
            </a:r>
            <a:r>
              <a:rPr lang="zh-CN" altLang="en-US" dirty="0"/>
              <a:t>之间的转换协议</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13</a:t>
            </a:fld>
            <a:endParaRPr lang="zh-CN" altLang="en-US"/>
          </a:p>
        </p:txBody>
      </p:sp>
    </p:spTree>
    <p:extLst>
      <p:ext uri="{BB962C8B-B14F-4D97-AF65-F5344CB8AC3E}">
        <p14:creationId xmlns:p14="http://schemas.microsoft.com/office/powerpoint/2010/main" val="1642732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del</a:t>
            </a:r>
            <a:r>
              <a:rPr lang="zh-CN" altLang="en-US" dirty="0"/>
              <a:t>是删除 </a:t>
            </a:r>
            <a:r>
              <a:rPr lang="en-US" altLang="zh-CN" dirty="0"/>
              <a:t>add</a:t>
            </a:r>
            <a:r>
              <a:rPr lang="zh-CN" altLang="en-US" dirty="0"/>
              <a:t>是增加 设置</a:t>
            </a:r>
            <a:r>
              <a:rPr lang="en-US" altLang="zh-CN" dirty="0"/>
              <a:t>IP</a:t>
            </a:r>
            <a:r>
              <a:rPr lang="zh-CN" altLang="en-US" dirty="0"/>
              <a:t>地址给指定的网络接口的设备，修改网络接口的</a:t>
            </a:r>
            <a:r>
              <a:rPr lang="en-US" altLang="zh-CN" dirty="0"/>
              <a:t>IP</a:t>
            </a:r>
            <a:r>
              <a:rPr lang="zh-CN" altLang="en-US" dirty="0"/>
              <a:t>地址课参考</a:t>
            </a:r>
            <a:r>
              <a:rPr lang="en-US" altLang="zh-CN" dirty="0"/>
              <a:t>P114</a:t>
            </a:r>
            <a:r>
              <a:rPr lang="zh-CN" altLang="en-US" dirty="0"/>
              <a:t>例</a:t>
            </a:r>
            <a:r>
              <a:rPr lang="en-US" altLang="zh-CN" dirty="0"/>
              <a:t>1-2</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14</a:t>
            </a:fld>
            <a:endParaRPr lang="zh-CN" altLang="en-US"/>
          </a:p>
        </p:txBody>
      </p:sp>
    </p:spTree>
    <p:extLst>
      <p:ext uri="{BB962C8B-B14F-4D97-AF65-F5344CB8AC3E}">
        <p14:creationId xmlns:p14="http://schemas.microsoft.com/office/powerpoint/2010/main" val="27401064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192.168.1.1</a:t>
            </a:r>
            <a:r>
              <a:rPr lang="zh-CN" altLang="en-US" sz="1200" dirty="0"/>
              <a:t>是默认路由地址</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15</a:t>
            </a:fld>
            <a:endParaRPr lang="zh-CN" altLang="en-US"/>
          </a:p>
        </p:txBody>
      </p:sp>
    </p:spTree>
    <p:extLst>
      <p:ext uri="{BB962C8B-B14F-4D97-AF65-F5344CB8AC3E}">
        <p14:creationId xmlns:p14="http://schemas.microsoft.com/office/powerpoint/2010/main" val="29889507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一般了解即可 </a:t>
            </a:r>
            <a:r>
              <a:rPr lang="en-US" altLang="zh-CN" dirty="0"/>
              <a:t>Linux </a:t>
            </a:r>
            <a:r>
              <a:rPr lang="zh-CN" altLang="en-US" dirty="0"/>
              <a:t>内核默认已经包含了包转发功能，但默认并没有在系统启动的时候启用此功能。</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16</a:t>
            </a:fld>
            <a:endParaRPr lang="zh-CN" altLang="en-US"/>
          </a:p>
        </p:txBody>
      </p:sp>
    </p:spTree>
    <p:extLst>
      <p:ext uri="{BB962C8B-B14F-4D97-AF65-F5344CB8AC3E}">
        <p14:creationId xmlns:p14="http://schemas.microsoft.com/office/powerpoint/2010/main" val="25584487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CentOS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err="1">
                <a:effectLst/>
              </a:rPr>
              <a:t>ifcfg</a:t>
            </a:r>
            <a:r>
              <a:rPr lang="en-US" altLang="zh-CN" sz="1200" dirty="0">
                <a:effectLst/>
              </a:rPr>
              <a:t>-*    ifcfg-eth0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effectLst/>
              </a:rPr>
              <a:t>P115 </a:t>
            </a:r>
            <a:r>
              <a:rPr lang="zh-CN" altLang="en-US" sz="1200" dirty="0">
                <a:effectLst/>
              </a:rPr>
              <a:t>提示</a:t>
            </a:r>
            <a:endParaRPr lang="en-US" altLang="zh-CN" sz="1200" dirty="0">
              <a:effectLs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effectLs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err="1"/>
              <a:t>linux</a:t>
            </a:r>
            <a:r>
              <a:rPr lang="zh-CN" altLang="en-US" dirty="0"/>
              <a:t>网卡</a:t>
            </a:r>
            <a:r>
              <a:rPr lang="en-US" altLang="zh-CN" dirty="0"/>
              <a:t>bonding</a:t>
            </a:r>
            <a:r>
              <a:rPr lang="zh-CN" altLang="en-US" dirty="0"/>
              <a:t>解析 </a:t>
            </a:r>
            <a:r>
              <a:rPr lang="en-US" altLang="zh-CN" dirty="0"/>
              <a:t>:</a:t>
            </a:r>
            <a:r>
              <a:rPr lang="en-US" altLang="zh-CN" baseline="0" dirty="0"/>
              <a:t> http://hi.baidu.com/chenshake/blog/item/e320278799773734c75cc37d.html</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17</a:t>
            </a:fld>
            <a:endParaRPr lang="zh-CN" altLang="en-US"/>
          </a:p>
        </p:txBody>
      </p:sp>
    </p:spTree>
    <p:extLst>
      <p:ext uri="{BB962C8B-B14F-4D97-AF65-F5344CB8AC3E}">
        <p14:creationId xmlns:p14="http://schemas.microsoft.com/office/powerpoint/2010/main" val="4155252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CentOS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err="1">
                <a:effectLst/>
              </a:rPr>
              <a:t>ifcfg</a:t>
            </a:r>
            <a:r>
              <a:rPr lang="en-US" altLang="zh-CN" sz="1200" dirty="0">
                <a:effectLst/>
              </a:rPr>
              <a:t>-*    ifcfg-eth0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effectLst/>
              </a:rPr>
              <a:t>P115 </a:t>
            </a:r>
            <a:r>
              <a:rPr lang="zh-CN" altLang="en-US" sz="1200" dirty="0">
                <a:effectLst/>
              </a:rPr>
              <a:t>提示</a:t>
            </a:r>
            <a:endParaRPr lang="en-US" altLang="zh-CN" sz="1200" dirty="0">
              <a:effectLs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effectLs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err="1"/>
              <a:t>linux</a:t>
            </a:r>
            <a:r>
              <a:rPr lang="zh-CN" altLang="en-US" dirty="0"/>
              <a:t>网卡</a:t>
            </a:r>
            <a:r>
              <a:rPr lang="en-US" altLang="zh-CN" dirty="0"/>
              <a:t>bonding</a:t>
            </a:r>
            <a:r>
              <a:rPr lang="zh-CN" altLang="en-US" dirty="0"/>
              <a:t>解析 </a:t>
            </a:r>
            <a:r>
              <a:rPr lang="en-US" altLang="zh-CN" dirty="0"/>
              <a:t>:</a:t>
            </a:r>
            <a:r>
              <a:rPr lang="en-US" altLang="zh-CN" baseline="0" dirty="0"/>
              <a:t> http://hi.baidu.com/chenshake/blog/item/e320278799773734c75cc37d.html</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18</a:t>
            </a:fld>
            <a:endParaRPr lang="zh-CN" altLang="en-US"/>
          </a:p>
        </p:txBody>
      </p:sp>
    </p:spTree>
    <p:extLst>
      <p:ext uri="{BB962C8B-B14F-4D97-AF65-F5344CB8AC3E}">
        <p14:creationId xmlns:p14="http://schemas.microsoft.com/office/powerpoint/2010/main" val="1692862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P116</a:t>
            </a:r>
            <a:r>
              <a:rPr lang="zh-CN" altLang="en-US" dirty="0"/>
              <a:t>表格</a:t>
            </a:r>
            <a:r>
              <a:rPr lang="en-US" altLang="zh-CN" dirty="0"/>
              <a:t>5-5</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19</a:t>
            </a:fld>
            <a:endParaRPr lang="zh-CN" altLang="en-US"/>
          </a:p>
        </p:txBody>
      </p:sp>
    </p:spTree>
    <p:extLst>
      <p:ext uri="{BB962C8B-B14F-4D97-AF65-F5344CB8AC3E}">
        <p14:creationId xmlns:p14="http://schemas.microsoft.com/office/powerpoint/2010/main" val="1135638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hlinkClick r:id="rId3"/>
              </a:rPr>
              <a:t>http://docs.oracle.com/cd/E37670_01/E41138/html/ol_about_netconf.html</a:t>
            </a:r>
            <a:r>
              <a:rPr lang="en-US" altLang="zh-CN" dirty="0"/>
              <a:t> </a:t>
            </a:r>
            <a:r>
              <a:rPr lang="zh-CN" altLang="en-US" dirty="0"/>
              <a:t>静态配置就是指的手工配置 动态配置指的是使用</a:t>
            </a:r>
            <a:r>
              <a:rPr lang="en-US" altLang="zh-CN" dirty="0" err="1"/>
              <a:t>dhcp</a:t>
            </a:r>
            <a:r>
              <a:rPr lang="zh-CN" altLang="en-US" dirty="0"/>
              <a:t>方式自动获取</a:t>
            </a:r>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20</a:t>
            </a:fld>
            <a:endParaRPr lang="zh-CN" altLang="en-US"/>
          </a:p>
        </p:txBody>
      </p:sp>
    </p:spTree>
    <p:extLst>
      <p:ext uri="{BB962C8B-B14F-4D97-AF65-F5344CB8AC3E}">
        <p14:creationId xmlns:p14="http://schemas.microsoft.com/office/powerpoint/2010/main" val="45446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PREFIX</a:t>
            </a:r>
            <a:r>
              <a:rPr lang="zh-CN" altLang="en-US" dirty="0"/>
              <a:t>：</a:t>
            </a:r>
            <a:r>
              <a:rPr lang="en-US" altLang="zh-CN" dirty="0"/>
              <a:t>CIDR</a:t>
            </a:r>
            <a:r>
              <a:rPr lang="zh-CN" altLang="en-US" dirty="0"/>
              <a:t>前缀 利用</a:t>
            </a:r>
            <a:r>
              <a:rPr lang="en-US" altLang="zh-CN" dirty="0"/>
              <a:t>ip address add</a:t>
            </a:r>
            <a:r>
              <a:rPr lang="zh-CN" altLang="en-US" dirty="0"/>
              <a:t>方式添加绑定</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21</a:t>
            </a:fld>
            <a:endParaRPr lang="zh-CN" altLang="en-US"/>
          </a:p>
        </p:txBody>
      </p:sp>
    </p:spTree>
    <p:extLst>
      <p:ext uri="{BB962C8B-B14F-4D97-AF65-F5344CB8AC3E}">
        <p14:creationId xmlns:p14="http://schemas.microsoft.com/office/powerpoint/2010/main" val="30958213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a:hlinkClick r:id="rId3"/>
              </a:rPr>
              <a:t>http://docs.oracle.com/cd/E37670_01/E41138/html/ol_about_netconf.html</a:t>
            </a:r>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22</a:t>
            </a:fld>
            <a:endParaRPr lang="zh-CN" altLang="en-US"/>
          </a:p>
        </p:txBody>
      </p:sp>
    </p:spTree>
    <p:extLst>
      <p:ext uri="{BB962C8B-B14F-4D97-AF65-F5344CB8AC3E}">
        <p14:creationId xmlns:p14="http://schemas.microsoft.com/office/powerpoint/2010/main" val="15428936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route-</a:t>
            </a:r>
            <a:r>
              <a:rPr lang="zh-CN" altLang="en-US" dirty="0"/>
              <a:t>* </a:t>
            </a:r>
            <a:r>
              <a:rPr lang="en-US" altLang="zh-CN" dirty="0"/>
              <a:t>—&gt;route-eth0</a:t>
            </a:r>
            <a:r>
              <a:rPr lang="zh-CN" altLang="en-US" dirty="0"/>
              <a:t>  </a:t>
            </a:r>
            <a:r>
              <a:rPr lang="en-US" altLang="zh-CN" dirty="0"/>
              <a:t>P117</a:t>
            </a:r>
            <a:r>
              <a:rPr lang="zh-CN" altLang="en-US" dirty="0"/>
              <a:t>提示如何使网络配置生效</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23</a:t>
            </a:fld>
            <a:endParaRPr lang="zh-CN" altLang="en-US"/>
          </a:p>
        </p:txBody>
      </p:sp>
    </p:spTree>
    <p:extLst>
      <p:ext uri="{BB962C8B-B14F-4D97-AF65-F5344CB8AC3E}">
        <p14:creationId xmlns:p14="http://schemas.microsoft.com/office/powerpoint/2010/main" val="19375232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每个字段的含义 </a:t>
            </a:r>
            <a:r>
              <a:rPr lang="en-US" altLang="zh-CN" dirty="0"/>
              <a:t>IP</a:t>
            </a:r>
            <a:r>
              <a:rPr lang="zh-CN" altLang="en-US" dirty="0"/>
              <a:t>地址，域名或者主机名，主机别名，完成主机名映射为</a:t>
            </a:r>
            <a:r>
              <a:rPr lang="en-US" altLang="zh-CN" dirty="0"/>
              <a:t>IP</a:t>
            </a:r>
            <a:r>
              <a:rPr lang="zh-CN" altLang="en-US" dirty="0"/>
              <a:t>地址的功能 结合</a:t>
            </a:r>
            <a:r>
              <a:rPr lang="en-US" altLang="zh-CN" dirty="0"/>
              <a:t>P117</a:t>
            </a:r>
            <a:r>
              <a:rPr lang="zh-CN" altLang="en-US" dirty="0"/>
              <a:t>的</a:t>
            </a:r>
            <a:r>
              <a:rPr lang="en-US" altLang="zh-CN" dirty="0"/>
              <a:t>4</a:t>
            </a:r>
            <a:r>
              <a:rPr lang="zh-CN" altLang="en-US" dirty="0"/>
              <a:t>内容介绍</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24</a:t>
            </a:fld>
            <a:endParaRPr lang="zh-CN" altLang="en-US"/>
          </a:p>
        </p:txBody>
      </p:sp>
    </p:spTree>
    <p:extLst>
      <p:ext uri="{BB962C8B-B14F-4D97-AF65-F5344CB8AC3E}">
        <p14:creationId xmlns:p14="http://schemas.microsoft.com/office/powerpoint/2010/main" val="1579005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P118</a:t>
            </a:r>
            <a:r>
              <a:rPr lang="zh-CN" altLang="en-US" dirty="0"/>
              <a:t>关键字</a:t>
            </a:r>
            <a:r>
              <a:rPr lang="en-US" altLang="zh-CN" dirty="0"/>
              <a:t>nameserver</a:t>
            </a:r>
            <a:r>
              <a:rPr lang="zh-CN" altLang="en-US" dirty="0"/>
              <a:t>用于指定</a:t>
            </a:r>
            <a:r>
              <a:rPr lang="en-US" altLang="zh-CN" dirty="0"/>
              <a:t>DNS</a:t>
            </a:r>
            <a:r>
              <a:rPr lang="zh-CN" altLang="en-US" dirty="0"/>
              <a:t>服务器，最多指定</a:t>
            </a:r>
            <a:r>
              <a:rPr lang="en-US" altLang="zh-CN" dirty="0"/>
              <a:t>3</a:t>
            </a:r>
            <a:r>
              <a:rPr lang="zh-CN" altLang="en-US" dirty="0"/>
              <a:t>个</a:t>
            </a:r>
            <a:r>
              <a:rPr lang="en-US" altLang="zh-CN" dirty="0"/>
              <a:t>DNS</a:t>
            </a:r>
            <a:r>
              <a:rPr lang="zh-CN" altLang="en-US" dirty="0"/>
              <a:t>服务器，每个</a:t>
            </a:r>
            <a:r>
              <a:rPr lang="en-US" altLang="zh-CN" dirty="0"/>
              <a:t>DNS</a:t>
            </a:r>
            <a:r>
              <a:rPr lang="zh-CN" altLang="en-US" dirty="0"/>
              <a:t>服务器占一行，行的顺序决定了</a:t>
            </a:r>
            <a:r>
              <a:rPr lang="en-US" altLang="zh-CN" dirty="0"/>
              <a:t>DNS</a:t>
            </a:r>
            <a:r>
              <a:rPr lang="zh-CN" altLang="en-US" dirty="0"/>
              <a:t>查询顺序 </a:t>
            </a:r>
            <a:r>
              <a:rPr lang="en-US" altLang="zh-CN" dirty="0"/>
              <a:t>ARP</a:t>
            </a:r>
            <a:r>
              <a:rPr lang="zh-CN" altLang="en-US" dirty="0"/>
              <a:t>是</a:t>
            </a:r>
            <a:r>
              <a:rPr lang="en-US" altLang="zh-CN" dirty="0"/>
              <a:t>MAC</a:t>
            </a:r>
            <a:r>
              <a:rPr lang="zh-CN" altLang="en-US" dirty="0"/>
              <a:t>和</a:t>
            </a:r>
            <a:r>
              <a:rPr lang="en-US" altLang="zh-CN" dirty="0"/>
              <a:t>IP</a:t>
            </a:r>
            <a:r>
              <a:rPr lang="zh-CN" altLang="en-US" dirty="0"/>
              <a:t>的转换 </a:t>
            </a:r>
            <a:r>
              <a:rPr lang="en-US" altLang="zh-CN" dirty="0"/>
              <a:t>DNS </a:t>
            </a:r>
            <a:r>
              <a:rPr lang="zh-CN" altLang="en-US" dirty="0"/>
              <a:t>是域名与</a:t>
            </a:r>
            <a:r>
              <a:rPr lang="en-US" altLang="zh-CN" dirty="0"/>
              <a:t>IP</a:t>
            </a:r>
            <a:r>
              <a:rPr lang="zh-CN" altLang="en-US" dirty="0"/>
              <a:t>之间的转换协议</a:t>
            </a:r>
            <a:endParaRPr lang="en-US" altLang="zh-CN" dirty="0"/>
          </a:p>
          <a:p>
            <a:r>
              <a:rPr lang="zh-CN" altLang="en-US" dirty="0"/>
              <a:t>关键字</a:t>
            </a:r>
            <a:r>
              <a:rPr lang="en-US" altLang="zh-CN" dirty="0"/>
              <a:t>domain</a:t>
            </a:r>
            <a:r>
              <a:rPr lang="zh-CN" altLang="en-US" dirty="0"/>
              <a:t>指定当前主机所在域的域名</a:t>
            </a:r>
            <a:r>
              <a:rPr lang="en-US" altLang="zh-CN" dirty="0"/>
              <a:t>  </a:t>
            </a:r>
            <a:r>
              <a:rPr lang="zh-CN" altLang="en-US" dirty="0"/>
              <a:t>关键字</a:t>
            </a:r>
            <a:r>
              <a:rPr lang="en-US" altLang="zh-CN" dirty="0"/>
              <a:t>search</a:t>
            </a:r>
            <a:r>
              <a:rPr lang="zh-CN" altLang="en-US" dirty="0"/>
              <a:t>指定默认的搜索域</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25</a:t>
            </a:fld>
            <a:endParaRPr lang="zh-CN" altLang="en-US"/>
          </a:p>
        </p:txBody>
      </p:sp>
    </p:spTree>
    <p:extLst>
      <p:ext uri="{BB962C8B-B14F-4D97-AF65-F5344CB8AC3E}">
        <p14:creationId xmlns:p14="http://schemas.microsoft.com/office/powerpoint/2010/main" val="14985799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Multi on</a:t>
            </a:r>
            <a:r>
              <a:rPr lang="zh-CN" altLang="en-US" dirty="0" smtClean="0"/>
              <a:t>表示是否运行</a:t>
            </a:r>
            <a:r>
              <a:rPr lang="en-US" altLang="zh-CN" dirty="0" smtClean="0"/>
              <a:t>/etc/hosts</a:t>
            </a:r>
            <a:r>
              <a:rPr lang="zh-CN" altLang="en-US" dirty="0" smtClean="0"/>
              <a:t>文件允许主机指定多个地址，</a:t>
            </a:r>
            <a:r>
              <a:rPr lang="en-US" altLang="zh-CN" dirty="0" smtClean="0"/>
              <a:t>on</a:t>
            </a:r>
            <a:r>
              <a:rPr lang="zh-CN" altLang="en-US" dirty="0" smtClean="0"/>
              <a:t>表示允许</a:t>
            </a:r>
            <a:endParaRPr lang="en-US" altLang="zh-CN" dirty="0" smtClean="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26</a:t>
            </a:fld>
            <a:endParaRPr lang="zh-CN" altLang="en-US"/>
          </a:p>
        </p:txBody>
      </p:sp>
    </p:spTree>
    <p:extLst>
      <p:ext uri="{BB962C8B-B14F-4D97-AF65-F5344CB8AC3E}">
        <p14:creationId xmlns:p14="http://schemas.microsoft.com/office/powerpoint/2010/main" val="41463448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P118</a:t>
            </a:r>
            <a:r>
              <a:rPr lang="zh-CN" altLang="en-US" dirty="0"/>
              <a:t>设置主机名</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27</a:t>
            </a:fld>
            <a:endParaRPr lang="zh-CN" altLang="en-US"/>
          </a:p>
        </p:txBody>
      </p:sp>
    </p:spTree>
    <p:extLst>
      <p:ext uri="{BB962C8B-B14F-4D97-AF65-F5344CB8AC3E}">
        <p14:creationId xmlns:p14="http://schemas.microsoft.com/office/powerpoint/2010/main" val="30400107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P121</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30</a:t>
            </a:fld>
            <a:endParaRPr lang="zh-CN" altLang="en-US"/>
          </a:p>
        </p:txBody>
      </p:sp>
    </p:spTree>
    <p:extLst>
      <p:ext uri="{BB962C8B-B14F-4D97-AF65-F5344CB8AC3E}">
        <p14:creationId xmlns:p14="http://schemas.microsoft.com/office/powerpoint/2010/main" val="41434010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P121</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31</a:t>
            </a:fld>
            <a:endParaRPr lang="zh-CN" altLang="en-US"/>
          </a:p>
        </p:txBody>
      </p:sp>
    </p:spTree>
    <p:extLst>
      <p:ext uri="{BB962C8B-B14F-4D97-AF65-F5344CB8AC3E}">
        <p14:creationId xmlns:p14="http://schemas.microsoft.com/office/powerpoint/2010/main" val="9362709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P121</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32</a:t>
            </a:fld>
            <a:endParaRPr lang="zh-CN" altLang="en-US"/>
          </a:p>
        </p:txBody>
      </p:sp>
    </p:spTree>
    <p:extLst>
      <p:ext uri="{BB962C8B-B14F-4D97-AF65-F5344CB8AC3E}">
        <p14:creationId xmlns:p14="http://schemas.microsoft.com/office/powerpoint/2010/main" val="17834640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34</a:t>
            </a:fld>
            <a:endParaRPr lang="zh-CN" altLang="en-US"/>
          </a:p>
        </p:txBody>
      </p:sp>
    </p:spTree>
    <p:extLst>
      <p:ext uri="{BB962C8B-B14F-4D97-AF65-F5344CB8AC3E}">
        <p14:creationId xmlns:p14="http://schemas.microsoft.com/office/powerpoint/2010/main" val="361128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39</a:t>
            </a:fld>
            <a:endParaRPr lang="zh-CN" altLang="en-US"/>
          </a:p>
        </p:txBody>
      </p:sp>
    </p:spTree>
    <p:extLst>
      <p:ext uri="{BB962C8B-B14F-4D97-AF65-F5344CB8AC3E}">
        <p14:creationId xmlns:p14="http://schemas.microsoft.com/office/powerpoint/2010/main" val="22428952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ss</a:t>
            </a:r>
            <a:r>
              <a:rPr lang="zh-CN" altLang="en-US" dirty="0"/>
              <a:t>是</a:t>
            </a:r>
            <a:r>
              <a:rPr lang="en-US" altLang="zh-CN" dirty="0"/>
              <a:t>netstat</a:t>
            </a:r>
            <a:r>
              <a:rPr lang="zh-CN" altLang="en-US" dirty="0"/>
              <a:t>的替代品</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40</a:t>
            </a:fld>
            <a:endParaRPr lang="zh-CN" altLang="en-US"/>
          </a:p>
        </p:txBody>
      </p:sp>
    </p:spTree>
    <p:extLst>
      <p:ext uri="{BB962C8B-B14F-4D97-AF65-F5344CB8AC3E}">
        <p14:creationId xmlns:p14="http://schemas.microsoft.com/office/powerpoint/2010/main" val="18937471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Ping</a:t>
            </a:r>
            <a:r>
              <a:rPr lang="zh-CN" altLang="en-US" dirty="0"/>
              <a:t>是通过发送</a:t>
            </a:r>
            <a:r>
              <a:rPr lang="en-US" altLang="zh-CN" dirty="0"/>
              <a:t>ICMP</a:t>
            </a:r>
            <a:r>
              <a:rPr lang="zh-CN" altLang="en-US" dirty="0"/>
              <a:t>数据包来检测网络状态 </a:t>
            </a:r>
            <a:r>
              <a:rPr lang="en-US" altLang="zh-CN" dirty="0"/>
              <a:t>–c</a:t>
            </a:r>
            <a:r>
              <a:rPr lang="zh-CN" altLang="en-US" dirty="0"/>
              <a:t>表示只发送四次 </a:t>
            </a:r>
            <a:r>
              <a:rPr lang="en-US" altLang="zh-CN" dirty="0"/>
              <a:t>traceroute</a:t>
            </a:r>
            <a:r>
              <a:rPr lang="zh-CN" altLang="en-US" dirty="0"/>
              <a:t> 跟踪主机之间各个转发节点的通信状况</a:t>
            </a:r>
            <a:endParaRPr lang="en-US" altLang="zh-CN"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41</a:t>
            </a:fld>
            <a:endParaRPr lang="zh-CN" altLang="en-US"/>
          </a:p>
        </p:txBody>
      </p:sp>
    </p:spTree>
    <p:extLst>
      <p:ext uri="{BB962C8B-B14F-4D97-AF65-F5344CB8AC3E}">
        <p14:creationId xmlns:p14="http://schemas.microsoft.com/office/powerpoint/2010/main" val="24925563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6">
                    <a:lumMod val="75000"/>
                  </a:schemeClr>
                </a:solidFill>
              </a:rPr>
              <a:t># netstat -an  </a:t>
            </a:r>
            <a:r>
              <a:rPr lang="zh-CN" altLang="en-US" sz="1200" dirty="0">
                <a:solidFill>
                  <a:schemeClr val="accent6">
                    <a:lumMod val="75000"/>
                  </a:schemeClr>
                </a:solidFill>
              </a:rPr>
              <a:t>列出素有网络连接状态，使用</a:t>
            </a:r>
            <a:r>
              <a:rPr lang="en-US" altLang="zh-CN" sz="1200" dirty="0">
                <a:solidFill>
                  <a:schemeClr val="accent6">
                    <a:lumMod val="75000"/>
                  </a:schemeClr>
                </a:solidFill>
              </a:rPr>
              <a:t>IP</a:t>
            </a:r>
            <a:r>
              <a:rPr lang="zh-CN" altLang="en-US" sz="1200" dirty="0">
                <a:solidFill>
                  <a:schemeClr val="accent6">
                    <a:lumMod val="75000"/>
                  </a:schemeClr>
                </a:solidFill>
              </a:rPr>
              <a:t>与</a:t>
            </a:r>
            <a:r>
              <a:rPr lang="en-US" altLang="zh-CN" sz="1200" dirty="0">
                <a:solidFill>
                  <a:schemeClr val="accent6">
                    <a:lumMod val="75000"/>
                  </a:schemeClr>
                </a:solidFill>
              </a:rPr>
              <a:t>port u</a:t>
            </a:r>
            <a:r>
              <a:rPr lang="zh-CN" altLang="en-US" sz="1200" dirty="0">
                <a:solidFill>
                  <a:schemeClr val="accent6">
                    <a:lumMod val="75000"/>
                  </a:schemeClr>
                </a:solidFill>
              </a:rPr>
              <a:t>是仅列出</a:t>
            </a:r>
            <a:r>
              <a:rPr lang="en-US" altLang="zh-CN" sz="1200" dirty="0">
                <a:solidFill>
                  <a:schemeClr val="accent6">
                    <a:lumMod val="75000"/>
                  </a:schemeClr>
                </a:solidFill>
              </a:rPr>
              <a:t>UDP</a:t>
            </a:r>
            <a:r>
              <a:rPr lang="zh-CN" altLang="en-US" sz="1200" dirty="0">
                <a:solidFill>
                  <a:schemeClr val="accent6">
                    <a:lumMod val="75000"/>
                  </a:schemeClr>
                </a:solidFill>
              </a:rPr>
              <a:t>数据包的连接，</a:t>
            </a:r>
            <a:r>
              <a:rPr lang="en-US" altLang="zh-CN" sz="1200" dirty="0">
                <a:solidFill>
                  <a:schemeClr val="accent6">
                    <a:lumMod val="75000"/>
                  </a:schemeClr>
                </a:solidFill>
              </a:rPr>
              <a:t>l</a:t>
            </a:r>
            <a:r>
              <a:rPr lang="zh-CN" altLang="en-US" sz="1200" dirty="0">
                <a:solidFill>
                  <a:schemeClr val="accent6">
                    <a:lumMod val="75000"/>
                  </a:schemeClr>
                </a:solidFill>
              </a:rPr>
              <a:t>是仅列出已经在监听的服务的网络状态 </a:t>
            </a:r>
            <a:r>
              <a:rPr lang="en-US" altLang="zh-CN" sz="1200" dirty="0">
                <a:solidFill>
                  <a:schemeClr val="accent6">
                    <a:lumMod val="75000"/>
                  </a:schemeClr>
                </a:solidFill>
              </a:rPr>
              <a:t>p</a:t>
            </a:r>
            <a:r>
              <a:rPr lang="zh-CN" altLang="en-US" sz="1200" dirty="0">
                <a:solidFill>
                  <a:schemeClr val="accent6">
                    <a:lumMod val="75000"/>
                  </a:schemeClr>
                </a:solidFill>
              </a:rPr>
              <a:t>是列出</a:t>
            </a:r>
            <a:r>
              <a:rPr lang="en-US" altLang="zh-CN" sz="1200" dirty="0">
                <a:solidFill>
                  <a:schemeClr val="accent6">
                    <a:lumMod val="75000"/>
                  </a:schemeClr>
                </a:solidFill>
              </a:rPr>
              <a:t>PID</a:t>
            </a:r>
            <a:r>
              <a:rPr lang="zh-CN" altLang="en-US" sz="1200" dirty="0">
                <a:solidFill>
                  <a:schemeClr val="accent6">
                    <a:lumMod val="75000"/>
                  </a:schemeClr>
                </a:solidFill>
              </a:rPr>
              <a:t>与</a:t>
            </a:r>
            <a:r>
              <a:rPr lang="en-US" altLang="zh-CN" sz="1200" dirty="0">
                <a:solidFill>
                  <a:schemeClr val="accent6">
                    <a:lumMod val="75000"/>
                  </a:schemeClr>
                </a:solidFill>
              </a:rPr>
              <a:t>program</a:t>
            </a:r>
            <a:r>
              <a:rPr lang="zh-CN" altLang="en-US" sz="1200" dirty="0">
                <a:solidFill>
                  <a:schemeClr val="accent6">
                    <a:lumMod val="75000"/>
                  </a:schemeClr>
                </a:solidFill>
              </a:rPr>
              <a:t>文件名 </a:t>
            </a:r>
            <a:r>
              <a:rPr lang="en-US" altLang="zh-CN" sz="1200" dirty="0">
                <a:solidFill>
                  <a:schemeClr val="accent6">
                    <a:lumMod val="75000"/>
                  </a:schemeClr>
                </a:solidFill>
              </a:rPr>
              <a:t>–n </a:t>
            </a:r>
            <a:r>
              <a:rPr lang="zh-CN" altLang="en-US" sz="1200" dirty="0">
                <a:solidFill>
                  <a:schemeClr val="accent6">
                    <a:lumMod val="75000"/>
                  </a:schemeClr>
                </a:solidFill>
              </a:rPr>
              <a:t>使用</a:t>
            </a:r>
            <a:r>
              <a:rPr lang="en-US" altLang="zh-CN" sz="1200" dirty="0">
                <a:solidFill>
                  <a:schemeClr val="accent6">
                    <a:lumMod val="75000"/>
                  </a:schemeClr>
                </a:solidFill>
              </a:rPr>
              <a:t>ip</a:t>
            </a:r>
            <a:r>
              <a:rPr lang="zh-CN" altLang="en-US" sz="1200" dirty="0">
                <a:solidFill>
                  <a:schemeClr val="accent6">
                    <a:lumMod val="75000"/>
                  </a:schemeClr>
                </a:solidFill>
              </a:rPr>
              <a:t>和端口号 </a:t>
            </a:r>
            <a:r>
              <a:rPr lang="en-US" altLang="zh-CN" sz="1200" dirty="0">
                <a:solidFill>
                  <a:schemeClr val="accent6">
                    <a:lumMod val="75000"/>
                  </a:schemeClr>
                </a:solidFill>
              </a:rPr>
              <a:t>t</a:t>
            </a:r>
            <a:r>
              <a:rPr lang="zh-CN" altLang="en-US" sz="1200" dirty="0">
                <a:solidFill>
                  <a:schemeClr val="accent6">
                    <a:lumMod val="75000"/>
                  </a:schemeClr>
                </a:solidFill>
              </a:rPr>
              <a:t>仅列出</a:t>
            </a:r>
            <a:r>
              <a:rPr lang="en-US" altLang="zh-CN" sz="1200" dirty="0" err="1">
                <a:solidFill>
                  <a:schemeClr val="accent6">
                    <a:lumMod val="75000"/>
                  </a:schemeClr>
                </a:solidFill>
              </a:rPr>
              <a:t>tcp</a:t>
            </a:r>
            <a:r>
              <a:rPr lang="zh-CN" altLang="en-US" sz="1200" dirty="0">
                <a:solidFill>
                  <a:schemeClr val="accent6">
                    <a:lumMod val="75000"/>
                  </a:schemeClr>
                </a:solidFill>
              </a:rPr>
              <a:t>数据包， </a:t>
            </a:r>
            <a:r>
              <a:rPr lang="en-US" altLang="zh-CN" sz="1200" dirty="0">
                <a:solidFill>
                  <a:schemeClr val="accent6">
                    <a:lumMod val="75000"/>
                  </a:schemeClr>
                </a:solidFill>
              </a:rPr>
              <a:t>netstat</a:t>
            </a:r>
            <a:r>
              <a:rPr lang="zh-CN" altLang="en-US" sz="1200" dirty="0">
                <a:solidFill>
                  <a:schemeClr val="accent6">
                    <a:lumMod val="75000"/>
                  </a:schemeClr>
                </a:solidFill>
              </a:rPr>
              <a:t>和</a:t>
            </a:r>
            <a:r>
              <a:rPr lang="en-US" altLang="zh-CN" sz="1200" dirty="0">
                <a:solidFill>
                  <a:schemeClr val="accent6">
                    <a:lumMod val="75000"/>
                  </a:schemeClr>
                </a:solidFill>
              </a:rPr>
              <a:t>ss</a:t>
            </a:r>
            <a:r>
              <a:rPr lang="zh-CN" altLang="en-US" sz="1200" dirty="0">
                <a:solidFill>
                  <a:schemeClr val="accent6">
                    <a:lumMod val="75000"/>
                  </a:schemeClr>
                </a:solidFill>
              </a:rPr>
              <a:t>功能相似</a:t>
            </a:r>
            <a:endParaRPr lang="en-US" altLang="zh-CN" sz="1200" dirty="0">
              <a:solidFill>
                <a:schemeClr val="accent6">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6">
                    <a:lumMod val="75000"/>
                  </a:schemeClr>
                </a:solidFill>
              </a:rPr>
              <a:t>P124</a:t>
            </a: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42</a:t>
            </a:fld>
            <a:endParaRPr lang="zh-CN" altLang="en-US"/>
          </a:p>
        </p:txBody>
      </p:sp>
    </p:spTree>
    <p:extLst>
      <p:ext uri="{BB962C8B-B14F-4D97-AF65-F5344CB8AC3E}">
        <p14:creationId xmlns:p14="http://schemas.microsoft.com/office/powerpoint/2010/main" val="23632384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Dig</a:t>
            </a:r>
            <a:r>
              <a:rPr lang="zh-CN" altLang="en-US" dirty="0"/>
              <a:t>命令主要用于测试</a:t>
            </a:r>
            <a:r>
              <a:rPr lang="en-US" altLang="zh-CN" dirty="0"/>
              <a:t>DNS</a:t>
            </a:r>
            <a:r>
              <a:rPr lang="zh-CN" altLang="en-US" dirty="0"/>
              <a:t>服务器是否能够正常工作</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44</a:t>
            </a:fld>
            <a:endParaRPr lang="zh-CN" altLang="en-US"/>
          </a:p>
        </p:txBody>
      </p:sp>
    </p:spTree>
    <p:extLst>
      <p:ext uri="{BB962C8B-B14F-4D97-AF65-F5344CB8AC3E}">
        <p14:creationId xmlns:p14="http://schemas.microsoft.com/office/powerpoint/2010/main" val="37631000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上传下载单个文件 </a:t>
            </a:r>
            <a:r>
              <a:rPr lang="en-US" altLang="zh-CN" dirty="0"/>
              <a:t>P125</a:t>
            </a:r>
            <a:r>
              <a:rPr lang="zh-CN" altLang="en-US" dirty="0"/>
              <a:t>表</a:t>
            </a:r>
            <a:r>
              <a:rPr lang="en-US" altLang="zh-CN" dirty="0"/>
              <a:t>5-7</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51</a:t>
            </a:fld>
            <a:endParaRPr lang="zh-CN" altLang="en-US"/>
          </a:p>
        </p:txBody>
      </p:sp>
    </p:spTree>
    <p:extLst>
      <p:ext uri="{BB962C8B-B14F-4D97-AF65-F5344CB8AC3E}">
        <p14:creationId xmlns:p14="http://schemas.microsoft.com/office/powerpoint/2010/main" val="22130051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上传下载多个文件表</a:t>
            </a:r>
            <a:r>
              <a:rPr lang="en-US" altLang="zh-CN" dirty="0"/>
              <a:t>5-7</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53</a:t>
            </a:fld>
            <a:endParaRPr lang="zh-CN" altLang="en-US"/>
          </a:p>
        </p:txBody>
      </p:sp>
    </p:spTree>
    <p:extLst>
      <p:ext uri="{BB962C8B-B14F-4D97-AF65-F5344CB8AC3E}">
        <p14:creationId xmlns:p14="http://schemas.microsoft.com/office/powerpoint/2010/main" val="2723389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多线程下载表</a:t>
            </a:r>
            <a:r>
              <a:rPr lang="en-US" altLang="zh-CN" dirty="0"/>
              <a:t>5-7</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54</a:t>
            </a:fld>
            <a:endParaRPr lang="zh-CN" altLang="en-US"/>
          </a:p>
        </p:txBody>
      </p:sp>
    </p:spTree>
    <p:extLst>
      <p:ext uri="{BB962C8B-B14F-4D97-AF65-F5344CB8AC3E}">
        <p14:creationId xmlns:p14="http://schemas.microsoft.com/office/powerpoint/2010/main" val="21050968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实现站点镜像</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55</a:t>
            </a:fld>
            <a:endParaRPr lang="zh-CN" altLang="en-US"/>
          </a:p>
        </p:txBody>
      </p:sp>
    </p:spTree>
    <p:extLst>
      <p:ext uri="{BB962C8B-B14F-4D97-AF65-F5344CB8AC3E}">
        <p14:creationId xmlns:p14="http://schemas.microsoft.com/office/powerpoint/2010/main" val="8510878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P125</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58</a:t>
            </a:fld>
            <a:endParaRPr lang="zh-CN" altLang="en-US"/>
          </a:p>
        </p:txBody>
      </p:sp>
    </p:spTree>
    <p:extLst>
      <p:ext uri="{BB962C8B-B14F-4D97-AF65-F5344CB8AC3E}">
        <p14:creationId xmlns:p14="http://schemas.microsoft.com/office/powerpoint/2010/main" val="18790372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wget</a:t>
            </a:r>
            <a:r>
              <a:rPr lang="zh-CN" altLang="en-US" dirty="0"/>
              <a:t>是网页数据下载的重要工具</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59</a:t>
            </a:fld>
            <a:endParaRPr lang="zh-CN" altLang="en-US"/>
          </a:p>
        </p:txBody>
      </p:sp>
    </p:spTree>
    <p:extLst>
      <p:ext uri="{BB962C8B-B14F-4D97-AF65-F5344CB8AC3E}">
        <p14:creationId xmlns:p14="http://schemas.microsoft.com/office/powerpoint/2010/main" val="36907976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P123</a:t>
            </a:r>
            <a:r>
              <a:rPr lang="zh-CN" altLang="en-US" dirty="0"/>
              <a:t>操作步骤</a:t>
            </a:r>
            <a:r>
              <a:rPr lang="en-US" altLang="zh-CN" dirty="0"/>
              <a:t>5.3</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62</a:t>
            </a:fld>
            <a:endParaRPr lang="zh-CN" altLang="en-US"/>
          </a:p>
        </p:txBody>
      </p:sp>
    </p:spTree>
    <p:extLst>
      <p:ext uri="{BB962C8B-B14F-4D97-AF65-F5344CB8AC3E}">
        <p14:creationId xmlns:p14="http://schemas.microsoft.com/office/powerpoint/2010/main" val="24899246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P123</a:t>
            </a:r>
            <a:r>
              <a:rPr lang="zh-CN" altLang="en-US" dirty="0"/>
              <a:t>操作步骤</a:t>
            </a:r>
            <a:r>
              <a:rPr lang="en-US" altLang="zh-CN" dirty="0"/>
              <a:t>5.3</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63</a:t>
            </a:fld>
            <a:endParaRPr lang="zh-CN" altLang="en-US"/>
          </a:p>
        </p:txBody>
      </p:sp>
    </p:spTree>
    <p:extLst>
      <p:ext uri="{BB962C8B-B14F-4D97-AF65-F5344CB8AC3E}">
        <p14:creationId xmlns:p14="http://schemas.microsoft.com/office/powerpoint/2010/main" val="28382885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P123</a:t>
            </a:r>
            <a:r>
              <a:rPr lang="zh-CN" altLang="en-US" dirty="0"/>
              <a:t>操作步骤</a:t>
            </a:r>
            <a:r>
              <a:rPr lang="en-US" altLang="zh-CN" dirty="0"/>
              <a:t>5.3</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64</a:t>
            </a:fld>
            <a:endParaRPr lang="zh-CN" altLang="en-US"/>
          </a:p>
        </p:txBody>
      </p:sp>
    </p:spTree>
    <p:extLst>
      <p:ext uri="{BB962C8B-B14F-4D97-AF65-F5344CB8AC3E}">
        <p14:creationId xmlns:p14="http://schemas.microsoft.com/office/powerpoint/2010/main" val="22337225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以文字形式浏览网页，需要安装，另外可以浏览本地以网页形式存储的文件。</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65</a:t>
            </a:fld>
            <a:endParaRPr lang="zh-CN" altLang="en-US"/>
          </a:p>
        </p:txBody>
      </p:sp>
    </p:spTree>
    <p:extLst>
      <p:ext uri="{BB962C8B-B14F-4D97-AF65-F5344CB8AC3E}">
        <p14:creationId xmlns:p14="http://schemas.microsoft.com/office/powerpoint/2010/main" val="16898636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以文字形式浏览网页，需要安装，另外可以浏览本地以网页形式存储的文件。</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66</a:t>
            </a:fld>
            <a:endParaRPr lang="zh-CN" altLang="en-US"/>
          </a:p>
        </p:txBody>
      </p:sp>
    </p:spTree>
    <p:extLst>
      <p:ext uri="{BB962C8B-B14F-4D97-AF65-F5344CB8AC3E}">
        <p14:creationId xmlns:p14="http://schemas.microsoft.com/office/powerpoint/2010/main" val="27524227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dirty="0"/>
              <a:t>Rsync </a:t>
            </a:r>
            <a:r>
              <a:rPr lang="zh-CN" altLang="en-US" sz="1200" dirty="0"/>
              <a:t>的初始作者是 </a:t>
            </a:r>
            <a:r>
              <a:rPr lang="en-US" altLang="zh-CN" sz="1200" dirty="0"/>
              <a:t>Andrew </a:t>
            </a:r>
            <a:r>
              <a:rPr lang="en-US" altLang="zh-CN" sz="1200" dirty="0" err="1"/>
              <a:t>Tridgell</a:t>
            </a:r>
            <a:r>
              <a:rPr lang="en-US" altLang="zh-CN" sz="1200" dirty="0"/>
              <a:t> </a:t>
            </a:r>
            <a:r>
              <a:rPr lang="zh-CN" altLang="en-US" sz="1200" dirty="0"/>
              <a:t>和 </a:t>
            </a:r>
            <a:r>
              <a:rPr lang="en-US" altLang="zh-CN" sz="1200" dirty="0"/>
              <a:t>Paul </a:t>
            </a:r>
            <a:r>
              <a:rPr lang="en-US" altLang="zh-CN" sz="1200" dirty="0" err="1"/>
              <a:t>Mackerras</a:t>
            </a:r>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68</a:t>
            </a:fld>
            <a:endParaRPr lang="zh-CN" altLang="en-US"/>
          </a:p>
        </p:txBody>
      </p:sp>
    </p:spTree>
    <p:extLst>
      <p:ext uri="{BB962C8B-B14F-4D97-AF65-F5344CB8AC3E}">
        <p14:creationId xmlns:p14="http://schemas.microsoft.com/office/powerpoint/2010/main" val="5432845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在本地或者远程主机之间复制文件的客户端 </a:t>
            </a:r>
            <a:r>
              <a:rPr lang="en-US" altLang="zh-CN" dirty="0"/>
              <a:t>P129</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77</a:t>
            </a:fld>
            <a:endParaRPr lang="zh-CN" altLang="en-US"/>
          </a:p>
        </p:txBody>
      </p:sp>
    </p:spTree>
    <p:extLst>
      <p:ext uri="{BB962C8B-B14F-4D97-AF65-F5344CB8AC3E}">
        <p14:creationId xmlns:p14="http://schemas.microsoft.com/office/powerpoint/2010/main" val="37474525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79</a:t>
            </a:fld>
            <a:endParaRPr lang="zh-CN" altLang="en-US"/>
          </a:p>
        </p:txBody>
      </p:sp>
    </p:spTree>
    <p:extLst>
      <p:ext uri="{BB962C8B-B14F-4D97-AF65-F5344CB8AC3E}">
        <p14:creationId xmlns:p14="http://schemas.microsoft.com/office/powerpoint/2010/main" val="38748485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80</a:t>
            </a:fld>
            <a:endParaRPr lang="zh-CN" altLang="en-US"/>
          </a:p>
        </p:txBody>
      </p:sp>
    </p:spTree>
    <p:extLst>
      <p:ext uri="{BB962C8B-B14F-4D97-AF65-F5344CB8AC3E}">
        <p14:creationId xmlns:p14="http://schemas.microsoft.com/office/powerpoint/2010/main" val="19248222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81</a:t>
            </a:fld>
            <a:endParaRPr lang="zh-CN" altLang="en-US"/>
          </a:p>
        </p:txBody>
      </p:sp>
    </p:spTree>
    <p:extLst>
      <p:ext uri="{BB962C8B-B14F-4D97-AF65-F5344CB8AC3E}">
        <p14:creationId xmlns:p14="http://schemas.microsoft.com/office/powerpoint/2010/main" val="23855520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82</a:t>
            </a:fld>
            <a:endParaRPr lang="zh-CN" altLang="en-US"/>
          </a:p>
        </p:txBody>
      </p:sp>
    </p:spTree>
    <p:extLst>
      <p:ext uri="{BB962C8B-B14F-4D97-AF65-F5344CB8AC3E}">
        <p14:creationId xmlns:p14="http://schemas.microsoft.com/office/powerpoint/2010/main" val="13146177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83</a:t>
            </a:fld>
            <a:endParaRPr lang="zh-CN" altLang="en-US"/>
          </a:p>
        </p:txBody>
      </p:sp>
    </p:spTree>
    <p:extLst>
      <p:ext uri="{BB962C8B-B14F-4D97-AF65-F5344CB8AC3E}">
        <p14:creationId xmlns:p14="http://schemas.microsoft.com/office/powerpoint/2010/main" val="36167316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84</a:t>
            </a:fld>
            <a:endParaRPr lang="zh-CN" altLang="en-US"/>
          </a:p>
        </p:txBody>
      </p:sp>
    </p:spTree>
    <p:extLst>
      <p:ext uri="{BB962C8B-B14F-4D97-AF65-F5344CB8AC3E}">
        <p14:creationId xmlns:p14="http://schemas.microsoft.com/office/powerpoint/2010/main" val="33432569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CentOS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err="1">
                <a:effectLst/>
              </a:rPr>
              <a:t>ifcfg</a:t>
            </a:r>
            <a:r>
              <a:rPr lang="en-US" altLang="zh-CN" sz="1200" dirty="0">
                <a:effectLst/>
              </a:rPr>
              <a:t>-*    ifcfg-eth0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effectLst/>
              </a:rPr>
              <a:t>P115 </a:t>
            </a:r>
            <a:r>
              <a:rPr lang="zh-CN" altLang="en-US" sz="1200" dirty="0">
                <a:effectLst/>
              </a:rPr>
              <a:t>提示</a:t>
            </a:r>
            <a:endParaRPr lang="en-US" altLang="zh-CN" sz="1200" dirty="0">
              <a:effectLs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effectLs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err="1"/>
              <a:t>linux</a:t>
            </a:r>
            <a:r>
              <a:rPr lang="zh-CN" altLang="en-US" dirty="0"/>
              <a:t>网卡</a:t>
            </a:r>
            <a:r>
              <a:rPr lang="en-US" altLang="zh-CN" dirty="0"/>
              <a:t>bonding</a:t>
            </a:r>
            <a:r>
              <a:rPr lang="zh-CN" altLang="en-US" dirty="0"/>
              <a:t>解析 </a:t>
            </a:r>
            <a:r>
              <a:rPr lang="en-US" altLang="zh-CN" dirty="0"/>
              <a:t>:</a:t>
            </a:r>
            <a:r>
              <a:rPr lang="en-US" altLang="zh-CN" baseline="0" dirty="0"/>
              <a:t> http://hi.baidu.com/chenshake/blog/item/e320278799773734c75cc37d.html</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85</a:t>
            </a:fld>
            <a:endParaRPr lang="zh-CN" altLang="en-US"/>
          </a:p>
        </p:txBody>
      </p:sp>
    </p:spTree>
    <p:extLst>
      <p:ext uri="{BB962C8B-B14F-4D97-AF65-F5344CB8AC3E}">
        <p14:creationId xmlns:p14="http://schemas.microsoft.com/office/powerpoint/2010/main" val="22798617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86</a:t>
            </a:fld>
            <a:endParaRPr lang="zh-CN" altLang="en-US"/>
          </a:p>
        </p:txBody>
      </p:sp>
    </p:spTree>
    <p:extLst>
      <p:ext uri="{BB962C8B-B14F-4D97-AF65-F5344CB8AC3E}">
        <p14:creationId xmlns:p14="http://schemas.microsoft.com/office/powerpoint/2010/main" val="418582619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87</a:t>
            </a:fld>
            <a:endParaRPr lang="zh-CN" altLang="en-US"/>
          </a:p>
        </p:txBody>
      </p:sp>
    </p:spTree>
    <p:extLst>
      <p:ext uri="{BB962C8B-B14F-4D97-AF65-F5344CB8AC3E}">
        <p14:creationId xmlns:p14="http://schemas.microsoft.com/office/powerpoint/2010/main" val="39413455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88</a:t>
            </a:fld>
            <a:endParaRPr lang="zh-CN" altLang="en-US"/>
          </a:p>
        </p:txBody>
      </p:sp>
    </p:spTree>
    <p:extLst>
      <p:ext uri="{BB962C8B-B14F-4D97-AF65-F5344CB8AC3E}">
        <p14:creationId xmlns:p14="http://schemas.microsoft.com/office/powerpoint/2010/main" val="18987485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89</a:t>
            </a:fld>
            <a:endParaRPr lang="zh-CN" altLang="en-US"/>
          </a:p>
        </p:txBody>
      </p:sp>
    </p:spTree>
    <p:extLst>
      <p:ext uri="{BB962C8B-B14F-4D97-AF65-F5344CB8AC3E}">
        <p14:creationId xmlns:p14="http://schemas.microsoft.com/office/powerpoint/2010/main" val="26210178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90</a:t>
            </a:fld>
            <a:endParaRPr lang="zh-CN" altLang="en-US"/>
          </a:p>
        </p:txBody>
      </p:sp>
    </p:spTree>
    <p:extLst>
      <p:ext uri="{BB962C8B-B14F-4D97-AF65-F5344CB8AC3E}">
        <p14:creationId xmlns:p14="http://schemas.microsoft.com/office/powerpoint/2010/main" val="265062274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91</a:t>
            </a:fld>
            <a:endParaRPr lang="zh-CN" altLang="en-US"/>
          </a:p>
        </p:txBody>
      </p:sp>
    </p:spTree>
    <p:extLst>
      <p:ext uri="{BB962C8B-B14F-4D97-AF65-F5344CB8AC3E}">
        <p14:creationId xmlns:p14="http://schemas.microsoft.com/office/powerpoint/2010/main" val="389745353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PRM</a:t>
            </a:r>
            <a:r>
              <a:rPr lang="zh-CN" altLang="en-US" dirty="0"/>
              <a:t>时间</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92</a:t>
            </a:fld>
            <a:endParaRPr lang="zh-CN" altLang="en-US"/>
          </a:p>
        </p:txBody>
      </p:sp>
    </p:spTree>
    <p:extLst>
      <p:ext uri="{BB962C8B-B14F-4D97-AF65-F5344CB8AC3E}">
        <p14:creationId xmlns:p14="http://schemas.microsoft.com/office/powerpoint/2010/main" val="26980775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楷体" panose="02010609060101010101" pitchFamily="49" charset="-122"/>
                <a:ea typeface="楷体" panose="02010609060101010101" pitchFamily="49" charset="-122"/>
              </a:rPr>
              <a:t>软件文件</a:t>
            </a:r>
            <a:r>
              <a:rPr lang="zh-CN" altLang="en-US" sz="1200" b="1" dirty="0">
                <a:solidFill>
                  <a:srgbClr val="C00000"/>
                </a:solidFill>
                <a:latin typeface="楷体" panose="02010609060101010101" pitchFamily="49" charset="-122"/>
                <a:ea typeface="楷体" panose="02010609060101010101" pitchFamily="49" charset="-122"/>
              </a:rPr>
              <a:t>安装的环境</a:t>
            </a:r>
            <a:r>
              <a:rPr lang="zh-CN" altLang="en-US" sz="1200" b="1" dirty="0">
                <a:latin typeface="楷体" panose="02010609060101010101" pitchFamily="49" charset="-122"/>
                <a:ea typeface="楷体" panose="02010609060101010101" pitchFamily="49" charset="-122"/>
              </a:rPr>
              <a:t>必须与打包时的环境需求一致或相当，所以也就衍生出来了</a:t>
            </a:r>
            <a:r>
              <a:rPr lang="en-US" altLang="zh-CN" sz="1200" b="1" dirty="0">
                <a:latin typeface="楷体" panose="02010609060101010101" pitchFamily="49" charset="-122"/>
                <a:ea typeface="楷体" panose="02010609060101010101" pitchFamily="49" charset="-122"/>
              </a:rPr>
              <a:t>yum</a:t>
            </a:r>
            <a:r>
              <a:rPr lang="zh-CN" altLang="en-US" sz="1200" b="1" dirty="0">
                <a:latin typeface="楷体" panose="02010609060101010101" pitchFamily="49" charset="-122"/>
                <a:ea typeface="楷体" panose="02010609060101010101" pitchFamily="49" charset="-122"/>
              </a:rPr>
              <a:t>的工具</a:t>
            </a: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93</a:t>
            </a:fld>
            <a:endParaRPr lang="zh-CN" altLang="en-US"/>
          </a:p>
        </p:txBody>
      </p:sp>
    </p:spTree>
    <p:extLst>
      <p:ext uri="{BB962C8B-B14F-4D97-AF65-F5344CB8AC3E}">
        <p14:creationId xmlns:p14="http://schemas.microsoft.com/office/powerpoint/2010/main" val="113980446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楷体" panose="02010609060101010101" pitchFamily="49" charset="-122"/>
                <a:ea typeface="楷体" panose="02010609060101010101" pitchFamily="49" charset="-122"/>
              </a:rPr>
              <a:t>软件文件</a:t>
            </a:r>
            <a:r>
              <a:rPr lang="zh-CN" altLang="en-US" sz="1200" b="1" dirty="0">
                <a:solidFill>
                  <a:srgbClr val="C00000"/>
                </a:solidFill>
                <a:latin typeface="楷体" panose="02010609060101010101" pitchFamily="49" charset="-122"/>
                <a:ea typeface="楷体" panose="02010609060101010101" pitchFamily="49" charset="-122"/>
              </a:rPr>
              <a:t>安装的环境</a:t>
            </a:r>
            <a:r>
              <a:rPr lang="zh-CN" altLang="en-US" sz="1200" b="1" dirty="0">
                <a:latin typeface="楷体" panose="02010609060101010101" pitchFamily="49" charset="-122"/>
                <a:ea typeface="楷体" panose="02010609060101010101" pitchFamily="49" charset="-122"/>
              </a:rPr>
              <a:t>必须与打包时的环境需求一致或相当</a:t>
            </a: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94</a:t>
            </a:fld>
            <a:endParaRPr lang="zh-CN" altLang="en-US"/>
          </a:p>
        </p:txBody>
      </p:sp>
    </p:spTree>
    <p:extLst>
      <p:ext uri="{BB962C8B-B14F-4D97-AF65-F5344CB8AC3E}">
        <p14:creationId xmlns:p14="http://schemas.microsoft.com/office/powerpoint/2010/main" val="33932552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因为依赖性问题的存在，</a:t>
            </a:r>
            <a:r>
              <a:rPr lang="en-US" altLang="zh-CN" dirty="0"/>
              <a:t>rpm</a:t>
            </a:r>
            <a:r>
              <a:rPr lang="zh-CN" altLang="en-US" dirty="0"/>
              <a:t>中的查询和验证成为了主要使用的功能。</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97</a:t>
            </a:fld>
            <a:endParaRPr lang="zh-CN" altLang="en-US"/>
          </a:p>
        </p:txBody>
      </p:sp>
    </p:spTree>
    <p:extLst>
      <p:ext uri="{BB962C8B-B14F-4D97-AF65-F5344CB8AC3E}">
        <p14:creationId xmlns:p14="http://schemas.microsoft.com/office/powerpoint/2010/main" val="26080583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可在特殊情况下使用的许多其它安装选项 </a:t>
            </a:r>
          </a:p>
          <a:p>
            <a:r>
              <a:rPr lang="en-US" altLang="zh-CN" dirty="0"/>
              <a:t>--</a:t>
            </a:r>
            <a:r>
              <a:rPr lang="en-US" altLang="zh-CN" dirty="0" err="1"/>
              <a:t>nodeps</a:t>
            </a:r>
            <a:r>
              <a:rPr lang="en-US" altLang="zh-CN" dirty="0"/>
              <a:t>, --force </a:t>
            </a:r>
          </a:p>
          <a:p>
            <a:r>
              <a:rPr lang="en-US" altLang="zh-CN" dirty="0"/>
              <a:t>--root </a:t>
            </a:r>
          </a:p>
          <a:p>
            <a:r>
              <a:rPr lang="en-US" altLang="zh-CN" dirty="0"/>
              <a:t>--</a:t>
            </a:r>
            <a:r>
              <a:rPr lang="en-US" altLang="zh-CN" dirty="0" err="1"/>
              <a:t>replacepkgs</a:t>
            </a:r>
            <a:r>
              <a:rPr lang="en-US" altLang="zh-CN" dirty="0"/>
              <a:t>, --</a:t>
            </a:r>
            <a:r>
              <a:rPr lang="en-US" altLang="zh-CN" dirty="0" err="1"/>
              <a:t>oldpackage</a:t>
            </a:r>
            <a:r>
              <a:rPr lang="en-US" altLang="zh-CN" dirty="0"/>
              <a:t> </a:t>
            </a:r>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98</a:t>
            </a:fld>
            <a:endParaRPr lang="zh-CN" altLang="en-US"/>
          </a:p>
        </p:txBody>
      </p:sp>
    </p:spTree>
    <p:extLst>
      <p:ext uri="{BB962C8B-B14F-4D97-AF65-F5344CB8AC3E}">
        <p14:creationId xmlns:p14="http://schemas.microsoft.com/office/powerpoint/2010/main" val="21765272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P132</a:t>
            </a:r>
            <a:r>
              <a:rPr lang="zh-CN" altLang="en-US" dirty="0"/>
              <a:t>页 </a:t>
            </a:r>
            <a:r>
              <a:rPr lang="en-US" altLang="zh-CN" dirty="0"/>
              <a:t>1-3</a:t>
            </a:r>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99</a:t>
            </a:fld>
            <a:endParaRPr lang="zh-CN" altLang="en-US"/>
          </a:p>
        </p:txBody>
      </p:sp>
    </p:spTree>
    <p:extLst>
      <p:ext uri="{BB962C8B-B14F-4D97-AF65-F5344CB8AC3E}">
        <p14:creationId xmlns:p14="http://schemas.microsoft.com/office/powerpoint/2010/main" val="9890097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a:t>
            </a:r>
            <a:r>
              <a:rPr lang="zh-CN" altLang="en-US" dirty="0"/>
              <a:t>仅查询，必须存在，以配合其他参数一起使用。</a:t>
            </a:r>
            <a:r>
              <a:rPr lang="en-US" altLang="zh-CN" dirty="0"/>
              <a:t>-i</a:t>
            </a:r>
            <a:r>
              <a:rPr lang="zh-CN" altLang="en-US" dirty="0"/>
              <a:t>查询软件包的详细信息，</a:t>
            </a:r>
            <a:r>
              <a:rPr lang="en-US" altLang="zh-CN" dirty="0"/>
              <a:t>-l</a:t>
            </a:r>
            <a:r>
              <a:rPr lang="zh-CN" altLang="en-US" dirty="0"/>
              <a:t>列出与该软件有关的所有文件与目录所在的完整文件名 </a:t>
            </a:r>
            <a:r>
              <a:rPr lang="en-US" altLang="zh-CN" dirty="0"/>
              <a:t>–P</a:t>
            </a:r>
            <a:r>
              <a:rPr lang="zh-CN" altLang="en-US" dirty="0"/>
              <a:t>后边接的是</a:t>
            </a:r>
            <a:r>
              <a:rPr lang="en-US" altLang="zh-CN" dirty="0"/>
              <a:t>RMP</a:t>
            </a:r>
            <a:r>
              <a:rPr lang="zh-CN" altLang="en-US" dirty="0"/>
              <a:t>文件，而不是已经安装的软件信息。</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100</a:t>
            </a:fld>
            <a:endParaRPr lang="zh-CN" altLang="en-US"/>
          </a:p>
        </p:txBody>
      </p:sp>
    </p:spTree>
    <p:extLst>
      <p:ext uri="{BB962C8B-B14F-4D97-AF65-F5344CB8AC3E}">
        <p14:creationId xmlns:p14="http://schemas.microsoft.com/office/powerpoint/2010/main" val="19006641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a:t>
            </a:r>
            <a:r>
              <a:rPr lang="zh-CN" altLang="en-US" dirty="0"/>
              <a:t>仅查询，必须存在，以配合其他参数一起使用。</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101</a:t>
            </a:fld>
            <a:endParaRPr lang="zh-CN" altLang="en-US"/>
          </a:p>
        </p:txBody>
      </p:sp>
    </p:spTree>
    <p:extLst>
      <p:ext uri="{BB962C8B-B14F-4D97-AF65-F5344CB8AC3E}">
        <p14:creationId xmlns:p14="http://schemas.microsoft.com/office/powerpoint/2010/main" val="407924067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a:t>
            </a:r>
            <a:r>
              <a:rPr lang="zh-CN" altLang="en-US" dirty="0"/>
              <a:t>仅查询，必须存在，以配合其他参数一起使用。</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102</a:t>
            </a:fld>
            <a:endParaRPr lang="zh-CN" altLang="en-US"/>
          </a:p>
        </p:txBody>
      </p:sp>
    </p:spTree>
    <p:extLst>
      <p:ext uri="{BB962C8B-B14F-4D97-AF65-F5344CB8AC3E}">
        <p14:creationId xmlns:p14="http://schemas.microsoft.com/office/powerpoint/2010/main" val="184718208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a:t>
            </a:r>
            <a:r>
              <a:rPr lang="zh-CN" altLang="en-US" dirty="0"/>
              <a:t>仅查询，必须存在，以配合其他参数一起使用。</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103</a:t>
            </a:fld>
            <a:endParaRPr lang="zh-CN" altLang="en-US"/>
          </a:p>
        </p:txBody>
      </p:sp>
    </p:spTree>
    <p:extLst>
      <p:ext uri="{BB962C8B-B14F-4D97-AF65-F5344CB8AC3E}">
        <p14:creationId xmlns:p14="http://schemas.microsoft.com/office/powerpoint/2010/main" val="355349050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a:t>
            </a:r>
            <a:r>
              <a:rPr lang="zh-CN" altLang="en-US" dirty="0"/>
              <a:t>仅查询，必须存在，以配合其他参数一起使用。</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104</a:t>
            </a:fld>
            <a:endParaRPr lang="zh-CN" altLang="en-US"/>
          </a:p>
        </p:txBody>
      </p:sp>
    </p:spTree>
    <p:extLst>
      <p:ext uri="{BB962C8B-B14F-4D97-AF65-F5344CB8AC3E}">
        <p14:creationId xmlns:p14="http://schemas.microsoft.com/office/powerpoint/2010/main" val="120136004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a:t>
            </a:r>
            <a:r>
              <a:rPr lang="zh-CN" altLang="en-US" dirty="0"/>
              <a:t>仅查询，必须存在，以配合其他参数一起使用。</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105</a:t>
            </a:fld>
            <a:endParaRPr lang="zh-CN" altLang="en-US"/>
          </a:p>
        </p:txBody>
      </p:sp>
    </p:spTree>
    <p:extLst>
      <p:ext uri="{BB962C8B-B14F-4D97-AF65-F5344CB8AC3E}">
        <p14:creationId xmlns:p14="http://schemas.microsoft.com/office/powerpoint/2010/main" val="14313776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a:t>
            </a:r>
            <a:r>
              <a:rPr lang="zh-CN" altLang="en-US" dirty="0"/>
              <a:t>仅查询，必须存在，以配合其他参数一起使用。</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106</a:t>
            </a:fld>
            <a:endParaRPr lang="zh-CN" altLang="en-US"/>
          </a:p>
        </p:txBody>
      </p:sp>
    </p:spTree>
    <p:extLst>
      <p:ext uri="{BB962C8B-B14F-4D97-AF65-F5344CB8AC3E}">
        <p14:creationId xmlns:p14="http://schemas.microsoft.com/office/powerpoint/2010/main" val="93516506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2800" dirty="0"/>
              <a:t>查询磁盘上的文件</a:t>
            </a:r>
            <a:r>
              <a:rPr lang="zh-CN" altLang="en-US" sz="2800" dirty="0">
                <a:solidFill>
                  <a:srgbClr val="FF0000"/>
                </a:solidFill>
              </a:rPr>
              <a:t>属于哪一个已安装软件 </a:t>
            </a:r>
            <a:r>
              <a:rPr lang="en-US" altLang="zh-CN" sz="2400" dirty="0">
                <a:solidFill>
                  <a:schemeClr val="accent6">
                    <a:lumMod val="75000"/>
                  </a:schemeClr>
                </a:solidFill>
              </a:rPr>
              <a:t>rpm -</a:t>
            </a:r>
            <a:r>
              <a:rPr lang="en-US" altLang="zh-CN" sz="2400" dirty="0" err="1">
                <a:solidFill>
                  <a:schemeClr val="accent6">
                    <a:lumMod val="75000"/>
                  </a:schemeClr>
                </a:solidFill>
              </a:rPr>
              <a:t>qf</a:t>
            </a:r>
            <a:r>
              <a:rPr lang="en-US" altLang="zh-CN" sz="2400" dirty="0">
                <a:solidFill>
                  <a:schemeClr val="accent6">
                    <a:lumMod val="75000"/>
                  </a:schemeClr>
                </a:solidFill>
              </a:rPr>
              <a:t> &lt;</a:t>
            </a:r>
            <a:r>
              <a:rPr lang="en-US" altLang="zh-CN" sz="2400" dirty="0" err="1">
                <a:solidFill>
                  <a:schemeClr val="accent6">
                    <a:lumMod val="75000"/>
                  </a:schemeClr>
                </a:solidFill>
              </a:rPr>
              <a:t>path_name</a:t>
            </a:r>
            <a:r>
              <a:rPr lang="en-US" altLang="zh-CN" sz="2400" dirty="0">
                <a:solidFill>
                  <a:schemeClr val="accent6">
                    <a:lumMod val="75000"/>
                  </a:schemeClr>
                </a:solidFill>
              </a:rPr>
              <a:t>&gt;</a:t>
            </a:r>
            <a:endParaRPr lang="zh-CN" altLang="en-US" sz="2400" dirty="0">
              <a:solidFill>
                <a:schemeClr val="accent6">
                  <a:lumMod val="75000"/>
                </a:schemeClr>
              </a:solidFill>
            </a:endParaRP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107</a:t>
            </a:fld>
            <a:endParaRPr lang="zh-CN" altLang="en-US"/>
          </a:p>
        </p:txBody>
      </p:sp>
    </p:spTree>
    <p:extLst>
      <p:ext uri="{BB962C8B-B14F-4D97-AF65-F5344CB8AC3E}">
        <p14:creationId xmlns:p14="http://schemas.microsoft.com/office/powerpoint/2010/main" val="341885117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校验的实质是对比软件内的信息与本地</a:t>
            </a:r>
            <a:r>
              <a:rPr lang="en-US" altLang="zh-CN" dirty="0"/>
              <a:t>/var/lib/rpm/</a:t>
            </a:r>
            <a:r>
              <a:rPr lang="zh-CN" altLang="en-US" dirty="0"/>
              <a:t>里面的数据信息，用于了解最近有哪些内容被修改过。</a:t>
            </a:r>
            <a:r>
              <a:rPr lang="en-US" altLang="zh-CN" dirty="0"/>
              <a:t>-</a:t>
            </a:r>
            <a:r>
              <a:rPr lang="en-US" altLang="zh-CN" dirty="0" err="1"/>
              <a:t>Vf</a:t>
            </a:r>
            <a:r>
              <a:rPr lang="zh-CN" altLang="en-US" dirty="0"/>
              <a:t>跟你安装的软件相关的文件。</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108</a:t>
            </a:fld>
            <a:endParaRPr lang="zh-CN" altLang="en-US"/>
          </a:p>
        </p:txBody>
      </p:sp>
    </p:spTree>
    <p:extLst>
      <p:ext uri="{BB962C8B-B14F-4D97-AF65-F5344CB8AC3E}">
        <p14:creationId xmlns:p14="http://schemas.microsoft.com/office/powerpoint/2010/main" val="5715271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110</a:t>
            </a:fld>
            <a:endParaRPr lang="zh-CN" altLang="en-US"/>
          </a:p>
        </p:txBody>
      </p:sp>
    </p:spTree>
    <p:extLst>
      <p:ext uri="{BB962C8B-B14F-4D97-AF65-F5344CB8AC3E}">
        <p14:creationId xmlns:p14="http://schemas.microsoft.com/office/powerpoint/2010/main" val="322555221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dirty="0">
                <a:solidFill>
                  <a:srgbClr val="000000"/>
                </a:solidFill>
                <a:effectLst/>
                <a:latin typeface="新细明体"/>
              </a:rPr>
              <a:t>验证只能验证软件内的信息与 </a:t>
            </a:r>
            <a:r>
              <a:rPr lang="en-US" altLang="zh-CN" sz="1200" b="0" i="0" dirty="0">
                <a:solidFill>
                  <a:srgbClr val="000000"/>
                </a:solidFill>
                <a:effectLst/>
                <a:latin typeface="新细明体"/>
              </a:rPr>
              <a:t>/var/lib/rpm/ </a:t>
            </a:r>
            <a:r>
              <a:rPr lang="zh-CN" altLang="en-US" sz="1200" b="0" i="0" dirty="0">
                <a:solidFill>
                  <a:srgbClr val="000000"/>
                </a:solidFill>
                <a:effectLst/>
                <a:latin typeface="新细明体"/>
              </a:rPr>
              <a:t>里面的数据库信息是否一致而已</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111</a:t>
            </a:fld>
            <a:endParaRPr lang="zh-CN" altLang="en-US"/>
          </a:p>
        </p:txBody>
      </p:sp>
    </p:spTree>
    <p:extLst>
      <p:ext uri="{BB962C8B-B14F-4D97-AF65-F5344CB8AC3E}">
        <p14:creationId xmlns:p14="http://schemas.microsoft.com/office/powerpoint/2010/main" val="45047138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2800" b="0" i="0" dirty="0">
                <a:solidFill>
                  <a:srgbClr val="000000"/>
                </a:solidFill>
                <a:effectLst/>
                <a:latin typeface="新细明体"/>
              </a:rPr>
              <a:t>验证只能验证软件内的资讯与 </a:t>
            </a:r>
            <a:r>
              <a:rPr lang="en-US" altLang="zh-CN" sz="2800" b="0" i="0" dirty="0">
                <a:solidFill>
                  <a:srgbClr val="000000"/>
                </a:solidFill>
                <a:effectLst/>
                <a:latin typeface="新细明体"/>
              </a:rPr>
              <a:t>/var/lib/rpm/ </a:t>
            </a:r>
            <a:r>
              <a:rPr lang="zh-CN" altLang="en-US" sz="2800" b="0" i="0" dirty="0">
                <a:solidFill>
                  <a:srgbClr val="000000"/>
                </a:solidFill>
                <a:effectLst/>
                <a:latin typeface="新细明体"/>
              </a:rPr>
              <a:t>里面的数据库资讯而已，如果该软件文件所提供的数据本身就有问题，那你使用验证的手段也无法确定该软件的正确性啊！ 那如何解决呢？可以通过数字签名来校验有软件的来源。</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112</a:t>
            </a:fld>
            <a:endParaRPr lang="zh-CN" altLang="en-US"/>
          </a:p>
        </p:txBody>
      </p:sp>
    </p:spTree>
    <p:extLst>
      <p:ext uri="{BB962C8B-B14F-4D97-AF65-F5344CB8AC3E}">
        <p14:creationId xmlns:p14="http://schemas.microsoft.com/office/powerpoint/2010/main" val="50730034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113</a:t>
            </a:fld>
            <a:endParaRPr lang="zh-CN" altLang="en-US"/>
          </a:p>
        </p:txBody>
      </p:sp>
    </p:spTree>
    <p:extLst>
      <p:ext uri="{BB962C8B-B14F-4D97-AF65-F5344CB8AC3E}">
        <p14:creationId xmlns:p14="http://schemas.microsoft.com/office/powerpoint/2010/main" val="402189877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AutoNum type="arabicPeriod"/>
            </a:pPr>
            <a:r>
              <a:rPr lang="en-US" altLang="zh-CN" b="0" dirty="0">
                <a:solidFill>
                  <a:srgbClr val="000088"/>
                </a:solidFill>
                <a:effectLst/>
                <a:latin typeface="细明体"/>
              </a:rPr>
              <a:t>rpm -</a:t>
            </a:r>
            <a:r>
              <a:rPr lang="en-US" altLang="zh-CN" b="0" dirty="0" err="1">
                <a:solidFill>
                  <a:srgbClr val="000088"/>
                </a:solidFill>
                <a:effectLst/>
                <a:latin typeface="细明体"/>
              </a:rPr>
              <a:t>qa</a:t>
            </a:r>
            <a:r>
              <a:rPr lang="en-US" altLang="zh-CN" b="0" dirty="0">
                <a:solidFill>
                  <a:srgbClr val="000088"/>
                </a:solidFill>
                <a:effectLst/>
                <a:latin typeface="细明体"/>
              </a:rPr>
              <a:t> | grep ^c | </a:t>
            </a:r>
            <a:r>
              <a:rPr lang="en-US" altLang="zh-CN" b="0" dirty="0" err="1">
                <a:solidFill>
                  <a:srgbClr val="000088"/>
                </a:solidFill>
                <a:effectLst/>
                <a:latin typeface="细明体"/>
              </a:rPr>
              <a:t>wc</a:t>
            </a:r>
            <a:r>
              <a:rPr lang="en-US" altLang="zh-CN" b="0" dirty="0">
                <a:solidFill>
                  <a:srgbClr val="000088"/>
                </a:solidFill>
                <a:effectLst/>
                <a:latin typeface="细明体"/>
              </a:rPr>
              <a:t> -l</a:t>
            </a:r>
          </a:p>
          <a:p>
            <a:pPr algn="l">
              <a:buFont typeface="+mj-lt"/>
              <a:buAutoNum type="arabicPeriod"/>
            </a:pPr>
            <a:r>
              <a:rPr lang="zh-CN" altLang="en-US" b="0" dirty="0">
                <a:solidFill>
                  <a:srgbClr val="000088"/>
                </a:solidFill>
                <a:effectLst/>
                <a:latin typeface="细明体"/>
              </a:rPr>
              <a:t>假设该软件在网络上的网址为：</a:t>
            </a:r>
            <a:br>
              <a:rPr lang="zh-CN" altLang="en-US" b="0" dirty="0">
                <a:solidFill>
                  <a:srgbClr val="000088"/>
                </a:solidFill>
                <a:effectLst/>
                <a:latin typeface="细明体"/>
              </a:rPr>
            </a:br>
            <a:r>
              <a:rPr lang="en-US" altLang="zh-CN" b="0" dirty="0">
                <a:solidFill>
                  <a:srgbClr val="000088"/>
                </a:solidFill>
                <a:effectLst/>
                <a:latin typeface="细明体"/>
              </a:rPr>
              <a:t>http://web.site.name/path/httpd-x.x.xx.i386.rpm</a:t>
            </a:r>
            <a:br>
              <a:rPr lang="en-US" altLang="zh-CN" b="0" dirty="0">
                <a:solidFill>
                  <a:srgbClr val="000088"/>
                </a:solidFill>
                <a:effectLst/>
                <a:latin typeface="细明体"/>
              </a:rPr>
            </a:br>
            <a:r>
              <a:rPr lang="zh-CN" altLang="en-US" b="0" dirty="0">
                <a:solidFill>
                  <a:srgbClr val="000088"/>
                </a:solidFill>
                <a:effectLst/>
                <a:latin typeface="细明体"/>
              </a:rPr>
              <a:t>则我可以这样做：</a:t>
            </a:r>
            <a:br>
              <a:rPr lang="zh-CN" altLang="en-US" b="0" dirty="0">
                <a:solidFill>
                  <a:srgbClr val="000088"/>
                </a:solidFill>
                <a:effectLst/>
                <a:latin typeface="细明体"/>
              </a:rPr>
            </a:br>
            <a:r>
              <a:rPr lang="en-US" altLang="zh-CN" b="0" dirty="0">
                <a:solidFill>
                  <a:srgbClr val="000088"/>
                </a:solidFill>
                <a:effectLst/>
                <a:latin typeface="细明体"/>
              </a:rPr>
              <a:t>rpm -</a:t>
            </a:r>
            <a:r>
              <a:rPr lang="en-US" altLang="zh-CN" b="0" dirty="0" err="1">
                <a:solidFill>
                  <a:srgbClr val="000088"/>
                </a:solidFill>
                <a:effectLst/>
                <a:latin typeface="细明体"/>
              </a:rPr>
              <a:t>ivh</a:t>
            </a:r>
            <a:r>
              <a:rPr lang="en-US" altLang="zh-CN" b="0" dirty="0">
                <a:solidFill>
                  <a:srgbClr val="000088"/>
                </a:solidFill>
                <a:effectLst/>
                <a:latin typeface="细明体"/>
              </a:rPr>
              <a:t> http://web.site.name/path/httpd-x.x.xx.i386.rpm --</a:t>
            </a:r>
            <a:r>
              <a:rPr lang="en-US" altLang="zh-CN" b="0" dirty="0" err="1">
                <a:solidFill>
                  <a:srgbClr val="000088"/>
                </a:solidFill>
                <a:effectLst/>
                <a:latin typeface="细明体"/>
              </a:rPr>
              <a:t>replacepkgs</a:t>
            </a:r>
            <a:endParaRPr lang="en-US" altLang="zh-CN" b="0" dirty="0">
              <a:solidFill>
                <a:srgbClr val="000088"/>
              </a:solidFill>
              <a:effectLst/>
              <a:latin typeface="细明体"/>
            </a:endParaRPr>
          </a:p>
          <a:p>
            <a:pPr algn="l">
              <a:buFont typeface="+mj-lt"/>
              <a:buAutoNum type="arabicPeriod"/>
            </a:pPr>
            <a:r>
              <a:rPr lang="zh-CN" altLang="en-US" b="0" dirty="0">
                <a:solidFill>
                  <a:srgbClr val="000088"/>
                </a:solidFill>
                <a:effectLst/>
                <a:latin typeface="细明体"/>
              </a:rPr>
              <a:t>虽然已经没有这个文件了，不过没有关系，因为 </a:t>
            </a:r>
            <a:r>
              <a:rPr lang="en-US" altLang="zh-CN" b="0" dirty="0">
                <a:solidFill>
                  <a:srgbClr val="000088"/>
                </a:solidFill>
                <a:effectLst/>
                <a:latin typeface="细明体"/>
              </a:rPr>
              <a:t>RPM </a:t>
            </a:r>
            <a:r>
              <a:rPr lang="zh-CN" altLang="en-US" b="0" dirty="0">
                <a:solidFill>
                  <a:srgbClr val="000088"/>
                </a:solidFill>
                <a:effectLst/>
                <a:latin typeface="细明体"/>
              </a:rPr>
              <a:t>有记录在 </a:t>
            </a:r>
            <a:r>
              <a:rPr lang="en-US" altLang="zh-CN" b="0" dirty="0">
                <a:solidFill>
                  <a:srgbClr val="000088"/>
                </a:solidFill>
                <a:effectLst/>
                <a:latin typeface="细明体"/>
              </a:rPr>
              <a:t>/var/lib/rpm </a:t>
            </a:r>
            <a:r>
              <a:rPr lang="zh-CN" altLang="en-US" b="0" dirty="0">
                <a:solidFill>
                  <a:srgbClr val="000088"/>
                </a:solidFill>
                <a:effectLst/>
                <a:latin typeface="细明体"/>
              </a:rPr>
              <a:t>当中的数据库啊！所以直接下达：</a:t>
            </a:r>
            <a:br>
              <a:rPr lang="zh-CN" altLang="en-US" b="0" dirty="0">
                <a:solidFill>
                  <a:srgbClr val="000088"/>
                </a:solidFill>
                <a:effectLst/>
                <a:latin typeface="细明体"/>
              </a:rPr>
            </a:br>
            <a:r>
              <a:rPr lang="en-US" altLang="zh-CN" b="0" dirty="0">
                <a:solidFill>
                  <a:srgbClr val="000088"/>
                </a:solidFill>
                <a:effectLst/>
                <a:latin typeface="细明体"/>
              </a:rPr>
              <a:t>rpm -</a:t>
            </a:r>
            <a:r>
              <a:rPr lang="en-US" altLang="zh-CN" b="0" dirty="0" err="1">
                <a:solidFill>
                  <a:srgbClr val="000088"/>
                </a:solidFill>
                <a:effectLst/>
                <a:latin typeface="细明体"/>
              </a:rPr>
              <a:t>qf</a:t>
            </a:r>
            <a:r>
              <a:rPr lang="en-US" altLang="zh-CN" b="0" dirty="0">
                <a:solidFill>
                  <a:srgbClr val="000088"/>
                </a:solidFill>
                <a:effectLst/>
                <a:latin typeface="细明体"/>
              </a:rPr>
              <a:t> /etc/crontab</a:t>
            </a:r>
            <a:br>
              <a:rPr lang="en-US" altLang="zh-CN" b="0" dirty="0">
                <a:solidFill>
                  <a:srgbClr val="000088"/>
                </a:solidFill>
                <a:effectLst/>
                <a:latin typeface="细明体"/>
              </a:rPr>
            </a:br>
            <a:r>
              <a:rPr lang="zh-CN" altLang="en-US" b="0" dirty="0">
                <a:solidFill>
                  <a:srgbClr val="000088"/>
                </a:solidFill>
                <a:effectLst/>
                <a:latin typeface="细明体"/>
              </a:rPr>
              <a:t>就可以知道是那个软件罗！重新安装一次该软件即可！</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114</a:t>
            </a:fld>
            <a:endParaRPr lang="zh-CN" altLang="en-US"/>
          </a:p>
        </p:txBody>
      </p:sp>
    </p:spTree>
    <p:extLst>
      <p:ext uri="{BB962C8B-B14F-4D97-AF65-F5344CB8AC3E}">
        <p14:creationId xmlns:p14="http://schemas.microsoft.com/office/powerpoint/2010/main" val="417408967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http://linuxtoy.org/archives/linux-package-management-cheatsheet.html</a:t>
            </a:r>
          </a:p>
          <a:p>
            <a:endParaRPr lang="en-US" altLang="zh-CN" dirty="0"/>
          </a:p>
          <a:p>
            <a:r>
              <a:rPr lang="en-US" altLang="zh-CN" dirty="0"/>
              <a:t>http://en.wikipedia.org/wiki/Package_manager</a:t>
            </a:r>
          </a:p>
          <a:p>
            <a:r>
              <a:rPr lang="en-US" altLang="zh-CN" dirty="0"/>
              <a:t>http://en.wikipedia.org/wiki/Linux_package_formats</a:t>
            </a:r>
          </a:p>
          <a:p>
            <a:r>
              <a:rPr lang="en-US" altLang="zh-CN" dirty="0"/>
              <a:t>http://en.wikipedia.org/wiki/List_of_software_package_management_systems</a:t>
            </a:r>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116</a:t>
            </a:fld>
            <a:endParaRPr lang="zh-CN" altLang="en-US"/>
          </a:p>
        </p:txBody>
      </p:sp>
    </p:spTree>
    <p:extLst>
      <p:ext uri="{BB962C8B-B14F-4D97-AF65-F5344CB8AC3E}">
        <p14:creationId xmlns:p14="http://schemas.microsoft.com/office/powerpoint/2010/main" val="117134478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119</a:t>
            </a:fld>
            <a:endParaRPr lang="zh-CN" altLang="en-US"/>
          </a:p>
        </p:txBody>
      </p:sp>
    </p:spTree>
    <p:extLst>
      <p:ext uri="{BB962C8B-B14F-4D97-AF65-F5344CB8AC3E}">
        <p14:creationId xmlns:p14="http://schemas.microsoft.com/office/powerpoint/2010/main" val="149014226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120</a:t>
            </a:fld>
            <a:endParaRPr lang="zh-CN" altLang="en-US"/>
          </a:p>
        </p:txBody>
      </p:sp>
    </p:spTree>
    <p:extLst>
      <p:ext uri="{BB962C8B-B14F-4D97-AF65-F5344CB8AC3E}">
        <p14:creationId xmlns:p14="http://schemas.microsoft.com/office/powerpoint/2010/main" val="7832996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P135</a:t>
            </a:r>
            <a:r>
              <a:rPr lang="zh-CN" altLang="en-US" dirty="0"/>
              <a:t>表格</a:t>
            </a:r>
            <a:r>
              <a:rPr lang="en-US" altLang="zh-CN" dirty="0"/>
              <a:t>5-11 group</a:t>
            </a:r>
            <a:r>
              <a:rPr lang="zh-CN" altLang="en-US" dirty="0"/>
              <a:t>指定软件组</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123</a:t>
            </a:fld>
            <a:endParaRPr lang="zh-CN" altLang="en-US"/>
          </a:p>
        </p:txBody>
      </p:sp>
    </p:spTree>
    <p:extLst>
      <p:ext uri="{BB962C8B-B14F-4D97-AF65-F5344CB8AC3E}">
        <p14:creationId xmlns:p14="http://schemas.microsoft.com/office/powerpoint/2010/main" val="187515848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124</a:t>
            </a:fld>
            <a:endParaRPr lang="zh-CN" altLang="en-US"/>
          </a:p>
        </p:txBody>
      </p:sp>
    </p:spTree>
    <p:extLst>
      <p:ext uri="{BB962C8B-B14F-4D97-AF65-F5344CB8AC3E}">
        <p14:creationId xmlns:p14="http://schemas.microsoft.com/office/powerpoint/2010/main" val="2759953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125</a:t>
            </a:fld>
            <a:endParaRPr lang="zh-CN" altLang="en-US"/>
          </a:p>
        </p:txBody>
      </p:sp>
    </p:spTree>
    <p:extLst>
      <p:ext uri="{BB962C8B-B14F-4D97-AF65-F5344CB8AC3E}">
        <p14:creationId xmlns:p14="http://schemas.microsoft.com/office/powerpoint/2010/main" val="415217809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126</a:t>
            </a:fld>
            <a:endParaRPr lang="zh-CN" altLang="en-US"/>
          </a:p>
        </p:txBody>
      </p:sp>
    </p:spTree>
    <p:extLst>
      <p:ext uri="{BB962C8B-B14F-4D97-AF65-F5344CB8AC3E}">
        <p14:creationId xmlns:p14="http://schemas.microsoft.com/office/powerpoint/2010/main" val="303515885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127</a:t>
            </a:fld>
            <a:endParaRPr lang="zh-CN" altLang="en-US"/>
          </a:p>
        </p:txBody>
      </p:sp>
    </p:spTree>
    <p:extLst>
      <p:ext uri="{BB962C8B-B14F-4D97-AF65-F5344CB8AC3E}">
        <p14:creationId xmlns:p14="http://schemas.microsoft.com/office/powerpoint/2010/main" val="131642393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P136 </a:t>
            </a:r>
            <a:r>
              <a:rPr lang="zh-CN" altLang="en-US" dirty="0"/>
              <a:t>操作步骤</a:t>
            </a:r>
            <a:r>
              <a:rPr lang="en-US" altLang="zh-CN" dirty="0"/>
              <a:t>5.7</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128</a:t>
            </a:fld>
            <a:endParaRPr lang="zh-CN" altLang="en-US"/>
          </a:p>
        </p:txBody>
      </p:sp>
    </p:spTree>
    <p:extLst>
      <p:ext uri="{BB962C8B-B14F-4D97-AF65-F5344CB8AC3E}">
        <p14:creationId xmlns:p14="http://schemas.microsoft.com/office/powerpoint/2010/main" val="126702228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仓库配置文件</a:t>
            </a:r>
            <a:r>
              <a:rPr lang="en-US" altLang="zh-CN" dirty="0"/>
              <a:t>/etc/</a:t>
            </a:r>
            <a:r>
              <a:rPr lang="en-US" altLang="zh-CN" dirty="0" err="1"/>
              <a:t>yum.repos.d</a:t>
            </a:r>
            <a:r>
              <a:rPr lang="en-US" altLang="zh-CN" dirty="0"/>
              <a:t>/</a:t>
            </a:r>
            <a:r>
              <a:rPr lang="en-US" altLang="zh-CN" b="1" dirty="0"/>
              <a:t>*</a:t>
            </a:r>
            <a:r>
              <a:rPr lang="en-US" altLang="zh-CN" dirty="0"/>
              <a:t>.repo yum</a:t>
            </a:r>
            <a:r>
              <a:rPr lang="zh-CN" altLang="en-US" dirty="0"/>
              <a:t>使用仓库配置文件配置仓库的镜像站点地址等配置信息。</a:t>
            </a:r>
            <a:r>
              <a:rPr lang="en-US" altLang="zh-CN" dirty="0"/>
              <a:t>Centos</a:t>
            </a:r>
            <a:r>
              <a:rPr lang="zh-CN" altLang="en-US" dirty="0"/>
              <a:t>在</a:t>
            </a:r>
            <a:r>
              <a:rPr lang="en-US" altLang="zh-CN" dirty="0"/>
              <a:t>/etc/</a:t>
            </a:r>
            <a:r>
              <a:rPr lang="en-US" altLang="zh-CN" dirty="0" err="1"/>
              <a:t>yum.repos.d</a:t>
            </a:r>
            <a:r>
              <a:rPr lang="en-US" altLang="zh-CN" dirty="0"/>
              <a:t>/</a:t>
            </a:r>
            <a:r>
              <a:rPr lang="zh-CN" altLang="en-US" dirty="0"/>
              <a:t>目录下包含</a:t>
            </a:r>
            <a:r>
              <a:rPr lang="en-US" altLang="zh-CN" dirty="0"/>
              <a:t>6</a:t>
            </a:r>
            <a:r>
              <a:rPr lang="zh-CN" altLang="en-US" dirty="0"/>
              <a:t>个配置文件，主要仓库配置文件是开启的，其余默认都未被启用。所有配置文件的语法相同，采用分段形式，每一段配置一个软件仓库。</a:t>
            </a:r>
            <a:r>
              <a:rPr lang="en-US" altLang="zh-CN" dirty="0"/>
              <a:t>P138</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130</a:t>
            </a:fld>
            <a:endParaRPr lang="zh-CN" altLang="en-US"/>
          </a:p>
        </p:txBody>
      </p:sp>
    </p:spTree>
    <p:extLst>
      <p:ext uri="{BB962C8B-B14F-4D97-AF65-F5344CB8AC3E}">
        <p14:creationId xmlns:p14="http://schemas.microsoft.com/office/powerpoint/2010/main" val="147259108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仓库配置文件</a:t>
            </a:r>
            <a:r>
              <a:rPr lang="en-US" altLang="zh-CN" dirty="0"/>
              <a:t>/etc/</a:t>
            </a:r>
            <a:r>
              <a:rPr lang="en-US" altLang="zh-CN" dirty="0" err="1"/>
              <a:t>yum.repos.d</a:t>
            </a:r>
            <a:r>
              <a:rPr lang="en-US" altLang="zh-CN" dirty="0"/>
              <a:t>/</a:t>
            </a:r>
            <a:r>
              <a:rPr lang="en-US" altLang="zh-CN" b="1" dirty="0"/>
              <a:t>*</a:t>
            </a:r>
            <a:r>
              <a:rPr lang="en-US" altLang="zh-CN" dirty="0"/>
              <a:t>.repo yum</a:t>
            </a:r>
            <a:r>
              <a:rPr lang="zh-CN" altLang="en-US" dirty="0"/>
              <a:t>使用仓库配置文件配置仓库的镜像站点地址等配置信息。</a:t>
            </a:r>
            <a:r>
              <a:rPr lang="en-US" altLang="zh-CN" dirty="0"/>
              <a:t>Centos</a:t>
            </a:r>
            <a:r>
              <a:rPr lang="zh-CN" altLang="en-US" dirty="0"/>
              <a:t>在</a:t>
            </a:r>
            <a:r>
              <a:rPr lang="en-US" altLang="zh-CN" dirty="0"/>
              <a:t>/etc/</a:t>
            </a:r>
            <a:r>
              <a:rPr lang="en-US" altLang="zh-CN" dirty="0" err="1"/>
              <a:t>yum.repos.d</a:t>
            </a:r>
            <a:r>
              <a:rPr lang="en-US" altLang="zh-CN" dirty="0"/>
              <a:t>/</a:t>
            </a:r>
            <a:r>
              <a:rPr lang="zh-CN" altLang="en-US" dirty="0"/>
              <a:t>目录下包含</a:t>
            </a:r>
            <a:r>
              <a:rPr lang="en-US" altLang="zh-CN" dirty="0"/>
              <a:t>6</a:t>
            </a:r>
            <a:r>
              <a:rPr lang="zh-CN" altLang="en-US" dirty="0"/>
              <a:t>个配置文件，主要仓库配置文件是开启的，其余默认都未被启用。所有配置文件的语法相同，采用分段形式，每一段配置一个软件仓库。</a:t>
            </a:r>
            <a:r>
              <a:rPr lang="en-US" altLang="zh-CN" dirty="0"/>
              <a:t>P138</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131</a:t>
            </a:fld>
            <a:endParaRPr lang="zh-CN" altLang="en-US"/>
          </a:p>
        </p:txBody>
      </p:sp>
    </p:spTree>
    <p:extLst>
      <p:ext uri="{BB962C8B-B14F-4D97-AF65-F5344CB8AC3E}">
        <p14:creationId xmlns:p14="http://schemas.microsoft.com/office/powerpoint/2010/main" val="393092388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Centos</a:t>
            </a:r>
            <a:r>
              <a:rPr lang="zh-CN" altLang="en-US" dirty="0"/>
              <a:t>在</a:t>
            </a:r>
            <a:r>
              <a:rPr lang="en-US" altLang="zh-CN" dirty="0"/>
              <a:t>/etc/</a:t>
            </a:r>
            <a:r>
              <a:rPr lang="en-US" altLang="zh-CN" dirty="0" err="1"/>
              <a:t>yum.repos.d</a:t>
            </a:r>
            <a:r>
              <a:rPr lang="en-US" altLang="zh-CN" dirty="0"/>
              <a:t>/</a:t>
            </a:r>
            <a:r>
              <a:rPr lang="zh-CN" altLang="en-US" dirty="0"/>
              <a:t>目录下包含</a:t>
            </a:r>
            <a:r>
              <a:rPr lang="en-US" altLang="zh-CN" dirty="0"/>
              <a:t>6</a:t>
            </a:r>
            <a:r>
              <a:rPr lang="zh-CN" altLang="en-US" dirty="0"/>
              <a:t>个配置文件，配置文件名以</a:t>
            </a:r>
            <a:r>
              <a:rPr lang="en-US" altLang="zh-CN" dirty="0"/>
              <a:t>.repo</a:t>
            </a:r>
            <a:r>
              <a:rPr lang="zh-CN" altLang="en-US" dirty="0"/>
              <a:t>结尾，主要仓库配置文件名字为</a:t>
            </a:r>
            <a:r>
              <a:rPr lang="en-US" altLang="zh-CN" dirty="0"/>
              <a:t>CentOS-</a:t>
            </a:r>
            <a:r>
              <a:rPr lang="en-US" altLang="zh-CN" dirty="0" err="1"/>
              <a:t>Base.repo</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132</a:t>
            </a:fld>
            <a:endParaRPr lang="zh-CN" altLang="en-US"/>
          </a:p>
        </p:txBody>
      </p:sp>
    </p:spTree>
    <p:extLst>
      <p:ext uri="{BB962C8B-B14F-4D97-AF65-F5344CB8AC3E}">
        <p14:creationId xmlns:p14="http://schemas.microsoft.com/office/powerpoint/2010/main" val="328207591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Centos</a:t>
            </a:r>
            <a:r>
              <a:rPr lang="zh-CN" altLang="en-US" dirty="0"/>
              <a:t>在</a:t>
            </a:r>
            <a:r>
              <a:rPr lang="en-US" altLang="zh-CN" dirty="0"/>
              <a:t>/etc/</a:t>
            </a:r>
            <a:r>
              <a:rPr lang="en-US" altLang="zh-CN" dirty="0" err="1"/>
              <a:t>yum.repos.d</a:t>
            </a:r>
            <a:r>
              <a:rPr lang="en-US" altLang="zh-CN" dirty="0"/>
              <a:t>/</a:t>
            </a:r>
            <a:r>
              <a:rPr lang="zh-CN" altLang="en-US" dirty="0"/>
              <a:t>目录下包含</a:t>
            </a:r>
            <a:r>
              <a:rPr lang="en-US" altLang="zh-CN" dirty="0"/>
              <a:t>6</a:t>
            </a:r>
            <a:r>
              <a:rPr lang="zh-CN" altLang="en-US" dirty="0"/>
              <a:t>个配置文件，配置文件名以</a:t>
            </a:r>
            <a:r>
              <a:rPr lang="en-US" altLang="zh-CN" dirty="0"/>
              <a:t>.repo</a:t>
            </a:r>
            <a:r>
              <a:rPr lang="zh-CN" altLang="en-US" dirty="0"/>
              <a:t>结尾，主要仓库配置文件名字为</a:t>
            </a:r>
            <a:r>
              <a:rPr lang="en-US" altLang="zh-CN" dirty="0"/>
              <a:t>CentOS-</a:t>
            </a:r>
            <a:r>
              <a:rPr lang="en-US" altLang="zh-CN" dirty="0" err="1"/>
              <a:t>Base.repo</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133</a:t>
            </a:fld>
            <a:endParaRPr lang="zh-CN" altLang="en-US"/>
          </a:p>
        </p:txBody>
      </p:sp>
    </p:spTree>
    <p:extLst>
      <p:ext uri="{BB962C8B-B14F-4D97-AF65-F5344CB8AC3E}">
        <p14:creationId xmlns:p14="http://schemas.microsoft.com/office/powerpoint/2010/main" val="144153474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P139</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134</a:t>
            </a:fld>
            <a:endParaRPr lang="zh-CN" altLang="en-US"/>
          </a:p>
        </p:txBody>
      </p:sp>
    </p:spTree>
    <p:extLst>
      <p:ext uri="{BB962C8B-B14F-4D97-AF65-F5344CB8AC3E}">
        <p14:creationId xmlns:p14="http://schemas.microsoft.com/office/powerpoint/2010/main" val="244777614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p141</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136</a:t>
            </a:fld>
            <a:endParaRPr lang="zh-CN" altLang="en-US"/>
          </a:p>
        </p:txBody>
      </p:sp>
    </p:spTree>
    <p:extLst>
      <p:ext uri="{BB962C8B-B14F-4D97-AF65-F5344CB8AC3E}">
        <p14:creationId xmlns:p14="http://schemas.microsoft.com/office/powerpoint/2010/main" val="16089498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140</a:t>
            </a:fld>
            <a:endParaRPr lang="zh-CN" altLang="en-US"/>
          </a:p>
        </p:txBody>
      </p:sp>
    </p:spTree>
    <p:extLst>
      <p:ext uri="{BB962C8B-B14F-4D97-AF65-F5344CB8AC3E}">
        <p14:creationId xmlns:p14="http://schemas.microsoft.com/office/powerpoint/2010/main" val="19872645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9E5D9F43-DF7E-45C4-8526-53CE0FAE1D4A}"/>
              </a:ext>
            </a:extLst>
          </p:cNvPr>
          <p:cNvGrpSpPr>
            <a:grpSpLocks/>
          </p:cNvGrpSpPr>
          <p:nvPr/>
        </p:nvGrpSpPr>
        <p:grpSpPr bwMode="auto">
          <a:xfrm>
            <a:off x="0" y="2348880"/>
            <a:ext cx="9009063" cy="1052513"/>
            <a:chOff x="0" y="0"/>
            <a:chExt cx="5675" cy="663"/>
          </a:xfrm>
        </p:grpSpPr>
        <p:grpSp>
          <p:nvGrpSpPr>
            <p:cNvPr id="5" name="Group 3">
              <a:extLst>
                <a:ext uri="{FF2B5EF4-FFF2-40B4-BE49-F238E27FC236}">
                  <a16:creationId xmlns:a16="http://schemas.microsoft.com/office/drawing/2014/main" id="{28D6124B-C8F5-43F5-B8AF-02DC451880EB}"/>
                </a:ext>
              </a:extLst>
            </p:cNvPr>
            <p:cNvGrpSpPr>
              <a:grpSpLocks/>
            </p:cNvGrpSpPr>
            <p:nvPr/>
          </p:nvGrpSpPr>
          <p:grpSpPr bwMode="auto">
            <a:xfrm>
              <a:off x="183" y="68"/>
              <a:ext cx="448" cy="299"/>
              <a:chOff x="0" y="0"/>
              <a:chExt cx="624" cy="432"/>
            </a:xfrm>
          </p:grpSpPr>
          <p:sp>
            <p:nvSpPr>
              <p:cNvPr id="12" name="Rectangle 4">
                <a:extLst>
                  <a:ext uri="{FF2B5EF4-FFF2-40B4-BE49-F238E27FC236}">
                    <a16:creationId xmlns:a16="http://schemas.microsoft.com/office/drawing/2014/main" id="{BFC6FC0B-4300-43ED-BD88-44C8FACBE3F2}"/>
                  </a:ext>
                </a:extLst>
              </p:cNvPr>
              <p:cNvSpPr>
                <a:spLocks noChangeArrowheads="1"/>
              </p:cNvSpPr>
              <p:nvPr/>
            </p:nvSpPr>
            <p:spPr bwMode="auto">
              <a:xfrm>
                <a:off x="0" y="0"/>
                <a:ext cx="384" cy="432"/>
              </a:xfrm>
              <a:prstGeom prst="rect">
                <a:avLst/>
              </a:prstGeom>
              <a:solidFill>
                <a:schemeClr val="folHlink"/>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3" name="Rectangle 5">
                <a:extLst>
                  <a:ext uri="{FF2B5EF4-FFF2-40B4-BE49-F238E27FC236}">
                    <a16:creationId xmlns:a16="http://schemas.microsoft.com/office/drawing/2014/main" id="{F2FBD9CD-18C4-4DDE-BF26-61D9AD951893}"/>
                  </a:ext>
                </a:extLst>
              </p:cNvPr>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grpSp>
          <p:nvGrpSpPr>
            <p:cNvPr id="6" name="Group 6">
              <a:extLst>
                <a:ext uri="{FF2B5EF4-FFF2-40B4-BE49-F238E27FC236}">
                  <a16:creationId xmlns:a16="http://schemas.microsoft.com/office/drawing/2014/main" id="{6FA1DA9F-5495-4E26-B63E-B4B4E39F590F}"/>
                </a:ext>
              </a:extLst>
            </p:cNvPr>
            <p:cNvGrpSpPr>
              <a:grpSpLocks/>
            </p:cNvGrpSpPr>
            <p:nvPr/>
          </p:nvGrpSpPr>
          <p:grpSpPr bwMode="auto">
            <a:xfrm>
              <a:off x="261" y="334"/>
              <a:ext cx="465" cy="299"/>
              <a:chOff x="0" y="0"/>
              <a:chExt cx="672" cy="432"/>
            </a:xfrm>
          </p:grpSpPr>
          <p:sp>
            <p:nvSpPr>
              <p:cNvPr id="10" name="Rectangle 7">
                <a:extLst>
                  <a:ext uri="{FF2B5EF4-FFF2-40B4-BE49-F238E27FC236}">
                    <a16:creationId xmlns:a16="http://schemas.microsoft.com/office/drawing/2014/main" id="{67C86019-5130-4E45-893E-F9EFE4FD3A9F}"/>
                  </a:ext>
                </a:extLst>
              </p:cNvPr>
              <p:cNvSpPr>
                <a:spLocks noChangeArrowheads="1"/>
              </p:cNvSpPr>
              <p:nvPr/>
            </p:nvSpPr>
            <p:spPr bwMode="auto">
              <a:xfrm>
                <a:off x="0" y="0"/>
                <a:ext cx="384" cy="432"/>
              </a:xfrm>
              <a:prstGeom prst="rect">
                <a:avLst/>
              </a:prstGeom>
              <a:solidFill>
                <a:schemeClr val="accent2"/>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 name="Rectangle 8">
                <a:extLst>
                  <a:ext uri="{FF2B5EF4-FFF2-40B4-BE49-F238E27FC236}">
                    <a16:creationId xmlns:a16="http://schemas.microsoft.com/office/drawing/2014/main" id="{86D58052-571E-4997-BBB1-AAF56D725BE9}"/>
                  </a:ext>
                </a:extLst>
              </p:cNvPr>
              <p:cNvSpPr>
                <a:spLocks noChangeArrowheads="1"/>
              </p:cNvSpPr>
              <p:nvPr/>
            </p:nvSpPr>
            <p:spPr bwMode="auto">
              <a:xfrm>
                <a:off x="337" y="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7" name="Rectangle 9">
              <a:extLst>
                <a:ext uri="{FF2B5EF4-FFF2-40B4-BE49-F238E27FC236}">
                  <a16:creationId xmlns:a16="http://schemas.microsoft.com/office/drawing/2014/main" id="{4CA959EB-FFBF-490C-836E-1272CF1BAA7F}"/>
                </a:ext>
              </a:extLst>
            </p:cNvPr>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 name="Rectangle 10">
              <a:extLst>
                <a:ext uri="{FF2B5EF4-FFF2-40B4-BE49-F238E27FC236}">
                  <a16:creationId xmlns:a16="http://schemas.microsoft.com/office/drawing/2014/main" id="{27FCA811-5F92-4F55-A8FF-4C5C82273A32}"/>
                </a:ext>
              </a:extLst>
            </p:cNvPr>
            <p:cNvSpPr>
              <a:spLocks noChangeArrowheads="1"/>
            </p:cNvSpPr>
            <p:nvPr/>
          </p:nvSpPr>
          <p:spPr bwMode="auto">
            <a:xfrm>
              <a:off x="400" y="0"/>
              <a:ext cx="20" cy="663"/>
            </a:xfrm>
            <a:prstGeom prst="rect">
              <a:avLst/>
            </a:prstGeom>
            <a:solidFill>
              <a:schemeClr val="bg2"/>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 name="Rectangle 11">
              <a:extLst>
                <a:ext uri="{FF2B5EF4-FFF2-40B4-BE49-F238E27FC236}">
                  <a16:creationId xmlns:a16="http://schemas.microsoft.com/office/drawing/2014/main" id="{4D231D0D-BC89-4928-B160-3666F4F3CE3D}"/>
                </a:ext>
              </a:extLst>
            </p:cNvPr>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pic>
        <p:nvPicPr>
          <p:cNvPr id="14" name="图片 23">
            <a:extLst>
              <a:ext uri="{FF2B5EF4-FFF2-40B4-BE49-F238E27FC236}">
                <a16:creationId xmlns:a16="http://schemas.microsoft.com/office/drawing/2014/main" id="{D5A3B365-2A81-401E-8C6C-CBB03DA602A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500" y="114300"/>
            <a:ext cx="3235325" cy="198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0" descr="C:\Users\osmond\Desktop\centos5-fig\centos-logo.png">
            <a:extLst>
              <a:ext uri="{FF2B5EF4-FFF2-40B4-BE49-F238E27FC236}">
                <a16:creationId xmlns:a16="http://schemas.microsoft.com/office/drawing/2014/main" id="{CD076D5A-2FBA-4E69-AA3D-8AF6BEDDAE6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088188" y="754063"/>
            <a:ext cx="158432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3">
            <a:extLst>
              <a:ext uri="{FF2B5EF4-FFF2-40B4-BE49-F238E27FC236}">
                <a16:creationId xmlns:a16="http://schemas.microsoft.com/office/drawing/2014/main" id="{8D1B0D6A-BFD6-4234-AD9A-3614FE3D86C2}"/>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l="82329" t="2643" b="89954"/>
          <a:stretch>
            <a:fillRect/>
          </a:stretch>
        </p:blipFill>
        <p:spPr bwMode="auto">
          <a:xfrm>
            <a:off x="6729413" y="415925"/>
            <a:ext cx="23907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本框 16">
            <a:extLst>
              <a:ext uri="{FF2B5EF4-FFF2-40B4-BE49-F238E27FC236}">
                <a16:creationId xmlns:a16="http://schemas.microsoft.com/office/drawing/2014/main" id="{9E0A2116-C459-4DE2-9EAF-104A5515AF32}"/>
              </a:ext>
            </a:extLst>
          </p:cNvPr>
          <p:cNvSpPr txBox="1">
            <a:spLocks noChangeArrowheads="1"/>
          </p:cNvSpPr>
          <p:nvPr userDrawn="1"/>
        </p:nvSpPr>
        <p:spPr bwMode="auto">
          <a:xfrm>
            <a:off x="6767513" y="341313"/>
            <a:ext cx="1949450" cy="369887"/>
          </a:xfrm>
          <a:prstGeom prst="rect">
            <a:avLst/>
          </a:prstGeom>
          <a:solidFill>
            <a:schemeClr val="bg1"/>
          </a:solidFill>
          <a:ln>
            <a:no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lang="zh-CN" altLang="en-US">
                <a:latin typeface="华文行楷" panose="02010800040101010101" pitchFamily="2" charset="-122"/>
                <a:ea typeface="华文行楷" panose="02010800040101010101" pitchFamily="2" charset="-122"/>
              </a:rPr>
              <a:t>               大数据</a:t>
            </a:r>
            <a:r>
              <a:rPr lang="zh-CN" altLang="en-US" sz="900">
                <a:latin typeface="仿宋" panose="02010609060101010101" pitchFamily="49" charset="-122"/>
                <a:ea typeface="仿宋" panose="02010609060101010101" pitchFamily="49" charset="-122"/>
              </a:rPr>
              <a:t>学院</a:t>
            </a:r>
          </a:p>
        </p:txBody>
      </p:sp>
      <p:sp>
        <p:nvSpPr>
          <p:cNvPr id="18" name="Text Box 12">
            <a:extLst>
              <a:ext uri="{FF2B5EF4-FFF2-40B4-BE49-F238E27FC236}">
                <a16:creationId xmlns:a16="http://schemas.microsoft.com/office/drawing/2014/main" id="{58D2EFDF-B9F1-4C80-BD8F-71E748DF65C2}"/>
              </a:ext>
            </a:extLst>
          </p:cNvPr>
          <p:cNvSpPr txBox="1">
            <a:spLocks noChangeArrowheads="1"/>
          </p:cNvSpPr>
          <p:nvPr userDrawn="1"/>
        </p:nvSpPr>
        <p:spPr bwMode="auto">
          <a:xfrm>
            <a:off x="6659563" y="288925"/>
            <a:ext cx="1463675" cy="461963"/>
          </a:xfrm>
          <a:prstGeom prst="rect">
            <a:avLst/>
          </a:prstGeom>
          <a:noFill/>
          <a:ln>
            <a:noFill/>
          </a:ln>
        </p:spPr>
        <p:txBody>
          <a:bodyPr lIns="91433" tIns="45717" rIns="91433" bIns="45717">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defRPr/>
            </a:pPr>
            <a:r>
              <a:rPr lang="en-US" altLang="zh-CN" sz="2400" b="1">
                <a:solidFill>
                  <a:srgbClr val="CEC609"/>
                </a:solidFill>
                <a:latin typeface="Broadway" panose="04040905080002020502" pitchFamily="82" charset="0"/>
              </a:rPr>
              <a:t>TYUT</a:t>
            </a:r>
          </a:p>
        </p:txBody>
      </p:sp>
      <p:sp>
        <p:nvSpPr>
          <p:cNvPr id="19" name="矩形 18">
            <a:extLst>
              <a:ext uri="{FF2B5EF4-FFF2-40B4-BE49-F238E27FC236}">
                <a16:creationId xmlns:a16="http://schemas.microsoft.com/office/drawing/2014/main" id="{E4279E14-A276-48BF-959D-D142FEC4BC30}"/>
              </a:ext>
            </a:extLst>
          </p:cNvPr>
          <p:cNvSpPr>
            <a:spLocks noChangeArrowheads="1"/>
          </p:cNvSpPr>
          <p:nvPr userDrawn="1"/>
        </p:nvSpPr>
        <p:spPr bwMode="auto">
          <a:xfrm flipH="1">
            <a:off x="8672513" y="509588"/>
            <a:ext cx="46037" cy="53975"/>
          </a:xfrm>
          <a:prstGeom prst="rect">
            <a:avLst/>
          </a:prstGeom>
          <a:solidFill>
            <a:srgbClr val="FF0000"/>
          </a:solidFill>
          <a:ln w="9525" algn="ctr">
            <a:solidFill>
              <a:srgbClr val="FF0000"/>
            </a:solidFill>
            <a:round/>
            <a:headEnd/>
            <a:tailEnd/>
          </a:ln>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2060"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a:t>单击此处编辑母版标题样式</a:t>
            </a:r>
          </a:p>
        </p:txBody>
      </p:sp>
      <p:sp>
        <p:nvSpPr>
          <p:cNvPr id="206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20" name="Rectangle 14">
            <a:extLst>
              <a:ext uri="{FF2B5EF4-FFF2-40B4-BE49-F238E27FC236}">
                <a16:creationId xmlns:a16="http://schemas.microsoft.com/office/drawing/2014/main" id="{4C0E3032-292D-4509-A7AE-CBA8C2E04CD3}"/>
              </a:ext>
            </a:extLst>
          </p:cNvPr>
          <p:cNvSpPr>
            <a:spLocks noGrp="1" noChangeArrowheads="1"/>
          </p:cNvSpPr>
          <p:nvPr>
            <p:ph type="dt" sz="half" idx="10"/>
          </p:nvPr>
        </p:nvSpPr>
        <p:spPr>
          <a:xfrm>
            <a:off x="990600" y="6248400"/>
            <a:ext cx="1905000" cy="457200"/>
          </a:xfrm>
          <a:prstGeom prst="rect">
            <a:avLst/>
          </a:prstGeom>
        </p:spPr>
        <p:txBody>
          <a:bodyPr/>
          <a:lstStyle>
            <a:lvl1pPr>
              <a:defRPr>
                <a:solidFill>
                  <a:schemeClr val="bg2"/>
                </a:solidFill>
              </a:defRPr>
            </a:lvl1pPr>
          </a:lstStyle>
          <a:p>
            <a:pPr>
              <a:defRPr/>
            </a:pPr>
            <a:fld id="{A9ACC8A9-F4FB-4D3E-9D3D-610D7285E4EB}" type="datetime2">
              <a:rPr lang="zh-CN" altLang="en-US" smtClean="0"/>
              <a:t>2025年5月7日</a:t>
            </a:fld>
            <a:endParaRPr lang="en-US" altLang="zh-CN"/>
          </a:p>
        </p:txBody>
      </p:sp>
      <p:sp>
        <p:nvSpPr>
          <p:cNvPr id="21" name="Rectangle 15">
            <a:extLst>
              <a:ext uri="{FF2B5EF4-FFF2-40B4-BE49-F238E27FC236}">
                <a16:creationId xmlns:a16="http://schemas.microsoft.com/office/drawing/2014/main" id="{4A0F8DC1-B1CE-4497-A7A7-F9EB6B9FCCB2}"/>
              </a:ext>
            </a:extLst>
          </p:cNvPr>
          <p:cNvSpPr>
            <a:spLocks noGrp="1" noChangeArrowheads="1"/>
          </p:cNvSpPr>
          <p:nvPr>
            <p:ph type="ftr" sz="quarter" idx="11"/>
          </p:nvPr>
        </p:nvSpPr>
        <p:spPr>
          <a:xfrm>
            <a:off x="3429000" y="6248400"/>
            <a:ext cx="2895600" cy="457200"/>
          </a:xfrm>
          <a:prstGeom prst="rect">
            <a:avLst/>
          </a:prstGeom>
        </p:spPr>
        <p:txBody>
          <a:bodyPr/>
          <a:lstStyle>
            <a:lvl1pPr>
              <a:defRPr>
                <a:solidFill>
                  <a:schemeClr val="bg2"/>
                </a:solidFill>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22" name="Rectangle 16">
            <a:extLst>
              <a:ext uri="{FF2B5EF4-FFF2-40B4-BE49-F238E27FC236}">
                <a16:creationId xmlns:a16="http://schemas.microsoft.com/office/drawing/2014/main" id="{EC997CE6-CB37-4F50-B1A9-763FFE446244}"/>
              </a:ext>
            </a:extLst>
          </p:cNvPr>
          <p:cNvSpPr>
            <a:spLocks noGrp="1" noChangeArrowheads="1"/>
          </p:cNvSpPr>
          <p:nvPr>
            <p:ph type="sldNum" sz="quarter" idx="12"/>
          </p:nvPr>
        </p:nvSpPr>
        <p:spPr>
          <a:xfrm>
            <a:off x="6858000" y="6248400"/>
            <a:ext cx="1905000" cy="457200"/>
          </a:xfrm>
          <a:prstGeom prst="rect">
            <a:avLst/>
          </a:prstGeom>
        </p:spPr>
        <p:txBody>
          <a:bodyPr/>
          <a:lstStyle>
            <a:lvl1pPr>
              <a:defRPr>
                <a:solidFill>
                  <a:schemeClr val="bg2"/>
                </a:solidFill>
              </a:defRPr>
            </a:lvl1pPr>
          </a:lstStyle>
          <a:p>
            <a:pPr>
              <a:defRPr/>
            </a:pPr>
            <a:fld id="{117B12D3-157F-4068-BE47-38BD3A8AF5D4}" type="slidenum">
              <a:rPr lang="zh-CN" altLang="en-US"/>
              <a:pPr>
                <a:defRPr/>
              </a:pPr>
              <a:t>‹#›</a:t>
            </a:fld>
            <a:endParaRPr lang="en-US" altLang="zh-CN"/>
          </a:p>
        </p:txBody>
      </p:sp>
    </p:spTree>
    <p:extLst>
      <p:ext uri="{BB962C8B-B14F-4D97-AF65-F5344CB8AC3E}">
        <p14:creationId xmlns:p14="http://schemas.microsoft.com/office/powerpoint/2010/main" val="1322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latin typeface="Times New Roman" panose="02020603050405020304" pitchFamily="18" charset="0"/>
                <a:ea typeface="宋体" panose="02010600030101010101"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0" i="0" baseline="0">
                <a:latin typeface="Tahoma" panose="020B0604030504040204" pitchFamily="34" charset="0"/>
                <a:ea typeface="楷体_GB2312"/>
              </a:defRPr>
            </a:lvl1pPr>
            <a:lvl2pPr marL="742950" indent="-285750">
              <a:buFont typeface="Wingdings" panose="05000000000000000000" pitchFamily="2" charset="2"/>
              <a:buChar char="l"/>
              <a:defRPr b="1" i="0" baseline="0">
                <a:latin typeface="Tahoma" panose="020B0604030504040204" pitchFamily="34" charset="0"/>
                <a:ea typeface="楷体_GB2312"/>
              </a:defRPr>
            </a:lvl2pPr>
            <a:lvl3pPr marL="1143000" indent="-228600">
              <a:buFont typeface="Wingdings" panose="05000000000000000000" pitchFamily="2" charset="2"/>
              <a:buChar char="u"/>
              <a:defRPr b="1" baseline="0">
                <a:latin typeface="Tahoma" panose="020B0604030504040204" pitchFamily="34" charset="0"/>
                <a:ea typeface="楷体_GB2312"/>
              </a:defRPr>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334035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C232E806-323A-48EA-B3E9-86DEA0713E33}"/>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6C1839D4-A906-4B0F-BF62-40BC08955926}" type="datetime2">
              <a:rPr lang="zh-CN" altLang="en-US" smtClean="0"/>
              <a:t>2025年5月7日</a:t>
            </a:fld>
            <a:endParaRPr lang="en-US" altLang="zh-CN"/>
          </a:p>
        </p:txBody>
      </p:sp>
      <p:sp>
        <p:nvSpPr>
          <p:cNvPr id="5" name="Rectangle 12">
            <a:extLst>
              <a:ext uri="{FF2B5EF4-FFF2-40B4-BE49-F238E27FC236}">
                <a16:creationId xmlns:a16="http://schemas.microsoft.com/office/drawing/2014/main" id="{072050FD-51BC-41E0-977B-4A87F1A44A85}"/>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6" name="Rectangle 13">
            <a:extLst>
              <a:ext uri="{FF2B5EF4-FFF2-40B4-BE49-F238E27FC236}">
                <a16:creationId xmlns:a16="http://schemas.microsoft.com/office/drawing/2014/main" id="{EFC740F8-9C8E-48C7-9547-2CA4BE62FB02}"/>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815363AE-85D7-48F3-83E6-F38039B7DDA8}" type="slidenum">
              <a:rPr lang="zh-CN" altLang="en-US"/>
              <a:pPr>
                <a:defRPr/>
              </a:pPr>
              <a:t>‹#›</a:t>
            </a:fld>
            <a:endParaRPr lang="en-US" altLang="zh-CN"/>
          </a:p>
        </p:txBody>
      </p:sp>
    </p:spTree>
    <p:extLst>
      <p:ext uri="{BB962C8B-B14F-4D97-AF65-F5344CB8AC3E}">
        <p14:creationId xmlns:p14="http://schemas.microsoft.com/office/powerpoint/2010/main" val="1433216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4C427C5E-963F-4603-B1E3-DF589D8080BD}"/>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A82B265B-C293-4BE6-8F81-174D773A3AC0}" type="datetime2">
              <a:rPr lang="zh-CN" altLang="en-US" smtClean="0"/>
              <a:t>2025年5月7日</a:t>
            </a:fld>
            <a:endParaRPr lang="en-US" altLang="zh-CN"/>
          </a:p>
        </p:txBody>
      </p:sp>
      <p:sp>
        <p:nvSpPr>
          <p:cNvPr id="6" name="Rectangle 12">
            <a:extLst>
              <a:ext uri="{FF2B5EF4-FFF2-40B4-BE49-F238E27FC236}">
                <a16:creationId xmlns:a16="http://schemas.microsoft.com/office/drawing/2014/main" id="{D08E827A-155D-4006-839B-B52CEC821779}"/>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7" name="Rectangle 13">
            <a:extLst>
              <a:ext uri="{FF2B5EF4-FFF2-40B4-BE49-F238E27FC236}">
                <a16:creationId xmlns:a16="http://schemas.microsoft.com/office/drawing/2014/main" id="{A815AEEF-C21C-4BFD-8535-2BF334AE7641}"/>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1B30DE9E-9889-4936-BCB6-08152E4770EC}" type="slidenum">
              <a:rPr lang="zh-CN" altLang="en-US"/>
              <a:pPr>
                <a:defRPr/>
              </a:pPr>
              <a:t>‹#›</a:t>
            </a:fld>
            <a:endParaRPr lang="en-US" altLang="zh-CN"/>
          </a:p>
        </p:txBody>
      </p:sp>
    </p:spTree>
    <p:extLst>
      <p:ext uri="{BB962C8B-B14F-4D97-AF65-F5344CB8AC3E}">
        <p14:creationId xmlns:p14="http://schemas.microsoft.com/office/powerpoint/2010/main" val="227826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B737658E-66E6-48D6-87D0-2ACC7A3F545C}"/>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0E4C01C4-A439-48ED-BA1F-1A7AB7FC585D}" type="datetime2">
              <a:rPr lang="zh-CN" altLang="en-US" smtClean="0"/>
              <a:t>2025年5月7日</a:t>
            </a:fld>
            <a:endParaRPr lang="en-US" altLang="zh-CN"/>
          </a:p>
        </p:txBody>
      </p:sp>
      <p:sp>
        <p:nvSpPr>
          <p:cNvPr id="8" name="Rectangle 12">
            <a:extLst>
              <a:ext uri="{FF2B5EF4-FFF2-40B4-BE49-F238E27FC236}">
                <a16:creationId xmlns:a16="http://schemas.microsoft.com/office/drawing/2014/main" id="{396B486E-54B6-4E81-AC36-BC25DC002010}"/>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9" name="Rectangle 13">
            <a:extLst>
              <a:ext uri="{FF2B5EF4-FFF2-40B4-BE49-F238E27FC236}">
                <a16:creationId xmlns:a16="http://schemas.microsoft.com/office/drawing/2014/main" id="{91992F5D-A16B-485B-8A30-99D6740731C3}"/>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607D74F6-D682-47BE-A3C8-B2CA531BF0AD}" type="slidenum">
              <a:rPr lang="zh-CN" altLang="en-US"/>
              <a:pPr>
                <a:defRPr/>
              </a:pPr>
              <a:t>‹#›</a:t>
            </a:fld>
            <a:endParaRPr lang="en-US" altLang="zh-CN"/>
          </a:p>
        </p:txBody>
      </p:sp>
    </p:spTree>
    <p:extLst>
      <p:ext uri="{BB962C8B-B14F-4D97-AF65-F5344CB8AC3E}">
        <p14:creationId xmlns:p14="http://schemas.microsoft.com/office/powerpoint/2010/main" val="3486311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0D0C98E4-47A5-4437-B14C-BB896D4744D0}"/>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B5606F1B-8BF6-477D-AC87-B0907761C6F2}" type="datetime2">
              <a:rPr lang="zh-CN" altLang="en-US" smtClean="0"/>
              <a:t>2025年5月7日</a:t>
            </a:fld>
            <a:endParaRPr lang="en-US" altLang="zh-CN"/>
          </a:p>
        </p:txBody>
      </p:sp>
      <p:sp>
        <p:nvSpPr>
          <p:cNvPr id="4" name="Rectangle 12">
            <a:extLst>
              <a:ext uri="{FF2B5EF4-FFF2-40B4-BE49-F238E27FC236}">
                <a16:creationId xmlns:a16="http://schemas.microsoft.com/office/drawing/2014/main" id="{43CAC612-B701-4EC9-9932-F3D32E89D646}"/>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5" name="Rectangle 13">
            <a:extLst>
              <a:ext uri="{FF2B5EF4-FFF2-40B4-BE49-F238E27FC236}">
                <a16:creationId xmlns:a16="http://schemas.microsoft.com/office/drawing/2014/main" id="{12E05527-BF33-4928-9AE1-94906B548799}"/>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E8E51994-79C7-4610-A904-32FC7D243E99}" type="slidenum">
              <a:rPr lang="zh-CN" altLang="en-US"/>
              <a:pPr>
                <a:defRPr/>
              </a:pPr>
              <a:t>‹#›</a:t>
            </a:fld>
            <a:endParaRPr lang="en-US" altLang="zh-CN"/>
          </a:p>
        </p:txBody>
      </p:sp>
    </p:spTree>
    <p:extLst>
      <p:ext uri="{BB962C8B-B14F-4D97-AF65-F5344CB8AC3E}">
        <p14:creationId xmlns:p14="http://schemas.microsoft.com/office/powerpoint/2010/main" val="634853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3BF9C150-4D8B-43DB-919F-D881E72C06DF}"/>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5B6B6BF2-1552-41C3-AB98-13F2BD6E7187}" type="datetime2">
              <a:rPr lang="zh-CN" altLang="en-US" smtClean="0"/>
              <a:t>2025年5月7日</a:t>
            </a:fld>
            <a:endParaRPr lang="en-US" altLang="zh-CN"/>
          </a:p>
        </p:txBody>
      </p:sp>
      <p:sp>
        <p:nvSpPr>
          <p:cNvPr id="3" name="Rectangle 12">
            <a:extLst>
              <a:ext uri="{FF2B5EF4-FFF2-40B4-BE49-F238E27FC236}">
                <a16:creationId xmlns:a16="http://schemas.microsoft.com/office/drawing/2014/main" id="{568D3D9D-612E-40B7-875D-E44D434B0414}"/>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4" name="Rectangle 13">
            <a:extLst>
              <a:ext uri="{FF2B5EF4-FFF2-40B4-BE49-F238E27FC236}">
                <a16:creationId xmlns:a16="http://schemas.microsoft.com/office/drawing/2014/main" id="{177C39F5-2E08-4B9C-B44C-C5180EF50B85}"/>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06810C8D-C138-4C10-A071-32060A3012A7}" type="slidenum">
              <a:rPr lang="zh-CN" altLang="en-US"/>
              <a:pPr>
                <a:defRPr/>
              </a:pPr>
              <a:t>‹#›</a:t>
            </a:fld>
            <a:endParaRPr lang="en-US" altLang="zh-CN"/>
          </a:p>
        </p:txBody>
      </p:sp>
    </p:spTree>
    <p:extLst>
      <p:ext uri="{BB962C8B-B14F-4D97-AF65-F5344CB8AC3E}">
        <p14:creationId xmlns:p14="http://schemas.microsoft.com/office/powerpoint/2010/main" val="4287773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C168C279-3C1E-4CE7-B243-FB9ED7973170}"/>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AA295DE2-3068-465E-BFE0-87561C68A076}" type="datetime2">
              <a:rPr lang="zh-CN" altLang="en-US" smtClean="0"/>
              <a:t>2025年5月7日</a:t>
            </a:fld>
            <a:endParaRPr lang="en-US" altLang="zh-CN"/>
          </a:p>
        </p:txBody>
      </p:sp>
      <p:sp>
        <p:nvSpPr>
          <p:cNvPr id="6" name="Rectangle 12">
            <a:extLst>
              <a:ext uri="{FF2B5EF4-FFF2-40B4-BE49-F238E27FC236}">
                <a16:creationId xmlns:a16="http://schemas.microsoft.com/office/drawing/2014/main" id="{0A3CCC57-5CD6-431C-AFDA-1913CD36C5D9}"/>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7" name="Rectangle 13">
            <a:extLst>
              <a:ext uri="{FF2B5EF4-FFF2-40B4-BE49-F238E27FC236}">
                <a16:creationId xmlns:a16="http://schemas.microsoft.com/office/drawing/2014/main" id="{55BF406D-F480-4C89-AE22-1A0AA45686BF}"/>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3A2E6F14-DBBC-4C7A-834C-B3F95216864E}" type="slidenum">
              <a:rPr lang="zh-CN" altLang="en-US"/>
              <a:pPr>
                <a:defRPr/>
              </a:pPr>
              <a:t>‹#›</a:t>
            </a:fld>
            <a:endParaRPr lang="en-US" altLang="zh-CN"/>
          </a:p>
        </p:txBody>
      </p:sp>
    </p:spTree>
    <p:extLst>
      <p:ext uri="{BB962C8B-B14F-4D97-AF65-F5344CB8AC3E}">
        <p14:creationId xmlns:p14="http://schemas.microsoft.com/office/powerpoint/2010/main" val="3650903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6C1F0967-0544-46A5-BD97-BDE829110356}"/>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0D781D9A-067E-4CE2-BB23-1E6937EE9584}" type="datetime2">
              <a:rPr lang="zh-CN" altLang="en-US" smtClean="0"/>
              <a:t>2025年5月7日</a:t>
            </a:fld>
            <a:endParaRPr lang="en-US" altLang="zh-CN"/>
          </a:p>
        </p:txBody>
      </p:sp>
      <p:sp>
        <p:nvSpPr>
          <p:cNvPr id="6" name="Rectangle 12">
            <a:extLst>
              <a:ext uri="{FF2B5EF4-FFF2-40B4-BE49-F238E27FC236}">
                <a16:creationId xmlns:a16="http://schemas.microsoft.com/office/drawing/2014/main" id="{0B930C38-8A79-4D28-B8E0-CA0F08C624EB}"/>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7" name="Rectangle 13">
            <a:extLst>
              <a:ext uri="{FF2B5EF4-FFF2-40B4-BE49-F238E27FC236}">
                <a16:creationId xmlns:a16="http://schemas.microsoft.com/office/drawing/2014/main" id="{AC4FF2DF-FA04-4B16-8D43-EF4BAFB1FC5D}"/>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5E59C476-984E-473F-8388-E6864EFF0B33}" type="slidenum">
              <a:rPr lang="zh-CN" altLang="en-US"/>
              <a:pPr>
                <a:defRPr/>
              </a:pPr>
              <a:t>‹#›</a:t>
            </a:fld>
            <a:endParaRPr lang="en-US" altLang="zh-CN"/>
          </a:p>
        </p:txBody>
      </p:sp>
    </p:spTree>
    <p:extLst>
      <p:ext uri="{BB962C8B-B14F-4D97-AF65-F5344CB8AC3E}">
        <p14:creationId xmlns:p14="http://schemas.microsoft.com/office/powerpoint/2010/main" val="2529341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F7E9C2AF-0E4C-4983-95ED-9904E0239D2B}"/>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D8C79F09-33F9-4C5C-9F8E-407D914ACE70}" type="datetime2">
              <a:rPr lang="zh-CN" altLang="en-US" smtClean="0"/>
              <a:t>2025年5月7日</a:t>
            </a:fld>
            <a:endParaRPr lang="en-US" altLang="zh-CN"/>
          </a:p>
        </p:txBody>
      </p:sp>
      <p:sp>
        <p:nvSpPr>
          <p:cNvPr id="5" name="Rectangle 12">
            <a:extLst>
              <a:ext uri="{FF2B5EF4-FFF2-40B4-BE49-F238E27FC236}">
                <a16:creationId xmlns:a16="http://schemas.microsoft.com/office/drawing/2014/main" id="{2D0D25F7-7FF6-475E-BF01-A1168FF74AAC}"/>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6" name="Rectangle 13">
            <a:extLst>
              <a:ext uri="{FF2B5EF4-FFF2-40B4-BE49-F238E27FC236}">
                <a16:creationId xmlns:a16="http://schemas.microsoft.com/office/drawing/2014/main" id="{DF199A99-FC37-4747-ACC1-1B08E83BAAB1}"/>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27CBB581-100E-4C34-B67E-7EEBA286973C}" type="slidenum">
              <a:rPr lang="zh-CN" altLang="en-US"/>
              <a:pPr>
                <a:defRPr/>
              </a:pPr>
              <a:t>‹#›</a:t>
            </a:fld>
            <a:endParaRPr lang="en-US" altLang="zh-CN"/>
          </a:p>
        </p:txBody>
      </p:sp>
    </p:spTree>
    <p:extLst>
      <p:ext uri="{BB962C8B-B14F-4D97-AF65-F5344CB8AC3E}">
        <p14:creationId xmlns:p14="http://schemas.microsoft.com/office/powerpoint/2010/main" val="444565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783A2B5D-E716-4576-B26B-6ED193254435}"/>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C731E038-7059-43C5-917A-04B2FF8C098E}" type="datetime2">
              <a:rPr lang="zh-CN" altLang="en-US" smtClean="0"/>
              <a:t>2025年5月7日</a:t>
            </a:fld>
            <a:endParaRPr lang="en-US" altLang="zh-CN"/>
          </a:p>
        </p:txBody>
      </p:sp>
      <p:sp>
        <p:nvSpPr>
          <p:cNvPr id="5" name="Rectangle 12">
            <a:extLst>
              <a:ext uri="{FF2B5EF4-FFF2-40B4-BE49-F238E27FC236}">
                <a16:creationId xmlns:a16="http://schemas.microsoft.com/office/drawing/2014/main" id="{A8FB3226-2686-40D2-BE07-4C6B5C7E8A77}"/>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6" name="Rectangle 13">
            <a:extLst>
              <a:ext uri="{FF2B5EF4-FFF2-40B4-BE49-F238E27FC236}">
                <a16:creationId xmlns:a16="http://schemas.microsoft.com/office/drawing/2014/main" id="{A615F989-5BE7-40F7-9868-E68E0998C1BD}"/>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97310F61-FAE0-4B69-BD09-48CC328586FB}" type="slidenum">
              <a:rPr lang="zh-CN" altLang="en-US"/>
              <a:pPr>
                <a:defRPr/>
              </a:pPr>
              <a:t>‹#›</a:t>
            </a:fld>
            <a:endParaRPr lang="en-US" altLang="zh-CN"/>
          </a:p>
        </p:txBody>
      </p:sp>
    </p:spTree>
    <p:extLst>
      <p:ext uri="{BB962C8B-B14F-4D97-AF65-F5344CB8AC3E}">
        <p14:creationId xmlns:p14="http://schemas.microsoft.com/office/powerpoint/2010/main" val="34182511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EA4365A7-4363-4929-A4E7-20BA396EFBC9}"/>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720070F6-2B03-43E4-BE61-1C3CBB6001EE}" type="datetime2">
              <a:rPr lang="zh-CN" altLang="en-US" smtClean="0"/>
              <a:t>2025年5月7日</a:t>
            </a:fld>
            <a:endParaRPr lang="en-US" altLang="zh-CN"/>
          </a:p>
        </p:txBody>
      </p:sp>
      <p:sp>
        <p:nvSpPr>
          <p:cNvPr id="6" name="Rectangle 12">
            <a:extLst>
              <a:ext uri="{FF2B5EF4-FFF2-40B4-BE49-F238E27FC236}">
                <a16:creationId xmlns:a16="http://schemas.microsoft.com/office/drawing/2014/main" id="{5707A314-908D-4071-A745-2A247D433FAD}"/>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7" name="Rectangle 13">
            <a:extLst>
              <a:ext uri="{FF2B5EF4-FFF2-40B4-BE49-F238E27FC236}">
                <a16:creationId xmlns:a16="http://schemas.microsoft.com/office/drawing/2014/main" id="{9EBAD794-524B-4E4F-B2C0-ED7795B5B0CA}"/>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EF69604F-D62F-4770-B8BA-DB8702C7ACC9}" type="slidenum">
              <a:rPr lang="zh-CN" altLang="en-US"/>
              <a:pPr>
                <a:defRPr/>
              </a:pPr>
              <a:t>‹#›</a:t>
            </a:fld>
            <a:endParaRPr lang="en-US" altLang="zh-CN"/>
          </a:p>
        </p:txBody>
      </p:sp>
    </p:spTree>
    <p:extLst>
      <p:ext uri="{BB962C8B-B14F-4D97-AF65-F5344CB8AC3E}">
        <p14:creationId xmlns:p14="http://schemas.microsoft.com/office/powerpoint/2010/main" val="2098867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20" name="图片 19"/>
          <p:cNvPicPr>
            <a:picLocks noChangeAspect="1"/>
          </p:cNvPicPr>
          <p:nvPr userDrawn="1"/>
        </p:nvPicPr>
        <p:blipFill>
          <a:blip r:embed="rId2"/>
          <a:stretch>
            <a:fillRect/>
          </a:stretch>
        </p:blipFill>
        <p:spPr>
          <a:xfrm>
            <a:off x="288375" y="6101737"/>
            <a:ext cx="8604105" cy="247619"/>
          </a:xfrm>
          <a:prstGeom prst="rect">
            <a:avLst/>
          </a:prstGeom>
        </p:spPr>
      </p:pic>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 name="灯片编号占位符 3"/>
          <p:cNvSpPr>
            <a:spLocks noGrp="1"/>
          </p:cNvSpPr>
          <p:nvPr userDrawn="1">
            <p:ph type="sldNum" sz="quarter" idx="12"/>
          </p:nvPr>
        </p:nvSpPr>
        <p:spPr>
          <a:xfrm>
            <a:off x="179512" y="6356350"/>
            <a:ext cx="792088"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A5D45-772D-467C-BE8D-4CDB2A1BAAB8}"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r>
              <a:rPr kumimoji="0" lang="zh-CN" altLang="en-US"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rPr>
              <a:t>/119</a:t>
            </a:r>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endParaRPr>
          </a:p>
        </p:txBody>
      </p:sp>
      <p:sp>
        <p:nvSpPr>
          <p:cNvPr id="22" name="矩形 21"/>
          <p:cNvSpPr/>
          <p:nvPr userDrawn="1"/>
        </p:nvSpPr>
        <p:spPr>
          <a:xfrm>
            <a:off x="6024428" y="6581001"/>
            <a:ext cx="3119572" cy="276999"/>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http://</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staff.ustc.edu.cn</a:t>
            </a: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wenzheng</a:t>
            </a: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index.html</a:t>
            </a:r>
            <a:endPar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534966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pic>
        <p:nvPicPr>
          <p:cNvPr id="20" name="图片 19"/>
          <p:cNvPicPr>
            <a:picLocks noChangeAspect="1"/>
          </p:cNvPicPr>
          <p:nvPr userDrawn="1"/>
        </p:nvPicPr>
        <p:blipFill>
          <a:blip r:embed="rId2"/>
          <a:stretch>
            <a:fillRect/>
          </a:stretch>
        </p:blipFill>
        <p:spPr>
          <a:xfrm>
            <a:off x="288375" y="6101737"/>
            <a:ext cx="8604105" cy="247619"/>
          </a:xfrm>
          <a:prstGeom prst="rect">
            <a:avLst/>
          </a:prstGeom>
        </p:spPr>
      </p:pic>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 name="灯片编号占位符 3"/>
          <p:cNvSpPr>
            <a:spLocks noGrp="1"/>
          </p:cNvSpPr>
          <p:nvPr userDrawn="1">
            <p:ph type="sldNum" sz="quarter" idx="12"/>
          </p:nvPr>
        </p:nvSpPr>
        <p:spPr>
          <a:xfrm>
            <a:off x="179512" y="6356350"/>
            <a:ext cx="792088"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A5D45-772D-467C-BE8D-4CDB2A1BAAB8}"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r>
              <a:rPr kumimoji="0" lang="zh-CN" altLang="en-US"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rPr>
              <a:t>/119</a:t>
            </a:r>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endParaRPr>
          </a:p>
        </p:txBody>
      </p:sp>
      <p:sp>
        <p:nvSpPr>
          <p:cNvPr id="22" name="矩形 21"/>
          <p:cNvSpPr/>
          <p:nvPr userDrawn="1"/>
        </p:nvSpPr>
        <p:spPr>
          <a:xfrm>
            <a:off x="6024428" y="6581001"/>
            <a:ext cx="3119572" cy="276999"/>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http://</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staff.ustc.edu.cn</a:t>
            </a: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wenzheng</a:t>
            </a: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index.html</a:t>
            </a:r>
            <a:endPar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pic>
        <p:nvPicPr>
          <p:cNvPr id="24" name="图片 23"/>
          <p:cNvPicPr>
            <a:picLocks noChangeAspect="1"/>
          </p:cNvPicPr>
          <p:nvPr userDrawn="1"/>
        </p:nvPicPr>
        <p:blipFill>
          <a:blip r:embed="rId2"/>
          <a:stretch>
            <a:fillRect/>
          </a:stretch>
        </p:blipFill>
        <p:spPr>
          <a:xfrm>
            <a:off x="108506" y="116632"/>
            <a:ext cx="8783974" cy="864096"/>
          </a:xfrm>
          <a:prstGeom prst="rect">
            <a:avLst/>
          </a:prstGeom>
        </p:spPr>
      </p:pic>
      <p:sp>
        <p:nvSpPr>
          <p:cNvPr id="25" name="Rectangle 28"/>
          <p:cNvSpPr>
            <a:spLocks noChangeArrowheads="1"/>
          </p:cNvSpPr>
          <p:nvPr userDrawn="1"/>
        </p:nvSpPr>
        <p:spPr bwMode="auto">
          <a:xfrm rot="10800000">
            <a:off x="0" y="0"/>
            <a:ext cx="9324585" cy="916052"/>
          </a:xfrm>
          <a:prstGeom prst="rect">
            <a:avLst/>
          </a:prstGeom>
          <a:gradFill rotWithShape="1">
            <a:gsLst>
              <a:gs pos="0">
                <a:srgbClr val="FFFFFF">
                  <a:alpha val="0"/>
                </a:srgbClr>
              </a:gs>
              <a:gs pos="100000">
                <a:srgbClr val="A3C400"/>
              </a:gs>
            </a:gsLst>
            <a:lin ang="0" scaled="1"/>
          </a:gradFill>
          <a:ln w="9525">
            <a:noFill/>
            <a:miter lim="800000"/>
            <a:headEnd/>
            <a:tailEnd/>
          </a:ln>
        </p:spPr>
        <p:txBody>
          <a:bodyPr wrap="none" lIns="91433" tIns="45717" rIns="91433" bIns="45717"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Calibri"/>
              <a:ea typeface="宋体" panose="02010600030101010101" pitchFamily="2" charset="-122"/>
              <a:cs typeface="+mn-cs"/>
            </a:endParaRPr>
          </a:p>
        </p:txBody>
      </p:sp>
      <p:pic>
        <p:nvPicPr>
          <p:cNvPr id="27" name="Picture 13"/>
          <p:cNvPicPr>
            <a:picLocks noChangeAspect="1" noChangeArrowheads="1"/>
          </p:cNvPicPr>
          <p:nvPr userDrawn="1"/>
        </p:nvPicPr>
        <p:blipFill>
          <a:blip r:embed="rId3" cstate="print">
            <a:clrChange>
              <a:clrFrom>
                <a:srgbClr val="FFFFFF"/>
              </a:clrFrom>
              <a:clrTo>
                <a:srgbClr val="FFFFFF">
                  <a:alpha val="0"/>
                </a:srgbClr>
              </a:clrTo>
            </a:clrChange>
            <a:lum bright="-12000"/>
          </a:blip>
          <a:srcRect/>
          <a:stretch>
            <a:fillRect/>
          </a:stretch>
        </p:blipFill>
        <p:spPr bwMode="auto">
          <a:xfrm>
            <a:off x="191784" y="-1"/>
            <a:ext cx="1356481" cy="1355807"/>
          </a:xfrm>
          <a:prstGeom prst="rect">
            <a:avLst/>
          </a:prstGeom>
          <a:noFill/>
          <a:ln w="9525">
            <a:noFill/>
            <a:miter lim="800000"/>
            <a:headEnd/>
            <a:tailEnd/>
          </a:ln>
        </p:spPr>
      </p:pic>
      <p:pic>
        <p:nvPicPr>
          <p:cNvPr id="28" name="Picture 14"/>
          <p:cNvPicPr>
            <a:picLocks noChangeAspect="1" noChangeArrowheads="1"/>
          </p:cNvPicPr>
          <p:nvPr userDrawn="1"/>
        </p:nvPicPr>
        <p:blipFill>
          <a:blip r:embed="rId4" cstate="print">
            <a:clrChange>
              <a:clrFrom>
                <a:srgbClr val="FFFFFF"/>
              </a:clrFrom>
              <a:clrTo>
                <a:srgbClr val="FFFFFF">
                  <a:alpha val="0"/>
                </a:srgbClr>
              </a:clrTo>
            </a:clrChange>
          </a:blip>
          <a:srcRect/>
          <a:stretch>
            <a:fillRect/>
          </a:stretch>
        </p:blipFill>
        <p:spPr bwMode="auto">
          <a:xfrm>
            <a:off x="191784" y="31501"/>
            <a:ext cx="1321484" cy="1320526"/>
          </a:xfrm>
          <a:prstGeom prst="rect">
            <a:avLst/>
          </a:prstGeom>
          <a:noFill/>
          <a:ln w="9525">
            <a:noFill/>
            <a:miter lim="800000"/>
            <a:headEnd/>
            <a:tailEnd/>
          </a:ln>
        </p:spPr>
      </p:pic>
      <p:grpSp>
        <p:nvGrpSpPr>
          <p:cNvPr id="29" name="Group 10"/>
          <p:cNvGrpSpPr>
            <a:grpSpLocks/>
          </p:cNvGrpSpPr>
          <p:nvPr userDrawn="1"/>
        </p:nvGrpSpPr>
        <p:grpSpPr bwMode="auto">
          <a:xfrm>
            <a:off x="288375" y="153724"/>
            <a:ext cx="1096105" cy="1098757"/>
            <a:chOff x="-880" y="1122"/>
            <a:chExt cx="1760" cy="1766"/>
          </a:xfrm>
        </p:grpSpPr>
        <p:sp>
          <p:nvSpPr>
            <p:cNvPr id="30" name="Rectangle 11"/>
            <p:cNvSpPr>
              <a:spLocks noChangeArrowheads="1"/>
            </p:cNvSpPr>
            <p:nvPr userDrawn="1"/>
          </p:nvSpPr>
          <p:spPr bwMode="auto">
            <a:xfrm rot="-2711895">
              <a:off x="-551" y="1387"/>
              <a:ext cx="1134" cy="1179"/>
            </a:xfrm>
            <a:prstGeom prst="rect">
              <a:avLst/>
            </a:prstGeom>
            <a:solidFill>
              <a:srgbClr val="FFFFFF"/>
            </a:solidFill>
            <a:ln w="9525">
              <a:noFill/>
              <a:miter lim="800000"/>
              <a:headEnd/>
              <a:tailEnd/>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Calibri"/>
                <a:ea typeface="宋体" panose="02010600030101010101" pitchFamily="2" charset="-122"/>
                <a:cs typeface="+mn-cs"/>
              </a:endParaRPr>
            </a:p>
          </p:txBody>
        </p:sp>
        <p:pic>
          <p:nvPicPr>
            <p:cNvPr id="31" name="Picture 12"/>
            <p:cNvPicPr>
              <a:picLocks noChangeAspect="1" noChangeArrowheads="1"/>
            </p:cNvPicPr>
            <p:nvPr userDrawn="1"/>
          </p:nvPicPr>
          <p:blipFill>
            <a:blip r:embed="rId5" cstate="print">
              <a:clrChange>
                <a:clrFrom>
                  <a:srgbClr val="FFFFFF"/>
                </a:clrFrom>
                <a:clrTo>
                  <a:srgbClr val="FFFFFF">
                    <a:alpha val="0"/>
                  </a:srgbClr>
                </a:clrTo>
              </a:clrChange>
              <a:lum bright="-36000" contrast="30000"/>
            </a:blip>
            <a:srcRect/>
            <a:stretch>
              <a:fillRect/>
            </a:stretch>
          </p:blipFill>
          <p:spPr bwMode="auto">
            <a:xfrm>
              <a:off x="-880" y="1122"/>
              <a:ext cx="1760" cy="1766"/>
            </a:xfrm>
            <a:prstGeom prst="rect">
              <a:avLst/>
            </a:prstGeom>
            <a:noFill/>
            <a:ln w="9525">
              <a:noFill/>
              <a:miter lim="800000"/>
              <a:headEnd/>
              <a:tailEnd/>
            </a:ln>
          </p:spPr>
        </p:pic>
      </p:grpSp>
      <p:sp>
        <p:nvSpPr>
          <p:cNvPr id="32" name="副标题 2"/>
          <p:cNvSpPr>
            <a:spLocks noGrp="1"/>
          </p:cNvSpPr>
          <p:nvPr>
            <p:ph type="subTitle" idx="13" hasCustomPrompt="1"/>
          </p:nvPr>
        </p:nvSpPr>
        <p:spPr>
          <a:xfrm>
            <a:off x="363488" y="545340"/>
            <a:ext cx="896144" cy="334888"/>
          </a:xfrm>
        </p:spPr>
        <p:txBody>
          <a:bodyPr>
            <a:normAutofit/>
          </a:bodyPr>
          <a:lstStyle>
            <a:lvl1pPr marL="0" indent="0" algn="ctr">
              <a:buNone/>
              <a:defRPr sz="2000">
                <a:solidFill>
                  <a:schemeClr val="tx1">
                    <a:tint val="75000"/>
                  </a:schemeClr>
                </a:solidFill>
                <a:latin typeface="Broadway" panose="04040905080B02020502" pitchFamily="8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NO.1</a:t>
            </a:r>
            <a:endParaRPr lang="zh-CN" altLang="en-US" dirty="0"/>
          </a:p>
        </p:txBody>
      </p:sp>
      <p:pic>
        <p:nvPicPr>
          <p:cNvPr id="33" name="Picture 33"/>
          <p:cNvPicPr>
            <a:picLocks noChangeAspect="1" noChangeArrowheads="1"/>
          </p:cNvPicPr>
          <p:nvPr userDrawn="1"/>
        </p:nvPicPr>
        <p:blipFill>
          <a:blip r:embed="rId6" cstate="print"/>
          <a:srcRect l="82329" b="89954"/>
          <a:stretch>
            <a:fillRect/>
          </a:stretch>
        </p:blipFill>
        <p:spPr bwMode="auto">
          <a:xfrm>
            <a:off x="7452948" y="359719"/>
            <a:ext cx="1726049" cy="505278"/>
          </a:xfrm>
          <a:prstGeom prst="rect">
            <a:avLst/>
          </a:prstGeom>
          <a:noFill/>
          <a:ln w="9525">
            <a:noFill/>
            <a:miter lim="800000"/>
            <a:headEnd/>
            <a:tailEnd/>
          </a:ln>
        </p:spPr>
      </p:pic>
      <p:sp>
        <p:nvSpPr>
          <p:cNvPr id="34" name="文本框 33"/>
          <p:cNvSpPr txBox="1"/>
          <p:nvPr userDrawn="1"/>
        </p:nvSpPr>
        <p:spPr>
          <a:xfrm>
            <a:off x="7269313" y="238944"/>
            <a:ext cx="1469704"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大数据</a:t>
            </a:r>
            <a:r>
              <a:rPr kumimoji="0" lang="zh-CN" altLang="en-US" sz="9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rPr>
              <a:t>联合研究院</a:t>
            </a:r>
          </a:p>
        </p:txBody>
      </p:sp>
      <p:sp>
        <p:nvSpPr>
          <p:cNvPr id="2" name="标题 1"/>
          <p:cNvSpPr>
            <a:spLocks noGrp="1"/>
          </p:cNvSpPr>
          <p:nvPr>
            <p:ph type="title"/>
          </p:nvPr>
        </p:nvSpPr>
        <p:spPr>
          <a:xfrm>
            <a:off x="1548265" y="163783"/>
            <a:ext cx="6287169" cy="638745"/>
          </a:xfrm>
        </p:spPr>
        <p:txBody>
          <a:bodyPr/>
          <a:lstStyle>
            <a:lvl1pPr>
              <a:defRPr sz="4000">
                <a:solidFill>
                  <a:schemeClr val="tx1"/>
                </a:solidFill>
              </a:defRPr>
            </a:lvl1pPr>
          </a:lstStyle>
          <a:p>
            <a:r>
              <a:rPr lang="zh-CN" altLang="en-US" dirty="0"/>
              <a:t>单击此处编辑母版标题</a:t>
            </a:r>
          </a:p>
        </p:txBody>
      </p:sp>
    </p:spTree>
    <p:extLst>
      <p:ext uri="{BB962C8B-B14F-4D97-AF65-F5344CB8AC3E}">
        <p14:creationId xmlns:p14="http://schemas.microsoft.com/office/powerpoint/2010/main" val="8377727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pic>
        <p:nvPicPr>
          <p:cNvPr id="20" name="图片 19"/>
          <p:cNvPicPr>
            <a:picLocks noChangeAspect="1"/>
          </p:cNvPicPr>
          <p:nvPr userDrawn="1"/>
        </p:nvPicPr>
        <p:blipFill>
          <a:blip r:embed="rId2"/>
          <a:stretch>
            <a:fillRect/>
          </a:stretch>
        </p:blipFill>
        <p:spPr>
          <a:xfrm>
            <a:off x="288375" y="6101737"/>
            <a:ext cx="8604105" cy="247619"/>
          </a:xfrm>
          <a:prstGeom prst="rect">
            <a:avLst/>
          </a:prstGeom>
        </p:spPr>
      </p:pic>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 name="灯片编号占位符 3"/>
          <p:cNvSpPr>
            <a:spLocks noGrp="1"/>
          </p:cNvSpPr>
          <p:nvPr userDrawn="1">
            <p:ph type="sldNum" sz="quarter" idx="12"/>
          </p:nvPr>
        </p:nvSpPr>
        <p:spPr>
          <a:xfrm>
            <a:off x="179512" y="6356350"/>
            <a:ext cx="792088"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A5D45-772D-467C-BE8D-4CDB2A1BAAB8}"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r>
              <a:rPr kumimoji="0" lang="zh-CN" altLang="en-US"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rPr>
              <a:t>/119</a:t>
            </a:r>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endParaRPr>
          </a:p>
        </p:txBody>
      </p:sp>
      <p:sp>
        <p:nvSpPr>
          <p:cNvPr id="22" name="矩形 21"/>
          <p:cNvSpPr/>
          <p:nvPr userDrawn="1"/>
        </p:nvSpPr>
        <p:spPr>
          <a:xfrm>
            <a:off x="6024428" y="6581001"/>
            <a:ext cx="3119572" cy="276999"/>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http://</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staff.ustc.edu.cn</a:t>
            </a: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wenzheng</a:t>
            </a: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index.html</a:t>
            </a:r>
            <a:endPar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pic>
        <p:nvPicPr>
          <p:cNvPr id="24" name="图片 23"/>
          <p:cNvPicPr>
            <a:picLocks noChangeAspect="1"/>
          </p:cNvPicPr>
          <p:nvPr userDrawn="1"/>
        </p:nvPicPr>
        <p:blipFill>
          <a:blip r:embed="rId2"/>
          <a:stretch>
            <a:fillRect/>
          </a:stretch>
        </p:blipFill>
        <p:spPr>
          <a:xfrm>
            <a:off x="108506" y="116632"/>
            <a:ext cx="8783974" cy="864096"/>
          </a:xfrm>
          <a:prstGeom prst="rect">
            <a:avLst/>
          </a:prstGeom>
        </p:spPr>
      </p:pic>
      <p:sp>
        <p:nvSpPr>
          <p:cNvPr id="25" name="Rectangle 28"/>
          <p:cNvSpPr>
            <a:spLocks noChangeArrowheads="1"/>
          </p:cNvSpPr>
          <p:nvPr userDrawn="1"/>
        </p:nvSpPr>
        <p:spPr bwMode="auto">
          <a:xfrm rot="10800000">
            <a:off x="0" y="0"/>
            <a:ext cx="9324585" cy="916052"/>
          </a:xfrm>
          <a:prstGeom prst="rect">
            <a:avLst/>
          </a:prstGeom>
          <a:gradFill rotWithShape="1">
            <a:gsLst>
              <a:gs pos="0">
                <a:srgbClr val="FFFFFF">
                  <a:alpha val="0"/>
                </a:srgbClr>
              </a:gs>
              <a:gs pos="100000">
                <a:srgbClr val="A3C400"/>
              </a:gs>
            </a:gsLst>
            <a:lin ang="0" scaled="1"/>
          </a:gradFill>
          <a:ln w="9525">
            <a:noFill/>
            <a:miter lim="800000"/>
            <a:headEnd/>
            <a:tailEnd/>
          </a:ln>
        </p:spPr>
        <p:txBody>
          <a:bodyPr wrap="none" lIns="91433" tIns="45717" rIns="91433" bIns="45717"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Calibri"/>
              <a:ea typeface="宋体" panose="02010600030101010101" pitchFamily="2" charset="-122"/>
              <a:cs typeface="+mn-cs"/>
            </a:endParaRPr>
          </a:p>
        </p:txBody>
      </p:sp>
      <p:pic>
        <p:nvPicPr>
          <p:cNvPr id="27" name="Picture 13"/>
          <p:cNvPicPr>
            <a:picLocks noChangeAspect="1" noChangeArrowheads="1"/>
          </p:cNvPicPr>
          <p:nvPr userDrawn="1"/>
        </p:nvPicPr>
        <p:blipFill>
          <a:blip r:embed="rId3" cstate="print">
            <a:clrChange>
              <a:clrFrom>
                <a:srgbClr val="FFFFFF"/>
              </a:clrFrom>
              <a:clrTo>
                <a:srgbClr val="FFFFFF">
                  <a:alpha val="0"/>
                </a:srgbClr>
              </a:clrTo>
            </a:clrChange>
            <a:lum bright="-12000"/>
          </a:blip>
          <a:srcRect/>
          <a:stretch>
            <a:fillRect/>
          </a:stretch>
        </p:blipFill>
        <p:spPr bwMode="auto">
          <a:xfrm>
            <a:off x="191784" y="-1"/>
            <a:ext cx="1356481" cy="1355807"/>
          </a:xfrm>
          <a:prstGeom prst="rect">
            <a:avLst/>
          </a:prstGeom>
          <a:noFill/>
          <a:ln w="9525">
            <a:noFill/>
            <a:miter lim="800000"/>
            <a:headEnd/>
            <a:tailEnd/>
          </a:ln>
        </p:spPr>
      </p:pic>
      <p:pic>
        <p:nvPicPr>
          <p:cNvPr id="28" name="Picture 14"/>
          <p:cNvPicPr>
            <a:picLocks noChangeAspect="1" noChangeArrowheads="1"/>
          </p:cNvPicPr>
          <p:nvPr userDrawn="1"/>
        </p:nvPicPr>
        <p:blipFill>
          <a:blip r:embed="rId4" cstate="print">
            <a:clrChange>
              <a:clrFrom>
                <a:srgbClr val="FFFFFF"/>
              </a:clrFrom>
              <a:clrTo>
                <a:srgbClr val="FFFFFF">
                  <a:alpha val="0"/>
                </a:srgbClr>
              </a:clrTo>
            </a:clrChange>
          </a:blip>
          <a:srcRect/>
          <a:stretch>
            <a:fillRect/>
          </a:stretch>
        </p:blipFill>
        <p:spPr bwMode="auto">
          <a:xfrm>
            <a:off x="191784" y="31501"/>
            <a:ext cx="1321484" cy="1320526"/>
          </a:xfrm>
          <a:prstGeom prst="rect">
            <a:avLst/>
          </a:prstGeom>
          <a:noFill/>
          <a:ln w="9525">
            <a:noFill/>
            <a:miter lim="800000"/>
            <a:headEnd/>
            <a:tailEnd/>
          </a:ln>
        </p:spPr>
      </p:pic>
      <p:grpSp>
        <p:nvGrpSpPr>
          <p:cNvPr id="29" name="Group 10"/>
          <p:cNvGrpSpPr>
            <a:grpSpLocks/>
          </p:cNvGrpSpPr>
          <p:nvPr userDrawn="1"/>
        </p:nvGrpSpPr>
        <p:grpSpPr bwMode="auto">
          <a:xfrm>
            <a:off x="288375" y="153724"/>
            <a:ext cx="1096105" cy="1098757"/>
            <a:chOff x="-880" y="1122"/>
            <a:chExt cx="1760" cy="1766"/>
          </a:xfrm>
        </p:grpSpPr>
        <p:sp>
          <p:nvSpPr>
            <p:cNvPr id="30" name="Rectangle 11"/>
            <p:cNvSpPr>
              <a:spLocks noChangeArrowheads="1"/>
            </p:cNvSpPr>
            <p:nvPr userDrawn="1"/>
          </p:nvSpPr>
          <p:spPr bwMode="auto">
            <a:xfrm rot="-2711895">
              <a:off x="-551" y="1387"/>
              <a:ext cx="1134" cy="1179"/>
            </a:xfrm>
            <a:prstGeom prst="rect">
              <a:avLst/>
            </a:prstGeom>
            <a:solidFill>
              <a:srgbClr val="FFFFFF"/>
            </a:solidFill>
            <a:ln w="9525">
              <a:noFill/>
              <a:miter lim="800000"/>
              <a:headEnd/>
              <a:tailEnd/>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Calibri"/>
                <a:ea typeface="宋体" panose="02010600030101010101" pitchFamily="2" charset="-122"/>
                <a:cs typeface="+mn-cs"/>
              </a:endParaRPr>
            </a:p>
          </p:txBody>
        </p:sp>
        <p:pic>
          <p:nvPicPr>
            <p:cNvPr id="31" name="Picture 12"/>
            <p:cNvPicPr>
              <a:picLocks noChangeAspect="1" noChangeArrowheads="1"/>
            </p:cNvPicPr>
            <p:nvPr userDrawn="1"/>
          </p:nvPicPr>
          <p:blipFill>
            <a:blip r:embed="rId5" cstate="print">
              <a:clrChange>
                <a:clrFrom>
                  <a:srgbClr val="FFFFFF"/>
                </a:clrFrom>
                <a:clrTo>
                  <a:srgbClr val="FFFFFF">
                    <a:alpha val="0"/>
                  </a:srgbClr>
                </a:clrTo>
              </a:clrChange>
              <a:lum bright="-36000" contrast="30000"/>
            </a:blip>
            <a:srcRect/>
            <a:stretch>
              <a:fillRect/>
            </a:stretch>
          </p:blipFill>
          <p:spPr bwMode="auto">
            <a:xfrm>
              <a:off x="-880" y="1122"/>
              <a:ext cx="1760" cy="1766"/>
            </a:xfrm>
            <a:prstGeom prst="rect">
              <a:avLst/>
            </a:prstGeom>
            <a:noFill/>
            <a:ln w="9525">
              <a:noFill/>
              <a:miter lim="800000"/>
              <a:headEnd/>
              <a:tailEnd/>
            </a:ln>
          </p:spPr>
        </p:pic>
      </p:grpSp>
      <p:sp>
        <p:nvSpPr>
          <p:cNvPr id="32" name="副标题 2"/>
          <p:cNvSpPr>
            <a:spLocks noGrp="1"/>
          </p:cNvSpPr>
          <p:nvPr>
            <p:ph type="subTitle" idx="13" hasCustomPrompt="1"/>
          </p:nvPr>
        </p:nvSpPr>
        <p:spPr>
          <a:xfrm>
            <a:off x="363488" y="545340"/>
            <a:ext cx="896144" cy="334888"/>
          </a:xfrm>
        </p:spPr>
        <p:txBody>
          <a:bodyPr>
            <a:normAutofit/>
          </a:bodyPr>
          <a:lstStyle>
            <a:lvl1pPr marL="0" indent="0" algn="ctr">
              <a:buNone/>
              <a:defRPr sz="2000">
                <a:solidFill>
                  <a:schemeClr val="tx1">
                    <a:tint val="75000"/>
                  </a:schemeClr>
                </a:solidFill>
                <a:latin typeface="Broadway" panose="04040905080B02020502" pitchFamily="8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NO.1</a:t>
            </a:r>
            <a:endParaRPr lang="zh-CN" altLang="en-US" dirty="0"/>
          </a:p>
        </p:txBody>
      </p:sp>
      <p:pic>
        <p:nvPicPr>
          <p:cNvPr id="33" name="Picture 33"/>
          <p:cNvPicPr>
            <a:picLocks noChangeAspect="1" noChangeArrowheads="1"/>
          </p:cNvPicPr>
          <p:nvPr userDrawn="1"/>
        </p:nvPicPr>
        <p:blipFill>
          <a:blip r:embed="rId6" cstate="print"/>
          <a:srcRect l="82329" b="89954"/>
          <a:stretch>
            <a:fillRect/>
          </a:stretch>
        </p:blipFill>
        <p:spPr bwMode="auto">
          <a:xfrm>
            <a:off x="7452948" y="359719"/>
            <a:ext cx="1726049" cy="505278"/>
          </a:xfrm>
          <a:prstGeom prst="rect">
            <a:avLst/>
          </a:prstGeom>
          <a:noFill/>
          <a:ln w="9525">
            <a:noFill/>
            <a:miter lim="800000"/>
            <a:headEnd/>
            <a:tailEnd/>
          </a:ln>
        </p:spPr>
      </p:pic>
      <p:sp>
        <p:nvSpPr>
          <p:cNvPr id="34" name="文本框 33"/>
          <p:cNvSpPr txBox="1"/>
          <p:nvPr userDrawn="1"/>
        </p:nvSpPr>
        <p:spPr>
          <a:xfrm>
            <a:off x="7269313" y="238944"/>
            <a:ext cx="1469704"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大数据</a:t>
            </a:r>
            <a:r>
              <a:rPr kumimoji="0" lang="zh-CN" altLang="en-US" sz="9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rPr>
              <a:t>联合研究院</a:t>
            </a:r>
          </a:p>
        </p:txBody>
      </p:sp>
      <p:sp>
        <p:nvSpPr>
          <p:cNvPr id="2" name="标题 1"/>
          <p:cNvSpPr>
            <a:spLocks noGrp="1"/>
          </p:cNvSpPr>
          <p:nvPr>
            <p:ph type="title"/>
          </p:nvPr>
        </p:nvSpPr>
        <p:spPr>
          <a:xfrm>
            <a:off x="1548265" y="163783"/>
            <a:ext cx="6287169" cy="638745"/>
          </a:xfrm>
        </p:spPr>
        <p:txBody>
          <a:bodyPr/>
          <a:lstStyle>
            <a:lvl1pPr>
              <a:defRPr sz="4000">
                <a:solidFill>
                  <a:schemeClr val="tx1"/>
                </a:solidFill>
              </a:defRPr>
            </a:lvl1pPr>
          </a:lstStyle>
          <a:p>
            <a:r>
              <a:rPr lang="zh-CN" altLang="en-US" dirty="0"/>
              <a:t>单击此处编辑母版标题</a:t>
            </a:r>
          </a:p>
        </p:txBody>
      </p:sp>
    </p:spTree>
    <p:extLst>
      <p:ext uri="{BB962C8B-B14F-4D97-AF65-F5344CB8AC3E}">
        <p14:creationId xmlns:p14="http://schemas.microsoft.com/office/powerpoint/2010/main" val="1633138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42F7A86-4457-4C44-AA23-A188BF74BCAD}"/>
              </a:ext>
            </a:extLst>
          </p:cNvPr>
          <p:cNvSpPr>
            <a:spLocks noChangeArrowheads="1"/>
          </p:cNvSpPr>
          <p:nvPr/>
        </p:nvSpPr>
        <p:spPr bwMode="auto">
          <a:xfrm>
            <a:off x="417513" y="584622"/>
            <a:ext cx="438150" cy="474663"/>
          </a:xfrm>
          <a:prstGeom prst="rect">
            <a:avLst/>
          </a:prstGeom>
          <a:solidFill>
            <a:schemeClr val="accent2"/>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27" name="Rectangle 3">
            <a:extLst>
              <a:ext uri="{FF2B5EF4-FFF2-40B4-BE49-F238E27FC236}">
                <a16:creationId xmlns:a16="http://schemas.microsoft.com/office/drawing/2014/main" id="{02584698-5801-44B2-B7AD-FCC18561FC35}"/>
              </a:ext>
            </a:extLst>
          </p:cNvPr>
          <p:cNvSpPr>
            <a:spLocks noChangeArrowheads="1"/>
          </p:cNvSpPr>
          <p:nvPr/>
        </p:nvSpPr>
        <p:spPr bwMode="auto">
          <a:xfrm>
            <a:off x="800100" y="584622"/>
            <a:ext cx="328613" cy="474663"/>
          </a:xfrm>
          <a:prstGeom prst="rect">
            <a:avLst/>
          </a:prstGeom>
          <a:gradFill rotWithShape="0">
            <a:gsLst>
              <a:gs pos="0">
                <a:schemeClr val="accent2"/>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28" name="Rectangle 4">
            <a:extLst>
              <a:ext uri="{FF2B5EF4-FFF2-40B4-BE49-F238E27FC236}">
                <a16:creationId xmlns:a16="http://schemas.microsoft.com/office/drawing/2014/main" id="{2E0C6132-DC88-4BAF-A84D-7E2E7022A9C6}"/>
              </a:ext>
            </a:extLst>
          </p:cNvPr>
          <p:cNvSpPr>
            <a:spLocks noChangeArrowheads="1"/>
          </p:cNvSpPr>
          <p:nvPr/>
        </p:nvSpPr>
        <p:spPr bwMode="auto">
          <a:xfrm>
            <a:off x="541338" y="1006897"/>
            <a:ext cx="422275" cy="474663"/>
          </a:xfrm>
          <a:prstGeom prst="rect">
            <a:avLst/>
          </a:prstGeom>
          <a:solidFill>
            <a:schemeClr val="folHlink"/>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29" name="Rectangle 5">
            <a:extLst>
              <a:ext uri="{FF2B5EF4-FFF2-40B4-BE49-F238E27FC236}">
                <a16:creationId xmlns:a16="http://schemas.microsoft.com/office/drawing/2014/main" id="{4947C4E7-E9F1-4112-A381-FC9839854EED}"/>
              </a:ext>
            </a:extLst>
          </p:cNvPr>
          <p:cNvSpPr>
            <a:spLocks noChangeArrowheads="1"/>
          </p:cNvSpPr>
          <p:nvPr/>
        </p:nvSpPr>
        <p:spPr bwMode="auto">
          <a:xfrm>
            <a:off x="911225" y="1006897"/>
            <a:ext cx="368300" cy="474663"/>
          </a:xfrm>
          <a:prstGeom prst="rect">
            <a:avLst/>
          </a:prstGeom>
          <a:gradFill rotWithShape="0">
            <a:gsLst>
              <a:gs pos="0">
                <a:schemeClr val="folHlink"/>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30" name="Rectangle 6">
            <a:extLst>
              <a:ext uri="{FF2B5EF4-FFF2-40B4-BE49-F238E27FC236}">
                <a16:creationId xmlns:a16="http://schemas.microsoft.com/office/drawing/2014/main" id="{A847C857-1190-4296-B7AB-6BFFF81307D1}"/>
              </a:ext>
            </a:extLst>
          </p:cNvPr>
          <p:cNvSpPr>
            <a:spLocks noChangeArrowheads="1"/>
          </p:cNvSpPr>
          <p:nvPr/>
        </p:nvSpPr>
        <p:spPr bwMode="auto">
          <a:xfrm>
            <a:off x="127000" y="933872"/>
            <a:ext cx="560388" cy="422275"/>
          </a:xfrm>
          <a:prstGeom prst="rect">
            <a:avLst/>
          </a:prstGeom>
          <a:gradFill rotWithShape="0">
            <a:gsLst>
              <a:gs pos="0">
                <a:schemeClr val="bg1"/>
              </a:gs>
              <a:gs pos="100000">
                <a:schemeClr val="hlink"/>
              </a:gs>
            </a:gsLst>
            <a:lin ang="1890000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31" name="Rectangle 7">
            <a:extLst>
              <a:ext uri="{FF2B5EF4-FFF2-40B4-BE49-F238E27FC236}">
                <a16:creationId xmlns:a16="http://schemas.microsoft.com/office/drawing/2014/main" id="{49CAE5DD-3506-44A8-A213-ED4D6F21BA78}"/>
              </a:ext>
            </a:extLst>
          </p:cNvPr>
          <p:cNvSpPr>
            <a:spLocks noChangeArrowheads="1"/>
          </p:cNvSpPr>
          <p:nvPr/>
        </p:nvSpPr>
        <p:spPr bwMode="auto">
          <a:xfrm>
            <a:off x="762000" y="476672"/>
            <a:ext cx="31750" cy="1052513"/>
          </a:xfrm>
          <a:prstGeom prst="rect">
            <a:avLst/>
          </a:prstGeom>
          <a:solidFill>
            <a:schemeClr val="bg2"/>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32" name="Rectangle 8">
            <a:extLst>
              <a:ext uri="{FF2B5EF4-FFF2-40B4-BE49-F238E27FC236}">
                <a16:creationId xmlns:a16="http://schemas.microsoft.com/office/drawing/2014/main" id="{4FEC8925-5AC3-44B6-AB60-3C07DF2B3BD4}"/>
              </a:ext>
            </a:extLst>
          </p:cNvPr>
          <p:cNvSpPr>
            <a:spLocks noChangeArrowheads="1"/>
          </p:cNvSpPr>
          <p:nvPr/>
        </p:nvSpPr>
        <p:spPr bwMode="auto">
          <a:xfrm>
            <a:off x="442913" y="1267247"/>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33" name="Rectangle 9">
            <a:extLst>
              <a:ext uri="{FF2B5EF4-FFF2-40B4-BE49-F238E27FC236}">
                <a16:creationId xmlns:a16="http://schemas.microsoft.com/office/drawing/2014/main" id="{57BBD128-274C-4EB1-8A54-1FF695FAF069}"/>
              </a:ext>
            </a:extLst>
          </p:cNvPr>
          <p:cNvSpPr>
            <a:spLocks noGrp="1" noChangeArrowheads="1"/>
          </p:cNvSpPr>
          <p:nvPr>
            <p:ph type="title"/>
          </p:nvPr>
        </p:nvSpPr>
        <p:spPr bwMode="auto">
          <a:xfrm>
            <a:off x="1154113" y="191715"/>
            <a:ext cx="7793037"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a:extLst>
              <a:ext uri="{FF2B5EF4-FFF2-40B4-BE49-F238E27FC236}">
                <a16:creationId xmlns:a16="http://schemas.microsoft.com/office/drawing/2014/main" id="{0ECAAF0A-6223-44A8-8A03-959C24719577}"/>
              </a:ext>
            </a:extLst>
          </p:cNvPr>
          <p:cNvSpPr>
            <a:spLocks noGrp="1" noChangeArrowheads="1"/>
          </p:cNvSpPr>
          <p:nvPr>
            <p:ph type="body" idx="1"/>
          </p:nvPr>
        </p:nvSpPr>
        <p:spPr bwMode="auto">
          <a:xfrm>
            <a:off x="963613" y="173630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1701424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Lst>
  <p:hf sldNum="0"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lftp.yar.ru/"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ftp.example.org/pub" TargetMode="External"/><Relationship Id="rId2" Type="http://schemas.openxmlformats.org/officeDocument/2006/relationships/hyperlink" Target="ftp://ftp.example.org/pub"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wget.sunsite.dk/"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rsync.samba.org/tech_report/"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hyperlink" Target="http://rsync.samba.org/" TargetMode="External"/><Relationship Id="rId4" Type="http://schemas.openxmlformats.org/officeDocument/2006/relationships/hyperlink" Target="http://rsync.samba.org/how-rsync-works.html"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568776B-74CF-4543-AE65-AB6ED29B5694}"/>
              </a:ext>
            </a:extLst>
          </p:cNvPr>
          <p:cNvSpPr>
            <a:spLocks noGrp="1" noChangeArrowheads="1"/>
          </p:cNvSpPr>
          <p:nvPr>
            <p:ph type="ctrTitle"/>
          </p:nvPr>
        </p:nvSpPr>
        <p:spPr>
          <a:xfrm>
            <a:off x="1259632" y="1651754"/>
            <a:ext cx="7215187" cy="1462088"/>
          </a:xfrm>
        </p:spPr>
        <p:txBody>
          <a:bodyPr/>
          <a:lstStyle/>
          <a:p>
            <a:pPr algn="ctr" eaLnBrk="1" hangingPunct="1"/>
            <a:r>
              <a:rPr lang="en-US" altLang="zh-CN" sz="4800" b="1" dirty="0">
                <a:solidFill>
                  <a:srgbClr val="0000FF"/>
                </a:solidFill>
                <a:latin typeface="Times New Roman" panose="02020603050405020304" pitchFamily="18" charset="0"/>
                <a:cs typeface="Times New Roman" panose="02020603050405020304" pitchFamily="18" charset="0"/>
              </a:rPr>
              <a:t>     </a:t>
            </a:r>
            <a:r>
              <a:rPr lang="en-US" altLang="zh-CN" sz="4800" b="1" dirty="0">
                <a:solidFill>
                  <a:srgbClr val="0070C0"/>
                </a:solidFill>
                <a:latin typeface="Times New Roman" panose="02020603050405020304" pitchFamily="18" charset="0"/>
                <a:cs typeface="Times New Roman" panose="02020603050405020304" pitchFamily="18" charset="0"/>
              </a:rPr>
              <a:t>Linux</a:t>
            </a:r>
            <a:r>
              <a:rPr lang="zh-CN" altLang="en-US" sz="4800" b="1" dirty="0">
                <a:solidFill>
                  <a:srgbClr val="0070C0"/>
                </a:solidFill>
                <a:latin typeface="Times New Roman" panose="02020603050405020304" pitchFamily="18" charset="0"/>
                <a:cs typeface="Times New Roman" panose="02020603050405020304" pitchFamily="18" charset="0"/>
              </a:rPr>
              <a:t>操作系统</a:t>
            </a:r>
            <a:endParaRPr lang="zh-CN" altLang="en-US" sz="4800" b="1" dirty="0">
              <a:solidFill>
                <a:srgbClr val="0070C0"/>
              </a:solidFill>
            </a:endParaRPr>
          </a:p>
        </p:txBody>
      </p:sp>
      <p:sp>
        <p:nvSpPr>
          <p:cNvPr id="6148" name="Text Box 9">
            <a:extLst>
              <a:ext uri="{FF2B5EF4-FFF2-40B4-BE49-F238E27FC236}">
                <a16:creationId xmlns:a16="http://schemas.microsoft.com/office/drawing/2014/main" id="{B2132117-E551-481D-83B1-81AEDF3EBA96}"/>
              </a:ext>
            </a:extLst>
          </p:cNvPr>
          <p:cNvSpPr txBox="1">
            <a:spLocks noChangeArrowheads="1"/>
          </p:cNvSpPr>
          <p:nvPr/>
        </p:nvSpPr>
        <p:spPr bwMode="auto">
          <a:xfrm>
            <a:off x="4572000" y="3622160"/>
            <a:ext cx="4320480" cy="1154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3" tIns="45717" rIns="91433" bIns="45717">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zh-CN" alt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第</a:t>
            </a:r>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五</a:t>
            </a:r>
            <a:r>
              <a:rPr kumimoji="0" lang="zh-CN" alt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章 </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 </a:t>
            </a:r>
          </a:p>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zh-CN" alt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网络配置与包管理</a:t>
            </a:r>
            <a:endPar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6149" name="Picture 27">
            <a:extLst>
              <a:ext uri="{FF2B5EF4-FFF2-40B4-BE49-F238E27FC236}">
                <a16:creationId xmlns:a16="http://schemas.microsoft.com/office/drawing/2014/main" id="{FB74E9E8-0D01-4AA2-8A4D-FC70EFC6D4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6886" r="43958"/>
          <a:stretch>
            <a:fillRect/>
          </a:stretch>
        </p:blipFill>
        <p:spPr bwMode="auto">
          <a:xfrm>
            <a:off x="-828600" y="3252888"/>
            <a:ext cx="5400600" cy="36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Text Box 9">
            <a:extLst>
              <a:ext uri="{FF2B5EF4-FFF2-40B4-BE49-F238E27FC236}">
                <a16:creationId xmlns:a16="http://schemas.microsoft.com/office/drawing/2014/main" id="{366A8360-0009-48B3-8425-941E65EFDD0E}"/>
              </a:ext>
            </a:extLst>
          </p:cNvPr>
          <p:cNvSpPr txBox="1">
            <a:spLocks noChangeArrowheads="1"/>
          </p:cNvSpPr>
          <p:nvPr/>
        </p:nvSpPr>
        <p:spPr bwMode="auto">
          <a:xfrm>
            <a:off x="2450796" y="4310080"/>
            <a:ext cx="1823759" cy="707880"/>
          </a:xfrm>
          <a:prstGeom prst="rect">
            <a:avLst/>
          </a:prstGeom>
          <a:noFill/>
          <a:ln w="9525">
            <a:noFill/>
            <a:miter lim="800000"/>
            <a:headEnd/>
            <a:tailEnd/>
          </a:ln>
        </p:spPr>
        <p:txBody>
          <a:bodyPr wrap="square" lIns="91433" tIns="45717" rIns="91433" bIns="45717">
            <a:sp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altLang="zh-CN" sz="2000" b="0" i="0" u="none" strike="noStrike" kern="1200" cap="none" spc="0" normalizeH="0" baseline="0" noProof="0" dirty="0">
                <a:ln>
                  <a:noFill/>
                </a:ln>
                <a:solidFill>
                  <a:srgbClr val="000000">
                    <a:lumMod val="75000"/>
                    <a:lumOff val="25000"/>
                  </a:srgbClr>
                </a:solidFill>
                <a:effectLst/>
                <a:uLnTx/>
                <a:uFillTx/>
                <a:latin typeface="Broadway" pitchFamily="82" charset="0"/>
                <a:ea typeface="方正粗倩简体" pitchFamily="65" charset="-122"/>
                <a:cs typeface="+mn-cs"/>
              </a:rPr>
              <a:t>NO.1 </a:t>
            </a:r>
          </a:p>
          <a:p>
            <a:pPr marL="0" marR="0" lvl="0" indent="0" algn="ctr" defTabSz="914400" rtl="0" eaLnBrk="0" fontAlgn="base" latinLnBrk="0" hangingPunct="0">
              <a:lnSpc>
                <a:spcPct val="100000"/>
              </a:lnSpc>
              <a:spcBef>
                <a:spcPts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Broadway" panose="04040905080B02020502" pitchFamily="82" charset="0"/>
                <a:ea typeface="微软雅黑" pitchFamily="34" charset="-122"/>
                <a:cs typeface="Times New Roman" panose="02020603050405020304" pitchFamily="18" charset="0"/>
              </a:rPr>
              <a:t>操作基础</a:t>
            </a:r>
          </a:p>
        </p:txBody>
      </p:sp>
      <p:sp>
        <p:nvSpPr>
          <p:cNvPr id="6151" name="Text Box 10">
            <a:extLst>
              <a:ext uri="{FF2B5EF4-FFF2-40B4-BE49-F238E27FC236}">
                <a16:creationId xmlns:a16="http://schemas.microsoft.com/office/drawing/2014/main" id="{FB12D547-C9F9-4BD3-A1D1-DD7AB5B72C05}"/>
              </a:ext>
            </a:extLst>
          </p:cNvPr>
          <p:cNvSpPr txBox="1">
            <a:spLocks noChangeArrowheads="1"/>
          </p:cNvSpPr>
          <p:nvPr/>
        </p:nvSpPr>
        <p:spPr bwMode="auto">
          <a:xfrm>
            <a:off x="-99833" y="4609555"/>
            <a:ext cx="1821795" cy="784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3" tIns="45717" rIns="91433" bIns="45717">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ts val="600"/>
              </a:spcBef>
              <a:spcAft>
                <a:spcPct val="0"/>
              </a:spcAft>
              <a:buClrTx/>
              <a:buSzTx/>
              <a:buFontTx/>
              <a:buNone/>
              <a:tabLst/>
              <a:defRPr/>
            </a:pPr>
            <a:r>
              <a:rPr kumimoji="0" lang="en-US" altLang="zh-CN" sz="2000" b="0" i="0" u="none" strike="noStrike" kern="1200" cap="none" spc="0" normalizeH="0" baseline="0" noProof="0" dirty="0">
                <a:ln>
                  <a:noFill/>
                </a:ln>
                <a:solidFill>
                  <a:srgbClr val="0066FF"/>
                </a:solidFill>
                <a:effectLst/>
                <a:uLnTx/>
                <a:uFillTx/>
                <a:latin typeface="Broadway" panose="04040905080B02020502" pitchFamily="82" charset="0"/>
                <a:ea typeface="方正粗倩简体"/>
                <a:cs typeface="方正粗倩简体"/>
              </a:rPr>
              <a:t>NO.2</a:t>
            </a:r>
          </a:p>
          <a:p>
            <a:pPr marL="0" marR="0" lvl="0" indent="0" algn="ctr" defTabSz="914400" rtl="0" eaLnBrk="0" fontAlgn="base" latinLnBrk="0" hangingPunct="0">
              <a:lnSpc>
                <a:spcPct val="100000"/>
              </a:lnSpc>
              <a:spcBef>
                <a:spcPts val="600"/>
              </a:spcBef>
              <a:spcAft>
                <a:spcPct val="0"/>
              </a:spcAft>
              <a:buClrTx/>
              <a:buSzTx/>
              <a:buFontTx/>
              <a:buNone/>
              <a:tabLst/>
              <a:defRPr/>
            </a:pPr>
            <a:r>
              <a:rPr kumimoji="0" lang="zh-CN" altLang="en-US" sz="2000" b="0" i="0" u="none" strike="noStrike" kern="1200" cap="none" spc="0" normalizeH="0" baseline="0" noProof="0" dirty="0">
                <a:ln>
                  <a:noFill/>
                </a:ln>
                <a:solidFill>
                  <a:srgbClr val="0066FF"/>
                </a:solidFill>
                <a:effectLst/>
                <a:uLnTx/>
                <a:uFillTx/>
                <a:latin typeface="Broadway" panose="04040905080B02020502" pitchFamily="82" charset="0"/>
                <a:ea typeface="方正粗倩简体"/>
                <a:cs typeface="方正粗倩简体"/>
              </a:rPr>
              <a:t>系统与安全</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152" name="Text Box 11">
            <a:extLst>
              <a:ext uri="{FF2B5EF4-FFF2-40B4-BE49-F238E27FC236}">
                <a16:creationId xmlns:a16="http://schemas.microsoft.com/office/drawing/2014/main" id="{C2F49B22-B429-49BC-8B4D-DD7FBD83805B}"/>
              </a:ext>
            </a:extLst>
          </p:cNvPr>
          <p:cNvSpPr txBox="1">
            <a:spLocks noChangeArrowheads="1"/>
          </p:cNvSpPr>
          <p:nvPr/>
        </p:nvSpPr>
        <p:spPr bwMode="auto">
          <a:xfrm>
            <a:off x="1331640" y="5948348"/>
            <a:ext cx="1823757" cy="707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3" tIns="45717" rIns="91433" bIns="45717">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6600"/>
                </a:solidFill>
                <a:effectLst/>
                <a:uLnTx/>
                <a:uFillTx/>
                <a:latin typeface="Broadway" panose="04040905080B02020502" pitchFamily="82" charset="0"/>
                <a:ea typeface="方正粗倩简体"/>
                <a:cs typeface="方正粗倩简体"/>
              </a:rPr>
              <a:t>NO.3</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6600"/>
                </a:solidFill>
                <a:effectLst/>
                <a:uLnTx/>
                <a:uFillTx/>
                <a:latin typeface="Broadway" panose="04040905080B02020502" pitchFamily="82" charset="0"/>
                <a:ea typeface="方正粗倩简体"/>
                <a:cs typeface="方正粗倩简体"/>
              </a:rPr>
              <a:t>网络服务</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Rectangle 4">
            <a:extLst>
              <a:ext uri="{FF2B5EF4-FFF2-40B4-BE49-F238E27FC236}">
                <a16:creationId xmlns:a16="http://schemas.microsoft.com/office/drawing/2014/main" id="{28986AA3-AB86-40A6-B519-FC370F85CD07}"/>
              </a:ext>
            </a:extLst>
          </p:cNvPr>
          <p:cNvSpPr txBox="1">
            <a:spLocks noChangeArrowheads="1"/>
          </p:cNvSpPr>
          <p:nvPr/>
        </p:nvSpPr>
        <p:spPr bwMode="auto">
          <a:xfrm>
            <a:off x="5289936" y="5295916"/>
            <a:ext cx="34290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50000"/>
              </a:spcBef>
              <a:spcAft>
                <a:spcPct val="0"/>
              </a:spcAft>
              <a:buClrTx/>
              <a:buSzTx/>
              <a:buFont typeface="Wingdings" panose="05000000000000000000" pitchFamily="2" charset="2"/>
              <a:buNone/>
              <a:tabLst/>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主讲人</a:t>
            </a:r>
            <a:r>
              <a:rPr kumimoji="0" lang="zh-CN" altLang="en-US" sz="2400" b="0" i="0" u="none" strike="noStrike" kern="120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50000"/>
              </a:spcBef>
              <a:spcAft>
                <a:spcPct val="0"/>
              </a:spcAft>
              <a:buClrTx/>
              <a:buSzTx/>
              <a:buFont typeface="Wingdings" panose="05000000000000000000" pitchFamily="2" charset="2"/>
              <a:buNone/>
              <a:tabLst/>
              <a:defRPr/>
            </a:pPr>
            <a:fld id="{1F386AA7-D660-41A0-88D0-8B1466781745}" type="datetime2">
              <a:rPr kumimoji="0" lang="zh-CN" altLang="zh-CN" sz="2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base" latinLnBrk="0" hangingPunct="1">
                <a:lnSpc>
                  <a:spcPct val="100000"/>
                </a:lnSpc>
                <a:spcBef>
                  <a:spcPct val="50000"/>
                </a:spcBef>
                <a:spcAft>
                  <a:spcPct val="0"/>
                </a:spcAft>
                <a:buClrTx/>
                <a:buSzTx/>
                <a:buFont typeface="Wingdings" panose="05000000000000000000" pitchFamily="2" charset="2"/>
                <a:buNone/>
                <a:tabLst/>
                <a:defRPr/>
              </a:pPr>
              <a:t>2025年5月7日</a:t>
            </a:fld>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4">
            <a:extLst>
              <a:ext uri="{FF2B5EF4-FFF2-40B4-BE49-F238E27FC236}">
                <a16:creationId xmlns:a16="http://schemas.microsoft.com/office/drawing/2014/main" id="{9AD9A78A-609F-4797-AA52-6B1406C11E73}"/>
              </a:ext>
            </a:extLst>
          </p:cNvPr>
          <p:cNvSpPr>
            <a:spLocks noGrp="1" noChangeArrowheads="1"/>
          </p:cNvSpPr>
          <p:nvPr>
            <p:ph type="title"/>
          </p:nvPr>
        </p:nvSpPr>
        <p:spPr>
          <a:xfrm>
            <a:off x="1223987" y="71399"/>
            <a:ext cx="7793037" cy="1204515"/>
          </a:xfrm>
        </p:spPr>
        <p:txBody>
          <a:bodyPr/>
          <a:lstStyle/>
          <a:p>
            <a:r>
              <a:rPr lang="zh-CN" altLang="en-US" dirty="0">
                <a:latin typeface="黑体" panose="02010609060101010101" pitchFamily="49" charset="-122"/>
                <a:ea typeface="黑体" panose="02010609060101010101" pitchFamily="49" charset="-122"/>
              </a:rPr>
              <a:t>本章内容要点</a:t>
            </a:r>
          </a:p>
        </p:txBody>
      </p:sp>
      <p:sp>
        <p:nvSpPr>
          <p:cNvPr id="2" name="圆角矩形 1">
            <a:extLst>
              <a:ext uri="{FF2B5EF4-FFF2-40B4-BE49-F238E27FC236}">
                <a16:creationId xmlns:a16="http://schemas.microsoft.com/office/drawing/2014/main" id="{24F68058-A272-4A0C-AC8E-6E614A1DCF7B}"/>
              </a:ext>
            </a:extLst>
          </p:cNvPr>
          <p:cNvSpPr/>
          <p:nvPr/>
        </p:nvSpPr>
        <p:spPr>
          <a:xfrm>
            <a:off x="817447" y="1582791"/>
            <a:ext cx="7808777" cy="1667871"/>
          </a:xfrm>
          <a:prstGeom prst="round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ahoma"/>
              <a:ea typeface="宋体"/>
              <a:cs typeface="+mn-cs"/>
            </a:endParaRPr>
          </a:p>
        </p:txBody>
      </p:sp>
      <p:pic>
        <p:nvPicPr>
          <p:cNvPr id="9221" name="Picture 8">
            <a:extLst>
              <a:ext uri="{FF2B5EF4-FFF2-40B4-BE49-F238E27FC236}">
                <a16:creationId xmlns:a16="http://schemas.microsoft.com/office/drawing/2014/main" id="{30CF9F7C-A188-429C-86A1-CC0CA6E855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80312" y="49014"/>
            <a:ext cx="1574994" cy="15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D35220A3-8319-42A1-BF3C-A9D0A093B9DF}"/>
              </a:ext>
            </a:extLst>
          </p:cNvPr>
          <p:cNvSpPr txBox="1">
            <a:spLocks noChangeArrowheads="1"/>
          </p:cNvSpPr>
          <p:nvPr/>
        </p:nvSpPr>
        <p:spPr>
          <a:xfrm>
            <a:off x="833406" y="1581667"/>
            <a:ext cx="7882441" cy="520493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000" kern="1200">
                <a:solidFill>
                  <a:schemeClr val="tx1">
                    <a:tint val="75000"/>
                  </a:schemeClr>
                </a:solidFill>
                <a:latin typeface="Broadway" panose="04040905080B02020502" pitchFamily="82"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spcBef>
                <a:spcPts val="600"/>
              </a:spcBef>
              <a:spcAft>
                <a:spcPts val="600"/>
              </a:spcAft>
              <a:buFont typeface="Wingdings" panose="05000000000000000000" pitchFamily="2" charset="2"/>
              <a:buChar char="Ø"/>
            </a:pPr>
            <a:r>
              <a:rPr lang="en-US" altLang="zh-CN" sz="3200" dirty="0">
                <a:solidFill>
                  <a:schemeClr val="tx1"/>
                </a:solidFill>
              </a:rPr>
              <a:t> Linux</a:t>
            </a:r>
            <a:r>
              <a:rPr lang="zh-CN" altLang="en-US" sz="3200" dirty="0">
                <a:solidFill>
                  <a:schemeClr val="tx1"/>
                </a:solidFill>
              </a:rPr>
              <a:t>网络配置</a:t>
            </a:r>
          </a:p>
          <a:p>
            <a:pPr lvl="1" algn="l">
              <a:lnSpc>
                <a:spcPct val="110000"/>
              </a:lnSpc>
              <a:spcBef>
                <a:spcPts val="600"/>
              </a:spcBef>
              <a:spcAft>
                <a:spcPts val="600"/>
              </a:spcAft>
            </a:pPr>
            <a:r>
              <a:rPr lang="en-US" altLang="zh-CN" dirty="0">
                <a:solidFill>
                  <a:schemeClr val="tx1"/>
                </a:solidFill>
              </a:rPr>
              <a:t>Linux</a:t>
            </a:r>
            <a:r>
              <a:rPr lang="zh-CN" altLang="en-US" dirty="0">
                <a:solidFill>
                  <a:schemeClr val="tx1"/>
                </a:solidFill>
              </a:rPr>
              <a:t>网络基础，</a:t>
            </a:r>
            <a:r>
              <a:rPr lang="en-US" altLang="zh-CN" dirty="0">
                <a:solidFill>
                  <a:schemeClr val="tx1"/>
                </a:solidFill>
              </a:rPr>
              <a:t>IP</a:t>
            </a:r>
            <a:r>
              <a:rPr lang="zh-CN" altLang="en-US" dirty="0">
                <a:solidFill>
                  <a:schemeClr val="tx1"/>
                </a:solidFill>
              </a:rPr>
              <a:t>命令，配置网络参数，使用</a:t>
            </a:r>
            <a:r>
              <a:rPr lang="en-US" altLang="zh-CN" dirty="0" err="1">
                <a:solidFill>
                  <a:schemeClr val="tx1"/>
                </a:solidFill>
              </a:rPr>
              <a:t>nmcli</a:t>
            </a:r>
            <a:r>
              <a:rPr lang="zh-CN" altLang="en-US" dirty="0">
                <a:solidFill>
                  <a:schemeClr val="tx1"/>
                </a:solidFill>
              </a:rPr>
              <a:t>管理网络</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en-US" altLang="zh-CN" sz="3200" dirty="0">
                <a:solidFill>
                  <a:schemeClr val="tx1"/>
                </a:solidFill>
              </a:rPr>
              <a:t> Linux</a:t>
            </a:r>
            <a:r>
              <a:rPr lang="zh-CN" altLang="en-US" sz="3200" dirty="0">
                <a:solidFill>
                  <a:schemeClr val="tx1"/>
                </a:solidFill>
              </a:rPr>
              <a:t>网络工具</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网络测试工具，</a:t>
            </a:r>
            <a:r>
              <a:rPr lang="en-US" altLang="zh-CN" dirty="0">
                <a:solidFill>
                  <a:prstClr val="black"/>
                </a:solidFill>
              </a:rPr>
              <a:t>Internet</a:t>
            </a:r>
            <a:r>
              <a:rPr lang="zh-CN" altLang="en-US" dirty="0">
                <a:solidFill>
                  <a:prstClr val="black"/>
                </a:solidFill>
              </a:rPr>
              <a:t>网络客户工具，</a:t>
            </a:r>
            <a:r>
              <a:rPr lang="en-US" altLang="zh-CN" dirty="0">
                <a:solidFill>
                  <a:prstClr val="black"/>
                </a:solidFill>
              </a:rPr>
              <a:t>OpenSSH</a:t>
            </a:r>
            <a:r>
              <a:rPr lang="zh-CN" altLang="en-US" dirty="0">
                <a:solidFill>
                  <a:prstClr val="black"/>
                </a:solidFill>
              </a:rPr>
              <a:t>客户工具</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en-US" altLang="zh-CN" sz="3200" dirty="0">
                <a:solidFill>
                  <a:schemeClr val="tx1"/>
                </a:solidFill>
              </a:rPr>
              <a:t> RPM</a:t>
            </a:r>
            <a:r>
              <a:rPr lang="zh-CN" altLang="en-US" sz="3200" dirty="0">
                <a:solidFill>
                  <a:schemeClr val="tx1"/>
                </a:solidFill>
              </a:rPr>
              <a:t>包和</a:t>
            </a:r>
            <a:r>
              <a:rPr lang="en-US" altLang="zh-CN" sz="3200" dirty="0">
                <a:solidFill>
                  <a:schemeClr val="tx1"/>
                </a:solidFill>
              </a:rPr>
              <a:t>YUM</a:t>
            </a:r>
            <a:r>
              <a:rPr lang="zh-CN" altLang="en-US" sz="3200" dirty="0">
                <a:solidFill>
                  <a:schemeClr val="tx1"/>
                </a:solidFill>
              </a:rPr>
              <a:t>配置</a:t>
            </a:r>
            <a:endParaRPr lang="en-US" altLang="zh-CN" sz="3200" dirty="0">
              <a:solidFill>
                <a:schemeClr val="tx1"/>
              </a:solidFill>
            </a:endParaRPr>
          </a:p>
          <a:p>
            <a:pPr lvl="1" algn="l">
              <a:lnSpc>
                <a:spcPct val="110000"/>
              </a:lnSpc>
              <a:spcBef>
                <a:spcPts val="600"/>
              </a:spcBef>
              <a:spcAft>
                <a:spcPts val="600"/>
              </a:spcAft>
            </a:pPr>
            <a:r>
              <a:rPr lang="en-US" altLang="zh-CN" dirty="0">
                <a:solidFill>
                  <a:prstClr val="black"/>
                </a:solidFill>
              </a:rPr>
              <a:t>RPM</a:t>
            </a:r>
            <a:r>
              <a:rPr lang="zh-CN" altLang="en-US" dirty="0">
                <a:solidFill>
                  <a:prstClr val="black"/>
                </a:solidFill>
              </a:rPr>
              <a:t>概述及</a:t>
            </a:r>
            <a:r>
              <a:rPr lang="en-US" altLang="zh-CN" dirty="0">
                <a:solidFill>
                  <a:prstClr val="black"/>
                </a:solidFill>
              </a:rPr>
              <a:t>RPM</a:t>
            </a:r>
            <a:r>
              <a:rPr lang="zh-CN" altLang="en-US" dirty="0">
                <a:solidFill>
                  <a:prstClr val="black"/>
                </a:solidFill>
              </a:rPr>
              <a:t>命令的使用，</a:t>
            </a:r>
            <a:r>
              <a:rPr lang="en-US" altLang="zh-CN" dirty="0">
                <a:solidFill>
                  <a:prstClr val="black"/>
                </a:solidFill>
              </a:rPr>
              <a:t>YUM</a:t>
            </a:r>
            <a:r>
              <a:rPr lang="zh-CN" altLang="en-US" dirty="0">
                <a:solidFill>
                  <a:prstClr val="black"/>
                </a:solidFill>
              </a:rPr>
              <a:t>概述及</a:t>
            </a:r>
            <a:r>
              <a:rPr lang="en-US" altLang="zh-CN" dirty="0">
                <a:solidFill>
                  <a:prstClr val="black"/>
                </a:solidFill>
              </a:rPr>
              <a:t>YUM</a:t>
            </a:r>
            <a:r>
              <a:rPr lang="zh-CN" altLang="en-US" dirty="0">
                <a:solidFill>
                  <a:prstClr val="black"/>
                </a:solidFill>
              </a:rPr>
              <a:t>命令的使用和配置</a:t>
            </a:r>
            <a:endParaRPr lang="en-US" altLang="zh-CN" dirty="0">
              <a:solidFill>
                <a:prstClr val="black"/>
              </a:solidFill>
            </a:endParaRPr>
          </a:p>
          <a:p>
            <a:pPr lvl="1" algn="l">
              <a:lnSpc>
                <a:spcPct val="110000"/>
              </a:lnSpc>
              <a:spcBef>
                <a:spcPts val="600"/>
              </a:spcBef>
              <a:spcAft>
                <a:spcPts val="600"/>
              </a:spcAft>
            </a:pPr>
            <a:endParaRPr lang="zh-CN" altLang="en-US" dirty="0">
              <a:solidFill>
                <a:prstClr val="black"/>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 </a:t>
            </a:r>
            <a:r>
              <a:rPr lang="en-US" altLang="zh-CN" dirty="0"/>
              <a:t>Linux</a:t>
            </a:r>
            <a:r>
              <a:rPr lang="zh-CN" altLang="en-US" dirty="0"/>
              <a:t>网络支持</a:t>
            </a:r>
            <a:r>
              <a:rPr lang="en-US" altLang="zh-CN" dirty="0"/>
              <a:t>—</a:t>
            </a:r>
            <a:r>
              <a:rPr lang="zh-CN" altLang="en-US" dirty="0"/>
              <a:t>网络协议</a:t>
            </a:r>
          </a:p>
        </p:txBody>
      </p:sp>
      <p:sp>
        <p:nvSpPr>
          <p:cNvPr id="3" name="内容占位符 2"/>
          <p:cNvSpPr>
            <a:spLocks noGrp="1"/>
          </p:cNvSpPr>
          <p:nvPr>
            <p:ph idx="1"/>
          </p:nvPr>
        </p:nvSpPr>
        <p:spPr>
          <a:xfrm>
            <a:off x="899592" y="1371600"/>
            <a:ext cx="7772400" cy="5153744"/>
          </a:xfrm>
        </p:spPr>
        <p:txBody>
          <a:bodyPr/>
          <a:lstStyle/>
          <a:p>
            <a:r>
              <a:rPr lang="en-US" altLang="zh-CN" dirty="0"/>
              <a:t>Linux</a:t>
            </a:r>
            <a:r>
              <a:rPr lang="zh-CN" altLang="en-US" dirty="0"/>
              <a:t>支持</a:t>
            </a:r>
            <a:r>
              <a:rPr lang="zh-CN" altLang="en-US" dirty="0">
                <a:solidFill>
                  <a:srgbClr val="FF0000"/>
                </a:solidFill>
              </a:rPr>
              <a:t>各种协议类型的网络</a:t>
            </a:r>
          </a:p>
          <a:p>
            <a:pPr lvl="1"/>
            <a:r>
              <a:rPr lang="en-US" altLang="zh-CN" dirty="0"/>
              <a:t>TCP/IP</a:t>
            </a:r>
            <a:r>
              <a:rPr lang="zh-CN" altLang="en-US" dirty="0"/>
              <a:t>、</a:t>
            </a:r>
            <a:r>
              <a:rPr lang="en-US" altLang="zh-CN" dirty="0"/>
              <a:t>NetBIOS/NetBEUI</a:t>
            </a:r>
            <a:r>
              <a:rPr lang="zh-CN" altLang="en-US" dirty="0"/>
              <a:t>、</a:t>
            </a:r>
            <a:r>
              <a:rPr lang="en-US" altLang="zh-CN" dirty="0"/>
              <a:t>IPX/SPX</a:t>
            </a:r>
            <a:r>
              <a:rPr lang="zh-CN" altLang="en-US" dirty="0"/>
              <a:t>、</a:t>
            </a:r>
            <a:r>
              <a:rPr lang="en-US" altLang="zh-CN" dirty="0" err="1"/>
              <a:t>AppleTake</a:t>
            </a:r>
            <a:r>
              <a:rPr lang="zh-CN" altLang="en-US" dirty="0"/>
              <a:t>等</a:t>
            </a:r>
          </a:p>
          <a:p>
            <a:pPr lvl="1"/>
            <a:r>
              <a:rPr lang="zh-CN" altLang="en-US" dirty="0"/>
              <a:t>在</a:t>
            </a:r>
            <a:r>
              <a:rPr lang="zh-CN" altLang="en-US" dirty="0">
                <a:solidFill>
                  <a:srgbClr val="FF0000"/>
                </a:solidFill>
              </a:rPr>
              <a:t>网络底层</a:t>
            </a:r>
            <a:r>
              <a:rPr lang="zh-CN" altLang="en-US" dirty="0"/>
              <a:t>也支持</a:t>
            </a:r>
            <a:r>
              <a:rPr lang="en-US" altLang="zh-CN" dirty="0"/>
              <a:t>Ethernet</a:t>
            </a:r>
            <a:r>
              <a:rPr lang="zh-CN" altLang="en-US" dirty="0"/>
              <a:t>、</a:t>
            </a:r>
            <a:r>
              <a:rPr lang="en-US" altLang="zh-CN" dirty="0"/>
              <a:t>Token Ring</a:t>
            </a:r>
            <a:r>
              <a:rPr lang="zh-CN" altLang="en-US" dirty="0"/>
              <a:t>、</a:t>
            </a:r>
            <a:r>
              <a:rPr lang="en-US" altLang="zh-CN" dirty="0"/>
              <a:t>ATM</a:t>
            </a:r>
            <a:r>
              <a:rPr lang="zh-CN" altLang="en-US" dirty="0"/>
              <a:t>、</a:t>
            </a:r>
            <a:r>
              <a:rPr lang="en-US" altLang="zh-CN" dirty="0"/>
              <a:t>PPP</a:t>
            </a:r>
            <a:r>
              <a:rPr lang="zh-CN" altLang="en-US" dirty="0"/>
              <a:t>（</a:t>
            </a:r>
            <a:r>
              <a:rPr lang="en-US" altLang="zh-CN" dirty="0" err="1"/>
              <a:t>PPPoE</a:t>
            </a:r>
            <a:r>
              <a:rPr lang="zh-CN" altLang="en-US" dirty="0"/>
              <a:t>）、</a:t>
            </a:r>
            <a:r>
              <a:rPr lang="en-US" altLang="zh-CN" dirty="0"/>
              <a:t>FDDI</a:t>
            </a:r>
            <a:r>
              <a:rPr lang="zh-CN" altLang="en-US" dirty="0"/>
              <a:t>、</a:t>
            </a:r>
            <a:r>
              <a:rPr lang="en-US" altLang="zh-CN" dirty="0"/>
              <a:t>Frame Relay</a:t>
            </a:r>
            <a:r>
              <a:rPr lang="zh-CN" altLang="en-US" dirty="0"/>
              <a:t>等网络协议</a:t>
            </a:r>
          </a:p>
          <a:p>
            <a:r>
              <a:rPr lang="zh-CN" altLang="en-US" dirty="0"/>
              <a:t>这些网络协议是</a:t>
            </a:r>
            <a:r>
              <a:rPr lang="en-US" altLang="zh-CN" dirty="0">
                <a:solidFill>
                  <a:srgbClr val="FF0000"/>
                </a:solidFill>
              </a:rPr>
              <a:t>Linux</a:t>
            </a:r>
            <a:r>
              <a:rPr lang="zh-CN" altLang="en-US" dirty="0">
                <a:solidFill>
                  <a:srgbClr val="FF0000"/>
                </a:solidFill>
              </a:rPr>
              <a:t>内核提供</a:t>
            </a:r>
            <a:r>
              <a:rPr lang="zh-CN" altLang="en-US" dirty="0"/>
              <a:t>的功能，具体的支持情况由内核编译参数决定</a:t>
            </a:r>
          </a:p>
          <a:p>
            <a:r>
              <a:rPr lang="en-US" altLang="zh-CN" dirty="0"/>
              <a:t>RHEL/</a:t>
            </a:r>
            <a:r>
              <a:rPr lang="en-US" altLang="zh-CN" dirty="0" err="1"/>
              <a:t>CentOS</a:t>
            </a:r>
            <a:r>
              <a:rPr lang="zh-CN" altLang="en-US" dirty="0"/>
              <a:t>的</a:t>
            </a:r>
            <a:r>
              <a:rPr lang="en-US" altLang="zh-CN" dirty="0"/>
              <a:t>Linux</a:t>
            </a:r>
            <a:r>
              <a:rPr lang="zh-CN" altLang="en-US" dirty="0">
                <a:solidFill>
                  <a:srgbClr val="FF0000"/>
                </a:solidFill>
              </a:rPr>
              <a:t>内核默认支持上述的网络协议</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 </a:t>
            </a:r>
            <a:r>
              <a:rPr lang="en-US" altLang="zh-CN" dirty="0"/>
              <a:t>Linux</a:t>
            </a:r>
            <a:r>
              <a:rPr lang="zh-CN" altLang="en-US" dirty="0"/>
              <a:t>网络支持</a:t>
            </a:r>
            <a:r>
              <a:rPr lang="en-US" altLang="zh-CN" dirty="0"/>
              <a:t>—</a:t>
            </a:r>
            <a:r>
              <a:rPr lang="zh-CN" altLang="en-US" dirty="0"/>
              <a:t>网络接口</a:t>
            </a:r>
          </a:p>
        </p:txBody>
      </p:sp>
      <p:sp>
        <p:nvSpPr>
          <p:cNvPr id="3" name="内容占位符 2"/>
          <p:cNvSpPr>
            <a:spLocks noGrp="1"/>
          </p:cNvSpPr>
          <p:nvPr>
            <p:ph idx="1"/>
          </p:nvPr>
        </p:nvSpPr>
        <p:spPr>
          <a:xfrm>
            <a:off x="611560" y="1484784"/>
            <a:ext cx="8229600" cy="5078189"/>
          </a:xfrm>
        </p:spPr>
        <p:txBody>
          <a:bodyPr/>
          <a:lstStyle/>
          <a:p>
            <a:r>
              <a:rPr lang="en-US" altLang="zh-CN" sz="2800" dirty="0"/>
              <a:t>Linux</a:t>
            </a:r>
            <a:r>
              <a:rPr lang="zh-CN" altLang="en-US" sz="2800" dirty="0"/>
              <a:t>支持众多类型的网络接口</a:t>
            </a:r>
          </a:p>
          <a:p>
            <a:pPr lvl="1"/>
            <a:r>
              <a:rPr lang="zh-CN" altLang="en-US" sz="2200" dirty="0"/>
              <a:t>每一个</a:t>
            </a:r>
            <a:r>
              <a:rPr lang="zh-CN" altLang="en-US" sz="2200" dirty="0">
                <a:solidFill>
                  <a:srgbClr val="FF0000"/>
                </a:solidFill>
              </a:rPr>
              <a:t>网络接口设备</a:t>
            </a:r>
            <a:r>
              <a:rPr lang="zh-CN" altLang="en-US" sz="2200" dirty="0"/>
              <a:t>在</a:t>
            </a:r>
            <a:r>
              <a:rPr lang="en-US" altLang="zh-CN" sz="2200" dirty="0"/>
              <a:t>Linux</a:t>
            </a:r>
            <a:r>
              <a:rPr lang="zh-CN" altLang="en-US" sz="2200" dirty="0"/>
              <a:t>的内核中都有相应的</a:t>
            </a:r>
            <a:r>
              <a:rPr lang="zh-CN" altLang="en-US" sz="2200" dirty="0">
                <a:solidFill>
                  <a:srgbClr val="FF0000"/>
                </a:solidFill>
              </a:rPr>
              <a:t>设备名称</a:t>
            </a:r>
          </a:p>
          <a:p>
            <a:r>
              <a:rPr lang="zh-CN" altLang="en-US" sz="2800" dirty="0"/>
              <a:t>每一种</a:t>
            </a:r>
            <a:r>
              <a:rPr lang="zh-CN" altLang="en-US" sz="2800" dirty="0">
                <a:solidFill>
                  <a:srgbClr val="FF0000"/>
                </a:solidFill>
              </a:rPr>
              <a:t>网络接口设备</a:t>
            </a:r>
            <a:r>
              <a:rPr lang="zh-CN" altLang="en-US" sz="2800" dirty="0"/>
              <a:t>（网络适配器）都需要相应的</a:t>
            </a:r>
            <a:r>
              <a:rPr lang="zh-CN" altLang="en-US" sz="2800" dirty="0">
                <a:solidFill>
                  <a:srgbClr val="FF0000"/>
                </a:solidFill>
              </a:rPr>
              <a:t>设备驱动程序</a:t>
            </a:r>
          </a:p>
          <a:p>
            <a:pPr lvl="1"/>
            <a:r>
              <a:rPr lang="zh-CN" altLang="en-US" sz="2200" dirty="0"/>
              <a:t>网络接口设备的驱动程序被编译在系统</a:t>
            </a:r>
            <a:r>
              <a:rPr lang="zh-CN" altLang="en-US" sz="2200" dirty="0">
                <a:solidFill>
                  <a:srgbClr val="FF0000"/>
                </a:solidFill>
              </a:rPr>
              <a:t>内核中</a:t>
            </a:r>
          </a:p>
          <a:p>
            <a:pPr lvl="1"/>
            <a:r>
              <a:rPr lang="zh-CN" altLang="en-US" sz="2200" dirty="0"/>
              <a:t>或者被编译为系统</a:t>
            </a:r>
            <a:r>
              <a:rPr lang="zh-CN" altLang="en-US" sz="2200" dirty="0">
                <a:solidFill>
                  <a:srgbClr val="FF0000"/>
                </a:solidFill>
              </a:rPr>
              <a:t>内核模块</a:t>
            </a:r>
            <a:r>
              <a:rPr lang="zh-CN" altLang="en-US" sz="2200" dirty="0"/>
              <a:t>以便让系统内核进行调用</a:t>
            </a:r>
          </a:p>
          <a:p>
            <a:r>
              <a:rPr lang="en-US" altLang="zh-CN" sz="2800" dirty="0">
                <a:solidFill>
                  <a:srgbClr val="FF0000"/>
                </a:solidFill>
              </a:rPr>
              <a:t>RHEL/</a:t>
            </a:r>
            <a:r>
              <a:rPr lang="en-US" altLang="zh-CN" sz="2800" dirty="0" err="1">
                <a:solidFill>
                  <a:srgbClr val="FF0000"/>
                </a:solidFill>
              </a:rPr>
              <a:t>CentOS</a:t>
            </a:r>
            <a:r>
              <a:rPr lang="zh-CN" altLang="en-US" sz="2800" dirty="0"/>
              <a:t>默认是</a:t>
            </a:r>
            <a:r>
              <a:rPr lang="zh-CN" altLang="en-US" sz="2800" dirty="0">
                <a:solidFill>
                  <a:srgbClr val="FF0000"/>
                </a:solidFill>
              </a:rPr>
              <a:t>采用内核模块</a:t>
            </a:r>
            <a:r>
              <a:rPr lang="zh-CN" altLang="en-US" sz="2800" dirty="0"/>
              <a:t>（</a:t>
            </a:r>
            <a:r>
              <a:rPr lang="en-US" altLang="zh-CN" sz="2800" dirty="0"/>
              <a:t>Module</a:t>
            </a:r>
            <a:r>
              <a:rPr lang="zh-CN" altLang="en-US" sz="2800" dirty="0"/>
              <a:t>）的方式在系统引导时</a:t>
            </a:r>
            <a:r>
              <a:rPr lang="zh-CN" altLang="en-US" sz="2800" dirty="0">
                <a:solidFill>
                  <a:srgbClr val="FF0000"/>
                </a:solidFill>
              </a:rPr>
              <a:t>驱动网络接口</a:t>
            </a:r>
            <a:r>
              <a:rPr lang="zh-CN" altLang="en-US" sz="2800" dirty="0"/>
              <a:t>的</a:t>
            </a:r>
          </a:p>
          <a:p>
            <a:pPr lvl="1"/>
            <a:r>
              <a:rPr lang="zh-CN" altLang="en-US" sz="2200" dirty="0"/>
              <a:t>在</a:t>
            </a:r>
            <a:r>
              <a:rPr lang="en-US" altLang="zh-CN" sz="2200" dirty="0"/>
              <a:t>/lib/modules/$(</a:t>
            </a:r>
            <a:r>
              <a:rPr lang="en-US" altLang="zh-CN" sz="2200" dirty="0" err="1"/>
              <a:t>uname</a:t>
            </a:r>
            <a:r>
              <a:rPr lang="en-US" altLang="zh-CN" sz="2200" dirty="0"/>
              <a:t> -r)/kernel/drivers/net</a:t>
            </a:r>
            <a:r>
              <a:rPr lang="zh-CN" altLang="en-US" sz="2200" dirty="0"/>
              <a:t>目录下可以找到</a:t>
            </a:r>
            <a:r>
              <a:rPr lang="zh-CN" altLang="en-US" sz="2200" dirty="0">
                <a:solidFill>
                  <a:srgbClr val="FF0000"/>
                </a:solidFill>
              </a:rPr>
              <a:t>可加载的驱动</a:t>
            </a:r>
          </a:p>
          <a:p>
            <a:pPr lvl="1"/>
            <a:r>
              <a:rPr lang="zh-CN" altLang="en-US" sz="2200" dirty="0"/>
              <a:t>可以从系统内核模块配置文件</a:t>
            </a:r>
            <a:r>
              <a:rPr lang="en-US" altLang="zh-CN" sz="2200" dirty="0"/>
              <a:t>/etc/</a:t>
            </a:r>
            <a:r>
              <a:rPr lang="en-US" altLang="zh-CN" sz="2200" dirty="0" err="1"/>
              <a:t>modprobe.conf</a:t>
            </a:r>
            <a:r>
              <a:rPr lang="zh-CN" altLang="en-US" sz="2200" dirty="0"/>
              <a:t>中查看系统加载的</a:t>
            </a:r>
            <a:r>
              <a:rPr lang="zh-CN" altLang="en-US" sz="2200" dirty="0">
                <a:solidFill>
                  <a:srgbClr val="FF0000"/>
                </a:solidFill>
              </a:rPr>
              <a:t>网卡驱动模块</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8314431" cy="1052513"/>
          </a:xfrm>
        </p:spPr>
        <p:txBody>
          <a:bodyPr/>
          <a:lstStyle/>
          <a:p>
            <a:r>
              <a:rPr lang="zh-CN" altLang="en-US" dirty="0"/>
              <a:t>常见的网络接口</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1776214978"/>
              </p:ext>
            </p:extLst>
          </p:nvPr>
        </p:nvGraphicFramePr>
        <p:xfrm>
          <a:off x="755576" y="1736725"/>
          <a:ext cx="7980440" cy="3291840"/>
        </p:xfrm>
        <a:graphic>
          <a:graphicData uri="http://schemas.openxmlformats.org/drawingml/2006/table">
            <a:tbl>
              <a:tblPr firstRow="1" bandRow="1">
                <a:tableStyleId>{21E4AEA4-8DFA-4A89-87EB-49C32662AFE0}</a:tableStyleId>
              </a:tblPr>
              <a:tblGrid>
                <a:gridCol w="2520280">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4236024">
                  <a:extLst>
                    <a:ext uri="{9D8B030D-6E8A-4147-A177-3AD203B41FA5}">
                      <a16:colId xmlns:a16="http://schemas.microsoft.com/office/drawing/2014/main" val="20002"/>
                    </a:ext>
                  </a:extLst>
                </a:gridCol>
              </a:tblGrid>
              <a:tr h="370840">
                <a:tc>
                  <a:txBody>
                    <a:bodyPr/>
                    <a:lstStyle/>
                    <a:p>
                      <a:pPr algn="l"/>
                      <a:r>
                        <a:rPr lang="zh-CN" altLang="en-US" sz="2000" dirty="0">
                          <a:solidFill>
                            <a:srgbClr val="C00000"/>
                          </a:solidFill>
                        </a:rPr>
                        <a:t>接口类型</a:t>
                      </a:r>
                    </a:p>
                  </a:txBody>
                  <a:tcPr marL="86360" marR="86360"/>
                </a:tc>
                <a:tc>
                  <a:txBody>
                    <a:bodyPr/>
                    <a:lstStyle/>
                    <a:p>
                      <a:pPr algn="l"/>
                      <a:r>
                        <a:rPr lang="zh-CN" altLang="en-US" sz="2000" dirty="0">
                          <a:solidFill>
                            <a:srgbClr val="C00000"/>
                          </a:solidFill>
                        </a:rPr>
                        <a:t>接口名称</a:t>
                      </a:r>
                    </a:p>
                  </a:txBody>
                  <a:tcPr marL="86360" marR="86360"/>
                </a:tc>
                <a:tc>
                  <a:txBody>
                    <a:bodyPr/>
                    <a:lstStyle/>
                    <a:p>
                      <a:pPr algn="l"/>
                      <a:r>
                        <a:rPr lang="zh-CN" altLang="en-US" sz="2000" dirty="0">
                          <a:solidFill>
                            <a:srgbClr val="C00000"/>
                          </a:solidFill>
                        </a:rPr>
                        <a:t>说明</a:t>
                      </a:r>
                    </a:p>
                  </a:txBody>
                  <a:tcPr marL="86360" marR="86360"/>
                </a:tc>
                <a:extLst>
                  <a:ext uri="{0D108BD9-81ED-4DB2-BD59-A6C34878D82A}">
                    <a16:rowId xmlns:a16="http://schemas.microsoft.com/office/drawing/2014/main" val="10000"/>
                  </a:ext>
                </a:extLst>
              </a:tr>
              <a:tr h="370840">
                <a:tc>
                  <a:txBody>
                    <a:bodyPr/>
                    <a:lstStyle/>
                    <a:p>
                      <a:r>
                        <a:rPr lang="zh-CN" altLang="en-US" sz="2000" dirty="0">
                          <a:solidFill>
                            <a:srgbClr val="FF0000"/>
                          </a:solidFill>
                        </a:rPr>
                        <a:t>以太网</a:t>
                      </a:r>
                      <a:r>
                        <a:rPr lang="zh-CN" altLang="en-US" sz="2000" dirty="0"/>
                        <a:t>接口</a:t>
                      </a:r>
                    </a:p>
                  </a:txBody>
                  <a:tcPr marL="86360" marR="86360" anchor="ctr"/>
                </a:tc>
                <a:tc>
                  <a:txBody>
                    <a:bodyPr/>
                    <a:lstStyle/>
                    <a:p>
                      <a:pPr algn="ctr"/>
                      <a:r>
                        <a:rPr lang="en-US" altLang="zh-CN" sz="2000" dirty="0" err="1"/>
                        <a:t>eth</a:t>
                      </a:r>
                      <a:r>
                        <a:rPr lang="en-US" altLang="zh-CN" sz="2000" dirty="0" err="1">
                          <a:solidFill>
                            <a:srgbClr val="C00000"/>
                          </a:solidFill>
                        </a:rPr>
                        <a:t>X</a:t>
                      </a:r>
                      <a:endParaRPr lang="zh-CN" altLang="en-US" sz="2000" dirty="0">
                        <a:solidFill>
                          <a:srgbClr val="C00000"/>
                        </a:solidFill>
                      </a:endParaRPr>
                    </a:p>
                  </a:txBody>
                  <a:tcPr marL="86360" marR="86360" anchor="ctr"/>
                </a:tc>
                <a:tc>
                  <a:txBody>
                    <a:bodyPr/>
                    <a:lstStyle/>
                    <a:p>
                      <a:r>
                        <a:rPr lang="zh-CN" altLang="en-US" sz="2000" dirty="0"/>
                        <a:t>是</a:t>
                      </a:r>
                      <a:r>
                        <a:rPr lang="zh-CN" altLang="en-US" sz="2000" dirty="0">
                          <a:solidFill>
                            <a:srgbClr val="FF0000"/>
                          </a:solidFill>
                        </a:rPr>
                        <a:t>最常用的网络接口</a:t>
                      </a:r>
                    </a:p>
                  </a:txBody>
                  <a:tcPr marL="86360" marR="86360"/>
                </a:tc>
                <a:extLst>
                  <a:ext uri="{0D108BD9-81ED-4DB2-BD59-A6C34878D82A}">
                    <a16:rowId xmlns:a16="http://schemas.microsoft.com/office/drawing/2014/main" val="10001"/>
                  </a:ext>
                </a:extLst>
              </a:tr>
              <a:tr h="370840">
                <a:tc>
                  <a:txBody>
                    <a:bodyPr/>
                    <a:lstStyle/>
                    <a:p>
                      <a:r>
                        <a:rPr lang="zh-CN" altLang="en-US" sz="2000" dirty="0">
                          <a:solidFill>
                            <a:srgbClr val="FF0000"/>
                          </a:solidFill>
                        </a:rPr>
                        <a:t>令牌环</a:t>
                      </a:r>
                      <a:r>
                        <a:rPr lang="zh-CN" altLang="en-US" sz="2000" dirty="0"/>
                        <a:t>接口</a:t>
                      </a:r>
                    </a:p>
                  </a:txBody>
                  <a:tcPr marL="86360" marR="86360" anchor="ctr"/>
                </a:tc>
                <a:tc>
                  <a:txBody>
                    <a:bodyPr/>
                    <a:lstStyle/>
                    <a:p>
                      <a:pPr algn="ctr"/>
                      <a:r>
                        <a:rPr lang="en-US" altLang="zh-CN" sz="2000" dirty="0" err="1"/>
                        <a:t>tr</a:t>
                      </a:r>
                      <a:r>
                        <a:rPr lang="en-US" altLang="zh-CN" sz="2000" dirty="0" err="1">
                          <a:solidFill>
                            <a:srgbClr val="C00000"/>
                          </a:solidFill>
                        </a:rPr>
                        <a:t>X</a:t>
                      </a:r>
                      <a:endParaRPr lang="zh-CN" altLang="en-US" sz="2000" dirty="0">
                        <a:solidFill>
                          <a:srgbClr val="C00000"/>
                        </a:solidFill>
                      </a:endParaRPr>
                    </a:p>
                  </a:txBody>
                  <a:tcPr marL="86360" marR="86360" anchor="ctr"/>
                </a:tc>
                <a:tc>
                  <a:txBody>
                    <a:bodyPr/>
                    <a:lstStyle/>
                    <a:p>
                      <a:r>
                        <a:rPr lang="zh-CN" altLang="en-US" sz="2000" dirty="0"/>
                        <a:t>只出现在少数纯</a:t>
                      </a:r>
                      <a:r>
                        <a:rPr lang="en-US" altLang="zh-CN" sz="2000" dirty="0"/>
                        <a:t>IBM</a:t>
                      </a:r>
                      <a:r>
                        <a:rPr lang="zh-CN" altLang="en-US" sz="2000" dirty="0"/>
                        <a:t>环境的网络中</a:t>
                      </a:r>
                    </a:p>
                  </a:txBody>
                  <a:tcPr marL="86360" marR="86360"/>
                </a:tc>
                <a:extLst>
                  <a:ext uri="{0D108BD9-81ED-4DB2-BD59-A6C34878D82A}">
                    <a16:rowId xmlns:a16="http://schemas.microsoft.com/office/drawing/2014/main" val="10002"/>
                  </a:ext>
                </a:extLst>
              </a:tr>
              <a:tr h="370840">
                <a:tc>
                  <a:txBody>
                    <a:bodyPr/>
                    <a:lstStyle/>
                    <a:p>
                      <a:r>
                        <a:rPr lang="zh-CN" altLang="en-US" sz="2000" dirty="0">
                          <a:solidFill>
                            <a:srgbClr val="FF0000"/>
                          </a:solidFill>
                        </a:rPr>
                        <a:t>光纤</a:t>
                      </a:r>
                      <a:r>
                        <a:rPr lang="zh-CN" altLang="en-US" sz="2000" dirty="0"/>
                        <a:t>分布式数据接口</a:t>
                      </a:r>
                    </a:p>
                  </a:txBody>
                  <a:tcPr marL="86360" marR="86360" anchor="ctr"/>
                </a:tc>
                <a:tc>
                  <a:txBody>
                    <a:bodyPr/>
                    <a:lstStyle/>
                    <a:p>
                      <a:pPr algn="ctr"/>
                      <a:r>
                        <a:rPr lang="en-US" altLang="zh-CN" sz="2000" dirty="0" err="1"/>
                        <a:t>fddi</a:t>
                      </a:r>
                      <a:r>
                        <a:rPr lang="en-US" altLang="zh-CN" sz="2000" dirty="0" err="1">
                          <a:solidFill>
                            <a:srgbClr val="C00000"/>
                          </a:solidFill>
                        </a:rPr>
                        <a:t>X</a:t>
                      </a:r>
                      <a:endParaRPr lang="zh-CN" altLang="en-US" sz="2000" dirty="0">
                        <a:solidFill>
                          <a:srgbClr val="C00000"/>
                        </a:solidFill>
                      </a:endParaRPr>
                    </a:p>
                  </a:txBody>
                  <a:tcPr marL="86360" marR="86360" anchor="ctr"/>
                </a:tc>
                <a:tc>
                  <a:txBody>
                    <a:bodyPr/>
                    <a:lstStyle/>
                    <a:p>
                      <a:r>
                        <a:rPr lang="en-US" altLang="zh-CN" sz="2000" dirty="0"/>
                        <a:t>FDDI</a:t>
                      </a:r>
                      <a:r>
                        <a:rPr lang="zh-CN" altLang="en-US" sz="2000" dirty="0"/>
                        <a:t>接口设备昂贵，通常用于</a:t>
                      </a:r>
                      <a:r>
                        <a:rPr lang="zh-CN" altLang="en-US" sz="2000" dirty="0">
                          <a:solidFill>
                            <a:srgbClr val="FF0000"/>
                          </a:solidFill>
                        </a:rPr>
                        <a:t>核心网或高速网络</a:t>
                      </a:r>
                      <a:r>
                        <a:rPr lang="zh-CN" altLang="en-US" sz="2000" dirty="0"/>
                        <a:t>中</a:t>
                      </a:r>
                    </a:p>
                  </a:txBody>
                  <a:tcPr marL="86360" marR="86360"/>
                </a:tc>
                <a:extLst>
                  <a:ext uri="{0D108BD9-81ED-4DB2-BD59-A6C34878D82A}">
                    <a16:rowId xmlns:a16="http://schemas.microsoft.com/office/drawing/2014/main" val="10003"/>
                  </a:ext>
                </a:extLst>
              </a:tr>
              <a:tr h="370840">
                <a:tc>
                  <a:txBody>
                    <a:bodyPr/>
                    <a:lstStyle/>
                    <a:p>
                      <a:r>
                        <a:rPr lang="zh-CN" altLang="en-US" sz="2000" dirty="0">
                          <a:solidFill>
                            <a:srgbClr val="FF0000"/>
                          </a:solidFill>
                        </a:rPr>
                        <a:t>点对点</a:t>
                      </a:r>
                      <a:r>
                        <a:rPr lang="zh-CN" altLang="en-US" sz="2000" dirty="0"/>
                        <a:t>协议接口</a:t>
                      </a:r>
                    </a:p>
                  </a:txBody>
                  <a:tcPr marL="86360" marR="86360" anchor="ctr"/>
                </a:tc>
                <a:tc>
                  <a:txBody>
                    <a:bodyPr/>
                    <a:lstStyle/>
                    <a:p>
                      <a:pPr algn="ctr"/>
                      <a:r>
                        <a:rPr lang="en-US" altLang="zh-CN" sz="2000" dirty="0" err="1"/>
                        <a:t>ppp</a:t>
                      </a:r>
                      <a:r>
                        <a:rPr lang="en-US" altLang="zh-CN" sz="2000" dirty="0" err="1">
                          <a:solidFill>
                            <a:srgbClr val="C00000"/>
                          </a:solidFill>
                        </a:rPr>
                        <a:t>X</a:t>
                      </a:r>
                      <a:endParaRPr lang="zh-CN" altLang="en-US" sz="2000" dirty="0">
                        <a:solidFill>
                          <a:srgbClr val="C00000"/>
                        </a:solidFill>
                      </a:endParaRPr>
                    </a:p>
                  </a:txBody>
                  <a:tcPr marL="86360" marR="86360" anchor="ctr"/>
                </a:tc>
                <a:tc>
                  <a:txBody>
                    <a:bodyPr/>
                    <a:lstStyle/>
                    <a:p>
                      <a:r>
                        <a:rPr lang="zh-CN" altLang="en-US" sz="2000" dirty="0"/>
                        <a:t>用于</a:t>
                      </a:r>
                      <a:r>
                        <a:rPr lang="en-US" altLang="zh-CN" sz="2000" dirty="0"/>
                        <a:t>Modem/ADSL</a:t>
                      </a:r>
                      <a:r>
                        <a:rPr lang="zh-CN" altLang="en-US" sz="2000" dirty="0"/>
                        <a:t>拨号网络或基于</a:t>
                      </a:r>
                      <a:r>
                        <a:rPr lang="en-US" altLang="zh-CN" sz="2000" dirty="0"/>
                        <a:t>PPTP</a:t>
                      </a:r>
                      <a:r>
                        <a:rPr lang="zh-CN" altLang="en-US" sz="2000" dirty="0"/>
                        <a:t>协议的</a:t>
                      </a:r>
                      <a:r>
                        <a:rPr lang="en-US" altLang="zh-CN" sz="2000" dirty="0">
                          <a:solidFill>
                            <a:srgbClr val="FF0000"/>
                          </a:solidFill>
                        </a:rPr>
                        <a:t>VPN</a:t>
                      </a:r>
                      <a:r>
                        <a:rPr lang="zh-CN" altLang="en-US" sz="2000" dirty="0"/>
                        <a:t>等</a:t>
                      </a:r>
                    </a:p>
                  </a:txBody>
                  <a:tcPr marL="86360" marR="86360"/>
                </a:tc>
                <a:extLst>
                  <a:ext uri="{0D108BD9-81ED-4DB2-BD59-A6C34878D82A}">
                    <a16:rowId xmlns:a16="http://schemas.microsoft.com/office/drawing/2014/main" val="10004"/>
                  </a:ext>
                </a:extLst>
              </a:tr>
              <a:tr h="370840">
                <a:tc>
                  <a:txBody>
                    <a:bodyPr/>
                    <a:lstStyle/>
                    <a:p>
                      <a:r>
                        <a:rPr lang="zh-CN" altLang="en-US" sz="2000" dirty="0">
                          <a:solidFill>
                            <a:srgbClr val="FF0000"/>
                          </a:solidFill>
                        </a:rPr>
                        <a:t>本地回环</a:t>
                      </a:r>
                      <a:r>
                        <a:rPr lang="zh-CN" altLang="en-US" sz="2000" dirty="0"/>
                        <a:t>接口</a:t>
                      </a:r>
                    </a:p>
                  </a:txBody>
                  <a:tcPr marL="86360" marR="86360" anchor="ctr"/>
                </a:tc>
                <a:tc>
                  <a:txBody>
                    <a:bodyPr/>
                    <a:lstStyle/>
                    <a:p>
                      <a:pPr algn="ctr"/>
                      <a:r>
                        <a:rPr lang="en-US" altLang="zh-CN" sz="2000" dirty="0"/>
                        <a:t>lo</a:t>
                      </a:r>
                      <a:endParaRPr lang="zh-CN" altLang="en-US" sz="2000" dirty="0"/>
                    </a:p>
                  </a:txBody>
                  <a:tcPr marL="86360" marR="86360" anchor="ctr"/>
                </a:tc>
                <a:tc>
                  <a:txBody>
                    <a:bodyPr/>
                    <a:lstStyle/>
                    <a:p>
                      <a:r>
                        <a:rPr lang="zh-CN" altLang="en-US" sz="2000" dirty="0"/>
                        <a:t>用于支持</a:t>
                      </a:r>
                      <a:r>
                        <a:rPr lang="en-US" altLang="zh-CN" sz="2000" dirty="0"/>
                        <a:t>UNIX Domain Socket</a:t>
                      </a:r>
                      <a:r>
                        <a:rPr lang="zh-CN" altLang="en-US" sz="2000" dirty="0"/>
                        <a:t>技术的</a:t>
                      </a:r>
                      <a:r>
                        <a:rPr lang="zh-CN" altLang="en-US" sz="2000" dirty="0">
                          <a:solidFill>
                            <a:srgbClr val="FF0000"/>
                          </a:solidFill>
                        </a:rPr>
                        <a:t>进程相互通信</a:t>
                      </a:r>
                      <a:r>
                        <a:rPr lang="zh-CN" altLang="en-US" sz="2000" dirty="0"/>
                        <a:t>（</a:t>
                      </a:r>
                      <a:r>
                        <a:rPr lang="en-US" altLang="zh-CN" sz="2000" dirty="0"/>
                        <a:t>IPC</a:t>
                      </a:r>
                      <a:r>
                        <a:rPr lang="zh-CN" altLang="en-US" sz="2000" dirty="0"/>
                        <a:t>）</a:t>
                      </a:r>
                    </a:p>
                  </a:txBody>
                  <a:tcPr marL="86360" marR="86360"/>
                </a:tc>
                <a:extLst>
                  <a:ext uri="{0D108BD9-81ED-4DB2-BD59-A6C34878D82A}">
                    <a16:rowId xmlns:a16="http://schemas.microsoft.com/office/drawing/2014/main" val="10005"/>
                  </a:ext>
                </a:extLst>
              </a:tr>
            </a:tbl>
          </a:graphicData>
        </a:graphic>
      </p:graphicFrame>
      <p:sp>
        <p:nvSpPr>
          <p:cNvPr id="8" name="TextBox 7"/>
          <p:cNvSpPr txBox="1"/>
          <p:nvPr/>
        </p:nvSpPr>
        <p:spPr>
          <a:xfrm>
            <a:off x="1403648" y="5229200"/>
            <a:ext cx="6480720" cy="70788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000" dirty="0">
                <a:solidFill>
                  <a:srgbClr val="C00000"/>
                </a:solidFill>
              </a:rPr>
              <a:t>X</a:t>
            </a:r>
            <a:r>
              <a:rPr lang="zh-CN" altLang="en-US" sz="2000" dirty="0"/>
              <a:t>是从</a:t>
            </a:r>
            <a:r>
              <a:rPr lang="en-US" altLang="zh-CN" sz="2000" dirty="0"/>
              <a:t>0</a:t>
            </a:r>
            <a:r>
              <a:rPr lang="zh-CN" altLang="en-US" sz="2000" dirty="0"/>
              <a:t>开始的整数。如：</a:t>
            </a:r>
            <a:r>
              <a:rPr lang="en-US" altLang="zh-CN" sz="2000" dirty="0"/>
              <a:t>eth0</a:t>
            </a:r>
            <a:r>
              <a:rPr lang="zh-CN" altLang="en-US" sz="2000" dirty="0"/>
              <a:t>代表第一块以太网卡，</a:t>
            </a:r>
            <a:r>
              <a:rPr lang="en-US" altLang="zh-CN" sz="2000" dirty="0"/>
              <a:t>eth1</a:t>
            </a:r>
            <a:r>
              <a:rPr lang="zh-CN" altLang="en-US" sz="2000" dirty="0"/>
              <a:t>代表第二块以太网卡等。</a:t>
            </a:r>
            <a:endParaRPr lang="en-US" altLang="zh-C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一致的网络设备命名</a:t>
            </a:r>
            <a:endParaRPr lang="zh-CN" altLang="en-US" dirty="0"/>
          </a:p>
        </p:txBody>
      </p:sp>
      <p:sp>
        <p:nvSpPr>
          <p:cNvPr id="3" name="内容占位符 2"/>
          <p:cNvSpPr>
            <a:spLocks noGrp="1"/>
          </p:cNvSpPr>
          <p:nvPr>
            <p:ph idx="1"/>
          </p:nvPr>
        </p:nvSpPr>
        <p:spPr>
          <a:xfrm>
            <a:off x="575048" y="1244228"/>
            <a:ext cx="8568952" cy="4934173"/>
          </a:xfrm>
        </p:spPr>
        <p:txBody>
          <a:bodyPr/>
          <a:lstStyle/>
          <a:p>
            <a:r>
              <a:rPr lang="en-US" altLang="zh-CN" dirty="0"/>
              <a:t>Consistent Network Device Naming</a:t>
            </a:r>
          </a:p>
          <a:p>
            <a:pPr lvl="1"/>
            <a:r>
              <a:rPr lang="zh-CN" altLang="zh-CN" sz="2600" dirty="0"/>
              <a:t>基于</a:t>
            </a:r>
            <a:r>
              <a:rPr lang="zh-CN" altLang="zh-CN" sz="2600" dirty="0">
                <a:solidFill>
                  <a:srgbClr val="FF0000"/>
                </a:solidFill>
              </a:rPr>
              <a:t>固件</a:t>
            </a:r>
            <a:r>
              <a:rPr lang="en-US" altLang="zh-CN" sz="2600" dirty="0">
                <a:solidFill>
                  <a:srgbClr val="FF0000"/>
                </a:solidFill>
              </a:rPr>
              <a:t>/</a:t>
            </a:r>
            <a:r>
              <a:rPr lang="zh-CN" altLang="zh-CN" sz="2600" dirty="0">
                <a:solidFill>
                  <a:srgbClr val="FF0000"/>
                </a:solidFill>
              </a:rPr>
              <a:t>硬件拓扑和设备位置信息分配</a:t>
            </a:r>
            <a:r>
              <a:rPr lang="zh-CN" altLang="zh-CN" sz="2600" dirty="0"/>
              <a:t>的固定名称</a:t>
            </a:r>
            <a:endParaRPr lang="en-US" altLang="zh-CN" sz="2600" dirty="0"/>
          </a:p>
          <a:p>
            <a:r>
              <a:rPr lang="zh-CN" altLang="zh-CN" dirty="0"/>
              <a:t>一致的网络设备名以</a:t>
            </a:r>
            <a:r>
              <a:rPr lang="zh-CN" altLang="zh-CN" dirty="0">
                <a:solidFill>
                  <a:srgbClr val="FF0000"/>
                </a:solidFill>
              </a:rPr>
              <a:t>双字符前缀</a:t>
            </a:r>
            <a:r>
              <a:rPr lang="zh-CN" altLang="zh-CN" dirty="0"/>
              <a:t>开始：</a:t>
            </a:r>
          </a:p>
          <a:p>
            <a:pPr lvl="1"/>
            <a:r>
              <a:rPr lang="en-US" altLang="zh-CN" sz="2600" b="1" dirty="0" err="1">
                <a:solidFill>
                  <a:srgbClr val="FF0000"/>
                </a:solidFill>
              </a:rPr>
              <a:t>en</a:t>
            </a:r>
            <a:r>
              <a:rPr lang="zh-CN" altLang="zh-CN" sz="2600" dirty="0"/>
              <a:t>：表示</a:t>
            </a:r>
            <a:r>
              <a:rPr lang="zh-CN" altLang="zh-CN" sz="2600" dirty="0">
                <a:solidFill>
                  <a:srgbClr val="FF0000"/>
                </a:solidFill>
              </a:rPr>
              <a:t>以太网</a:t>
            </a:r>
            <a:r>
              <a:rPr lang="zh-CN" altLang="zh-CN" sz="2600" dirty="0"/>
              <a:t>设备（</a:t>
            </a:r>
            <a:r>
              <a:rPr lang="en-US" altLang="zh-CN" sz="2600" b="1" dirty="0" err="1"/>
              <a:t>E</a:t>
            </a:r>
            <a:r>
              <a:rPr lang="en-US" altLang="zh-CN" sz="2600" dirty="0" err="1"/>
              <a:t>ther</a:t>
            </a:r>
            <a:r>
              <a:rPr lang="en-US" altLang="zh-CN" sz="2600" b="1" dirty="0" err="1"/>
              <a:t>N</a:t>
            </a:r>
            <a:r>
              <a:rPr lang="en-US" altLang="zh-CN" sz="2600" dirty="0" err="1"/>
              <a:t>et</a:t>
            </a:r>
            <a:r>
              <a:rPr lang="zh-CN" altLang="zh-CN" sz="2600" dirty="0"/>
              <a:t>）</a:t>
            </a:r>
          </a:p>
          <a:p>
            <a:pPr lvl="1"/>
            <a:r>
              <a:rPr lang="en-US" altLang="zh-CN" sz="2600" b="1" dirty="0" err="1">
                <a:solidFill>
                  <a:srgbClr val="FF0000"/>
                </a:solidFill>
              </a:rPr>
              <a:t>wl</a:t>
            </a:r>
            <a:r>
              <a:rPr lang="zh-CN" altLang="zh-CN" sz="2600" dirty="0"/>
              <a:t>：表示</a:t>
            </a:r>
            <a:r>
              <a:rPr lang="zh-CN" altLang="zh-CN" sz="2600" dirty="0">
                <a:solidFill>
                  <a:srgbClr val="FF0000"/>
                </a:solidFill>
              </a:rPr>
              <a:t>无线局域网</a:t>
            </a:r>
            <a:r>
              <a:rPr lang="zh-CN" altLang="zh-CN" sz="2600" dirty="0"/>
              <a:t>设备（</a:t>
            </a:r>
            <a:r>
              <a:rPr lang="en-US" altLang="zh-CN" sz="2600" b="1" dirty="0"/>
              <a:t>W</a:t>
            </a:r>
            <a:r>
              <a:rPr lang="en-US" altLang="zh-CN" sz="2600" dirty="0"/>
              <a:t>ireless </a:t>
            </a:r>
            <a:r>
              <a:rPr lang="en-US" altLang="zh-CN" sz="2600" b="1" dirty="0"/>
              <a:t>L</a:t>
            </a:r>
            <a:r>
              <a:rPr lang="en-US" altLang="zh-CN" sz="2600" dirty="0"/>
              <a:t>AN</a:t>
            </a:r>
            <a:r>
              <a:rPr lang="zh-CN" altLang="zh-CN" sz="2600" dirty="0"/>
              <a:t>）</a:t>
            </a:r>
          </a:p>
          <a:p>
            <a:pPr lvl="1"/>
            <a:r>
              <a:rPr lang="en-US" altLang="zh-CN" sz="2600" b="1" dirty="0" err="1">
                <a:solidFill>
                  <a:srgbClr val="FF0000"/>
                </a:solidFill>
              </a:rPr>
              <a:t>ww</a:t>
            </a:r>
            <a:r>
              <a:rPr lang="zh-CN" altLang="zh-CN" sz="2600" dirty="0"/>
              <a:t>：表示</a:t>
            </a:r>
            <a:r>
              <a:rPr lang="zh-CN" altLang="zh-CN" sz="2600" dirty="0">
                <a:solidFill>
                  <a:srgbClr val="FF0000"/>
                </a:solidFill>
              </a:rPr>
              <a:t>无线广域网</a:t>
            </a:r>
            <a:r>
              <a:rPr lang="zh-CN" altLang="zh-CN" sz="2600" dirty="0"/>
              <a:t>设备（</a:t>
            </a:r>
            <a:r>
              <a:rPr lang="en-US" altLang="zh-CN" sz="2600" b="1" dirty="0"/>
              <a:t>W</a:t>
            </a:r>
            <a:r>
              <a:rPr lang="en-US" altLang="zh-CN" sz="2600" dirty="0"/>
              <a:t>ireless </a:t>
            </a:r>
            <a:r>
              <a:rPr lang="en-US" altLang="zh-CN" sz="2600" b="1" dirty="0"/>
              <a:t>W</a:t>
            </a:r>
            <a:r>
              <a:rPr lang="en-US" altLang="zh-CN" sz="2600" dirty="0"/>
              <a:t>AN</a:t>
            </a:r>
            <a:r>
              <a:rPr lang="zh-CN" altLang="zh-CN" sz="2600" dirty="0"/>
              <a:t>）</a:t>
            </a:r>
          </a:p>
          <a:p>
            <a:r>
              <a:rPr lang="zh-CN" altLang="zh-CN" dirty="0"/>
              <a:t>随后的第三个字符用于</a:t>
            </a:r>
            <a:r>
              <a:rPr lang="zh-CN" altLang="zh-CN" dirty="0">
                <a:solidFill>
                  <a:srgbClr val="FF0000"/>
                </a:solidFill>
              </a:rPr>
              <a:t>区分</a:t>
            </a:r>
            <a:r>
              <a:rPr lang="zh-CN" altLang="zh-CN" dirty="0"/>
              <a:t>不同的</a:t>
            </a:r>
            <a:r>
              <a:rPr lang="zh-CN" altLang="zh-CN" dirty="0">
                <a:solidFill>
                  <a:srgbClr val="FF0000"/>
                </a:solidFill>
              </a:rPr>
              <a:t>硬件类型</a:t>
            </a:r>
          </a:p>
          <a:p>
            <a:pPr lvl="1"/>
            <a:r>
              <a:rPr lang="en-US" altLang="zh-CN" b="1" dirty="0">
                <a:solidFill>
                  <a:srgbClr val="FF0000"/>
                </a:solidFill>
              </a:rPr>
              <a:t>o</a:t>
            </a:r>
            <a:r>
              <a:rPr lang="zh-CN" altLang="zh-CN" dirty="0"/>
              <a:t>：表示</a:t>
            </a:r>
            <a:r>
              <a:rPr lang="zh-CN" altLang="zh-CN" dirty="0">
                <a:solidFill>
                  <a:srgbClr val="FF0000"/>
                </a:solidFill>
              </a:rPr>
              <a:t>主板板载</a:t>
            </a:r>
            <a:r>
              <a:rPr lang="zh-CN" altLang="zh-CN" dirty="0"/>
              <a:t>设备（</a:t>
            </a:r>
            <a:r>
              <a:rPr lang="en-US" altLang="zh-CN" b="1" dirty="0"/>
              <a:t>O</a:t>
            </a:r>
            <a:r>
              <a:rPr lang="en-US" altLang="zh-CN" dirty="0"/>
              <a:t>nboard device</a:t>
            </a:r>
            <a:r>
              <a:rPr lang="zh-CN" altLang="zh-CN" dirty="0"/>
              <a:t>）</a:t>
            </a:r>
          </a:p>
          <a:p>
            <a:pPr lvl="1"/>
            <a:r>
              <a:rPr lang="en-US" altLang="zh-CN" b="1" dirty="0">
                <a:solidFill>
                  <a:srgbClr val="FF0000"/>
                </a:solidFill>
              </a:rPr>
              <a:t>s</a:t>
            </a:r>
            <a:r>
              <a:rPr lang="zh-CN" altLang="zh-CN" dirty="0"/>
              <a:t>：表示</a:t>
            </a:r>
            <a:r>
              <a:rPr lang="zh-CN" altLang="zh-CN" dirty="0">
                <a:solidFill>
                  <a:srgbClr val="FF0000"/>
                </a:solidFill>
              </a:rPr>
              <a:t>热插拔插</a:t>
            </a:r>
            <a:r>
              <a:rPr lang="zh-CN" altLang="zh-CN" dirty="0"/>
              <a:t>槽上的设备（</a:t>
            </a:r>
            <a:r>
              <a:rPr lang="en-US" altLang="zh-CN" dirty="0"/>
              <a:t>hot-plug </a:t>
            </a:r>
            <a:r>
              <a:rPr lang="en-US" altLang="zh-CN" b="1" dirty="0"/>
              <a:t>S</a:t>
            </a:r>
            <a:r>
              <a:rPr lang="en-US" altLang="zh-CN" dirty="0"/>
              <a:t>lot</a:t>
            </a:r>
            <a:r>
              <a:rPr lang="zh-CN" altLang="zh-CN" dirty="0"/>
              <a:t>）</a:t>
            </a:r>
          </a:p>
          <a:p>
            <a:pPr lvl="1"/>
            <a:r>
              <a:rPr lang="en-US" altLang="zh-CN" b="1" dirty="0">
                <a:solidFill>
                  <a:srgbClr val="FF0000"/>
                </a:solidFill>
              </a:rPr>
              <a:t>p</a:t>
            </a:r>
            <a:r>
              <a:rPr lang="zh-CN" altLang="zh-CN" dirty="0"/>
              <a:t>：表示</a:t>
            </a:r>
            <a:r>
              <a:rPr lang="en-US" altLang="zh-CN" dirty="0">
                <a:solidFill>
                  <a:srgbClr val="FF0000"/>
                </a:solidFill>
              </a:rPr>
              <a:t>PCI</a:t>
            </a:r>
            <a:r>
              <a:rPr lang="zh-CN" altLang="zh-CN" dirty="0">
                <a:solidFill>
                  <a:srgbClr val="FF0000"/>
                </a:solidFill>
              </a:rPr>
              <a:t>总线或</a:t>
            </a:r>
            <a:r>
              <a:rPr lang="en-US" altLang="zh-CN" dirty="0">
                <a:solidFill>
                  <a:srgbClr val="FF0000"/>
                </a:solidFill>
              </a:rPr>
              <a:t>USB</a:t>
            </a:r>
            <a:r>
              <a:rPr lang="zh-CN" altLang="zh-CN" dirty="0">
                <a:solidFill>
                  <a:srgbClr val="FF0000"/>
                </a:solidFill>
              </a:rPr>
              <a:t>接口</a:t>
            </a:r>
            <a:r>
              <a:rPr lang="zh-CN" altLang="zh-CN" dirty="0"/>
              <a:t>上的设备（</a:t>
            </a:r>
            <a:r>
              <a:rPr lang="en-US" altLang="zh-CN" b="1" dirty="0"/>
              <a:t>P</a:t>
            </a:r>
            <a:r>
              <a:rPr lang="en-US" altLang="zh-CN" dirty="0"/>
              <a:t>CI device</a:t>
            </a:r>
            <a:r>
              <a:rPr lang="zh-CN" altLang="zh-CN" dirty="0"/>
              <a:t>）</a:t>
            </a:r>
            <a:endParaRPr lang="zh-CN" altLang="en-US" dirty="0"/>
          </a:p>
        </p:txBody>
      </p:sp>
    </p:spTree>
    <p:extLst>
      <p:ext uri="{BB962C8B-B14F-4D97-AF65-F5344CB8AC3E}">
        <p14:creationId xmlns:p14="http://schemas.microsoft.com/office/powerpoint/2010/main" val="2635868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一致的网络设备名</a:t>
            </a:r>
            <a:r>
              <a:rPr lang="zh-CN" altLang="en-US" dirty="0"/>
              <a:t>举例</a:t>
            </a:r>
          </a:p>
        </p:txBody>
      </p:sp>
      <p:sp>
        <p:nvSpPr>
          <p:cNvPr id="3" name="内容占位符 2"/>
          <p:cNvSpPr>
            <a:spLocks noGrp="1"/>
          </p:cNvSpPr>
          <p:nvPr>
            <p:ph idx="1"/>
          </p:nvPr>
        </p:nvSpPr>
        <p:spPr>
          <a:xfrm>
            <a:off x="899592" y="1556792"/>
            <a:ext cx="7772400" cy="4114800"/>
          </a:xfrm>
        </p:spPr>
        <p:txBody>
          <a:bodyPr/>
          <a:lstStyle/>
          <a:p>
            <a:pPr lvl="0"/>
            <a:r>
              <a:rPr lang="en-US" altLang="zh-CN" b="1" dirty="0"/>
              <a:t>eno16777736</a:t>
            </a:r>
            <a:endParaRPr lang="en-US" altLang="zh-CN" dirty="0"/>
          </a:p>
          <a:p>
            <a:pPr lvl="1"/>
            <a:r>
              <a:rPr lang="zh-CN" altLang="zh-CN" dirty="0"/>
              <a:t>板载的以太网设备（设备索引编号为</a:t>
            </a:r>
            <a:r>
              <a:rPr lang="en-US" altLang="zh-CN" dirty="0"/>
              <a:t>16777736</a:t>
            </a:r>
            <a:r>
              <a:rPr lang="zh-CN" altLang="zh-CN" dirty="0"/>
              <a:t>）</a:t>
            </a:r>
          </a:p>
          <a:p>
            <a:pPr lvl="0"/>
            <a:r>
              <a:rPr lang="en-US" altLang="zh-CN" b="1" dirty="0"/>
              <a:t>enp0s8</a:t>
            </a:r>
            <a:endParaRPr lang="en-US" altLang="zh-CN" dirty="0"/>
          </a:p>
          <a:p>
            <a:pPr lvl="1"/>
            <a:r>
              <a:rPr lang="en-US" altLang="zh-CN" dirty="0"/>
              <a:t>PCI</a:t>
            </a:r>
            <a:r>
              <a:rPr lang="zh-CN" altLang="zh-CN" dirty="0"/>
              <a:t>接口的以太网设备（</a:t>
            </a:r>
            <a:r>
              <a:rPr lang="en-US" altLang="zh-CN" dirty="0"/>
              <a:t>PCI</a:t>
            </a:r>
            <a:r>
              <a:rPr lang="zh-CN" altLang="zh-CN" dirty="0"/>
              <a:t>总线地址</a:t>
            </a:r>
            <a:r>
              <a:rPr lang="en-US" altLang="zh-CN" dirty="0"/>
              <a:t>0</a:t>
            </a:r>
            <a:r>
              <a:rPr lang="zh-CN" altLang="zh-CN" dirty="0"/>
              <a:t>，插槽编号为</a:t>
            </a:r>
            <a:r>
              <a:rPr lang="en-US" altLang="zh-CN" dirty="0"/>
              <a:t>8</a:t>
            </a:r>
            <a:r>
              <a:rPr lang="zh-CN" altLang="zh-CN" dirty="0"/>
              <a:t>）</a:t>
            </a:r>
          </a:p>
          <a:p>
            <a:r>
              <a:rPr lang="en-US" altLang="zh-CN" b="1" dirty="0"/>
              <a:t>wlp12s0</a:t>
            </a:r>
            <a:endParaRPr lang="en-US" altLang="zh-CN" dirty="0"/>
          </a:p>
          <a:p>
            <a:pPr lvl="1"/>
            <a:r>
              <a:rPr lang="en-US" altLang="zh-CN" dirty="0"/>
              <a:t>PCI</a:t>
            </a:r>
            <a:r>
              <a:rPr lang="zh-CN" altLang="zh-CN" dirty="0"/>
              <a:t>接口的无线以太网设备（</a:t>
            </a:r>
            <a:r>
              <a:rPr lang="en-US" altLang="zh-CN" dirty="0"/>
              <a:t>PCI</a:t>
            </a:r>
            <a:r>
              <a:rPr lang="zh-CN" altLang="zh-CN" dirty="0"/>
              <a:t>总线地址</a:t>
            </a:r>
            <a:r>
              <a:rPr lang="en-US" altLang="zh-CN" dirty="0"/>
              <a:t>12</a:t>
            </a:r>
            <a:r>
              <a:rPr lang="zh-CN" altLang="zh-CN" dirty="0"/>
              <a:t>，插槽编号为</a:t>
            </a:r>
            <a:r>
              <a:rPr lang="en-US" altLang="zh-CN" dirty="0"/>
              <a:t>0</a:t>
            </a:r>
            <a:r>
              <a:rPr lang="zh-CN" altLang="zh-CN" dirty="0"/>
              <a:t>）</a:t>
            </a:r>
            <a:endParaRPr lang="zh-CN" altLang="en-US" dirty="0"/>
          </a:p>
        </p:txBody>
      </p:sp>
    </p:spTree>
    <p:extLst>
      <p:ext uri="{BB962C8B-B14F-4D97-AF65-F5344CB8AC3E}">
        <p14:creationId xmlns:p14="http://schemas.microsoft.com/office/powerpoint/2010/main" val="3799214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禁用一致的网络设备名</a:t>
            </a:r>
            <a:endParaRPr lang="zh-CN" altLang="en-US" dirty="0"/>
          </a:p>
        </p:txBody>
      </p:sp>
      <p:sp>
        <p:nvSpPr>
          <p:cNvPr id="3" name="内容占位符 2"/>
          <p:cNvSpPr>
            <a:spLocks noGrp="1"/>
          </p:cNvSpPr>
          <p:nvPr>
            <p:ph idx="1"/>
          </p:nvPr>
        </p:nvSpPr>
        <p:spPr>
          <a:xfrm>
            <a:off x="827584" y="1256913"/>
            <a:ext cx="8119566" cy="4114800"/>
          </a:xfrm>
        </p:spPr>
        <p:txBody>
          <a:bodyPr/>
          <a:lstStyle/>
          <a:p>
            <a:r>
              <a:rPr lang="zh-CN" altLang="en-US" dirty="0">
                <a:solidFill>
                  <a:srgbClr val="FF0000"/>
                </a:solidFill>
              </a:rPr>
              <a:t>方法</a:t>
            </a:r>
            <a:r>
              <a:rPr lang="en-US" altLang="zh-CN" dirty="0">
                <a:solidFill>
                  <a:srgbClr val="FF0000"/>
                </a:solidFill>
              </a:rPr>
              <a:t>1</a:t>
            </a:r>
            <a:r>
              <a:rPr lang="zh-CN" altLang="en-US" dirty="0">
                <a:solidFill>
                  <a:srgbClr val="FF0000"/>
                </a:solidFill>
              </a:rPr>
              <a:t>：禁用</a:t>
            </a:r>
            <a:r>
              <a:rPr lang="en-US" altLang="zh-CN" dirty="0">
                <a:solidFill>
                  <a:srgbClr val="FF0000"/>
                </a:solidFill>
              </a:rPr>
              <a:t>system-</a:t>
            </a:r>
            <a:r>
              <a:rPr lang="en-US" altLang="zh-CN" dirty="0" err="1">
                <a:solidFill>
                  <a:srgbClr val="FF0000"/>
                </a:solidFill>
              </a:rPr>
              <a:t>udev</a:t>
            </a:r>
            <a:r>
              <a:rPr lang="zh-CN" altLang="en-US" dirty="0">
                <a:solidFill>
                  <a:srgbClr val="FF0000"/>
                </a:solidFill>
              </a:rPr>
              <a:t>的规则文件</a:t>
            </a:r>
            <a:r>
              <a:rPr lang="en-US" altLang="zh-CN" dirty="0"/>
              <a:t>/</a:t>
            </a:r>
            <a:r>
              <a:rPr lang="en-US" altLang="zh-CN" dirty="0" err="1"/>
              <a:t>usr</a:t>
            </a:r>
            <a:r>
              <a:rPr lang="en-US" altLang="zh-CN" dirty="0"/>
              <a:t>/lib/</a:t>
            </a:r>
            <a:r>
              <a:rPr lang="en-US" altLang="zh-CN" dirty="0" err="1"/>
              <a:t>udev</a:t>
            </a:r>
            <a:r>
              <a:rPr lang="en-US" altLang="zh-CN" dirty="0"/>
              <a:t>/</a:t>
            </a:r>
            <a:r>
              <a:rPr lang="en-US" altLang="zh-CN" dirty="0" err="1"/>
              <a:t>rules.d</a:t>
            </a:r>
            <a:r>
              <a:rPr lang="en-US" altLang="zh-CN" dirty="0"/>
              <a:t>/80-net-name-slot.rules</a:t>
            </a:r>
          </a:p>
          <a:p>
            <a:pPr marL="344487" lvl="1" indent="0">
              <a:buNone/>
            </a:pPr>
            <a:r>
              <a:rPr lang="en-US" altLang="zh-CN" dirty="0"/>
              <a:t>ln -s  /dev/null  /etc/</a:t>
            </a:r>
            <a:r>
              <a:rPr lang="en-US" altLang="zh-CN" dirty="0" err="1"/>
              <a:t>udev</a:t>
            </a:r>
            <a:r>
              <a:rPr lang="en-US" altLang="zh-CN" dirty="0"/>
              <a:t>/</a:t>
            </a:r>
            <a:r>
              <a:rPr lang="en-US" altLang="zh-CN" dirty="0" err="1"/>
              <a:t>rules.d</a:t>
            </a:r>
            <a:r>
              <a:rPr lang="en-US" altLang="zh-CN" dirty="0"/>
              <a:t>/80-net-name-slot.rules</a:t>
            </a:r>
          </a:p>
          <a:p>
            <a:r>
              <a:rPr lang="zh-CN" altLang="en-US" dirty="0">
                <a:solidFill>
                  <a:srgbClr val="FF0000"/>
                </a:solidFill>
              </a:rPr>
              <a:t>方法</a:t>
            </a:r>
            <a:r>
              <a:rPr lang="en-US" altLang="zh-CN" dirty="0">
                <a:solidFill>
                  <a:srgbClr val="FF0000"/>
                </a:solidFill>
              </a:rPr>
              <a:t>2</a:t>
            </a:r>
            <a:r>
              <a:rPr lang="zh-CN" altLang="en-US" dirty="0">
                <a:solidFill>
                  <a:srgbClr val="FF0000"/>
                </a:solidFill>
              </a:rPr>
              <a:t>：在</a:t>
            </a:r>
            <a:r>
              <a:rPr lang="en-US" altLang="zh-CN" dirty="0">
                <a:solidFill>
                  <a:srgbClr val="FF0000"/>
                </a:solidFill>
              </a:rPr>
              <a:t>GRUB2</a:t>
            </a:r>
            <a:r>
              <a:rPr lang="zh-CN" altLang="en-US" dirty="0">
                <a:solidFill>
                  <a:srgbClr val="FF0000"/>
                </a:solidFill>
              </a:rPr>
              <a:t>的配置中添加内核参数</a:t>
            </a:r>
            <a:r>
              <a:rPr lang="zh-CN" altLang="en-US" dirty="0"/>
              <a:t>“</a:t>
            </a:r>
            <a:r>
              <a:rPr lang="en-US" altLang="zh-CN" dirty="0" err="1"/>
              <a:t>net.ifnames</a:t>
            </a:r>
            <a:r>
              <a:rPr lang="en-US" altLang="zh-CN" dirty="0"/>
              <a:t>=0</a:t>
            </a:r>
            <a:r>
              <a:rPr lang="zh-CN" altLang="en-US" dirty="0"/>
              <a:t>”</a:t>
            </a:r>
            <a:endParaRPr lang="en-US" altLang="zh-CN" dirty="0"/>
          </a:p>
          <a:p>
            <a:pPr marL="344487" lvl="1" indent="0">
              <a:buNone/>
            </a:pPr>
            <a:r>
              <a:rPr lang="en-US" altLang="zh-CN" dirty="0"/>
              <a:t>grubby --update-kernel=ALL --</a:t>
            </a:r>
            <a:r>
              <a:rPr lang="en-US" altLang="zh-CN" dirty="0" err="1"/>
              <a:t>args</a:t>
            </a:r>
            <a:r>
              <a:rPr lang="en-US" altLang="zh-CN" dirty="0"/>
              <a:t>=</a:t>
            </a:r>
            <a:r>
              <a:rPr lang="en-US" altLang="zh-CN" dirty="0" err="1"/>
              <a:t>net.ifnames</a:t>
            </a:r>
            <a:r>
              <a:rPr lang="en-US" altLang="zh-CN" dirty="0"/>
              <a:t>=0</a:t>
            </a:r>
          </a:p>
          <a:p>
            <a:r>
              <a:rPr lang="zh-CN" altLang="zh-CN" dirty="0"/>
              <a:t>无论使用哪种方法，执行上面的命令之后需要</a:t>
            </a:r>
            <a:r>
              <a:rPr lang="zh-CN" altLang="zh-CN" dirty="0">
                <a:solidFill>
                  <a:srgbClr val="FF0000"/>
                </a:solidFill>
              </a:rPr>
              <a:t>重新启动系统</a:t>
            </a:r>
            <a:endParaRPr lang="zh-CN" altLang="en-US" dirty="0"/>
          </a:p>
        </p:txBody>
      </p:sp>
      <p:sp>
        <p:nvSpPr>
          <p:cNvPr id="4" name="矩形 3"/>
          <p:cNvSpPr/>
          <p:nvPr/>
        </p:nvSpPr>
        <p:spPr>
          <a:xfrm>
            <a:off x="5775303" y="10845"/>
            <a:ext cx="3168352"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CN" dirty="0"/>
              <a:t>GRUB</a:t>
            </a:r>
            <a:r>
              <a:rPr lang="zh-CN" altLang="en-US" dirty="0"/>
              <a:t>（</a:t>
            </a:r>
            <a:r>
              <a:rPr lang="en-US" altLang="zh-CN" dirty="0" err="1"/>
              <a:t>GRand</a:t>
            </a:r>
            <a:r>
              <a:rPr lang="en-US" altLang="zh-CN" dirty="0"/>
              <a:t> Unified Bootloader</a:t>
            </a:r>
            <a:r>
              <a:rPr lang="zh-CN" altLang="en-US" dirty="0"/>
              <a:t>）：是一个多操作系统启动程序，它允许用户在计算机启动时选择不同的操作系统或内核。</a:t>
            </a:r>
          </a:p>
        </p:txBody>
      </p:sp>
    </p:spTree>
    <p:extLst>
      <p:ext uri="{BB962C8B-B14F-4D97-AF65-F5344CB8AC3E}">
        <p14:creationId xmlns:p14="http://schemas.microsoft.com/office/powerpoint/2010/main" val="1955524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的网络服务应用</a:t>
            </a:r>
          </a:p>
        </p:txBody>
      </p:sp>
      <p:sp>
        <p:nvSpPr>
          <p:cNvPr id="3" name="内容占位符 2"/>
          <p:cNvSpPr>
            <a:spLocks noGrp="1"/>
          </p:cNvSpPr>
          <p:nvPr>
            <p:ph idx="1"/>
          </p:nvPr>
        </p:nvSpPr>
        <p:spPr>
          <a:xfrm>
            <a:off x="270694" y="1484784"/>
            <a:ext cx="8676456" cy="5040560"/>
          </a:xfrm>
        </p:spPr>
        <p:txBody>
          <a:bodyPr/>
          <a:lstStyle/>
          <a:p>
            <a:r>
              <a:rPr lang="en-US" altLang="zh-CN" dirty="0"/>
              <a:t>Linux</a:t>
            </a:r>
            <a:r>
              <a:rPr lang="zh-CN" altLang="en-US" dirty="0"/>
              <a:t>几乎</a:t>
            </a:r>
            <a:r>
              <a:rPr lang="zh-CN" altLang="en-US" dirty="0">
                <a:solidFill>
                  <a:srgbClr val="FF0000"/>
                </a:solidFill>
              </a:rPr>
              <a:t>支持</a:t>
            </a:r>
            <a:r>
              <a:rPr lang="en-US" altLang="zh-CN" dirty="0"/>
              <a:t>Internet</a:t>
            </a:r>
            <a:r>
              <a:rPr lang="zh-CN" altLang="en-US" dirty="0"/>
              <a:t>世界里所有的</a:t>
            </a:r>
            <a:r>
              <a:rPr lang="zh-CN" altLang="en-US" dirty="0">
                <a:solidFill>
                  <a:srgbClr val="FF0000"/>
                </a:solidFill>
              </a:rPr>
              <a:t>网络服务</a:t>
            </a:r>
            <a:endParaRPr lang="en-US" altLang="zh-CN" dirty="0">
              <a:solidFill>
                <a:srgbClr val="FF0000"/>
              </a:solidFill>
            </a:endParaRPr>
          </a:p>
          <a:p>
            <a:pPr lvl="1"/>
            <a:r>
              <a:rPr lang="en-US" altLang="zh-CN" dirty="0">
                <a:solidFill>
                  <a:srgbClr val="FF0000"/>
                </a:solidFill>
              </a:rPr>
              <a:t>WWW</a:t>
            </a:r>
            <a:r>
              <a:rPr lang="zh-CN" altLang="en-US" dirty="0">
                <a:solidFill>
                  <a:srgbClr val="FF0000"/>
                </a:solidFill>
              </a:rPr>
              <a:t>服务</a:t>
            </a:r>
            <a:r>
              <a:rPr lang="zh-CN" altLang="en-US" dirty="0"/>
              <a:t>：</a:t>
            </a:r>
            <a:r>
              <a:rPr lang="en-US" altLang="zh-CN" dirty="0"/>
              <a:t> </a:t>
            </a:r>
            <a:r>
              <a:rPr lang="en-US" altLang="zh-CN" sz="2400" dirty="0">
                <a:solidFill>
                  <a:srgbClr val="002060"/>
                </a:solidFill>
              </a:rPr>
              <a:t>Apache</a:t>
            </a:r>
            <a:r>
              <a:rPr lang="zh-CN" altLang="en-US" sz="2400" dirty="0">
                <a:solidFill>
                  <a:srgbClr val="002060"/>
                </a:solidFill>
              </a:rPr>
              <a:t>、</a:t>
            </a:r>
            <a:r>
              <a:rPr lang="en-US" altLang="zh-CN" sz="2400" dirty="0" err="1">
                <a:solidFill>
                  <a:srgbClr val="002060"/>
                </a:solidFill>
              </a:rPr>
              <a:t>Ngnix</a:t>
            </a:r>
            <a:r>
              <a:rPr lang="zh-CN" altLang="en-US" sz="2400" dirty="0">
                <a:solidFill>
                  <a:srgbClr val="002060"/>
                </a:solidFill>
              </a:rPr>
              <a:t>、</a:t>
            </a:r>
            <a:r>
              <a:rPr lang="en-US" altLang="zh-CN" sz="2400" dirty="0" err="1">
                <a:solidFill>
                  <a:srgbClr val="002060"/>
                </a:solidFill>
              </a:rPr>
              <a:t>Lighttpd</a:t>
            </a:r>
            <a:endParaRPr lang="en-US" altLang="zh-CN" dirty="0">
              <a:solidFill>
                <a:srgbClr val="002060"/>
              </a:solidFill>
            </a:endParaRPr>
          </a:p>
          <a:p>
            <a:pPr lvl="1"/>
            <a:r>
              <a:rPr lang="en-US" altLang="zh-CN" dirty="0">
                <a:solidFill>
                  <a:srgbClr val="FF0000"/>
                </a:solidFill>
              </a:rPr>
              <a:t>Email</a:t>
            </a:r>
            <a:r>
              <a:rPr lang="zh-CN" altLang="en-US" dirty="0">
                <a:solidFill>
                  <a:srgbClr val="FF0000"/>
                </a:solidFill>
              </a:rPr>
              <a:t>服务</a:t>
            </a:r>
            <a:r>
              <a:rPr lang="zh-CN" altLang="en-US" dirty="0"/>
              <a:t>：</a:t>
            </a:r>
            <a:r>
              <a:rPr lang="en-US" altLang="zh-CN" dirty="0"/>
              <a:t> </a:t>
            </a:r>
            <a:r>
              <a:rPr lang="en-US" altLang="zh-CN" sz="2400" dirty="0">
                <a:solidFill>
                  <a:srgbClr val="002060"/>
                </a:solidFill>
              </a:rPr>
              <a:t>Postfix</a:t>
            </a:r>
            <a:r>
              <a:rPr lang="zh-CN" altLang="en-US" sz="2400" dirty="0">
                <a:solidFill>
                  <a:srgbClr val="002060"/>
                </a:solidFill>
              </a:rPr>
              <a:t>、</a:t>
            </a:r>
            <a:r>
              <a:rPr lang="en-US" altLang="zh-CN" sz="2400" dirty="0" err="1">
                <a:solidFill>
                  <a:srgbClr val="002060"/>
                </a:solidFill>
              </a:rPr>
              <a:t>Qmail</a:t>
            </a:r>
            <a:r>
              <a:rPr lang="zh-CN" altLang="en-US" sz="2400" dirty="0">
                <a:solidFill>
                  <a:srgbClr val="002060"/>
                </a:solidFill>
              </a:rPr>
              <a:t>、</a:t>
            </a:r>
            <a:r>
              <a:rPr lang="en-US" altLang="zh-CN" sz="2400" dirty="0" err="1">
                <a:solidFill>
                  <a:srgbClr val="002060"/>
                </a:solidFill>
              </a:rPr>
              <a:t>Sendmail</a:t>
            </a:r>
            <a:r>
              <a:rPr lang="zh-CN" altLang="en-US" sz="2400" dirty="0">
                <a:solidFill>
                  <a:srgbClr val="002060"/>
                </a:solidFill>
              </a:rPr>
              <a:t>、</a:t>
            </a:r>
            <a:r>
              <a:rPr lang="en-US" altLang="zh-CN" sz="2400" dirty="0" err="1">
                <a:solidFill>
                  <a:srgbClr val="002060"/>
                </a:solidFill>
              </a:rPr>
              <a:t>Exim</a:t>
            </a:r>
            <a:endParaRPr lang="en-US" altLang="zh-CN" dirty="0">
              <a:solidFill>
                <a:srgbClr val="002060"/>
              </a:solidFill>
            </a:endParaRPr>
          </a:p>
          <a:p>
            <a:pPr lvl="2"/>
            <a:r>
              <a:rPr lang="en-US" altLang="zh-CN" dirty="0">
                <a:solidFill>
                  <a:schemeClr val="accent6">
                    <a:lumMod val="75000"/>
                  </a:schemeClr>
                </a:solidFill>
              </a:rPr>
              <a:t>Dovecot IMAP</a:t>
            </a:r>
            <a:r>
              <a:rPr lang="zh-CN" altLang="en-US" dirty="0">
                <a:solidFill>
                  <a:schemeClr val="accent6">
                    <a:lumMod val="75000"/>
                  </a:schemeClr>
                </a:solidFill>
              </a:rPr>
              <a:t>、</a:t>
            </a:r>
            <a:r>
              <a:rPr lang="en-US" altLang="zh-CN" dirty="0">
                <a:solidFill>
                  <a:schemeClr val="accent6">
                    <a:lumMod val="75000"/>
                  </a:schemeClr>
                </a:solidFill>
              </a:rPr>
              <a:t>Cyrus IMAP</a:t>
            </a:r>
            <a:r>
              <a:rPr lang="zh-CN" altLang="en-US" dirty="0">
                <a:solidFill>
                  <a:schemeClr val="accent6">
                    <a:lumMod val="75000"/>
                  </a:schemeClr>
                </a:solidFill>
              </a:rPr>
              <a:t>、</a:t>
            </a:r>
            <a:r>
              <a:rPr lang="en-US" altLang="zh-CN" dirty="0">
                <a:solidFill>
                  <a:schemeClr val="accent6">
                    <a:lumMod val="75000"/>
                  </a:schemeClr>
                </a:solidFill>
              </a:rPr>
              <a:t>Courier IMAP</a:t>
            </a:r>
          </a:p>
          <a:p>
            <a:pPr lvl="1"/>
            <a:r>
              <a:rPr lang="en-US" altLang="zh-CN" dirty="0">
                <a:solidFill>
                  <a:srgbClr val="FF0000"/>
                </a:solidFill>
              </a:rPr>
              <a:t>FTP</a:t>
            </a:r>
            <a:r>
              <a:rPr lang="zh-CN" altLang="en-US" dirty="0">
                <a:solidFill>
                  <a:srgbClr val="FF0000"/>
                </a:solidFill>
              </a:rPr>
              <a:t>服务</a:t>
            </a:r>
            <a:r>
              <a:rPr lang="zh-CN" altLang="en-US" dirty="0"/>
              <a:t>：</a:t>
            </a:r>
            <a:r>
              <a:rPr lang="en-US" altLang="zh-CN" dirty="0"/>
              <a:t> </a:t>
            </a:r>
            <a:r>
              <a:rPr lang="en-US" altLang="zh-CN" sz="2400" dirty="0" err="1">
                <a:solidFill>
                  <a:srgbClr val="002060"/>
                </a:solidFill>
              </a:rPr>
              <a:t>Vsftpd</a:t>
            </a:r>
            <a:r>
              <a:rPr lang="zh-CN" altLang="en-US" sz="2400" dirty="0">
                <a:solidFill>
                  <a:srgbClr val="002060"/>
                </a:solidFill>
              </a:rPr>
              <a:t>、</a:t>
            </a:r>
            <a:r>
              <a:rPr lang="en-US" altLang="zh-CN" sz="2400" dirty="0">
                <a:solidFill>
                  <a:srgbClr val="002060"/>
                </a:solidFill>
              </a:rPr>
              <a:t>pure-</a:t>
            </a:r>
            <a:r>
              <a:rPr lang="en-US" altLang="zh-CN" sz="2400" dirty="0" err="1">
                <a:solidFill>
                  <a:srgbClr val="002060"/>
                </a:solidFill>
              </a:rPr>
              <a:t>ftpd</a:t>
            </a:r>
            <a:r>
              <a:rPr lang="zh-CN" altLang="en-US" sz="2400" dirty="0">
                <a:solidFill>
                  <a:srgbClr val="002060"/>
                </a:solidFill>
              </a:rPr>
              <a:t>、</a:t>
            </a:r>
            <a:r>
              <a:rPr lang="en-US" altLang="zh-CN" sz="2400" dirty="0" err="1">
                <a:solidFill>
                  <a:srgbClr val="002060"/>
                </a:solidFill>
              </a:rPr>
              <a:t>Proftpd</a:t>
            </a:r>
            <a:r>
              <a:rPr lang="en-US" altLang="zh-CN" sz="2400" dirty="0">
                <a:solidFill>
                  <a:srgbClr val="002060"/>
                </a:solidFill>
              </a:rPr>
              <a:t> </a:t>
            </a:r>
            <a:r>
              <a:rPr lang="zh-CN" altLang="en-US" sz="2400" dirty="0">
                <a:solidFill>
                  <a:srgbClr val="002060"/>
                </a:solidFill>
              </a:rPr>
              <a:t>、</a:t>
            </a:r>
            <a:r>
              <a:rPr lang="en-US" altLang="zh-CN" sz="2400" dirty="0">
                <a:solidFill>
                  <a:srgbClr val="002060"/>
                </a:solidFill>
              </a:rPr>
              <a:t>Wu-</a:t>
            </a:r>
            <a:r>
              <a:rPr lang="en-US" altLang="zh-CN" sz="2400" dirty="0" err="1">
                <a:solidFill>
                  <a:srgbClr val="002060"/>
                </a:solidFill>
              </a:rPr>
              <a:t>ftpd</a:t>
            </a:r>
            <a:endParaRPr lang="en-US" altLang="zh-CN" dirty="0">
              <a:solidFill>
                <a:srgbClr val="002060"/>
              </a:solidFill>
            </a:endParaRPr>
          </a:p>
          <a:p>
            <a:pPr lvl="1"/>
            <a:r>
              <a:rPr lang="zh-CN" altLang="en-US" dirty="0">
                <a:solidFill>
                  <a:srgbClr val="FF0000"/>
                </a:solidFill>
              </a:rPr>
              <a:t>文件共享服务</a:t>
            </a:r>
            <a:r>
              <a:rPr lang="zh-CN" altLang="en-US" dirty="0"/>
              <a:t>：</a:t>
            </a:r>
            <a:r>
              <a:rPr lang="en-US" altLang="zh-CN" sz="2400" dirty="0">
                <a:solidFill>
                  <a:srgbClr val="002060"/>
                </a:solidFill>
              </a:rPr>
              <a:t>Samba</a:t>
            </a:r>
            <a:r>
              <a:rPr lang="zh-CN" altLang="en-US" sz="2400" dirty="0">
                <a:solidFill>
                  <a:srgbClr val="002060"/>
                </a:solidFill>
              </a:rPr>
              <a:t>、</a:t>
            </a:r>
            <a:r>
              <a:rPr lang="en-US" altLang="zh-CN" sz="2400" dirty="0">
                <a:solidFill>
                  <a:srgbClr val="002060"/>
                </a:solidFill>
              </a:rPr>
              <a:t>NFS</a:t>
            </a:r>
            <a:endParaRPr lang="en-US" altLang="zh-CN" dirty="0">
              <a:solidFill>
                <a:srgbClr val="002060"/>
              </a:solidFill>
            </a:endParaRPr>
          </a:p>
          <a:p>
            <a:pPr lvl="1"/>
            <a:r>
              <a:rPr lang="en-US" altLang="zh-CN" dirty="0">
                <a:solidFill>
                  <a:srgbClr val="FF0000"/>
                </a:solidFill>
              </a:rPr>
              <a:t>DNS</a:t>
            </a:r>
            <a:r>
              <a:rPr lang="zh-CN" altLang="en-US" dirty="0">
                <a:solidFill>
                  <a:srgbClr val="FF0000"/>
                </a:solidFill>
              </a:rPr>
              <a:t>服务</a:t>
            </a:r>
            <a:r>
              <a:rPr lang="zh-CN" altLang="en-US" dirty="0"/>
              <a:t>：</a:t>
            </a:r>
            <a:r>
              <a:rPr lang="en-US" altLang="zh-CN" sz="2400" dirty="0">
                <a:solidFill>
                  <a:srgbClr val="002060"/>
                </a:solidFill>
              </a:rPr>
              <a:t>BIND</a:t>
            </a:r>
          </a:p>
          <a:p>
            <a:pPr lvl="1"/>
            <a:r>
              <a:rPr lang="zh-CN" altLang="en-US" dirty="0">
                <a:solidFill>
                  <a:srgbClr val="FF0000"/>
                </a:solidFill>
              </a:rPr>
              <a:t>目录服务</a:t>
            </a:r>
            <a:r>
              <a:rPr lang="zh-CN" altLang="en-US" dirty="0"/>
              <a:t>：</a:t>
            </a:r>
            <a:r>
              <a:rPr lang="en-US" altLang="zh-CN" sz="2400" dirty="0" err="1">
                <a:solidFill>
                  <a:srgbClr val="002060"/>
                </a:solidFill>
              </a:rPr>
              <a:t>OpenLDAP</a:t>
            </a:r>
            <a:endParaRPr lang="en-US" altLang="zh-CN" sz="2400" dirty="0">
              <a:solidFill>
                <a:srgbClr val="002060"/>
              </a:solidFill>
            </a:endParaRPr>
          </a:p>
          <a:p>
            <a:pPr lvl="1"/>
            <a:r>
              <a:rPr lang="zh-CN" altLang="en-US" dirty="0">
                <a:solidFill>
                  <a:srgbClr val="FF0000"/>
                </a:solidFill>
              </a:rPr>
              <a:t>数据库服务</a:t>
            </a:r>
            <a:r>
              <a:rPr lang="zh-CN" altLang="en-US" dirty="0"/>
              <a:t>：</a:t>
            </a:r>
            <a:r>
              <a:rPr lang="en-US" altLang="zh-CN" dirty="0"/>
              <a:t> </a:t>
            </a:r>
            <a:r>
              <a:rPr lang="en-US" altLang="zh-CN" sz="2400" dirty="0" err="1">
                <a:solidFill>
                  <a:srgbClr val="002060"/>
                </a:solidFill>
              </a:rPr>
              <a:t>PostgreSQL</a:t>
            </a:r>
            <a:r>
              <a:rPr lang="zh-CN" altLang="en-US" sz="2400" dirty="0">
                <a:solidFill>
                  <a:srgbClr val="002060"/>
                </a:solidFill>
              </a:rPr>
              <a:t>、</a:t>
            </a:r>
            <a:r>
              <a:rPr lang="en-US" altLang="zh-CN" sz="2400" dirty="0" err="1">
                <a:solidFill>
                  <a:srgbClr val="002060"/>
                </a:solidFill>
              </a:rPr>
              <a:t>MySQL</a:t>
            </a:r>
            <a:r>
              <a:rPr lang="zh-CN" altLang="en-US" sz="2400" dirty="0">
                <a:solidFill>
                  <a:srgbClr val="002060"/>
                </a:solidFill>
              </a:rPr>
              <a:t>、</a:t>
            </a:r>
            <a:r>
              <a:rPr lang="en-US" altLang="zh-CN" sz="2400" dirty="0">
                <a:solidFill>
                  <a:srgbClr val="002060"/>
                </a:solidFill>
              </a:rPr>
              <a:t> Oracle</a:t>
            </a:r>
            <a:endParaRPr lang="en-US" altLang="zh-CN" dirty="0">
              <a:solidFill>
                <a:srgbClr val="002060"/>
              </a:solidFill>
            </a:endParaRPr>
          </a:p>
          <a:p>
            <a:pPr lvl="1"/>
            <a:r>
              <a:rPr lang="zh-CN" altLang="en-US" dirty="0">
                <a:solidFill>
                  <a:srgbClr val="FF0000"/>
                </a:solidFill>
              </a:rPr>
              <a:t>远程登录与管理</a:t>
            </a:r>
            <a:r>
              <a:rPr lang="zh-CN" altLang="en-US" dirty="0"/>
              <a:t>：</a:t>
            </a:r>
            <a:r>
              <a:rPr lang="en-US" altLang="zh-CN" sz="2400" dirty="0" err="1">
                <a:solidFill>
                  <a:srgbClr val="002060"/>
                </a:solidFill>
              </a:rPr>
              <a:t>OpenSSH</a:t>
            </a:r>
            <a:r>
              <a:rPr lang="zh-CN" altLang="en-US" sz="2400" dirty="0">
                <a:solidFill>
                  <a:srgbClr val="002060"/>
                </a:solidFill>
              </a:rPr>
              <a:t>、</a:t>
            </a:r>
            <a:r>
              <a:rPr lang="en-US" altLang="zh-CN" sz="2400" dirty="0">
                <a:solidFill>
                  <a:srgbClr val="002060"/>
                </a:solidFill>
              </a:rPr>
              <a:t>VNC</a:t>
            </a:r>
            <a:endParaRPr lang="en-US" altLang="zh-CN" dirty="0">
              <a:solidFill>
                <a:srgbClr val="002060"/>
              </a:solidFill>
            </a:endParaRPr>
          </a:p>
          <a:p>
            <a:pPr lvl="1"/>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 配置网络参数的方法</a:t>
            </a:r>
          </a:p>
        </p:txBody>
      </p:sp>
      <p:sp>
        <p:nvSpPr>
          <p:cNvPr id="3" name="内容占位符 2"/>
          <p:cNvSpPr>
            <a:spLocks noGrp="1"/>
          </p:cNvSpPr>
          <p:nvPr>
            <p:ph idx="1"/>
          </p:nvPr>
        </p:nvSpPr>
        <p:spPr>
          <a:xfrm>
            <a:off x="717550" y="1275387"/>
            <a:ext cx="8229600" cy="5465981"/>
          </a:xfrm>
        </p:spPr>
        <p:txBody>
          <a:bodyPr/>
          <a:lstStyle/>
          <a:p>
            <a:r>
              <a:rPr lang="zh-CN" altLang="en-US" dirty="0">
                <a:solidFill>
                  <a:srgbClr val="FF0000"/>
                </a:solidFill>
              </a:rPr>
              <a:t>临时性</a:t>
            </a:r>
            <a:r>
              <a:rPr lang="zh-CN" altLang="en-US" dirty="0"/>
              <a:t>网络配置</a:t>
            </a:r>
            <a:endParaRPr lang="en-US" altLang="zh-CN" dirty="0"/>
          </a:p>
          <a:p>
            <a:pPr lvl="1"/>
            <a:r>
              <a:rPr lang="zh-CN" altLang="en-US" dirty="0"/>
              <a:t>通过</a:t>
            </a:r>
            <a:r>
              <a:rPr lang="zh-CN" altLang="en-US" dirty="0">
                <a:solidFill>
                  <a:srgbClr val="FF0000"/>
                </a:solidFill>
              </a:rPr>
              <a:t>命令修改</a:t>
            </a:r>
            <a:r>
              <a:rPr lang="zh-CN" altLang="en-US" dirty="0"/>
              <a:t>当前内核中的网络相关参数实现</a:t>
            </a:r>
            <a:endParaRPr lang="en-US" altLang="zh-CN" dirty="0"/>
          </a:p>
          <a:p>
            <a:pPr lvl="2"/>
            <a:r>
              <a:rPr lang="en-US" altLang="zh-CN" dirty="0">
                <a:solidFill>
                  <a:schemeClr val="accent6">
                    <a:lumMod val="75000"/>
                  </a:schemeClr>
                </a:solidFill>
              </a:rPr>
              <a:t>ip</a:t>
            </a:r>
            <a:r>
              <a:rPr lang="zh-CN" altLang="en-US" dirty="0">
                <a:solidFill>
                  <a:schemeClr val="accent6">
                    <a:lumMod val="75000"/>
                  </a:schemeClr>
                </a:solidFill>
              </a:rPr>
              <a:t>、 </a:t>
            </a:r>
            <a:r>
              <a:rPr lang="en-US" altLang="zh-CN" dirty="0" err="1">
                <a:solidFill>
                  <a:schemeClr val="accent6">
                    <a:lumMod val="75000"/>
                  </a:schemeClr>
                </a:solidFill>
              </a:rPr>
              <a:t>ifconfig</a:t>
            </a:r>
            <a:r>
              <a:rPr lang="zh-CN" altLang="en-US" dirty="0">
                <a:solidFill>
                  <a:schemeClr val="accent6">
                    <a:lumMod val="75000"/>
                  </a:schemeClr>
                </a:solidFill>
              </a:rPr>
              <a:t>、</a:t>
            </a:r>
            <a:r>
              <a:rPr lang="en-US" altLang="zh-CN" dirty="0">
                <a:solidFill>
                  <a:schemeClr val="accent6">
                    <a:lumMod val="75000"/>
                  </a:schemeClr>
                </a:solidFill>
              </a:rPr>
              <a:t>route</a:t>
            </a:r>
            <a:r>
              <a:rPr lang="zh-CN" altLang="en-US" dirty="0">
                <a:solidFill>
                  <a:schemeClr val="accent6">
                    <a:lumMod val="75000"/>
                  </a:schemeClr>
                </a:solidFill>
              </a:rPr>
              <a:t>、</a:t>
            </a:r>
            <a:r>
              <a:rPr lang="en-US" altLang="zh-CN" dirty="0">
                <a:solidFill>
                  <a:schemeClr val="accent6">
                    <a:lumMod val="75000"/>
                  </a:schemeClr>
                </a:solidFill>
              </a:rPr>
              <a:t>sysctl -w</a:t>
            </a:r>
          </a:p>
          <a:p>
            <a:pPr lvl="1"/>
            <a:r>
              <a:rPr lang="zh-CN" altLang="en-US" dirty="0"/>
              <a:t>配置后</a:t>
            </a:r>
            <a:r>
              <a:rPr lang="zh-CN" altLang="en-US" dirty="0">
                <a:solidFill>
                  <a:srgbClr val="FF0000"/>
                </a:solidFill>
              </a:rPr>
              <a:t>立即生效</a:t>
            </a:r>
            <a:endParaRPr lang="en-US" altLang="zh-CN" dirty="0">
              <a:solidFill>
                <a:srgbClr val="FF0000"/>
              </a:solidFill>
            </a:endParaRPr>
          </a:p>
          <a:p>
            <a:pPr lvl="1"/>
            <a:r>
              <a:rPr lang="zh-CN" altLang="en-US" dirty="0">
                <a:solidFill>
                  <a:srgbClr val="FF0000"/>
                </a:solidFill>
              </a:rPr>
              <a:t>重新开机后失效</a:t>
            </a:r>
          </a:p>
          <a:p>
            <a:r>
              <a:rPr lang="zh-CN" altLang="en-US" dirty="0">
                <a:solidFill>
                  <a:srgbClr val="FF0000"/>
                </a:solidFill>
              </a:rPr>
              <a:t>永久性</a:t>
            </a:r>
            <a:r>
              <a:rPr lang="zh-CN" altLang="en-US" dirty="0"/>
              <a:t>网络配置</a:t>
            </a:r>
            <a:endParaRPr lang="en-US" altLang="zh-CN" dirty="0"/>
          </a:p>
          <a:p>
            <a:pPr lvl="1"/>
            <a:r>
              <a:rPr lang="zh-CN" altLang="en-US" dirty="0"/>
              <a:t>通过</a:t>
            </a:r>
            <a:r>
              <a:rPr lang="zh-CN" altLang="en-US" dirty="0">
                <a:solidFill>
                  <a:srgbClr val="FF0000"/>
                </a:solidFill>
              </a:rPr>
              <a:t>修改</a:t>
            </a:r>
            <a:r>
              <a:rPr lang="zh-CN" altLang="en-US" dirty="0"/>
              <a:t>网络相关的</a:t>
            </a:r>
            <a:r>
              <a:rPr lang="zh-CN" altLang="en-US" dirty="0">
                <a:solidFill>
                  <a:srgbClr val="FF0000"/>
                </a:solidFill>
              </a:rPr>
              <a:t>配置文件</a:t>
            </a:r>
            <a:r>
              <a:rPr lang="zh-CN" altLang="en-US" dirty="0"/>
              <a:t>实现</a:t>
            </a:r>
            <a:endParaRPr lang="en-US" altLang="zh-CN" dirty="0"/>
          </a:p>
          <a:p>
            <a:pPr lvl="2"/>
            <a:r>
              <a:rPr lang="zh-CN" altLang="en-US" dirty="0"/>
              <a:t>使用</a:t>
            </a:r>
            <a:r>
              <a:rPr lang="en-US" altLang="zh-CN" dirty="0"/>
              <a:t>vim/</a:t>
            </a:r>
            <a:r>
              <a:rPr lang="en-US" altLang="zh-CN" dirty="0" err="1"/>
              <a:t>nano</a:t>
            </a:r>
            <a:r>
              <a:rPr lang="zh-CN" altLang="en-US" dirty="0"/>
              <a:t>编辑器直接编辑</a:t>
            </a:r>
            <a:endParaRPr lang="en-US" altLang="zh-CN" dirty="0"/>
          </a:p>
          <a:p>
            <a:pPr lvl="2"/>
            <a:r>
              <a:rPr lang="zh-CN" altLang="en-US" dirty="0"/>
              <a:t>使用</a:t>
            </a:r>
            <a:r>
              <a:rPr lang="en-US" altLang="zh-CN" dirty="0" err="1"/>
              <a:t>nmcli</a:t>
            </a:r>
            <a:r>
              <a:rPr lang="en-US" altLang="zh-CN" dirty="0"/>
              <a:t>/</a:t>
            </a:r>
            <a:r>
              <a:rPr lang="en-US" altLang="zh-CN" dirty="0" err="1"/>
              <a:t>nmtui</a:t>
            </a:r>
            <a:r>
              <a:rPr lang="zh-CN" altLang="en-US" dirty="0"/>
              <a:t>工具</a:t>
            </a:r>
            <a:endParaRPr lang="en-US" altLang="zh-CN" dirty="0"/>
          </a:p>
          <a:p>
            <a:pPr lvl="1"/>
            <a:r>
              <a:rPr lang="zh-CN" altLang="en-US" dirty="0"/>
              <a:t>修改后，</a:t>
            </a:r>
            <a:r>
              <a:rPr lang="zh-CN" altLang="en-US" dirty="0">
                <a:solidFill>
                  <a:srgbClr val="FF0000"/>
                </a:solidFill>
              </a:rPr>
              <a:t>重新连接</a:t>
            </a:r>
            <a:r>
              <a:rPr lang="zh-CN" altLang="en-US" dirty="0"/>
              <a:t>指定的网络接口才能</a:t>
            </a:r>
            <a:r>
              <a:rPr lang="zh-CN" altLang="en-US" dirty="0">
                <a:solidFill>
                  <a:srgbClr val="FF0000"/>
                </a:solidFill>
              </a:rPr>
              <a:t>生效</a:t>
            </a:r>
            <a:endParaRPr lang="en-US" altLang="zh-CN" dirty="0">
              <a:solidFill>
                <a:srgbClr val="FF0000"/>
              </a:solidFill>
            </a:endParaRPr>
          </a:p>
          <a:p>
            <a:pPr lvl="1"/>
            <a:r>
              <a:rPr lang="zh-CN" altLang="en-US" dirty="0">
                <a:solidFill>
                  <a:srgbClr val="FF0000"/>
                </a:solidFill>
              </a:rPr>
              <a:t>重新开机后保留所有配置</a:t>
            </a:r>
            <a:endParaRPr lang="en-US" altLang="zh-CN" dirty="0">
              <a:solidFill>
                <a:srgbClr val="FF0000"/>
              </a:solidFill>
            </a:endParaRPr>
          </a:p>
          <a:p>
            <a:pPr lvl="1"/>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616" y="188640"/>
            <a:ext cx="8962503" cy="1052513"/>
          </a:xfrm>
        </p:spPr>
        <p:txBody>
          <a:bodyPr/>
          <a:lstStyle/>
          <a:p>
            <a:r>
              <a:rPr lang="zh-CN" altLang="en-US" sz="4200" dirty="0"/>
              <a:t>临时性配置</a:t>
            </a:r>
            <a:r>
              <a:rPr lang="en-US" altLang="zh-CN" sz="4200" dirty="0"/>
              <a:t>—ip</a:t>
            </a:r>
            <a:r>
              <a:rPr lang="zh-CN" altLang="en-US" sz="4200" dirty="0"/>
              <a:t>命令</a:t>
            </a:r>
            <a:r>
              <a:rPr lang="zh-CN" altLang="zh-CN" sz="4200" dirty="0"/>
              <a:t>显示网络参数</a:t>
            </a:r>
            <a:endParaRPr lang="zh-CN" altLang="en-US" sz="4200" dirty="0"/>
          </a:p>
        </p:txBody>
      </p:sp>
      <p:sp>
        <p:nvSpPr>
          <p:cNvPr id="3" name="内容占位符 2"/>
          <p:cNvSpPr>
            <a:spLocks noGrp="1"/>
          </p:cNvSpPr>
          <p:nvPr>
            <p:ph idx="1"/>
          </p:nvPr>
        </p:nvSpPr>
        <p:spPr>
          <a:xfrm>
            <a:off x="-252536" y="1241153"/>
            <a:ext cx="9396536" cy="4114800"/>
          </a:xfrm>
        </p:spPr>
        <p:txBody>
          <a:bodyPr/>
          <a:lstStyle/>
          <a:p>
            <a:r>
              <a:rPr lang="zh-CN" altLang="en-US" dirty="0"/>
              <a:t>显示</a:t>
            </a:r>
            <a:r>
              <a:rPr lang="zh-CN" altLang="en-US" dirty="0">
                <a:solidFill>
                  <a:srgbClr val="FF0000"/>
                </a:solidFill>
              </a:rPr>
              <a:t>全部接口的</a:t>
            </a:r>
            <a:r>
              <a:rPr lang="en-US" altLang="zh-CN" dirty="0">
                <a:solidFill>
                  <a:srgbClr val="FF0000"/>
                </a:solidFill>
              </a:rPr>
              <a:t>IP</a:t>
            </a:r>
            <a:r>
              <a:rPr lang="zh-CN" altLang="en-US" dirty="0">
                <a:solidFill>
                  <a:srgbClr val="FF0000"/>
                </a:solidFill>
              </a:rPr>
              <a:t>地址</a:t>
            </a:r>
          </a:p>
          <a:p>
            <a:pPr lvl="1"/>
            <a:r>
              <a:rPr lang="en-US" altLang="zh-CN" dirty="0"/>
              <a:t>ip </a:t>
            </a:r>
            <a:r>
              <a:rPr lang="en-US" altLang="zh-CN" dirty="0">
                <a:solidFill>
                  <a:srgbClr val="FF0000"/>
                </a:solidFill>
              </a:rPr>
              <a:t>address show</a:t>
            </a:r>
            <a:r>
              <a:rPr lang="en-US" altLang="zh-CN" dirty="0"/>
              <a:t> </a:t>
            </a:r>
            <a:r>
              <a:rPr lang="zh-CN" altLang="en-US" dirty="0"/>
              <a:t>或 </a:t>
            </a:r>
            <a:r>
              <a:rPr lang="en-US" altLang="zh-CN" dirty="0"/>
              <a:t>ip </a:t>
            </a:r>
            <a:r>
              <a:rPr lang="en-US" altLang="zh-CN" dirty="0" err="1">
                <a:solidFill>
                  <a:srgbClr val="FF0000"/>
                </a:solidFill>
              </a:rPr>
              <a:t>addr</a:t>
            </a:r>
            <a:r>
              <a:rPr lang="en-US" altLang="zh-CN" dirty="0">
                <a:solidFill>
                  <a:srgbClr val="FF0000"/>
                </a:solidFill>
              </a:rPr>
              <a:t> show </a:t>
            </a:r>
            <a:r>
              <a:rPr lang="zh-CN" altLang="en-US" dirty="0"/>
              <a:t>或 </a:t>
            </a:r>
            <a:r>
              <a:rPr lang="en-US" altLang="zh-CN" b="1" dirty="0"/>
              <a:t>ip a s </a:t>
            </a:r>
            <a:r>
              <a:rPr lang="zh-CN" altLang="en-US" dirty="0"/>
              <a:t>或 </a:t>
            </a:r>
            <a:r>
              <a:rPr lang="en-US" altLang="zh-CN" b="1" dirty="0"/>
              <a:t>ip a</a:t>
            </a:r>
          </a:p>
          <a:p>
            <a:endParaRPr lang="zh-CN" altLang="en-US" dirty="0"/>
          </a:p>
        </p:txBody>
      </p:sp>
      <p:sp>
        <p:nvSpPr>
          <p:cNvPr id="4" name="矩形 3"/>
          <p:cNvSpPr/>
          <p:nvPr/>
        </p:nvSpPr>
        <p:spPr>
          <a:xfrm>
            <a:off x="179512" y="2336259"/>
            <a:ext cx="8640960" cy="4524315"/>
          </a:xfrm>
          <a:prstGeom prst="rect">
            <a:avLst/>
          </a:prstGeom>
        </p:spPr>
        <p:txBody>
          <a:bodyPr wrap="square">
            <a:spAutoFit/>
          </a:bodyPr>
          <a:lstStyle/>
          <a:p>
            <a:r>
              <a:rPr lang="zh-CN" altLang="en-US" dirty="0">
                <a:solidFill>
                  <a:srgbClr val="0000FF"/>
                </a:solidFill>
              </a:rPr>
              <a:t>root@localhost ~]# ip addr show</a:t>
            </a:r>
          </a:p>
          <a:p>
            <a:r>
              <a:rPr lang="zh-CN" altLang="en-US" dirty="0"/>
              <a:t>1</a:t>
            </a:r>
            <a:r>
              <a:rPr lang="zh-CN" altLang="en-US" dirty="0">
                <a:solidFill>
                  <a:srgbClr val="FF0000"/>
                </a:solidFill>
              </a:rPr>
              <a:t>: lo: </a:t>
            </a:r>
            <a:r>
              <a:rPr lang="zh-CN" altLang="en-US" dirty="0"/>
              <a:t>&lt;LOOPBACK,UP,LOWER_UP&gt; mtu 65536 qdisc noqueue state UNKNOWN group default qlen 1000</a:t>
            </a:r>
          </a:p>
          <a:p>
            <a:r>
              <a:rPr lang="zh-CN" altLang="en-US" dirty="0"/>
              <a:t>    link/loopback 00:00:00:00:00:00 brd 00:00:00:00:00:00</a:t>
            </a:r>
          </a:p>
          <a:p>
            <a:r>
              <a:rPr lang="zh-CN" altLang="en-US" dirty="0"/>
              <a:t>    inet 127.0.0.1/8 scope host lo</a:t>
            </a:r>
          </a:p>
          <a:p>
            <a:r>
              <a:rPr lang="zh-CN" altLang="en-US" dirty="0"/>
              <a:t>       valid_lft forever preferred_lft forever</a:t>
            </a:r>
          </a:p>
          <a:p>
            <a:r>
              <a:rPr lang="zh-CN" altLang="en-US" dirty="0"/>
              <a:t>    inet6 ::1/128 scope host </a:t>
            </a:r>
          </a:p>
          <a:p>
            <a:r>
              <a:rPr lang="zh-CN" altLang="en-US" dirty="0"/>
              <a:t>       valid_lft forever preferred_lft forever</a:t>
            </a:r>
          </a:p>
          <a:p>
            <a:r>
              <a:rPr lang="zh-CN" altLang="en-US" dirty="0"/>
              <a:t>2: </a:t>
            </a:r>
            <a:r>
              <a:rPr lang="zh-CN" altLang="en-US" dirty="0">
                <a:solidFill>
                  <a:srgbClr val="FF0000"/>
                </a:solidFill>
              </a:rPr>
              <a:t>ens33: </a:t>
            </a:r>
            <a:r>
              <a:rPr lang="zh-CN" altLang="en-US" dirty="0"/>
              <a:t>&lt;BROADCAST,MULTICAST,UP,LOWER_UP&gt; mtu 1500 qdisc pfifo_fast state UP group default qlen 1000</a:t>
            </a:r>
          </a:p>
          <a:p>
            <a:r>
              <a:rPr lang="zh-CN" altLang="en-US" dirty="0"/>
              <a:t>    link/ether 00:0c:29:dd:f5:21 brd ff:ff:ff:ff:ff:ff</a:t>
            </a:r>
          </a:p>
          <a:p>
            <a:r>
              <a:rPr lang="zh-CN" altLang="en-US" dirty="0"/>
              <a:t>    inet 192.168.181.128/24 brd 192.168.181.255 scope global noprefixroute dynamic ens33</a:t>
            </a:r>
          </a:p>
          <a:p>
            <a:r>
              <a:rPr lang="zh-CN" altLang="en-US" dirty="0"/>
              <a:t>       valid_lft 1318sec preferred_lft 1318sec</a:t>
            </a:r>
          </a:p>
          <a:p>
            <a:r>
              <a:rPr lang="zh-CN" altLang="en-US" dirty="0"/>
              <a:t>    inet6 fe80::20c:29ff:fedd:f521/64 scope link </a:t>
            </a:r>
          </a:p>
          <a:p>
            <a:r>
              <a:rPr lang="zh-CN" altLang="en-US" dirty="0"/>
              <a:t>       valid_lft forever preferred_lft forever</a:t>
            </a:r>
          </a:p>
        </p:txBody>
      </p:sp>
    </p:spTree>
    <p:extLst>
      <p:ext uri="{BB962C8B-B14F-4D97-AF65-F5344CB8AC3E}">
        <p14:creationId xmlns:p14="http://schemas.microsoft.com/office/powerpoint/2010/main" val="4022264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616" y="188640"/>
            <a:ext cx="8962503" cy="1052513"/>
          </a:xfrm>
        </p:spPr>
        <p:txBody>
          <a:bodyPr/>
          <a:lstStyle/>
          <a:p>
            <a:r>
              <a:rPr lang="zh-CN" altLang="en-US" sz="4200" dirty="0"/>
              <a:t>临时性配置</a:t>
            </a:r>
            <a:r>
              <a:rPr lang="en-US" altLang="zh-CN" sz="4200" dirty="0"/>
              <a:t>—ip</a:t>
            </a:r>
            <a:r>
              <a:rPr lang="zh-CN" altLang="en-US" sz="4200" dirty="0"/>
              <a:t>命令</a:t>
            </a:r>
            <a:r>
              <a:rPr lang="zh-CN" altLang="zh-CN" sz="4200" dirty="0"/>
              <a:t>显示网络参数</a:t>
            </a:r>
            <a:endParaRPr lang="zh-CN" altLang="en-US" sz="4200" dirty="0"/>
          </a:p>
        </p:txBody>
      </p:sp>
      <p:sp>
        <p:nvSpPr>
          <p:cNvPr id="3" name="内容占位符 2"/>
          <p:cNvSpPr>
            <a:spLocks noGrp="1"/>
          </p:cNvSpPr>
          <p:nvPr>
            <p:ph idx="1"/>
          </p:nvPr>
        </p:nvSpPr>
        <p:spPr>
          <a:xfrm>
            <a:off x="899592" y="1628800"/>
            <a:ext cx="7772400" cy="4114800"/>
          </a:xfrm>
        </p:spPr>
        <p:txBody>
          <a:bodyPr/>
          <a:lstStyle/>
          <a:p>
            <a:r>
              <a:rPr lang="zh-CN" altLang="en-US" dirty="0" smtClean="0"/>
              <a:t>显示</a:t>
            </a:r>
            <a:r>
              <a:rPr lang="zh-CN" altLang="en-US" dirty="0">
                <a:solidFill>
                  <a:srgbClr val="FF0000"/>
                </a:solidFill>
              </a:rPr>
              <a:t>指定接口的</a:t>
            </a:r>
            <a:r>
              <a:rPr lang="en-US" altLang="zh-CN" dirty="0">
                <a:solidFill>
                  <a:srgbClr val="FF0000"/>
                </a:solidFill>
              </a:rPr>
              <a:t>IP</a:t>
            </a:r>
            <a:r>
              <a:rPr lang="zh-CN" altLang="en-US" dirty="0">
                <a:solidFill>
                  <a:srgbClr val="FF0000"/>
                </a:solidFill>
              </a:rPr>
              <a:t>地址</a:t>
            </a:r>
          </a:p>
          <a:p>
            <a:pPr lvl="1"/>
            <a:r>
              <a:rPr lang="en-US" altLang="zh-CN" dirty="0"/>
              <a:t>ip a s eno1677736 </a:t>
            </a:r>
          </a:p>
          <a:p>
            <a:pPr lvl="1"/>
            <a:r>
              <a:rPr lang="en-US" altLang="zh-CN" dirty="0"/>
              <a:t>ip -4 a s eno1677736</a:t>
            </a:r>
          </a:p>
          <a:p>
            <a:r>
              <a:rPr lang="zh-CN" altLang="en-US" dirty="0"/>
              <a:t>显示</a:t>
            </a:r>
            <a:r>
              <a:rPr lang="zh-CN" altLang="en-US" dirty="0">
                <a:solidFill>
                  <a:srgbClr val="FF0000"/>
                </a:solidFill>
              </a:rPr>
              <a:t>全部接口的传输统计信息</a:t>
            </a:r>
          </a:p>
          <a:p>
            <a:pPr lvl="1"/>
            <a:r>
              <a:rPr lang="en-US" altLang="zh-CN" dirty="0"/>
              <a:t>ip </a:t>
            </a:r>
            <a:r>
              <a:rPr lang="en-US" altLang="zh-CN" dirty="0">
                <a:solidFill>
                  <a:srgbClr val="FF0000"/>
                </a:solidFill>
              </a:rPr>
              <a:t>-s link show</a:t>
            </a:r>
            <a:r>
              <a:rPr lang="en-US" altLang="zh-CN" dirty="0"/>
              <a:t> </a:t>
            </a:r>
            <a:r>
              <a:rPr lang="zh-CN" altLang="en-US" dirty="0"/>
              <a:t>或 </a:t>
            </a:r>
            <a:r>
              <a:rPr lang="en-US" altLang="zh-CN" dirty="0"/>
              <a:t>ip </a:t>
            </a:r>
            <a:r>
              <a:rPr lang="en-US" altLang="zh-CN" dirty="0">
                <a:solidFill>
                  <a:srgbClr val="FF0000"/>
                </a:solidFill>
              </a:rPr>
              <a:t>-s l s </a:t>
            </a:r>
            <a:r>
              <a:rPr lang="zh-CN" altLang="en-US" dirty="0"/>
              <a:t>或 </a:t>
            </a:r>
            <a:r>
              <a:rPr lang="en-US" altLang="zh-CN" dirty="0"/>
              <a:t>ip -s l</a:t>
            </a:r>
          </a:p>
          <a:p>
            <a:endParaRPr lang="zh-CN" altLang="en-US" dirty="0"/>
          </a:p>
        </p:txBody>
      </p:sp>
    </p:spTree>
    <p:extLst>
      <p:ext uri="{BB962C8B-B14F-4D97-AF65-F5344CB8AC3E}">
        <p14:creationId xmlns:p14="http://schemas.microsoft.com/office/powerpoint/2010/main" val="2326926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616" y="260648"/>
            <a:ext cx="8458447" cy="1052513"/>
          </a:xfrm>
        </p:spPr>
        <p:txBody>
          <a:bodyPr/>
          <a:lstStyle/>
          <a:p>
            <a:r>
              <a:rPr lang="zh-CN" altLang="en-US" sz="4200" dirty="0"/>
              <a:t>临时性配置</a:t>
            </a:r>
            <a:r>
              <a:rPr lang="en-US" altLang="zh-CN" sz="4200" dirty="0"/>
              <a:t>—ip</a:t>
            </a:r>
            <a:r>
              <a:rPr lang="zh-CN" altLang="en-US" sz="4200" dirty="0"/>
              <a:t>命令</a:t>
            </a:r>
            <a:r>
              <a:rPr lang="zh-CN" altLang="zh-CN" sz="4200" dirty="0"/>
              <a:t>显示网络参数</a:t>
            </a:r>
            <a:endParaRPr lang="zh-CN" altLang="en-US" sz="4200" dirty="0"/>
          </a:p>
        </p:txBody>
      </p:sp>
      <p:sp>
        <p:nvSpPr>
          <p:cNvPr id="3" name="内容占位符 2"/>
          <p:cNvSpPr>
            <a:spLocks noGrp="1"/>
          </p:cNvSpPr>
          <p:nvPr>
            <p:ph idx="1"/>
          </p:nvPr>
        </p:nvSpPr>
        <p:spPr/>
        <p:txBody>
          <a:bodyPr/>
          <a:lstStyle/>
          <a:p>
            <a:r>
              <a:rPr lang="zh-CN" altLang="en-US" dirty="0"/>
              <a:t>显示</a:t>
            </a:r>
            <a:r>
              <a:rPr lang="zh-CN" altLang="en-US" dirty="0">
                <a:solidFill>
                  <a:srgbClr val="FF0000"/>
                </a:solidFill>
              </a:rPr>
              <a:t>指定接口的传输统计信息</a:t>
            </a:r>
          </a:p>
          <a:p>
            <a:pPr lvl="1"/>
            <a:r>
              <a:rPr lang="en-US" altLang="zh-CN" dirty="0"/>
              <a:t>ip </a:t>
            </a:r>
            <a:r>
              <a:rPr lang="en-US" altLang="zh-CN" dirty="0">
                <a:solidFill>
                  <a:srgbClr val="FF0000"/>
                </a:solidFill>
              </a:rPr>
              <a:t>-s l s eno1677736</a:t>
            </a:r>
          </a:p>
          <a:p>
            <a:r>
              <a:rPr lang="zh-CN" altLang="en-US" dirty="0"/>
              <a:t>显示</a:t>
            </a:r>
            <a:r>
              <a:rPr lang="zh-CN" altLang="en-US" dirty="0">
                <a:solidFill>
                  <a:srgbClr val="FF0000"/>
                </a:solidFill>
              </a:rPr>
              <a:t>路由信息</a:t>
            </a:r>
          </a:p>
          <a:p>
            <a:pPr lvl="1"/>
            <a:r>
              <a:rPr lang="en-US" altLang="zh-CN" dirty="0"/>
              <a:t>ip </a:t>
            </a:r>
            <a:r>
              <a:rPr lang="en-US" altLang="zh-CN" dirty="0">
                <a:solidFill>
                  <a:srgbClr val="FF0000"/>
                </a:solidFill>
              </a:rPr>
              <a:t>route show </a:t>
            </a:r>
            <a:r>
              <a:rPr lang="zh-CN" altLang="en-US" dirty="0"/>
              <a:t>或 </a:t>
            </a:r>
            <a:r>
              <a:rPr lang="en-US" altLang="zh-CN" dirty="0"/>
              <a:t>ip r s </a:t>
            </a:r>
            <a:r>
              <a:rPr lang="zh-CN" altLang="en-US" dirty="0"/>
              <a:t>或 </a:t>
            </a:r>
            <a:r>
              <a:rPr lang="en-US" altLang="zh-CN" dirty="0"/>
              <a:t>ip r</a:t>
            </a:r>
          </a:p>
          <a:p>
            <a:r>
              <a:rPr lang="zh-CN" altLang="en-US" dirty="0"/>
              <a:t>显示</a:t>
            </a:r>
            <a:r>
              <a:rPr lang="en-US" altLang="zh-CN" dirty="0"/>
              <a:t>ARP</a:t>
            </a:r>
            <a:r>
              <a:rPr lang="zh-CN" altLang="en-US" dirty="0"/>
              <a:t>缓存信息</a:t>
            </a:r>
          </a:p>
          <a:p>
            <a:pPr lvl="1"/>
            <a:r>
              <a:rPr lang="en-US" altLang="zh-CN" dirty="0"/>
              <a:t>ip </a:t>
            </a:r>
            <a:r>
              <a:rPr lang="en-US" altLang="zh-CN" dirty="0">
                <a:solidFill>
                  <a:srgbClr val="FF0000"/>
                </a:solidFill>
              </a:rPr>
              <a:t>neighbor show </a:t>
            </a:r>
            <a:r>
              <a:rPr lang="zh-CN" altLang="en-US" dirty="0"/>
              <a:t>或 </a:t>
            </a:r>
            <a:r>
              <a:rPr lang="en-US" altLang="zh-CN" dirty="0"/>
              <a:t>ip n s </a:t>
            </a:r>
            <a:r>
              <a:rPr lang="zh-CN" altLang="en-US" dirty="0"/>
              <a:t>或 </a:t>
            </a:r>
            <a:r>
              <a:rPr lang="en-US" altLang="zh-CN" dirty="0"/>
              <a:t>ip n</a:t>
            </a:r>
            <a:endParaRPr lang="zh-CN" altLang="en-US" dirty="0"/>
          </a:p>
        </p:txBody>
      </p:sp>
    </p:spTree>
    <p:extLst>
      <p:ext uri="{BB962C8B-B14F-4D97-AF65-F5344CB8AC3E}">
        <p14:creationId xmlns:p14="http://schemas.microsoft.com/office/powerpoint/2010/main" val="1538847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31910" y="189095"/>
            <a:ext cx="8170415" cy="1052513"/>
          </a:xfrm>
        </p:spPr>
        <p:txBody>
          <a:bodyPr/>
          <a:lstStyle/>
          <a:p>
            <a:r>
              <a:rPr lang="zh-CN" altLang="en-US" sz="4000" dirty="0"/>
              <a:t>临时性配置</a:t>
            </a:r>
            <a:r>
              <a:rPr lang="en-US" altLang="zh-CN" sz="4000" dirty="0"/>
              <a:t>—ip</a:t>
            </a:r>
            <a:r>
              <a:rPr lang="zh-CN" altLang="zh-CN" sz="4000" dirty="0"/>
              <a:t>命令更改</a:t>
            </a:r>
            <a:r>
              <a:rPr lang="en-US" altLang="zh-CN" sz="4000" dirty="0"/>
              <a:t>IP</a:t>
            </a:r>
            <a:r>
              <a:rPr lang="zh-CN" altLang="zh-CN" sz="4000" dirty="0"/>
              <a:t>网络地址</a:t>
            </a:r>
            <a:endParaRPr lang="zh-CN" altLang="en-US" sz="4000" dirty="0"/>
          </a:p>
        </p:txBody>
      </p:sp>
      <p:sp>
        <p:nvSpPr>
          <p:cNvPr id="3" name="内容占位符 2"/>
          <p:cNvSpPr>
            <a:spLocks noGrp="1"/>
          </p:cNvSpPr>
          <p:nvPr>
            <p:ph idx="1"/>
          </p:nvPr>
        </p:nvSpPr>
        <p:spPr>
          <a:xfrm>
            <a:off x="457200" y="2276872"/>
            <a:ext cx="8229600" cy="3854053"/>
          </a:xfrm>
        </p:spPr>
        <p:txBody>
          <a:bodyPr/>
          <a:lstStyle/>
          <a:p>
            <a:pPr>
              <a:lnSpc>
                <a:spcPct val="120000"/>
              </a:lnSpc>
            </a:pPr>
            <a:r>
              <a:rPr lang="zh-CN" altLang="en-US" dirty="0">
                <a:solidFill>
                  <a:srgbClr val="FF0000"/>
                </a:solidFill>
              </a:rPr>
              <a:t>修改</a:t>
            </a:r>
            <a:r>
              <a:rPr lang="zh-CN" altLang="en-US" dirty="0"/>
              <a:t>网络接口的</a:t>
            </a:r>
            <a:r>
              <a:rPr lang="en-US" altLang="zh-CN" dirty="0">
                <a:solidFill>
                  <a:srgbClr val="FF0000"/>
                </a:solidFill>
              </a:rPr>
              <a:t>IP</a:t>
            </a:r>
          </a:p>
          <a:p>
            <a:pPr marL="344487" lvl="1" indent="0">
              <a:lnSpc>
                <a:spcPct val="120000"/>
              </a:lnSpc>
              <a:buNone/>
            </a:pPr>
            <a:r>
              <a:rPr lang="zh-CN" altLang="zh-CN" dirty="0"/>
              <a:t> </a:t>
            </a:r>
            <a:r>
              <a:rPr lang="en-US" altLang="zh-CN" dirty="0"/>
              <a:t>ip </a:t>
            </a:r>
            <a:r>
              <a:rPr lang="en-US" altLang="zh-CN" dirty="0" err="1"/>
              <a:t>addr</a:t>
            </a:r>
            <a:r>
              <a:rPr lang="en-US" altLang="zh-CN" dirty="0"/>
              <a:t> </a:t>
            </a:r>
            <a:r>
              <a:rPr lang="en-US" altLang="zh-CN" dirty="0">
                <a:solidFill>
                  <a:srgbClr val="FF0000"/>
                </a:solidFill>
              </a:rPr>
              <a:t>del</a:t>
            </a:r>
            <a:r>
              <a:rPr lang="en-US" altLang="zh-CN" dirty="0"/>
              <a:t> 192.168.140.3/24 dev eth1</a:t>
            </a:r>
          </a:p>
          <a:p>
            <a:pPr marL="344487" lvl="1" indent="0">
              <a:lnSpc>
                <a:spcPct val="120000"/>
              </a:lnSpc>
              <a:buNone/>
            </a:pPr>
            <a:r>
              <a:rPr lang="zh-CN" altLang="zh-CN" dirty="0"/>
              <a:t> </a:t>
            </a:r>
            <a:r>
              <a:rPr lang="en-US" altLang="zh-CN" dirty="0"/>
              <a:t>ip </a:t>
            </a:r>
            <a:r>
              <a:rPr lang="en-US" altLang="zh-CN" dirty="0" err="1"/>
              <a:t>addr</a:t>
            </a:r>
            <a:r>
              <a:rPr lang="en-US" altLang="zh-CN" dirty="0"/>
              <a:t> </a:t>
            </a:r>
            <a:r>
              <a:rPr lang="en-US" altLang="zh-CN" dirty="0">
                <a:solidFill>
                  <a:srgbClr val="FF0000"/>
                </a:solidFill>
              </a:rPr>
              <a:t>add </a:t>
            </a:r>
            <a:r>
              <a:rPr lang="en-US" altLang="zh-CN" dirty="0"/>
              <a:t>192.168.1.3/24 dev eth1</a:t>
            </a:r>
          </a:p>
          <a:p>
            <a:pPr>
              <a:lnSpc>
                <a:spcPct val="120000"/>
              </a:lnSpc>
            </a:pPr>
            <a:r>
              <a:rPr lang="zh-CN" altLang="en-US" dirty="0"/>
              <a:t>为网络接口</a:t>
            </a:r>
            <a:r>
              <a:rPr lang="zh-CN" altLang="en-US" dirty="0">
                <a:solidFill>
                  <a:srgbClr val="FF0000"/>
                </a:solidFill>
              </a:rPr>
              <a:t>绑定多个</a:t>
            </a:r>
            <a:r>
              <a:rPr lang="en-US" altLang="zh-CN" dirty="0">
                <a:solidFill>
                  <a:srgbClr val="FF0000"/>
                </a:solidFill>
              </a:rPr>
              <a:t>IP</a:t>
            </a:r>
          </a:p>
          <a:p>
            <a:pPr marL="344487" lvl="1" indent="0">
              <a:lnSpc>
                <a:spcPct val="120000"/>
              </a:lnSpc>
              <a:buNone/>
            </a:pPr>
            <a:r>
              <a:rPr lang="en-US" altLang="zh-CN" dirty="0"/>
              <a:t> ip </a:t>
            </a:r>
            <a:r>
              <a:rPr lang="en-US" altLang="zh-CN" dirty="0" err="1"/>
              <a:t>addr</a:t>
            </a:r>
            <a:r>
              <a:rPr lang="en-US" altLang="zh-CN" dirty="0"/>
              <a:t> add </a:t>
            </a:r>
            <a:r>
              <a:rPr lang="en-US" altLang="zh-CN" dirty="0">
                <a:solidFill>
                  <a:srgbClr val="FF0000"/>
                </a:solidFill>
              </a:rPr>
              <a:t>192.168.10.3/24</a:t>
            </a:r>
            <a:r>
              <a:rPr lang="en-US" altLang="zh-CN" dirty="0"/>
              <a:t> dev </a:t>
            </a:r>
            <a:r>
              <a:rPr lang="en-US" altLang="zh-CN" dirty="0">
                <a:solidFill>
                  <a:srgbClr val="FF0000"/>
                </a:solidFill>
              </a:rPr>
              <a:t>eth1</a:t>
            </a:r>
            <a:r>
              <a:rPr lang="en-US" altLang="zh-CN" dirty="0"/>
              <a:t> </a:t>
            </a:r>
          </a:p>
          <a:p>
            <a:pPr marL="344487" lvl="1" indent="0">
              <a:lnSpc>
                <a:spcPct val="120000"/>
              </a:lnSpc>
              <a:buNone/>
            </a:pPr>
            <a:r>
              <a:rPr lang="en-US" altLang="zh-CN" dirty="0"/>
              <a:t> ip </a:t>
            </a:r>
            <a:r>
              <a:rPr lang="en-US" altLang="zh-CN" dirty="0" err="1"/>
              <a:t>addr</a:t>
            </a:r>
            <a:r>
              <a:rPr lang="en-US" altLang="zh-CN" dirty="0"/>
              <a:t> add </a:t>
            </a:r>
            <a:r>
              <a:rPr lang="en-US" altLang="zh-CN" dirty="0">
                <a:solidFill>
                  <a:srgbClr val="FF0000"/>
                </a:solidFill>
              </a:rPr>
              <a:t>192.168.100.3/24</a:t>
            </a:r>
            <a:r>
              <a:rPr lang="en-US" altLang="zh-CN" dirty="0"/>
              <a:t> dev </a:t>
            </a:r>
            <a:r>
              <a:rPr lang="en-US" altLang="zh-CN" dirty="0">
                <a:solidFill>
                  <a:srgbClr val="FF0000"/>
                </a:solidFill>
              </a:rPr>
              <a:t>eth1</a:t>
            </a:r>
          </a:p>
        </p:txBody>
      </p:sp>
      <p:sp>
        <p:nvSpPr>
          <p:cNvPr id="7" name="文本框 6"/>
          <p:cNvSpPr txBox="1"/>
          <p:nvPr/>
        </p:nvSpPr>
        <p:spPr>
          <a:xfrm>
            <a:off x="421889" y="1628800"/>
            <a:ext cx="8682136"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zh-CN" altLang="zh-CN" sz="2400" dirty="0"/>
              <a:t> </a:t>
            </a:r>
            <a:r>
              <a:rPr lang="en-US" altLang="zh-CN" sz="2400" dirty="0"/>
              <a:t>ip </a:t>
            </a:r>
            <a:r>
              <a:rPr lang="en-US" altLang="zh-CN" sz="2400" dirty="0" err="1"/>
              <a:t>addr</a:t>
            </a:r>
            <a:r>
              <a:rPr lang="en-US" altLang="zh-CN" sz="2400" dirty="0"/>
              <a:t>  [ add | del ]  &lt;CIDR</a:t>
            </a:r>
            <a:r>
              <a:rPr lang="zh-CN" altLang="zh-CN" sz="2400" dirty="0"/>
              <a:t>形式的</a:t>
            </a:r>
            <a:r>
              <a:rPr lang="en-US" altLang="zh-CN" sz="2400" dirty="0"/>
              <a:t>IP</a:t>
            </a:r>
            <a:r>
              <a:rPr lang="zh-CN" altLang="zh-CN" sz="2400" dirty="0"/>
              <a:t>地址</a:t>
            </a:r>
            <a:r>
              <a:rPr lang="en-US" altLang="zh-CN" sz="2400" dirty="0"/>
              <a:t>&gt;  dev &lt;</a:t>
            </a:r>
            <a:r>
              <a:rPr lang="zh-CN" altLang="zh-CN" sz="2400" dirty="0"/>
              <a:t>网络接口</a:t>
            </a:r>
            <a:r>
              <a:rPr lang="en-US" altLang="zh-CN" sz="2400" dirty="0"/>
              <a:t>&gt;</a:t>
            </a:r>
            <a:endParaRPr lang="zh-CN" altLang="en-US" sz="2400" dirty="0"/>
          </a:p>
        </p:txBody>
      </p:sp>
    </p:spTree>
    <p:extLst>
      <p:ext uri="{BB962C8B-B14F-4D97-AF65-F5344CB8AC3E}">
        <p14:creationId xmlns:p14="http://schemas.microsoft.com/office/powerpoint/2010/main" val="4202391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8170415" cy="1052513"/>
          </a:xfrm>
        </p:spPr>
        <p:txBody>
          <a:bodyPr/>
          <a:lstStyle/>
          <a:p>
            <a:r>
              <a:rPr lang="zh-CN" altLang="en-US" sz="4100" dirty="0"/>
              <a:t>临时性配置</a:t>
            </a:r>
            <a:r>
              <a:rPr lang="en-US" altLang="zh-CN" sz="4100" dirty="0"/>
              <a:t>— ip</a:t>
            </a:r>
            <a:r>
              <a:rPr lang="zh-CN" altLang="zh-CN" sz="4100" dirty="0"/>
              <a:t>命令设置静态路由</a:t>
            </a:r>
            <a:endParaRPr lang="zh-CN" altLang="en-US" sz="4100" dirty="0"/>
          </a:p>
        </p:txBody>
      </p:sp>
      <p:sp>
        <p:nvSpPr>
          <p:cNvPr id="3" name="内容占位符 2"/>
          <p:cNvSpPr>
            <a:spLocks noGrp="1"/>
          </p:cNvSpPr>
          <p:nvPr>
            <p:ph idx="1"/>
          </p:nvPr>
        </p:nvSpPr>
        <p:spPr>
          <a:xfrm>
            <a:off x="717550" y="2282073"/>
            <a:ext cx="8229600" cy="4401780"/>
          </a:xfrm>
        </p:spPr>
        <p:txBody>
          <a:bodyPr/>
          <a:lstStyle/>
          <a:p>
            <a:r>
              <a:rPr lang="zh-CN" altLang="zh-CN" dirty="0"/>
              <a:t>添加</a:t>
            </a:r>
            <a:r>
              <a:rPr lang="en-US" altLang="zh-CN" dirty="0"/>
              <a:t>/</a:t>
            </a:r>
            <a:r>
              <a:rPr lang="zh-CN" altLang="zh-CN" dirty="0"/>
              <a:t>删除到</a:t>
            </a:r>
            <a:r>
              <a:rPr lang="zh-CN" altLang="zh-CN" dirty="0">
                <a:solidFill>
                  <a:srgbClr val="FF0000"/>
                </a:solidFill>
              </a:rPr>
              <a:t>主机</a:t>
            </a:r>
            <a:r>
              <a:rPr lang="zh-CN" altLang="zh-CN" dirty="0"/>
              <a:t>的路由</a:t>
            </a:r>
            <a:endParaRPr lang="en-US" altLang="zh-CN" dirty="0"/>
          </a:p>
          <a:p>
            <a:pPr marL="344487" lvl="1" indent="0">
              <a:buNone/>
            </a:pPr>
            <a:r>
              <a:rPr lang="en-US" altLang="zh-CN" sz="2400" dirty="0"/>
              <a:t># ip route add </a:t>
            </a:r>
            <a:r>
              <a:rPr lang="en-US" altLang="zh-CN" sz="2400" dirty="0">
                <a:solidFill>
                  <a:srgbClr val="FF0000"/>
                </a:solidFill>
              </a:rPr>
              <a:t>192.0.2.1</a:t>
            </a:r>
            <a:r>
              <a:rPr lang="en-US" altLang="zh-CN" sz="2400" dirty="0"/>
              <a:t> via 10.0.0.1 dev eth0</a:t>
            </a:r>
            <a:endParaRPr lang="zh-CN" altLang="zh-CN" sz="2400" dirty="0"/>
          </a:p>
          <a:p>
            <a:pPr marL="344487" lvl="1" indent="0">
              <a:buNone/>
            </a:pPr>
            <a:r>
              <a:rPr lang="en-US" altLang="zh-CN" sz="2400" dirty="0"/>
              <a:t># ip route del </a:t>
            </a:r>
            <a:r>
              <a:rPr lang="en-US" altLang="zh-CN" sz="2400" dirty="0">
                <a:solidFill>
                  <a:srgbClr val="FF0000"/>
                </a:solidFill>
              </a:rPr>
              <a:t>192.0.2.1</a:t>
            </a:r>
            <a:r>
              <a:rPr lang="en-US" altLang="zh-CN" sz="2400" dirty="0"/>
              <a:t> via 10.0.0.1 dev eth0</a:t>
            </a:r>
          </a:p>
          <a:p>
            <a:r>
              <a:rPr lang="zh-CN" altLang="zh-CN" dirty="0"/>
              <a:t>添加</a:t>
            </a:r>
            <a:r>
              <a:rPr lang="en-US" altLang="zh-CN" dirty="0"/>
              <a:t>/</a:t>
            </a:r>
            <a:r>
              <a:rPr lang="zh-CN" altLang="zh-CN" dirty="0"/>
              <a:t>删除到</a:t>
            </a:r>
            <a:r>
              <a:rPr lang="zh-CN" altLang="zh-CN" dirty="0">
                <a:solidFill>
                  <a:srgbClr val="FF0000"/>
                </a:solidFill>
              </a:rPr>
              <a:t>网络</a:t>
            </a:r>
            <a:r>
              <a:rPr lang="zh-CN" altLang="zh-CN" dirty="0"/>
              <a:t>的路由</a:t>
            </a:r>
            <a:endParaRPr lang="en-US" altLang="zh-CN" dirty="0"/>
          </a:p>
          <a:p>
            <a:pPr marL="344487" lvl="1" indent="0">
              <a:buNone/>
            </a:pPr>
            <a:r>
              <a:rPr lang="en-US" altLang="zh-CN" sz="2400" dirty="0"/>
              <a:t># ip route add </a:t>
            </a:r>
            <a:r>
              <a:rPr lang="en-US" altLang="zh-CN" sz="2400" dirty="0">
                <a:solidFill>
                  <a:srgbClr val="FF0000"/>
                </a:solidFill>
              </a:rPr>
              <a:t>192.0.2.0/24 </a:t>
            </a:r>
            <a:r>
              <a:rPr lang="en-US" altLang="zh-CN" sz="2400" dirty="0"/>
              <a:t>via 10.0.0.1 dev eth0</a:t>
            </a:r>
            <a:endParaRPr lang="zh-CN" altLang="zh-CN" sz="2400" dirty="0"/>
          </a:p>
          <a:p>
            <a:pPr marL="344487" lvl="1" indent="0">
              <a:buNone/>
            </a:pPr>
            <a:r>
              <a:rPr lang="en-US" altLang="zh-CN" sz="2400" dirty="0"/>
              <a:t># ip route del </a:t>
            </a:r>
            <a:r>
              <a:rPr lang="en-US" altLang="zh-CN" sz="2400" dirty="0">
                <a:solidFill>
                  <a:srgbClr val="FF0000"/>
                </a:solidFill>
              </a:rPr>
              <a:t>192.0.2.0/24</a:t>
            </a:r>
            <a:r>
              <a:rPr lang="en-US" altLang="zh-CN" sz="2400" dirty="0"/>
              <a:t> via 10.0.0.1 dev eth0</a:t>
            </a:r>
          </a:p>
          <a:p>
            <a:r>
              <a:rPr lang="zh-CN" altLang="zh-CN" dirty="0"/>
              <a:t>添加</a:t>
            </a:r>
            <a:r>
              <a:rPr lang="en-US" altLang="zh-CN" dirty="0"/>
              <a:t>/</a:t>
            </a:r>
            <a:r>
              <a:rPr lang="zh-CN" altLang="zh-CN" dirty="0"/>
              <a:t>删除</a:t>
            </a:r>
            <a:r>
              <a:rPr lang="zh-CN" altLang="zh-CN" dirty="0">
                <a:solidFill>
                  <a:srgbClr val="FF0000"/>
                </a:solidFill>
              </a:rPr>
              <a:t>默认</a:t>
            </a:r>
            <a:r>
              <a:rPr lang="zh-CN" altLang="zh-CN" dirty="0"/>
              <a:t>路由</a:t>
            </a:r>
            <a:endParaRPr lang="en-US" altLang="zh-CN" dirty="0"/>
          </a:p>
          <a:p>
            <a:pPr marL="327025" lvl="1" indent="0">
              <a:buNone/>
            </a:pPr>
            <a:r>
              <a:rPr lang="en-US" altLang="zh-CN" sz="2400" dirty="0"/>
              <a:t># ip route add </a:t>
            </a:r>
            <a:r>
              <a:rPr lang="en-US" altLang="zh-CN" sz="2400" dirty="0">
                <a:solidFill>
                  <a:srgbClr val="FF0000"/>
                </a:solidFill>
              </a:rPr>
              <a:t>default </a:t>
            </a:r>
            <a:r>
              <a:rPr lang="en-US" altLang="zh-CN" sz="2400" dirty="0"/>
              <a:t>via 192.168.1.1 dev eth0</a:t>
            </a:r>
            <a:endParaRPr lang="zh-CN" altLang="zh-CN" sz="2400" dirty="0"/>
          </a:p>
          <a:p>
            <a:pPr marL="327025" lvl="1" indent="0">
              <a:buNone/>
            </a:pPr>
            <a:r>
              <a:rPr lang="en-US" altLang="zh-CN" sz="2400" dirty="0"/>
              <a:t># ip route del </a:t>
            </a:r>
            <a:r>
              <a:rPr lang="en-US" altLang="zh-CN" sz="2400" dirty="0">
                <a:solidFill>
                  <a:srgbClr val="FF0000"/>
                </a:solidFill>
              </a:rPr>
              <a:t>default</a:t>
            </a:r>
            <a:r>
              <a:rPr lang="en-US" altLang="zh-CN" sz="2400" dirty="0"/>
              <a:t> via 192.168.1.1 dev eth0</a:t>
            </a:r>
            <a:endParaRPr lang="zh-CN" altLang="en-US" sz="2400" dirty="0"/>
          </a:p>
        </p:txBody>
      </p:sp>
      <p:sp>
        <p:nvSpPr>
          <p:cNvPr id="7" name="文本框 6"/>
          <p:cNvSpPr txBox="1"/>
          <p:nvPr/>
        </p:nvSpPr>
        <p:spPr>
          <a:xfrm>
            <a:off x="1154113" y="1425679"/>
            <a:ext cx="7225407" cy="83099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altLang="zh-CN" sz="2400" dirty="0"/>
              <a:t>ip route [</a:t>
            </a:r>
            <a:r>
              <a:rPr lang="en-US" altLang="zh-CN" sz="2400" dirty="0" err="1"/>
              <a:t>add|del</a:t>
            </a:r>
            <a:r>
              <a:rPr lang="en-US" altLang="zh-CN" sz="2400" dirty="0"/>
              <a:t>] default|&lt;</a:t>
            </a:r>
            <a:r>
              <a:rPr lang="zh-CN" altLang="zh-CN" sz="2400" dirty="0"/>
              <a:t>主机地址</a:t>
            </a:r>
            <a:r>
              <a:rPr lang="en-US" altLang="zh-CN" sz="2400" dirty="0"/>
              <a:t>&gt;|&lt;</a:t>
            </a:r>
            <a:r>
              <a:rPr lang="zh-CN" altLang="zh-CN" sz="2400" dirty="0"/>
              <a:t>网络地址</a:t>
            </a:r>
            <a:r>
              <a:rPr lang="en-US" altLang="zh-CN" sz="2400" dirty="0"/>
              <a:t>&gt; via &lt;</a:t>
            </a:r>
            <a:r>
              <a:rPr lang="zh-CN" altLang="zh-CN" sz="2400" dirty="0"/>
              <a:t>网关地址</a:t>
            </a:r>
            <a:r>
              <a:rPr lang="en-US" altLang="zh-CN" sz="2400" dirty="0"/>
              <a:t>&gt; [dev &lt;</a:t>
            </a:r>
            <a:r>
              <a:rPr lang="zh-CN" altLang="zh-CN" sz="2400" dirty="0"/>
              <a:t>流出设备接口</a:t>
            </a:r>
            <a:r>
              <a:rPr lang="en-US" altLang="zh-CN" sz="2400" dirty="0"/>
              <a:t>&gt;]</a:t>
            </a:r>
            <a:endParaRPr lang="zh-CN" altLang="en-US" sz="2400" dirty="0"/>
          </a:p>
        </p:txBody>
      </p:sp>
    </p:spTree>
    <p:extLst>
      <p:ext uri="{BB962C8B-B14F-4D97-AF65-F5344CB8AC3E}">
        <p14:creationId xmlns:p14="http://schemas.microsoft.com/office/powerpoint/2010/main" val="305316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dirty="0"/>
              <a:t>临时性配置</a:t>
            </a:r>
            <a:r>
              <a:rPr lang="en-US" altLang="zh-CN" sz="4400" dirty="0"/>
              <a:t>—</a:t>
            </a:r>
            <a:r>
              <a:rPr lang="zh-CN" altLang="en-US" dirty="0"/>
              <a:t>设置包转发</a:t>
            </a:r>
          </a:p>
        </p:txBody>
      </p:sp>
      <p:sp>
        <p:nvSpPr>
          <p:cNvPr id="3" name="内容占位符 2"/>
          <p:cNvSpPr>
            <a:spLocks noGrp="1"/>
          </p:cNvSpPr>
          <p:nvPr>
            <p:ph idx="1"/>
          </p:nvPr>
        </p:nvSpPr>
        <p:spPr>
          <a:xfrm>
            <a:off x="827584" y="1484784"/>
            <a:ext cx="7793037" cy="4934173"/>
          </a:xfrm>
        </p:spPr>
        <p:txBody>
          <a:bodyPr/>
          <a:lstStyle/>
          <a:p>
            <a:pPr>
              <a:lnSpc>
                <a:spcPct val="120000"/>
              </a:lnSpc>
            </a:pPr>
            <a:r>
              <a:rPr lang="zh-CN" altLang="en-US" dirty="0"/>
              <a:t>使用</a:t>
            </a:r>
            <a:r>
              <a:rPr lang="en-US" altLang="zh-CN" dirty="0"/>
              <a:t>sysctl</a:t>
            </a:r>
            <a:r>
              <a:rPr lang="zh-CN" altLang="en-US" dirty="0"/>
              <a:t>命令可以</a:t>
            </a:r>
            <a:r>
              <a:rPr lang="zh-CN" altLang="en-US" dirty="0">
                <a:solidFill>
                  <a:srgbClr val="FF0000"/>
                </a:solidFill>
              </a:rPr>
              <a:t>临时地开启内核的包转发</a:t>
            </a:r>
            <a:endParaRPr lang="en-US" altLang="zh-CN" dirty="0">
              <a:solidFill>
                <a:srgbClr val="FF0000"/>
              </a:solidFill>
            </a:endParaRPr>
          </a:p>
          <a:p>
            <a:pPr lvl="1">
              <a:lnSpc>
                <a:spcPct val="120000"/>
              </a:lnSpc>
            </a:pPr>
            <a:r>
              <a:rPr lang="en-US" altLang="zh-CN" dirty="0"/>
              <a:t>sysctl</a:t>
            </a:r>
            <a:r>
              <a:rPr lang="zh-CN" altLang="en-US" dirty="0"/>
              <a:t>命令用于</a:t>
            </a:r>
            <a:r>
              <a:rPr lang="zh-CN" altLang="en-US" dirty="0">
                <a:solidFill>
                  <a:srgbClr val="FF0000"/>
                </a:solidFill>
              </a:rPr>
              <a:t>临时调整内核参数</a:t>
            </a:r>
            <a:endParaRPr lang="en-US" altLang="zh-CN" dirty="0">
              <a:solidFill>
                <a:srgbClr val="FF0000"/>
              </a:solidFill>
            </a:endParaRPr>
          </a:p>
          <a:p>
            <a:pPr lvl="1">
              <a:lnSpc>
                <a:spcPct val="120000"/>
              </a:lnSpc>
            </a:pPr>
            <a:r>
              <a:rPr lang="zh-CN" altLang="en-US" dirty="0">
                <a:solidFill>
                  <a:srgbClr val="FF0000"/>
                </a:solidFill>
              </a:rPr>
              <a:t>开启内核的包转发</a:t>
            </a:r>
            <a:r>
              <a:rPr lang="zh-CN" altLang="en-US" dirty="0"/>
              <a:t>功能使用如下命令</a:t>
            </a:r>
            <a:endParaRPr lang="en-US" altLang="zh-CN" dirty="0"/>
          </a:p>
          <a:p>
            <a:pPr lvl="1">
              <a:lnSpc>
                <a:spcPct val="120000"/>
              </a:lnSpc>
              <a:buNone/>
            </a:pPr>
            <a:r>
              <a:rPr lang="en-US" altLang="zh-CN" dirty="0">
                <a:solidFill>
                  <a:schemeClr val="accent6">
                    <a:lumMod val="75000"/>
                  </a:schemeClr>
                </a:solidFill>
              </a:rPr>
              <a:t># sysctl -w net.ipv4.ip_forward=1</a:t>
            </a:r>
            <a:endParaRPr lang="zh-CN" altLang="zh-CN" dirty="0">
              <a:solidFill>
                <a:schemeClr val="accent6">
                  <a:lumMod val="75000"/>
                </a:schemeClr>
              </a:solidFill>
            </a:endParaRPr>
          </a:p>
          <a:p>
            <a:pPr lvl="1">
              <a:lnSpc>
                <a:spcPct val="120000"/>
              </a:lnSpc>
              <a:buNone/>
            </a:pPr>
            <a:r>
              <a:rPr lang="zh-CN" altLang="en-US" dirty="0"/>
              <a:t>或</a:t>
            </a:r>
            <a:endParaRPr lang="en-US" altLang="zh-CN" dirty="0"/>
          </a:p>
          <a:p>
            <a:pPr lvl="1">
              <a:lnSpc>
                <a:spcPct val="120000"/>
              </a:lnSpc>
              <a:buNone/>
            </a:pPr>
            <a:r>
              <a:rPr lang="en-US" altLang="zh-CN" dirty="0">
                <a:solidFill>
                  <a:schemeClr val="accent6">
                    <a:lumMod val="75000"/>
                  </a:schemeClr>
                </a:solidFill>
              </a:rPr>
              <a:t># echo “1” &gt; /proc/sys/net/ipv4/</a:t>
            </a:r>
            <a:r>
              <a:rPr lang="en-US" altLang="zh-CN" dirty="0" err="1">
                <a:solidFill>
                  <a:schemeClr val="accent6">
                    <a:lumMod val="75000"/>
                  </a:schemeClr>
                </a:solidFill>
              </a:rPr>
              <a:t>ip_forward</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9754591" cy="1052513"/>
          </a:xfrm>
        </p:spPr>
        <p:txBody>
          <a:bodyPr/>
          <a:lstStyle/>
          <a:p>
            <a:r>
              <a:rPr lang="zh-CN" altLang="en-US" sz="4200" dirty="0"/>
              <a:t>永久性配置</a:t>
            </a:r>
            <a:r>
              <a:rPr lang="en-US" altLang="zh-CN" sz="4200" dirty="0"/>
              <a:t>—TCP/IP</a:t>
            </a:r>
            <a:r>
              <a:rPr lang="zh-CN" altLang="en-US" sz="4200" dirty="0"/>
              <a:t>配置文件</a:t>
            </a:r>
          </a:p>
        </p:txBody>
      </p:sp>
      <p:sp>
        <p:nvSpPr>
          <p:cNvPr id="3" name="矩形 2"/>
          <p:cNvSpPr/>
          <p:nvPr/>
        </p:nvSpPr>
        <p:spPr>
          <a:xfrm>
            <a:off x="413613" y="1597079"/>
            <a:ext cx="7992888" cy="830997"/>
          </a:xfrm>
          <a:prstGeom prst="rect">
            <a:avLst/>
          </a:prstGeom>
        </p:spPr>
        <p:txBody>
          <a:bodyPr wrap="square">
            <a:spAutoFit/>
          </a:bodyPr>
          <a:lstStyle/>
          <a:p>
            <a:r>
              <a:rPr lang="zh-CN" altLang="en-US" sz="2400" dirty="0"/>
              <a:t>所有</a:t>
            </a:r>
            <a:r>
              <a:rPr lang="zh-CN" altLang="en-US" sz="2400" dirty="0" smtClean="0"/>
              <a:t>的网络接口配置文件均放在</a:t>
            </a:r>
            <a:r>
              <a:rPr lang="en-US" altLang="zh-CN" sz="2400" dirty="0"/>
              <a:t>/</a:t>
            </a:r>
            <a:r>
              <a:rPr lang="en-US" altLang="zh-CN" sz="2400" dirty="0" err="1" smtClean="0"/>
              <a:t>etc</a:t>
            </a:r>
            <a:r>
              <a:rPr lang="en-US" altLang="zh-CN" sz="2400" dirty="0" smtClean="0"/>
              <a:t>/</a:t>
            </a:r>
            <a:r>
              <a:rPr lang="en-US" altLang="zh-CN" sz="2400" dirty="0" err="1" smtClean="0"/>
              <a:t>sysconfig</a:t>
            </a:r>
            <a:r>
              <a:rPr lang="en-US" altLang="zh-CN" sz="2400" dirty="0" smtClean="0"/>
              <a:t>/network-scripts/</a:t>
            </a:r>
            <a:r>
              <a:rPr lang="zh-CN" altLang="en-US" sz="2400" dirty="0"/>
              <a:t>目录</a:t>
            </a:r>
            <a:r>
              <a:rPr lang="zh-CN" altLang="en-US" sz="2400" dirty="0" smtClean="0"/>
              <a:t>中。</a:t>
            </a:r>
            <a:endParaRPr lang="zh-CN" altLang="en-US" sz="2400" dirty="0"/>
          </a:p>
        </p:txBody>
      </p:sp>
      <p:sp>
        <p:nvSpPr>
          <p:cNvPr id="5" name="矩形 4"/>
          <p:cNvSpPr/>
          <p:nvPr/>
        </p:nvSpPr>
        <p:spPr>
          <a:xfrm>
            <a:off x="413613" y="2780928"/>
            <a:ext cx="8280920" cy="3170099"/>
          </a:xfrm>
          <a:prstGeom prst="rect">
            <a:avLst/>
          </a:prstGeom>
        </p:spPr>
        <p:txBody>
          <a:bodyPr wrap="square">
            <a:spAutoFit/>
          </a:bodyPr>
          <a:lstStyle/>
          <a:p>
            <a:r>
              <a:rPr lang="zh-CN" altLang="en-US" sz="2000" dirty="0">
                <a:solidFill>
                  <a:srgbClr val="0000FF"/>
                </a:solidFill>
              </a:rPr>
              <a:t>[root@localhost ~]# </a:t>
            </a:r>
            <a:r>
              <a:rPr lang="zh-CN" altLang="en-US" sz="2000" dirty="0"/>
              <a:t>ls /etc/sysconfig/network-scripts/</a:t>
            </a:r>
          </a:p>
          <a:p>
            <a:r>
              <a:rPr lang="zh-CN" altLang="en-US" sz="2000" dirty="0"/>
              <a:t>ifcfg-ens33  ifdown-isdn      ifup          ifup-plip      ifup-tunnel</a:t>
            </a:r>
          </a:p>
          <a:p>
            <a:r>
              <a:rPr lang="zh-CN" altLang="en-US" sz="2000" dirty="0"/>
              <a:t>ifcfg-lo     ifdown-post      ifup-aliases  ifup-plusb     ifup-wireless</a:t>
            </a:r>
          </a:p>
          <a:p>
            <a:r>
              <a:rPr lang="zh-CN" altLang="en-US" sz="2000" dirty="0"/>
              <a:t>ifdown       ifdown-ppp       ifup-bnep     ifup-post      init.ipv6-global</a:t>
            </a:r>
          </a:p>
          <a:p>
            <a:r>
              <a:rPr lang="zh-CN" altLang="en-US" sz="2000" dirty="0"/>
              <a:t>ifdown-bnep  ifdown-routes    ifup-eth      ifup-ppp       network-functions</a:t>
            </a:r>
          </a:p>
          <a:p>
            <a:r>
              <a:rPr lang="zh-CN" altLang="en-US" sz="2000" dirty="0"/>
              <a:t>ifdown-eth   ifdown-sit       ifup-ib       ifup-routes    network-functions-ipv6</a:t>
            </a:r>
          </a:p>
          <a:p>
            <a:r>
              <a:rPr lang="zh-CN" altLang="en-US" sz="2000" dirty="0"/>
              <a:t>ifdown-ib    ifdown-Team      ifup-ippp     ifup-sit</a:t>
            </a:r>
          </a:p>
          <a:p>
            <a:r>
              <a:rPr lang="zh-CN" altLang="en-US" sz="2000" dirty="0"/>
              <a:t>ifdown-ippp  ifdown-TeamPort  ifup-ipv6     ifup-Team</a:t>
            </a:r>
          </a:p>
          <a:p>
            <a:r>
              <a:rPr lang="zh-CN" altLang="en-US" sz="2000" dirty="0"/>
              <a:t>ifdown-ipv6  ifdown-tunnel    ifup-isdn     ifup-TeamPort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9754591" cy="1052513"/>
          </a:xfrm>
        </p:spPr>
        <p:txBody>
          <a:bodyPr/>
          <a:lstStyle/>
          <a:p>
            <a:r>
              <a:rPr lang="zh-CN" altLang="en-US" sz="4200" dirty="0"/>
              <a:t>永久性配置</a:t>
            </a:r>
            <a:r>
              <a:rPr lang="en-US" altLang="zh-CN" sz="4200" dirty="0"/>
              <a:t>—TCP/IP</a:t>
            </a:r>
            <a:r>
              <a:rPr lang="zh-CN" altLang="en-US" sz="4200" dirty="0"/>
              <a:t>配置文件</a:t>
            </a:r>
          </a:p>
        </p:txBody>
      </p:sp>
      <p:graphicFrame>
        <p:nvGraphicFramePr>
          <p:cNvPr id="8" name="内容占位符 7"/>
          <p:cNvGraphicFramePr>
            <a:graphicFrameLocks noGrp="1"/>
          </p:cNvGraphicFramePr>
          <p:nvPr>
            <p:ph idx="1"/>
            <p:extLst>
              <p:ext uri="{D42A27DB-BD31-4B8C-83A1-F6EECF244321}">
                <p14:modId xmlns:p14="http://schemas.microsoft.com/office/powerpoint/2010/main" val="1369262673"/>
              </p:ext>
            </p:extLst>
          </p:nvPr>
        </p:nvGraphicFramePr>
        <p:xfrm>
          <a:off x="413613" y="2564904"/>
          <a:ext cx="8316774" cy="4104457"/>
        </p:xfrm>
        <a:graphic>
          <a:graphicData uri="http://schemas.openxmlformats.org/drawingml/2006/table">
            <a:tbl>
              <a:tblPr>
                <a:tableStyleId>{5C22544A-7EE6-4342-B048-85BDC9FD1C3A}</a:tableStyleId>
              </a:tblPr>
              <a:tblGrid>
                <a:gridCol w="4536504">
                  <a:extLst>
                    <a:ext uri="{9D8B030D-6E8A-4147-A177-3AD203B41FA5}">
                      <a16:colId xmlns:a16="http://schemas.microsoft.com/office/drawing/2014/main" val="20000"/>
                    </a:ext>
                  </a:extLst>
                </a:gridCol>
                <a:gridCol w="3780270">
                  <a:extLst>
                    <a:ext uri="{9D8B030D-6E8A-4147-A177-3AD203B41FA5}">
                      <a16:colId xmlns:a16="http://schemas.microsoft.com/office/drawing/2014/main" val="20001"/>
                    </a:ext>
                  </a:extLst>
                </a:gridCol>
              </a:tblGrid>
              <a:tr h="604618">
                <a:tc>
                  <a:txBody>
                    <a:bodyPr/>
                    <a:lstStyle/>
                    <a:p>
                      <a:pPr indent="0" algn="just">
                        <a:lnSpc>
                          <a:spcPct val="100000"/>
                        </a:lnSpc>
                        <a:spcAft>
                          <a:spcPts val="0"/>
                        </a:spcAft>
                      </a:pPr>
                      <a:r>
                        <a:rPr lang="en-US" sz="2000" dirty="0">
                          <a:effectLst/>
                        </a:rPr>
                        <a:t>/etc/</a:t>
                      </a:r>
                      <a:r>
                        <a:rPr lang="en-US" sz="2000" dirty="0" err="1">
                          <a:effectLst/>
                        </a:rPr>
                        <a:t>sysconfig</a:t>
                      </a:r>
                      <a:r>
                        <a:rPr lang="en-US" sz="2000" dirty="0">
                          <a:effectLst/>
                        </a:rPr>
                        <a:t>/network-scripts/</a:t>
                      </a:r>
                      <a:r>
                        <a:rPr lang="en-US" sz="2000" dirty="0" err="1">
                          <a:effectLst/>
                        </a:rPr>
                        <a:t>ifcfg</a:t>
                      </a:r>
                      <a:r>
                        <a:rPr lang="en-US" sz="2000" dirty="0">
                          <a:effectLst/>
                        </a:rPr>
                        <a:t>-*</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solidFill>
                            <a:srgbClr val="FF0000"/>
                          </a:solidFill>
                          <a:effectLst/>
                        </a:rPr>
                        <a:t>网络接口</a:t>
                      </a:r>
                      <a:r>
                        <a:rPr lang="zh-CN" sz="2000" dirty="0">
                          <a:effectLst/>
                        </a:rPr>
                        <a:t>配置文件</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671797">
                <a:tc>
                  <a:txBody>
                    <a:bodyPr/>
                    <a:lstStyle/>
                    <a:p>
                      <a:pPr indent="0" algn="just">
                        <a:lnSpc>
                          <a:spcPct val="100000"/>
                        </a:lnSpc>
                        <a:spcAft>
                          <a:spcPts val="0"/>
                        </a:spcAft>
                      </a:pPr>
                      <a:r>
                        <a:rPr lang="en-US" sz="2000" dirty="0">
                          <a:effectLst/>
                        </a:rPr>
                        <a:t>/etc/</a:t>
                      </a:r>
                      <a:r>
                        <a:rPr lang="en-US" sz="2000" dirty="0" err="1">
                          <a:effectLst/>
                        </a:rPr>
                        <a:t>sysconfig</a:t>
                      </a:r>
                      <a:r>
                        <a:rPr lang="en-US" sz="2000" dirty="0">
                          <a:effectLst/>
                        </a:rPr>
                        <a:t>/network-scripts/route-*</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solidFill>
                            <a:srgbClr val="FF0000"/>
                          </a:solidFill>
                          <a:effectLst/>
                        </a:rPr>
                        <a:t>网络接口路由</a:t>
                      </a:r>
                      <a:r>
                        <a:rPr lang="zh-CN" sz="2000" dirty="0">
                          <a:effectLst/>
                        </a:rPr>
                        <a:t>配置文件</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470258">
                <a:tc>
                  <a:txBody>
                    <a:bodyPr/>
                    <a:lstStyle/>
                    <a:p>
                      <a:pPr indent="0" algn="just">
                        <a:lnSpc>
                          <a:spcPct val="100000"/>
                        </a:lnSpc>
                        <a:spcAft>
                          <a:spcPts val="0"/>
                        </a:spcAft>
                      </a:pPr>
                      <a:r>
                        <a:rPr lang="en-US" sz="2000" dirty="0">
                          <a:effectLst/>
                        </a:rPr>
                        <a:t>/etc/hostname</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effectLst/>
                        </a:rPr>
                        <a:t>本地</a:t>
                      </a:r>
                      <a:r>
                        <a:rPr lang="zh-CN" sz="2000" dirty="0">
                          <a:solidFill>
                            <a:srgbClr val="FF0000"/>
                          </a:solidFill>
                          <a:effectLst/>
                        </a:rPr>
                        <a:t>主机名</a:t>
                      </a:r>
                      <a:r>
                        <a:rPr lang="zh-CN" sz="2000" dirty="0">
                          <a:effectLst/>
                        </a:rPr>
                        <a:t>配置文件</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537437">
                <a:tc>
                  <a:txBody>
                    <a:bodyPr/>
                    <a:lstStyle/>
                    <a:p>
                      <a:pPr indent="0" algn="just">
                        <a:lnSpc>
                          <a:spcPct val="100000"/>
                        </a:lnSpc>
                        <a:spcAft>
                          <a:spcPts val="0"/>
                        </a:spcAft>
                      </a:pPr>
                      <a:r>
                        <a:rPr lang="en-US" sz="2000" dirty="0">
                          <a:effectLst/>
                        </a:rPr>
                        <a:t>/etc/hosts</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solidFill>
                            <a:srgbClr val="FF0000"/>
                          </a:solidFill>
                          <a:effectLst/>
                        </a:rPr>
                        <a:t>主机名映射为</a:t>
                      </a:r>
                      <a:r>
                        <a:rPr lang="en-US" sz="2000" dirty="0">
                          <a:solidFill>
                            <a:srgbClr val="FF0000"/>
                          </a:solidFill>
                          <a:effectLst/>
                        </a:rPr>
                        <a:t>IP</a:t>
                      </a:r>
                      <a:r>
                        <a:rPr lang="zh-CN" sz="2000" dirty="0">
                          <a:solidFill>
                            <a:srgbClr val="FF0000"/>
                          </a:solidFill>
                          <a:effectLst/>
                        </a:rPr>
                        <a:t>地址</a:t>
                      </a:r>
                      <a:r>
                        <a:rPr lang="zh-CN" sz="2000" dirty="0">
                          <a:effectLst/>
                        </a:rPr>
                        <a:t>的解析功能</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537437">
                <a:tc>
                  <a:txBody>
                    <a:bodyPr/>
                    <a:lstStyle/>
                    <a:p>
                      <a:pPr indent="0" algn="just">
                        <a:lnSpc>
                          <a:spcPct val="100000"/>
                        </a:lnSpc>
                        <a:spcAft>
                          <a:spcPts val="0"/>
                        </a:spcAft>
                      </a:pPr>
                      <a:r>
                        <a:rPr lang="en-US" sz="2000" dirty="0">
                          <a:effectLst/>
                        </a:rPr>
                        <a:t>/etc/networks</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effectLst/>
                        </a:rPr>
                        <a:t>完成</a:t>
                      </a:r>
                      <a:r>
                        <a:rPr lang="zh-CN" sz="2000" dirty="0">
                          <a:solidFill>
                            <a:srgbClr val="FF0000"/>
                          </a:solidFill>
                          <a:effectLst/>
                        </a:rPr>
                        <a:t>域名与网络地址</a:t>
                      </a:r>
                      <a:r>
                        <a:rPr lang="zh-CN" sz="2000" dirty="0">
                          <a:effectLst/>
                        </a:rPr>
                        <a:t>的映射</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604617">
                <a:tc>
                  <a:txBody>
                    <a:bodyPr/>
                    <a:lstStyle/>
                    <a:p>
                      <a:pPr indent="0" algn="just">
                        <a:lnSpc>
                          <a:spcPct val="100000"/>
                        </a:lnSpc>
                        <a:spcAft>
                          <a:spcPts val="0"/>
                        </a:spcAft>
                      </a:pPr>
                      <a:r>
                        <a:rPr lang="en-US" sz="2000" dirty="0">
                          <a:effectLst/>
                        </a:rPr>
                        <a:t>/etc/</a:t>
                      </a:r>
                      <a:r>
                        <a:rPr lang="en-US" sz="2000" dirty="0" err="1">
                          <a:effectLst/>
                        </a:rPr>
                        <a:t>host.conf</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effectLst/>
                        </a:rPr>
                        <a:t>配置</a:t>
                      </a:r>
                      <a:r>
                        <a:rPr lang="zh-CN" sz="2000" dirty="0">
                          <a:solidFill>
                            <a:srgbClr val="FF0000"/>
                          </a:solidFill>
                          <a:effectLst/>
                        </a:rPr>
                        <a:t>域名服务</a:t>
                      </a:r>
                      <a:r>
                        <a:rPr lang="zh-CN" sz="2000" dirty="0">
                          <a:effectLst/>
                        </a:rPr>
                        <a:t>客户端的</a:t>
                      </a:r>
                      <a:r>
                        <a:rPr lang="zh-CN" sz="2000" dirty="0">
                          <a:solidFill>
                            <a:srgbClr val="FF0000"/>
                          </a:solidFill>
                          <a:effectLst/>
                        </a:rPr>
                        <a:t>控制</a:t>
                      </a:r>
                      <a:r>
                        <a:rPr lang="zh-CN" sz="2000" dirty="0">
                          <a:effectLst/>
                        </a:rPr>
                        <a:t>文件</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678293">
                <a:tc>
                  <a:txBody>
                    <a:bodyPr/>
                    <a:lstStyle/>
                    <a:p>
                      <a:pPr indent="0" algn="just">
                        <a:lnSpc>
                          <a:spcPct val="100000"/>
                        </a:lnSpc>
                        <a:spcAft>
                          <a:spcPts val="0"/>
                        </a:spcAft>
                      </a:pPr>
                      <a:r>
                        <a:rPr lang="en-US" sz="2000" dirty="0">
                          <a:effectLst/>
                        </a:rPr>
                        <a:t>/etc/</a:t>
                      </a:r>
                      <a:r>
                        <a:rPr lang="en-US" sz="2000" dirty="0" err="1">
                          <a:effectLst/>
                        </a:rPr>
                        <a:t>resolv.conf</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effectLst/>
                        </a:rPr>
                        <a:t>配置</a:t>
                      </a:r>
                      <a:r>
                        <a:rPr lang="zh-CN" sz="2000" dirty="0">
                          <a:solidFill>
                            <a:srgbClr val="FF0000"/>
                          </a:solidFill>
                          <a:effectLst/>
                        </a:rPr>
                        <a:t>域名服务</a:t>
                      </a:r>
                      <a:r>
                        <a:rPr lang="zh-CN" sz="2000" dirty="0">
                          <a:effectLst/>
                        </a:rPr>
                        <a:t>客户端的</a:t>
                      </a:r>
                      <a:r>
                        <a:rPr lang="zh-CN" sz="2000" dirty="0">
                          <a:solidFill>
                            <a:srgbClr val="FF0000"/>
                          </a:solidFill>
                          <a:effectLst/>
                        </a:rPr>
                        <a:t>配置</a:t>
                      </a:r>
                      <a:r>
                        <a:rPr lang="zh-CN" sz="2000" dirty="0">
                          <a:effectLst/>
                        </a:rPr>
                        <a:t>文件</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01663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网络接口配置文件</a:t>
            </a:r>
          </a:p>
        </p:txBody>
      </p:sp>
      <p:sp>
        <p:nvSpPr>
          <p:cNvPr id="3" name="内容占位符 2"/>
          <p:cNvSpPr>
            <a:spLocks noGrp="1"/>
          </p:cNvSpPr>
          <p:nvPr>
            <p:ph idx="1"/>
          </p:nvPr>
        </p:nvSpPr>
        <p:spPr>
          <a:xfrm>
            <a:off x="548926" y="1340768"/>
            <a:ext cx="8229600" cy="2664297"/>
          </a:xfrm>
        </p:spPr>
        <p:txBody>
          <a:bodyPr/>
          <a:lstStyle/>
          <a:p>
            <a:r>
              <a:rPr lang="zh-CN" altLang="en-US" dirty="0" smtClean="0"/>
              <a:t>网络</a:t>
            </a:r>
            <a:r>
              <a:rPr lang="zh-CN" altLang="en-US" dirty="0"/>
              <a:t>设备的配置被保存在文本文件中 </a:t>
            </a:r>
          </a:p>
          <a:p>
            <a:pPr lvl="1"/>
            <a:r>
              <a:rPr lang="en-US" altLang="zh-CN" dirty="0">
                <a:solidFill>
                  <a:srgbClr val="FF0000"/>
                </a:solidFill>
              </a:rPr>
              <a:t>/</a:t>
            </a:r>
            <a:r>
              <a:rPr lang="en-US" altLang="zh-CN" dirty="0" err="1" smtClean="0">
                <a:solidFill>
                  <a:srgbClr val="FF0000"/>
                </a:solidFill>
              </a:rPr>
              <a:t>etc</a:t>
            </a:r>
            <a:r>
              <a:rPr lang="en-US" altLang="zh-CN" dirty="0" smtClean="0">
                <a:solidFill>
                  <a:srgbClr val="FF0000"/>
                </a:solidFill>
              </a:rPr>
              <a:t>/</a:t>
            </a:r>
            <a:r>
              <a:rPr lang="en-US" altLang="zh-CN" dirty="0" err="1" smtClean="0">
                <a:solidFill>
                  <a:srgbClr val="FF0000"/>
                </a:solidFill>
              </a:rPr>
              <a:t>sysconfig</a:t>
            </a:r>
            <a:r>
              <a:rPr lang="en-US" altLang="zh-CN" dirty="0" smtClean="0">
                <a:solidFill>
                  <a:srgbClr val="FF0000"/>
                </a:solidFill>
              </a:rPr>
              <a:t>/network-scripts/</a:t>
            </a:r>
            <a:r>
              <a:rPr lang="en-US" altLang="zh-CN" dirty="0" err="1" smtClean="0">
                <a:solidFill>
                  <a:srgbClr val="FF0000"/>
                </a:solidFill>
              </a:rPr>
              <a:t>ifcfg</a:t>
            </a:r>
            <a:r>
              <a:rPr lang="en-US" altLang="zh-CN" dirty="0" smtClean="0">
                <a:solidFill>
                  <a:srgbClr val="FF0000"/>
                </a:solidFill>
              </a:rPr>
              <a:t>-</a:t>
            </a:r>
            <a:r>
              <a:rPr lang="zh-CN" altLang="en-US" dirty="0" smtClean="0">
                <a:solidFill>
                  <a:srgbClr val="FF0000"/>
                </a:solidFill>
              </a:rPr>
              <a:t>*</a:t>
            </a:r>
            <a:endParaRPr lang="en-US" altLang="zh-CN" dirty="0">
              <a:solidFill>
                <a:srgbClr val="FF0000"/>
              </a:solidFill>
            </a:endParaRPr>
          </a:p>
          <a:p>
            <a:r>
              <a:rPr lang="zh-CN" altLang="en-US" dirty="0"/>
              <a:t>配置文件的语法和完整选项列表</a:t>
            </a:r>
            <a:endParaRPr lang="en-US" altLang="zh-CN" dirty="0">
              <a:solidFill>
                <a:srgbClr val="002060"/>
              </a:solidFill>
            </a:endParaRPr>
          </a:p>
          <a:p>
            <a:pPr lvl="1"/>
            <a:r>
              <a:rPr lang="zh-CN" altLang="en-US" dirty="0">
                <a:solidFill>
                  <a:srgbClr val="C00000"/>
                </a:solidFill>
              </a:rPr>
              <a:t>参见</a:t>
            </a:r>
            <a:r>
              <a:rPr lang="zh-CN" altLang="en-US" dirty="0">
                <a:solidFill>
                  <a:srgbClr val="002060"/>
                </a:solidFill>
              </a:rPr>
              <a:t> </a:t>
            </a:r>
            <a:r>
              <a:rPr lang="en-US" altLang="zh-CN" dirty="0"/>
              <a:t>/</a:t>
            </a:r>
            <a:r>
              <a:rPr lang="en-US" altLang="zh-CN" dirty="0" err="1"/>
              <a:t>usr</a:t>
            </a:r>
            <a:r>
              <a:rPr lang="en-US" altLang="zh-CN" dirty="0"/>
              <a:t>/share/doc/</a:t>
            </a:r>
            <a:r>
              <a:rPr lang="en-US" altLang="zh-CN" dirty="0" err="1"/>
              <a:t>initscripts</a:t>
            </a:r>
            <a:r>
              <a:rPr lang="en-US" altLang="zh-CN" dirty="0"/>
              <a:t>-*/sysconfig.txt</a:t>
            </a:r>
          </a:p>
          <a:p>
            <a:pPr lvl="1"/>
            <a:r>
              <a:rPr lang="zh-CN" altLang="en-US" dirty="0"/>
              <a:t>常用选项</a:t>
            </a:r>
          </a:p>
        </p:txBody>
      </p:sp>
      <p:graphicFrame>
        <p:nvGraphicFramePr>
          <p:cNvPr id="8" name="表格 7"/>
          <p:cNvGraphicFramePr>
            <a:graphicFrameLocks noGrp="1"/>
          </p:cNvGraphicFramePr>
          <p:nvPr>
            <p:extLst>
              <p:ext uri="{D42A27DB-BD31-4B8C-83A1-F6EECF244321}">
                <p14:modId xmlns:p14="http://schemas.microsoft.com/office/powerpoint/2010/main" val="1184337289"/>
              </p:ext>
            </p:extLst>
          </p:nvPr>
        </p:nvGraphicFramePr>
        <p:xfrm>
          <a:off x="497596" y="4467177"/>
          <a:ext cx="8280930" cy="2225040"/>
        </p:xfrm>
        <a:graphic>
          <a:graphicData uri="http://schemas.openxmlformats.org/drawingml/2006/table">
            <a:tbl>
              <a:tblPr firstRow="1" bandRow="1">
                <a:tableStyleId>{21E4AEA4-8DFA-4A89-87EB-49C32662AFE0}</a:tableStyleId>
              </a:tblPr>
              <a:tblGrid>
                <a:gridCol w="1800200">
                  <a:extLst>
                    <a:ext uri="{9D8B030D-6E8A-4147-A177-3AD203B41FA5}">
                      <a16:colId xmlns:a16="http://schemas.microsoft.com/office/drawing/2014/main" val="20000"/>
                    </a:ext>
                  </a:extLst>
                </a:gridCol>
                <a:gridCol w="2952328">
                  <a:extLst>
                    <a:ext uri="{9D8B030D-6E8A-4147-A177-3AD203B41FA5}">
                      <a16:colId xmlns:a16="http://schemas.microsoft.com/office/drawing/2014/main" val="20001"/>
                    </a:ext>
                  </a:extLst>
                </a:gridCol>
                <a:gridCol w="1728192">
                  <a:extLst>
                    <a:ext uri="{9D8B030D-6E8A-4147-A177-3AD203B41FA5}">
                      <a16:colId xmlns:a16="http://schemas.microsoft.com/office/drawing/2014/main" val="20002"/>
                    </a:ext>
                  </a:extLst>
                </a:gridCol>
                <a:gridCol w="1800210">
                  <a:extLst>
                    <a:ext uri="{9D8B030D-6E8A-4147-A177-3AD203B41FA5}">
                      <a16:colId xmlns:a16="http://schemas.microsoft.com/office/drawing/2014/main" val="20003"/>
                    </a:ext>
                  </a:extLst>
                </a:gridCol>
              </a:tblGrid>
              <a:tr h="370840">
                <a:tc>
                  <a:txBody>
                    <a:bodyPr/>
                    <a:lstStyle/>
                    <a:p>
                      <a:pPr algn="ctr"/>
                      <a:r>
                        <a:rPr lang="zh-CN" altLang="en-US" dirty="0"/>
                        <a:t>选项</a:t>
                      </a:r>
                    </a:p>
                  </a:txBody>
                  <a:tcPr/>
                </a:tc>
                <a:tc>
                  <a:txBody>
                    <a:bodyPr/>
                    <a:lstStyle/>
                    <a:p>
                      <a:pPr algn="ctr"/>
                      <a:r>
                        <a:rPr lang="zh-CN" altLang="en-US" dirty="0"/>
                        <a:t>说明</a:t>
                      </a:r>
                    </a:p>
                  </a:txBody>
                  <a:tcPr/>
                </a:tc>
                <a:tc>
                  <a:txBody>
                    <a:bodyPr/>
                    <a:lstStyle/>
                    <a:p>
                      <a:pPr algn="ctr"/>
                      <a:r>
                        <a:rPr lang="zh-CN" altLang="en-US" dirty="0"/>
                        <a:t>选项</a:t>
                      </a:r>
                    </a:p>
                  </a:txBody>
                  <a:tcPr/>
                </a:tc>
                <a:tc>
                  <a:txBody>
                    <a:bodyPr/>
                    <a:lstStyle/>
                    <a:p>
                      <a:pPr algn="ctr"/>
                      <a:r>
                        <a:rPr lang="zh-CN" altLang="en-US" dirty="0"/>
                        <a:t>说明</a:t>
                      </a:r>
                    </a:p>
                  </a:txBody>
                  <a:tcPr/>
                </a:tc>
                <a:extLst>
                  <a:ext uri="{0D108BD9-81ED-4DB2-BD59-A6C34878D82A}">
                    <a16:rowId xmlns:a16="http://schemas.microsoft.com/office/drawing/2014/main" val="10000"/>
                  </a:ext>
                </a:extLst>
              </a:tr>
              <a:tr h="370840">
                <a:tc>
                  <a:txBody>
                    <a:bodyPr/>
                    <a:lstStyle/>
                    <a:p>
                      <a:r>
                        <a:rPr lang="en-US" altLang="zh-CN" dirty="0"/>
                        <a:t>Type</a:t>
                      </a:r>
                      <a:endParaRPr lang="zh-CN" altLang="en-US" dirty="0"/>
                    </a:p>
                  </a:txBody>
                  <a:tcPr/>
                </a:tc>
                <a:tc>
                  <a:txBody>
                    <a:bodyPr/>
                    <a:lstStyle/>
                    <a:p>
                      <a:r>
                        <a:rPr lang="zh-CN" altLang="en-US" dirty="0"/>
                        <a:t>指定网络接口类型</a:t>
                      </a:r>
                    </a:p>
                  </a:txBody>
                  <a:tcPr/>
                </a:tc>
                <a:tc>
                  <a:txBody>
                    <a:bodyPr/>
                    <a:lstStyle/>
                    <a:p>
                      <a:r>
                        <a:rPr lang="en-US" altLang="zh-CN" dirty="0"/>
                        <a:t>IPADDR</a:t>
                      </a:r>
                      <a:endParaRPr lang="zh-CN" altLang="en-US" dirty="0"/>
                    </a:p>
                  </a:txBody>
                  <a:tcPr/>
                </a:tc>
                <a:tc>
                  <a:txBody>
                    <a:bodyPr/>
                    <a:lstStyle/>
                    <a:p>
                      <a:r>
                        <a:rPr lang="zh-CN" altLang="en-US" dirty="0"/>
                        <a:t>指定静态</a:t>
                      </a:r>
                      <a:r>
                        <a:rPr lang="en-US" altLang="zh-CN" dirty="0"/>
                        <a:t>IP</a:t>
                      </a:r>
                      <a:r>
                        <a:rPr lang="zh-CN" altLang="en-US" dirty="0"/>
                        <a:t>地址</a:t>
                      </a:r>
                    </a:p>
                  </a:txBody>
                  <a:tcPr/>
                </a:tc>
                <a:extLst>
                  <a:ext uri="{0D108BD9-81ED-4DB2-BD59-A6C34878D82A}">
                    <a16:rowId xmlns:a16="http://schemas.microsoft.com/office/drawing/2014/main" val="10001"/>
                  </a:ext>
                </a:extLst>
              </a:tr>
              <a:tr h="370840">
                <a:tc>
                  <a:txBody>
                    <a:bodyPr/>
                    <a:lstStyle/>
                    <a:p>
                      <a:r>
                        <a:rPr lang="en-US" altLang="zh-CN" dirty="0"/>
                        <a:t>DEVICE</a:t>
                      </a:r>
                      <a:endParaRPr lang="zh-CN" altLang="en-US" dirty="0"/>
                    </a:p>
                  </a:txBody>
                  <a:tcPr/>
                </a:tc>
                <a:tc>
                  <a:txBody>
                    <a:bodyPr/>
                    <a:lstStyle/>
                    <a:p>
                      <a:r>
                        <a:rPr lang="zh-CN" altLang="en-US" dirty="0"/>
                        <a:t>指定设备名</a:t>
                      </a:r>
                    </a:p>
                  </a:txBody>
                  <a:tcPr/>
                </a:tc>
                <a:tc>
                  <a:txBody>
                    <a:bodyPr/>
                    <a:lstStyle/>
                    <a:p>
                      <a:r>
                        <a:rPr lang="en-US" altLang="zh-CN" dirty="0"/>
                        <a:t>NETMASK</a:t>
                      </a:r>
                      <a:endParaRPr lang="zh-CN" altLang="en-US" dirty="0"/>
                    </a:p>
                  </a:txBody>
                  <a:tcPr/>
                </a:tc>
                <a:tc>
                  <a:txBody>
                    <a:bodyPr/>
                    <a:lstStyle/>
                    <a:p>
                      <a:r>
                        <a:rPr lang="zh-CN" altLang="en-US" dirty="0"/>
                        <a:t>指定子网掩码</a:t>
                      </a:r>
                    </a:p>
                  </a:txBody>
                  <a:tcPr/>
                </a:tc>
                <a:extLst>
                  <a:ext uri="{0D108BD9-81ED-4DB2-BD59-A6C34878D82A}">
                    <a16:rowId xmlns:a16="http://schemas.microsoft.com/office/drawing/2014/main" val="10002"/>
                  </a:ext>
                </a:extLst>
              </a:tr>
              <a:tr h="370840">
                <a:tc>
                  <a:txBody>
                    <a:bodyPr/>
                    <a:lstStyle/>
                    <a:p>
                      <a:r>
                        <a:rPr lang="en-US" altLang="zh-CN" dirty="0"/>
                        <a:t>HWADDR</a:t>
                      </a:r>
                      <a:endParaRPr lang="zh-CN" altLang="en-US" dirty="0"/>
                    </a:p>
                  </a:txBody>
                  <a:tcPr/>
                </a:tc>
                <a:tc>
                  <a:txBody>
                    <a:bodyPr/>
                    <a:lstStyle/>
                    <a:p>
                      <a:r>
                        <a:rPr lang="zh-CN" altLang="en-US" dirty="0"/>
                        <a:t>指定网卡的</a:t>
                      </a:r>
                      <a:r>
                        <a:rPr lang="en-US" altLang="zh-CN" dirty="0"/>
                        <a:t>MAC</a:t>
                      </a:r>
                      <a:r>
                        <a:rPr lang="zh-CN" altLang="en-US" dirty="0"/>
                        <a:t>地址</a:t>
                      </a:r>
                    </a:p>
                  </a:txBody>
                  <a:tcPr/>
                </a:tc>
                <a:tc>
                  <a:txBody>
                    <a:bodyPr/>
                    <a:lstStyle/>
                    <a:p>
                      <a:r>
                        <a:rPr lang="en-US" altLang="zh-CN" dirty="0"/>
                        <a:t>BROADCAST</a:t>
                      </a:r>
                      <a:endParaRPr lang="zh-CN" altLang="en-US" dirty="0"/>
                    </a:p>
                  </a:txBody>
                  <a:tcPr/>
                </a:tc>
                <a:tc>
                  <a:txBody>
                    <a:bodyPr/>
                    <a:lstStyle/>
                    <a:p>
                      <a:r>
                        <a:rPr lang="zh-CN" altLang="en-US" dirty="0"/>
                        <a:t>指定广播地址</a:t>
                      </a:r>
                    </a:p>
                  </a:txBody>
                  <a:tcPr/>
                </a:tc>
                <a:extLst>
                  <a:ext uri="{0D108BD9-81ED-4DB2-BD59-A6C34878D82A}">
                    <a16:rowId xmlns:a16="http://schemas.microsoft.com/office/drawing/2014/main" val="10003"/>
                  </a:ext>
                </a:extLst>
              </a:tr>
              <a:tr h="370840">
                <a:tc>
                  <a:txBody>
                    <a:bodyPr/>
                    <a:lstStyle/>
                    <a:p>
                      <a:r>
                        <a:rPr lang="en-US" altLang="zh-CN" dirty="0"/>
                        <a:t>BOOTPROTO</a:t>
                      </a:r>
                      <a:endParaRPr lang="zh-CN" altLang="en-US" dirty="0"/>
                    </a:p>
                  </a:txBody>
                  <a:tcPr/>
                </a:tc>
                <a:tc>
                  <a:txBody>
                    <a:bodyPr/>
                    <a:lstStyle/>
                    <a:p>
                      <a:r>
                        <a:rPr lang="zh-CN" altLang="en-US" dirty="0"/>
                        <a:t>指定获取网络参数的方式</a:t>
                      </a:r>
                    </a:p>
                  </a:txBody>
                  <a:tcPr/>
                </a:tc>
                <a:tc>
                  <a:txBody>
                    <a:bodyPr/>
                    <a:lstStyle/>
                    <a:p>
                      <a:r>
                        <a:rPr lang="en-US" altLang="zh-CN" dirty="0"/>
                        <a:t>GATEWAY</a:t>
                      </a:r>
                      <a:endParaRPr lang="zh-CN" altLang="en-US" dirty="0"/>
                    </a:p>
                  </a:txBody>
                  <a:tcPr/>
                </a:tc>
                <a:tc>
                  <a:txBody>
                    <a:bodyPr/>
                    <a:lstStyle/>
                    <a:p>
                      <a:r>
                        <a:rPr lang="zh-CN" altLang="en-US" dirty="0"/>
                        <a:t>指定设备的网关</a:t>
                      </a:r>
                    </a:p>
                  </a:txBody>
                  <a:tcPr/>
                </a:tc>
                <a:extLst>
                  <a:ext uri="{0D108BD9-81ED-4DB2-BD59-A6C34878D82A}">
                    <a16:rowId xmlns:a16="http://schemas.microsoft.com/office/drawing/2014/main" val="10004"/>
                  </a:ext>
                </a:extLst>
              </a:tr>
              <a:tr h="370840">
                <a:tc>
                  <a:txBody>
                    <a:bodyPr/>
                    <a:lstStyle/>
                    <a:p>
                      <a:r>
                        <a:rPr lang="en-US" altLang="zh-CN" dirty="0"/>
                        <a:t>ONBOOT</a:t>
                      </a:r>
                      <a:endParaRPr lang="zh-CN" altLang="en-US" dirty="0"/>
                    </a:p>
                  </a:txBody>
                  <a:tcPr/>
                </a:tc>
                <a:tc>
                  <a:txBody>
                    <a:bodyPr/>
                    <a:lstStyle/>
                    <a:p>
                      <a:r>
                        <a:rPr lang="zh-CN" altLang="en-US" dirty="0"/>
                        <a:t>指定是否在启动时启用设备</a:t>
                      </a:r>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8674471" cy="1052513"/>
          </a:xfrm>
        </p:spPr>
        <p:txBody>
          <a:bodyPr/>
          <a:lstStyle/>
          <a:p>
            <a:r>
              <a:rPr lang="zh-CN" altLang="en-US" sz="4000" dirty="0"/>
              <a:t>网络接口配置文件举例</a:t>
            </a:r>
            <a:r>
              <a:rPr lang="en-US" altLang="zh-CN" sz="4000" dirty="0"/>
              <a:t>—</a:t>
            </a:r>
            <a:r>
              <a:rPr lang="zh-CN" altLang="en-US" sz="4000" dirty="0"/>
              <a:t>静态配置</a:t>
            </a:r>
          </a:p>
        </p:txBody>
      </p:sp>
      <p:sp>
        <p:nvSpPr>
          <p:cNvPr id="7" name="内容占位符 2"/>
          <p:cNvSpPr>
            <a:spLocks noGrp="1"/>
          </p:cNvSpPr>
          <p:nvPr>
            <p:ph idx="1"/>
          </p:nvPr>
        </p:nvSpPr>
        <p:spPr>
          <a:xfrm>
            <a:off x="1043608" y="1484783"/>
            <a:ext cx="7416824" cy="5181501"/>
          </a:xfrm>
          <a:solidFill>
            <a:schemeClr val="accent2"/>
          </a:solidFill>
        </p:spPr>
        <p:txBody>
          <a:bodyPr/>
          <a:lstStyle/>
          <a:p>
            <a:pPr>
              <a:buNone/>
            </a:pPr>
            <a:r>
              <a:rPr lang="en-US" altLang="zh-CN" dirty="0">
                <a:solidFill>
                  <a:srgbClr val="002060"/>
                </a:solidFill>
              </a:rPr>
              <a:t># vim /etc/</a:t>
            </a:r>
            <a:r>
              <a:rPr lang="en-US" altLang="zh-CN" dirty="0" err="1">
                <a:solidFill>
                  <a:srgbClr val="002060"/>
                </a:solidFill>
              </a:rPr>
              <a:t>sysconfig</a:t>
            </a:r>
            <a:r>
              <a:rPr lang="en-US" altLang="zh-CN" dirty="0">
                <a:solidFill>
                  <a:srgbClr val="002060"/>
                </a:solidFill>
              </a:rPr>
              <a:t>/network-scripts/ifcfg-eth0</a:t>
            </a:r>
          </a:p>
          <a:p>
            <a:pPr>
              <a:buNone/>
            </a:pPr>
            <a:r>
              <a:rPr lang="en-US" altLang="zh-CN" sz="2400" dirty="0"/>
              <a:t>Type=Ethernet</a:t>
            </a:r>
          </a:p>
          <a:p>
            <a:pPr>
              <a:buNone/>
            </a:pPr>
            <a:r>
              <a:rPr lang="en-US" altLang="zh-CN" sz="2400" dirty="0"/>
              <a:t>DEVICE=eth0</a:t>
            </a:r>
          </a:p>
          <a:p>
            <a:pPr>
              <a:buNone/>
            </a:pPr>
            <a:r>
              <a:rPr lang="en-US" altLang="zh-CN" sz="2400" dirty="0"/>
              <a:t>UUID=8efea5fc-390e-4572-87fb-22621e6cb3a6</a:t>
            </a:r>
          </a:p>
          <a:p>
            <a:pPr>
              <a:buNone/>
            </a:pPr>
            <a:r>
              <a:rPr lang="en-US" altLang="zh-CN" sz="2400" dirty="0">
                <a:solidFill>
                  <a:srgbClr val="FF0000"/>
                </a:solidFill>
              </a:rPr>
              <a:t>BOOTPROTO=static</a:t>
            </a:r>
          </a:p>
          <a:p>
            <a:pPr>
              <a:buNone/>
            </a:pPr>
            <a:r>
              <a:rPr lang="en-US" altLang="zh-CN" sz="2400" dirty="0"/>
              <a:t>ONBOOT=yes</a:t>
            </a:r>
          </a:p>
          <a:p>
            <a:pPr>
              <a:buNone/>
            </a:pPr>
            <a:r>
              <a:rPr lang="en-US" altLang="zh-CN" sz="2400" b="1" dirty="0">
                <a:solidFill>
                  <a:srgbClr val="FF0000"/>
                </a:solidFill>
              </a:rPr>
              <a:t>IPADDR</a:t>
            </a:r>
            <a:r>
              <a:rPr lang="en-US" altLang="zh-CN" sz="2400" dirty="0">
                <a:solidFill>
                  <a:srgbClr val="FF0000"/>
                </a:solidFill>
              </a:rPr>
              <a:t>=192.168.0.123</a:t>
            </a:r>
          </a:p>
          <a:p>
            <a:pPr>
              <a:buNone/>
            </a:pPr>
            <a:r>
              <a:rPr lang="en-US" altLang="zh-CN" sz="2400" b="1" dirty="0">
                <a:solidFill>
                  <a:srgbClr val="FF0000"/>
                </a:solidFill>
              </a:rPr>
              <a:t>PREFIX</a:t>
            </a:r>
            <a:r>
              <a:rPr lang="en-US" altLang="zh-CN" sz="2400" dirty="0">
                <a:solidFill>
                  <a:srgbClr val="FF0000"/>
                </a:solidFill>
              </a:rPr>
              <a:t>=24</a:t>
            </a:r>
          </a:p>
          <a:p>
            <a:pPr>
              <a:buNone/>
            </a:pPr>
            <a:r>
              <a:rPr lang="en-US" altLang="zh-CN" sz="2400" dirty="0"/>
              <a:t>BROADCAST=</a:t>
            </a:r>
            <a:r>
              <a:rPr lang="en-US" altLang="zh-CN" sz="2400" dirty="0">
                <a:solidFill>
                  <a:srgbClr val="FF0000"/>
                </a:solidFill>
              </a:rPr>
              <a:t>192.168.0.255</a:t>
            </a:r>
          </a:p>
          <a:p>
            <a:pPr>
              <a:buNone/>
            </a:pPr>
            <a:r>
              <a:rPr lang="en-US" altLang="zh-CN" sz="2400" dirty="0"/>
              <a:t>GATEWAY=192.168.0.1</a:t>
            </a:r>
            <a:endParaRPr lang="zh-CN" alt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为网络接口绑定多个</a:t>
            </a:r>
            <a:r>
              <a:rPr lang="en-US" altLang="zh-CN" dirty="0"/>
              <a:t>IP</a:t>
            </a:r>
            <a:r>
              <a:rPr lang="zh-CN" altLang="zh-CN" dirty="0"/>
              <a:t>地址</a:t>
            </a:r>
            <a:endParaRPr lang="zh-CN" altLang="en-US" dirty="0"/>
          </a:p>
        </p:txBody>
      </p:sp>
      <p:sp>
        <p:nvSpPr>
          <p:cNvPr id="3" name="内容占位符 2"/>
          <p:cNvSpPr>
            <a:spLocks noGrp="1"/>
          </p:cNvSpPr>
          <p:nvPr>
            <p:ph idx="1"/>
          </p:nvPr>
        </p:nvSpPr>
        <p:spPr>
          <a:xfrm>
            <a:off x="971600" y="1453948"/>
            <a:ext cx="7344816" cy="4114800"/>
          </a:xfrm>
        </p:spPr>
        <p:txBody>
          <a:bodyPr/>
          <a:lstStyle/>
          <a:p>
            <a:pPr>
              <a:lnSpc>
                <a:spcPct val="120000"/>
              </a:lnSpc>
            </a:pPr>
            <a:r>
              <a:rPr lang="zh-CN" altLang="zh-CN" dirty="0"/>
              <a:t>可使用带数字编号的</a:t>
            </a:r>
            <a:r>
              <a:rPr lang="en-US" altLang="zh-CN" dirty="0"/>
              <a:t>IPADDR</a:t>
            </a:r>
            <a:r>
              <a:rPr lang="zh-CN" altLang="zh-CN" dirty="0"/>
              <a:t>和</a:t>
            </a:r>
            <a:r>
              <a:rPr lang="en-US" altLang="zh-CN" dirty="0"/>
              <a:t>PREFIX</a:t>
            </a:r>
            <a:r>
              <a:rPr lang="zh-CN" altLang="zh-CN" dirty="0"/>
              <a:t>指令</a:t>
            </a:r>
            <a:endParaRPr lang="en-US" altLang="zh-CN" dirty="0"/>
          </a:p>
          <a:p>
            <a:endParaRPr lang="en-US" altLang="zh-CN" dirty="0"/>
          </a:p>
          <a:p>
            <a:endParaRPr lang="zh-CN" altLang="en-US" dirty="0"/>
          </a:p>
        </p:txBody>
      </p:sp>
      <p:sp>
        <p:nvSpPr>
          <p:cNvPr id="7" name="文本框 6"/>
          <p:cNvSpPr txBox="1"/>
          <p:nvPr/>
        </p:nvSpPr>
        <p:spPr>
          <a:xfrm>
            <a:off x="1655168" y="2818729"/>
            <a:ext cx="6229200" cy="3053400"/>
          </a:xfrm>
          <a:prstGeom prst="rect">
            <a:avLst/>
          </a:prstGeom>
          <a:noFill/>
        </p:spPr>
        <p:txBody>
          <a:bodyPr wrap="square" rtlCol="0">
            <a:spAutoFit/>
          </a:bodyPr>
          <a:lstStyle/>
          <a:p>
            <a:pPr>
              <a:lnSpc>
                <a:spcPct val="120000"/>
              </a:lnSpc>
              <a:buNone/>
            </a:pPr>
            <a:r>
              <a:rPr lang="en-US" altLang="zh-CN" sz="2400" b="1" dirty="0"/>
              <a:t>IPADDR</a:t>
            </a:r>
            <a:r>
              <a:rPr lang="en-US" altLang="zh-CN" sz="2400" dirty="0"/>
              <a:t>=192.168.0.123</a:t>
            </a:r>
          </a:p>
          <a:p>
            <a:pPr>
              <a:lnSpc>
                <a:spcPct val="120000"/>
              </a:lnSpc>
              <a:buNone/>
            </a:pPr>
            <a:r>
              <a:rPr lang="en-US" altLang="zh-CN" sz="2400" b="1" dirty="0"/>
              <a:t>PREFIX</a:t>
            </a:r>
            <a:r>
              <a:rPr lang="en-US" altLang="zh-CN" sz="2400" dirty="0"/>
              <a:t>=24</a:t>
            </a:r>
          </a:p>
          <a:p>
            <a:pPr>
              <a:lnSpc>
                <a:spcPct val="120000"/>
              </a:lnSpc>
            </a:pPr>
            <a:r>
              <a:rPr lang="en-US" altLang="zh-CN" sz="2400" b="1" dirty="0"/>
              <a:t>IPADDR1</a:t>
            </a:r>
            <a:r>
              <a:rPr lang="en-US" altLang="zh-CN" sz="2400" dirty="0"/>
              <a:t>=192.168.99.1</a:t>
            </a:r>
            <a:endParaRPr lang="zh-CN" altLang="zh-CN" sz="2400" dirty="0"/>
          </a:p>
          <a:p>
            <a:pPr>
              <a:lnSpc>
                <a:spcPct val="120000"/>
              </a:lnSpc>
            </a:pPr>
            <a:r>
              <a:rPr lang="en-US" altLang="zh-CN" sz="2400" b="1" dirty="0"/>
              <a:t>PREFIX1</a:t>
            </a:r>
            <a:r>
              <a:rPr lang="en-US" altLang="zh-CN" sz="2400" dirty="0"/>
              <a:t>=24</a:t>
            </a:r>
            <a:endParaRPr lang="zh-CN" altLang="zh-CN" sz="2400" dirty="0"/>
          </a:p>
          <a:p>
            <a:pPr>
              <a:lnSpc>
                <a:spcPct val="120000"/>
              </a:lnSpc>
            </a:pPr>
            <a:r>
              <a:rPr lang="en-US" altLang="zh-CN" sz="2400" b="1" dirty="0"/>
              <a:t>IPADDR2</a:t>
            </a:r>
            <a:r>
              <a:rPr lang="en-US" altLang="zh-CN" sz="2400" dirty="0"/>
              <a:t>=192.168.199.1</a:t>
            </a:r>
            <a:endParaRPr lang="zh-CN" altLang="zh-CN" sz="2400" dirty="0"/>
          </a:p>
          <a:p>
            <a:pPr>
              <a:lnSpc>
                <a:spcPct val="120000"/>
              </a:lnSpc>
            </a:pPr>
            <a:r>
              <a:rPr lang="en-US" altLang="zh-CN" sz="2400" b="1" dirty="0"/>
              <a:t>PREFIX2</a:t>
            </a:r>
            <a:r>
              <a:rPr lang="en-US" altLang="zh-CN" sz="2400" dirty="0"/>
              <a:t>=24</a:t>
            </a:r>
            <a:endParaRPr lang="zh-CN" altLang="zh-CN" sz="2400" dirty="0"/>
          </a:p>
          <a:p>
            <a:pPr>
              <a:lnSpc>
                <a:spcPct val="120000"/>
              </a:lnSpc>
            </a:pPr>
            <a:r>
              <a:rPr lang="en-US" altLang="zh-CN" dirty="0"/>
              <a:t>………………</a:t>
            </a:r>
            <a:endParaRPr lang="zh-CN" altLang="en-US" dirty="0"/>
          </a:p>
        </p:txBody>
      </p:sp>
    </p:spTree>
    <p:extLst>
      <p:ext uri="{BB962C8B-B14F-4D97-AF65-F5344CB8AC3E}">
        <p14:creationId xmlns:p14="http://schemas.microsoft.com/office/powerpoint/2010/main" val="3543372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8962503" cy="1052513"/>
          </a:xfrm>
        </p:spPr>
        <p:txBody>
          <a:bodyPr/>
          <a:lstStyle/>
          <a:p>
            <a:r>
              <a:rPr lang="zh-CN" altLang="en-US" sz="4000" dirty="0"/>
              <a:t>网络接口配置文件举例</a:t>
            </a:r>
            <a:r>
              <a:rPr lang="en-US" altLang="zh-CN" sz="4000" dirty="0"/>
              <a:t>—</a:t>
            </a:r>
            <a:r>
              <a:rPr lang="zh-CN" altLang="en-US" sz="4000" dirty="0"/>
              <a:t>动态配置</a:t>
            </a:r>
          </a:p>
        </p:txBody>
      </p:sp>
      <p:sp>
        <p:nvSpPr>
          <p:cNvPr id="3" name="内容占位符 2"/>
          <p:cNvSpPr>
            <a:spLocks noGrp="1"/>
          </p:cNvSpPr>
          <p:nvPr>
            <p:ph idx="1"/>
          </p:nvPr>
        </p:nvSpPr>
        <p:spPr>
          <a:xfrm>
            <a:off x="899592" y="1916832"/>
            <a:ext cx="7643192" cy="4286101"/>
          </a:xfrm>
          <a:solidFill>
            <a:schemeClr val="accent2"/>
          </a:solidFill>
        </p:spPr>
        <p:txBody>
          <a:bodyPr/>
          <a:lstStyle/>
          <a:p>
            <a:pPr>
              <a:buNone/>
            </a:pPr>
            <a:r>
              <a:rPr lang="en-US" altLang="zh-CN" dirty="0">
                <a:solidFill>
                  <a:srgbClr val="002060"/>
                </a:solidFill>
              </a:rPr>
              <a:t># vim /etc/</a:t>
            </a:r>
            <a:r>
              <a:rPr lang="en-US" altLang="zh-CN" dirty="0" err="1">
                <a:solidFill>
                  <a:srgbClr val="002060"/>
                </a:solidFill>
              </a:rPr>
              <a:t>sysconfig</a:t>
            </a:r>
            <a:r>
              <a:rPr lang="en-US" altLang="zh-CN" dirty="0">
                <a:solidFill>
                  <a:srgbClr val="002060"/>
                </a:solidFill>
              </a:rPr>
              <a:t>/network-scripts/ifcfg-eth0</a:t>
            </a:r>
            <a:r>
              <a:rPr lang="en-US" altLang="zh-CN" dirty="0"/>
              <a:t>	</a:t>
            </a:r>
          </a:p>
          <a:p>
            <a:pPr>
              <a:buNone/>
            </a:pPr>
            <a:r>
              <a:rPr lang="en-US" altLang="zh-CN" sz="2400" dirty="0"/>
              <a:t>Type=Ethernet</a:t>
            </a:r>
          </a:p>
          <a:p>
            <a:pPr>
              <a:buNone/>
            </a:pPr>
            <a:r>
              <a:rPr lang="en-US" altLang="zh-CN" sz="2400" dirty="0"/>
              <a:t>DEVICE=eth0</a:t>
            </a:r>
          </a:p>
          <a:p>
            <a:pPr>
              <a:buNone/>
            </a:pPr>
            <a:r>
              <a:rPr lang="en-US" altLang="zh-CN" sz="2400" dirty="0"/>
              <a:t>UUID=8efea5fc-390e-4572-87fb-22621e6cb3a6</a:t>
            </a:r>
          </a:p>
          <a:p>
            <a:pPr>
              <a:buNone/>
            </a:pPr>
            <a:r>
              <a:rPr lang="en-US" altLang="zh-CN" sz="2400" dirty="0">
                <a:solidFill>
                  <a:srgbClr val="FF0000"/>
                </a:solidFill>
              </a:rPr>
              <a:t>BOOTPROTO=</a:t>
            </a:r>
            <a:r>
              <a:rPr lang="en-US" altLang="zh-CN" sz="2400" dirty="0" err="1">
                <a:solidFill>
                  <a:srgbClr val="FF0000"/>
                </a:solidFill>
              </a:rPr>
              <a:t>dhcp</a:t>
            </a:r>
            <a:endParaRPr lang="en-US" altLang="zh-CN" sz="2400" dirty="0">
              <a:solidFill>
                <a:srgbClr val="FF0000"/>
              </a:solidFill>
            </a:endParaRPr>
          </a:p>
          <a:p>
            <a:pPr>
              <a:buNone/>
            </a:pPr>
            <a:r>
              <a:rPr lang="en-US" altLang="zh-CN" sz="2400" dirty="0"/>
              <a:t>ONBOOT=yes</a:t>
            </a:r>
            <a:endParaRPr lang="zh-CN" alt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7989887" cy="1052513"/>
          </a:xfrm>
        </p:spPr>
        <p:txBody>
          <a:bodyPr/>
          <a:lstStyle/>
          <a:p>
            <a:r>
              <a:rPr lang="zh-CN" altLang="en-US" dirty="0"/>
              <a:t>网络接口的静态路由配置文件</a:t>
            </a:r>
          </a:p>
        </p:txBody>
      </p:sp>
      <p:sp>
        <p:nvSpPr>
          <p:cNvPr id="3" name="内容占位符 2"/>
          <p:cNvSpPr>
            <a:spLocks noGrp="1"/>
          </p:cNvSpPr>
          <p:nvPr>
            <p:ph idx="1"/>
          </p:nvPr>
        </p:nvSpPr>
        <p:spPr>
          <a:xfrm>
            <a:off x="837710" y="1371600"/>
            <a:ext cx="8280920" cy="4114800"/>
          </a:xfrm>
        </p:spPr>
        <p:txBody>
          <a:bodyPr/>
          <a:lstStyle/>
          <a:p>
            <a:pPr>
              <a:lnSpc>
                <a:spcPct val="120000"/>
              </a:lnSpc>
            </a:pPr>
            <a:r>
              <a:rPr lang="zh-CN" altLang="en-US" dirty="0"/>
              <a:t>网络接口的静态路由配置文件</a:t>
            </a:r>
            <a:endParaRPr lang="en-US" altLang="zh-CN" dirty="0"/>
          </a:p>
          <a:p>
            <a:pPr lvl="1">
              <a:lnSpc>
                <a:spcPct val="120000"/>
              </a:lnSpc>
            </a:pPr>
            <a:r>
              <a:rPr lang="zh-CN" altLang="en-US" dirty="0"/>
              <a:t>每个网络接口均可有其</a:t>
            </a:r>
            <a:r>
              <a:rPr lang="zh-CN" altLang="en-US" dirty="0">
                <a:solidFill>
                  <a:srgbClr val="FF0000"/>
                </a:solidFill>
              </a:rPr>
              <a:t>静态路由配置文件</a:t>
            </a:r>
          </a:p>
          <a:p>
            <a:pPr lvl="1">
              <a:lnSpc>
                <a:spcPct val="120000"/>
              </a:lnSpc>
            </a:pPr>
            <a:r>
              <a:rPr lang="en-US" altLang="zh-CN" dirty="0">
                <a:solidFill>
                  <a:srgbClr val="FF0000"/>
                </a:solidFill>
              </a:rPr>
              <a:t>/etc/</a:t>
            </a:r>
            <a:r>
              <a:rPr lang="en-US" altLang="zh-CN" dirty="0" err="1">
                <a:solidFill>
                  <a:srgbClr val="FF0000"/>
                </a:solidFill>
              </a:rPr>
              <a:t>sysconfig</a:t>
            </a:r>
            <a:r>
              <a:rPr lang="en-US" altLang="zh-CN" dirty="0">
                <a:solidFill>
                  <a:srgbClr val="FF0000"/>
                </a:solidFill>
              </a:rPr>
              <a:t>/network-scripts/route-</a:t>
            </a:r>
            <a:r>
              <a:rPr lang="zh-CN" altLang="en-US" dirty="0">
                <a:solidFill>
                  <a:srgbClr val="FF0000"/>
                </a:solidFill>
              </a:rPr>
              <a:t>*</a:t>
            </a:r>
            <a:endParaRPr lang="en-US" altLang="zh-CN" dirty="0">
              <a:solidFill>
                <a:srgbClr val="FF0000"/>
              </a:solidFill>
            </a:endParaRPr>
          </a:p>
          <a:p>
            <a:pPr>
              <a:lnSpc>
                <a:spcPct val="120000"/>
              </a:lnSpc>
            </a:pPr>
            <a:r>
              <a:rPr lang="zh-CN" altLang="en-US" dirty="0"/>
              <a:t>例如</a:t>
            </a:r>
            <a:endParaRPr lang="en-US" altLang="zh-CN" dirty="0"/>
          </a:p>
          <a:p>
            <a:pPr lvl="1">
              <a:lnSpc>
                <a:spcPct val="120000"/>
              </a:lnSpc>
            </a:pPr>
            <a:r>
              <a:rPr lang="zh-CN" altLang="en-US" dirty="0"/>
              <a:t>配置网络接口</a:t>
            </a:r>
            <a:r>
              <a:rPr lang="en-US" altLang="zh-CN" dirty="0"/>
              <a:t>eth0</a:t>
            </a:r>
            <a:r>
              <a:rPr lang="zh-CN" altLang="en-US" dirty="0"/>
              <a:t>的静态路由</a:t>
            </a:r>
            <a:endParaRPr lang="en-US" altLang="zh-CN" dirty="0"/>
          </a:p>
          <a:p>
            <a:pPr lvl="1">
              <a:lnSpc>
                <a:spcPct val="120000"/>
              </a:lnSpc>
              <a:buNone/>
            </a:pPr>
            <a:r>
              <a:rPr lang="en-US" altLang="zh-CN" dirty="0">
                <a:solidFill>
                  <a:srgbClr val="002060"/>
                </a:solidFill>
              </a:rPr>
              <a:t># vim /etc/</a:t>
            </a:r>
            <a:r>
              <a:rPr lang="en-US" altLang="zh-CN" dirty="0" err="1">
                <a:solidFill>
                  <a:srgbClr val="002060"/>
                </a:solidFill>
              </a:rPr>
              <a:t>sysconfig</a:t>
            </a:r>
            <a:r>
              <a:rPr lang="en-US" altLang="zh-CN" dirty="0">
                <a:solidFill>
                  <a:srgbClr val="002060"/>
                </a:solidFill>
              </a:rPr>
              <a:t>/network-scripts/</a:t>
            </a:r>
            <a:r>
              <a:rPr lang="en-US" altLang="zh-CN" dirty="0"/>
              <a:t> </a:t>
            </a:r>
            <a:r>
              <a:rPr lang="en-US" altLang="zh-CN" dirty="0">
                <a:solidFill>
                  <a:srgbClr val="002060"/>
                </a:solidFill>
              </a:rPr>
              <a:t>route-eth0 </a:t>
            </a:r>
          </a:p>
          <a:p>
            <a:pPr lvl="1">
              <a:lnSpc>
                <a:spcPct val="120000"/>
              </a:lnSpc>
              <a:buNone/>
            </a:pPr>
            <a:r>
              <a:rPr lang="en-US" altLang="zh-CN" dirty="0"/>
              <a:t>192.168.2.0/24 </a:t>
            </a:r>
            <a:r>
              <a:rPr lang="en-US" altLang="zh-CN" dirty="0">
                <a:solidFill>
                  <a:srgbClr val="C00000"/>
                </a:solidFill>
              </a:rPr>
              <a:t> via  </a:t>
            </a:r>
            <a:r>
              <a:rPr lang="en-US" altLang="zh-CN" dirty="0"/>
              <a:t>172.16.10.88</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本地域名解析配置文件</a:t>
            </a:r>
            <a:endParaRPr lang="zh-CN" altLang="en-US" dirty="0"/>
          </a:p>
        </p:txBody>
      </p:sp>
      <p:sp>
        <p:nvSpPr>
          <p:cNvPr id="3" name="内容占位符 2"/>
          <p:cNvSpPr>
            <a:spLocks noGrp="1"/>
          </p:cNvSpPr>
          <p:nvPr>
            <p:ph idx="1"/>
          </p:nvPr>
        </p:nvSpPr>
        <p:spPr>
          <a:xfrm>
            <a:off x="345196" y="1628800"/>
            <a:ext cx="8623622" cy="4114800"/>
          </a:xfrm>
        </p:spPr>
        <p:txBody>
          <a:bodyPr/>
          <a:lstStyle/>
          <a:p>
            <a:r>
              <a:rPr lang="zh-CN" altLang="en-US" dirty="0"/>
              <a:t>本地域名解析数据库文件为 </a:t>
            </a:r>
            <a:r>
              <a:rPr lang="en-US" altLang="zh-CN" dirty="0">
                <a:solidFill>
                  <a:srgbClr val="FF0000"/>
                </a:solidFill>
              </a:rPr>
              <a:t>/etc/hosts</a:t>
            </a:r>
          </a:p>
          <a:p>
            <a:r>
              <a:rPr lang="zh-CN" altLang="en-US" dirty="0"/>
              <a:t>例如</a:t>
            </a:r>
            <a:endParaRPr lang="en-US" altLang="zh-CN" dirty="0"/>
          </a:p>
          <a:p>
            <a:pPr lvl="1">
              <a:buNone/>
            </a:pPr>
            <a:r>
              <a:rPr lang="en-US" altLang="zh-CN" dirty="0">
                <a:solidFill>
                  <a:srgbClr val="002060"/>
                </a:solidFill>
              </a:rPr>
              <a:t># vim /etc/hosts</a:t>
            </a:r>
          </a:p>
          <a:p>
            <a:pPr lvl="1">
              <a:buNone/>
            </a:pPr>
            <a:r>
              <a:rPr lang="en-US" altLang="zh-CN" dirty="0"/>
              <a:t>127.0.0.1    </a:t>
            </a:r>
            <a:r>
              <a:rPr lang="en-US" altLang="zh-CN" dirty="0" err="1"/>
              <a:t>localhost.localdomain</a:t>
            </a:r>
            <a:r>
              <a:rPr lang="en-US" altLang="zh-CN" dirty="0"/>
              <a:t>   </a:t>
            </a:r>
            <a:r>
              <a:rPr lang="en-US" altLang="zh-CN" dirty="0" err="1"/>
              <a:t>localhost</a:t>
            </a:r>
            <a:endParaRPr lang="en-US" altLang="zh-CN" dirty="0"/>
          </a:p>
          <a:p>
            <a:pPr lvl="1">
              <a:buNone/>
            </a:pPr>
            <a:r>
              <a:rPr lang="en-US" altLang="zh-CN" dirty="0"/>
              <a:t>::1          localhost6.localdomain6 localhost6</a:t>
            </a:r>
          </a:p>
          <a:p>
            <a:pPr lvl="1">
              <a:buNone/>
            </a:pPr>
            <a:endParaRPr lang="en-US" altLang="zh-CN" dirty="0"/>
          </a:p>
          <a:p>
            <a:pPr lvl="1">
              <a:buNone/>
            </a:pPr>
            <a:r>
              <a:rPr lang="en-US" altLang="zh-CN" dirty="0"/>
              <a:t>192.168.1.200    centos1.ls-al.lan   centos1</a:t>
            </a:r>
          </a:p>
          <a:p>
            <a:pPr lvl="1">
              <a:buNone/>
            </a:pPr>
            <a:r>
              <a:rPr lang="en-US" altLang="zh-CN" dirty="0"/>
              <a:t>192.168.0.200    </a:t>
            </a:r>
            <a:r>
              <a:rPr lang="en-US" altLang="zh-CN" dirty="0" err="1"/>
              <a:t>soho.mylabs.me</a:t>
            </a:r>
            <a:r>
              <a:rPr lang="en-US" altLang="zh-CN" dirty="0"/>
              <a:t>      </a:t>
            </a:r>
            <a:r>
              <a:rPr lang="en-US" altLang="zh-CN" dirty="0" err="1"/>
              <a:t>soho</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配置远程域名解析器</a:t>
            </a:r>
            <a:endParaRPr lang="zh-CN" altLang="en-US" dirty="0"/>
          </a:p>
        </p:txBody>
      </p:sp>
      <p:sp>
        <p:nvSpPr>
          <p:cNvPr id="3" name="内容占位符 2"/>
          <p:cNvSpPr>
            <a:spLocks noGrp="1"/>
          </p:cNvSpPr>
          <p:nvPr>
            <p:ph idx="1"/>
          </p:nvPr>
        </p:nvSpPr>
        <p:spPr>
          <a:xfrm>
            <a:off x="435071" y="1628800"/>
            <a:ext cx="8496944" cy="4530725"/>
          </a:xfrm>
        </p:spPr>
        <p:txBody>
          <a:bodyPr/>
          <a:lstStyle/>
          <a:p>
            <a:r>
              <a:rPr lang="zh-CN" altLang="zh-CN" dirty="0"/>
              <a:t>设置</a:t>
            </a:r>
            <a:r>
              <a:rPr lang="en-US" altLang="zh-CN" dirty="0"/>
              <a:t>Linux</a:t>
            </a:r>
            <a:r>
              <a:rPr lang="zh-CN" altLang="zh-CN" dirty="0"/>
              <a:t>的</a:t>
            </a:r>
            <a:r>
              <a:rPr lang="en-US" altLang="zh-CN" dirty="0"/>
              <a:t>DNS</a:t>
            </a:r>
            <a:r>
              <a:rPr lang="zh-CN" altLang="zh-CN" dirty="0"/>
              <a:t>客户</a:t>
            </a:r>
            <a:endParaRPr lang="en-US" altLang="zh-CN" dirty="0"/>
          </a:p>
          <a:p>
            <a:pPr lvl="1"/>
            <a:r>
              <a:rPr lang="zh-CN" altLang="zh-CN" dirty="0"/>
              <a:t>可以编辑</a:t>
            </a:r>
            <a:r>
              <a:rPr lang="en-US" altLang="zh-CN" dirty="0">
                <a:solidFill>
                  <a:srgbClr val="FF0000"/>
                </a:solidFill>
              </a:rPr>
              <a:t>/etc/</a:t>
            </a:r>
            <a:r>
              <a:rPr lang="en-US" altLang="zh-CN" dirty="0" err="1">
                <a:solidFill>
                  <a:srgbClr val="FF0000"/>
                </a:solidFill>
              </a:rPr>
              <a:t>resolv.conf</a:t>
            </a:r>
            <a:r>
              <a:rPr lang="zh-CN" altLang="zh-CN" dirty="0"/>
              <a:t>文件</a:t>
            </a:r>
            <a:endParaRPr lang="en-US" altLang="zh-CN" dirty="0"/>
          </a:p>
          <a:p>
            <a:r>
              <a:rPr lang="zh-CN" altLang="en-US" dirty="0"/>
              <a:t>举例</a:t>
            </a:r>
            <a:endParaRPr lang="en-US" altLang="zh-CN" dirty="0"/>
          </a:p>
          <a:p>
            <a:pPr lvl="1">
              <a:buNone/>
            </a:pPr>
            <a:r>
              <a:rPr lang="en-US" altLang="zh-CN" dirty="0">
                <a:solidFill>
                  <a:srgbClr val="002060"/>
                </a:solidFill>
              </a:rPr>
              <a:t># vim /etc/</a:t>
            </a:r>
            <a:r>
              <a:rPr lang="en-US" altLang="zh-CN" dirty="0" err="1">
                <a:solidFill>
                  <a:srgbClr val="002060"/>
                </a:solidFill>
              </a:rPr>
              <a:t>resolv.conf</a:t>
            </a:r>
            <a:endParaRPr lang="en-US" altLang="zh-CN" dirty="0">
              <a:solidFill>
                <a:srgbClr val="002060"/>
              </a:solidFill>
            </a:endParaRPr>
          </a:p>
          <a:p>
            <a:pPr lvl="1">
              <a:buNone/>
            </a:pPr>
            <a:r>
              <a:rPr lang="en-US" altLang="zh-CN" dirty="0" err="1">
                <a:solidFill>
                  <a:srgbClr val="C00000"/>
                </a:solidFill>
              </a:rPr>
              <a:t>nameserver</a:t>
            </a:r>
            <a:r>
              <a:rPr lang="en-US" altLang="zh-CN" dirty="0">
                <a:solidFill>
                  <a:srgbClr val="C00000"/>
                </a:solidFill>
              </a:rPr>
              <a:t> </a:t>
            </a:r>
            <a:r>
              <a:rPr lang="en-US" altLang="zh-CN" dirty="0"/>
              <a:t> 192.168.1.1</a:t>
            </a:r>
          </a:p>
          <a:p>
            <a:pPr lvl="1">
              <a:buNone/>
            </a:pPr>
            <a:r>
              <a:rPr lang="en-US" altLang="zh-CN" dirty="0">
                <a:solidFill>
                  <a:srgbClr val="C00000"/>
                </a:solidFill>
              </a:rPr>
              <a:t>nameserver</a:t>
            </a:r>
            <a:r>
              <a:rPr lang="en-US" altLang="zh-CN" dirty="0"/>
              <a:t>  208.67.222.222</a:t>
            </a:r>
          </a:p>
          <a:p>
            <a:pPr lvl="1">
              <a:buNone/>
            </a:pPr>
            <a:r>
              <a:rPr lang="en-US" altLang="zh-CN" dirty="0">
                <a:solidFill>
                  <a:srgbClr val="C00000"/>
                </a:solidFill>
              </a:rPr>
              <a:t>nameserver </a:t>
            </a:r>
            <a:r>
              <a:rPr lang="en-US" altLang="zh-CN" dirty="0"/>
              <a:t> 208.67.220.220</a:t>
            </a:r>
          </a:p>
          <a:p>
            <a:pPr lvl="1">
              <a:buNone/>
            </a:pPr>
            <a:r>
              <a:rPr lang="en-US" altLang="zh-CN" dirty="0">
                <a:solidFill>
                  <a:srgbClr val="C00000"/>
                </a:solidFill>
              </a:rPr>
              <a:t>domain</a:t>
            </a:r>
            <a:r>
              <a:rPr lang="en-US" altLang="zh-CN" dirty="0"/>
              <a:t>     sinolido.org	</a:t>
            </a:r>
            <a:r>
              <a:rPr lang="en-US" altLang="zh-CN" dirty="0">
                <a:solidFill>
                  <a:schemeClr val="accent6">
                    <a:lumMod val="75000"/>
                  </a:schemeClr>
                </a:solidFill>
              </a:rPr>
              <a:t># </a:t>
            </a:r>
            <a:r>
              <a:rPr lang="zh-CN" altLang="en-US" dirty="0">
                <a:solidFill>
                  <a:schemeClr val="accent6">
                    <a:lumMod val="75000"/>
                  </a:schemeClr>
                </a:solidFill>
              </a:rPr>
              <a:t>指定本机所在的域</a:t>
            </a:r>
            <a:endParaRPr lang="en-US" altLang="zh-CN" dirty="0">
              <a:solidFill>
                <a:schemeClr val="accent6">
                  <a:lumMod val="75000"/>
                </a:schemeClr>
              </a:solidFill>
            </a:endParaRPr>
          </a:p>
          <a:p>
            <a:pPr lvl="1">
              <a:buNone/>
            </a:pPr>
            <a:r>
              <a:rPr lang="en-US" altLang="zh-CN" dirty="0">
                <a:solidFill>
                  <a:srgbClr val="C00000"/>
                </a:solidFill>
              </a:rPr>
              <a:t>search  </a:t>
            </a:r>
            <a:r>
              <a:rPr lang="en-US" altLang="zh-CN" dirty="0"/>
              <a:t>    sinolido.org	</a:t>
            </a:r>
            <a:r>
              <a:rPr lang="en-US" altLang="zh-CN" dirty="0">
                <a:solidFill>
                  <a:schemeClr val="accent6">
                    <a:lumMod val="75000"/>
                  </a:schemeClr>
                </a:solidFill>
              </a:rPr>
              <a:t># </a:t>
            </a:r>
            <a:r>
              <a:rPr lang="zh-CN" altLang="en-US" dirty="0">
                <a:solidFill>
                  <a:schemeClr val="accent6">
                    <a:lumMod val="75000"/>
                  </a:schemeClr>
                </a:solidFill>
              </a:rPr>
              <a:t>指定默认搜索域</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配置域名解析顺序</a:t>
            </a:r>
            <a:endParaRPr lang="zh-CN" altLang="en-US" dirty="0"/>
          </a:p>
        </p:txBody>
      </p:sp>
      <p:sp>
        <p:nvSpPr>
          <p:cNvPr id="3" name="内容占位符 2"/>
          <p:cNvSpPr>
            <a:spLocks noGrp="1"/>
          </p:cNvSpPr>
          <p:nvPr>
            <p:ph idx="1"/>
          </p:nvPr>
        </p:nvSpPr>
        <p:spPr>
          <a:xfrm>
            <a:off x="899592" y="1628800"/>
            <a:ext cx="7772400" cy="4114800"/>
          </a:xfrm>
        </p:spPr>
        <p:txBody>
          <a:bodyPr/>
          <a:lstStyle/>
          <a:p>
            <a:r>
              <a:rPr lang="zh-CN" altLang="en-US" dirty="0">
                <a:solidFill>
                  <a:srgbClr val="FF0000"/>
                </a:solidFill>
              </a:rPr>
              <a:t>域名解析的优先顺序</a:t>
            </a:r>
            <a:endParaRPr lang="en-US" altLang="zh-CN" dirty="0">
              <a:solidFill>
                <a:srgbClr val="FF0000"/>
              </a:solidFill>
            </a:endParaRPr>
          </a:p>
          <a:p>
            <a:pPr lvl="1"/>
            <a:r>
              <a:rPr lang="zh-CN" altLang="en-US" dirty="0"/>
              <a:t>由配置文件</a:t>
            </a:r>
            <a:r>
              <a:rPr lang="en-US" altLang="zh-CN" dirty="0">
                <a:solidFill>
                  <a:srgbClr val="FF0000"/>
                </a:solidFill>
              </a:rPr>
              <a:t>/etc/</a:t>
            </a:r>
            <a:r>
              <a:rPr lang="en-US" altLang="zh-CN" dirty="0" err="1">
                <a:solidFill>
                  <a:srgbClr val="FF0000"/>
                </a:solidFill>
              </a:rPr>
              <a:t>host.conf</a:t>
            </a:r>
            <a:r>
              <a:rPr lang="zh-CN" altLang="en-US" dirty="0"/>
              <a:t>决定</a:t>
            </a:r>
            <a:endParaRPr lang="en-US" altLang="zh-CN" dirty="0"/>
          </a:p>
          <a:p>
            <a:r>
              <a:rPr lang="zh-CN" altLang="en-US" dirty="0"/>
              <a:t>例如</a:t>
            </a:r>
            <a:endParaRPr lang="en-US" altLang="zh-CN" dirty="0"/>
          </a:p>
          <a:p>
            <a:pPr lvl="1"/>
            <a:r>
              <a:rPr lang="zh-CN" altLang="en-US" dirty="0"/>
              <a:t>首先查找 </a:t>
            </a:r>
            <a:r>
              <a:rPr lang="en-US" altLang="zh-CN" dirty="0"/>
              <a:t>/etc/hosts </a:t>
            </a:r>
            <a:r>
              <a:rPr lang="zh-CN" altLang="en-US" dirty="0"/>
              <a:t>文件进行域名解析</a:t>
            </a:r>
          </a:p>
          <a:p>
            <a:pPr lvl="1"/>
            <a:r>
              <a:rPr lang="zh-CN" altLang="en-US" dirty="0"/>
              <a:t>然后使用</a:t>
            </a:r>
            <a:r>
              <a:rPr lang="en-US" altLang="zh-CN" dirty="0"/>
              <a:t>/etc/</a:t>
            </a:r>
            <a:r>
              <a:rPr lang="en-US" altLang="zh-CN" dirty="0" err="1"/>
              <a:t>resolv.conf</a:t>
            </a:r>
            <a:r>
              <a:rPr lang="zh-CN" altLang="en-US" dirty="0"/>
              <a:t>文件中指定的域名服务器进行域名解析</a:t>
            </a:r>
          </a:p>
          <a:p>
            <a:pPr lvl="1">
              <a:buNone/>
            </a:pPr>
            <a:r>
              <a:rPr lang="en-US" altLang="zh-CN" dirty="0">
                <a:solidFill>
                  <a:srgbClr val="002060"/>
                </a:solidFill>
              </a:rPr>
              <a:t># vim /etc/</a:t>
            </a:r>
            <a:r>
              <a:rPr lang="en-US" altLang="zh-CN" dirty="0" err="1">
                <a:solidFill>
                  <a:srgbClr val="002060"/>
                </a:solidFill>
              </a:rPr>
              <a:t>host.conf</a:t>
            </a:r>
            <a:endParaRPr lang="en-US" altLang="zh-CN" dirty="0">
              <a:solidFill>
                <a:srgbClr val="002060"/>
              </a:solidFill>
            </a:endParaRPr>
          </a:p>
          <a:p>
            <a:pPr lvl="1">
              <a:buNone/>
            </a:pPr>
            <a:r>
              <a:rPr lang="en-US" altLang="zh-CN" dirty="0"/>
              <a:t>order </a:t>
            </a:r>
            <a:r>
              <a:rPr lang="en-US" altLang="zh-CN" dirty="0" err="1">
                <a:solidFill>
                  <a:srgbClr val="C00000"/>
                </a:solidFill>
              </a:rPr>
              <a:t>hosts,bind</a:t>
            </a:r>
            <a:endParaRPr lang="en-US" altLang="zh-CN" dirty="0">
              <a:solidFill>
                <a:srgbClr val="C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设置包转发</a:t>
            </a:r>
            <a:endParaRPr lang="zh-CN" altLang="en-US" dirty="0"/>
          </a:p>
        </p:txBody>
      </p:sp>
      <p:sp>
        <p:nvSpPr>
          <p:cNvPr id="3" name="内容占位符 2"/>
          <p:cNvSpPr>
            <a:spLocks noGrp="1"/>
          </p:cNvSpPr>
          <p:nvPr>
            <p:ph idx="1"/>
          </p:nvPr>
        </p:nvSpPr>
        <p:spPr>
          <a:xfrm>
            <a:off x="755576" y="1124744"/>
            <a:ext cx="8191574" cy="4968552"/>
          </a:xfrm>
        </p:spPr>
        <p:txBody>
          <a:bodyPr/>
          <a:lstStyle/>
          <a:p>
            <a:pPr>
              <a:lnSpc>
                <a:spcPct val="120000"/>
              </a:lnSpc>
            </a:pPr>
            <a:r>
              <a:rPr lang="zh-CN" altLang="en-US" dirty="0"/>
              <a:t>永久性配置包转发需要修改要配置文件</a:t>
            </a:r>
            <a:endParaRPr lang="en-US" altLang="zh-CN" dirty="0"/>
          </a:p>
          <a:p>
            <a:pPr lvl="1">
              <a:lnSpc>
                <a:spcPct val="120000"/>
              </a:lnSpc>
              <a:buNone/>
            </a:pPr>
            <a:r>
              <a:rPr lang="en-US" altLang="zh-CN" dirty="0">
                <a:solidFill>
                  <a:srgbClr val="002060"/>
                </a:solidFill>
              </a:rPr>
              <a:t># vim /</a:t>
            </a:r>
            <a:r>
              <a:rPr lang="en-US" altLang="zh-CN" dirty="0">
                <a:solidFill>
                  <a:srgbClr val="FF0000"/>
                </a:solidFill>
              </a:rPr>
              <a:t>etc/</a:t>
            </a:r>
            <a:r>
              <a:rPr lang="en-US" altLang="zh-CN" dirty="0" err="1">
                <a:solidFill>
                  <a:srgbClr val="FF0000"/>
                </a:solidFill>
              </a:rPr>
              <a:t>sysctl.conf</a:t>
            </a:r>
            <a:endParaRPr lang="en-US" altLang="zh-CN" dirty="0">
              <a:solidFill>
                <a:srgbClr val="FF0000"/>
              </a:solidFill>
            </a:endParaRPr>
          </a:p>
          <a:p>
            <a:pPr lvl="1">
              <a:lnSpc>
                <a:spcPct val="120000"/>
              </a:lnSpc>
              <a:buNone/>
            </a:pPr>
            <a:r>
              <a:rPr lang="zh-CN" altLang="en-US" dirty="0"/>
              <a:t>确保如下配置行存在 </a:t>
            </a:r>
          </a:p>
          <a:p>
            <a:pPr lvl="1">
              <a:lnSpc>
                <a:spcPct val="120000"/>
              </a:lnSpc>
              <a:buNone/>
            </a:pPr>
            <a:r>
              <a:rPr lang="en-US" altLang="zh-CN" b="1" dirty="0">
                <a:solidFill>
                  <a:srgbClr val="FF0000"/>
                </a:solidFill>
              </a:rPr>
              <a:t>net.ipv4.ip_forward = 1</a:t>
            </a:r>
          </a:p>
          <a:p>
            <a:pPr>
              <a:lnSpc>
                <a:spcPct val="120000"/>
              </a:lnSpc>
            </a:pPr>
            <a:r>
              <a:rPr lang="zh-CN" altLang="en-US" dirty="0"/>
              <a:t>查看当前系统是否支持包转发</a:t>
            </a:r>
          </a:p>
          <a:p>
            <a:pPr lvl="1">
              <a:lnSpc>
                <a:spcPct val="120000"/>
              </a:lnSpc>
              <a:buNone/>
            </a:pPr>
            <a:r>
              <a:rPr lang="en-US" altLang="zh-CN" dirty="0">
                <a:solidFill>
                  <a:srgbClr val="002060"/>
                </a:solidFill>
              </a:rPr>
              <a:t># sysctl  net.ipv4.ip_forward</a:t>
            </a:r>
          </a:p>
          <a:p>
            <a:pPr>
              <a:lnSpc>
                <a:spcPct val="120000"/>
              </a:lnSpc>
            </a:pPr>
            <a:r>
              <a:rPr lang="zh-CN" altLang="en-US" dirty="0"/>
              <a:t>使配置文件的修改在</a:t>
            </a:r>
            <a:r>
              <a:rPr lang="zh-CN" altLang="en-US" dirty="0">
                <a:solidFill>
                  <a:srgbClr val="FF0000"/>
                </a:solidFill>
              </a:rPr>
              <a:t>当前环境</a:t>
            </a:r>
            <a:r>
              <a:rPr lang="zh-CN" altLang="en-US" dirty="0"/>
              <a:t>下</a:t>
            </a:r>
            <a:r>
              <a:rPr lang="zh-CN" altLang="en-US" dirty="0">
                <a:solidFill>
                  <a:srgbClr val="FF0000"/>
                </a:solidFill>
              </a:rPr>
              <a:t>生效</a:t>
            </a:r>
          </a:p>
          <a:p>
            <a:pPr lvl="1">
              <a:lnSpc>
                <a:spcPct val="120000"/>
              </a:lnSpc>
              <a:buNone/>
            </a:pPr>
            <a:r>
              <a:rPr lang="en-US" altLang="zh-CN" dirty="0">
                <a:solidFill>
                  <a:srgbClr val="002060"/>
                </a:solidFill>
              </a:rPr>
              <a:t># sysctl  -p</a:t>
            </a:r>
            <a:endParaRPr lang="zh-CN" altLang="en-US" dirty="0">
              <a:solidFill>
                <a:srgbClr val="00206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9" y="260648"/>
            <a:ext cx="8100392" cy="1052513"/>
          </a:xfrm>
        </p:spPr>
        <p:txBody>
          <a:bodyPr/>
          <a:lstStyle/>
          <a:p>
            <a:r>
              <a:rPr lang="zh-CN" altLang="en-US" sz="4000" dirty="0"/>
              <a:t>三 </a:t>
            </a:r>
            <a:r>
              <a:rPr lang="en-US" altLang="zh-CN" sz="4000" dirty="0" err="1"/>
              <a:t>NetworkManager</a:t>
            </a:r>
            <a:r>
              <a:rPr lang="zh-CN" altLang="zh-CN" sz="4000" dirty="0" smtClean="0"/>
              <a:t>服务</a:t>
            </a:r>
            <a:endParaRPr lang="zh-CN" altLang="en-US" sz="4000" dirty="0"/>
          </a:p>
        </p:txBody>
      </p:sp>
      <p:sp>
        <p:nvSpPr>
          <p:cNvPr id="3" name="内容占位符 2"/>
          <p:cNvSpPr>
            <a:spLocks noGrp="1"/>
          </p:cNvSpPr>
          <p:nvPr>
            <p:ph idx="1"/>
          </p:nvPr>
        </p:nvSpPr>
        <p:spPr>
          <a:xfrm>
            <a:off x="719064" y="1371600"/>
            <a:ext cx="8424936" cy="4114800"/>
          </a:xfrm>
        </p:spPr>
        <p:txBody>
          <a:bodyPr/>
          <a:lstStyle/>
          <a:p>
            <a:pPr>
              <a:lnSpc>
                <a:spcPct val="110000"/>
              </a:lnSpc>
            </a:pPr>
            <a:r>
              <a:rPr lang="en-US" altLang="zh-CN" dirty="0" err="1"/>
              <a:t>NetworkManager</a:t>
            </a:r>
            <a:r>
              <a:rPr lang="en-US" altLang="zh-CN" dirty="0"/>
              <a:t> </a:t>
            </a:r>
            <a:r>
              <a:rPr lang="zh-CN" altLang="zh-CN" dirty="0"/>
              <a:t>是一项</a:t>
            </a:r>
            <a:r>
              <a:rPr lang="zh-CN" altLang="zh-CN" dirty="0">
                <a:solidFill>
                  <a:srgbClr val="FF0000"/>
                </a:solidFill>
              </a:rPr>
              <a:t>管理网络接口和配置网络连接</a:t>
            </a:r>
            <a:r>
              <a:rPr lang="zh-CN" altLang="zh-CN" dirty="0"/>
              <a:t>的系统服务</a:t>
            </a:r>
            <a:endParaRPr lang="en-US" altLang="zh-CN" dirty="0"/>
          </a:p>
          <a:p>
            <a:pPr lvl="1">
              <a:lnSpc>
                <a:spcPct val="110000"/>
              </a:lnSpc>
            </a:pPr>
            <a:r>
              <a:rPr lang="zh-CN" altLang="en-US" dirty="0"/>
              <a:t>由</a:t>
            </a:r>
            <a:r>
              <a:rPr lang="zh-CN" altLang="zh-CN" dirty="0">
                <a:solidFill>
                  <a:srgbClr val="FF0000"/>
                </a:solidFill>
              </a:rPr>
              <a:t>后台服务进程</a:t>
            </a:r>
            <a:r>
              <a:rPr lang="zh-CN" altLang="zh-CN" dirty="0"/>
              <a:t>、</a:t>
            </a:r>
            <a:r>
              <a:rPr lang="zh-CN" altLang="zh-CN" dirty="0">
                <a:solidFill>
                  <a:srgbClr val="FF0000"/>
                </a:solidFill>
              </a:rPr>
              <a:t>感知网络状态变化的</a:t>
            </a:r>
            <a:r>
              <a:rPr lang="en-US" altLang="zh-CN" dirty="0">
                <a:solidFill>
                  <a:srgbClr val="FF0000"/>
                </a:solidFill>
              </a:rPr>
              <a:t>D-BUS</a:t>
            </a:r>
            <a:r>
              <a:rPr lang="zh-CN" altLang="zh-CN" dirty="0"/>
              <a:t>以及</a:t>
            </a:r>
            <a:r>
              <a:rPr lang="zh-CN" altLang="zh-CN" dirty="0">
                <a:solidFill>
                  <a:srgbClr val="FF0000"/>
                </a:solidFill>
              </a:rPr>
              <a:t>控制管理工具</a:t>
            </a:r>
            <a:r>
              <a:rPr lang="zh-CN" altLang="zh-CN" dirty="0"/>
              <a:t>组成</a:t>
            </a:r>
            <a:endParaRPr lang="en-US" altLang="zh-CN" dirty="0"/>
          </a:p>
          <a:p>
            <a:pPr>
              <a:lnSpc>
                <a:spcPct val="110000"/>
              </a:lnSpc>
            </a:pPr>
            <a:r>
              <a:rPr lang="en-US" altLang="zh-CN" dirty="0" err="1"/>
              <a:t>NetworkManager</a:t>
            </a:r>
            <a:r>
              <a:rPr lang="zh-CN" altLang="zh-CN" dirty="0"/>
              <a:t>支持</a:t>
            </a:r>
            <a:r>
              <a:rPr lang="zh-CN" altLang="zh-CN" dirty="0">
                <a:solidFill>
                  <a:srgbClr val="FF0000"/>
                </a:solidFill>
              </a:rPr>
              <a:t>动态的管理和配置</a:t>
            </a:r>
            <a:r>
              <a:rPr lang="zh-CN" altLang="zh-CN" dirty="0"/>
              <a:t>方式来保持</a:t>
            </a:r>
            <a:r>
              <a:rPr lang="zh-CN" altLang="zh-CN" dirty="0">
                <a:solidFill>
                  <a:srgbClr val="FF0000"/>
                </a:solidFill>
              </a:rPr>
              <a:t>网络接口激活和连接的可用性</a:t>
            </a:r>
            <a:endParaRPr lang="en-US" altLang="zh-CN" dirty="0">
              <a:solidFill>
                <a:srgbClr val="FF0000"/>
              </a:solidFill>
            </a:endParaRPr>
          </a:p>
          <a:p>
            <a:pPr lvl="1">
              <a:lnSpc>
                <a:spcPct val="110000"/>
              </a:lnSpc>
            </a:pPr>
            <a:r>
              <a:rPr lang="zh-CN" altLang="zh-CN" dirty="0"/>
              <a:t>网络状态的变化通过</a:t>
            </a:r>
            <a:r>
              <a:rPr lang="en-US" altLang="zh-CN" dirty="0"/>
              <a:t>D-BUS</a:t>
            </a:r>
            <a:r>
              <a:rPr lang="zh-CN" altLang="zh-CN" dirty="0"/>
              <a:t>报告给后台的</a:t>
            </a:r>
            <a:r>
              <a:rPr lang="en-US" altLang="zh-CN" dirty="0" err="1"/>
              <a:t>NetworkManager</a:t>
            </a:r>
            <a:r>
              <a:rPr lang="zh-CN" altLang="zh-CN" dirty="0"/>
              <a:t>服务，用户可以使用</a:t>
            </a:r>
            <a:r>
              <a:rPr lang="en-US" altLang="zh-CN" dirty="0" err="1"/>
              <a:t>NetworkManager</a:t>
            </a:r>
            <a:r>
              <a:rPr lang="zh-CN" altLang="zh-CN" dirty="0"/>
              <a:t>的控制管理工具</a:t>
            </a:r>
            <a:r>
              <a:rPr lang="zh-CN" altLang="en-US" dirty="0"/>
              <a:t>（如 </a:t>
            </a:r>
            <a:r>
              <a:rPr lang="en-US" altLang="zh-CN" dirty="0" err="1"/>
              <a:t>nmtui</a:t>
            </a:r>
            <a:r>
              <a:rPr lang="zh-CN" altLang="en-US" dirty="0"/>
              <a:t>、</a:t>
            </a:r>
            <a:r>
              <a:rPr lang="en-US" altLang="zh-CN" dirty="0" err="1"/>
              <a:t>nmcli</a:t>
            </a:r>
            <a:r>
              <a:rPr lang="zh-CN" altLang="zh-CN" dirty="0"/>
              <a:t>）变更网络状态从而实现网络管理</a:t>
            </a:r>
            <a:endParaRPr lang="zh-CN" altLang="en-US" dirty="0"/>
          </a:p>
        </p:txBody>
      </p:sp>
    </p:spTree>
    <p:extLst>
      <p:ext uri="{BB962C8B-B14F-4D97-AF65-F5344CB8AC3E}">
        <p14:creationId xmlns:p14="http://schemas.microsoft.com/office/powerpoint/2010/main" val="372161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9" y="260648"/>
            <a:ext cx="8100392" cy="1052513"/>
          </a:xfrm>
        </p:spPr>
        <p:txBody>
          <a:bodyPr/>
          <a:lstStyle/>
          <a:p>
            <a:r>
              <a:rPr lang="zh-CN" altLang="en-US" sz="4000" dirty="0"/>
              <a:t>三 </a:t>
            </a:r>
            <a:r>
              <a:rPr lang="en-US" altLang="zh-CN" sz="4000" dirty="0" err="1"/>
              <a:t>NetworkManager</a:t>
            </a:r>
            <a:r>
              <a:rPr lang="zh-CN" altLang="zh-CN" sz="4000" dirty="0" smtClean="0"/>
              <a:t>服务</a:t>
            </a:r>
            <a:endParaRPr lang="zh-CN" altLang="en-US" sz="4000" dirty="0"/>
          </a:p>
        </p:txBody>
      </p:sp>
      <p:sp>
        <p:nvSpPr>
          <p:cNvPr id="3" name="内容占位符 2"/>
          <p:cNvSpPr>
            <a:spLocks noGrp="1"/>
          </p:cNvSpPr>
          <p:nvPr>
            <p:ph idx="1"/>
          </p:nvPr>
        </p:nvSpPr>
        <p:spPr>
          <a:xfrm>
            <a:off x="719064" y="1371600"/>
            <a:ext cx="8424936" cy="4114800"/>
          </a:xfrm>
        </p:spPr>
        <p:txBody>
          <a:bodyPr/>
          <a:lstStyle/>
          <a:p>
            <a:pPr>
              <a:lnSpc>
                <a:spcPct val="110000"/>
              </a:lnSpc>
            </a:pPr>
            <a:r>
              <a:rPr lang="en-US" altLang="zh-CN" dirty="0" err="1"/>
              <a:t>NetworkManager</a:t>
            </a:r>
            <a:r>
              <a:rPr lang="en-US" altLang="zh-CN" dirty="0"/>
              <a:t> </a:t>
            </a:r>
            <a:r>
              <a:rPr lang="zh-CN" altLang="en-US" dirty="0" smtClean="0"/>
              <a:t>的管理工具包括：</a:t>
            </a:r>
            <a:endParaRPr lang="en-US" altLang="zh-CN" dirty="0" smtClean="0"/>
          </a:p>
          <a:p>
            <a:pPr>
              <a:lnSpc>
                <a:spcPct val="110000"/>
              </a:lnSpc>
            </a:pPr>
            <a:r>
              <a:rPr lang="en-US" altLang="zh-CN" dirty="0" smtClean="0"/>
              <a:t>GUI</a:t>
            </a:r>
            <a:r>
              <a:rPr lang="zh-CN" altLang="en-US" dirty="0" smtClean="0"/>
              <a:t>工具（</a:t>
            </a:r>
            <a:r>
              <a:rPr lang="en-US" altLang="zh-CN" dirty="0" smtClean="0"/>
              <a:t>GNOME</a:t>
            </a:r>
            <a:r>
              <a:rPr lang="zh-CN" altLang="en-US" dirty="0" smtClean="0"/>
              <a:t>下的</a:t>
            </a:r>
            <a:r>
              <a:rPr lang="en-US" altLang="zh-CN" dirty="0" smtClean="0"/>
              <a:t>nm-applet</a:t>
            </a:r>
            <a:r>
              <a:rPr lang="zh-CN" altLang="en-US" dirty="0" smtClean="0"/>
              <a:t>、</a:t>
            </a:r>
            <a:r>
              <a:rPr lang="en-US" altLang="zh-CN" dirty="0" smtClean="0"/>
              <a:t>KDE</a:t>
            </a:r>
            <a:r>
              <a:rPr lang="zh-CN" altLang="en-US" dirty="0" smtClean="0"/>
              <a:t>下的</a:t>
            </a:r>
            <a:r>
              <a:rPr lang="en-US" altLang="zh-CN" dirty="0" err="1" smtClean="0"/>
              <a:t>KNetworkManager</a:t>
            </a:r>
            <a:r>
              <a:rPr lang="zh-CN" altLang="en-US" dirty="0" smtClean="0"/>
              <a:t>）</a:t>
            </a:r>
            <a:endParaRPr lang="en-US" altLang="zh-CN" dirty="0" smtClean="0"/>
          </a:p>
          <a:p>
            <a:pPr>
              <a:lnSpc>
                <a:spcPct val="110000"/>
              </a:lnSpc>
            </a:pPr>
            <a:r>
              <a:rPr lang="en-US" altLang="zh-CN" dirty="0" smtClean="0"/>
              <a:t>TUI</a:t>
            </a:r>
            <a:r>
              <a:rPr lang="zh-CN" altLang="en-US" dirty="0" smtClean="0"/>
              <a:t>工具（</a:t>
            </a:r>
            <a:r>
              <a:rPr lang="en-US" altLang="zh-CN" dirty="0" err="1" smtClean="0"/>
              <a:t>nmtui</a:t>
            </a:r>
            <a:r>
              <a:rPr lang="zh-CN" altLang="en-US" dirty="0" smtClean="0"/>
              <a:t>）</a:t>
            </a:r>
            <a:endParaRPr lang="en-US" altLang="zh-CN" dirty="0" smtClean="0"/>
          </a:p>
          <a:p>
            <a:pPr>
              <a:lnSpc>
                <a:spcPct val="110000"/>
              </a:lnSpc>
            </a:pPr>
            <a:r>
              <a:rPr lang="en-US" altLang="zh-CN" dirty="0" smtClean="0"/>
              <a:t>CLI</a:t>
            </a:r>
            <a:r>
              <a:rPr lang="zh-CN" altLang="en-US" dirty="0" smtClean="0"/>
              <a:t>工具（</a:t>
            </a:r>
            <a:r>
              <a:rPr lang="en-US" altLang="zh-CN" dirty="0" err="1" smtClean="0"/>
              <a:t>nmcli</a:t>
            </a:r>
            <a:r>
              <a:rPr lang="zh-CN" altLang="en-US" dirty="0" smtClean="0"/>
              <a:t>）</a:t>
            </a:r>
            <a:endParaRPr lang="en-US" altLang="zh-CN" dirty="0" smtClean="0"/>
          </a:p>
        </p:txBody>
      </p:sp>
      <p:pic>
        <p:nvPicPr>
          <p:cNvPr id="4" name="图片 3"/>
          <p:cNvPicPr>
            <a:picLocks noChangeAspect="1"/>
          </p:cNvPicPr>
          <p:nvPr/>
        </p:nvPicPr>
        <p:blipFill rotWithShape="1">
          <a:blip r:embed="rId2"/>
          <a:srcRect t="17637"/>
          <a:stretch/>
        </p:blipFill>
        <p:spPr>
          <a:xfrm>
            <a:off x="177894" y="4367917"/>
            <a:ext cx="4753638" cy="2353843"/>
          </a:xfrm>
          <a:prstGeom prst="rect">
            <a:avLst/>
          </a:prstGeom>
        </p:spPr>
      </p:pic>
      <p:pic>
        <p:nvPicPr>
          <p:cNvPr id="5" name="图片 4"/>
          <p:cNvPicPr>
            <a:picLocks noChangeAspect="1"/>
          </p:cNvPicPr>
          <p:nvPr/>
        </p:nvPicPr>
        <p:blipFill rotWithShape="1">
          <a:blip r:embed="rId3"/>
          <a:srcRect l="7542" t="8144" r="15031" b="5601"/>
          <a:stretch/>
        </p:blipFill>
        <p:spPr>
          <a:xfrm>
            <a:off x="5076056" y="2977345"/>
            <a:ext cx="3744416" cy="3744415"/>
          </a:xfrm>
          <a:prstGeom prst="rect">
            <a:avLst/>
          </a:prstGeom>
        </p:spPr>
      </p:pic>
    </p:spTree>
    <p:extLst>
      <p:ext uri="{BB962C8B-B14F-4D97-AF65-F5344CB8AC3E}">
        <p14:creationId xmlns:p14="http://schemas.microsoft.com/office/powerpoint/2010/main" val="1679780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使用</a:t>
            </a:r>
            <a:r>
              <a:rPr lang="en-US" altLang="zh-CN" dirty="0" err="1"/>
              <a:t>nmcli</a:t>
            </a:r>
            <a:r>
              <a:rPr lang="zh-CN" altLang="en-US" dirty="0"/>
              <a:t>显示网络接口设备</a:t>
            </a:r>
          </a:p>
        </p:txBody>
      </p:sp>
      <p:sp>
        <p:nvSpPr>
          <p:cNvPr id="3" name="内容占位符 2"/>
          <p:cNvSpPr>
            <a:spLocks noGrp="1"/>
          </p:cNvSpPr>
          <p:nvPr>
            <p:ph idx="1"/>
          </p:nvPr>
        </p:nvSpPr>
        <p:spPr>
          <a:xfrm>
            <a:off x="899592" y="1244228"/>
            <a:ext cx="7772400" cy="4114800"/>
          </a:xfrm>
        </p:spPr>
        <p:txBody>
          <a:bodyPr/>
          <a:lstStyle/>
          <a:p>
            <a:r>
              <a:rPr lang="zh-CN" altLang="en-US" dirty="0"/>
              <a:t>显示</a:t>
            </a:r>
            <a:r>
              <a:rPr lang="zh-CN" altLang="en-US" dirty="0">
                <a:solidFill>
                  <a:srgbClr val="FF0000"/>
                </a:solidFill>
              </a:rPr>
              <a:t>所有网络接口信息</a:t>
            </a:r>
          </a:p>
          <a:p>
            <a:pPr lvl="1"/>
            <a:r>
              <a:rPr lang="en-US" altLang="zh-CN" dirty="0" err="1">
                <a:solidFill>
                  <a:srgbClr val="FF0000"/>
                </a:solidFill>
              </a:rPr>
              <a:t>nmcli</a:t>
            </a:r>
            <a:r>
              <a:rPr lang="en-US" altLang="zh-CN" dirty="0">
                <a:solidFill>
                  <a:srgbClr val="FF0000"/>
                </a:solidFill>
              </a:rPr>
              <a:t> device status</a:t>
            </a:r>
          </a:p>
          <a:p>
            <a:pPr lvl="1"/>
            <a:r>
              <a:rPr lang="en-US" altLang="zh-CN" dirty="0" err="1"/>
              <a:t>nmcli</a:t>
            </a:r>
            <a:r>
              <a:rPr lang="en-US" altLang="zh-CN" dirty="0"/>
              <a:t> dev s</a:t>
            </a:r>
          </a:p>
          <a:p>
            <a:pPr lvl="1"/>
            <a:r>
              <a:rPr lang="en-US" altLang="zh-CN" dirty="0" err="1"/>
              <a:t>nmcli</a:t>
            </a:r>
            <a:r>
              <a:rPr lang="en-US" altLang="zh-CN" dirty="0"/>
              <a:t> d s</a:t>
            </a:r>
          </a:p>
          <a:p>
            <a:pPr lvl="1"/>
            <a:r>
              <a:rPr lang="en-US" altLang="zh-CN" dirty="0" err="1">
                <a:solidFill>
                  <a:srgbClr val="FF0000"/>
                </a:solidFill>
              </a:rPr>
              <a:t>nmcli</a:t>
            </a:r>
            <a:r>
              <a:rPr lang="en-US" altLang="zh-CN" dirty="0">
                <a:solidFill>
                  <a:srgbClr val="FF0000"/>
                </a:solidFill>
              </a:rPr>
              <a:t> </a:t>
            </a:r>
            <a:r>
              <a:rPr lang="en-US" altLang="zh-CN" dirty="0" smtClean="0">
                <a:solidFill>
                  <a:srgbClr val="FF0000"/>
                </a:solidFill>
              </a:rPr>
              <a:t>d</a:t>
            </a:r>
            <a:endParaRPr lang="en-US" altLang="zh-CN" dirty="0">
              <a:solidFill>
                <a:srgbClr val="FF0000"/>
              </a:solidFill>
            </a:endParaRPr>
          </a:p>
        </p:txBody>
      </p:sp>
      <p:sp>
        <p:nvSpPr>
          <p:cNvPr id="5" name="矩形 4"/>
          <p:cNvSpPr/>
          <p:nvPr/>
        </p:nvSpPr>
        <p:spPr>
          <a:xfrm>
            <a:off x="653034" y="4081755"/>
            <a:ext cx="7560840" cy="2554545"/>
          </a:xfrm>
          <a:prstGeom prst="rect">
            <a:avLst/>
          </a:prstGeom>
        </p:spPr>
        <p:txBody>
          <a:bodyPr wrap="square">
            <a:spAutoFit/>
          </a:bodyPr>
          <a:lstStyle/>
          <a:p>
            <a:r>
              <a:rPr lang="en-US" altLang="zh-CN" sz="2000" dirty="0" smtClean="0">
                <a:solidFill>
                  <a:srgbClr val="0000FF"/>
                </a:solidFill>
              </a:rPr>
              <a:t>[</a:t>
            </a:r>
            <a:r>
              <a:rPr lang="en-US" altLang="zh-CN" sz="2000" dirty="0" err="1">
                <a:solidFill>
                  <a:srgbClr val="0000FF"/>
                </a:solidFill>
              </a:rPr>
              <a:t>xl@localhost</a:t>
            </a:r>
            <a:r>
              <a:rPr lang="en-US" altLang="zh-CN" sz="2000" dirty="0">
                <a:solidFill>
                  <a:srgbClr val="0000FF"/>
                </a:solidFill>
              </a:rPr>
              <a:t> ~]$ </a:t>
            </a:r>
            <a:r>
              <a:rPr lang="en-US" altLang="zh-CN" sz="2000" dirty="0" err="1">
                <a:solidFill>
                  <a:srgbClr val="0000FF"/>
                </a:solidFill>
              </a:rPr>
              <a:t>nmcli</a:t>
            </a:r>
            <a:r>
              <a:rPr lang="en-US" altLang="zh-CN" sz="2000" dirty="0">
                <a:solidFill>
                  <a:srgbClr val="0000FF"/>
                </a:solidFill>
              </a:rPr>
              <a:t> -p d</a:t>
            </a:r>
          </a:p>
          <a:p>
            <a:r>
              <a:rPr lang="en-US" altLang="zh-CN" sz="2000" dirty="0"/>
              <a:t>=====================</a:t>
            </a:r>
          </a:p>
          <a:p>
            <a:r>
              <a:rPr lang="en-US" altLang="zh-CN" sz="2000" dirty="0"/>
              <a:t>  Status of devices</a:t>
            </a:r>
          </a:p>
          <a:p>
            <a:r>
              <a:rPr lang="en-US" altLang="zh-CN" sz="2000" dirty="0"/>
              <a:t>=====================</a:t>
            </a:r>
          </a:p>
          <a:p>
            <a:r>
              <a:rPr lang="en-US" altLang="zh-CN" sz="2000" dirty="0"/>
              <a:t>DEVICE  TYPE      STATE      CONNECTION           </a:t>
            </a:r>
          </a:p>
          <a:p>
            <a:r>
              <a:rPr lang="en-US" altLang="zh-CN" sz="2000" dirty="0"/>
              <a:t>------------------------------------------------------------------------</a:t>
            </a:r>
          </a:p>
          <a:p>
            <a:r>
              <a:rPr lang="en-US" altLang="zh-CN" sz="2000" dirty="0"/>
              <a:t>ens33   </a:t>
            </a:r>
            <a:r>
              <a:rPr lang="en-US" altLang="zh-CN" sz="2000" dirty="0" err="1"/>
              <a:t>ethernet</a:t>
            </a:r>
            <a:r>
              <a:rPr lang="en-US" altLang="zh-CN" sz="2000" dirty="0"/>
              <a:t>  connected  New Wired Connection </a:t>
            </a:r>
          </a:p>
          <a:p>
            <a:r>
              <a:rPr lang="en-US" altLang="zh-CN" sz="2000" dirty="0"/>
              <a:t>lo      loopback  unmanaged  -- </a:t>
            </a:r>
            <a:endParaRPr lang="zh-CN" altLang="en-US" sz="2000" dirty="0"/>
          </a:p>
        </p:txBody>
      </p:sp>
    </p:spTree>
    <p:extLst>
      <p:ext uri="{BB962C8B-B14F-4D97-AF65-F5344CB8AC3E}">
        <p14:creationId xmlns:p14="http://schemas.microsoft.com/office/powerpoint/2010/main" val="3427733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使用</a:t>
            </a:r>
            <a:r>
              <a:rPr lang="en-US" altLang="zh-CN" dirty="0" err="1"/>
              <a:t>nmcli</a:t>
            </a:r>
            <a:r>
              <a:rPr lang="zh-CN" altLang="en-US" dirty="0"/>
              <a:t>显示网络接口设备</a:t>
            </a:r>
          </a:p>
        </p:txBody>
      </p:sp>
      <p:sp>
        <p:nvSpPr>
          <p:cNvPr id="3" name="内容占位符 2"/>
          <p:cNvSpPr>
            <a:spLocks noGrp="1"/>
          </p:cNvSpPr>
          <p:nvPr>
            <p:ph idx="1"/>
          </p:nvPr>
        </p:nvSpPr>
        <p:spPr>
          <a:xfrm>
            <a:off x="323528" y="1484784"/>
            <a:ext cx="7772400" cy="4114800"/>
          </a:xfrm>
        </p:spPr>
        <p:txBody>
          <a:bodyPr/>
          <a:lstStyle/>
          <a:p>
            <a:r>
              <a:rPr lang="zh-CN" altLang="en-US" dirty="0" smtClean="0"/>
              <a:t>显示</a:t>
            </a:r>
            <a:r>
              <a:rPr lang="zh-CN" altLang="en-US" dirty="0">
                <a:solidFill>
                  <a:srgbClr val="FF0000"/>
                </a:solidFill>
              </a:rPr>
              <a:t>指定网络接口信息</a:t>
            </a:r>
          </a:p>
          <a:p>
            <a:pPr lvl="1"/>
            <a:r>
              <a:rPr lang="en-US" altLang="zh-CN" dirty="0" err="1">
                <a:solidFill>
                  <a:srgbClr val="FF0000"/>
                </a:solidFill>
              </a:rPr>
              <a:t>nmcli</a:t>
            </a:r>
            <a:r>
              <a:rPr lang="en-US" altLang="zh-CN" dirty="0">
                <a:solidFill>
                  <a:srgbClr val="FF0000"/>
                </a:solidFill>
              </a:rPr>
              <a:t> device show </a:t>
            </a:r>
            <a:r>
              <a:rPr lang="en-US" altLang="zh-CN" dirty="0"/>
              <a:t>eno16777736</a:t>
            </a:r>
          </a:p>
          <a:p>
            <a:pPr lvl="1"/>
            <a:r>
              <a:rPr lang="en-US" altLang="zh-CN" dirty="0" err="1"/>
              <a:t>nmcli</a:t>
            </a:r>
            <a:r>
              <a:rPr lang="en-US" altLang="zh-CN" dirty="0"/>
              <a:t> dev show eno16777736</a:t>
            </a:r>
          </a:p>
          <a:p>
            <a:pPr lvl="1"/>
            <a:r>
              <a:rPr lang="en-US" altLang="zh-CN" dirty="0" err="1"/>
              <a:t>nmcli</a:t>
            </a:r>
            <a:r>
              <a:rPr lang="en-US" altLang="zh-CN" dirty="0"/>
              <a:t> d </a:t>
            </a:r>
            <a:r>
              <a:rPr lang="en-US" altLang="zh-CN" dirty="0" err="1"/>
              <a:t>sh</a:t>
            </a:r>
            <a:r>
              <a:rPr lang="en-US" altLang="zh-CN" dirty="0"/>
              <a:t> eno16777736</a:t>
            </a:r>
            <a:endParaRPr lang="zh-CN" altLang="en-US" dirty="0"/>
          </a:p>
        </p:txBody>
      </p:sp>
    </p:spTree>
    <p:extLst>
      <p:ext uri="{BB962C8B-B14F-4D97-AF65-F5344CB8AC3E}">
        <p14:creationId xmlns:p14="http://schemas.microsoft.com/office/powerpoint/2010/main" val="209007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使用</a:t>
            </a:r>
            <a:r>
              <a:rPr lang="en-US" altLang="zh-CN" dirty="0" err="1"/>
              <a:t>nmcli</a:t>
            </a:r>
            <a:r>
              <a:rPr lang="zh-CN" altLang="en-US" dirty="0"/>
              <a:t>显示网络接口设备</a:t>
            </a:r>
          </a:p>
        </p:txBody>
      </p:sp>
      <p:sp>
        <p:nvSpPr>
          <p:cNvPr id="4" name="矩形 3"/>
          <p:cNvSpPr/>
          <p:nvPr/>
        </p:nvSpPr>
        <p:spPr>
          <a:xfrm>
            <a:off x="30882" y="1269330"/>
            <a:ext cx="9113118" cy="5324535"/>
          </a:xfrm>
          <a:prstGeom prst="rect">
            <a:avLst/>
          </a:prstGeom>
        </p:spPr>
        <p:txBody>
          <a:bodyPr wrap="square">
            <a:spAutoFit/>
          </a:bodyPr>
          <a:lstStyle/>
          <a:p>
            <a:r>
              <a:rPr lang="zh-CN" altLang="en-US" sz="2000" dirty="0">
                <a:solidFill>
                  <a:srgbClr val="0000FF"/>
                </a:solidFill>
              </a:rPr>
              <a:t>[xl@localhost ~]$ nmcli -p device show ens33</a:t>
            </a:r>
          </a:p>
          <a:p>
            <a:r>
              <a:rPr lang="zh-CN" altLang="en-US" sz="2000" dirty="0" smtClean="0"/>
              <a:t>===========================================================                            </a:t>
            </a:r>
            <a:r>
              <a:rPr lang="zh-CN" altLang="en-US" sz="2000" dirty="0"/>
              <a:t>Device details (ens33</a:t>
            </a:r>
            <a:r>
              <a:rPr lang="zh-CN" altLang="en-US" sz="2000" dirty="0" smtClean="0"/>
              <a:t>)</a:t>
            </a:r>
            <a:endParaRPr lang="en-US" altLang="zh-CN" sz="2000" dirty="0" smtClean="0"/>
          </a:p>
          <a:p>
            <a:r>
              <a:rPr lang="zh-CN" altLang="en-US" sz="2000" dirty="0" smtClean="0"/>
              <a:t>===========================================================</a:t>
            </a:r>
            <a:endParaRPr lang="zh-CN" altLang="en-US" sz="2000" dirty="0"/>
          </a:p>
          <a:p>
            <a:r>
              <a:rPr lang="zh-CN" altLang="en-US" sz="2000" dirty="0"/>
              <a:t>GENERAL.DEVICE:                         ens33</a:t>
            </a:r>
          </a:p>
          <a:p>
            <a:r>
              <a:rPr lang="zh-CN" altLang="en-US" sz="2000" dirty="0"/>
              <a:t>-------------------------------------------------------------------------------</a:t>
            </a:r>
          </a:p>
          <a:p>
            <a:r>
              <a:rPr lang="zh-CN" altLang="en-US" sz="2000" dirty="0"/>
              <a:t>GENERAL.TYPE:                           ethernet</a:t>
            </a:r>
          </a:p>
          <a:p>
            <a:r>
              <a:rPr lang="zh-CN" altLang="en-US" sz="2000" dirty="0"/>
              <a:t>-------------------------------------------------------------------------------</a:t>
            </a:r>
          </a:p>
          <a:p>
            <a:r>
              <a:rPr lang="en-US" altLang="zh-CN" sz="2000" dirty="0" smtClean="0"/>
              <a:t>…</a:t>
            </a:r>
          </a:p>
          <a:p>
            <a:endParaRPr lang="zh-CN" altLang="en-US" sz="2000" dirty="0"/>
          </a:p>
          <a:p>
            <a:r>
              <a:rPr lang="zh-CN" altLang="en-US" sz="2000" dirty="0"/>
              <a:t>-------------------------------------------------------------------------------</a:t>
            </a:r>
          </a:p>
          <a:p>
            <a:r>
              <a:rPr lang="zh-CN" altLang="en-US" sz="2000" dirty="0"/>
              <a:t>IP4.ADDRESS[1]:                         192.168.181.128/24</a:t>
            </a:r>
          </a:p>
          <a:p>
            <a:r>
              <a:rPr lang="zh-CN" altLang="en-US" sz="2000" dirty="0"/>
              <a:t>IP4.GATEWAY:                            192.168.181.2</a:t>
            </a:r>
          </a:p>
          <a:p>
            <a:r>
              <a:rPr lang="zh-CN" altLang="en-US" sz="2000" dirty="0"/>
              <a:t>IP4.ROUTE[1]:                           dst = 0.0.0.0/0, nh = 192.168.181.2, mt = 100</a:t>
            </a:r>
          </a:p>
          <a:p>
            <a:r>
              <a:rPr lang="zh-CN" altLang="en-US" sz="2000" dirty="0"/>
              <a:t>IP4.ROUTE[2]:                           dst = 192.168.181.0/24, nh = 0.0.0.0, mt = 100</a:t>
            </a:r>
          </a:p>
          <a:p>
            <a:r>
              <a:rPr lang="zh-CN" altLang="en-US" sz="2000" dirty="0"/>
              <a:t>IP4.DNS[1]:                             192.168.181.2</a:t>
            </a:r>
          </a:p>
          <a:p>
            <a:r>
              <a:rPr lang="zh-CN" altLang="en-US" sz="2000" dirty="0"/>
              <a:t>IP4.DOMAIN[1]:                          localdomain</a:t>
            </a:r>
          </a:p>
        </p:txBody>
      </p:sp>
    </p:spTree>
    <p:extLst>
      <p:ext uri="{BB962C8B-B14F-4D97-AF65-F5344CB8AC3E}">
        <p14:creationId xmlns:p14="http://schemas.microsoft.com/office/powerpoint/2010/main" val="1933676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使用</a:t>
            </a:r>
            <a:r>
              <a:rPr lang="en-US" altLang="zh-CN" dirty="0" err="1"/>
              <a:t>nmcli</a:t>
            </a:r>
            <a:r>
              <a:rPr lang="zh-CN" altLang="en-US" dirty="0"/>
              <a:t>显示连接</a:t>
            </a:r>
          </a:p>
        </p:txBody>
      </p:sp>
      <p:sp>
        <p:nvSpPr>
          <p:cNvPr id="3" name="内容占位符 2"/>
          <p:cNvSpPr>
            <a:spLocks noGrp="1"/>
          </p:cNvSpPr>
          <p:nvPr>
            <p:ph idx="1"/>
          </p:nvPr>
        </p:nvSpPr>
        <p:spPr>
          <a:xfrm>
            <a:off x="971600" y="1556792"/>
            <a:ext cx="7772400" cy="4114800"/>
          </a:xfrm>
        </p:spPr>
        <p:txBody>
          <a:bodyPr/>
          <a:lstStyle/>
          <a:p>
            <a:r>
              <a:rPr lang="zh-CN" altLang="en-US" dirty="0"/>
              <a:t>显示</a:t>
            </a:r>
            <a:r>
              <a:rPr lang="zh-CN" altLang="en-US" dirty="0">
                <a:solidFill>
                  <a:srgbClr val="FF0000"/>
                </a:solidFill>
              </a:rPr>
              <a:t>所有连接</a:t>
            </a:r>
            <a:r>
              <a:rPr lang="zh-CN" altLang="en-US" dirty="0"/>
              <a:t>的信息</a:t>
            </a:r>
          </a:p>
          <a:p>
            <a:pPr lvl="1"/>
            <a:r>
              <a:rPr lang="en-US" altLang="zh-CN" dirty="0" err="1">
                <a:solidFill>
                  <a:srgbClr val="FF0000"/>
                </a:solidFill>
              </a:rPr>
              <a:t>nmcli</a:t>
            </a:r>
            <a:r>
              <a:rPr lang="en-US" altLang="zh-CN" dirty="0">
                <a:solidFill>
                  <a:srgbClr val="FF0000"/>
                </a:solidFill>
              </a:rPr>
              <a:t> connection show [--active] </a:t>
            </a:r>
          </a:p>
          <a:p>
            <a:pPr lvl="1"/>
            <a:r>
              <a:rPr lang="en-US" altLang="zh-CN" dirty="0" err="1"/>
              <a:t>nmcli</a:t>
            </a:r>
            <a:r>
              <a:rPr lang="en-US" altLang="zh-CN" dirty="0"/>
              <a:t> con s [--active]</a:t>
            </a:r>
          </a:p>
          <a:p>
            <a:pPr lvl="1"/>
            <a:r>
              <a:rPr lang="en-US" altLang="zh-CN" dirty="0" err="1"/>
              <a:t>nmcli</a:t>
            </a:r>
            <a:r>
              <a:rPr lang="en-US" altLang="zh-CN" dirty="0"/>
              <a:t> c s [--active] </a:t>
            </a:r>
          </a:p>
          <a:p>
            <a:pPr lvl="1"/>
            <a:r>
              <a:rPr lang="en-US" altLang="zh-CN" dirty="0" err="1">
                <a:solidFill>
                  <a:srgbClr val="FF0000"/>
                </a:solidFill>
              </a:rPr>
              <a:t>nmcli</a:t>
            </a:r>
            <a:r>
              <a:rPr lang="en-US" altLang="zh-CN" dirty="0">
                <a:solidFill>
                  <a:srgbClr val="FF0000"/>
                </a:solidFill>
              </a:rPr>
              <a:t> c</a:t>
            </a:r>
          </a:p>
          <a:p>
            <a:r>
              <a:rPr lang="zh-CN" altLang="en-US" dirty="0"/>
              <a:t>显示</a:t>
            </a:r>
            <a:r>
              <a:rPr lang="zh-CN" altLang="en-US" dirty="0">
                <a:solidFill>
                  <a:srgbClr val="FF0000"/>
                </a:solidFill>
              </a:rPr>
              <a:t>指定连接</a:t>
            </a:r>
            <a:r>
              <a:rPr lang="zh-CN" altLang="en-US" dirty="0"/>
              <a:t>的信息</a:t>
            </a:r>
          </a:p>
          <a:p>
            <a:pPr lvl="1"/>
            <a:r>
              <a:rPr lang="en-US" altLang="zh-CN" dirty="0" err="1">
                <a:solidFill>
                  <a:srgbClr val="FF0000"/>
                </a:solidFill>
              </a:rPr>
              <a:t>nmcli</a:t>
            </a:r>
            <a:r>
              <a:rPr lang="en-US" altLang="zh-CN" dirty="0">
                <a:solidFill>
                  <a:srgbClr val="FF0000"/>
                </a:solidFill>
              </a:rPr>
              <a:t> connection show </a:t>
            </a:r>
            <a:r>
              <a:rPr lang="en-US" altLang="zh-CN" dirty="0"/>
              <a:t>eno16777736  </a:t>
            </a:r>
          </a:p>
          <a:p>
            <a:pPr lvl="1"/>
            <a:r>
              <a:rPr lang="en-US" altLang="zh-CN" dirty="0" err="1"/>
              <a:t>nmcli</a:t>
            </a:r>
            <a:r>
              <a:rPr lang="en-US" altLang="zh-CN" dirty="0"/>
              <a:t> con s eno16777736 </a:t>
            </a:r>
          </a:p>
          <a:p>
            <a:pPr lvl="1"/>
            <a:r>
              <a:rPr lang="en-US" altLang="zh-CN" dirty="0" err="1"/>
              <a:t>nmcli</a:t>
            </a:r>
            <a:r>
              <a:rPr lang="en-US" altLang="zh-CN" dirty="0"/>
              <a:t> c s eno16777736</a:t>
            </a:r>
            <a:endParaRPr lang="zh-CN" altLang="en-US" dirty="0"/>
          </a:p>
        </p:txBody>
      </p:sp>
    </p:spTree>
    <p:extLst>
      <p:ext uri="{BB962C8B-B14F-4D97-AF65-F5344CB8AC3E}">
        <p14:creationId xmlns:p14="http://schemas.microsoft.com/office/powerpoint/2010/main" val="1284915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使用</a:t>
            </a:r>
            <a:r>
              <a:rPr lang="en-US" altLang="zh-CN" dirty="0" err="1"/>
              <a:t>nmcli</a:t>
            </a:r>
            <a:r>
              <a:rPr lang="zh-CN" altLang="en-US" dirty="0"/>
              <a:t>管理连接</a:t>
            </a:r>
          </a:p>
        </p:txBody>
      </p:sp>
      <p:sp>
        <p:nvSpPr>
          <p:cNvPr id="3" name="内容占位符 2"/>
          <p:cNvSpPr>
            <a:spLocks noGrp="1"/>
          </p:cNvSpPr>
          <p:nvPr>
            <p:ph idx="1"/>
          </p:nvPr>
        </p:nvSpPr>
        <p:spPr>
          <a:xfrm>
            <a:off x="899592" y="1371600"/>
            <a:ext cx="7920880" cy="4114800"/>
          </a:xfrm>
        </p:spPr>
        <p:txBody>
          <a:bodyPr/>
          <a:lstStyle/>
          <a:p>
            <a:pPr>
              <a:lnSpc>
                <a:spcPct val="110000"/>
              </a:lnSpc>
            </a:pPr>
            <a:r>
              <a:rPr lang="zh-CN" altLang="zh-CN" dirty="0">
                <a:solidFill>
                  <a:srgbClr val="FF0000"/>
                </a:solidFill>
              </a:rPr>
              <a:t>断开指定设备</a:t>
            </a:r>
            <a:r>
              <a:rPr lang="zh-CN" altLang="en-US" dirty="0">
                <a:solidFill>
                  <a:srgbClr val="FF0000"/>
                </a:solidFill>
              </a:rPr>
              <a:t>上</a:t>
            </a:r>
            <a:r>
              <a:rPr lang="zh-CN" altLang="zh-CN" dirty="0">
                <a:solidFill>
                  <a:srgbClr val="FF0000"/>
                </a:solidFill>
              </a:rPr>
              <a:t>的连接</a:t>
            </a:r>
            <a:endParaRPr lang="en-US" altLang="zh-CN" dirty="0">
              <a:solidFill>
                <a:srgbClr val="FF0000"/>
              </a:solidFill>
            </a:endParaRPr>
          </a:p>
          <a:p>
            <a:pPr lvl="1">
              <a:lnSpc>
                <a:spcPct val="110000"/>
              </a:lnSpc>
            </a:pPr>
            <a:r>
              <a:rPr lang="it-IT" altLang="zh-CN" dirty="0">
                <a:solidFill>
                  <a:srgbClr val="FF0000"/>
                </a:solidFill>
              </a:rPr>
              <a:t>nmcli device disconnect </a:t>
            </a:r>
            <a:r>
              <a:rPr lang="it-IT" altLang="zh-CN" dirty="0"/>
              <a:t>eno16777736</a:t>
            </a:r>
          </a:p>
          <a:p>
            <a:pPr lvl="1">
              <a:lnSpc>
                <a:spcPct val="110000"/>
              </a:lnSpc>
            </a:pPr>
            <a:r>
              <a:rPr lang="it-IT" altLang="zh-CN" dirty="0"/>
              <a:t>nmcli dev disc eno16777736 </a:t>
            </a:r>
          </a:p>
          <a:p>
            <a:pPr lvl="1">
              <a:lnSpc>
                <a:spcPct val="110000"/>
              </a:lnSpc>
            </a:pPr>
            <a:r>
              <a:rPr lang="it-IT" altLang="zh-CN" dirty="0"/>
              <a:t>nmcli d d eno16777736</a:t>
            </a:r>
          </a:p>
          <a:p>
            <a:pPr>
              <a:lnSpc>
                <a:spcPct val="110000"/>
              </a:lnSpc>
            </a:pPr>
            <a:r>
              <a:rPr lang="zh-CN" altLang="en-US" dirty="0">
                <a:solidFill>
                  <a:srgbClr val="FF0000"/>
                </a:solidFill>
              </a:rPr>
              <a:t>激活指定网络接口上的连接</a:t>
            </a:r>
            <a:endParaRPr lang="en-US" altLang="zh-CN" dirty="0">
              <a:solidFill>
                <a:srgbClr val="FF0000"/>
              </a:solidFill>
            </a:endParaRPr>
          </a:p>
          <a:p>
            <a:pPr lvl="1">
              <a:lnSpc>
                <a:spcPct val="110000"/>
              </a:lnSpc>
            </a:pPr>
            <a:r>
              <a:rPr lang="en-US" altLang="zh-CN" dirty="0" err="1">
                <a:solidFill>
                  <a:srgbClr val="FF0000"/>
                </a:solidFill>
              </a:rPr>
              <a:t>nmcli</a:t>
            </a:r>
            <a:r>
              <a:rPr lang="en-US" altLang="zh-CN" dirty="0">
                <a:solidFill>
                  <a:srgbClr val="FF0000"/>
                </a:solidFill>
              </a:rPr>
              <a:t> connection up </a:t>
            </a:r>
            <a:r>
              <a:rPr lang="en-US" altLang="zh-CN" dirty="0" err="1">
                <a:solidFill>
                  <a:srgbClr val="FF0000"/>
                </a:solidFill>
              </a:rPr>
              <a:t>ifname</a:t>
            </a:r>
            <a:r>
              <a:rPr lang="en-US" altLang="zh-CN" dirty="0">
                <a:solidFill>
                  <a:srgbClr val="FF0000"/>
                </a:solidFill>
              </a:rPr>
              <a:t> </a:t>
            </a:r>
            <a:r>
              <a:rPr lang="en-US" altLang="zh-CN" dirty="0"/>
              <a:t>eno16777736</a:t>
            </a:r>
          </a:p>
          <a:p>
            <a:pPr lvl="1">
              <a:lnSpc>
                <a:spcPct val="110000"/>
              </a:lnSpc>
            </a:pPr>
            <a:r>
              <a:rPr lang="en-US" altLang="zh-CN" dirty="0" err="1"/>
              <a:t>nmcli</a:t>
            </a:r>
            <a:r>
              <a:rPr lang="en-US" altLang="zh-CN" dirty="0"/>
              <a:t> con up </a:t>
            </a:r>
            <a:r>
              <a:rPr lang="en-US" altLang="zh-CN" dirty="0" err="1"/>
              <a:t>ifname</a:t>
            </a:r>
            <a:r>
              <a:rPr lang="en-US" altLang="zh-CN" dirty="0"/>
              <a:t> eno16777736</a:t>
            </a:r>
          </a:p>
          <a:p>
            <a:pPr lvl="1">
              <a:lnSpc>
                <a:spcPct val="110000"/>
              </a:lnSpc>
            </a:pPr>
            <a:r>
              <a:rPr lang="en-US" altLang="zh-CN" dirty="0" err="1"/>
              <a:t>nmcli</a:t>
            </a:r>
            <a:r>
              <a:rPr lang="en-US" altLang="zh-CN" dirty="0"/>
              <a:t> c up </a:t>
            </a:r>
            <a:r>
              <a:rPr lang="en-US" altLang="zh-CN" dirty="0" err="1"/>
              <a:t>ifname</a:t>
            </a:r>
            <a:r>
              <a:rPr lang="en-US" altLang="zh-CN" dirty="0"/>
              <a:t> eno16777736</a:t>
            </a:r>
            <a:endParaRPr lang="zh-CN" altLang="en-US" dirty="0"/>
          </a:p>
        </p:txBody>
      </p:sp>
    </p:spTree>
    <p:extLst>
      <p:ext uri="{BB962C8B-B14F-4D97-AF65-F5344CB8AC3E}">
        <p14:creationId xmlns:p14="http://schemas.microsoft.com/office/powerpoint/2010/main" val="14305016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使用</a:t>
            </a:r>
            <a:r>
              <a:rPr lang="en-US" altLang="zh-CN" dirty="0" err="1"/>
              <a:t>nmcli</a:t>
            </a:r>
            <a:r>
              <a:rPr lang="zh-CN" altLang="en-US" dirty="0"/>
              <a:t>管理连接（续）</a:t>
            </a:r>
          </a:p>
        </p:txBody>
      </p:sp>
      <p:sp>
        <p:nvSpPr>
          <p:cNvPr id="3" name="内容占位符 2"/>
          <p:cNvSpPr>
            <a:spLocks noGrp="1"/>
          </p:cNvSpPr>
          <p:nvPr>
            <p:ph idx="1"/>
          </p:nvPr>
        </p:nvSpPr>
        <p:spPr>
          <a:xfrm>
            <a:off x="1043608" y="1556792"/>
            <a:ext cx="7772400" cy="4114800"/>
          </a:xfrm>
        </p:spPr>
        <p:txBody>
          <a:bodyPr/>
          <a:lstStyle/>
          <a:p>
            <a:r>
              <a:rPr lang="zh-CN" altLang="en-US" dirty="0"/>
              <a:t>通过</a:t>
            </a:r>
            <a:r>
              <a:rPr lang="zh-CN" altLang="en-US" dirty="0">
                <a:solidFill>
                  <a:srgbClr val="FF0000"/>
                </a:solidFill>
              </a:rPr>
              <a:t>连接名激活连接</a:t>
            </a:r>
            <a:endParaRPr lang="en-US" altLang="zh-CN" dirty="0">
              <a:solidFill>
                <a:srgbClr val="FF0000"/>
              </a:solidFill>
            </a:endParaRPr>
          </a:p>
          <a:p>
            <a:pPr lvl="1"/>
            <a:r>
              <a:rPr lang="en-US" altLang="zh-CN" dirty="0" err="1">
                <a:solidFill>
                  <a:srgbClr val="FF0000"/>
                </a:solidFill>
              </a:rPr>
              <a:t>nmcli</a:t>
            </a:r>
            <a:r>
              <a:rPr lang="en-US" altLang="zh-CN" dirty="0">
                <a:solidFill>
                  <a:srgbClr val="FF0000"/>
                </a:solidFill>
              </a:rPr>
              <a:t> connection up id</a:t>
            </a:r>
            <a:r>
              <a:rPr lang="en-US" altLang="zh-CN" dirty="0"/>
              <a:t> eno16777736</a:t>
            </a:r>
          </a:p>
          <a:p>
            <a:pPr lvl="1"/>
            <a:r>
              <a:rPr lang="en-US" altLang="zh-CN" dirty="0" err="1"/>
              <a:t>nmcli</a:t>
            </a:r>
            <a:r>
              <a:rPr lang="en-US" altLang="zh-CN" dirty="0"/>
              <a:t> con up id eno16777736</a:t>
            </a:r>
          </a:p>
          <a:p>
            <a:pPr lvl="1"/>
            <a:r>
              <a:rPr lang="en-US" altLang="zh-CN" dirty="0" err="1"/>
              <a:t>nmcli</a:t>
            </a:r>
            <a:r>
              <a:rPr lang="en-US" altLang="zh-CN" dirty="0"/>
              <a:t> c up id eno16777736</a:t>
            </a:r>
          </a:p>
          <a:p>
            <a:pPr lvl="1"/>
            <a:r>
              <a:rPr lang="en-US" altLang="zh-CN" dirty="0" err="1"/>
              <a:t>nmcli</a:t>
            </a:r>
            <a:r>
              <a:rPr lang="en-US" altLang="zh-CN" dirty="0"/>
              <a:t> c up eno16777736</a:t>
            </a:r>
          </a:p>
          <a:p>
            <a:r>
              <a:rPr lang="zh-CN" altLang="en-US" dirty="0">
                <a:solidFill>
                  <a:srgbClr val="FF0000"/>
                </a:solidFill>
              </a:rPr>
              <a:t>激活指定接口上的连接配置</a:t>
            </a:r>
          </a:p>
          <a:p>
            <a:pPr lvl="1"/>
            <a:r>
              <a:rPr lang="en-US" altLang="zh-CN" dirty="0" err="1"/>
              <a:t>nmcli</a:t>
            </a:r>
            <a:r>
              <a:rPr lang="en-US" altLang="zh-CN" dirty="0"/>
              <a:t> con up "My connection" </a:t>
            </a:r>
            <a:r>
              <a:rPr lang="en-US" altLang="zh-CN" dirty="0" err="1"/>
              <a:t>ifname</a:t>
            </a:r>
            <a:r>
              <a:rPr lang="en-US" altLang="zh-CN" dirty="0"/>
              <a:t> eno16777736</a:t>
            </a:r>
          </a:p>
          <a:p>
            <a:pPr lvl="1"/>
            <a:r>
              <a:rPr lang="en-US" altLang="zh-CN" dirty="0" err="1"/>
              <a:t>nmcli</a:t>
            </a:r>
            <a:r>
              <a:rPr lang="en-US" altLang="zh-CN" dirty="0"/>
              <a:t> c up "My connection" </a:t>
            </a:r>
            <a:r>
              <a:rPr lang="en-US" altLang="zh-CN" dirty="0" err="1"/>
              <a:t>ifname</a:t>
            </a:r>
            <a:r>
              <a:rPr lang="en-US" altLang="zh-CN" dirty="0"/>
              <a:t> eno16777736</a:t>
            </a:r>
            <a:endParaRPr lang="zh-CN" altLang="en-US" dirty="0"/>
          </a:p>
        </p:txBody>
      </p:sp>
    </p:spTree>
    <p:extLst>
      <p:ext uri="{BB962C8B-B14F-4D97-AF65-F5344CB8AC3E}">
        <p14:creationId xmlns:p14="http://schemas.microsoft.com/office/powerpoint/2010/main" val="41777008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使用</a:t>
            </a:r>
            <a:r>
              <a:rPr lang="en-US" altLang="zh-CN" dirty="0" err="1"/>
              <a:t>nmcli</a:t>
            </a:r>
            <a:r>
              <a:rPr lang="zh-CN" altLang="en-US" dirty="0"/>
              <a:t>配置网络参数</a:t>
            </a:r>
          </a:p>
        </p:txBody>
      </p:sp>
      <p:sp>
        <p:nvSpPr>
          <p:cNvPr id="3" name="内容占位符 2"/>
          <p:cNvSpPr>
            <a:spLocks noGrp="1"/>
          </p:cNvSpPr>
          <p:nvPr>
            <p:ph idx="1"/>
          </p:nvPr>
        </p:nvSpPr>
        <p:spPr>
          <a:xfrm>
            <a:off x="827584" y="1371600"/>
            <a:ext cx="8316416" cy="4114800"/>
          </a:xfrm>
        </p:spPr>
        <p:txBody>
          <a:bodyPr/>
          <a:lstStyle/>
          <a:p>
            <a:r>
              <a:rPr lang="zh-CN" altLang="zh-CN" dirty="0">
                <a:solidFill>
                  <a:srgbClr val="FF0000"/>
                </a:solidFill>
              </a:rPr>
              <a:t>修改</a:t>
            </a:r>
            <a:r>
              <a:rPr lang="en-US" altLang="zh-CN" dirty="0">
                <a:solidFill>
                  <a:srgbClr val="FF0000"/>
                </a:solidFill>
              </a:rPr>
              <a:t>IP</a:t>
            </a:r>
            <a:r>
              <a:rPr lang="zh-CN" altLang="zh-CN" dirty="0">
                <a:solidFill>
                  <a:srgbClr val="FF0000"/>
                </a:solidFill>
              </a:rPr>
              <a:t>地址获得方式</a:t>
            </a:r>
            <a:endParaRPr lang="en-US" altLang="zh-CN" dirty="0">
              <a:solidFill>
                <a:srgbClr val="FF0000"/>
              </a:solidFill>
            </a:endParaRPr>
          </a:p>
          <a:p>
            <a:pPr marL="344487" lvl="1" indent="0">
              <a:buNone/>
            </a:pPr>
            <a:r>
              <a:rPr lang="en-US" altLang="zh-CN" dirty="0" err="1"/>
              <a:t>nmcli</a:t>
            </a:r>
            <a:r>
              <a:rPr lang="en-US" altLang="zh-CN" dirty="0"/>
              <a:t> con modify eno16777736 </a:t>
            </a:r>
            <a:r>
              <a:rPr lang="en-US" altLang="zh-CN" dirty="0">
                <a:solidFill>
                  <a:srgbClr val="FF0000"/>
                </a:solidFill>
              </a:rPr>
              <a:t>ipv4.method manual </a:t>
            </a:r>
          </a:p>
          <a:p>
            <a:pPr marL="344487" lvl="1" indent="0">
              <a:buNone/>
            </a:pPr>
            <a:r>
              <a:rPr lang="en-US" altLang="zh-CN" dirty="0" err="1"/>
              <a:t>nmcli</a:t>
            </a:r>
            <a:r>
              <a:rPr lang="en-US" altLang="zh-CN" dirty="0"/>
              <a:t> c m eno16777736 </a:t>
            </a:r>
            <a:r>
              <a:rPr lang="en-US" altLang="zh-CN" dirty="0">
                <a:solidFill>
                  <a:srgbClr val="FF0000"/>
                </a:solidFill>
              </a:rPr>
              <a:t>ipv4.method auto</a:t>
            </a:r>
          </a:p>
          <a:p>
            <a:r>
              <a:rPr lang="zh-CN" altLang="zh-CN" dirty="0">
                <a:solidFill>
                  <a:srgbClr val="FF0000"/>
                </a:solidFill>
              </a:rPr>
              <a:t>设置</a:t>
            </a:r>
            <a:r>
              <a:rPr lang="en-US" altLang="zh-CN" dirty="0">
                <a:solidFill>
                  <a:srgbClr val="FF0000"/>
                </a:solidFill>
              </a:rPr>
              <a:t>IP</a:t>
            </a:r>
            <a:r>
              <a:rPr lang="zh-CN" altLang="zh-CN" dirty="0">
                <a:solidFill>
                  <a:srgbClr val="FF0000"/>
                </a:solidFill>
              </a:rPr>
              <a:t>地址、网关和</a:t>
            </a:r>
            <a:r>
              <a:rPr lang="en-US" altLang="zh-CN" dirty="0">
                <a:solidFill>
                  <a:srgbClr val="FF0000"/>
                </a:solidFill>
              </a:rPr>
              <a:t>DNS</a:t>
            </a:r>
            <a:r>
              <a:rPr lang="zh-CN" altLang="zh-CN" dirty="0">
                <a:solidFill>
                  <a:srgbClr val="FF0000"/>
                </a:solidFill>
              </a:rPr>
              <a:t>解析</a:t>
            </a:r>
            <a:endParaRPr lang="en-US" altLang="zh-CN" dirty="0">
              <a:solidFill>
                <a:srgbClr val="FF0000"/>
              </a:solidFill>
            </a:endParaRPr>
          </a:p>
          <a:p>
            <a:pPr marL="344487" lvl="1" indent="0">
              <a:buNone/>
            </a:pPr>
            <a:r>
              <a:rPr lang="en-US" altLang="zh-CN" dirty="0" err="1"/>
              <a:t>nmcli</a:t>
            </a:r>
            <a:r>
              <a:rPr lang="en-US" altLang="zh-CN" dirty="0"/>
              <a:t> c m eno16777736 </a:t>
            </a:r>
            <a:r>
              <a:rPr lang="en-US" altLang="zh-CN" dirty="0">
                <a:solidFill>
                  <a:srgbClr val="FF0000"/>
                </a:solidFill>
              </a:rPr>
              <a:t>ipv4.addresses </a:t>
            </a:r>
            <a:r>
              <a:rPr lang="en-US" altLang="zh-CN" dirty="0"/>
              <a:t>10.0.0.30/24 </a:t>
            </a:r>
          </a:p>
          <a:p>
            <a:pPr marL="344487" lvl="1" indent="0">
              <a:buNone/>
            </a:pPr>
            <a:r>
              <a:rPr lang="en-US" altLang="zh-CN" dirty="0" err="1"/>
              <a:t>nmcli</a:t>
            </a:r>
            <a:r>
              <a:rPr lang="en-US" altLang="zh-CN" dirty="0"/>
              <a:t> c m eno16777736 </a:t>
            </a:r>
            <a:r>
              <a:rPr lang="en-US" altLang="zh-CN" dirty="0">
                <a:solidFill>
                  <a:srgbClr val="FF0000"/>
                </a:solidFill>
              </a:rPr>
              <a:t>ipv4.gateway </a:t>
            </a:r>
            <a:r>
              <a:rPr lang="en-US" altLang="zh-CN" dirty="0"/>
              <a:t>10.0.0.1 </a:t>
            </a:r>
          </a:p>
          <a:p>
            <a:pPr marL="344487" lvl="1" indent="0">
              <a:buNone/>
            </a:pPr>
            <a:r>
              <a:rPr lang="en-US" altLang="zh-CN" dirty="0" err="1"/>
              <a:t>nmcli</a:t>
            </a:r>
            <a:r>
              <a:rPr lang="en-US" altLang="zh-CN" dirty="0"/>
              <a:t> c m eno16777736 </a:t>
            </a:r>
            <a:r>
              <a:rPr lang="en-US" altLang="zh-CN" dirty="0">
                <a:solidFill>
                  <a:srgbClr val="FF0000"/>
                </a:solidFill>
              </a:rPr>
              <a:t>ipv4.dns </a:t>
            </a:r>
            <a:r>
              <a:rPr lang="en-US" altLang="zh-CN" dirty="0"/>
              <a:t>"10.0.0.1 8.8.8.8"</a:t>
            </a:r>
            <a:endParaRPr lang="zh-CN" altLang="en-US" dirty="0"/>
          </a:p>
        </p:txBody>
      </p:sp>
    </p:spTree>
    <p:extLst>
      <p:ext uri="{BB962C8B-B14F-4D97-AF65-F5344CB8AC3E}">
        <p14:creationId xmlns:p14="http://schemas.microsoft.com/office/powerpoint/2010/main" val="41732209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使用</a:t>
            </a:r>
            <a:r>
              <a:rPr lang="en-US" altLang="zh-CN" dirty="0" err="1"/>
              <a:t>nmcli</a:t>
            </a:r>
            <a:r>
              <a:rPr lang="zh-CN" altLang="en-US" dirty="0"/>
              <a:t>配置网络参数</a:t>
            </a:r>
            <a:r>
              <a:rPr lang="en-US" altLang="zh-CN" dirty="0"/>
              <a:t>(</a:t>
            </a:r>
            <a:r>
              <a:rPr lang="zh-CN" altLang="en-US" dirty="0"/>
              <a:t>续</a:t>
            </a:r>
            <a:r>
              <a:rPr lang="en-US" altLang="zh-CN" dirty="0"/>
              <a:t>)</a:t>
            </a:r>
            <a:endParaRPr lang="zh-CN" altLang="en-US" dirty="0"/>
          </a:p>
        </p:txBody>
      </p:sp>
      <p:sp>
        <p:nvSpPr>
          <p:cNvPr id="3" name="内容占位符 2"/>
          <p:cNvSpPr>
            <a:spLocks noGrp="1"/>
          </p:cNvSpPr>
          <p:nvPr>
            <p:ph idx="1"/>
          </p:nvPr>
        </p:nvSpPr>
        <p:spPr>
          <a:xfrm>
            <a:off x="971599" y="1371600"/>
            <a:ext cx="7793037" cy="4114800"/>
          </a:xfrm>
        </p:spPr>
        <p:txBody>
          <a:bodyPr/>
          <a:lstStyle/>
          <a:p>
            <a:pPr>
              <a:lnSpc>
                <a:spcPct val="130000"/>
              </a:lnSpc>
            </a:pPr>
            <a:r>
              <a:rPr lang="zh-CN" altLang="en-US" dirty="0">
                <a:solidFill>
                  <a:srgbClr val="FF0000"/>
                </a:solidFill>
              </a:rPr>
              <a:t>绑定多个</a:t>
            </a:r>
            <a:r>
              <a:rPr lang="en-US" altLang="zh-CN" dirty="0">
                <a:solidFill>
                  <a:srgbClr val="FF0000"/>
                </a:solidFill>
              </a:rPr>
              <a:t>IP</a:t>
            </a:r>
            <a:r>
              <a:rPr lang="zh-CN" altLang="en-US" dirty="0">
                <a:solidFill>
                  <a:srgbClr val="FF0000"/>
                </a:solidFill>
              </a:rPr>
              <a:t>地址</a:t>
            </a:r>
          </a:p>
          <a:p>
            <a:pPr lvl="1">
              <a:lnSpc>
                <a:spcPct val="130000"/>
              </a:lnSpc>
            </a:pPr>
            <a:r>
              <a:rPr lang="en-US" altLang="zh-CN" dirty="0" err="1"/>
              <a:t>nmcli</a:t>
            </a:r>
            <a:r>
              <a:rPr lang="en-US" altLang="zh-CN" dirty="0"/>
              <a:t> c m eno16777736 </a:t>
            </a:r>
            <a:r>
              <a:rPr lang="en-US" altLang="zh-CN" b="1" dirty="0">
                <a:solidFill>
                  <a:srgbClr val="FF0000"/>
                </a:solidFill>
              </a:rPr>
              <a:t>+</a:t>
            </a:r>
            <a:r>
              <a:rPr lang="en-US" altLang="zh-CN" dirty="0"/>
              <a:t>ipv4.addr "10.0.1.30/24"</a:t>
            </a:r>
          </a:p>
          <a:p>
            <a:pPr>
              <a:lnSpc>
                <a:spcPct val="130000"/>
              </a:lnSpc>
            </a:pPr>
            <a:r>
              <a:rPr lang="zh-CN" altLang="en-US" dirty="0">
                <a:solidFill>
                  <a:srgbClr val="FF0000"/>
                </a:solidFill>
              </a:rPr>
              <a:t>修改</a:t>
            </a:r>
            <a:r>
              <a:rPr lang="en-US" altLang="zh-CN" dirty="0">
                <a:solidFill>
                  <a:srgbClr val="FF0000"/>
                </a:solidFill>
              </a:rPr>
              <a:t>DNS</a:t>
            </a:r>
            <a:r>
              <a:rPr lang="zh-CN" altLang="en-US" dirty="0">
                <a:solidFill>
                  <a:srgbClr val="FF0000"/>
                </a:solidFill>
              </a:rPr>
              <a:t>解析</a:t>
            </a:r>
          </a:p>
          <a:p>
            <a:pPr lvl="1">
              <a:lnSpc>
                <a:spcPct val="130000"/>
              </a:lnSpc>
            </a:pPr>
            <a:r>
              <a:rPr lang="en-US" altLang="zh-CN" dirty="0" err="1"/>
              <a:t>nmcli</a:t>
            </a:r>
            <a:r>
              <a:rPr lang="en-US" altLang="zh-CN" dirty="0"/>
              <a:t> c m eno16777736 </a:t>
            </a:r>
            <a:r>
              <a:rPr lang="en-US" altLang="zh-CN" b="1" dirty="0">
                <a:solidFill>
                  <a:srgbClr val="FF0000"/>
                </a:solidFill>
              </a:rPr>
              <a:t>-</a:t>
            </a:r>
            <a:r>
              <a:rPr lang="en-US" altLang="zh-CN" dirty="0"/>
              <a:t>ipv4.dns "8.8.8.8" </a:t>
            </a:r>
          </a:p>
          <a:p>
            <a:pPr lvl="1">
              <a:lnSpc>
                <a:spcPct val="130000"/>
              </a:lnSpc>
            </a:pPr>
            <a:r>
              <a:rPr lang="en-US" altLang="zh-CN" dirty="0" err="1"/>
              <a:t>nmcli</a:t>
            </a:r>
            <a:r>
              <a:rPr lang="en-US" altLang="zh-CN" dirty="0"/>
              <a:t> c m eno16777736 </a:t>
            </a:r>
            <a:r>
              <a:rPr lang="en-US" altLang="zh-CN" b="1" dirty="0">
                <a:solidFill>
                  <a:srgbClr val="FF0000"/>
                </a:solidFill>
              </a:rPr>
              <a:t>+</a:t>
            </a:r>
            <a:r>
              <a:rPr lang="en-US" altLang="zh-CN" dirty="0"/>
              <a:t>ipv4.dns "114.114.114.114"</a:t>
            </a:r>
            <a:endParaRPr lang="zh-CN" altLang="en-US" dirty="0"/>
          </a:p>
        </p:txBody>
      </p:sp>
    </p:spTree>
    <p:extLst>
      <p:ext uri="{BB962C8B-B14F-4D97-AF65-F5344CB8AC3E}">
        <p14:creationId xmlns:p14="http://schemas.microsoft.com/office/powerpoint/2010/main" val="2897419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使用</a:t>
            </a:r>
            <a:r>
              <a:rPr lang="en-US" altLang="zh-CN" dirty="0" err="1"/>
              <a:t>nmcli</a:t>
            </a:r>
            <a:r>
              <a:rPr lang="zh-CN" altLang="en-US" dirty="0"/>
              <a:t>配置网络</a:t>
            </a:r>
          </a:p>
        </p:txBody>
      </p:sp>
      <p:sp>
        <p:nvSpPr>
          <p:cNvPr id="3" name="内容占位符 2"/>
          <p:cNvSpPr>
            <a:spLocks noGrp="1"/>
          </p:cNvSpPr>
          <p:nvPr>
            <p:ph idx="1"/>
          </p:nvPr>
        </p:nvSpPr>
        <p:spPr/>
        <p:txBody>
          <a:bodyPr/>
          <a:lstStyle/>
          <a:p>
            <a:pPr>
              <a:lnSpc>
                <a:spcPct val="120000"/>
              </a:lnSpc>
            </a:pPr>
            <a:r>
              <a:rPr lang="zh-CN" altLang="zh-CN" dirty="0"/>
              <a:t>手工修改网络配置文件之后</a:t>
            </a:r>
            <a:endParaRPr lang="en-US" altLang="zh-CN" dirty="0"/>
          </a:p>
          <a:p>
            <a:pPr>
              <a:lnSpc>
                <a:spcPct val="120000"/>
              </a:lnSpc>
            </a:pPr>
            <a:r>
              <a:rPr lang="zh-CN" altLang="en-US" dirty="0"/>
              <a:t>需重新读取网络配置文件</a:t>
            </a:r>
            <a:endParaRPr lang="en-US" altLang="zh-CN" dirty="0"/>
          </a:p>
          <a:p>
            <a:pPr lvl="1">
              <a:lnSpc>
                <a:spcPct val="120000"/>
              </a:lnSpc>
            </a:pPr>
            <a:r>
              <a:rPr lang="en-US" altLang="zh-CN" dirty="0" err="1">
                <a:solidFill>
                  <a:srgbClr val="FF0000"/>
                </a:solidFill>
              </a:rPr>
              <a:t>nmcli</a:t>
            </a:r>
            <a:r>
              <a:rPr lang="en-US" altLang="zh-CN" dirty="0">
                <a:solidFill>
                  <a:srgbClr val="FF0000"/>
                </a:solidFill>
              </a:rPr>
              <a:t> con reload</a:t>
            </a:r>
          </a:p>
          <a:p>
            <a:pPr>
              <a:lnSpc>
                <a:spcPct val="120000"/>
              </a:lnSpc>
            </a:pPr>
            <a:r>
              <a:rPr lang="zh-CN" altLang="en-US" dirty="0"/>
              <a:t>然后 </a:t>
            </a:r>
            <a:r>
              <a:rPr lang="zh-CN" altLang="en-US" dirty="0">
                <a:solidFill>
                  <a:srgbClr val="FF0000"/>
                </a:solidFill>
              </a:rPr>
              <a:t>断开</a:t>
            </a:r>
            <a:r>
              <a:rPr lang="en-US" altLang="zh-CN" dirty="0">
                <a:solidFill>
                  <a:srgbClr val="FF0000"/>
                </a:solidFill>
              </a:rPr>
              <a:t>/</a:t>
            </a:r>
            <a:r>
              <a:rPr lang="zh-CN" altLang="en-US" dirty="0">
                <a:solidFill>
                  <a:srgbClr val="FF0000"/>
                </a:solidFill>
              </a:rPr>
              <a:t>激活 </a:t>
            </a:r>
            <a:r>
              <a:rPr lang="zh-CN" altLang="en-US" dirty="0"/>
              <a:t>网络连接</a:t>
            </a:r>
            <a:endParaRPr lang="en-US" altLang="zh-CN" dirty="0"/>
          </a:p>
          <a:p>
            <a:pPr lvl="1">
              <a:lnSpc>
                <a:spcPct val="120000"/>
              </a:lnSpc>
            </a:pPr>
            <a:r>
              <a:rPr lang="en-US" altLang="zh-CN" dirty="0" err="1"/>
              <a:t>nmcli</a:t>
            </a:r>
            <a:r>
              <a:rPr lang="en-US" altLang="zh-CN" dirty="0"/>
              <a:t> d </a:t>
            </a:r>
            <a:r>
              <a:rPr lang="en-US" altLang="zh-CN" dirty="0" err="1"/>
              <a:t>d</a:t>
            </a:r>
            <a:r>
              <a:rPr lang="en-US" altLang="zh-CN" dirty="0"/>
              <a:t> eno16777736</a:t>
            </a:r>
          </a:p>
          <a:p>
            <a:pPr lvl="1">
              <a:lnSpc>
                <a:spcPct val="120000"/>
              </a:lnSpc>
            </a:pPr>
            <a:r>
              <a:rPr lang="en-US" altLang="zh-CN" dirty="0" err="1"/>
              <a:t>nmcli</a:t>
            </a:r>
            <a:r>
              <a:rPr lang="en-US" altLang="zh-CN" dirty="0"/>
              <a:t> c up eno16777736</a:t>
            </a:r>
          </a:p>
          <a:p>
            <a:pPr lvl="1"/>
            <a:endParaRPr lang="zh-CN" altLang="en-US" dirty="0"/>
          </a:p>
        </p:txBody>
      </p:sp>
    </p:spTree>
    <p:extLst>
      <p:ext uri="{BB962C8B-B14F-4D97-AF65-F5344CB8AC3E}">
        <p14:creationId xmlns:p14="http://schemas.microsoft.com/office/powerpoint/2010/main" val="6517571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4">
            <a:extLst>
              <a:ext uri="{FF2B5EF4-FFF2-40B4-BE49-F238E27FC236}">
                <a16:creationId xmlns:a16="http://schemas.microsoft.com/office/drawing/2014/main" id="{9AD9A78A-609F-4797-AA52-6B1406C11E73}"/>
              </a:ext>
            </a:extLst>
          </p:cNvPr>
          <p:cNvSpPr>
            <a:spLocks noGrp="1" noChangeArrowheads="1"/>
          </p:cNvSpPr>
          <p:nvPr>
            <p:ph type="title"/>
          </p:nvPr>
        </p:nvSpPr>
        <p:spPr>
          <a:xfrm>
            <a:off x="1223987" y="71399"/>
            <a:ext cx="7793037" cy="1204515"/>
          </a:xfrm>
        </p:spPr>
        <p:txBody>
          <a:bodyPr/>
          <a:lstStyle/>
          <a:p>
            <a:r>
              <a:rPr lang="zh-CN" altLang="en-US" dirty="0">
                <a:latin typeface="黑体" panose="02010609060101010101" pitchFamily="49" charset="-122"/>
                <a:ea typeface="黑体" panose="02010609060101010101" pitchFamily="49" charset="-122"/>
              </a:rPr>
              <a:t>本章内容要点</a:t>
            </a:r>
          </a:p>
        </p:txBody>
      </p:sp>
      <p:sp>
        <p:nvSpPr>
          <p:cNvPr id="2" name="圆角矩形 1">
            <a:extLst>
              <a:ext uri="{FF2B5EF4-FFF2-40B4-BE49-F238E27FC236}">
                <a16:creationId xmlns:a16="http://schemas.microsoft.com/office/drawing/2014/main" id="{24F68058-A272-4A0C-AC8E-6E614A1DCF7B}"/>
              </a:ext>
            </a:extLst>
          </p:cNvPr>
          <p:cNvSpPr/>
          <p:nvPr/>
        </p:nvSpPr>
        <p:spPr>
          <a:xfrm>
            <a:off x="782278" y="3273297"/>
            <a:ext cx="7808777" cy="1667871"/>
          </a:xfrm>
          <a:prstGeom prst="round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ahoma"/>
              <a:ea typeface="宋体"/>
              <a:cs typeface="+mn-cs"/>
            </a:endParaRPr>
          </a:p>
        </p:txBody>
      </p:sp>
      <p:pic>
        <p:nvPicPr>
          <p:cNvPr id="9221" name="Picture 8">
            <a:extLst>
              <a:ext uri="{FF2B5EF4-FFF2-40B4-BE49-F238E27FC236}">
                <a16:creationId xmlns:a16="http://schemas.microsoft.com/office/drawing/2014/main" id="{30CF9F7C-A188-429C-86A1-CC0CA6E855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80312" y="49014"/>
            <a:ext cx="1574994" cy="15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D35220A3-8319-42A1-BF3C-A9D0A093B9DF}"/>
              </a:ext>
            </a:extLst>
          </p:cNvPr>
          <p:cNvSpPr txBox="1">
            <a:spLocks noChangeArrowheads="1"/>
          </p:cNvSpPr>
          <p:nvPr/>
        </p:nvSpPr>
        <p:spPr>
          <a:xfrm>
            <a:off x="833406" y="1581667"/>
            <a:ext cx="7882441" cy="520493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000" kern="1200">
                <a:solidFill>
                  <a:schemeClr val="tx1">
                    <a:tint val="75000"/>
                  </a:schemeClr>
                </a:solidFill>
                <a:latin typeface="Broadway" panose="04040905080B02020502" pitchFamily="82"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spcBef>
                <a:spcPts val="600"/>
              </a:spcBef>
              <a:spcAft>
                <a:spcPts val="600"/>
              </a:spcAft>
              <a:buFont typeface="Wingdings" panose="05000000000000000000" pitchFamily="2" charset="2"/>
              <a:buChar char="Ø"/>
            </a:pPr>
            <a:r>
              <a:rPr lang="en-US" altLang="zh-CN" sz="3200" dirty="0">
                <a:solidFill>
                  <a:schemeClr val="tx1"/>
                </a:solidFill>
              </a:rPr>
              <a:t> Linux</a:t>
            </a:r>
            <a:r>
              <a:rPr lang="zh-CN" altLang="en-US" sz="3200" dirty="0">
                <a:solidFill>
                  <a:schemeClr val="tx1"/>
                </a:solidFill>
              </a:rPr>
              <a:t>网络配置</a:t>
            </a:r>
          </a:p>
          <a:p>
            <a:pPr lvl="1" algn="l">
              <a:lnSpc>
                <a:spcPct val="110000"/>
              </a:lnSpc>
              <a:spcBef>
                <a:spcPts val="600"/>
              </a:spcBef>
              <a:spcAft>
                <a:spcPts val="600"/>
              </a:spcAft>
            </a:pPr>
            <a:r>
              <a:rPr lang="en-US" altLang="zh-CN" dirty="0">
                <a:solidFill>
                  <a:schemeClr val="tx1"/>
                </a:solidFill>
              </a:rPr>
              <a:t>Linux</a:t>
            </a:r>
            <a:r>
              <a:rPr lang="zh-CN" altLang="en-US" dirty="0">
                <a:solidFill>
                  <a:schemeClr val="tx1"/>
                </a:solidFill>
              </a:rPr>
              <a:t>网络基础，</a:t>
            </a:r>
            <a:r>
              <a:rPr lang="en-US" altLang="zh-CN" dirty="0">
                <a:solidFill>
                  <a:schemeClr val="tx1"/>
                </a:solidFill>
              </a:rPr>
              <a:t>IP</a:t>
            </a:r>
            <a:r>
              <a:rPr lang="zh-CN" altLang="en-US" dirty="0">
                <a:solidFill>
                  <a:schemeClr val="tx1"/>
                </a:solidFill>
              </a:rPr>
              <a:t>命令，配置网络参数，使用</a:t>
            </a:r>
            <a:r>
              <a:rPr lang="en-US" altLang="zh-CN" dirty="0" err="1">
                <a:solidFill>
                  <a:schemeClr val="tx1"/>
                </a:solidFill>
              </a:rPr>
              <a:t>nmcli</a:t>
            </a:r>
            <a:r>
              <a:rPr lang="zh-CN" altLang="en-US" dirty="0">
                <a:solidFill>
                  <a:schemeClr val="tx1"/>
                </a:solidFill>
              </a:rPr>
              <a:t>管理网络</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en-US" altLang="zh-CN" sz="3200" dirty="0">
                <a:solidFill>
                  <a:schemeClr val="tx1"/>
                </a:solidFill>
              </a:rPr>
              <a:t> Linux</a:t>
            </a:r>
            <a:r>
              <a:rPr lang="zh-CN" altLang="en-US" sz="3200" dirty="0">
                <a:solidFill>
                  <a:schemeClr val="tx1"/>
                </a:solidFill>
              </a:rPr>
              <a:t>网络工具</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网络测试工具，</a:t>
            </a:r>
            <a:r>
              <a:rPr lang="en-US" altLang="zh-CN" dirty="0">
                <a:solidFill>
                  <a:prstClr val="black"/>
                </a:solidFill>
              </a:rPr>
              <a:t>Internet</a:t>
            </a:r>
            <a:r>
              <a:rPr lang="zh-CN" altLang="en-US" dirty="0">
                <a:solidFill>
                  <a:prstClr val="black"/>
                </a:solidFill>
              </a:rPr>
              <a:t>网络客户工具，</a:t>
            </a:r>
            <a:r>
              <a:rPr lang="en-US" altLang="zh-CN" dirty="0">
                <a:solidFill>
                  <a:prstClr val="black"/>
                </a:solidFill>
              </a:rPr>
              <a:t>OpenSSH</a:t>
            </a:r>
            <a:r>
              <a:rPr lang="zh-CN" altLang="en-US" dirty="0">
                <a:solidFill>
                  <a:prstClr val="black"/>
                </a:solidFill>
              </a:rPr>
              <a:t>客户工具</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en-US" altLang="zh-CN" sz="3200" dirty="0">
                <a:solidFill>
                  <a:schemeClr val="tx1"/>
                </a:solidFill>
              </a:rPr>
              <a:t> RPM</a:t>
            </a:r>
            <a:r>
              <a:rPr lang="zh-CN" altLang="en-US" sz="3200" dirty="0">
                <a:solidFill>
                  <a:schemeClr val="tx1"/>
                </a:solidFill>
              </a:rPr>
              <a:t>包和</a:t>
            </a:r>
            <a:r>
              <a:rPr lang="en-US" altLang="zh-CN" sz="3200" dirty="0">
                <a:solidFill>
                  <a:schemeClr val="tx1"/>
                </a:solidFill>
              </a:rPr>
              <a:t>YUM</a:t>
            </a:r>
            <a:r>
              <a:rPr lang="zh-CN" altLang="en-US" sz="3200" dirty="0">
                <a:solidFill>
                  <a:schemeClr val="tx1"/>
                </a:solidFill>
              </a:rPr>
              <a:t>配置</a:t>
            </a:r>
            <a:endParaRPr lang="en-US" altLang="zh-CN" sz="3200" dirty="0">
              <a:solidFill>
                <a:schemeClr val="tx1"/>
              </a:solidFill>
            </a:endParaRPr>
          </a:p>
          <a:p>
            <a:pPr lvl="1" algn="l">
              <a:lnSpc>
                <a:spcPct val="110000"/>
              </a:lnSpc>
              <a:spcBef>
                <a:spcPts val="600"/>
              </a:spcBef>
              <a:spcAft>
                <a:spcPts val="600"/>
              </a:spcAft>
            </a:pPr>
            <a:r>
              <a:rPr lang="en-US" altLang="zh-CN" dirty="0">
                <a:solidFill>
                  <a:prstClr val="black"/>
                </a:solidFill>
              </a:rPr>
              <a:t>RPM</a:t>
            </a:r>
            <a:r>
              <a:rPr lang="zh-CN" altLang="en-US" dirty="0">
                <a:solidFill>
                  <a:prstClr val="black"/>
                </a:solidFill>
              </a:rPr>
              <a:t>概述及</a:t>
            </a:r>
            <a:r>
              <a:rPr lang="en-US" altLang="zh-CN" dirty="0">
                <a:solidFill>
                  <a:prstClr val="black"/>
                </a:solidFill>
              </a:rPr>
              <a:t>RPM</a:t>
            </a:r>
            <a:r>
              <a:rPr lang="zh-CN" altLang="en-US" dirty="0">
                <a:solidFill>
                  <a:prstClr val="black"/>
                </a:solidFill>
              </a:rPr>
              <a:t>命令的使用，</a:t>
            </a:r>
            <a:r>
              <a:rPr lang="en-US" altLang="zh-CN" dirty="0">
                <a:solidFill>
                  <a:prstClr val="black"/>
                </a:solidFill>
              </a:rPr>
              <a:t>YUM</a:t>
            </a:r>
            <a:r>
              <a:rPr lang="zh-CN" altLang="en-US" dirty="0">
                <a:solidFill>
                  <a:prstClr val="black"/>
                </a:solidFill>
              </a:rPr>
              <a:t>概述及</a:t>
            </a:r>
            <a:r>
              <a:rPr lang="en-US" altLang="zh-CN" dirty="0">
                <a:solidFill>
                  <a:prstClr val="black"/>
                </a:solidFill>
              </a:rPr>
              <a:t>YUM</a:t>
            </a:r>
            <a:r>
              <a:rPr lang="zh-CN" altLang="en-US" dirty="0">
                <a:solidFill>
                  <a:prstClr val="black"/>
                </a:solidFill>
              </a:rPr>
              <a:t>命令的使用和配置</a:t>
            </a:r>
            <a:endParaRPr lang="en-US" altLang="zh-CN" dirty="0">
              <a:solidFill>
                <a:prstClr val="black"/>
              </a:solidFill>
            </a:endParaRPr>
          </a:p>
          <a:p>
            <a:pPr lvl="1" algn="l">
              <a:lnSpc>
                <a:spcPct val="110000"/>
              </a:lnSpc>
              <a:spcBef>
                <a:spcPts val="600"/>
              </a:spcBef>
              <a:spcAft>
                <a:spcPts val="600"/>
              </a:spcAft>
            </a:pPr>
            <a:endParaRPr lang="zh-CN" altLang="en-US" dirty="0">
              <a:solidFill>
                <a:prstClr val="black"/>
              </a:solidFill>
            </a:endParaRPr>
          </a:p>
        </p:txBody>
      </p:sp>
    </p:spTree>
    <p:extLst>
      <p:ext uri="{BB962C8B-B14F-4D97-AF65-F5344CB8AC3E}">
        <p14:creationId xmlns:p14="http://schemas.microsoft.com/office/powerpoint/2010/main" val="3050899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一 </a:t>
            </a:r>
            <a:r>
              <a:rPr lang="zh-CN" altLang="en-GB" b="1" dirty="0"/>
              <a:t>网络检测</a:t>
            </a:r>
            <a:r>
              <a:rPr lang="zh-CN" altLang="en-US" b="1" dirty="0"/>
              <a:t>的常用工具</a:t>
            </a:r>
            <a:endParaRPr lang="zh-CN" altLang="en-US" dirty="0"/>
          </a:p>
        </p:txBody>
      </p:sp>
      <p:graphicFrame>
        <p:nvGraphicFramePr>
          <p:cNvPr id="7" name="内容占位符 6"/>
          <p:cNvGraphicFramePr>
            <a:graphicFrameLocks noGrp="1"/>
          </p:cNvGraphicFramePr>
          <p:nvPr>
            <p:ph idx="1"/>
            <p:extLst>
              <p:ext uri="{D42A27DB-BD31-4B8C-83A1-F6EECF244321}">
                <p14:modId xmlns:p14="http://schemas.microsoft.com/office/powerpoint/2010/main" val="187215421"/>
              </p:ext>
            </p:extLst>
          </p:nvPr>
        </p:nvGraphicFramePr>
        <p:xfrm>
          <a:off x="683568" y="1700808"/>
          <a:ext cx="8136904" cy="4480560"/>
        </p:xfrm>
        <a:graphic>
          <a:graphicData uri="http://schemas.openxmlformats.org/drawingml/2006/table">
            <a:tbl>
              <a:tblPr firstRow="1" bandRow="1">
                <a:tableStyleId>{21E4AEA4-8DFA-4A89-87EB-49C32662AFE0}</a:tableStyleId>
              </a:tblPr>
              <a:tblGrid>
                <a:gridCol w="3168352">
                  <a:extLst>
                    <a:ext uri="{9D8B030D-6E8A-4147-A177-3AD203B41FA5}">
                      <a16:colId xmlns:a16="http://schemas.microsoft.com/office/drawing/2014/main" val="20000"/>
                    </a:ext>
                  </a:extLst>
                </a:gridCol>
                <a:gridCol w="4968552">
                  <a:extLst>
                    <a:ext uri="{9D8B030D-6E8A-4147-A177-3AD203B41FA5}">
                      <a16:colId xmlns:a16="http://schemas.microsoft.com/office/drawing/2014/main" val="20001"/>
                    </a:ext>
                  </a:extLst>
                </a:gridCol>
              </a:tblGrid>
              <a:tr h="370840">
                <a:tc>
                  <a:txBody>
                    <a:bodyPr/>
                    <a:lstStyle/>
                    <a:p>
                      <a:pPr algn="l"/>
                      <a:r>
                        <a:rPr lang="zh-CN" altLang="en-US" sz="2400" dirty="0">
                          <a:solidFill>
                            <a:srgbClr val="C00000"/>
                          </a:solidFill>
                        </a:rPr>
                        <a:t>命令工具</a:t>
                      </a:r>
                    </a:p>
                  </a:txBody>
                  <a:tcPr/>
                </a:tc>
                <a:tc>
                  <a:txBody>
                    <a:bodyPr/>
                    <a:lstStyle/>
                    <a:p>
                      <a:pPr algn="l"/>
                      <a:r>
                        <a:rPr lang="zh-CN" altLang="en-US" sz="2400" dirty="0">
                          <a:solidFill>
                            <a:srgbClr val="C00000"/>
                          </a:solidFill>
                        </a:rPr>
                        <a:t>功能说明</a:t>
                      </a:r>
                    </a:p>
                  </a:txBody>
                  <a:tcPr/>
                </a:tc>
                <a:extLst>
                  <a:ext uri="{0D108BD9-81ED-4DB2-BD59-A6C34878D82A}">
                    <a16:rowId xmlns:a16="http://schemas.microsoft.com/office/drawing/2014/main" val="10000"/>
                  </a:ext>
                </a:extLst>
              </a:tr>
              <a:tr h="213360">
                <a:tc>
                  <a:txBody>
                    <a:bodyPr/>
                    <a:lstStyle/>
                    <a:p>
                      <a:r>
                        <a:rPr lang="en-US" altLang="zh-CN" sz="2400" b="1" dirty="0">
                          <a:solidFill>
                            <a:srgbClr val="002060"/>
                          </a:solidFill>
                        </a:rPr>
                        <a:t>i</a:t>
                      </a:r>
                      <a:r>
                        <a:rPr lang="en-GB" altLang="zh-CN" sz="2400" b="1" dirty="0" err="1">
                          <a:solidFill>
                            <a:srgbClr val="002060"/>
                          </a:solidFill>
                        </a:rPr>
                        <a:t>fconfig</a:t>
                      </a:r>
                      <a:endParaRPr lang="zh-CN" altLang="en-US" sz="2400" b="1" dirty="0">
                        <a:solidFill>
                          <a:srgbClr val="002060"/>
                        </a:solidFill>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GB" sz="2400" dirty="0"/>
                        <a:t>检测</a:t>
                      </a:r>
                      <a:r>
                        <a:rPr lang="zh-CN" altLang="en-GB" sz="2400" dirty="0">
                          <a:solidFill>
                            <a:srgbClr val="FF0000"/>
                          </a:solidFill>
                        </a:rPr>
                        <a:t>网络接口</a:t>
                      </a:r>
                      <a:r>
                        <a:rPr lang="zh-CN" altLang="en-US" sz="2400" dirty="0"/>
                        <a:t>配置</a:t>
                      </a:r>
                    </a:p>
                  </a:txBody>
                  <a:tcPr/>
                </a:tc>
                <a:extLst>
                  <a:ext uri="{0D108BD9-81ED-4DB2-BD59-A6C34878D82A}">
                    <a16:rowId xmlns:a16="http://schemas.microsoft.com/office/drawing/2014/main" val="10001"/>
                  </a:ext>
                </a:extLst>
              </a:tr>
              <a:tr h="21336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2400" b="1" kern="1200" dirty="0">
                          <a:solidFill>
                            <a:srgbClr val="002060"/>
                          </a:solidFill>
                          <a:latin typeface="+mn-lt"/>
                          <a:ea typeface="+mn-ea"/>
                          <a:cs typeface="+mn-cs"/>
                        </a:rPr>
                        <a:t>route</a:t>
                      </a:r>
                      <a:endParaRPr lang="zh-CN" altLang="en-US" sz="2400" b="1" kern="1200" dirty="0">
                        <a:solidFill>
                          <a:srgbClr val="002060"/>
                        </a:solidFill>
                        <a:latin typeface="+mn-lt"/>
                        <a:ea typeface="+mn-ea"/>
                        <a:cs typeface="+mn-cs"/>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GB" sz="2400" kern="1200" dirty="0">
                          <a:solidFill>
                            <a:schemeClr val="dk1"/>
                          </a:solidFill>
                          <a:latin typeface="+mn-lt"/>
                          <a:ea typeface="+mn-ea"/>
                          <a:cs typeface="+mn-cs"/>
                        </a:rPr>
                        <a:t>检测</a:t>
                      </a:r>
                      <a:r>
                        <a:rPr lang="zh-CN" altLang="en-US" sz="2400" kern="1200" dirty="0">
                          <a:solidFill>
                            <a:srgbClr val="FF0000"/>
                          </a:solidFill>
                          <a:latin typeface="+mn-lt"/>
                          <a:ea typeface="+mn-ea"/>
                          <a:cs typeface="+mn-cs"/>
                        </a:rPr>
                        <a:t>路由</a:t>
                      </a:r>
                      <a:r>
                        <a:rPr lang="zh-CN" altLang="en-US" sz="2400" kern="1200" dirty="0">
                          <a:solidFill>
                            <a:schemeClr val="dk1"/>
                          </a:solidFill>
                          <a:latin typeface="+mn-lt"/>
                          <a:ea typeface="+mn-ea"/>
                          <a:cs typeface="+mn-cs"/>
                        </a:rPr>
                        <a:t>配置</a:t>
                      </a:r>
                    </a:p>
                  </a:txBody>
                  <a:tcPr/>
                </a:tc>
                <a:extLst>
                  <a:ext uri="{0D108BD9-81ED-4DB2-BD59-A6C34878D82A}">
                    <a16:rowId xmlns:a16="http://schemas.microsoft.com/office/drawing/2014/main" val="10002"/>
                  </a:ext>
                </a:extLst>
              </a:tr>
              <a:tr h="370840">
                <a:tc>
                  <a:txBody>
                    <a:bodyPr/>
                    <a:lstStyle/>
                    <a:p>
                      <a:r>
                        <a:rPr lang="en-GB" altLang="zh-CN" sz="2400" b="1" dirty="0">
                          <a:solidFill>
                            <a:srgbClr val="002060"/>
                          </a:solidFill>
                        </a:rPr>
                        <a:t>ping</a:t>
                      </a:r>
                      <a:endParaRPr lang="zh-CN" altLang="en-US" sz="2400" b="1" dirty="0">
                        <a:solidFill>
                          <a:srgbClr val="002060"/>
                        </a:solidFill>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sz="2400" dirty="0"/>
                        <a:t>测试</a:t>
                      </a:r>
                      <a:r>
                        <a:rPr lang="zh-CN" altLang="en-GB" sz="2400" dirty="0">
                          <a:solidFill>
                            <a:srgbClr val="FF0000"/>
                          </a:solidFill>
                        </a:rPr>
                        <a:t>网络连通性</a:t>
                      </a:r>
                      <a:endParaRPr lang="zh-CN" altLang="en-US" sz="2400" dirty="0">
                        <a:solidFill>
                          <a:srgbClr val="FF0000"/>
                        </a:solidFill>
                      </a:endParaRPr>
                    </a:p>
                  </a:txBody>
                  <a:tcPr/>
                </a:tc>
                <a:extLst>
                  <a:ext uri="{0D108BD9-81ED-4DB2-BD59-A6C34878D82A}">
                    <a16:rowId xmlns:a16="http://schemas.microsoft.com/office/drawing/2014/main" val="10003"/>
                  </a:ext>
                </a:extLst>
              </a:tr>
              <a:tr h="370840">
                <a:tc>
                  <a:txBody>
                    <a:bodyPr/>
                    <a:lstStyle/>
                    <a:p>
                      <a:r>
                        <a:rPr lang="en-US" altLang="zh-CN" sz="2400" b="1" dirty="0" err="1">
                          <a:solidFill>
                            <a:srgbClr val="002060"/>
                          </a:solidFill>
                        </a:rPr>
                        <a:t>ss</a:t>
                      </a:r>
                      <a:endParaRPr lang="zh-CN" altLang="en-US" sz="2400" b="1" dirty="0">
                        <a:solidFill>
                          <a:srgbClr val="002060"/>
                        </a:solidFill>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GB" sz="2400" kern="1200" dirty="0">
                          <a:solidFill>
                            <a:schemeClr val="dk1"/>
                          </a:solidFill>
                          <a:latin typeface="+mn-lt"/>
                          <a:ea typeface="+mn-ea"/>
                          <a:cs typeface="+mn-cs"/>
                        </a:rPr>
                        <a:t>查看</a:t>
                      </a:r>
                      <a:r>
                        <a:rPr lang="zh-CN" altLang="en-US" sz="2400" kern="1200" dirty="0">
                          <a:solidFill>
                            <a:srgbClr val="FF0000"/>
                          </a:solidFill>
                          <a:latin typeface="+mn-lt"/>
                          <a:ea typeface="+mn-ea"/>
                          <a:cs typeface="+mn-cs"/>
                        </a:rPr>
                        <a:t>套接字信息</a:t>
                      </a:r>
                    </a:p>
                  </a:txBody>
                  <a:tcPr/>
                </a:tc>
                <a:extLst>
                  <a:ext uri="{0D108BD9-81ED-4DB2-BD59-A6C34878D82A}">
                    <a16:rowId xmlns:a16="http://schemas.microsoft.com/office/drawing/2014/main" val="10004"/>
                  </a:ext>
                </a:extLst>
              </a:tr>
              <a:tr h="370840">
                <a:tc>
                  <a:txBody>
                    <a:bodyPr/>
                    <a:lstStyle/>
                    <a:p>
                      <a:r>
                        <a:rPr lang="en-US" altLang="zh-CN" sz="2400" b="1" dirty="0" err="1">
                          <a:solidFill>
                            <a:srgbClr val="002060"/>
                          </a:solidFill>
                        </a:rPr>
                        <a:t>lsof</a:t>
                      </a:r>
                      <a:endParaRPr lang="zh-CN" altLang="en-US" sz="2400" b="1" dirty="0">
                        <a:solidFill>
                          <a:srgbClr val="002060"/>
                        </a:solidFill>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sz="2400" kern="1200" dirty="0">
                          <a:solidFill>
                            <a:schemeClr val="dk1"/>
                          </a:solidFill>
                          <a:latin typeface="+mn-lt"/>
                          <a:ea typeface="+mn-ea"/>
                          <a:cs typeface="+mn-cs"/>
                        </a:rPr>
                        <a:t>查看指定</a:t>
                      </a:r>
                      <a:r>
                        <a:rPr lang="en-US" altLang="zh-CN" sz="2400" kern="1200" dirty="0">
                          <a:solidFill>
                            <a:schemeClr val="dk1"/>
                          </a:solidFill>
                          <a:latin typeface="+mn-lt"/>
                          <a:ea typeface="+mn-ea"/>
                          <a:cs typeface="+mn-cs"/>
                        </a:rPr>
                        <a:t>IP </a:t>
                      </a:r>
                      <a:r>
                        <a:rPr lang="zh-CN" altLang="en-US" sz="2400" kern="1200" dirty="0">
                          <a:solidFill>
                            <a:schemeClr val="dk1"/>
                          </a:solidFill>
                          <a:latin typeface="+mn-lt"/>
                          <a:ea typeface="+mn-ea"/>
                          <a:cs typeface="+mn-cs"/>
                        </a:rPr>
                        <a:t>和</a:t>
                      </a:r>
                      <a:r>
                        <a:rPr lang="en-US" altLang="zh-CN" sz="2400" kern="1200" dirty="0">
                          <a:solidFill>
                            <a:schemeClr val="dk1"/>
                          </a:solidFill>
                          <a:latin typeface="+mn-lt"/>
                          <a:ea typeface="+mn-ea"/>
                          <a:cs typeface="+mn-cs"/>
                        </a:rPr>
                        <a:t>/</a:t>
                      </a:r>
                      <a:r>
                        <a:rPr lang="zh-CN" altLang="en-US" sz="2400" kern="1200" dirty="0">
                          <a:solidFill>
                            <a:schemeClr val="dk1"/>
                          </a:solidFill>
                          <a:latin typeface="+mn-lt"/>
                          <a:ea typeface="+mn-ea"/>
                          <a:cs typeface="+mn-cs"/>
                        </a:rPr>
                        <a:t>或 端口的进程的当前运行情况</a:t>
                      </a:r>
                    </a:p>
                  </a:txBody>
                  <a:tcPr/>
                </a:tc>
                <a:extLst>
                  <a:ext uri="{0D108BD9-81ED-4DB2-BD59-A6C34878D82A}">
                    <a16:rowId xmlns:a16="http://schemas.microsoft.com/office/drawing/2014/main" val="10005"/>
                  </a:ext>
                </a:extLst>
              </a:tr>
              <a:tr h="370840">
                <a:tc>
                  <a:txBody>
                    <a:bodyPr/>
                    <a:lstStyle/>
                    <a:p>
                      <a:r>
                        <a:rPr lang="en-US" altLang="zh-CN" sz="2400" b="1" dirty="0">
                          <a:solidFill>
                            <a:srgbClr val="002060"/>
                          </a:solidFill>
                        </a:rPr>
                        <a:t>host/dig/</a:t>
                      </a:r>
                      <a:r>
                        <a:rPr lang="en-US" altLang="zh-CN" sz="2400" b="1" dirty="0" err="1">
                          <a:solidFill>
                            <a:srgbClr val="002060"/>
                          </a:solidFill>
                        </a:rPr>
                        <a:t>nslookup</a:t>
                      </a:r>
                      <a:endParaRPr lang="zh-CN" altLang="en-US" sz="2400" b="1" dirty="0">
                        <a:solidFill>
                          <a:srgbClr val="002060"/>
                        </a:solidFill>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sz="2400" kern="1200" dirty="0">
                          <a:solidFill>
                            <a:schemeClr val="dk1"/>
                          </a:solidFill>
                          <a:latin typeface="+mn-lt"/>
                          <a:ea typeface="+mn-ea"/>
                          <a:cs typeface="+mn-cs"/>
                        </a:rPr>
                        <a:t>检测</a:t>
                      </a:r>
                      <a:r>
                        <a:rPr lang="en-US" altLang="zh-CN" sz="2400" kern="1200" dirty="0">
                          <a:solidFill>
                            <a:schemeClr val="dk1"/>
                          </a:solidFill>
                          <a:latin typeface="+mn-lt"/>
                          <a:ea typeface="+mn-ea"/>
                          <a:cs typeface="+mn-cs"/>
                        </a:rPr>
                        <a:t>DNS</a:t>
                      </a:r>
                      <a:r>
                        <a:rPr lang="zh-CN" altLang="en-US" sz="2400" kern="1200" dirty="0">
                          <a:solidFill>
                            <a:schemeClr val="dk1"/>
                          </a:solidFill>
                          <a:latin typeface="+mn-lt"/>
                          <a:ea typeface="+mn-ea"/>
                          <a:cs typeface="+mn-cs"/>
                        </a:rPr>
                        <a:t>解析</a:t>
                      </a:r>
                    </a:p>
                  </a:txBody>
                  <a:tcPr/>
                </a:tc>
                <a:extLst>
                  <a:ext uri="{0D108BD9-81ED-4DB2-BD59-A6C34878D82A}">
                    <a16:rowId xmlns:a16="http://schemas.microsoft.com/office/drawing/2014/main" val="10006"/>
                  </a:ext>
                </a:extLst>
              </a:tr>
              <a:tr h="12361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b="1" dirty="0" err="1">
                          <a:solidFill>
                            <a:srgbClr val="002060"/>
                          </a:solidFill>
                        </a:rPr>
                        <a:t>traceroute</a:t>
                      </a:r>
                      <a:endParaRPr lang="zh-CN" altLang="en-US" sz="2400" b="1" dirty="0">
                        <a:solidFill>
                          <a:srgbClr val="002060"/>
                        </a:solidFill>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GB" sz="2400" dirty="0"/>
                        <a:t>检测到目的主机所经过的路由器</a:t>
                      </a:r>
                      <a:endParaRPr lang="zh-CN" altLang="en-US" sz="2400" dirty="0"/>
                    </a:p>
                  </a:txBody>
                  <a:tcPr/>
                </a:tc>
                <a:extLst>
                  <a:ext uri="{0D108BD9-81ED-4DB2-BD59-A6C34878D82A}">
                    <a16:rowId xmlns:a16="http://schemas.microsoft.com/office/drawing/2014/main" val="10007"/>
                  </a:ext>
                </a:extLst>
              </a:tr>
              <a:tr h="242147">
                <a:tc>
                  <a:txBody>
                    <a:bodyPr/>
                    <a:lstStyle/>
                    <a:p>
                      <a:r>
                        <a:rPr lang="en-US" altLang="zh-CN" sz="2400" b="1" dirty="0" err="1">
                          <a:solidFill>
                            <a:srgbClr val="002060"/>
                          </a:solidFill>
                        </a:rPr>
                        <a:t>tcpdump</a:t>
                      </a:r>
                      <a:endParaRPr lang="zh-CN" altLang="en-US" sz="2400" b="1" dirty="0">
                        <a:solidFill>
                          <a:srgbClr val="002060"/>
                        </a:solidFill>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GB" sz="2400" dirty="0"/>
                        <a:t>显示本机网络流量的状态</a:t>
                      </a:r>
                      <a:endParaRPr lang="zh-CN" altLang="en-US" sz="2400" dirty="0"/>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ping</a:t>
            </a:r>
            <a:r>
              <a:rPr lang="zh-CN" altLang="en-US" dirty="0"/>
              <a:t>和</a:t>
            </a:r>
            <a:r>
              <a:rPr lang="en-US" altLang="zh-CN" dirty="0" err="1"/>
              <a:t>traceroute</a:t>
            </a:r>
            <a:endParaRPr lang="zh-CN" altLang="en-US" dirty="0"/>
          </a:p>
        </p:txBody>
      </p:sp>
      <p:sp>
        <p:nvSpPr>
          <p:cNvPr id="3" name="内容占位符 2"/>
          <p:cNvSpPr>
            <a:spLocks noGrp="1"/>
          </p:cNvSpPr>
          <p:nvPr>
            <p:ph idx="1"/>
          </p:nvPr>
        </p:nvSpPr>
        <p:spPr>
          <a:xfrm>
            <a:off x="971600" y="1484784"/>
            <a:ext cx="7772400" cy="5037485"/>
          </a:xfrm>
        </p:spPr>
        <p:txBody>
          <a:bodyPr/>
          <a:lstStyle/>
          <a:p>
            <a:r>
              <a:rPr lang="en-US" altLang="zh-CN" dirty="0"/>
              <a:t>ping</a:t>
            </a:r>
          </a:p>
          <a:p>
            <a:pPr lvl="1"/>
            <a:r>
              <a:rPr lang="zh-CN" altLang="zh-CN" dirty="0">
                <a:solidFill>
                  <a:srgbClr val="FF0000"/>
                </a:solidFill>
              </a:rPr>
              <a:t>测试网络的连通性</a:t>
            </a:r>
            <a:endParaRPr lang="en-US" altLang="zh-CN" dirty="0">
              <a:solidFill>
                <a:srgbClr val="FF0000"/>
              </a:solidFill>
            </a:endParaRPr>
          </a:p>
          <a:p>
            <a:pPr lvl="1"/>
            <a:r>
              <a:rPr lang="zh-CN" altLang="en-US" dirty="0"/>
              <a:t>例如：</a:t>
            </a:r>
            <a:endParaRPr lang="en-US" altLang="zh-CN" dirty="0"/>
          </a:p>
          <a:p>
            <a:pPr lvl="1">
              <a:buNone/>
            </a:pPr>
            <a:r>
              <a:rPr lang="en-US" altLang="zh-CN" sz="2800" dirty="0">
                <a:solidFill>
                  <a:srgbClr val="002060"/>
                </a:solidFill>
              </a:rPr>
              <a:t># ping www.sina.com.cn</a:t>
            </a:r>
            <a:endParaRPr lang="zh-CN" altLang="zh-CN" sz="2800" dirty="0">
              <a:solidFill>
                <a:srgbClr val="002060"/>
              </a:solidFill>
            </a:endParaRPr>
          </a:p>
          <a:p>
            <a:pPr lvl="1">
              <a:buNone/>
            </a:pPr>
            <a:r>
              <a:rPr lang="en-US" altLang="zh-CN" sz="2800" dirty="0">
                <a:solidFill>
                  <a:srgbClr val="002060"/>
                </a:solidFill>
              </a:rPr>
              <a:t># ping -c 4 192.168.1.12</a:t>
            </a:r>
            <a:endParaRPr lang="en-US" altLang="zh-CN" dirty="0">
              <a:solidFill>
                <a:srgbClr val="002060"/>
              </a:solidFill>
            </a:endParaRPr>
          </a:p>
          <a:p>
            <a:r>
              <a:rPr lang="en-US" altLang="zh-CN" dirty="0" err="1"/>
              <a:t>traceroute</a:t>
            </a:r>
            <a:endParaRPr lang="en-US" altLang="zh-CN" dirty="0"/>
          </a:p>
          <a:p>
            <a:pPr lvl="1"/>
            <a:r>
              <a:rPr lang="zh-CN" altLang="en-US" dirty="0">
                <a:solidFill>
                  <a:srgbClr val="FF0000"/>
                </a:solidFill>
              </a:rPr>
              <a:t>显示数据包到达目的主机所经过的路由</a:t>
            </a:r>
            <a:endParaRPr lang="en-US" altLang="zh-CN" dirty="0">
              <a:solidFill>
                <a:srgbClr val="FF0000"/>
              </a:solidFill>
            </a:endParaRPr>
          </a:p>
          <a:p>
            <a:pPr lvl="1"/>
            <a:r>
              <a:rPr lang="zh-CN" altLang="en-US" dirty="0"/>
              <a:t>例如：</a:t>
            </a:r>
            <a:endParaRPr lang="en-US" altLang="zh-CN" dirty="0"/>
          </a:p>
          <a:p>
            <a:pPr lvl="1">
              <a:buNone/>
            </a:pPr>
            <a:r>
              <a:rPr lang="en-US" altLang="zh-CN" dirty="0">
                <a:solidFill>
                  <a:srgbClr val="002060"/>
                </a:solidFill>
              </a:rPr>
              <a:t># </a:t>
            </a:r>
            <a:r>
              <a:rPr lang="en-US" altLang="zh-CN" dirty="0" err="1">
                <a:solidFill>
                  <a:srgbClr val="002060"/>
                </a:solidFill>
              </a:rPr>
              <a:t>traceroute</a:t>
            </a:r>
            <a:r>
              <a:rPr lang="en-US" altLang="zh-CN" dirty="0">
                <a:solidFill>
                  <a:srgbClr val="002060"/>
                </a:solidFill>
              </a:rPr>
              <a:t>  www.sina.com.cn</a:t>
            </a:r>
            <a:endParaRPr lang="zh-CN" altLang="en-US" dirty="0">
              <a:solidFill>
                <a:srgbClr val="00206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查看网络端口的使用情况</a:t>
            </a:r>
          </a:p>
        </p:txBody>
      </p:sp>
      <p:sp>
        <p:nvSpPr>
          <p:cNvPr id="3" name="内容占位符 2"/>
          <p:cNvSpPr>
            <a:spLocks noGrp="1"/>
          </p:cNvSpPr>
          <p:nvPr>
            <p:ph idx="1"/>
          </p:nvPr>
        </p:nvSpPr>
        <p:spPr>
          <a:xfrm>
            <a:off x="971600" y="1244228"/>
            <a:ext cx="7906072" cy="4790157"/>
          </a:xfrm>
        </p:spPr>
        <p:txBody>
          <a:bodyPr/>
          <a:lstStyle/>
          <a:p>
            <a:pPr>
              <a:spcBef>
                <a:spcPts val="600"/>
              </a:spcBef>
            </a:pPr>
            <a:r>
              <a:rPr lang="en-US" altLang="zh-CN" dirty="0"/>
              <a:t>netstat — </a:t>
            </a:r>
            <a:r>
              <a:rPr lang="zh-CN" altLang="en-US" dirty="0">
                <a:solidFill>
                  <a:srgbClr val="FF0000"/>
                </a:solidFill>
              </a:rPr>
              <a:t>查看网络端口 </a:t>
            </a:r>
          </a:p>
          <a:p>
            <a:pPr lvl="1">
              <a:spcBef>
                <a:spcPts val="600"/>
              </a:spcBef>
              <a:buNone/>
            </a:pPr>
            <a:r>
              <a:rPr lang="en-US" altLang="zh-CN" sz="2400" dirty="0">
                <a:solidFill>
                  <a:schemeClr val="accent6">
                    <a:lumMod val="75000"/>
                  </a:schemeClr>
                </a:solidFill>
              </a:rPr>
              <a:t># </a:t>
            </a:r>
            <a:r>
              <a:rPr lang="en-US" altLang="zh-CN" sz="2400" dirty="0" err="1">
                <a:solidFill>
                  <a:schemeClr val="accent6">
                    <a:lumMod val="75000"/>
                  </a:schemeClr>
                </a:solidFill>
              </a:rPr>
              <a:t>netstat</a:t>
            </a:r>
            <a:r>
              <a:rPr lang="en-US" altLang="zh-CN" sz="2400" dirty="0">
                <a:solidFill>
                  <a:schemeClr val="accent6">
                    <a:lumMod val="75000"/>
                  </a:schemeClr>
                </a:solidFill>
              </a:rPr>
              <a:t> -an </a:t>
            </a:r>
          </a:p>
          <a:p>
            <a:pPr lvl="1">
              <a:spcBef>
                <a:spcPts val="600"/>
              </a:spcBef>
              <a:buNone/>
            </a:pPr>
            <a:r>
              <a:rPr lang="en-US" altLang="zh-CN" sz="2400" dirty="0">
                <a:solidFill>
                  <a:schemeClr val="accent6">
                    <a:lumMod val="75000"/>
                  </a:schemeClr>
                </a:solidFill>
              </a:rPr>
              <a:t># </a:t>
            </a:r>
            <a:r>
              <a:rPr lang="en-US" altLang="zh-CN" sz="2400" dirty="0" err="1">
                <a:solidFill>
                  <a:schemeClr val="accent6">
                    <a:lumMod val="75000"/>
                  </a:schemeClr>
                </a:solidFill>
              </a:rPr>
              <a:t>netstat</a:t>
            </a:r>
            <a:r>
              <a:rPr lang="en-US" altLang="zh-CN" sz="2400" dirty="0">
                <a:solidFill>
                  <a:schemeClr val="accent6">
                    <a:lumMod val="75000"/>
                  </a:schemeClr>
                </a:solidFill>
              </a:rPr>
              <a:t> -</a:t>
            </a:r>
            <a:r>
              <a:rPr lang="en-US" altLang="zh-CN" sz="2400" dirty="0" err="1">
                <a:solidFill>
                  <a:schemeClr val="accent6">
                    <a:lumMod val="75000"/>
                  </a:schemeClr>
                </a:solidFill>
              </a:rPr>
              <a:t>lunpt</a:t>
            </a:r>
            <a:endParaRPr lang="en-US" altLang="zh-CN" sz="2400" dirty="0">
              <a:solidFill>
                <a:schemeClr val="accent6">
                  <a:lumMod val="75000"/>
                </a:schemeClr>
              </a:solidFill>
            </a:endParaRPr>
          </a:p>
          <a:p>
            <a:pPr>
              <a:spcBef>
                <a:spcPts val="500"/>
              </a:spcBef>
            </a:pPr>
            <a:r>
              <a:rPr lang="en-US" altLang="zh-CN" dirty="0" err="1"/>
              <a:t>lsof</a:t>
            </a:r>
            <a:r>
              <a:rPr lang="en-US" altLang="zh-CN" dirty="0"/>
              <a:t> — </a:t>
            </a:r>
            <a:r>
              <a:rPr lang="zh-CN" altLang="en-US" dirty="0">
                <a:solidFill>
                  <a:srgbClr val="FF0000"/>
                </a:solidFill>
              </a:rPr>
              <a:t>查看在指定</a:t>
            </a:r>
            <a:r>
              <a:rPr lang="en-US" altLang="zh-CN" dirty="0">
                <a:solidFill>
                  <a:srgbClr val="FF0000"/>
                </a:solidFill>
              </a:rPr>
              <a:t>IP </a:t>
            </a:r>
            <a:r>
              <a:rPr lang="zh-CN" altLang="en-US" dirty="0">
                <a:solidFill>
                  <a:srgbClr val="FF0000"/>
                </a:solidFill>
              </a:rPr>
              <a:t>和</a:t>
            </a:r>
            <a:r>
              <a:rPr lang="en-US" altLang="zh-CN" dirty="0">
                <a:solidFill>
                  <a:srgbClr val="FF0000"/>
                </a:solidFill>
              </a:rPr>
              <a:t>/</a:t>
            </a:r>
            <a:r>
              <a:rPr lang="zh-CN" altLang="en-US" dirty="0">
                <a:solidFill>
                  <a:srgbClr val="FF0000"/>
                </a:solidFill>
              </a:rPr>
              <a:t>或 端口上打开的进程</a:t>
            </a:r>
          </a:p>
          <a:p>
            <a:pPr lvl="1">
              <a:spcBef>
                <a:spcPts val="500"/>
              </a:spcBef>
            </a:pPr>
            <a:r>
              <a:rPr lang="zh-CN" altLang="en-US" dirty="0"/>
              <a:t>查看指定</a:t>
            </a:r>
            <a:r>
              <a:rPr lang="en-US" altLang="zh-CN" dirty="0"/>
              <a:t>IP</a:t>
            </a:r>
            <a:r>
              <a:rPr lang="zh-CN" altLang="en-US" dirty="0"/>
              <a:t>的进程的运行情况 </a:t>
            </a:r>
          </a:p>
          <a:p>
            <a:pPr lvl="2">
              <a:spcBef>
                <a:spcPts val="500"/>
              </a:spcBef>
              <a:buNone/>
            </a:pPr>
            <a:r>
              <a:rPr lang="en-US" altLang="zh-CN" sz="2000" dirty="0">
                <a:solidFill>
                  <a:schemeClr val="accent6">
                    <a:lumMod val="75000"/>
                  </a:schemeClr>
                </a:solidFill>
              </a:rPr>
              <a:t># </a:t>
            </a:r>
            <a:r>
              <a:rPr lang="en-US" altLang="zh-CN" sz="2000" dirty="0" err="1">
                <a:solidFill>
                  <a:schemeClr val="accent6">
                    <a:lumMod val="75000"/>
                  </a:schemeClr>
                </a:solidFill>
              </a:rPr>
              <a:t>lsof</a:t>
            </a:r>
            <a:r>
              <a:rPr lang="en-US" altLang="zh-CN" sz="2000" dirty="0">
                <a:solidFill>
                  <a:schemeClr val="accent6">
                    <a:lumMod val="75000"/>
                  </a:schemeClr>
                </a:solidFill>
              </a:rPr>
              <a:t> -i @192.168.0.200</a:t>
            </a:r>
          </a:p>
          <a:p>
            <a:pPr lvl="2">
              <a:spcBef>
                <a:spcPts val="500"/>
              </a:spcBef>
              <a:buNone/>
            </a:pPr>
            <a:r>
              <a:rPr lang="en-US" altLang="zh-CN" sz="2000" dirty="0">
                <a:solidFill>
                  <a:schemeClr val="accent6">
                    <a:lumMod val="75000"/>
                  </a:schemeClr>
                </a:solidFill>
              </a:rPr>
              <a:t># </a:t>
            </a:r>
            <a:r>
              <a:rPr lang="en-US" altLang="zh-CN" sz="2000" dirty="0" err="1">
                <a:solidFill>
                  <a:schemeClr val="accent6">
                    <a:lumMod val="75000"/>
                  </a:schemeClr>
                </a:solidFill>
              </a:rPr>
              <a:t>lsof</a:t>
            </a:r>
            <a:r>
              <a:rPr lang="en-US" altLang="zh-CN" sz="2000" dirty="0">
                <a:solidFill>
                  <a:schemeClr val="accent6">
                    <a:lumMod val="75000"/>
                  </a:schemeClr>
                </a:solidFill>
              </a:rPr>
              <a:t> -n -i UDP@192.168.0.200</a:t>
            </a:r>
          </a:p>
          <a:p>
            <a:pPr lvl="1">
              <a:spcBef>
                <a:spcPts val="500"/>
              </a:spcBef>
            </a:pPr>
            <a:r>
              <a:rPr lang="zh-CN" altLang="en-US" dirty="0"/>
              <a:t>查看指定端口运行的程序 </a:t>
            </a:r>
          </a:p>
          <a:p>
            <a:pPr lvl="2">
              <a:spcBef>
                <a:spcPts val="500"/>
              </a:spcBef>
              <a:buNone/>
            </a:pPr>
            <a:r>
              <a:rPr lang="en-US" altLang="zh-CN" sz="2000" dirty="0">
                <a:solidFill>
                  <a:schemeClr val="accent6">
                    <a:lumMod val="75000"/>
                  </a:schemeClr>
                </a:solidFill>
              </a:rPr>
              <a:t># </a:t>
            </a:r>
            <a:r>
              <a:rPr lang="en-US" altLang="zh-CN" sz="2000" dirty="0" err="1">
                <a:solidFill>
                  <a:schemeClr val="accent6">
                    <a:lumMod val="75000"/>
                  </a:schemeClr>
                </a:solidFill>
              </a:rPr>
              <a:t>lsof</a:t>
            </a:r>
            <a:r>
              <a:rPr lang="en-US" altLang="zh-CN" sz="2000" dirty="0">
                <a:solidFill>
                  <a:schemeClr val="accent6">
                    <a:lumMod val="75000"/>
                  </a:schemeClr>
                </a:solidFill>
              </a:rPr>
              <a:t> -i :ssh</a:t>
            </a:r>
          </a:p>
          <a:p>
            <a:pPr lvl="2">
              <a:spcBef>
                <a:spcPts val="500"/>
              </a:spcBef>
              <a:buNone/>
            </a:pPr>
            <a:r>
              <a:rPr lang="en-US" altLang="zh-CN" sz="2000" dirty="0">
                <a:solidFill>
                  <a:schemeClr val="accent6">
                    <a:lumMod val="75000"/>
                  </a:schemeClr>
                </a:solidFill>
              </a:rPr>
              <a:t># </a:t>
            </a:r>
            <a:r>
              <a:rPr lang="en-US" altLang="zh-CN" sz="2000" dirty="0" err="1">
                <a:solidFill>
                  <a:schemeClr val="accent6">
                    <a:lumMod val="75000"/>
                  </a:schemeClr>
                </a:solidFill>
              </a:rPr>
              <a:t>lsof</a:t>
            </a:r>
            <a:r>
              <a:rPr lang="en-US" altLang="zh-CN" sz="2000" dirty="0">
                <a:solidFill>
                  <a:schemeClr val="accent6">
                    <a:lumMod val="75000"/>
                  </a:schemeClr>
                </a:solidFill>
              </a:rPr>
              <a:t> -i :22</a:t>
            </a:r>
          </a:p>
          <a:p>
            <a:pPr>
              <a:spcBef>
                <a:spcPts val="500"/>
              </a:spcBef>
            </a:pPr>
            <a:r>
              <a:rPr lang="en-US" altLang="zh-CN" dirty="0" err="1"/>
              <a:t>nmap</a:t>
            </a:r>
            <a:r>
              <a:rPr lang="en-US" altLang="zh-CN" dirty="0"/>
              <a:t> — </a:t>
            </a:r>
            <a:r>
              <a:rPr lang="zh-CN" altLang="en-US" dirty="0">
                <a:solidFill>
                  <a:srgbClr val="FF0000"/>
                </a:solidFill>
              </a:rPr>
              <a:t>端口扫描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查看套接字统计信息</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4067167320"/>
              </p:ext>
            </p:extLst>
          </p:nvPr>
        </p:nvGraphicFramePr>
        <p:xfrm>
          <a:off x="555785" y="1458768"/>
          <a:ext cx="8280920" cy="1584960"/>
        </p:xfrm>
        <a:graphic>
          <a:graphicData uri="http://schemas.openxmlformats.org/drawingml/2006/table">
            <a:tbl>
              <a:tblPr firstRow="1" bandRow="1">
                <a:tableStyleId>{5C22544A-7EE6-4342-B048-85BDC9FD1C3A}</a:tableStyleId>
              </a:tblPr>
              <a:tblGrid>
                <a:gridCol w="3024336">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224136">
                  <a:extLst>
                    <a:ext uri="{9D8B030D-6E8A-4147-A177-3AD203B41FA5}">
                      <a16:colId xmlns:a16="http://schemas.microsoft.com/office/drawing/2014/main" val="20002"/>
                    </a:ext>
                  </a:extLst>
                </a:gridCol>
                <a:gridCol w="1296144">
                  <a:extLst>
                    <a:ext uri="{9D8B030D-6E8A-4147-A177-3AD203B41FA5}">
                      <a16:colId xmlns:a16="http://schemas.microsoft.com/office/drawing/2014/main" val="20003"/>
                    </a:ext>
                  </a:extLst>
                </a:gridCol>
                <a:gridCol w="1512168">
                  <a:extLst>
                    <a:ext uri="{9D8B030D-6E8A-4147-A177-3AD203B41FA5}">
                      <a16:colId xmlns:a16="http://schemas.microsoft.com/office/drawing/2014/main" val="20004"/>
                    </a:ext>
                  </a:extLst>
                </a:gridCol>
              </a:tblGrid>
              <a:tr h="370840">
                <a:tc>
                  <a:txBody>
                    <a:bodyPr/>
                    <a:lstStyle/>
                    <a:p>
                      <a:endParaRPr lang="zh-CN" altLang="en-US" sz="2000" dirty="0"/>
                    </a:p>
                  </a:txBody>
                  <a:tcPr marL="86360" marR="86360"/>
                </a:tc>
                <a:tc>
                  <a:txBody>
                    <a:bodyPr/>
                    <a:lstStyle/>
                    <a:p>
                      <a:r>
                        <a:rPr lang="zh-CN" altLang="en-US" sz="2000" dirty="0">
                          <a:solidFill>
                            <a:srgbClr val="C00000"/>
                          </a:solidFill>
                        </a:rPr>
                        <a:t>所有类型</a:t>
                      </a:r>
                    </a:p>
                  </a:txBody>
                  <a:tcPr marL="86360" marR="86360"/>
                </a:tc>
                <a:tc>
                  <a:txBody>
                    <a:bodyPr/>
                    <a:lstStyle/>
                    <a:p>
                      <a:r>
                        <a:rPr lang="en-US" altLang="zh-CN" sz="2000" dirty="0">
                          <a:solidFill>
                            <a:srgbClr val="C00000"/>
                          </a:solidFill>
                        </a:rPr>
                        <a:t>TCP</a:t>
                      </a:r>
                      <a:r>
                        <a:rPr lang="zh-CN" altLang="en-US" sz="2000" dirty="0">
                          <a:solidFill>
                            <a:srgbClr val="C00000"/>
                          </a:solidFill>
                        </a:rPr>
                        <a:t>类型</a:t>
                      </a:r>
                    </a:p>
                  </a:txBody>
                  <a:tcPr marL="86360" marR="86360"/>
                </a:tc>
                <a:tc>
                  <a:txBody>
                    <a:bodyPr/>
                    <a:lstStyle/>
                    <a:p>
                      <a:r>
                        <a:rPr lang="en-US" altLang="zh-CN" sz="2000" dirty="0">
                          <a:solidFill>
                            <a:srgbClr val="C00000"/>
                          </a:solidFill>
                        </a:rPr>
                        <a:t>UDP</a:t>
                      </a:r>
                      <a:r>
                        <a:rPr lang="zh-CN" altLang="en-US" sz="2000" dirty="0">
                          <a:solidFill>
                            <a:srgbClr val="C00000"/>
                          </a:solidFill>
                        </a:rPr>
                        <a:t>类型</a:t>
                      </a:r>
                    </a:p>
                  </a:txBody>
                  <a:tcPr marL="86360" marR="86360"/>
                </a:tc>
                <a:tc>
                  <a:txBody>
                    <a:bodyPr/>
                    <a:lstStyle/>
                    <a:p>
                      <a:r>
                        <a:rPr lang="en-US" altLang="zh-CN" sz="2000" dirty="0">
                          <a:solidFill>
                            <a:srgbClr val="C00000"/>
                          </a:solidFill>
                        </a:rPr>
                        <a:t>TCP</a:t>
                      </a:r>
                      <a:r>
                        <a:rPr lang="zh-CN" altLang="en-US" sz="2000" dirty="0">
                          <a:solidFill>
                            <a:srgbClr val="C00000"/>
                          </a:solidFill>
                        </a:rPr>
                        <a:t>和</a:t>
                      </a:r>
                      <a:r>
                        <a:rPr lang="en-US" altLang="zh-CN" sz="2000" dirty="0">
                          <a:solidFill>
                            <a:srgbClr val="C00000"/>
                          </a:solidFill>
                        </a:rPr>
                        <a:t>UDP</a:t>
                      </a:r>
                      <a:endParaRPr lang="zh-CN" altLang="en-US" sz="2000" dirty="0">
                        <a:solidFill>
                          <a:srgbClr val="C00000"/>
                        </a:solidFill>
                      </a:endParaRPr>
                    </a:p>
                  </a:txBody>
                  <a:tcPr marL="86360" marR="86360"/>
                </a:tc>
                <a:extLst>
                  <a:ext uri="{0D108BD9-81ED-4DB2-BD59-A6C34878D82A}">
                    <a16:rowId xmlns:a16="http://schemas.microsoft.com/office/drawing/2014/main" val="10000"/>
                  </a:ext>
                </a:extLst>
              </a:tr>
              <a:tr h="370840">
                <a:tc>
                  <a:txBody>
                    <a:bodyPr/>
                    <a:lstStyle/>
                    <a:p>
                      <a:r>
                        <a:rPr lang="zh-CN" altLang="zh-CN" sz="2000" kern="1200" dirty="0">
                          <a:solidFill>
                            <a:schemeClr val="dk1"/>
                          </a:solidFill>
                          <a:effectLst/>
                          <a:latin typeface="+mn-lt"/>
                          <a:ea typeface="+mn-ea"/>
                          <a:cs typeface="+mn-cs"/>
                        </a:rPr>
                        <a:t>显示</a:t>
                      </a:r>
                      <a:r>
                        <a:rPr lang="zh-CN" altLang="zh-CN" sz="2000" kern="1200" dirty="0">
                          <a:solidFill>
                            <a:srgbClr val="FF0000"/>
                          </a:solidFill>
                          <a:effectLst/>
                          <a:latin typeface="+mn-lt"/>
                          <a:ea typeface="+mn-ea"/>
                          <a:cs typeface="+mn-cs"/>
                        </a:rPr>
                        <a:t>已建立连接</a:t>
                      </a:r>
                      <a:r>
                        <a:rPr lang="zh-CN" altLang="zh-CN" sz="2000" kern="1200" dirty="0">
                          <a:solidFill>
                            <a:schemeClr val="dk1"/>
                          </a:solidFill>
                          <a:effectLst/>
                          <a:latin typeface="+mn-lt"/>
                          <a:ea typeface="+mn-ea"/>
                          <a:cs typeface="+mn-cs"/>
                        </a:rPr>
                        <a:t>的</a:t>
                      </a:r>
                      <a:r>
                        <a:rPr lang="en-US" altLang="zh-CN" sz="2000" kern="1200" dirty="0">
                          <a:solidFill>
                            <a:schemeClr val="dk1"/>
                          </a:solidFill>
                          <a:effectLst/>
                          <a:latin typeface="+mn-lt"/>
                          <a:ea typeface="+mn-ea"/>
                          <a:cs typeface="+mn-cs"/>
                        </a:rPr>
                        <a:t>Socket</a:t>
                      </a:r>
                      <a:endParaRPr lang="zh-CN" altLang="en-US" sz="2000" dirty="0"/>
                    </a:p>
                  </a:txBody>
                  <a:tcPr marL="86360" marR="86360"/>
                </a:tc>
                <a:tc>
                  <a:txBody>
                    <a:bodyPr/>
                    <a:lstStyle/>
                    <a:p>
                      <a:r>
                        <a:rPr lang="en-US" altLang="zh-CN" sz="2000" dirty="0" err="1"/>
                        <a:t>ss</a:t>
                      </a:r>
                      <a:endParaRPr lang="zh-CN" altLang="en-US" sz="2000" dirty="0"/>
                    </a:p>
                  </a:txBody>
                  <a:tcPr marL="86360" marR="8636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err="1"/>
                        <a:t>ss</a:t>
                      </a:r>
                      <a:r>
                        <a:rPr lang="zh-CN" altLang="en-US" sz="2000" baseline="0" dirty="0"/>
                        <a:t> </a:t>
                      </a:r>
                      <a:r>
                        <a:rPr lang="en-US" altLang="zh-CN" sz="2000" baseline="0" dirty="0"/>
                        <a:t>-t</a:t>
                      </a:r>
                      <a:endParaRPr lang="zh-CN" altLang="en-US" sz="2000" dirty="0"/>
                    </a:p>
                  </a:txBody>
                  <a:tcPr marL="86360" marR="8636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err="1"/>
                        <a:t>ss</a:t>
                      </a:r>
                      <a:r>
                        <a:rPr lang="zh-CN" altLang="en-US" sz="2000" baseline="0" dirty="0"/>
                        <a:t> </a:t>
                      </a:r>
                      <a:r>
                        <a:rPr lang="en-US" altLang="zh-CN" sz="2000" baseline="0" dirty="0"/>
                        <a:t>-u</a:t>
                      </a:r>
                      <a:endParaRPr lang="zh-CN" altLang="en-US" sz="2000" dirty="0"/>
                    </a:p>
                  </a:txBody>
                  <a:tcPr marL="86360" marR="8636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err="1"/>
                        <a:t>ss</a:t>
                      </a:r>
                      <a:r>
                        <a:rPr lang="zh-CN" altLang="en-US" sz="2000" baseline="0" dirty="0"/>
                        <a:t> </a:t>
                      </a:r>
                      <a:r>
                        <a:rPr lang="en-US" altLang="zh-CN" sz="2000" baseline="0" dirty="0"/>
                        <a:t>-</a:t>
                      </a:r>
                      <a:r>
                        <a:rPr lang="en-US" altLang="zh-CN" sz="2000" baseline="0" dirty="0" err="1"/>
                        <a:t>tu</a:t>
                      </a:r>
                      <a:endParaRPr lang="zh-CN" altLang="en-US" sz="2000" dirty="0"/>
                    </a:p>
                  </a:txBody>
                  <a:tcPr marL="86360" marR="86360"/>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2000" kern="1200" dirty="0">
                          <a:solidFill>
                            <a:schemeClr val="dk1"/>
                          </a:solidFill>
                          <a:effectLst/>
                          <a:latin typeface="+mn-lt"/>
                          <a:ea typeface="+mn-ea"/>
                          <a:cs typeface="+mn-cs"/>
                        </a:rPr>
                        <a:t>显示</a:t>
                      </a:r>
                      <a:r>
                        <a:rPr lang="zh-CN" altLang="zh-CN" sz="2000" kern="1200" dirty="0">
                          <a:solidFill>
                            <a:srgbClr val="FF0000"/>
                          </a:solidFill>
                          <a:effectLst/>
                          <a:latin typeface="+mn-lt"/>
                          <a:ea typeface="+mn-ea"/>
                          <a:cs typeface="+mn-cs"/>
                        </a:rPr>
                        <a:t>所有</a:t>
                      </a:r>
                      <a:r>
                        <a:rPr lang="en-US" altLang="zh-CN" sz="2000" kern="1200" dirty="0">
                          <a:solidFill>
                            <a:schemeClr val="dk1"/>
                          </a:solidFill>
                          <a:effectLst/>
                          <a:latin typeface="+mn-lt"/>
                          <a:ea typeface="+mn-ea"/>
                          <a:cs typeface="+mn-cs"/>
                        </a:rPr>
                        <a:t>Socket</a:t>
                      </a:r>
                      <a:endParaRPr lang="zh-CN" altLang="en-US" sz="2000" dirty="0"/>
                    </a:p>
                  </a:txBody>
                  <a:tcPr marL="86360" marR="86360"/>
                </a:tc>
                <a:tc>
                  <a:txBody>
                    <a:bodyPr/>
                    <a:lstStyle/>
                    <a:p>
                      <a:r>
                        <a:rPr lang="en-US" altLang="zh-CN" sz="2000" dirty="0" err="1"/>
                        <a:t>ss</a:t>
                      </a:r>
                      <a:r>
                        <a:rPr lang="en-US" altLang="zh-CN" sz="2000" dirty="0"/>
                        <a:t> -a</a:t>
                      </a:r>
                      <a:endParaRPr lang="zh-CN" altLang="en-US" sz="2000" dirty="0"/>
                    </a:p>
                  </a:txBody>
                  <a:tcPr marL="86360" marR="8636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err="1"/>
                        <a:t>ss</a:t>
                      </a:r>
                      <a:r>
                        <a:rPr lang="en-US" altLang="zh-CN" sz="2000" dirty="0"/>
                        <a:t> -at</a:t>
                      </a:r>
                      <a:endParaRPr lang="zh-CN" altLang="en-US" sz="2000" dirty="0"/>
                    </a:p>
                  </a:txBody>
                  <a:tcPr marL="86360" marR="8636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err="1"/>
                        <a:t>ss</a:t>
                      </a:r>
                      <a:r>
                        <a:rPr lang="en-US" altLang="zh-CN" sz="2000" dirty="0"/>
                        <a:t> -au</a:t>
                      </a:r>
                      <a:endParaRPr lang="zh-CN" altLang="en-US" sz="2000" dirty="0"/>
                    </a:p>
                  </a:txBody>
                  <a:tcPr marL="86360" marR="8636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err="1"/>
                        <a:t>ss</a:t>
                      </a:r>
                      <a:r>
                        <a:rPr lang="en-US" altLang="zh-CN" sz="2000" dirty="0"/>
                        <a:t> -</a:t>
                      </a:r>
                      <a:r>
                        <a:rPr lang="en-US" altLang="zh-CN" sz="2000" dirty="0" err="1"/>
                        <a:t>atu</a:t>
                      </a:r>
                      <a:endParaRPr lang="zh-CN" altLang="en-US" sz="2000" dirty="0"/>
                    </a:p>
                  </a:txBody>
                  <a:tcPr marL="86360" marR="86360"/>
                </a:tc>
                <a:extLst>
                  <a:ext uri="{0D108BD9-81ED-4DB2-BD59-A6C34878D82A}">
                    <a16:rowId xmlns:a16="http://schemas.microsoft.com/office/drawing/2014/main" val="10002"/>
                  </a:ext>
                </a:extLst>
              </a:tr>
              <a:tr h="370840">
                <a:tc>
                  <a:txBody>
                    <a:bodyPr/>
                    <a:lstStyle/>
                    <a:p>
                      <a:r>
                        <a:rPr lang="zh-CN" altLang="zh-CN" sz="2000" kern="1200" dirty="0">
                          <a:solidFill>
                            <a:schemeClr val="dk1"/>
                          </a:solidFill>
                          <a:effectLst/>
                          <a:latin typeface="+mn-lt"/>
                          <a:ea typeface="+mn-ea"/>
                          <a:cs typeface="+mn-cs"/>
                        </a:rPr>
                        <a:t>显示</a:t>
                      </a:r>
                      <a:r>
                        <a:rPr lang="zh-CN" altLang="zh-CN" sz="2000" kern="1200" dirty="0">
                          <a:solidFill>
                            <a:srgbClr val="FF0000"/>
                          </a:solidFill>
                          <a:effectLst/>
                          <a:latin typeface="+mn-lt"/>
                          <a:ea typeface="+mn-ea"/>
                          <a:cs typeface="+mn-cs"/>
                        </a:rPr>
                        <a:t>本地监听</a:t>
                      </a:r>
                      <a:r>
                        <a:rPr lang="zh-CN" altLang="zh-CN" sz="2000" kern="1200" dirty="0">
                          <a:solidFill>
                            <a:schemeClr val="dk1"/>
                          </a:solidFill>
                          <a:effectLst/>
                          <a:latin typeface="+mn-lt"/>
                          <a:ea typeface="+mn-ea"/>
                          <a:cs typeface="+mn-cs"/>
                        </a:rPr>
                        <a:t>的</a:t>
                      </a:r>
                      <a:r>
                        <a:rPr lang="en-US" altLang="zh-CN" sz="2000" kern="1200" dirty="0">
                          <a:solidFill>
                            <a:schemeClr val="dk1"/>
                          </a:solidFill>
                          <a:effectLst/>
                          <a:latin typeface="+mn-lt"/>
                          <a:ea typeface="+mn-ea"/>
                          <a:cs typeface="+mn-cs"/>
                        </a:rPr>
                        <a:t>Socket</a:t>
                      </a:r>
                      <a:endParaRPr lang="zh-CN" altLang="en-US" sz="2000" dirty="0"/>
                    </a:p>
                  </a:txBody>
                  <a:tcPr marL="86360" marR="86360"/>
                </a:tc>
                <a:tc>
                  <a:txBody>
                    <a:bodyPr/>
                    <a:lstStyle/>
                    <a:p>
                      <a:r>
                        <a:rPr lang="en-US" altLang="zh-CN" sz="2000" dirty="0" err="1"/>
                        <a:t>ss</a:t>
                      </a:r>
                      <a:r>
                        <a:rPr lang="en-US" altLang="zh-CN" sz="2000" dirty="0"/>
                        <a:t> -l</a:t>
                      </a:r>
                      <a:endParaRPr lang="zh-CN" altLang="en-US" sz="2000" dirty="0"/>
                    </a:p>
                  </a:txBody>
                  <a:tcPr marL="86360" marR="8636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err="1"/>
                        <a:t>ss</a:t>
                      </a:r>
                      <a:r>
                        <a:rPr lang="en-US" altLang="zh-CN" sz="2000" dirty="0"/>
                        <a:t> -</a:t>
                      </a:r>
                      <a:r>
                        <a:rPr lang="en-US" altLang="zh-CN" sz="2000" dirty="0" err="1"/>
                        <a:t>lt</a:t>
                      </a:r>
                      <a:endParaRPr lang="zh-CN" altLang="en-US" sz="2000" dirty="0"/>
                    </a:p>
                  </a:txBody>
                  <a:tcPr marL="86360" marR="8636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err="1"/>
                        <a:t>ss</a:t>
                      </a:r>
                      <a:r>
                        <a:rPr lang="en-US" altLang="zh-CN" sz="2000" dirty="0"/>
                        <a:t> -</a:t>
                      </a:r>
                      <a:r>
                        <a:rPr lang="en-US" altLang="zh-CN" sz="2000" dirty="0" err="1"/>
                        <a:t>lu</a:t>
                      </a:r>
                      <a:endParaRPr lang="zh-CN" altLang="en-US" sz="2000" dirty="0"/>
                    </a:p>
                  </a:txBody>
                  <a:tcPr marL="86360" marR="8636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err="1"/>
                        <a:t>ss</a:t>
                      </a:r>
                      <a:r>
                        <a:rPr lang="en-US" altLang="zh-CN" sz="2000" dirty="0"/>
                        <a:t> -</a:t>
                      </a:r>
                      <a:r>
                        <a:rPr lang="en-US" altLang="zh-CN" sz="2000" dirty="0" err="1"/>
                        <a:t>ltu</a:t>
                      </a:r>
                      <a:endParaRPr lang="zh-CN" altLang="en-US" sz="2000" dirty="0"/>
                    </a:p>
                  </a:txBody>
                  <a:tcPr marL="86360" marR="86360"/>
                </a:tc>
                <a:extLst>
                  <a:ext uri="{0D108BD9-81ED-4DB2-BD59-A6C34878D82A}">
                    <a16:rowId xmlns:a16="http://schemas.microsoft.com/office/drawing/2014/main" val="10003"/>
                  </a:ext>
                </a:extLst>
              </a:tr>
            </a:tbl>
          </a:graphicData>
        </a:graphic>
      </p:graphicFrame>
      <p:sp>
        <p:nvSpPr>
          <p:cNvPr id="8" name="文本框 7"/>
          <p:cNvSpPr txBox="1"/>
          <p:nvPr/>
        </p:nvSpPr>
        <p:spPr>
          <a:xfrm>
            <a:off x="509437" y="3219187"/>
            <a:ext cx="8373616" cy="3447098"/>
          </a:xfrm>
          <a:prstGeom prst="rect">
            <a:avLst/>
          </a:prstGeom>
          <a:solidFill>
            <a:schemeClr val="accent2"/>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b="1" dirty="0">
                <a:solidFill>
                  <a:srgbClr val="FF0000"/>
                </a:solidFill>
              </a:rPr>
              <a:t>使用状态过滤器</a:t>
            </a:r>
            <a:endParaRPr lang="en-US" altLang="zh-CN" sz="2000" b="1" dirty="0">
              <a:solidFill>
                <a:srgbClr val="FF0000"/>
              </a:solidFill>
            </a:endParaRPr>
          </a:p>
          <a:p>
            <a:endParaRPr lang="zh-CN" altLang="en-US" sz="2000" dirty="0"/>
          </a:p>
          <a:p>
            <a:r>
              <a:rPr lang="en-US" altLang="zh-CN" sz="2000" dirty="0"/>
              <a:t>// </a:t>
            </a:r>
            <a:r>
              <a:rPr lang="zh-CN" altLang="en-US" sz="2000" dirty="0"/>
              <a:t>显示指定服务</a:t>
            </a:r>
            <a:r>
              <a:rPr lang="en-US" altLang="zh-CN" sz="2000" dirty="0"/>
              <a:t>/</a:t>
            </a:r>
            <a:r>
              <a:rPr lang="zh-CN" altLang="en-US" sz="2000" dirty="0"/>
              <a:t>端口的</a:t>
            </a:r>
            <a:r>
              <a:rPr lang="en-US" altLang="zh-CN" sz="2000" dirty="0"/>
              <a:t>TCP</a:t>
            </a:r>
            <a:r>
              <a:rPr lang="zh-CN" altLang="en-US" sz="2000" dirty="0"/>
              <a:t>状态为 </a:t>
            </a:r>
            <a:r>
              <a:rPr lang="en-US" altLang="zh-CN" sz="2000" dirty="0"/>
              <a:t>established </a:t>
            </a:r>
            <a:r>
              <a:rPr lang="zh-CN" altLang="en-US" sz="2000" dirty="0"/>
              <a:t>的入站 </a:t>
            </a:r>
            <a:r>
              <a:rPr lang="en-US" altLang="zh-CN" sz="2000" dirty="0"/>
              <a:t>Socket</a:t>
            </a:r>
          </a:p>
          <a:p>
            <a:r>
              <a:rPr lang="en-US" altLang="zh-CN" sz="2000" dirty="0"/>
              <a:t>$ </a:t>
            </a:r>
            <a:r>
              <a:rPr lang="en-US" altLang="zh-CN" sz="2000" dirty="0" err="1"/>
              <a:t>ss</a:t>
            </a:r>
            <a:r>
              <a:rPr lang="en-US" altLang="zh-CN" sz="2000" dirty="0"/>
              <a:t> state established sport = :ssh</a:t>
            </a:r>
          </a:p>
          <a:p>
            <a:endParaRPr lang="en-US" altLang="zh-CN" sz="2000" dirty="0"/>
          </a:p>
          <a:p>
            <a:r>
              <a:rPr lang="en-US" altLang="zh-CN" sz="2000" dirty="0"/>
              <a:t>// </a:t>
            </a:r>
            <a:r>
              <a:rPr lang="zh-CN" altLang="en-US" sz="2000" dirty="0"/>
              <a:t>显示指定服务</a:t>
            </a:r>
            <a:r>
              <a:rPr lang="en-US" altLang="zh-CN" sz="2000" dirty="0"/>
              <a:t>/</a:t>
            </a:r>
            <a:r>
              <a:rPr lang="zh-CN" altLang="en-US" sz="2000" dirty="0"/>
              <a:t>端口的</a:t>
            </a:r>
            <a:r>
              <a:rPr lang="en-US" altLang="zh-CN" sz="2000" dirty="0"/>
              <a:t>TCP</a:t>
            </a:r>
            <a:r>
              <a:rPr lang="zh-CN" altLang="en-US" sz="2000" dirty="0"/>
              <a:t>状态为 </a:t>
            </a:r>
            <a:r>
              <a:rPr lang="en-US" altLang="zh-CN" sz="2000" dirty="0"/>
              <a:t>established </a:t>
            </a:r>
            <a:r>
              <a:rPr lang="zh-CN" altLang="en-US" sz="2000" dirty="0"/>
              <a:t>的所有 </a:t>
            </a:r>
            <a:r>
              <a:rPr lang="en-US" altLang="zh-CN" sz="2000" dirty="0"/>
              <a:t>Socket</a:t>
            </a:r>
          </a:p>
          <a:p>
            <a:r>
              <a:rPr lang="en-US" altLang="zh-CN" sz="2000" dirty="0"/>
              <a:t>$ </a:t>
            </a:r>
            <a:r>
              <a:rPr lang="en-US" altLang="zh-CN" sz="2000" dirty="0" err="1"/>
              <a:t>ss</a:t>
            </a:r>
            <a:r>
              <a:rPr lang="en-US" altLang="zh-CN" sz="2000" dirty="0"/>
              <a:t> state established '( </a:t>
            </a:r>
            <a:r>
              <a:rPr lang="en-US" altLang="zh-CN" sz="2000" dirty="0" err="1"/>
              <a:t>dport</a:t>
            </a:r>
            <a:r>
              <a:rPr lang="en-US" altLang="zh-CN" sz="2000" dirty="0"/>
              <a:t> = :ssh or sport = :ssh )'</a:t>
            </a:r>
          </a:p>
          <a:p>
            <a:endParaRPr lang="en-US" altLang="zh-CN" sz="2000" dirty="0"/>
          </a:p>
          <a:p>
            <a:r>
              <a:rPr lang="en-US" altLang="zh-CN" sz="2000" dirty="0"/>
              <a:t>// </a:t>
            </a:r>
            <a:r>
              <a:rPr lang="zh-CN" altLang="en-US" sz="2000" dirty="0"/>
              <a:t>显示</a:t>
            </a:r>
            <a:r>
              <a:rPr lang="en-US" altLang="zh-CN" sz="2000" dirty="0"/>
              <a:t>TCP</a:t>
            </a:r>
            <a:r>
              <a:rPr lang="zh-CN" altLang="en-US" sz="2000" dirty="0"/>
              <a:t>状态为 </a:t>
            </a:r>
            <a:r>
              <a:rPr lang="en-US" altLang="zh-CN" sz="2000" dirty="0"/>
              <a:t>fin-wait-1 </a:t>
            </a:r>
            <a:r>
              <a:rPr lang="zh-CN" altLang="en-US" sz="2000" dirty="0"/>
              <a:t>的目标地址为 </a:t>
            </a:r>
            <a:r>
              <a:rPr lang="en-US" altLang="zh-CN" sz="2000" dirty="0"/>
              <a:t>193.233.7/24 </a:t>
            </a:r>
            <a:r>
              <a:rPr lang="zh-CN" altLang="en-US" sz="2000" dirty="0"/>
              <a:t>的 </a:t>
            </a:r>
            <a:r>
              <a:rPr lang="en-US" altLang="zh-CN" sz="2000" dirty="0"/>
              <a:t>Web </a:t>
            </a:r>
            <a:r>
              <a:rPr lang="zh-CN" altLang="en-US" sz="2000" dirty="0"/>
              <a:t>服务的入站连接</a:t>
            </a:r>
          </a:p>
          <a:p>
            <a:r>
              <a:rPr lang="en-US" altLang="zh-CN" sz="2000" dirty="0"/>
              <a:t>$ </a:t>
            </a:r>
            <a:r>
              <a:rPr lang="en-US" altLang="zh-CN" sz="2000" dirty="0" err="1"/>
              <a:t>ss</a:t>
            </a:r>
            <a:r>
              <a:rPr lang="en-US" altLang="zh-CN" sz="2000" dirty="0"/>
              <a:t> state fin-wait-1 '( sport = :http or sport = :https )' </a:t>
            </a:r>
            <a:r>
              <a:rPr lang="en-US" altLang="zh-CN" sz="2000" dirty="0" err="1"/>
              <a:t>dst</a:t>
            </a:r>
            <a:r>
              <a:rPr lang="en-US" altLang="zh-CN" sz="2000" dirty="0"/>
              <a:t> 193.233.7/24</a:t>
            </a:r>
            <a:endParaRPr lang="zh-CN" altLang="en-US" sz="2000" dirty="0"/>
          </a:p>
        </p:txBody>
      </p:sp>
    </p:spTree>
    <p:extLst>
      <p:ext uri="{BB962C8B-B14F-4D97-AF65-F5344CB8AC3E}">
        <p14:creationId xmlns:p14="http://schemas.microsoft.com/office/powerpoint/2010/main" val="5120329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dig</a:t>
            </a:r>
            <a:r>
              <a:rPr lang="zh-CN" altLang="zh-CN" dirty="0"/>
              <a:t>命令</a:t>
            </a:r>
            <a:endParaRPr lang="zh-CN" altLang="en-US" dirty="0"/>
          </a:p>
        </p:txBody>
      </p:sp>
      <p:sp>
        <p:nvSpPr>
          <p:cNvPr id="3" name="内容占位符 2"/>
          <p:cNvSpPr>
            <a:spLocks noGrp="1"/>
          </p:cNvSpPr>
          <p:nvPr>
            <p:ph idx="1"/>
          </p:nvPr>
        </p:nvSpPr>
        <p:spPr>
          <a:xfrm>
            <a:off x="827584" y="1556792"/>
            <a:ext cx="7772400" cy="4114800"/>
          </a:xfrm>
        </p:spPr>
        <p:txBody>
          <a:bodyPr/>
          <a:lstStyle/>
          <a:p>
            <a:r>
              <a:rPr lang="zh-CN" altLang="en-US" dirty="0"/>
              <a:t>根据</a:t>
            </a:r>
            <a:r>
              <a:rPr lang="en-US" altLang="zh-CN" dirty="0"/>
              <a:t>/etc/</a:t>
            </a:r>
            <a:r>
              <a:rPr lang="en-US" altLang="zh-CN" dirty="0" err="1"/>
              <a:t>resolv.conf</a:t>
            </a:r>
            <a:r>
              <a:rPr lang="en-US" altLang="zh-CN" dirty="0"/>
              <a:t> </a:t>
            </a:r>
            <a:r>
              <a:rPr lang="zh-CN" altLang="en-US" dirty="0"/>
              <a:t>中的</a:t>
            </a:r>
            <a:r>
              <a:rPr lang="en-US" altLang="zh-CN" dirty="0"/>
              <a:t>DNS</a:t>
            </a:r>
            <a:r>
              <a:rPr lang="zh-CN" altLang="en-US" dirty="0"/>
              <a:t>服务器配置查询 </a:t>
            </a:r>
            <a:r>
              <a:rPr lang="en-US" altLang="zh-CN" dirty="0" err="1"/>
              <a:t>ls-al.me</a:t>
            </a:r>
            <a:r>
              <a:rPr lang="en-US" altLang="zh-CN" dirty="0"/>
              <a:t> </a:t>
            </a:r>
            <a:r>
              <a:rPr lang="zh-CN" altLang="en-US" dirty="0"/>
              <a:t>的</a:t>
            </a:r>
            <a:r>
              <a:rPr lang="en-US" altLang="zh-CN" dirty="0"/>
              <a:t>IP</a:t>
            </a:r>
            <a:r>
              <a:rPr lang="zh-CN" altLang="en-US" dirty="0"/>
              <a:t>地址</a:t>
            </a:r>
          </a:p>
          <a:p>
            <a:pPr lvl="1">
              <a:buNone/>
            </a:pPr>
            <a:r>
              <a:rPr lang="en-US" altLang="zh-CN" dirty="0">
                <a:solidFill>
                  <a:schemeClr val="accent6">
                    <a:lumMod val="75000"/>
                  </a:schemeClr>
                </a:solidFill>
              </a:rPr>
              <a:t># dig </a:t>
            </a:r>
            <a:r>
              <a:rPr lang="en-US" altLang="zh-CN" dirty="0" err="1">
                <a:solidFill>
                  <a:schemeClr val="accent6">
                    <a:lumMod val="75000"/>
                  </a:schemeClr>
                </a:solidFill>
              </a:rPr>
              <a:t>ls-al.me</a:t>
            </a:r>
            <a:endParaRPr lang="en-US" altLang="zh-CN" dirty="0">
              <a:solidFill>
                <a:schemeClr val="accent6">
                  <a:lumMod val="75000"/>
                </a:schemeClr>
              </a:solidFill>
            </a:endParaRPr>
          </a:p>
          <a:p>
            <a:r>
              <a:rPr lang="zh-CN" altLang="en-US" dirty="0"/>
              <a:t>向</a:t>
            </a:r>
            <a:r>
              <a:rPr lang="zh-CN" altLang="en-US" dirty="0">
                <a:solidFill>
                  <a:srgbClr val="FF0000"/>
                </a:solidFill>
              </a:rPr>
              <a:t>指定的</a:t>
            </a:r>
            <a:r>
              <a:rPr lang="en-US" altLang="zh-CN" dirty="0">
                <a:solidFill>
                  <a:srgbClr val="FF0000"/>
                </a:solidFill>
              </a:rPr>
              <a:t>DNS</a:t>
            </a:r>
            <a:r>
              <a:rPr lang="zh-CN" altLang="en-US" dirty="0">
                <a:solidFill>
                  <a:srgbClr val="FF0000"/>
                </a:solidFill>
              </a:rPr>
              <a:t>服务器查询</a:t>
            </a:r>
            <a:r>
              <a:rPr lang="zh-CN" altLang="en-US" dirty="0"/>
              <a:t> </a:t>
            </a:r>
            <a:r>
              <a:rPr lang="en-US" altLang="zh-CN" dirty="0"/>
              <a:t>g.cn </a:t>
            </a:r>
            <a:r>
              <a:rPr lang="zh-CN" altLang="en-US" dirty="0"/>
              <a:t>的</a:t>
            </a:r>
            <a:r>
              <a:rPr lang="en-US" altLang="zh-CN" dirty="0"/>
              <a:t>IP</a:t>
            </a:r>
            <a:r>
              <a:rPr lang="zh-CN" altLang="en-US" dirty="0"/>
              <a:t>地址</a:t>
            </a:r>
          </a:p>
          <a:p>
            <a:pPr lvl="1">
              <a:buNone/>
            </a:pPr>
            <a:r>
              <a:rPr lang="en-US" altLang="zh-CN" dirty="0">
                <a:solidFill>
                  <a:schemeClr val="accent6">
                    <a:lumMod val="75000"/>
                  </a:schemeClr>
                </a:solidFill>
              </a:rPr>
              <a:t># dig @202.106.196.115  g.cn</a:t>
            </a:r>
          </a:p>
          <a:p>
            <a:r>
              <a:rPr lang="zh-CN" altLang="en-US" dirty="0"/>
              <a:t>查询 </a:t>
            </a:r>
            <a:r>
              <a:rPr lang="en-US" altLang="zh-CN" dirty="0">
                <a:solidFill>
                  <a:srgbClr val="FF0000"/>
                </a:solidFill>
              </a:rPr>
              <a:t>192.168.0.252 </a:t>
            </a:r>
            <a:r>
              <a:rPr lang="zh-CN" altLang="en-US" dirty="0">
                <a:solidFill>
                  <a:srgbClr val="FF0000"/>
                </a:solidFill>
              </a:rPr>
              <a:t>所对应的域名</a:t>
            </a:r>
          </a:p>
          <a:p>
            <a:pPr lvl="1">
              <a:buNone/>
            </a:pPr>
            <a:r>
              <a:rPr lang="en-US" altLang="zh-CN" dirty="0">
                <a:solidFill>
                  <a:schemeClr val="accent6">
                    <a:lumMod val="75000"/>
                  </a:schemeClr>
                </a:solidFill>
              </a:rPr>
              <a:t># dig -x 192.168.0.252</a:t>
            </a:r>
          </a:p>
          <a:p>
            <a:r>
              <a:rPr lang="zh-CN" altLang="en-US" dirty="0"/>
              <a:t>查询 </a:t>
            </a:r>
            <a:r>
              <a:rPr lang="en-US" altLang="zh-CN" dirty="0" err="1"/>
              <a:t>ls-al.me</a:t>
            </a:r>
            <a:r>
              <a:rPr lang="en-US" altLang="zh-CN" dirty="0"/>
              <a:t> </a:t>
            </a:r>
            <a:r>
              <a:rPr lang="zh-CN" altLang="en-US" dirty="0"/>
              <a:t>域的</a:t>
            </a:r>
            <a:r>
              <a:rPr lang="en-US" altLang="zh-CN" dirty="0">
                <a:solidFill>
                  <a:srgbClr val="FF0000"/>
                </a:solidFill>
              </a:rPr>
              <a:t>MX</a:t>
            </a:r>
            <a:r>
              <a:rPr lang="zh-CN" altLang="en-US" dirty="0">
                <a:solidFill>
                  <a:srgbClr val="FF0000"/>
                </a:solidFill>
              </a:rPr>
              <a:t>（邮件交换）记录</a:t>
            </a:r>
          </a:p>
          <a:p>
            <a:pPr lvl="1">
              <a:buNone/>
            </a:pPr>
            <a:r>
              <a:rPr lang="en-US" altLang="zh-CN" dirty="0">
                <a:solidFill>
                  <a:schemeClr val="accent6">
                    <a:lumMod val="75000"/>
                  </a:schemeClr>
                </a:solidFill>
              </a:rPr>
              <a:t># dig -t </a:t>
            </a:r>
            <a:r>
              <a:rPr lang="en-US" altLang="zh-CN" dirty="0" err="1">
                <a:solidFill>
                  <a:schemeClr val="accent6">
                    <a:lumMod val="75000"/>
                  </a:schemeClr>
                </a:solidFill>
              </a:rPr>
              <a:t>mx</a:t>
            </a:r>
            <a:r>
              <a:rPr lang="en-US" altLang="zh-CN" dirty="0">
                <a:solidFill>
                  <a:schemeClr val="accent6">
                    <a:lumMod val="75000"/>
                  </a:schemeClr>
                </a:solidFill>
              </a:rPr>
              <a:t>  </a:t>
            </a:r>
            <a:r>
              <a:rPr lang="en-US" altLang="zh-CN" dirty="0" err="1">
                <a:solidFill>
                  <a:schemeClr val="accent6">
                    <a:lumMod val="75000"/>
                  </a:schemeClr>
                </a:solidFill>
              </a:rPr>
              <a:t>ls-al.me</a:t>
            </a:r>
            <a:endParaRPr lang="zh-CN" altLang="en-US" dirty="0">
              <a:solidFill>
                <a:schemeClr val="accent6">
                  <a:lumMod val="75000"/>
                </a:schemeClr>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网络客户工具</a:t>
            </a:r>
            <a:r>
              <a:rPr lang="en-US" altLang="zh-CN" dirty="0"/>
              <a:t>—</a:t>
            </a:r>
            <a:r>
              <a:rPr lang="zh-CN" altLang="en-US" dirty="0"/>
              <a:t>图形界面</a:t>
            </a:r>
          </a:p>
        </p:txBody>
      </p:sp>
      <p:sp>
        <p:nvSpPr>
          <p:cNvPr id="3" name="内容占位符 2"/>
          <p:cNvSpPr>
            <a:spLocks noGrp="1"/>
          </p:cNvSpPr>
          <p:nvPr>
            <p:ph idx="1"/>
          </p:nvPr>
        </p:nvSpPr>
        <p:spPr>
          <a:xfrm>
            <a:off x="707231" y="1628800"/>
            <a:ext cx="8239919" cy="3124944"/>
          </a:xfrm>
        </p:spPr>
        <p:txBody>
          <a:bodyPr/>
          <a:lstStyle/>
          <a:p>
            <a:pPr>
              <a:lnSpc>
                <a:spcPct val="120000"/>
              </a:lnSpc>
            </a:pPr>
            <a:r>
              <a:rPr lang="zh-CN" altLang="en-US" dirty="0"/>
              <a:t>图形界面浏览器：</a:t>
            </a:r>
            <a:r>
              <a:rPr lang="en-US" altLang="zh-CN" dirty="0"/>
              <a:t>Firefox</a:t>
            </a:r>
            <a:r>
              <a:rPr lang="zh-CN" altLang="en-US" dirty="0"/>
              <a:t>、</a:t>
            </a:r>
            <a:r>
              <a:rPr lang="en-US" altLang="zh-CN" dirty="0"/>
              <a:t>Mozilla</a:t>
            </a:r>
          </a:p>
          <a:p>
            <a:pPr>
              <a:lnSpc>
                <a:spcPct val="120000"/>
              </a:lnSpc>
            </a:pPr>
            <a:r>
              <a:rPr lang="zh-CN" altLang="en-US" dirty="0"/>
              <a:t>图形界面</a:t>
            </a:r>
            <a:r>
              <a:rPr lang="en-US" altLang="zh-CN" dirty="0"/>
              <a:t>E-mail</a:t>
            </a:r>
            <a:r>
              <a:rPr lang="zh-CN" altLang="en-US" dirty="0"/>
              <a:t>客户端：</a:t>
            </a:r>
            <a:r>
              <a:rPr lang="en-US" altLang="zh-CN" dirty="0"/>
              <a:t>Thunderbird</a:t>
            </a:r>
            <a:r>
              <a:rPr lang="zh-CN" altLang="en-US" dirty="0"/>
              <a:t>、</a:t>
            </a:r>
            <a:r>
              <a:rPr lang="en-US" altLang="zh-CN" dirty="0"/>
              <a:t>Evolution</a:t>
            </a:r>
          </a:p>
          <a:p>
            <a:pPr>
              <a:lnSpc>
                <a:spcPct val="120000"/>
              </a:lnSpc>
            </a:pPr>
            <a:r>
              <a:rPr lang="zh-CN" altLang="en-US" dirty="0"/>
              <a:t>图形界面</a:t>
            </a:r>
            <a:r>
              <a:rPr lang="en-US" altLang="zh-CN" dirty="0"/>
              <a:t>FTP</a:t>
            </a:r>
            <a:r>
              <a:rPr lang="zh-CN" altLang="en-US" dirty="0"/>
              <a:t>客户端：</a:t>
            </a:r>
            <a:r>
              <a:rPr lang="en-US" altLang="zh-CN" dirty="0" err="1"/>
              <a:t>Gftp</a:t>
            </a:r>
            <a:r>
              <a:rPr lang="zh-CN" altLang="en-US" dirty="0"/>
              <a:t>、</a:t>
            </a:r>
            <a:r>
              <a:rPr lang="en-US" altLang="zh-CN" dirty="0" err="1"/>
              <a:t>Konqueror</a:t>
            </a:r>
            <a:endParaRPr lang="en-US" altLang="zh-CN" dirty="0"/>
          </a:p>
          <a:p>
            <a:pPr>
              <a:lnSpc>
                <a:spcPct val="120000"/>
              </a:lnSpc>
            </a:pPr>
            <a:r>
              <a:rPr lang="zh-CN" altLang="en-US" dirty="0"/>
              <a:t>图形界面下载工具：</a:t>
            </a:r>
            <a:r>
              <a:rPr lang="en-US" altLang="zh-CN" dirty="0" err="1"/>
              <a:t>WebDownloader</a:t>
            </a:r>
            <a:r>
              <a:rPr lang="en-US" altLang="zh-CN" dirty="0"/>
              <a:t> for X</a:t>
            </a:r>
            <a:r>
              <a:rPr lang="zh-CN" altLang="en-US" dirty="0"/>
              <a:t>、</a:t>
            </a:r>
            <a:r>
              <a:rPr lang="en-US" altLang="zh-CN" dirty="0" err="1"/>
              <a:t>Httrack</a:t>
            </a:r>
            <a:r>
              <a:rPr lang="zh-CN" altLang="en-US" dirty="0"/>
              <a:t>、</a:t>
            </a:r>
            <a:r>
              <a:rPr lang="en-US" altLang="zh-CN" dirty="0" err="1"/>
              <a:t>Getleft</a:t>
            </a:r>
            <a:endParaRPr lang="zh-CN" altLang="en-US" dirty="0"/>
          </a:p>
        </p:txBody>
      </p:sp>
      <p:sp>
        <p:nvSpPr>
          <p:cNvPr id="7" name="TextBox 6"/>
          <p:cNvSpPr txBox="1"/>
          <p:nvPr/>
        </p:nvSpPr>
        <p:spPr>
          <a:xfrm>
            <a:off x="1127291" y="5661248"/>
            <a:ext cx="7128792" cy="58477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3200" dirty="0"/>
              <a:t>操作相对简单，请自学这些工具的使用</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字符界面网络工具</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1808907"/>
              </p:ext>
            </p:extLst>
          </p:nvPr>
        </p:nvGraphicFramePr>
        <p:xfrm>
          <a:off x="717548" y="1628800"/>
          <a:ext cx="8229602" cy="4846320"/>
        </p:xfrm>
        <a:graphic>
          <a:graphicData uri="http://schemas.openxmlformats.org/drawingml/2006/table">
            <a:tbl>
              <a:tblPr firstRow="1" bandRow="1">
                <a:tableStyleId>{21E4AEA4-8DFA-4A89-87EB-49C32662AFE0}</a:tableStyleId>
              </a:tblPr>
              <a:tblGrid>
                <a:gridCol w="2674640">
                  <a:extLst>
                    <a:ext uri="{9D8B030D-6E8A-4147-A177-3AD203B41FA5}">
                      <a16:colId xmlns:a16="http://schemas.microsoft.com/office/drawing/2014/main" val="20000"/>
                    </a:ext>
                  </a:extLst>
                </a:gridCol>
                <a:gridCol w="5554962">
                  <a:extLst>
                    <a:ext uri="{9D8B030D-6E8A-4147-A177-3AD203B41FA5}">
                      <a16:colId xmlns:a16="http://schemas.microsoft.com/office/drawing/2014/main" val="20001"/>
                    </a:ext>
                  </a:extLst>
                </a:gridCol>
              </a:tblGrid>
              <a:tr h="370840">
                <a:tc>
                  <a:txBody>
                    <a:bodyPr/>
                    <a:lstStyle/>
                    <a:p>
                      <a:r>
                        <a:rPr lang="zh-CN" altLang="en-US" sz="2400" dirty="0">
                          <a:solidFill>
                            <a:srgbClr val="C00000"/>
                          </a:solidFill>
                        </a:rPr>
                        <a:t>命令</a:t>
                      </a:r>
                    </a:p>
                  </a:txBody>
                  <a:tcPr/>
                </a:tc>
                <a:tc>
                  <a:txBody>
                    <a:bodyPr/>
                    <a:lstStyle/>
                    <a:p>
                      <a:r>
                        <a:rPr lang="zh-CN" altLang="en-US" sz="2400" dirty="0">
                          <a:solidFill>
                            <a:srgbClr val="C00000"/>
                          </a:solidFill>
                        </a:rPr>
                        <a:t>功能</a:t>
                      </a:r>
                    </a:p>
                  </a:txBody>
                  <a:tcPr/>
                </a:tc>
                <a:extLst>
                  <a:ext uri="{0D108BD9-81ED-4DB2-BD59-A6C34878D82A}">
                    <a16:rowId xmlns:a16="http://schemas.microsoft.com/office/drawing/2014/main" val="10000"/>
                  </a:ext>
                </a:extLst>
              </a:tr>
              <a:tr h="370840">
                <a:tc>
                  <a:txBody>
                    <a:bodyPr/>
                    <a:lstStyle/>
                    <a:p>
                      <a:r>
                        <a:rPr lang="en-US" altLang="zh-CN" sz="2400" b="1" dirty="0"/>
                        <a:t>telnet</a:t>
                      </a:r>
                      <a:endParaRPr lang="zh-CN" altLang="en-US" sz="2400" b="1" dirty="0"/>
                    </a:p>
                  </a:txBody>
                  <a:tcPr/>
                </a:tc>
                <a:tc>
                  <a:txBody>
                    <a:bodyPr/>
                    <a:lstStyle/>
                    <a:p>
                      <a:r>
                        <a:rPr lang="zh-CN" altLang="en-US" sz="2400" dirty="0"/>
                        <a:t>远程登录</a:t>
                      </a:r>
                    </a:p>
                  </a:txBody>
                  <a:tcPr/>
                </a:tc>
                <a:extLst>
                  <a:ext uri="{0D108BD9-81ED-4DB2-BD59-A6C34878D82A}">
                    <a16:rowId xmlns:a16="http://schemas.microsoft.com/office/drawing/2014/main" val="10001"/>
                  </a:ext>
                </a:extLst>
              </a:tr>
              <a:tr h="370840">
                <a:tc>
                  <a:txBody>
                    <a:bodyPr/>
                    <a:lstStyle/>
                    <a:p>
                      <a:r>
                        <a:rPr lang="en-US" altLang="zh-CN" sz="2400" b="1" dirty="0"/>
                        <a:t>ftp / </a:t>
                      </a:r>
                      <a:r>
                        <a:rPr lang="en-US" altLang="zh-CN" sz="2400" b="1" dirty="0" err="1"/>
                        <a:t>lftp</a:t>
                      </a:r>
                      <a:r>
                        <a:rPr lang="en-US" altLang="zh-CN" sz="2400" b="1" dirty="0"/>
                        <a:t> / </a:t>
                      </a:r>
                      <a:r>
                        <a:rPr lang="en-US" altLang="zh-CN" sz="2400" b="1" dirty="0" err="1"/>
                        <a:t>ncftp</a:t>
                      </a:r>
                      <a:endParaRPr lang="zh-CN" altLang="en-US" sz="2400" b="1" dirty="0"/>
                    </a:p>
                  </a:txBody>
                  <a:tcPr/>
                </a:tc>
                <a:tc>
                  <a:txBody>
                    <a:bodyPr/>
                    <a:lstStyle/>
                    <a:p>
                      <a:r>
                        <a:rPr lang="en-US" altLang="zh-CN" sz="2400" dirty="0"/>
                        <a:t>FTP</a:t>
                      </a:r>
                      <a:r>
                        <a:rPr lang="zh-CN" altLang="en-US" sz="2400" dirty="0"/>
                        <a:t>工具</a:t>
                      </a:r>
                    </a:p>
                  </a:txBody>
                  <a:tcPr/>
                </a:tc>
                <a:extLst>
                  <a:ext uri="{0D108BD9-81ED-4DB2-BD59-A6C34878D82A}">
                    <a16:rowId xmlns:a16="http://schemas.microsoft.com/office/drawing/2014/main" val="10002"/>
                  </a:ext>
                </a:extLst>
              </a:tr>
              <a:tr h="370840">
                <a:tc>
                  <a:txBody>
                    <a:bodyPr/>
                    <a:lstStyle/>
                    <a:p>
                      <a:r>
                        <a:rPr lang="en-US" altLang="zh-CN" sz="2400" b="1" dirty="0" err="1"/>
                        <a:t>smbclient</a:t>
                      </a:r>
                      <a:endParaRPr lang="zh-CN" altLang="en-US" sz="2400" b="1" dirty="0"/>
                    </a:p>
                  </a:txBody>
                  <a:tcPr/>
                </a:tc>
                <a:tc>
                  <a:txBody>
                    <a:bodyPr/>
                    <a:lstStyle/>
                    <a:p>
                      <a:r>
                        <a:rPr lang="zh-CN" altLang="en-US" sz="2400" dirty="0"/>
                        <a:t>存取 </a:t>
                      </a:r>
                      <a:r>
                        <a:rPr lang="en-US" altLang="zh-CN" sz="2400" dirty="0"/>
                        <a:t>SMB/CIFS </a:t>
                      </a:r>
                      <a:r>
                        <a:rPr lang="zh-CN" altLang="en-US" sz="2400" dirty="0"/>
                        <a:t>共享资源（类似于</a:t>
                      </a:r>
                      <a:r>
                        <a:rPr lang="en-US" altLang="zh-CN" sz="2400" dirty="0"/>
                        <a:t>ftp</a:t>
                      </a:r>
                      <a:r>
                        <a:rPr lang="zh-CN" altLang="en-US" sz="2400" dirty="0"/>
                        <a:t>）</a:t>
                      </a:r>
                    </a:p>
                  </a:txBody>
                  <a:tcPr/>
                </a:tc>
                <a:extLst>
                  <a:ext uri="{0D108BD9-81ED-4DB2-BD59-A6C34878D82A}">
                    <a16:rowId xmlns:a16="http://schemas.microsoft.com/office/drawing/2014/main" val="10003"/>
                  </a:ext>
                </a:extLst>
              </a:tr>
              <a:tr h="370840">
                <a:tc>
                  <a:txBody>
                    <a:bodyPr/>
                    <a:lstStyle/>
                    <a:p>
                      <a:r>
                        <a:rPr lang="en-US" altLang="zh-CN" sz="2400" b="1" dirty="0" err="1"/>
                        <a:t>wget</a:t>
                      </a:r>
                      <a:endParaRPr lang="zh-CN" altLang="en-US" sz="24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400" dirty="0"/>
                        <a:t>下载文件、镜像 </a:t>
                      </a:r>
                      <a:r>
                        <a:rPr lang="en-US" altLang="zh-CN" sz="2400" dirty="0"/>
                        <a:t>WEB</a:t>
                      </a:r>
                      <a:r>
                        <a:rPr lang="zh-CN" altLang="en-US" sz="2400" dirty="0"/>
                        <a:t>站点</a:t>
                      </a:r>
                    </a:p>
                  </a:txBody>
                  <a:tcPr/>
                </a:tc>
                <a:extLst>
                  <a:ext uri="{0D108BD9-81ED-4DB2-BD59-A6C34878D82A}">
                    <a16:rowId xmlns:a16="http://schemas.microsoft.com/office/drawing/2014/main" val="10004"/>
                  </a:ext>
                </a:extLst>
              </a:tr>
              <a:tr h="370840">
                <a:tc>
                  <a:txBody>
                    <a:bodyPr/>
                    <a:lstStyle/>
                    <a:p>
                      <a:r>
                        <a:rPr lang="en-US" altLang="zh-CN" sz="2400" b="1" dirty="0"/>
                        <a:t>rsync</a:t>
                      </a:r>
                      <a:endParaRPr lang="zh-CN" altLang="en-US" sz="2400" b="1" dirty="0"/>
                    </a:p>
                  </a:txBody>
                  <a:tcPr/>
                </a:tc>
                <a:tc>
                  <a:txBody>
                    <a:bodyPr/>
                    <a:lstStyle/>
                    <a:p>
                      <a:r>
                        <a:rPr lang="zh-CN" altLang="en-US" sz="2400" dirty="0"/>
                        <a:t>远程文件同步</a:t>
                      </a:r>
                    </a:p>
                  </a:txBody>
                  <a:tcPr/>
                </a:tc>
                <a:extLst>
                  <a:ext uri="{0D108BD9-81ED-4DB2-BD59-A6C34878D82A}">
                    <a16:rowId xmlns:a16="http://schemas.microsoft.com/office/drawing/2014/main" val="10005"/>
                  </a:ext>
                </a:extLst>
              </a:tr>
              <a:tr h="370840">
                <a:tc>
                  <a:txBody>
                    <a:bodyPr/>
                    <a:lstStyle/>
                    <a:p>
                      <a:r>
                        <a:rPr lang="en-US" altLang="zh-CN" sz="2400" b="1" dirty="0"/>
                        <a:t>links / w3m / lynx</a:t>
                      </a:r>
                      <a:endParaRPr lang="zh-CN" altLang="en-US" sz="2400" b="1" dirty="0"/>
                    </a:p>
                  </a:txBody>
                  <a:tcPr/>
                </a:tc>
                <a:tc>
                  <a:txBody>
                    <a:bodyPr/>
                    <a:lstStyle/>
                    <a:p>
                      <a:r>
                        <a:rPr lang="zh-CN" altLang="en-US" sz="2400" dirty="0"/>
                        <a:t>浏览器</a:t>
                      </a:r>
                    </a:p>
                  </a:txBody>
                  <a:tcPr/>
                </a:tc>
                <a:extLst>
                  <a:ext uri="{0D108BD9-81ED-4DB2-BD59-A6C34878D82A}">
                    <a16:rowId xmlns:a16="http://schemas.microsoft.com/office/drawing/2014/main" val="10006"/>
                  </a:ext>
                </a:extLst>
              </a:tr>
              <a:tr h="185420">
                <a:tc>
                  <a:txBody>
                    <a:bodyPr/>
                    <a:lstStyle/>
                    <a:p>
                      <a:r>
                        <a:rPr lang="en-US" altLang="zh-CN" sz="2400" b="1" dirty="0"/>
                        <a:t>mutt / mail</a:t>
                      </a:r>
                      <a:endParaRPr lang="zh-CN" altLang="en-US" sz="2400" b="1" dirty="0"/>
                    </a:p>
                  </a:txBody>
                  <a:tcPr/>
                </a:tc>
                <a:tc>
                  <a:txBody>
                    <a:bodyPr/>
                    <a:lstStyle/>
                    <a:p>
                      <a:r>
                        <a:rPr lang="zh-CN" altLang="en-US" sz="2400" dirty="0"/>
                        <a:t>邮件客户</a:t>
                      </a:r>
                    </a:p>
                  </a:txBody>
                  <a:tcPr/>
                </a:tc>
                <a:extLst>
                  <a:ext uri="{0D108BD9-81ED-4DB2-BD59-A6C34878D82A}">
                    <a16:rowId xmlns:a16="http://schemas.microsoft.com/office/drawing/2014/main" val="10007"/>
                  </a:ext>
                </a:extLst>
              </a:tr>
              <a:tr h="185420">
                <a:tc>
                  <a:txBody>
                    <a:bodyPr/>
                    <a:lstStyle/>
                    <a:p>
                      <a:r>
                        <a:rPr lang="en-US" altLang="zh-CN" sz="2400" b="1" dirty="0">
                          <a:solidFill>
                            <a:srgbClr val="7030A0"/>
                          </a:solidFill>
                        </a:rPr>
                        <a:t>ssh</a:t>
                      </a:r>
                      <a:r>
                        <a:rPr lang="en-US" altLang="zh-CN" sz="2400" b="1" dirty="0"/>
                        <a:t> / </a:t>
                      </a:r>
                      <a:r>
                        <a:rPr lang="en-US" altLang="zh-CN" sz="2400" b="1" dirty="0">
                          <a:solidFill>
                            <a:srgbClr val="00B050"/>
                          </a:solidFill>
                        </a:rPr>
                        <a:t>scp</a:t>
                      </a:r>
                      <a:r>
                        <a:rPr lang="en-US" altLang="zh-CN" sz="2400" b="1" dirty="0"/>
                        <a:t> / </a:t>
                      </a:r>
                      <a:r>
                        <a:rPr lang="en-US" altLang="zh-CN" sz="2400" b="1" dirty="0" err="1">
                          <a:solidFill>
                            <a:srgbClr val="002060"/>
                          </a:solidFill>
                        </a:rPr>
                        <a:t>sftp</a:t>
                      </a:r>
                      <a:endParaRPr lang="zh-CN" altLang="en-US" sz="2400" b="1" dirty="0">
                        <a:solidFill>
                          <a:srgbClr val="002060"/>
                        </a:solidFill>
                      </a:endParaRPr>
                    </a:p>
                  </a:txBody>
                  <a:tcPr/>
                </a:tc>
                <a:tc>
                  <a:txBody>
                    <a:bodyPr/>
                    <a:lstStyle/>
                    <a:p>
                      <a:r>
                        <a:rPr lang="zh-CN" altLang="en-US" sz="2400" dirty="0">
                          <a:solidFill>
                            <a:srgbClr val="C00000"/>
                          </a:solidFill>
                        </a:rPr>
                        <a:t>基于安全协议的</a:t>
                      </a:r>
                      <a:r>
                        <a:rPr lang="zh-CN" altLang="en-US" sz="2400" dirty="0"/>
                        <a:t> </a:t>
                      </a:r>
                      <a:r>
                        <a:rPr lang="zh-CN" altLang="en-US" sz="2400" dirty="0">
                          <a:solidFill>
                            <a:srgbClr val="7030A0"/>
                          </a:solidFill>
                        </a:rPr>
                        <a:t>远程登录</a:t>
                      </a:r>
                      <a:r>
                        <a:rPr lang="en-US" altLang="zh-CN" sz="2400" dirty="0"/>
                        <a:t>/</a:t>
                      </a:r>
                      <a:r>
                        <a:rPr lang="zh-CN" altLang="en-US" sz="2400" dirty="0">
                          <a:solidFill>
                            <a:srgbClr val="00B050"/>
                          </a:solidFill>
                        </a:rPr>
                        <a:t>远程复制</a:t>
                      </a:r>
                      <a:r>
                        <a:rPr lang="en-US" altLang="zh-CN" sz="2400" dirty="0"/>
                        <a:t>/</a:t>
                      </a:r>
                      <a:r>
                        <a:rPr lang="zh-CN" altLang="en-US" sz="2400" dirty="0">
                          <a:solidFill>
                            <a:srgbClr val="002060"/>
                          </a:solidFill>
                        </a:rPr>
                        <a:t>远程</a:t>
                      </a:r>
                      <a:r>
                        <a:rPr lang="en-US" altLang="zh-CN" sz="2400" dirty="0">
                          <a:solidFill>
                            <a:srgbClr val="002060"/>
                          </a:solidFill>
                        </a:rPr>
                        <a:t>FTP</a:t>
                      </a:r>
                      <a:endParaRPr lang="zh-CN" altLang="en-US" sz="2400" dirty="0">
                        <a:solidFill>
                          <a:srgbClr val="002060"/>
                        </a:solidFill>
                      </a:endParaRP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传统的</a:t>
            </a:r>
            <a:r>
              <a:rPr lang="en-US" altLang="zh-CN" dirty="0"/>
              <a:t>ftp</a:t>
            </a:r>
            <a:r>
              <a:rPr lang="zh-CN" altLang="en-US" dirty="0"/>
              <a:t>命令</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2307079008"/>
              </p:ext>
            </p:extLst>
          </p:nvPr>
        </p:nvGraphicFramePr>
        <p:xfrm>
          <a:off x="611560" y="3434440"/>
          <a:ext cx="8229607" cy="2682240"/>
        </p:xfrm>
        <a:graphic>
          <a:graphicData uri="http://schemas.openxmlformats.org/drawingml/2006/table">
            <a:tbl>
              <a:tblPr firstRow="1" bandRow="1">
                <a:tableStyleId>{21E4AEA4-8DFA-4A89-87EB-49C32662AFE0}</a:tableStyleId>
              </a:tblPr>
              <a:tblGrid>
                <a:gridCol w="1800200">
                  <a:extLst>
                    <a:ext uri="{9D8B030D-6E8A-4147-A177-3AD203B41FA5}">
                      <a16:colId xmlns:a16="http://schemas.microsoft.com/office/drawing/2014/main" val="20000"/>
                    </a:ext>
                  </a:extLst>
                </a:gridCol>
                <a:gridCol w="2592289">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2684990">
                  <a:extLst>
                    <a:ext uri="{9D8B030D-6E8A-4147-A177-3AD203B41FA5}">
                      <a16:colId xmlns:a16="http://schemas.microsoft.com/office/drawing/2014/main" val="20003"/>
                    </a:ext>
                  </a:extLst>
                </a:gridCol>
              </a:tblGrid>
              <a:tr h="370840">
                <a:tc>
                  <a:txBody>
                    <a:bodyPr/>
                    <a:lstStyle/>
                    <a:p>
                      <a:pPr algn="l"/>
                      <a:r>
                        <a:rPr lang="zh-CN" altLang="en-US" sz="2000" dirty="0">
                          <a:solidFill>
                            <a:srgbClr val="C00000"/>
                          </a:solidFill>
                        </a:rPr>
                        <a:t>子命令</a:t>
                      </a:r>
                    </a:p>
                  </a:txBody>
                  <a:tcPr/>
                </a:tc>
                <a:tc>
                  <a:txBody>
                    <a:bodyPr/>
                    <a:lstStyle/>
                    <a:p>
                      <a:pPr algn="l"/>
                      <a:r>
                        <a:rPr lang="zh-CN" altLang="en-US" sz="2000" dirty="0">
                          <a:solidFill>
                            <a:srgbClr val="C00000"/>
                          </a:solidFill>
                        </a:rPr>
                        <a:t>功能</a:t>
                      </a:r>
                    </a:p>
                  </a:txBody>
                  <a:tcPr/>
                </a:tc>
                <a:tc>
                  <a:txBody>
                    <a:bodyPr/>
                    <a:lstStyle/>
                    <a:p>
                      <a:pPr algn="l"/>
                      <a:r>
                        <a:rPr lang="zh-CN" altLang="en-US" sz="2000" dirty="0">
                          <a:solidFill>
                            <a:srgbClr val="C00000"/>
                          </a:solidFill>
                        </a:rPr>
                        <a:t>子命令</a:t>
                      </a:r>
                    </a:p>
                  </a:txBody>
                  <a:tcPr/>
                </a:tc>
                <a:tc>
                  <a:txBody>
                    <a:bodyPr/>
                    <a:lstStyle/>
                    <a:p>
                      <a:pPr algn="l"/>
                      <a:r>
                        <a:rPr lang="zh-CN" altLang="en-US" sz="2000" dirty="0">
                          <a:solidFill>
                            <a:srgbClr val="C00000"/>
                          </a:solidFill>
                        </a:rPr>
                        <a:t>功能</a:t>
                      </a:r>
                    </a:p>
                  </a:txBody>
                  <a:tcPr/>
                </a:tc>
                <a:extLst>
                  <a:ext uri="{0D108BD9-81ED-4DB2-BD59-A6C34878D82A}">
                    <a16:rowId xmlns:a16="http://schemas.microsoft.com/office/drawing/2014/main" val="10000"/>
                  </a:ext>
                </a:extLst>
              </a:tr>
              <a:tr h="370840">
                <a:tc>
                  <a:txBody>
                    <a:bodyPr/>
                    <a:lstStyle/>
                    <a:p>
                      <a:r>
                        <a:rPr lang="en-US" altLang="zh-CN" sz="2000" dirty="0">
                          <a:solidFill>
                            <a:srgbClr val="002060"/>
                          </a:solidFill>
                        </a:rPr>
                        <a:t>?</a:t>
                      </a:r>
                      <a:endParaRPr lang="zh-CN" altLang="en-US" sz="2000" dirty="0">
                        <a:solidFill>
                          <a:srgbClr val="002060"/>
                        </a:solidFill>
                      </a:endParaRPr>
                    </a:p>
                  </a:txBody>
                  <a:tcPr/>
                </a:tc>
                <a:tc>
                  <a:txBody>
                    <a:bodyPr/>
                    <a:lstStyle/>
                    <a:p>
                      <a:r>
                        <a:rPr lang="zh-CN" altLang="en-US" sz="2000" dirty="0"/>
                        <a:t>获得命令帮助</a:t>
                      </a:r>
                    </a:p>
                  </a:txBody>
                  <a:tcPr/>
                </a:tc>
                <a:tc>
                  <a:txBody>
                    <a:bodyPr/>
                    <a:lstStyle/>
                    <a:p>
                      <a:r>
                        <a:rPr lang="en-US" altLang="zh-CN" sz="2000" dirty="0" err="1">
                          <a:solidFill>
                            <a:srgbClr val="002060"/>
                          </a:solidFill>
                        </a:rPr>
                        <a:t>lcd</a:t>
                      </a:r>
                      <a:endParaRPr lang="zh-CN" altLang="en-US" sz="2000" dirty="0">
                        <a:solidFill>
                          <a:srgbClr val="002060"/>
                        </a:solidFill>
                      </a:endParaRPr>
                    </a:p>
                  </a:txBody>
                  <a:tcPr/>
                </a:tc>
                <a:tc>
                  <a:txBody>
                    <a:bodyPr/>
                    <a:lstStyle/>
                    <a:p>
                      <a:r>
                        <a:rPr lang="zh-CN" altLang="en-US" sz="2000" dirty="0"/>
                        <a:t>切换本地目录</a:t>
                      </a:r>
                    </a:p>
                  </a:txBody>
                  <a:tcPr/>
                </a:tc>
                <a:extLst>
                  <a:ext uri="{0D108BD9-81ED-4DB2-BD59-A6C34878D82A}">
                    <a16:rowId xmlns:a16="http://schemas.microsoft.com/office/drawing/2014/main" val="10001"/>
                  </a:ext>
                </a:extLst>
              </a:tr>
              <a:tr h="370840">
                <a:tc>
                  <a:txBody>
                    <a:bodyPr/>
                    <a:lstStyle/>
                    <a:p>
                      <a:r>
                        <a:rPr lang="en-US" altLang="zh-CN" sz="2000" dirty="0">
                          <a:solidFill>
                            <a:srgbClr val="002060"/>
                          </a:solidFill>
                        </a:rPr>
                        <a:t>!&lt;CMD&gt;</a:t>
                      </a:r>
                      <a:endParaRPr lang="zh-CN" altLang="en-US" sz="2000" dirty="0">
                        <a:solidFill>
                          <a:srgbClr val="002060"/>
                        </a:solidFill>
                      </a:endParaRPr>
                    </a:p>
                  </a:txBody>
                  <a:tcPr/>
                </a:tc>
                <a:tc>
                  <a:txBody>
                    <a:bodyPr/>
                    <a:lstStyle/>
                    <a:p>
                      <a:r>
                        <a:rPr lang="zh-CN" altLang="en-US" sz="2000" dirty="0"/>
                        <a:t>执行本地</a:t>
                      </a:r>
                      <a:r>
                        <a:rPr lang="en-US" altLang="zh-CN" sz="2000" dirty="0"/>
                        <a:t>Shell</a:t>
                      </a:r>
                      <a:r>
                        <a:rPr lang="zh-CN" altLang="en-US" sz="2000" dirty="0"/>
                        <a:t>命令</a:t>
                      </a:r>
                    </a:p>
                  </a:txBody>
                  <a:tcPr/>
                </a:tc>
                <a:tc>
                  <a:txBody>
                    <a:bodyPr/>
                    <a:lstStyle/>
                    <a:p>
                      <a:r>
                        <a:rPr lang="en-US" altLang="zh-CN" sz="2000" dirty="0">
                          <a:solidFill>
                            <a:srgbClr val="002060"/>
                          </a:solidFill>
                        </a:rPr>
                        <a:t>!</a:t>
                      </a:r>
                      <a:r>
                        <a:rPr lang="en-US" altLang="zh-CN" sz="2000" dirty="0" err="1">
                          <a:solidFill>
                            <a:srgbClr val="002060"/>
                          </a:solidFill>
                        </a:rPr>
                        <a:t>ls</a:t>
                      </a:r>
                      <a:endParaRPr lang="zh-CN" altLang="en-US" sz="2000" dirty="0">
                        <a:solidFill>
                          <a:srgbClr val="002060"/>
                        </a:solidFill>
                      </a:endParaRPr>
                    </a:p>
                  </a:txBody>
                  <a:tcPr/>
                </a:tc>
                <a:tc>
                  <a:txBody>
                    <a:bodyPr/>
                    <a:lstStyle/>
                    <a:p>
                      <a:r>
                        <a:rPr lang="zh-CN" altLang="en-US" sz="2000" dirty="0"/>
                        <a:t>显示本地目录列表</a:t>
                      </a:r>
                    </a:p>
                  </a:txBody>
                  <a:tcPr/>
                </a:tc>
                <a:extLst>
                  <a:ext uri="{0D108BD9-81ED-4DB2-BD59-A6C34878D82A}">
                    <a16:rowId xmlns:a16="http://schemas.microsoft.com/office/drawing/2014/main" val="10002"/>
                  </a:ext>
                </a:extLst>
              </a:tr>
              <a:tr h="370840">
                <a:tc>
                  <a:txBody>
                    <a:bodyPr/>
                    <a:lstStyle/>
                    <a:p>
                      <a:r>
                        <a:rPr lang="en-US" altLang="zh-CN" sz="2000" dirty="0">
                          <a:solidFill>
                            <a:srgbClr val="002060"/>
                          </a:solidFill>
                        </a:rPr>
                        <a:t>open/close</a:t>
                      </a:r>
                      <a:endParaRPr lang="zh-CN" altLang="en-US" sz="2000" dirty="0">
                        <a:solidFill>
                          <a:srgbClr val="002060"/>
                        </a:solidFill>
                      </a:endParaRPr>
                    </a:p>
                  </a:txBody>
                  <a:tcPr/>
                </a:tc>
                <a:tc>
                  <a:txBody>
                    <a:bodyPr/>
                    <a:lstStyle/>
                    <a:p>
                      <a:r>
                        <a:rPr lang="zh-CN" altLang="en-US" sz="2000" dirty="0"/>
                        <a:t>开启</a:t>
                      </a:r>
                      <a:r>
                        <a:rPr lang="en-US" altLang="zh-CN" sz="2000" dirty="0"/>
                        <a:t>/</a:t>
                      </a:r>
                      <a:r>
                        <a:rPr lang="zh-CN" altLang="en-US" sz="2000" dirty="0"/>
                        <a:t>关闭连接会话</a:t>
                      </a:r>
                    </a:p>
                  </a:txBody>
                  <a:tcPr/>
                </a:tc>
                <a:tc>
                  <a:txBody>
                    <a:bodyPr/>
                    <a:lstStyle/>
                    <a:p>
                      <a:r>
                        <a:rPr lang="en-US" altLang="zh-CN" sz="2000" dirty="0">
                          <a:solidFill>
                            <a:srgbClr val="002060"/>
                          </a:solidFill>
                        </a:rPr>
                        <a:t>bye/quit</a:t>
                      </a:r>
                      <a:endParaRPr lang="zh-CN" altLang="en-US" sz="2000" dirty="0">
                        <a:solidFill>
                          <a:srgbClr val="002060"/>
                        </a:solidFill>
                      </a:endParaRPr>
                    </a:p>
                  </a:txBody>
                  <a:tcPr/>
                </a:tc>
                <a:tc>
                  <a:txBody>
                    <a:bodyPr/>
                    <a:lstStyle/>
                    <a:p>
                      <a:r>
                        <a:rPr lang="zh-CN" altLang="en-US" sz="2000" dirty="0"/>
                        <a:t>退出</a:t>
                      </a:r>
                      <a:r>
                        <a:rPr lang="en-US" altLang="zh-CN" sz="2000" dirty="0"/>
                        <a:t>ftp</a:t>
                      </a:r>
                      <a:r>
                        <a:rPr lang="zh-CN" altLang="en-US" sz="2000" dirty="0"/>
                        <a:t>交互</a:t>
                      </a:r>
                    </a:p>
                  </a:txBody>
                  <a:tcPr/>
                </a:tc>
                <a:extLst>
                  <a:ext uri="{0D108BD9-81ED-4DB2-BD59-A6C34878D82A}">
                    <a16:rowId xmlns:a16="http://schemas.microsoft.com/office/drawing/2014/main" val="10003"/>
                  </a:ext>
                </a:extLst>
              </a:tr>
              <a:tr h="370840">
                <a:tc>
                  <a:txBody>
                    <a:bodyPr/>
                    <a:lstStyle/>
                    <a:p>
                      <a:r>
                        <a:rPr lang="en-US" altLang="zh-CN" sz="2000" dirty="0">
                          <a:solidFill>
                            <a:srgbClr val="002060"/>
                          </a:solidFill>
                        </a:rPr>
                        <a:t>bin/</a:t>
                      </a:r>
                      <a:r>
                        <a:rPr lang="en-US" altLang="zh-CN" sz="2000" dirty="0" err="1">
                          <a:solidFill>
                            <a:srgbClr val="002060"/>
                          </a:solidFill>
                        </a:rPr>
                        <a:t>asc</a:t>
                      </a:r>
                      <a:endParaRPr lang="zh-CN" altLang="en-US" sz="2000" dirty="0">
                        <a:solidFill>
                          <a:srgbClr val="002060"/>
                        </a:solidFill>
                      </a:endParaRPr>
                    </a:p>
                  </a:txBody>
                  <a:tcPr/>
                </a:tc>
                <a:tc>
                  <a:txBody>
                    <a:bodyPr/>
                    <a:lstStyle/>
                    <a:p>
                      <a:r>
                        <a:rPr lang="zh-CN" altLang="en-US" sz="2000" dirty="0"/>
                        <a:t>指定二进制</a:t>
                      </a:r>
                      <a:r>
                        <a:rPr lang="en-US" altLang="zh-CN" sz="2000" dirty="0"/>
                        <a:t>/</a:t>
                      </a:r>
                      <a:r>
                        <a:rPr lang="zh-CN" altLang="en-US" sz="2000" dirty="0"/>
                        <a:t>文本传输</a:t>
                      </a:r>
                    </a:p>
                  </a:txBody>
                  <a:tcPr/>
                </a:tc>
                <a:tc>
                  <a:txBody>
                    <a:bodyPr/>
                    <a:lstStyle/>
                    <a:p>
                      <a:r>
                        <a:rPr lang="en-US" altLang="zh-CN" sz="2000" dirty="0">
                          <a:solidFill>
                            <a:srgbClr val="002060"/>
                          </a:solidFill>
                        </a:rPr>
                        <a:t>get/put</a:t>
                      </a:r>
                      <a:endParaRPr lang="zh-CN" altLang="en-US" sz="2000" dirty="0">
                        <a:solidFill>
                          <a:srgbClr val="00206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t>单文件上传、下载</a:t>
                      </a:r>
                    </a:p>
                  </a:txBody>
                  <a:tcPr/>
                </a:tc>
                <a:extLst>
                  <a:ext uri="{0D108BD9-81ED-4DB2-BD59-A6C34878D82A}">
                    <a16:rowId xmlns:a16="http://schemas.microsoft.com/office/drawing/2014/main" val="10004"/>
                  </a:ext>
                </a:extLst>
              </a:tr>
              <a:tr h="370840">
                <a:tc>
                  <a:txBody>
                    <a:bodyPr/>
                    <a:lstStyle/>
                    <a:p>
                      <a:r>
                        <a:rPr lang="en-US" altLang="zh-CN" sz="2000" dirty="0" err="1">
                          <a:solidFill>
                            <a:srgbClr val="002060"/>
                          </a:solidFill>
                        </a:rPr>
                        <a:t>pwd</a:t>
                      </a:r>
                      <a:r>
                        <a:rPr lang="zh-CN" altLang="en-US" sz="2000" dirty="0">
                          <a:solidFill>
                            <a:srgbClr val="002060"/>
                          </a:solidFill>
                        </a:rPr>
                        <a:t>、</a:t>
                      </a:r>
                      <a:r>
                        <a:rPr lang="en-US" altLang="zh-CN" sz="2000" dirty="0" err="1">
                          <a:solidFill>
                            <a:srgbClr val="002060"/>
                          </a:solidFill>
                        </a:rPr>
                        <a:t>ls</a:t>
                      </a:r>
                      <a:r>
                        <a:rPr lang="zh-CN" altLang="en-US" sz="2000" dirty="0">
                          <a:solidFill>
                            <a:srgbClr val="002060"/>
                          </a:solidFill>
                        </a:rPr>
                        <a:t>、</a:t>
                      </a:r>
                      <a:r>
                        <a:rPr lang="en-US" altLang="zh-CN" sz="2000" dirty="0" err="1">
                          <a:solidFill>
                            <a:srgbClr val="002060"/>
                          </a:solidFill>
                        </a:rPr>
                        <a:t>cd</a:t>
                      </a:r>
                      <a:r>
                        <a:rPr lang="zh-CN" altLang="en-US" sz="2000" dirty="0">
                          <a:solidFill>
                            <a:srgbClr val="002060"/>
                          </a:solidFill>
                        </a:rPr>
                        <a:t>、</a:t>
                      </a:r>
                      <a:r>
                        <a:rPr lang="en-US" altLang="zh-CN" sz="2000" dirty="0" err="1">
                          <a:solidFill>
                            <a:srgbClr val="002060"/>
                          </a:solidFill>
                        </a:rPr>
                        <a:t>mkdir</a:t>
                      </a:r>
                      <a:r>
                        <a:rPr lang="zh-CN" altLang="en-US" sz="2000" dirty="0">
                          <a:solidFill>
                            <a:srgbClr val="002060"/>
                          </a:solidFill>
                        </a:rPr>
                        <a:t>、</a:t>
                      </a:r>
                      <a:r>
                        <a:rPr lang="en-US" altLang="zh-CN" sz="2000" dirty="0" err="1">
                          <a:solidFill>
                            <a:srgbClr val="002060"/>
                          </a:solidFill>
                        </a:rPr>
                        <a:t>rmdir</a:t>
                      </a:r>
                      <a:endParaRPr lang="zh-CN" altLang="en-US" sz="2000" dirty="0">
                        <a:solidFill>
                          <a:srgbClr val="002060"/>
                        </a:solidFill>
                      </a:endParaRPr>
                    </a:p>
                  </a:txBody>
                  <a:tcPr/>
                </a:tc>
                <a:tc>
                  <a:txBody>
                    <a:bodyPr/>
                    <a:lstStyle/>
                    <a:p>
                      <a:r>
                        <a:rPr lang="zh-CN" altLang="en-US" sz="2000" dirty="0"/>
                        <a:t>远程目录管理</a:t>
                      </a:r>
                    </a:p>
                  </a:txBody>
                  <a:tcPr/>
                </a:tc>
                <a:tc>
                  <a:txBody>
                    <a:bodyPr/>
                    <a:lstStyle/>
                    <a:p>
                      <a:r>
                        <a:rPr lang="en-US" altLang="zh-CN" sz="2000" dirty="0" err="1">
                          <a:solidFill>
                            <a:srgbClr val="002060"/>
                          </a:solidFill>
                        </a:rPr>
                        <a:t>mget</a:t>
                      </a:r>
                      <a:r>
                        <a:rPr lang="zh-CN" altLang="en-US" sz="2000" dirty="0">
                          <a:solidFill>
                            <a:srgbClr val="002060"/>
                          </a:solidFill>
                        </a:rPr>
                        <a:t>、</a:t>
                      </a:r>
                      <a:r>
                        <a:rPr lang="en-US" altLang="zh-CN" sz="2000" dirty="0" err="1">
                          <a:solidFill>
                            <a:srgbClr val="002060"/>
                          </a:solidFill>
                        </a:rPr>
                        <a:t>mput</a:t>
                      </a:r>
                      <a:endParaRPr lang="zh-CN" altLang="en-US" sz="2000" dirty="0">
                        <a:solidFill>
                          <a:srgbClr val="002060"/>
                        </a:solidFill>
                      </a:endParaRPr>
                    </a:p>
                  </a:txBody>
                  <a:tcPr/>
                </a:tc>
                <a:tc>
                  <a:txBody>
                    <a:bodyPr/>
                    <a:lstStyle/>
                    <a:p>
                      <a:r>
                        <a:rPr lang="zh-CN" altLang="en-US" sz="2000" dirty="0"/>
                        <a:t>多文件上传、下载（支持通配符）</a:t>
                      </a:r>
                    </a:p>
                  </a:txBody>
                  <a:tcPr/>
                </a:tc>
                <a:extLst>
                  <a:ext uri="{0D108BD9-81ED-4DB2-BD59-A6C34878D82A}">
                    <a16:rowId xmlns:a16="http://schemas.microsoft.com/office/drawing/2014/main" val="10005"/>
                  </a:ext>
                </a:extLst>
              </a:tr>
            </a:tbl>
          </a:graphicData>
        </a:graphic>
      </p:graphicFrame>
      <p:sp>
        <p:nvSpPr>
          <p:cNvPr id="8" name="内容占位符 2"/>
          <p:cNvSpPr txBox="1">
            <a:spLocks/>
          </p:cNvSpPr>
          <p:nvPr/>
        </p:nvSpPr>
        <p:spPr bwMode="auto">
          <a:xfrm>
            <a:off x="914400" y="1484784"/>
            <a:ext cx="8229600" cy="178051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rgbClr val="0000FF"/>
              </a:buClr>
              <a:buSzPct val="65000"/>
              <a:buFont typeface="Wingdings" pitchFamily="2" charset="2"/>
              <a:buChar char="n"/>
              <a:tabLst/>
              <a:defRPr/>
            </a:pPr>
            <a:r>
              <a:rPr kumimoji="0" lang="zh-CN" altLang="en-US" sz="3200" b="0" i="0" u="none" strike="noStrike" kern="0" cap="none" spc="0" normalizeH="0" baseline="0" noProof="0" dirty="0">
                <a:ln>
                  <a:noFill/>
                </a:ln>
                <a:effectLst/>
                <a:uLnTx/>
                <a:uFillTx/>
                <a:latin typeface="+mn-lt"/>
                <a:ea typeface="+mn-ea"/>
              </a:rPr>
              <a:t>只支持交互式使用方式</a:t>
            </a:r>
            <a:endParaRPr kumimoji="0" lang="en-US" altLang="zh-CN" sz="3200" b="0" i="0" u="none" strike="noStrike" kern="0" cap="none" spc="0" normalizeH="0" baseline="0" noProof="0" dirty="0">
              <a:ln>
                <a:noFill/>
              </a:ln>
              <a:effectLst/>
              <a:uLnTx/>
              <a:uFillTx/>
              <a:latin typeface="+mn-lt"/>
              <a:ea typeface="+mn-ea"/>
            </a:endParaRPr>
          </a:p>
          <a:p>
            <a:pPr marL="800100" lvl="1" indent="-342900">
              <a:spcBef>
                <a:spcPct val="20000"/>
              </a:spcBef>
              <a:buClr>
                <a:schemeClr val="accent1"/>
              </a:buClr>
              <a:buSzPct val="65000"/>
            </a:pPr>
            <a:r>
              <a:rPr lang="en-US" altLang="zh-CN" sz="2800" kern="0" dirty="0">
                <a:solidFill>
                  <a:schemeClr val="accent6">
                    <a:lumMod val="75000"/>
                  </a:schemeClr>
                </a:solidFill>
                <a:latin typeface="+mn-lt"/>
                <a:ea typeface="+mn-ea"/>
              </a:rPr>
              <a:t>$ ftp [&lt;hostname </a:t>
            </a:r>
            <a:r>
              <a:rPr lang="en-US" altLang="zh-CN" sz="2800" kern="0" dirty="0">
                <a:latin typeface="+mn-lt"/>
                <a:ea typeface="+mn-ea"/>
              </a:rPr>
              <a:t>or</a:t>
            </a:r>
            <a:r>
              <a:rPr lang="en-US" altLang="zh-CN" sz="2800" kern="0" dirty="0">
                <a:solidFill>
                  <a:schemeClr val="accent6">
                    <a:lumMod val="75000"/>
                  </a:schemeClr>
                </a:solidFill>
                <a:latin typeface="+mn-lt"/>
                <a:ea typeface="+mn-ea"/>
              </a:rPr>
              <a:t> </a:t>
            </a:r>
            <a:r>
              <a:rPr lang="en-US" altLang="zh-CN" sz="2800" kern="0" dirty="0" err="1">
                <a:solidFill>
                  <a:schemeClr val="accent6">
                    <a:lumMod val="75000"/>
                  </a:schemeClr>
                </a:solidFill>
                <a:latin typeface="+mn-lt"/>
                <a:ea typeface="+mn-ea"/>
              </a:rPr>
              <a:t>IPAddress</a:t>
            </a:r>
            <a:r>
              <a:rPr lang="en-US" altLang="zh-CN" sz="2800" kern="0" dirty="0">
                <a:solidFill>
                  <a:schemeClr val="accent6">
                    <a:lumMod val="75000"/>
                  </a:schemeClr>
                </a:solidFill>
                <a:latin typeface="+mn-lt"/>
                <a:ea typeface="+mn-ea"/>
              </a:rPr>
              <a:t>&gt;]</a:t>
            </a:r>
          </a:p>
          <a:p>
            <a:pPr marL="342900" indent="-342900">
              <a:spcBef>
                <a:spcPct val="20000"/>
              </a:spcBef>
              <a:buClr>
                <a:srgbClr val="0000FF"/>
              </a:buClr>
              <a:buSzPct val="65000"/>
              <a:buFont typeface="Wingdings" pitchFamily="2" charset="2"/>
              <a:buChar char="n"/>
            </a:pPr>
            <a:r>
              <a:rPr lang="zh-CN" altLang="en-US" sz="3200" kern="0" noProof="0" dirty="0">
                <a:latin typeface="+mn-lt"/>
                <a:ea typeface="+mn-ea"/>
              </a:rPr>
              <a:t>常用的交互子命令</a:t>
            </a:r>
            <a:endParaRPr kumimoji="0" lang="zh-CN" altLang="en-US" sz="3200" b="0" i="0" u="none" strike="noStrike" kern="0" cap="none" spc="0" normalizeH="0" baseline="0" noProof="0" dirty="0">
              <a:ln>
                <a:noFill/>
              </a:ln>
              <a:effectLst/>
              <a:uLnTx/>
              <a:uFillTx/>
              <a:latin typeface="+mn-lt"/>
              <a:ea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lftp</a:t>
            </a:r>
            <a:r>
              <a:rPr lang="zh-CN" altLang="en-US" dirty="0"/>
              <a:t>简介</a:t>
            </a:r>
          </a:p>
        </p:txBody>
      </p:sp>
      <p:sp>
        <p:nvSpPr>
          <p:cNvPr id="3" name="内容占位符 2"/>
          <p:cNvSpPr>
            <a:spLocks noGrp="1"/>
          </p:cNvSpPr>
          <p:nvPr>
            <p:ph idx="1"/>
          </p:nvPr>
        </p:nvSpPr>
        <p:spPr>
          <a:xfrm>
            <a:off x="717550" y="1340768"/>
            <a:ext cx="8229600" cy="5400600"/>
          </a:xfrm>
        </p:spPr>
        <p:txBody>
          <a:bodyPr/>
          <a:lstStyle/>
          <a:p>
            <a:r>
              <a:rPr lang="en-US" altLang="zh-CN" sz="2800" dirty="0" err="1"/>
              <a:t>lftp</a:t>
            </a:r>
            <a:r>
              <a:rPr lang="zh-CN" altLang="en-US" sz="2800" dirty="0"/>
              <a:t>是个功能强大的字符界面文件传输工具</a:t>
            </a:r>
            <a:endParaRPr lang="en-US" altLang="zh-CN" sz="2800" dirty="0"/>
          </a:p>
          <a:p>
            <a:pPr lvl="1"/>
            <a:r>
              <a:rPr lang="zh-CN" altLang="en-US" sz="2400" dirty="0"/>
              <a:t>主页：</a:t>
            </a:r>
            <a:r>
              <a:rPr lang="en-US" altLang="zh-CN" sz="2400" dirty="0">
                <a:hlinkClick r:id="rId2"/>
              </a:rPr>
              <a:t>http://lftp.yar.ru/</a:t>
            </a:r>
            <a:endParaRPr lang="en-US" altLang="zh-CN" sz="2400" dirty="0"/>
          </a:p>
          <a:p>
            <a:pPr lvl="1"/>
            <a:r>
              <a:rPr lang="zh-CN" altLang="en-US" sz="2400" dirty="0"/>
              <a:t>在</a:t>
            </a:r>
            <a:r>
              <a:rPr lang="en-US" altLang="zh-CN" sz="2400" dirty="0"/>
              <a:t>RHEL/</a:t>
            </a:r>
            <a:r>
              <a:rPr lang="en-US" altLang="zh-CN" sz="2400" dirty="0" err="1"/>
              <a:t>CentOS</a:t>
            </a:r>
            <a:r>
              <a:rPr lang="zh-CN" altLang="en-US" sz="2400" dirty="0"/>
              <a:t>中由名为</a:t>
            </a:r>
            <a:r>
              <a:rPr lang="zh-CN" altLang="en-US" sz="2400" dirty="0">
                <a:solidFill>
                  <a:schemeClr val="accent6">
                    <a:lumMod val="75000"/>
                  </a:schemeClr>
                </a:solidFill>
              </a:rPr>
              <a:t> </a:t>
            </a:r>
            <a:r>
              <a:rPr lang="en-US" altLang="zh-CN" sz="2400" dirty="0" err="1">
                <a:solidFill>
                  <a:schemeClr val="accent6">
                    <a:lumMod val="75000"/>
                  </a:schemeClr>
                </a:solidFill>
              </a:rPr>
              <a:t>lftp</a:t>
            </a:r>
            <a:r>
              <a:rPr lang="zh-CN" altLang="en-US" sz="2400" dirty="0">
                <a:solidFill>
                  <a:schemeClr val="accent6">
                    <a:lumMod val="75000"/>
                  </a:schemeClr>
                </a:solidFill>
              </a:rPr>
              <a:t> </a:t>
            </a:r>
            <a:r>
              <a:rPr lang="zh-CN" altLang="en-US" sz="2400" dirty="0"/>
              <a:t>的</a:t>
            </a:r>
            <a:r>
              <a:rPr lang="en-US" altLang="zh-CN" sz="2400" dirty="0"/>
              <a:t>RPM</a:t>
            </a:r>
            <a:r>
              <a:rPr lang="zh-CN" altLang="en-US" sz="2400" dirty="0"/>
              <a:t>包提供</a:t>
            </a:r>
          </a:p>
          <a:p>
            <a:r>
              <a:rPr lang="zh-CN" altLang="en-US" sz="2800" dirty="0"/>
              <a:t>功能</a:t>
            </a:r>
          </a:p>
          <a:p>
            <a:pPr lvl="1"/>
            <a:r>
              <a:rPr lang="zh-CN" altLang="en-US" sz="2000" dirty="0"/>
              <a:t>支持</a:t>
            </a:r>
            <a:r>
              <a:rPr lang="zh-CN" altLang="en-US" sz="2000" dirty="0">
                <a:solidFill>
                  <a:srgbClr val="C00000"/>
                </a:solidFill>
              </a:rPr>
              <a:t>交互式</a:t>
            </a:r>
            <a:r>
              <a:rPr lang="zh-CN" altLang="en-US" sz="2000" dirty="0"/>
              <a:t>和</a:t>
            </a:r>
            <a:r>
              <a:rPr lang="zh-CN" altLang="en-US" sz="2000" dirty="0">
                <a:solidFill>
                  <a:srgbClr val="C00000"/>
                </a:solidFill>
              </a:rPr>
              <a:t>命令行</a:t>
            </a:r>
            <a:r>
              <a:rPr lang="zh-CN" altLang="en-US" sz="2000" dirty="0"/>
              <a:t>两种工作模式</a:t>
            </a:r>
          </a:p>
          <a:p>
            <a:pPr lvl="1"/>
            <a:r>
              <a:rPr lang="zh-CN" altLang="en-US" sz="2000" dirty="0"/>
              <a:t>支持</a:t>
            </a:r>
            <a:r>
              <a:rPr lang="en-US" altLang="zh-CN" sz="2000" dirty="0"/>
              <a:t>ftp</a:t>
            </a:r>
            <a:r>
              <a:rPr lang="zh-CN" altLang="en-US" sz="2000" dirty="0"/>
              <a:t>、</a:t>
            </a:r>
            <a:r>
              <a:rPr lang="en-US" altLang="zh-CN" sz="2000" dirty="0" err="1"/>
              <a:t>ftps</a:t>
            </a:r>
            <a:r>
              <a:rPr lang="zh-CN" altLang="en-US" sz="2000" dirty="0"/>
              <a:t>、</a:t>
            </a:r>
            <a:r>
              <a:rPr lang="en-US" altLang="zh-CN" sz="2000" dirty="0"/>
              <a:t>http</a:t>
            </a:r>
            <a:r>
              <a:rPr lang="zh-CN" altLang="en-US" sz="2000" dirty="0"/>
              <a:t>、</a:t>
            </a:r>
            <a:r>
              <a:rPr lang="en-US" altLang="zh-CN" sz="2000" dirty="0"/>
              <a:t>https</a:t>
            </a:r>
            <a:r>
              <a:rPr lang="zh-CN" altLang="en-US" sz="2000" dirty="0"/>
              <a:t>、</a:t>
            </a:r>
            <a:r>
              <a:rPr lang="en-US" altLang="zh-CN" sz="2000" dirty="0" err="1"/>
              <a:t>hftp</a:t>
            </a:r>
            <a:r>
              <a:rPr lang="zh-CN" altLang="en-US" sz="2000" dirty="0"/>
              <a:t>、</a:t>
            </a:r>
            <a:r>
              <a:rPr lang="en-US" altLang="zh-CN" sz="2000" dirty="0"/>
              <a:t>fish</a:t>
            </a:r>
            <a:r>
              <a:rPr lang="zh-CN" altLang="en-US" sz="2000" dirty="0"/>
              <a:t>等传输协议</a:t>
            </a:r>
          </a:p>
          <a:p>
            <a:pPr lvl="1"/>
            <a:r>
              <a:rPr lang="zh-CN" altLang="en-US" sz="2000" dirty="0"/>
              <a:t>支持</a:t>
            </a:r>
            <a:r>
              <a:rPr lang="en-US" altLang="zh-CN" sz="2000" dirty="0" err="1"/>
              <a:t>FXP【File</a:t>
            </a:r>
            <a:r>
              <a:rPr lang="en-US" altLang="zh-CN" sz="2000" dirty="0"/>
              <a:t> </a:t>
            </a:r>
            <a:r>
              <a:rPr lang="en-US" altLang="zh-CN" sz="2000" dirty="0" err="1"/>
              <a:t>eXchange</a:t>
            </a:r>
            <a:r>
              <a:rPr lang="en-US" altLang="zh-CN" sz="2000" dirty="0"/>
              <a:t> Protocol】</a:t>
            </a:r>
            <a:r>
              <a:rPr lang="zh-CN" altLang="en-US" sz="2000" dirty="0"/>
              <a:t>（在两个</a:t>
            </a:r>
            <a:r>
              <a:rPr lang="en-US" altLang="zh-CN" sz="2000" dirty="0"/>
              <a:t>FTP</a:t>
            </a:r>
            <a:r>
              <a:rPr lang="zh-CN" altLang="en-US" sz="2000" dirty="0"/>
              <a:t>服务器之间传输文件）</a:t>
            </a:r>
          </a:p>
          <a:p>
            <a:pPr lvl="1"/>
            <a:r>
              <a:rPr lang="zh-CN" altLang="en-US" sz="2000" dirty="0"/>
              <a:t>支持代理、支持多线程传输、支持断点续传</a:t>
            </a:r>
          </a:p>
          <a:p>
            <a:pPr lvl="1"/>
            <a:r>
              <a:rPr lang="zh-CN" altLang="en-US" sz="2000" dirty="0"/>
              <a:t>支持传输队列（</a:t>
            </a:r>
            <a:r>
              <a:rPr lang="en-US" altLang="zh-CN" sz="2000" dirty="0"/>
              <a:t>queue)</a:t>
            </a:r>
            <a:r>
              <a:rPr lang="zh-CN" altLang="en-US" sz="2000" dirty="0"/>
              <a:t>、支持书签（</a:t>
            </a:r>
            <a:r>
              <a:rPr lang="en-US" altLang="zh-CN" sz="2000" dirty="0"/>
              <a:t>bookmark</a:t>
            </a:r>
            <a:r>
              <a:rPr lang="zh-CN" altLang="en-US" sz="2000" dirty="0"/>
              <a:t>）</a:t>
            </a:r>
          </a:p>
          <a:p>
            <a:pPr lvl="1"/>
            <a:r>
              <a:rPr lang="zh-CN" altLang="en-US" sz="2000" dirty="0"/>
              <a:t>支持镜像（</a:t>
            </a:r>
            <a:r>
              <a:rPr lang="en-US" altLang="zh-CN" sz="2000" dirty="0"/>
              <a:t>mirror</a:t>
            </a:r>
            <a:r>
              <a:rPr lang="zh-CN" altLang="en-US" sz="2000" dirty="0"/>
              <a:t>）</a:t>
            </a:r>
          </a:p>
          <a:p>
            <a:pPr lvl="1"/>
            <a:r>
              <a:rPr lang="zh-CN" altLang="en-US" sz="2000" dirty="0"/>
              <a:t>类似</a:t>
            </a:r>
            <a:r>
              <a:rPr lang="en-US" altLang="zh-CN" sz="2000" dirty="0"/>
              <a:t>bash</a:t>
            </a:r>
            <a:r>
              <a:rPr lang="zh-CN" altLang="en-US" sz="2000" dirty="0"/>
              <a:t>，提供后台命令、</a:t>
            </a:r>
            <a:r>
              <a:rPr lang="en-US" altLang="zh-CN" sz="2000" dirty="0" err="1"/>
              <a:t>nohop</a:t>
            </a:r>
            <a:r>
              <a:rPr lang="zh-CN" altLang="en-US" sz="2000" dirty="0"/>
              <a:t>模式、命令历史、命令别名、命令补齐、作业控制、</a:t>
            </a:r>
            <a:r>
              <a:rPr lang="en-US" altLang="zh-CN" sz="2000" dirty="0" err="1"/>
              <a:t>lftp</a:t>
            </a:r>
            <a:r>
              <a:rPr lang="zh-CN" altLang="en-US" sz="2000" dirty="0"/>
              <a:t>环境设置等支持。</a:t>
            </a:r>
          </a:p>
          <a:p>
            <a:pPr lvl="1"/>
            <a:r>
              <a:rPr lang="zh-CN" altLang="en-US" sz="2000" dirty="0"/>
              <a:t>使用 </a:t>
            </a:r>
            <a:r>
              <a:rPr lang="en-US" altLang="zh-CN" sz="2000" dirty="0" err="1"/>
              <a:t>lftpget</a:t>
            </a:r>
            <a:r>
              <a:rPr lang="en-US" altLang="zh-CN" sz="2000" dirty="0"/>
              <a:t> </a:t>
            </a:r>
            <a:r>
              <a:rPr lang="zh-CN" altLang="en-US" sz="2000" dirty="0"/>
              <a:t>来实现自动化传输</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lftp</a:t>
            </a:r>
            <a:r>
              <a:rPr lang="zh-CN" altLang="en-US" dirty="0"/>
              <a:t>的交互模式</a:t>
            </a:r>
          </a:p>
        </p:txBody>
      </p:sp>
      <p:sp>
        <p:nvSpPr>
          <p:cNvPr id="3" name="内容占位符 2"/>
          <p:cNvSpPr>
            <a:spLocks noGrp="1"/>
          </p:cNvSpPr>
          <p:nvPr>
            <p:ph idx="1"/>
          </p:nvPr>
        </p:nvSpPr>
        <p:spPr>
          <a:xfrm>
            <a:off x="323528" y="1412776"/>
            <a:ext cx="9011344" cy="4862165"/>
          </a:xfrm>
        </p:spPr>
        <p:txBody>
          <a:bodyPr/>
          <a:lstStyle/>
          <a:p>
            <a:r>
              <a:rPr lang="zh-CN" altLang="en-US" dirty="0"/>
              <a:t>进入</a:t>
            </a:r>
            <a:r>
              <a:rPr lang="en-US" altLang="zh-CN" dirty="0" err="1"/>
              <a:t>lftp</a:t>
            </a:r>
            <a:r>
              <a:rPr lang="zh-CN" altLang="en-US" dirty="0"/>
              <a:t>交互模式的命令格式</a:t>
            </a:r>
            <a:endParaRPr lang="en-US" altLang="zh-CN" dirty="0"/>
          </a:p>
          <a:p>
            <a:pPr lvl="1">
              <a:buNone/>
            </a:pPr>
            <a:r>
              <a:rPr lang="fr-FR" altLang="zh-CN" dirty="0">
                <a:solidFill>
                  <a:schemeClr val="accent6">
                    <a:lumMod val="75000"/>
                  </a:schemeClr>
                </a:solidFill>
              </a:rPr>
              <a:t>lftp [-p &lt;port&gt;] [-u &lt;user&gt;[,&lt;pass&gt;]] &lt;site&gt;</a:t>
            </a:r>
          </a:p>
          <a:p>
            <a:pPr lvl="1">
              <a:buNone/>
            </a:pPr>
            <a:r>
              <a:rPr lang="fr-FR" altLang="zh-CN" dirty="0">
                <a:solidFill>
                  <a:schemeClr val="accent6">
                    <a:lumMod val="75000"/>
                  </a:schemeClr>
                </a:solidFill>
              </a:rPr>
              <a:t>lftp </a:t>
            </a:r>
            <a:r>
              <a:rPr lang="fr-FR" altLang="zh-CN" dirty="0">
                <a:solidFill>
                  <a:srgbClr val="C00000"/>
                </a:solidFill>
              </a:rPr>
              <a:t>ftp://</a:t>
            </a:r>
            <a:r>
              <a:rPr lang="fr-FR" altLang="zh-CN" dirty="0">
                <a:solidFill>
                  <a:schemeClr val="accent6">
                    <a:lumMod val="75000"/>
                  </a:schemeClr>
                </a:solidFill>
              </a:rPr>
              <a:t>[&lt;user&gt;[</a:t>
            </a:r>
            <a:r>
              <a:rPr lang="fr-FR" altLang="zh-CN" dirty="0">
                <a:solidFill>
                  <a:srgbClr val="C00000"/>
                </a:solidFill>
              </a:rPr>
              <a:t>:</a:t>
            </a:r>
            <a:r>
              <a:rPr lang="fr-FR" altLang="zh-CN" dirty="0">
                <a:solidFill>
                  <a:schemeClr val="accent6">
                    <a:lumMod val="75000"/>
                  </a:schemeClr>
                </a:solidFill>
              </a:rPr>
              <a:t>&lt;pass&gt;]]</a:t>
            </a:r>
            <a:r>
              <a:rPr lang="fr-FR" altLang="zh-CN" dirty="0">
                <a:solidFill>
                  <a:srgbClr val="C00000"/>
                </a:solidFill>
              </a:rPr>
              <a:t>@</a:t>
            </a:r>
            <a:r>
              <a:rPr lang="fr-FR" altLang="zh-CN" dirty="0">
                <a:solidFill>
                  <a:schemeClr val="accent6">
                    <a:lumMod val="75000"/>
                  </a:schemeClr>
                </a:solidFill>
              </a:rPr>
              <a:t>&lt;site&gt;</a:t>
            </a:r>
            <a:r>
              <a:rPr lang="en-US" altLang="zh-CN" dirty="0">
                <a:solidFill>
                  <a:schemeClr val="accent6">
                    <a:lumMod val="75000"/>
                  </a:schemeClr>
                </a:solidFill>
              </a:rPr>
              <a:t>[:port]</a:t>
            </a:r>
          </a:p>
          <a:p>
            <a:r>
              <a:rPr lang="zh-CN" altLang="en-US" dirty="0"/>
              <a:t>例如</a:t>
            </a:r>
            <a:endParaRPr lang="en-US" altLang="zh-CN" dirty="0"/>
          </a:p>
          <a:p>
            <a:pPr lvl="1">
              <a:buNone/>
            </a:pPr>
            <a:r>
              <a:rPr lang="fr-FR" altLang="zh-CN" dirty="0">
                <a:solidFill>
                  <a:schemeClr val="accent6">
                    <a:lumMod val="75000"/>
                  </a:schemeClr>
                </a:solidFill>
              </a:rPr>
              <a:t>$ lftp ftp.example.com</a:t>
            </a:r>
          </a:p>
          <a:p>
            <a:pPr lvl="1">
              <a:buNone/>
            </a:pPr>
            <a:r>
              <a:rPr lang="fr-FR" altLang="zh-CN" dirty="0">
                <a:solidFill>
                  <a:schemeClr val="accent6">
                    <a:lumMod val="75000"/>
                  </a:schemeClr>
                </a:solidFill>
              </a:rPr>
              <a:t>$ lftp </a:t>
            </a:r>
            <a:r>
              <a:rPr lang="en-US" altLang="zh-CN" dirty="0">
                <a:solidFill>
                  <a:schemeClr val="accent6">
                    <a:lumMod val="75000"/>
                  </a:schemeClr>
                </a:solidFill>
              </a:rPr>
              <a:t>-p 2021 </a:t>
            </a:r>
            <a:r>
              <a:rPr lang="fr-FR" altLang="zh-CN" dirty="0">
                <a:solidFill>
                  <a:schemeClr val="accent6">
                    <a:lumMod val="75000"/>
                  </a:schemeClr>
                </a:solidFill>
              </a:rPr>
              <a:t>ftp.example.com</a:t>
            </a:r>
          </a:p>
          <a:p>
            <a:pPr lvl="1">
              <a:buNone/>
            </a:pPr>
            <a:r>
              <a:rPr lang="fr-FR" altLang="zh-CN" dirty="0">
                <a:solidFill>
                  <a:schemeClr val="accent6">
                    <a:lumMod val="75000"/>
                  </a:schemeClr>
                </a:solidFill>
              </a:rPr>
              <a:t>$ lftp -u joe ftp.example.com</a:t>
            </a:r>
          </a:p>
          <a:p>
            <a:pPr lvl="1">
              <a:buNone/>
            </a:pPr>
            <a:r>
              <a:rPr lang="fr-FR" altLang="zh-CN" dirty="0">
                <a:solidFill>
                  <a:schemeClr val="accent6">
                    <a:lumMod val="75000"/>
                  </a:schemeClr>
                </a:solidFill>
              </a:rPr>
              <a:t>$ lftp -u joe,joespass ftp.example.com</a:t>
            </a:r>
          </a:p>
          <a:p>
            <a:pPr lvl="1">
              <a:buNone/>
            </a:pPr>
            <a:r>
              <a:rPr lang="fr-FR" altLang="zh-CN" dirty="0">
                <a:solidFill>
                  <a:schemeClr val="accent6">
                    <a:lumMod val="75000"/>
                  </a:schemeClr>
                </a:solidFill>
              </a:rPr>
              <a:t>$ lftp ftp://joe@ftp.example.com</a:t>
            </a:r>
          </a:p>
          <a:p>
            <a:pPr lvl="1">
              <a:buNone/>
            </a:pPr>
            <a:r>
              <a:rPr lang="fr-FR" altLang="zh-CN" dirty="0">
                <a:solidFill>
                  <a:schemeClr val="accent6">
                    <a:lumMod val="75000"/>
                  </a:schemeClr>
                </a:solidFill>
              </a:rPr>
              <a:t>$ lftp ftp://joe:joespass@ftp.example.com</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lftp</a:t>
            </a:r>
            <a:r>
              <a:rPr lang="zh-CN" altLang="en-US" dirty="0"/>
              <a:t>的交互子命令</a:t>
            </a:r>
          </a:p>
        </p:txBody>
      </p:sp>
      <p:sp>
        <p:nvSpPr>
          <p:cNvPr id="3" name="内容占位符 2"/>
          <p:cNvSpPr>
            <a:spLocks noGrp="1"/>
          </p:cNvSpPr>
          <p:nvPr>
            <p:ph idx="1"/>
          </p:nvPr>
        </p:nvSpPr>
        <p:spPr>
          <a:xfrm>
            <a:off x="899592" y="1371600"/>
            <a:ext cx="7772400" cy="5225752"/>
          </a:xfrm>
        </p:spPr>
        <p:txBody>
          <a:bodyPr/>
          <a:lstStyle/>
          <a:p>
            <a:r>
              <a:rPr lang="en-US" altLang="zh-CN" dirty="0" err="1"/>
              <a:t>lftp</a:t>
            </a:r>
            <a:r>
              <a:rPr lang="zh-CN" altLang="en-US" dirty="0"/>
              <a:t>支持传统</a:t>
            </a:r>
            <a:r>
              <a:rPr lang="en-US" altLang="zh-CN" dirty="0"/>
              <a:t>ftp</a:t>
            </a:r>
            <a:r>
              <a:rPr lang="zh-CN" altLang="en-US" dirty="0"/>
              <a:t>的所有子命令</a:t>
            </a:r>
            <a:endParaRPr lang="en-US" altLang="zh-CN" dirty="0"/>
          </a:p>
          <a:p>
            <a:r>
              <a:rPr lang="en-US" altLang="zh-CN" dirty="0" err="1"/>
              <a:t>lftp</a:t>
            </a:r>
            <a:r>
              <a:rPr lang="zh-CN" altLang="en-US" dirty="0"/>
              <a:t>还支持如下子命令（常用的）</a:t>
            </a:r>
            <a:endParaRPr lang="en-US" altLang="zh-CN" dirty="0"/>
          </a:p>
          <a:p>
            <a:pPr lvl="1"/>
            <a:r>
              <a:rPr lang="en-US" altLang="zh-CN" sz="2600" dirty="0">
                <a:solidFill>
                  <a:schemeClr val="accent6">
                    <a:lumMod val="75000"/>
                  </a:schemeClr>
                </a:solidFill>
              </a:rPr>
              <a:t>help &lt;</a:t>
            </a:r>
            <a:r>
              <a:rPr lang="en-US" altLang="zh-CN" sz="2600" dirty="0" err="1">
                <a:solidFill>
                  <a:schemeClr val="accent6">
                    <a:lumMod val="75000"/>
                  </a:schemeClr>
                </a:solidFill>
              </a:rPr>
              <a:t>cmd</a:t>
            </a:r>
            <a:r>
              <a:rPr lang="en-US" altLang="zh-CN" sz="2600" dirty="0">
                <a:solidFill>
                  <a:schemeClr val="accent6">
                    <a:lumMod val="75000"/>
                  </a:schemeClr>
                </a:solidFill>
              </a:rPr>
              <a:t>&gt;</a:t>
            </a:r>
            <a:r>
              <a:rPr lang="zh-CN" altLang="en-US" sz="2600" dirty="0"/>
              <a:t>：显示指定子命令的帮助信息</a:t>
            </a:r>
            <a:endParaRPr lang="en-US" altLang="zh-CN" sz="2600" dirty="0"/>
          </a:p>
          <a:p>
            <a:pPr lvl="1"/>
            <a:r>
              <a:rPr lang="en-US" altLang="zh-CN" sz="2600" dirty="0">
                <a:solidFill>
                  <a:schemeClr val="accent6">
                    <a:lumMod val="75000"/>
                  </a:schemeClr>
                </a:solidFill>
              </a:rPr>
              <a:t>get/put/</a:t>
            </a:r>
            <a:r>
              <a:rPr lang="en-US" altLang="zh-CN" sz="2600" dirty="0" err="1">
                <a:solidFill>
                  <a:schemeClr val="accent6">
                    <a:lumMod val="75000"/>
                  </a:schemeClr>
                </a:solidFill>
              </a:rPr>
              <a:t>mget</a:t>
            </a:r>
            <a:r>
              <a:rPr lang="en-US" altLang="zh-CN" sz="2600" dirty="0">
                <a:solidFill>
                  <a:schemeClr val="accent6">
                    <a:lumMod val="75000"/>
                  </a:schemeClr>
                </a:solidFill>
              </a:rPr>
              <a:t>/</a:t>
            </a:r>
            <a:r>
              <a:rPr lang="en-US" altLang="zh-CN" sz="2600" dirty="0" err="1">
                <a:solidFill>
                  <a:schemeClr val="accent6">
                    <a:lumMod val="75000"/>
                  </a:schemeClr>
                </a:solidFill>
              </a:rPr>
              <a:t>mput</a:t>
            </a:r>
            <a:r>
              <a:rPr lang="zh-CN" altLang="en-US" sz="2600" dirty="0"/>
              <a:t>：比传统</a:t>
            </a:r>
            <a:r>
              <a:rPr lang="en-US" altLang="zh-CN" sz="2600" dirty="0"/>
              <a:t>ftp</a:t>
            </a:r>
            <a:r>
              <a:rPr lang="zh-CN" altLang="en-US" sz="2600" dirty="0"/>
              <a:t>提供更多的选项</a:t>
            </a:r>
            <a:endParaRPr lang="en-US" altLang="zh-CN" sz="2600" dirty="0"/>
          </a:p>
          <a:p>
            <a:pPr lvl="1"/>
            <a:r>
              <a:rPr lang="en-US" altLang="zh-CN" sz="2600" dirty="0" err="1">
                <a:solidFill>
                  <a:schemeClr val="accent6">
                    <a:lumMod val="75000"/>
                  </a:schemeClr>
                </a:solidFill>
              </a:rPr>
              <a:t>pget</a:t>
            </a:r>
            <a:r>
              <a:rPr lang="zh-CN" altLang="en-US" sz="2600" dirty="0"/>
              <a:t>：多线程下载</a:t>
            </a:r>
            <a:endParaRPr lang="en-US" altLang="zh-CN" sz="2600" dirty="0"/>
          </a:p>
          <a:p>
            <a:pPr lvl="1"/>
            <a:r>
              <a:rPr lang="en-US" altLang="zh-CN" sz="2600" dirty="0" err="1">
                <a:solidFill>
                  <a:schemeClr val="accent6">
                    <a:lumMod val="75000"/>
                  </a:schemeClr>
                </a:solidFill>
              </a:rPr>
              <a:t>reget</a:t>
            </a:r>
            <a:r>
              <a:rPr lang="en-US" altLang="zh-CN" sz="2600" dirty="0">
                <a:solidFill>
                  <a:schemeClr val="accent6">
                    <a:lumMod val="75000"/>
                  </a:schemeClr>
                </a:solidFill>
              </a:rPr>
              <a:t>/</a:t>
            </a:r>
            <a:r>
              <a:rPr lang="en-US" altLang="zh-CN" sz="2600" dirty="0" err="1">
                <a:solidFill>
                  <a:schemeClr val="accent6">
                    <a:lumMod val="75000"/>
                  </a:schemeClr>
                </a:solidFill>
              </a:rPr>
              <a:t>reput</a:t>
            </a:r>
            <a:r>
              <a:rPr lang="zh-CN" altLang="en-US" sz="2600" dirty="0"/>
              <a:t>：续传，等效于 </a:t>
            </a:r>
            <a:r>
              <a:rPr lang="en-US" altLang="zh-CN" sz="2600" dirty="0"/>
              <a:t>get/put </a:t>
            </a:r>
            <a:r>
              <a:rPr lang="zh-CN" altLang="en-US" sz="2600" dirty="0"/>
              <a:t>的 </a:t>
            </a:r>
            <a:r>
              <a:rPr lang="en-US" altLang="zh-CN" sz="2600" dirty="0"/>
              <a:t>–c </a:t>
            </a:r>
            <a:r>
              <a:rPr lang="zh-CN" altLang="en-US" sz="2600" dirty="0"/>
              <a:t>选项</a:t>
            </a:r>
            <a:endParaRPr lang="en-US" altLang="zh-CN" sz="2600" dirty="0"/>
          </a:p>
          <a:p>
            <a:pPr lvl="1"/>
            <a:r>
              <a:rPr lang="en-US" altLang="zh-CN" sz="2600" dirty="0">
                <a:solidFill>
                  <a:schemeClr val="accent6">
                    <a:lumMod val="75000"/>
                  </a:schemeClr>
                </a:solidFill>
              </a:rPr>
              <a:t>mirror</a:t>
            </a:r>
            <a:r>
              <a:rPr lang="zh-CN" altLang="en-US" sz="2600" dirty="0"/>
              <a:t>：镜像站点目录</a:t>
            </a:r>
            <a:endParaRPr lang="en-US" altLang="zh-CN" sz="2600" dirty="0"/>
          </a:p>
          <a:p>
            <a:pPr lvl="1"/>
            <a:r>
              <a:rPr lang="en-US" altLang="zh-CN" sz="2600" dirty="0">
                <a:solidFill>
                  <a:schemeClr val="accent6">
                    <a:lumMod val="75000"/>
                  </a:schemeClr>
                </a:solidFill>
              </a:rPr>
              <a:t>open/close</a:t>
            </a:r>
            <a:r>
              <a:rPr lang="zh-CN" altLang="en-US" sz="2600" dirty="0"/>
              <a:t>：开始</a:t>
            </a:r>
            <a:r>
              <a:rPr lang="en-US" altLang="zh-CN" sz="2600" dirty="0"/>
              <a:t>/</a:t>
            </a:r>
            <a:r>
              <a:rPr lang="zh-CN" altLang="en-US" sz="2600" dirty="0"/>
              <a:t>关闭一个</a:t>
            </a:r>
            <a:r>
              <a:rPr lang="en-US" altLang="zh-CN" sz="2600" dirty="0"/>
              <a:t>FTP</a:t>
            </a:r>
            <a:r>
              <a:rPr lang="zh-CN" altLang="en-US" sz="2600" dirty="0"/>
              <a:t>连接</a:t>
            </a:r>
            <a:endParaRPr lang="en-US" altLang="zh-CN" sz="2600" dirty="0"/>
          </a:p>
          <a:p>
            <a:pPr lvl="1"/>
            <a:r>
              <a:rPr lang="en-US" altLang="zh-CN" sz="2600" dirty="0">
                <a:solidFill>
                  <a:schemeClr val="accent6">
                    <a:lumMod val="75000"/>
                  </a:schemeClr>
                </a:solidFill>
              </a:rPr>
              <a:t>set</a:t>
            </a:r>
            <a:r>
              <a:rPr lang="zh-CN" altLang="en-US" sz="2600" dirty="0"/>
              <a:t>：设置</a:t>
            </a:r>
            <a:r>
              <a:rPr lang="en-US" altLang="zh-CN" sz="2600" dirty="0" err="1"/>
              <a:t>lftp</a:t>
            </a:r>
            <a:r>
              <a:rPr lang="zh-CN" altLang="en-US" sz="2600" dirty="0"/>
              <a:t>的环境参数</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7810375" cy="1052513"/>
          </a:xfrm>
        </p:spPr>
        <p:txBody>
          <a:bodyPr/>
          <a:lstStyle/>
          <a:p>
            <a:r>
              <a:rPr lang="en-US" altLang="zh-CN" dirty="0" err="1"/>
              <a:t>lftp</a:t>
            </a:r>
            <a:r>
              <a:rPr lang="zh-CN" altLang="en-US" dirty="0"/>
              <a:t>的交互子命令</a:t>
            </a:r>
            <a:r>
              <a:rPr lang="en-US" altLang="zh-CN" dirty="0"/>
              <a:t>— get/put</a:t>
            </a:r>
            <a:endParaRPr lang="zh-CN" altLang="en-US" dirty="0"/>
          </a:p>
        </p:txBody>
      </p:sp>
      <p:sp>
        <p:nvSpPr>
          <p:cNvPr id="3" name="内容占位符 2"/>
          <p:cNvSpPr>
            <a:spLocks noGrp="1"/>
          </p:cNvSpPr>
          <p:nvPr>
            <p:ph idx="1"/>
          </p:nvPr>
        </p:nvSpPr>
        <p:spPr>
          <a:xfrm>
            <a:off x="457200" y="1628800"/>
            <a:ext cx="8229600" cy="4358109"/>
          </a:xfrm>
        </p:spPr>
        <p:txBody>
          <a:bodyPr/>
          <a:lstStyle/>
          <a:p>
            <a:r>
              <a:rPr lang="zh-CN" altLang="en-US" dirty="0"/>
              <a:t>格式</a:t>
            </a:r>
            <a:endParaRPr lang="en-US" altLang="zh-CN" dirty="0"/>
          </a:p>
          <a:p>
            <a:pPr lvl="1"/>
            <a:r>
              <a:rPr lang="pt-BR" altLang="zh-CN" sz="2400" dirty="0">
                <a:solidFill>
                  <a:schemeClr val="accent6">
                    <a:lumMod val="75000"/>
                  </a:schemeClr>
                </a:solidFill>
              </a:rPr>
              <a:t>get [-E] [-a] [-c] [-O base] rfile [-o lfile]</a:t>
            </a:r>
          </a:p>
          <a:p>
            <a:pPr lvl="1"/>
            <a:r>
              <a:rPr lang="pt-BR" altLang="zh-CN" sz="2400" dirty="0">
                <a:solidFill>
                  <a:schemeClr val="accent6">
                    <a:lumMod val="75000"/>
                  </a:schemeClr>
                </a:solidFill>
              </a:rPr>
              <a:t>put [-E] [-a] [-c] [-O base] lfile [-o rfile]</a:t>
            </a:r>
          </a:p>
          <a:p>
            <a:r>
              <a:rPr lang="zh-CN" altLang="en-US" dirty="0"/>
              <a:t>选项</a:t>
            </a:r>
            <a:endParaRPr lang="en-US" altLang="zh-CN" dirty="0"/>
          </a:p>
          <a:p>
            <a:pPr lvl="1"/>
            <a:r>
              <a:rPr lang="en-US" altLang="zh-CN" sz="2400" dirty="0">
                <a:solidFill>
                  <a:srgbClr val="C00000"/>
                </a:solidFill>
              </a:rPr>
              <a:t>-E</a:t>
            </a:r>
            <a:r>
              <a:rPr lang="zh-CN" altLang="en-US" sz="2400" dirty="0"/>
              <a:t>：传输完毕</a:t>
            </a:r>
            <a:r>
              <a:rPr lang="zh-CN" altLang="en-US" sz="2400" dirty="0">
                <a:solidFill>
                  <a:srgbClr val="C00000"/>
                </a:solidFill>
              </a:rPr>
              <a:t>删除源文件</a:t>
            </a:r>
            <a:endParaRPr lang="en-US" altLang="zh-CN" sz="2400" dirty="0">
              <a:solidFill>
                <a:srgbClr val="C00000"/>
              </a:solidFill>
            </a:endParaRPr>
          </a:p>
          <a:p>
            <a:pPr lvl="1"/>
            <a:r>
              <a:rPr lang="en-US" altLang="zh-CN" sz="2400" dirty="0"/>
              <a:t>-a</a:t>
            </a:r>
            <a:r>
              <a:rPr lang="zh-CN" altLang="en-US" sz="2400" dirty="0"/>
              <a:t>：使用</a:t>
            </a:r>
            <a:r>
              <a:rPr lang="en-US" altLang="zh-CN" sz="2400" dirty="0" err="1"/>
              <a:t>ASCii</a:t>
            </a:r>
            <a:r>
              <a:rPr lang="zh-CN" altLang="en-US" sz="2400" dirty="0"/>
              <a:t>模式传输（默认使用</a:t>
            </a:r>
            <a:r>
              <a:rPr lang="en-US" altLang="zh-CN" sz="2400" dirty="0" err="1"/>
              <a:t>BINary</a:t>
            </a:r>
            <a:r>
              <a:rPr lang="zh-CN" altLang="en-US" sz="2400" dirty="0"/>
              <a:t>模式）</a:t>
            </a:r>
            <a:endParaRPr lang="en-US" altLang="zh-CN" sz="2400" dirty="0"/>
          </a:p>
          <a:p>
            <a:pPr lvl="1"/>
            <a:r>
              <a:rPr lang="en-US" altLang="zh-CN" sz="2400" dirty="0"/>
              <a:t>-c</a:t>
            </a:r>
            <a:r>
              <a:rPr lang="zh-CN" altLang="en-US" sz="2400" dirty="0"/>
              <a:t>：续传（</a:t>
            </a:r>
            <a:r>
              <a:rPr lang="en-US" altLang="zh-CN" sz="2400" dirty="0"/>
              <a:t>continue</a:t>
            </a:r>
            <a:r>
              <a:rPr lang="zh-CN" altLang="en-US" sz="2400" dirty="0"/>
              <a:t>）</a:t>
            </a:r>
            <a:endParaRPr lang="en-US" altLang="zh-CN" sz="2400" dirty="0"/>
          </a:p>
          <a:p>
            <a:pPr lvl="1"/>
            <a:r>
              <a:rPr lang="en-US" altLang="zh-CN" sz="2400" dirty="0">
                <a:solidFill>
                  <a:srgbClr val="C00000"/>
                </a:solidFill>
              </a:rPr>
              <a:t>-O </a:t>
            </a:r>
            <a:r>
              <a:rPr lang="en-US" altLang="zh-CN" sz="2400" dirty="0"/>
              <a:t>base</a:t>
            </a:r>
            <a:r>
              <a:rPr lang="zh-CN" altLang="en-US" sz="2400" dirty="0"/>
              <a:t>：</a:t>
            </a:r>
            <a:r>
              <a:rPr lang="zh-CN" altLang="en-US" sz="2400" dirty="0">
                <a:solidFill>
                  <a:srgbClr val="C00000"/>
                </a:solidFill>
              </a:rPr>
              <a:t>指定目标文件存放的目录或指定的</a:t>
            </a:r>
            <a:r>
              <a:rPr lang="en-US" altLang="zh-CN" sz="2400" dirty="0">
                <a:solidFill>
                  <a:srgbClr val="C00000"/>
                </a:solidFill>
              </a:rPr>
              <a:t>URL</a:t>
            </a:r>
          </a:p>
          <a:p>
            <a:pPr lvl="1"/>
            <a:r>
              <a:rPr lang="en-US" altLang="zh-CN" sz="2400" dirty="0">
                <a:solidFill>
                  <a:srgbClr val="C00000"/>
                </a:solidFill>
              </a:rPr>
              <a:t>-o</a:t>
            </a:r>
            <a:r>
              <a:rPr lang="zh-CN" altLang="en-US" sz="2400" dirty="0"/>
              <a:t>：</a:t>
            </a:r>
            <a:r>
              <a:rPr lang="zh-CN" altLang="en-US" sz="2400" dirty="0">
                <a:solidFill>
                  <a:srgbClr val="C00000"/>
                </a:solidFill>
              </a:rPr>
              <a:t>指定目标文件的名字或</a:t>
            </a:r>
            <a:r>
              <a:rPr lang="en-US" altLang="zh-CN" sz="2400" dirty="0">
                <a:solidFill>
                  <a:srgbClr val="C00000"/>
                </a:solidFill>
              </a:rPr>
              <a:t>URL</a:t>
            </a:r>
            <a:r>
              <a:rPr lang="zh-CN" altLang="en-US" sz="2400" dirty="0"/>
              <a:t>（用于传输后改名存储）</a:t>
            </a:r>
            <a:endParaRPr lang="en-US" altLang="zh-CN" sz="2400" dirty="0"/>
          </a:p>
          <a:p>
            <a:pPr lvl="1"/>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lftp</a:t>
            </a:r>
            <a:r>
              <a:rPr lang="zh-CN" altLang="en-US" dirty="0"/>
              <a:t>的交互模式</a:t>
            </a:r>
          </a:p>
        </p:txBody>
      </p:sp>
      <p:sp>
        <p:nvSpPr>
          <p:cNvPr id="4" name="矩形 3"/>
          <p:cNvSpPr/>
          <p:nvPr/>
        </p:nvSpPr>
        <p:spPr>
          <a:xfrm>
            <a:off x="179512" y="1412776"/>
            <a:ext cx="8496944" cy="5262979"/>
          </a:xfrm>
          <a:prstGeom prst="rect">
            <a:avLst/>
          </a:prstGeom>
        </p:spPr>
        <p:txBody>
          <a:bodyPr wrap="square">
            <a:spAutoFit/>
          </a:bodyPr>
          <a:lstStyle/>
          <a:p>
            <a:r>
              <a:rPr lang="zh-CN" altLang="en-US" sz="2400" dirty="0">
                <a:solidFill>
                  <a:srgbClr val="0000FF"/>
                </a:solidFill>
              </a:rPr>
              <a:t>lftp xilin</a:t>
            </a:r>
            <a:r>
              <a:rPr lang="zh-CN" altLang="en-US" sz="2400" dirty="0" smtClean="0">
                <a:solidFill>
                  <a:srgbClr val="0000FF"/>
                </a:solidFill>
              </a:rPr>
              <a:t>:</a:t>
            </a:r>
            <a:r>
              <a:rPr lang="en-US" altLang="zh-CN" sz="2400" dirty="0" smtClean="0">
                <a:solidFill>
                  <a:srgbClr val="0000FF"/>
                </a:solidFill>
              </a:rPr>
              <a:t>xxx</a:t>
            </a:r>
            <a:r>
              <a:rPr lang="zh-CN" altLang="en-US" sz="2400" dirty="0" smtClean="0">
                <a:solidFill>
                  <a:srgbClr val="0000FF"/>
                </a:solidFill>
              </a:rPr>
              <a:t>@</a:t>
            </a:r>
            <a:r>
              <a:rPr lang="zh-CN" altLang="en-US" sz="2400" dirty="0">
                <a:solidFill>
                  <a:srgbClr val="0000FF"/>
                </a:solidFill>
              </a:rPr>
              <a:t>192.168.181</a:t>
            </a:r>
            <a:r>
              <a:rPr lang="zh-CN" altLang="en-US" sz="2400" dirty="0" smtClean="0">
                <a:solidFill>
                  <a:srgbClr val="0000FF"/>
                </a:solidFill>
              </a:rPr>
              <a:t>.</a:t>
            </a:r>
            <a:r>
              <a:rPr lang="en-US" altLang="zh-CN" sz="2400" dirty="0" smtClean="0">
                <a:solidFill>
                  <a:srgbClr val="0000FF"/>
                </a:solidFill>
              </a:rPr>
              <a:t>133</a:t>
            </a:r>
          </a:p>
          <a:p>
            <a:r>
              <a:rPr lang="en-US" altLang="zh-CN" sz="2400" dirty="0">
                <a:solidFill>
                  <a:srgbClr val="0000FF"/>
                </a:solidFill>
              </a:rPr>
              <a:t>ftp </a:t>
            </a:r>
            <a:r>
              <a:rPr lang="en-US" altLang="zh-CN" sz="2400" dirty="0" smtClean="0">
                <a:solidFill>
                  <a:srgbClr val="0000FF"/>
                </a:solidFill>
              </a:rPr>
              <a:t>xilin@192.168.181.133:~&gt; </a:t>
            </a:r>
            <a:r>
              <a:rPr lang="en-US" altLang="zh-CN" sz="2400" dirty="0">
                <a:solidFill>
                  <a:srgbClr val="0000FF"/>
                </a:solidFill>
              </a:rPr>
              <a:t>cd /home/</a:t>
            </a:r>
            <a:r>
              <a:rPr lang="en-US" altLang="zh-CN" sz="2400" dirty="0" err="1">
                <a:solidFill>
                  <a:srgbClr val="0000FF"/>
                </a:solidFill>
              </a:rPr>
              <a:t>xilin</a:t>
            </a:r>
            <a:endParaRPr lang="en-US" altLang="zh-CN" sz="2400" dirty="0">
              <a:solidFill>
                <a:srgbClr val="0000FF"/>
              </a:solidFill>
            </a:endParaRPr>
          </a:p>
          <a:p>
            <a:r>
              <a:rPr lang="en-US" altLang="zh-CN" sz="2400" dirty="0" err="1">
                <a:solidFill>
                  <a:srgbClr val="0000FF"/>
                </a:solidFill>
              </a:rPr>
              <a:t>lftp</a:t>
            </a:r>
            <a:r>
              <a:rPr lang="en-US" altLang="zh-CN" sz="2400" dirty="0">
                <a:solidFill>
                  <a:srgbClr val="0000FF"/>
                </a:solidFill>
              </a:rPr>
              <a:t> </a:t>
            </a:r>
            <a:r>
              <a:rPr lang="en-US" altLang="zh-CN" sz="2400" dirty="0" smtClean="0">
                <a:solidFill>
                  <a:srgbClr val="0000FF"/>
                </a:solidFill>
              </a:rPr>
              <a:t>xilin@192.168.181.133:~&gt; </a:t>
            </a:r>
            <a:r>
              <a:rPr lang="en-US" altLang="zh-CN" sz="2400" dirty="0">
                <a:solidFill>
                  <a:srgbClr val="0000FF"/>
                </a:solidFill>
              </a:rPr>
              <a:t>ls</a:t>
            </a:r>
          </a:p>
          <a:p>
            <a:r>
              <a:rPr lang="en-US" altLang="zh-CN" sz="2400" dirty="0" err="1" smtClean="0"/>
              <a:t>drwxr</a:t>
            </a:r>
            <a:r>
              <a:rPr lang="en-US" altLang="zh-CN" sz="2400" dirty="0" smtClean="0"/>
              <a:t>-</a:t>
            </a:r>
            <a:r>
              <a:rPr lang="en-US" altLang="zh-CN" sz="2400" dirty="0" err="1" smtClean="0"/>
              <a:t>xr</a:t>
            </a:r>
            <a:r>
              <a:rPr lang="en-US" altLang="zh-CN" sz="2400" dirty="0" smtClean="0"/>
              <a:t>-x    </a:t>
            </a:r>
            <a:r>
              <a:rPr lang="en-US" altLang="zh-CN" sz="2400" dirty="0"/>
              <a:t>3 1000     1000          121 Sep 15  2019 </a:t>
            </a:r>
            <a:r>
              <a:rPr lang="zh-CN" altLang="en-US" sz="2400" dirty="0"/>
              <a:t>下载</a:t>
            </a:r>
          </a:p>
          <a:p>
            <a:r>
              <a:rPr lang="en-US" altLang="zh-CN" sz="2400" dirty="0" err="1"/>
              <a:t>drwxr</a:t>
            </a:r>
            <a:r>
              <a:rPr lang="en-US" altLang="zh-CN" sz="2400" dirty="0"/>
              <a:t>-</a:t>
            </a:r>
            <a:r>
              <a:rPr lang="en-US" altLang="zh-CN" sz="2400" dirty="0" err="1"/>
              <a:t>xr</a:t>
            </a:r>
            <a:r>
              <a:rPr lang="en-US" altLang="zh-CN" sz="2400" dirty="0"/>
              <a:t>-x    2 1000     1000            6 Oct 26  2018 </a:t>
            </a:r>
            <a:r>
              <a:rPr lang="zh-CN" altLang="en-US" sz="2400" dirty="0"/>
              <a:t>公共</a:t>
            </a:r>
          </a:p>
          <a:p>
            <a:r>
              <a:rPr lang="en-US" altLang="zh-CN" sz="2400" dirty="0" err="1">
                <a:solidFill>
                  <a:srgbClr val="0000FF"/>
                </a:solidFill>
              </a:rPr>
              <a:t>lftp</a:t>
            </a:r>
            <a:r>
              <a:rPr lang="en-US" altLang="zh-CN" sz="2400" dirty="0">
                <a:solidFill>
                  <a:srgbClr val="0000FF"/>
                </a:solidFill>
              </a:rPr>
              <a:t> </a:t>
            </a:r>
            <a:r>
              <a:rPr lang="en-US" altLang="zh-CN" sz="2400" dirty="0" smtClean="0">
                <a:solidFill>
                  <a:srgbClr val="0000FF"/>
                </a:solidFill>
              </a:rPr>
              <a:t>xilin@192.168.181.133:~&gt; </a:t>
            </a:r>
            <a:r>
              <a:rPr lang="en-US" altLang="zh-CN" sz="2400" dirty="0">
                <a:solidFill>
                  <a:srgbClr val="0000FF"/>
                </a:solidFill>
              </a:rPr>
              <a:t>! touch test</a:t>
            </a:r>
          </a:p>
          <a:p>
            <a:r>
              <a:rPr lang="en-US" altLang="zh-CN" sz="2400" dirty="0" err="1">
                <a:solidFill>
                  <a:srgbClr val="0000FF"/>
                </a:solidFill>
              </a:rPr>
              <a:t>lftp</a:t>
            </a:r>
            <a:r>
              <a:rPr lang="en-US" altLang="zh-CN" sz="2400" dirty="0">
                <a:solidFill>
                  <a:srgbClr val="0000FF"/>
                </a:solidFill>
              </a:rPr>
              <a:t> </a:t>
            </a:r>
            <a:r>
              <a:rPr lang="en-US" altLang="zh-CN" sz="2400" dirty="0" smtClean="0">
                <a:solidFill>
                  <a:srgbClr val="0000FF"/>
                </a:solidFill>
              </a:rPr>
              <a:t>xilin@192.168.181.133:~&gt; </a:t>
            </a:r>
            <a:r>
              <a:rPr lang="en-US" altLang="zh-CN" sz="2400" dirty="0">
                <a:solidFill>
                  <a:srgbClr val="0000FF"/>
                </a:solidFill>
              </a:rPr>
              <a:t>put test </a:t>
            </a:r>
            <a:endParaRPr lang="en-US" altLang="zh-CN" sz="2400" dirty="0" smtClean="0">
              <a:solidFill>
                <a:srgbClr val="0000FF"/>
              </a:solidFill>
            </a:endParaRPr>
          </a:p>
          <a:p>
            <a:r>
              <a:rPr lang="en-US" altLang="zh-CN" sz="2400" dirty="0" err="1">
                <a:solidFill>
                  <a:srgbClr val="0000FF"/>
                </a:solidFill>
              </a:rPr>
              <a:t>lftp</a:t>
            </a:r>
            <a:r>
              <a:rPr lang="en-US" altLang="zh-CN" sz="2400" dirty="0">
                <a:solidFill>
                  <a:srgbClr val="0000FF"/>
                </a:solidFill>
              </a:rPr>
              <a:t> xilin@192.168.181.133:~&gt; ls</a:t>
            </a:r>
          </a:p>
          <a:p>
            <a:r>
              <a:rPr lang="en-US" altLang="zh-CN" sz="2400" dirty="0"/>
              <a:t>-</a:t>
            </a:r>
            <a:r>
              <a:rPr lang="en-US" altLang="zh-CN" sz="2400" dirty="0" err="1"/>
              <a:t>rw</a:t>
            </a:r>
            <a:r>
              <a:rPr lang="en-US" altLang="zh-CN" sz="2400" dirty="0"/>
              <a:t>-r--r--    1 1000     1000            0 May 21 09:22 test</a:t>
            </a:r>
            <a:endParaRPr lang="zh-CN" altLang="en-US" sz="2400" dirty="0"/>
          </a:p>
          <a:p>
            <a:r>
              <a:rPr lang="en-US" altLang="zh-CN" sz="2400" dirty="0" err="1" smtClean="0">
                <a:solidFill>
                  <a:srgbClr val="0000FF"/>
                </a:solidFill>
              </a:rPr>
              <a:t>lftp</a:t>
            </a:r>
            <a:r>
              <a:rPr lang="en-US" altLang="zh-CN" sz="2400" dirty="0" smtClean="0">
                <a:solidFill>
                  <a:srgbClr val="0000FF"/>
                </a:solidFill>
              </a:rPr>
              <a:t> xilin@192.168.181.133:~&gt; </a:t>
            </a:r>
            <a:r>
              <a:rPr lang="en-US" altLang="zh-CN" sz="2400" dirty="0">
                <a:solidFill>
                  <a:srgbClr val="0000FF"/>
                </a:solidFill>
              </a:rPr>
              <a:t>get test -o </a:t>
            </a:r>
            <a:r>
              <a:rPr lang="en-US" altLang="zh-CN" sz="2400" dirty="0" err="1" smtClean="0">
                <a:solidFill>
                  <a:srgbClr val="0000FF"/>
                </a:solidFill>
              </a:rPr>
              <a:t>test.download</a:t>
            </a:r>
            <a:endParaRPr lang="en-US" altLang="zh-CN" sz="2400" dirty="0" smtClean="0">
              <a:solidFill>
                <a:srgbClr val="0000FF"/>
              </a:solidFill>
            </a:endParaRPr>
          </a:p>
          <a:p>
            <a:r>
              <a:rPr lang="en-US" altLang="zh-CN" sz="2400" dirty="0" err="1">
                <a:solidFill>
                  <a:srgbClr val="0000FF"/>
                </a:solidFill>
              </a:rPr>
              <a:t>lftp</a:t>
            </a:r>
            <a:r>
              <a:rPr lang="en-US" altLang="zh-CN" sz="2400" dirty="0">
                <a:solidFill>
                  <a:srgbClr val="0000FF"/>
                </a:solidFill>
              </a:rPr>
              <a:t> </a:t>
            </a:r>
            <a:r>
              <a:rPr lang="en-US" altLang="zh-CN" sz="2400" dirty="0" smtClean="0">
                <a:solidFill>
                  <a:srgbClr val="0000FF"/>
                </a:solidFill>
              </a:rPr>
              <a:t>xilin@192.168.181.133:~&gt; </a:t>
            </a:r>
            <a:r>
              <a:rPr lang="en-US" altLang="zh-CN" sz="2400" dirty="0">
                <a:solidFill>
                  <a:srgbClr val="0000FF"/>
                </a:solidFill>
              </a:rPr>
              <a:t>! ls</a:t>
            </a:r>
          </a:p>
          <a:p>
            <a:r>
              <a:rPr lang="en-US" altLang="zh-CN" sz="2400" dirty="0"/>
              <a:t>5.3.1.sh  anaconda-</a:t>
            </a:r>
            <a:r>
              <a:rPr lang="en-US" altLang="zh-CN" sz="2400" dirty="0" err="1"/>
              <a:t>ks.cfg</a:t>
            </a:r>
            <a:r>
              <a:rPr lang="en-US" altLang="zh-CN" sz="2400" dirty="0"/>
              <a:t>  initial-setup-</a:t>
            </a:r>
            <a:r>
              <a:rPr lang="en-US" altLang="zh-CN" sz="2400" dirty="0" err="1"/>
              <a:t>ks.cfg</a:t>
            </a:r>
            <a:r>
              <a:rPr lang="en-US" altLang="zh-CN" sz="2400" dirty="0"/>
              <a:t>  readme.txt     </a:t>
            </a:r>
            <a:r>
              <a:rPr lang="en-US" altLang="zh-CN" sz="2400" dirty="0" smtClean="0"/>
              <a:t>test.txt   5.3.sh    </a:t>
            </a:r>
            <a:r>
              <a:rPr lang="en-US" altLang="zh-CN" sz="2400" dirty="0"/>
              <a:t>file_1           </a:t>
            </a:r>
            <a:r>
              <a:rPr lang="en-US" altLang="zh-CN" sz="2400" dirty="0" err="1"/>
              <a:t>passwd</a:t>
            </a:r>
            <a:r>
              <a:rPr lang="en-US" altLang="zh-CN" sz="2400" dirty="0"/>
              <a:t>                test</a:t>
            </a:r>
          </a:p>
          <a:p>
            <a:r>
              <a:rPr lang="en-US" altLang="zh-CN" sz="2400" dirty="0" err="1"/>
              <a:t>ac_inf</a:t>
            </a:r>
            <a:r>
              <a:rPr lang="en-US" altLang="zh-CN" sz="2400" dirty="0"/>
              <a:t>    </a:t>
            </a:r>
            <a:r>
              <a:rPr lang="en-US" altLang="zh-CN" sz="2400" dirty="0" err="1"/>
              <a:t>grep</a:t>
            </a:r>
            <a:r>
              <a:rPr lang="en-US" altLang="zh-CN" sz="2400" dirty="0"/>
              <a:t>             password              </a:t>
            </a:r>
            <a:r>
              <a:rPr lang="en-US" altLang="zh-CN" sz="2400" dirty="0" err="1" smtClean="0">
                <a:solidFill>
                  <a:srgbClr val="FF0000"/>
                </a:solidFill>
              </a:rPr>
              <a:t>test.download</a:t>
            </a:r>
            <a:endParaRPr lang="en-US" altLang="zh-CN" sz="2400" dirty="0" smtClean="0">
              <a:solidFill>
                <a:srgbClr val="FF0000"/>
              </a:solidFill>
            </a:endParaRPr>
          </a:p>
        </p:txBody>
      </p:sp>
    </p:spTree>
    <p:extLst>
      <p:ext uri="{BB962C8B-B14F-4D97-AF65-F5344CB8AC3E}">
        <p14:creationId xmlns:p14="http://schemas.microsoft.com/office/powerpoint/2010/main" val="40346773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lftp</a:t>
            </a:r>
            <a:r>
              <a:rPr lang="zh-CN" altLang="en-US" dirty="0"/>
              <a:t>的交互子命令</a:t>
            </a:r>
            <a:r>
              <a:rPr lang="en-US" altLang="zh-CN" dirty="0"/>
              <a:t>—</a:t>
            </a:r>
            <a:r>
              <a:rPr lang="en-US" altLang="zh-CN" dirty="0" err="1"/>
              <a:t>mget</a:t>
            </a:r>
            <a:r>
              <a:rPr lang="en-US" altLang="zh-CN" dirty="0"/>
              <a:t>/</a:t>
            </a:r>
            <a:r>
              <a:rPr lang="en-US" altLang="zh-CN" dirty="0" err="1"/>
              <a:t>mput</a:t>
            </a:r>
            <a:endParaRPr lang="zh-CN" altLang="en-US" dirty="0"/>
          </a:p>
        </p:txBody>
      </p:sp>
      <p:sp>
        <p:nvSpPr>
          <p:cNvPr id="3" name="内容占位符 2"/>
          <p:cNvSpPr>
            <a:spLocks noGrp="1"/>
          </p:cNvSpPr>
          <p:nvPr>
            <p:ph idx="1"/>
          </p:nvPr>
        </p:nvSpPr>
        <p:spPr>
          <a:xfrm>
            <a:off x="899592" y="1628800"/>
            <a:ext cx="7772400" cy="4114800"/>
          </a:xfrm>
        </p:spPr>
        <p:txBody>
          <a:bodyPr/>
          <a:lstStyle/>
          <a:p>
            <a:r>
              <a:rPr lang="zh-CN" altLang="en-US" dirty="0"/>
              <a:t>格式</a:t>
            </a:r>
            <a:endParaRPr lang="en-US" altLang="zh-CN" dirty="0"/>
          </a:p>
          <a:p>
            <a:pPr lvl="1"/>
            <a:r>
              <a:rPr lang="pt-BR" altLang="zh-CN" sz="2400" dirty="0">
                <a:solidFill>
                  <a:schemeClr val="accent6">
                    <a:lumMod val="75000"/>
                  </a:schemeClr>
                </a:solidFill>
              </a:rPr>
              <a:t>mget [-c] [-d] [-a] [-E] [-O base] files</a:t>
            </a:r>
          </a:p>
          <a:p>
            <a:pPr lvl="1"/>
            <a:r>
              <a:rPr lang="pt-BR" altLang="zh-CN" sz="2400" dirty="0">
                <a:solidFill>
                  <a:schemeClr val="accent6">
                    <a:lumMod val="75000"/>
                  </a:schemeClr>
                </a:solidFill>
              </a:rPr>
              <a:t>mput [-c] [-d] [-a] [-E] [-O base] files</a:t>
            </a:r>
            <a:endParaRPr lang="en-US" altLang="zh-CN" sz="2400" dirty="0">
              <a:solidFill>
                <a:schemeClr val="accent6">
                  <a:lumMod val="75000"/>
                </a:schemeClr>
              </a:solidFill>
            </a:endParaRPr>
          </a:p>
          <a:p>
            <a:r>
              <a:rPr lang="zh-CN" altLang="en-US" dirty="0"/>
              <a:t>选项</a:t>
            </a:r>
            <a:endParaRPr lang="en-US" altLang="zh-CN" dirty="0"/>
          </a:p>
          <a:p>
            <a:pPr lvl="1"/>
            <a:r>
              <a:rPr lang="en-US" altLang="zh-CN" sz="2400" dirty="0"/>
              <a:t>-c</a:t>
            </a:r>
            <a:r>
              <a:rPr lang="zh-CN" altLang="en-US" sz="2400" dirty="0"/>
              <a:t>：续传（</a:t>
            </a:r>
            <a:r>
              <a:rPr lang="en-US" altLang="zh-CN" sz="2400" dirty="0"/>
              <a:t>continue</a:t>
            </a:r>
            <a:r>
              <a:rPr lang="zh-CN" altLang="en-US" sz="2400" dirty="0"/>
              <a:t>）</a:t>
            </a:r>
            <a:endParaRPr lang="en-US" altLang="zh-CN" sz="2400" dirty="0"/>
          </a:p>
          <a:p>
            <a:pPr lvl="1"/>
            <a:r>
              <a:rPr lang="en-US" altLang="zh-CN" sz="2400" dirty="0"/>
              <a:t>-d</a:t>
            </a:r>
            <a:r>
              <a:rPr lang="zh-CN" altLang="en-US" sz="2400" dirty="0"/>
              <a:t>：创建与被传输文件同名的目录，并将目标文件存入该目录而非当前目录</a:t>
            </a:r>
            <a:endParaRPr lang="en-US" altLang="zh-CN" sz="2400" dirty="0"/>
          </a:p>
          <a:p>
            <a:pPr lvl="1"/>
            <a:r>
              <a:rPr lang="en-US" altLang="zh-CN" sz="2400" dirty="0"/>
              <a:t>-E</a:t>
            </a:r>
            <a:r>
              <a:rPr lang="zh-CN" altLang="en-US" sz="2400" dirty="0"/>
              <a:t>：传输完毕删除源文件</a:t>
            </a:r>
            <a:endParaRPr lang="en-US" altLang="zh-CN" sz="2400" dirty="0"/>
          </a:p>
          <a:p>
            <a:pPr lvl="1"/>
            <a:r>
              <a:rPr lang="en-US" altLang="zh-CN" sz="2400" dirty="0"/>
              <a:t>-a</a:t>
            </a:r>
            <a:r>
              <a:rPr lang="zh-CN" altLang="en-US" sz="2400" dirty="0"/>
              <a:t>：使用</a:t>
            </a:r>
            <a:r>
              <a:rPr lang="en-US" altLang="zh-CN" sz="2400" dirty="0" err="1"/>
              <a:t>ASCii</a:t>
            </a:r>
            <a:r>
              <a:rPr lang="zh-CN" altLang="en-US" sz="2400" dirty="0"/>
              <a:t>模式传输（默认使用</a:t>
            </a:r>
            <a:r>
              <a:rPr lang="en-US" altLang="zh-CN" sz="2400" dirty="0" err="1"/>
              <a:t>BINary</a:t>
            </a:r>
            <a:r>
              <a:rPr lang="zh-CN" altLang="en-US" sz="2400" dirty="0"/>
              <a:t>模式）</a:t>
            </a:r>
            <a:endParaRPr lang="en-US" altLang="zh-CN" sz="2400" dirty="0"/>
          </a:p>
          <a:p>
            <a:pPr lvl="1"/>
            <a:r>
              <a:rPr lang="en-US" altLang="zh-CN" sz="2400" dirty="0"/>
              <a:t>-O base</a:t>
            </a:r>
            <a:r>
              <a:rPr lang="zh-CN" altLang="en-US" sz="2400" dirty="0"/>
              <a:t>：指定目标文件存放的目录或指定的</a:t>
            </a:r>
            <a:r>
              <a:rPr lang="en-US" altLang="zh-CN" sz="2400" dirty="0"/>
              <a:t>URL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7666359" cy="1052513"/>
          </a:xfrm>
        </p:spPr>
        <p:txBody>
          <a:bodyPr/>
          <a:lstStyle/>
          <a:p>
            <a:r>
              <a:rPr lang="en-US" altLang="zh-CN" dirty="0" err="1"/>
              <a:t>lftp</a:t>
            </a:r>
            <a:r>
              <a:rPr lang="zh-CN" altLang="en-US" dirty="0"/>
              <a:t>的交互子命令</a:t>
            </a:r>
            <a:r>
              <a:rPr lang="en-US" altLang="zh-CN" dirty="0"/>
              <a:t>—</a:t>
            </a:r>
            <a:r>
              <a:rPr lang="en-US" altLang="zh-CN" dirty="0" err="1"/>
              <a:t>pget</a:t>
            </a:r>
            <a:endParaRPr lang="zh-CN" altLang="en-US" dirty="0"/>
          </a:p>
        </p:txBody>
      </p:sp>
      <p:sp>
        <p:nvSpPr>
          <p:cNvPr id="3" name="内容占位符 2"/>
          <p:cNvSpPr>
            <a:spLocks noGrp="1"/>
          </p:cNvSpPr>
          <p:nvPr>
            <p:ph idx="1"/>
          </p:nvPr>
        </p:nvSpPr>
        <p:spPr>
          <a:xfrm>
            <a:off x="539552" y="1441938"/>
            <a:ext cx="8492480" cy="4114800"/>
          </a:xfrm>
        </p:spPr>
        <p:txBody>
          <a:bodyPr/>
          <a:lstStyle/>
          <a:p>
            <a:r>
              <a:rPr lang="zh-CN" altLang="en-US" dirty="0"/>
              <a:t>格式</a:t>
            </a:r>
            <a:endParaRPr lang="en-US" altLang="zh-CN" dirty="0"/>
          </a:p>
          <a:p>
            <a:pPr lvl="1"/>
            <a:r>
              <a:rPr lang="pt-BR" altLang="zh-CN" dirty="0"/>
              <a:t>pget [-c] [-n &lt;maxconn&gt;] rfile [-o lfile]</a:t>
            </a:r>
          </a:p>
          <a:p>
            <a:r>
              <a:rPr lang="zh-CN" altLang="en-US" dirty="0"/>
              <a:t>选项</a:t>
            </a:r>
            <a:endParaRPr lang="en-US" altLang="zh-CN" dirty="0"/>
          </a:p>
          <a:p>
            <a:pPr lvl="1"/>
            <a:r>
              <a:rPr lang="en-US" altLang="zh-CN" sz="2600" dirty="0"/>
              <a:t>-c</a:t>
            </a:r>
            <a:r>
              <a:rPr lang="zh-CN" altLang="en-US" sz="2600" dirty="0"/>
              <a:t>：续传（要求 </a:t>
            </a:r>
            <a:r>
              <a:rPr lang="en-US" altLang="zh-CN" sz="2600" dirty="0" err="1"/>
              <a:t>lfile.lftp</a:t>
            </a:r>
            <a:r>
              <a:rPr lang="en-US" altLang="zh-CN" sz="2600" dirty="0"/>
              <a:t>-</a:t>
            </a:r>
            <a:r>
              <a:rPr lang="en-US" altLang="zh-CN" sz="2600" dirty="0" err="1"/>
              <a:t>pget</a:t>
            </a:r>
            <a:r>
              <a:rPr lang="en-US" altLang="zh-CN" sz="2600" dirty="0"/>
              <a:t>-status </a:t>
            </a:r>
            <a:r>
              <a:rPr lang="zh-CN" altLang="en-US" sz="2600" dirty="0"/>
              <a:t>文件存在）</a:t>
            </a:r>
            <a:endParaRPr lang="en-US" altLang="zh-CN" sz="2600" dirty="0"/>
          </a:p>
          <a:p>
            <a:pPr lvl="1"/>
            <a:r>
              <a:rPr lang="pt-BR" altLang="zh-CN" sz="2600" dirty="0"/>
              <a:t>-n &lt;maxconn&gt;</a:t>
            </a:r>
            <a:r>
              <a:rPr lang="zh-CN" altLang="en-US" sz="2600" dirty="0"/>
              <a:t>：指定最大连接数，默认为</a:t>
            </a:r>
            <a:r>
              <a:rPr lang="en-US" altLang="zh-CN" sz="2600" dirty="0"/>
              <a:t>5</a:t>
            </a:r>
          </a:p>
          <a:p>
            <a:r>
              <a:rPr lang="zh-CN" altLang="en-US" dirty="0"/>
              <a:t>举例</a:t>
            </a:r>
            <a:endParaRPr lang="en-US" altLang="zh-CN" dirty="0"/>
          </a:p>
          <a:p>
            <a:pPr lvl="1">
              <a:buNone/>
            </a:pPr>
            <a:r>
              <a:rPr lang="en-US" altLang="zh-CN" sz="2600" dirty="0"/>
              <a:t>&gt; </a:t>
            </a:r>
            <a:r>
              <a:rPr lang="en-US" altLang="zh-CN" sz="2600" dirty="0" err="1"/>
              <a:t>pget</a:t>
            </a:r>
            <a:r>
              <a:rPr lang="en-US" altLang="zh-CN" sz="2600" dirty="0"/>
              <a:t>  -n 8  somefile.iso</a:t>
            </a:r>
          </a:p>
          <a:p>
            <a:pPr lvl="1">
              <a:buNone/>
            </a:pPr>
            <a:r>
              <a:rPr lang="en-US" altLang="zh-CN" sz="2600" dirty="0"/>
              <a:t>&gt; </a:t>
            </a:r>
            <a:r>
              <a:rPr lang="en-US" altLang="zh-CN" sz="2600" dirty="0" err="1"/>
              <a:t>pget</a:t>
            </a:r>
            <a:r>
              <a:rPr lang="en-US" altLang="zh-CN" sz="2600" dirty="0"/>
              <a:t>  -c -n 8  somefile.iso</a:t>
            </a:r>
          </a:p>
          <a:p>
            <a:pPr lvl="1">
              <a:buNone/>
            </a:pPr>
            <a:endParaRPr lang="zh-CN" altLang="en-US" dirty="0"/>
          </a:p>
        </p:txBody>
      </p:sp>
      <p:sp>
        <p:nvSpPr>
          <p:cNvPr id="7" name="TextBox 6"/>
          <p:cNvSpPr txBox="1"/>
          <p:nvPr/>
        </p:nvSpPr>
        <p:spPr>
          <a:xfrm>
            <a:off x="4785792" y="5556738"/>
            <a:ext cx="4139952" cy="126188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200" dirty="0"/>
              <a:t>查看</a:t>
            </a:r>
            <a:r>
              <a:rPr lang="en-US" altLang="zh-CN" sz="2200" dirty="0" err="1"/>
              <a:t>pget</a:t>
            </a:r>
            <a:r>
              <a:rPr lang="zh-CN" altLang="en-US" sz="2200" dirty="0"/>
              <a:t>默认的最大连接数</a:t>
            </a:r>
            <a:endParaRPr lang="en-US" altLang="zh-CN" sz="2200" dirty="0"/>
          </a:p>
          <a:p>
            <a:endParaRPr lang="en-US" altLang="zh-CN" sz="1000" dirty="0"/>
          </a:p>
          <a:p>
            <a:r>
              <a:rPr lang="en-US" altLang="zh-CN" sz="2200" dirty="0">
                <a:solidFill>
                  <a:srgbClr val="002060"/>
                </a:solidFill>
              </a:rPr>
              <a:t>&gt; set -d | </a:t>
            </a:r>
            <a:r>
              <a:rPr lang="en-US" altLang="zh-CN" sz="2200" dirty="0" err="1">
                <a:solidFill>
                  <a:srgbClr val="002060"/>
                </a:solidFill>
              </a:rPr>
              <a:t>grep</a:t>
            </a:r>
            <a:r>
              <a:rPr lang="en-US" altLang="zh-CN" sz="2200" dirty="0">
                <a:solidFill>
                  <a:srgbClr val="002060"/>
                </a:solidFill>
              </a:rPr>
              <a:t> </a:t>
            </a:r>
            <a:r>
              <a:rPr lang="en-US" altLang="zh-CN" sz="2200" dirty="0" err="1">
                <a:solidFill>
                  <a:srgbClr val="002060"/>
                </a:solidFill>
              </a:rPr>
              <a:t>pget:default</a:t>
            </a:r>
            <a:r>
              <a:rPr lang="en-US" altLang="zh-CN" sz="2200" dirty="0">
                <a:solidFill>
                  <a:srgbClr val="002060"/>
                </a:solidFill>
              </a:rPr>
              <a:t>-n</a:t>
            </a:r>
          </a:p>
          <a:p>
            <a:r>
              <a:rPr lang="en-US" altLang="zh-CN" sz="2200" dirty="0"/>
              <a:t>set </a:t>
            </a:r>
            <a:r>
              <a:rPr lang="en-US" altLang="zh-CN" sz="2200" dirty="0" err="1"/>
              <a:t>pget:default</a:t>
            </a:r>
            <a:r>
              <a:rPr lang="en-US" altLang="zh-CN" sz="2200" dirty="0"/>
              <a:t>-n </a:t>
            </a:r>
            <a:r>
              <a:rPr lang="en-US" altLang="zh-CN" sz="2200" dirty="0">
                <a:solidFill>
                  <a:srgbClr val="C00000"/>
                </a:solidFill>
              </a:rPr>
              <a:t>5</a:t>
            </a:r>
            <a:endParaRPr lang="zh-CN" altLang="en-US" sz="2200" dirty="0">
              <a:solidFill>
                <a:srgbClr val="C0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7793037" cy="1052513"/>
          </a:xfrm>
        </p:spPr>
        <p:txBody>
          <a:bodyPr/>
          <a:lstStyle/>
          <a:p>
            <a:r>
              <a:rPr lang="en-US" altLang="zh-CN" dirty="0" err="1"/>
              <a:t>lftp</a:t>
            </a:r>
            <a:r>
              <a:rPr lang="zh-CN" altLang="en-US" dirty="0"/>
              <a:t>的交互子命令</a:t>
            </a:r>
            <a:r>
              <a:rPr lang="en-US" altLang="zh-CN" dirty="0"/>
              <a:t>—mirror</a:t>
            </a:r>
            <a:endParaRPr lang="zh-CN" altLang="en-US" dirty="0"/>
          </a:p>
        </p:txBody>
      </p:sp>
      <p:sp>
        <p:nvSpPr>
          <p:cNvPr id="3" name="内容占位符 2"/>
          <p:cNvSpPr>
            <a:spLocks noGrp="1"/>
          </p:cNvSpPr>
          <p:nvPr>
            <p:ph idx="1"/>
          </p:nvPr>
        </p:nvSpPr>
        <p:spPr>
          <a:xfrm>
            <a:off x="942976" y="1556792"/>
            <a:ext cx="7772400" cy="4861049"/>
          </a:xfrm>
        </p:spPr>
        <p:txBody>
          <a:bodyPr/>
          <a:lstStyle/>
          <a:p>
            <a:r>
              <a:rPr lang="zh-CN" altLang="en-US" sz="2800" dirty="0"/>
              <a:t>格式</a:t>
            </a:r>
            <a:endParaRPr lang="en-US" altLang="zh-CN" sz="2800" dirty="0"/>
          </a:p>
          <a:p>
            <a:pPr lvl="1"/>
            <a:r>
              <a:rPr lang="en-US" altLang="zh-CN" sz="2400" dirty="0"/>
              <a:t>mirror [OPTS] &lt;</a:t>
            </a:r>
            <a:r>
              <a:rPr lang="en-US" altLang="zh-CN" sz="2400" dirty="0">
                <a:solidFill>
                  <a:srgbClr val="C00000"/>
                </a:solidFill>
              </a:rPr>
              <a:t>source</a:t>
            </a:r>
            <a:r>
              <a:rPr lang="en-US" altLang="zh-CN" sz="2400" dirty="0"/>
              <a:t>&gt; [&lt;</a:t>
            </a:r>
            <a:r>
              <a:rPr lang="en-US" altLang="zh-CN" sz="2400" dirty="0">
                <a:solidFill>
                  <a:srgbClr val="002060"/>
                </a:solidFill>
              </a:rPr>
              <a:t>target</a:t>
            </a:r>
            <a:r>
              <a:rPr lang="en-US" altLang="zh-CN" sz="2400" dirty="0"/>
              <a:t>&gt;]</a:t>
            </a:r>
          </a:p>
          <a:p>
            <a:r>
              <a:rPr lang="zh-CN" altLang="en-US" sz="2800" dirty="0"/>
              <a:t>说明</a:t>
            </a:r>
            <a:endParaRPr lang="en-US" altLang="zh-CN" sz="2800" dirty="0"/>
          </a:p>
          <a:p>
            <a:pPr lvl="1"/>
            <a:r>
              <a:rPr lang="zh-CN" altLang="en-US" sz="2200" dirty="0"/>
              <a:t>将源目录</a:t>
            </a:r>
            <a:r>
              <a:rPr lang="en-US" altLang="zh-CN" sz="2200" dirty="0">
                <a:solidFill>
                  <a:srgbClr val="C00000"/>
                </a:solidFill>
              </a:rPr>
              <a:t>source</a:t>
            </a:r>
            <a:r>
              <a:rPr lang="zh-CN" altLang="en-US" sz="2200" dirty="0"/>
              <a:t>镜像到目标目录</a:t>
            </a:r>
            <a:r>
              <a:rPr lang="en-US" altLang="zh-CN" sz="2200" dirty="0">
                <a:solidFill>
                  <a:srgbClr val="002060"/>
                </a:solidFill>
              </a:rPr>
              <a:t>target</a:t>
            </a:r>
          </a:p>
          <a:p>
            <a:pPr lvl="1"/>
            <a:r>
              <a:rPr lang="en-US" altLang="zh-CN" sz="2200" dirty="0">
                <a:solidFill>
                  <a:srgbClr val="C00000"/>
                </a:solidFill>
              </a:rPr>
              <a:t>source</a:t>
            </a:r>
            <a:r>
              <a:rPr lang="zh-CN" altLang="en-US" sz="2200" dirty="0"/>
              <a:t>可以使用</a:t>
            </a:r>
            <a:r>
              <a:rPr lang="en-US" altLang="zh-CN" sz="2200" dirty="0"/>
              <a:t>URL</a:t>
            </a:r>
            <a:r>
              <a:rPr lang="zh-CN" altLang="en-US" sz="2200" dirty="0"/>
              <a:t>指定</a:t>
            </a:r>
            <a:endParaRPr lang="en-US" altLang="zh-CN" sz="2200" dirty="0"/>
          </a:p>
          <a:p>
            <a:pPr lvl="1"/>
            <a:r>
              <a:rPr lang="zh-CN" altLang="en-US" sz="2200" dirty="0">
                <a:solidFill>
                  <a:srgbClr val="C00000"/>
                </a:solidFill>
              </a:rPr>
              <a:t>目标目录省略时表示当前目录</a:t>
            </a:r>
            <a:endParaRPr lang="en-US" altLang="zh-CN" sz="2200" dirty="0">
              <a:solidFill>
                <a:srgbClr val="C00000"/>
              </a:solidFill>
            </a:endParaRPr>
          </a:p>
          <a:p>
            <a:r>
              <a:rPr lang="zh-CN" altLang="en-US" sz="2800" dirty="0"/>
              <a:t>常用选项</a:t>
            </a:r>
            <a:endParaRPr lang="en-US" altLang="zh-CN" sz="2800" dirty="0"/>
          </a:p>
          <a:p>
            <a:pPr lvl="1"/>
            <a:r>
              <a:rPr lang="en-US" altLang="zh-CN" sz="2200" b="1" dirty="0"/>
              <a:t>-e, --delete</a:t>
            </a:r>
            <a:r>
              <a:rPr lang="zh-CN" altLang="en-US" sz="2200" dirty="0"/>
              <a:t>：删除本地存在而远程不存在的文件</a:t>
            </a:r>
          </a:p>
          <a:p>
            <a:pPr lvl="1"/>
            <a:r>
              <a:rPr lang="en-US" altLang="zh-CN" sz="2200" b="1" dirty="0"/>
              <a:t>-n, --only-newer</a:t>
            </a:r>
            <a:r>
              <a:rPr lang="zh-CN" altLang="en-US" sz="2200" dirty="0"/>
              <a:t>：仅下载比本地新的文件</a:t>
            </a:r>
          </a:p>
          <a:p>
            <a:pPr lvl="1"/>
            <a:r>
              <a:rPr lang="en-US" altLang="zh-CN" sz="2200" b="1" dirty="0"/>
              <a:t>-P, --parallel[=N]</a:t>
            </a:r>
            <a:r>
              <a:rPr lang="zh-CN" altLang="en-US" sz="2200" dirty="0"/>
              <a:t>：并行下载 </a:t>
            </a:r>
            <a:r>
              <a:rPr lang="en-US" altLang="zh-CN" sz="2200" dirty="0"/>
              <a:t>N </a:t>
            </a:r>
            <a:r>
              <a:rPr lang="zh-CN" altLang="en-US" sz="2200" dirty="0"/>
              <a:t>个文件</a:t>
            </a:r>
          </a:p>
          <a:p>
            <a:pPr lvl="1"/>
            <a:r>
              <a:rPr lang="en-US" altLang="zh-CN" sz="2200" b="1" dirty="0"/>
              <a:t>-v, --verbose[=level]</a:t>
            </a:r>
            <a:r>
              <a:rPr lang="zh-CN" altLang="en-US" sz="2200" dirty="0"/>
              <a:t>：显示操作的输出</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lftp</a:t>
            </a:r>
            <a:r>
              <a:rPr lang="zh-CN" altLang="en-US" dirty="0"/>
              <a:t>的交互子命令</a:t>
            </a:r>
            <a:r>
              <a:rPr lang="en-US" altLang="zh-CN" dirty="0"/>
              <a:t>—mirror</a:t>
            </a:r>
            <a:r>
              <a:rPr lang="zh-CN" altLang="en-US" dirty="0"/>
              <a:t>选项</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2146737592"/>
              </p:ext>
            </p:extLst>
          </p:nvPr>
        </p:nvGraphicFramePr>
        <p:xfrm>
          <a:off x="611560" y="1628800"/>
          <a:ext cx="8206682" cy="4754880"/>
        </p:xfrm>
        <a:graphic>
          <a:graphicData uri="http://schemas.openxmlformats.org/drawingml/2006/table">
            <a:tbl>
              <a:tblPr firstRow="1" bandRow="1">
                <a:tableStyleId>{21E4AEA4-8DFA-4A89-87EB-49C32662AFE0}</a:tableStyleId>
              </a:tblPr>
              <a:tblGrid>
                <a:gridCol w="3382146">
                  <a:extLst>
                    <a:ext uri="{9D8B030D-6E8A-4147-A177-3AD203B41FA5}">
                      <a16:colId xmlns:a16="http://schemas.microsoft.com/office/drawing/2014/main" val="20000"/>
                    </a:ext>
                  </a:extLst>
                </a:gridCol>
                <a:gridCol w="4824536">
                  <a:extLst>
                    <a:ext uri="{9D8B030D-6E8A-4147-A177-3AD203B41FA5}">
                      <a16:colId xmlns:a16="http://schemas.microsoft.com/office/drawing/2014/main" val="20001"/>
                    </a:ext>
                  </a:extLst>
                </a:gridCol>
              </a:tblGrid>
              <a:tr h="370840">
                <a:tc>
                  <a:txBody>
                    <a:bodyPr/>
                    <a:lstStyle/>
                    <a:p>
                      <a:pPr algn="l"/>
                      <a:r>
                        <a:rPr lang="zh-CN" altLang="en-US" sz="2000" dirty="0">
                          <a:solidFill>
                            <a:srgbClr val="C00000"/>
                          </a:solidFill>
                        </a:rPr>
                        <a:t>选项</a:t>
                      </a:r>
                    </a:p>
                  </a:txBody>
                  <a:tcPr marL="86360" marR="86360"/>
                </a:tc>
                <a:tc>
                  <a:txBody>
                    <a:bodyPr/>
                    <a:lstStyle/>
                    <a:p>
                      <a:pPr algn="l"/>
                      <a:r>
                        <a:rPr lang="zh-CN" altLang="en-US" sz="2000" dirty="0">
                          <a:solidFill>
                            <a:srgbClr val="C00000"/>
                          </a:solidFill>
                        </a:rPr>
                        <a:t>说明</a:t>
                      </a:r>
                    </a:p>
                  </a:txBody>
                  <a:tcPr marL="86360" marR="86360"/>
                </a:tc>
                <a:extLst>
                  <a:ext uri="{0D108BD9-81ED-4DB2-BD59-A6C34878D82A}">
                    <a16:rowId xmlns:a16="http://schemas.microsoft.com/office/drawing/2014/main" val="10000"/>
                  </a:ext>
                </a:extLst>
              </a:tr>
              <a:tr h="370840">
                <a:tc>
                  <a:txBody>
                    <a:bodyPr/>
                    <a:lstStyle/>
                    <a:p>
                      <a:r>
                        <a:rPr lang="en-US" altLang="zh-CN" sz="2000" b="1" dirty="0">
                          <a:solidFill>
                            <a:srgbClr val="002060"/>
                          </a:solidFill>
                        </a:rPr>
                        <a:t>--only-missing</a:t>
                      </a:r>
                      <a:endParaRPr lang="zh-CN" altLang="en-US" sz="2000" b="1" dirty="0">
                        <a:solidFill>
                          <a:srgbClr val="002060"/>
                        </a:solidFill>
                      </a:endParaRPr>
                    </a:p>
                  </a:txBody>
                  <a:tcPr marL="86360" marR="86360"/>
                </a:tc>
                <a:tc>
                  <a:txBody>
                    <a:bodyPr/>
                    <a:lstStyle/>
                    <a:p>
                      <a:r>
                        <a:rPr lang="zh-CN" altLang="en-US" sz="2000" dirty="0"/>
                        <a:t>仅下载本地不存在的文件</a:t>
                      </a:r>
                    </a:p>
                  </a:txBody>
                  <a:tcPr marL="86360" marR="86360"/>
                </a:tc>
                <a:extLst>
                  <a:ext uri="{0D108BD9-81ED-4DB2-BD59-A6C34878D82A}">
                    <a16:rowId xmlns:a16="http://schemas.microsoft.com/office/drawing/2014/main" val="10001"/>
                  </a:ext>
                </a:extLst>
              </a:tr>
              <a:tr h="370840">
                <a:tc>
                  <a:txBody>
                    <a:bodyPr/>
                    <a:lstStyle/>
                    <a:p>
                      <a:r>
                        <a:rPr lang="en-US" altLang="zh-CN" sz="2000" b="1" dirty="0">
                          <a:solidFill>
                            <a:srgbClr val="002060"/>
                          </a:solidFill>
                        </a:rPr>
                        <a:t>--only-existing</a:t>
                      </a:r>
                      <a:endParaRPr lang="zh-CN" altLang="en-US" sz="2000" b="1" dirty="0">
                        <a:solidFill>
                          <a:srgbClr val="002060"/>
                        </a:solidFill>
                      </a:endParaRPr>
                    </a:p>
                  </a:txBody>
                  <a:tcPr marL="86360" marR="8636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t>仅下载更新本地存在的文件</a:t>
                      </a:r>
                    </a:p>
                  </a:txBody>
                  <a:tcPr marL="86360" marR="86360"/>
                </a:tc>
                <a:extLst>
                  <a:ext uri="{0D108BD9-81ED-4DB2-BD59-A6C34878D82A}">
                    <a16:rowId xmlns:a16="http://schemas.microsoft.com/office/drawing/2014/main" val="10002"/>
                  </a:ext>
                </a:extLst>
              </a:tr>
              <a:tr h="370840">
                <a:tc>
                  <a:txBody>
                    <a:bodyPr/>
                    <a:lstStyle/>
                    <a:p>
                      <a:r>
                        <a:rPr lang="en-US" altLang="zh-CN" sz="2000" b="1" dirty="0">
                          <a:solidFill>
                            <a:srgbClr val="002060"/>
                          </a:solidFill>
                        </a:rPr>
                        <a:t>-r, --no-recursion</a:t>
                      </a:r>
                      <a:endParaRPr lang="zh-CN" altLang="en-US" sz="2000" b="1" dirty="0">
                        <a:solidFill>
                          <a:srgbClr val="002060"/>
                        </a:solidFill>
                      </a:endParaRPr>
                    </a:p>
                  </a:txBody>
                  <a:tcPr marL="86360" marR="86360"/>
                </a:tc>
                <a:tc>
                  <a:txBody>
                    <a:bodyPr/>
                    <a:lstStyle/>
                    <a:p>
                      <a:r>
                        <a:rPr lang="zh-CN" altLang="en-US" sz="2000" dirty="0"/>
                        <a:t>不镜像子目录</a:t>
                      </a:r>
                    </a:p>
                  </a:txBody>
                  <a:tcPr marL="86360" marR="86360"/>
                </a:tc>
                <a:extLst>
                  <a:ext uri="{0D108BD9-81ED-4DB2-BD59-A6C34878D82A}">
                    <a16:rowId xmlns:a16="http://schemas.microsoft.com/office/drawing/2014/main" val="10003"/>
                  </a:ext>
                </a:extLst>
              </a:tr>
              <a:tr h="370840">
                <a:tc>
                  <a:txBody>
                    <a:bodyPr/>
                    <a:lstStyle/>
                    <a:p>
                      <a:r>
                        <a:rPr lang="en-US" altLang="zh-CN" sz="2000" b="1" dirty="0">
                          <a:solidFill>
                            <a:srgbClr val="002060"/>
                          </a:solidFill>
                        </a:rPr>
                        <a:t>-R, --reverse</a:t>
                      </a:r>
                      <a:endParaRPr lang="zh-CN" altLang="en-US" sz="2000" b="1" dirty="0">
                        <a:solidFill>
                          <a:srgbClr val="002060"/>
                        </a:solidFill>
                      </a:endParaRPr>
                    </a:p>
                  </a:txBody>
                  <a:tcPr marL="86360" marR="86360"/>
                </a:tc>
                <a:tc>
                  <a:txBody>
                    <a:bodyPr/>
                    <a:lstStyle/>
                    <a:p>
                      <a:r>
                        <a:rPr lang="zh-CN" altLang="en-US" sz="2000" dirty="0"/>
                        <a:t>反向镜像（将本地目录上传到远程）</a:t>
                      </a:r>
                    </a:p>
                  </a:txBody>
                  <a:tcPr marL="86360" marR="86360"/>
                </a:tc>
                <a:extLst>
                  <a:ext uri="{0D108BD9-81ED-4DB2-BD59-A6C34878D82A}">
                    <a16:rowId xmlns:a16="http://schemas.microsoft.com/office/drawing/2014/main" val="10004"/>
                  </a:ext>
                </a:extLst>
              </a:tr>
              <a:tr h="370840">
                <a:tc>
                  <a:txBody>
                    <a:bodyPr/>
                    <a:lstStyle/>
                    <a:p>
                      <a:r>
                        <a:rPr lang="en-US" altLang="zh-CN" sz="2000" b="1" dirty="0">
                          <a:solidFill>
                            <a:srgbClr val="002060"/>
                          </a:solidFill>
                        </a:rPr>
                        <a:t>-i RX, --include RX</a:t>
                      </a:r>
                      <a:endParaRPr lang="zh-CN" altLang="en-US" sz="2000" b="1" dirty="0">
                        <a:solidFill>
                          <a:srgbClr val="002060"/>
                        </a:solidFill>
                      </a:endParaRPr>
                    </a:p>
                  </a:txBody>
                  <a:tcPr marL="86360" marR="86360"/>
                </a:tc>
                <a:tc>
                  <a:txBody>
                    <a:bodyPr/>
                    <a:lstStyle/>
                    <a:p>
                      <a:r>
                        <a:rPr lang="zh-CN" altLang="en-US" sz="2000" dirty="0"/>
                        <a:t>使用正则表达式匹配指定包含的文件</a:t>
                      </a:r>
                    </a:p>
                  </a:txBody>
                  <a:tcPr marL="86360" marR="86360"/>
                </a:tc>
                <a:extLst>
                  <a:ext uri="{0D108BD9-81ED-4DB2-BD59-A6C34878D82A}">
                    <a16:rowId xmlns:a16="http://schemas.microsoft.com/office/drawing/2014/main" val="10005"/>
                  </a:ext>
                </a:extLst>
              </a:tr>
              <a:tr h="370840">
                <a:tc>
                  <a:txBody>
                    <a:bodyPr/>
                    <a:lstStyle/>
                    <a:p>
                      <a:r>
                        <a:rPr lang="en-US" altLang="zh-CN" sz="2000" b="1" dirty="0">
                          <a:solidFill>
                            <a:srgbClr val="002060"/>
                          </a:solidFill>
                        </a:rPr>
                        <a:t>-x RX, --exclude RX</a:t>
                      </a:r>
                      <a:endParaRPr lang="zh-CN" altLang="en-US" sz="2000" b="1" dirty="0">
                        <a:solidFill>
                          <a:srgbClr val="002060"/>
                        </a:solidFill>
                      </a:endParaRPr>
                    </a:p>
                  </a:txBody>
                  <a:tcPr marL="86360" marR="8636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t>使用正则表达式匹配指定剔除的文件</a:t>
                      </a:r>
                    </a:p>
                  </a:txBody>
                  <a:tcPr marL="86360" marR="86360"/>
                </a:tc>
                <a:extLst>
                  <a:ext uri="{0D108BD9-81ED-4DB2-BD59-A6C34878D82A}">
                    <a16:rowId xmlns:a16="http://schemas.microsoft.com/office/drawing/2014/main" val="10006"/>
                  </a:ext>
                </a:extLst>
              </a:tr>
              <a:tr h="370840">
                <a:tc>
                  <a:txBody>
                    <a:bodyPr/>
                    <a:lstStyle/>
                    <a:p>
                      <a:r>
                        <a:rPr lang="en-US" altLang="zh-CN" sz="2000" b="1" dirty="0">
                          <a:solidFill>
                            <a:srgbClr val="002060"/>
                          </a:solidFill>
                        </a:rPr>
                        <a:t>-I GP, --include-glob GP</a:t>
                      </a:r>
                      <a:endParaRPr lang="zh-CN" altLang="en-US" sz="2000" b="1" dirty="0">
                        <a:solidFill>
                          <a:srgbClr val="002060"/>
                        </a:solidFill>
                      </a:endParaRPr>
                    </a:p>
                  </a:txBody>
                  <a:tcPr marL="86360" marR="8636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t>使用</a:t>
                      </a:r>
                      <a:r>
                        <a:rPr lang="en-US" altLang="zh-CN" sz="2000" dirty="0"/>
                        <a:t>shell</a:t>
                      </a:r>
                      <a:r>
                        <a:rPr lang="zh-CN" altLang="en-US" sz="2000" dirty="0"/>
                        <a:t>通配符匹配指定包含的文件</a:t>
                      </a:r>
                    </a:p>
                  </a:txBody>
                  <a:tcPr marL="86360" marR="86360"/>
                </a:tc>
                <a:extLst>
                  <a:ext uri="{0D108BD9-81ED-4DB2-BD59-A6C34878D82A}">
                    <a16:rowId xmlns:a16="http://schemas.microsoft.com/office/drawing/2014/main" val="10007"/>
                  </a:ext>
                </a:extLst>
              </a:tr>
              <a:tr h="370840">
                <a:tc>
                  <a:txBody>
                    <a:bodyPr/>
                    <a:lstStyle/>
                    <a:p>
                      <a:r>
                        <a:rPr lang="en-US" altLang="zh-CN" sz="2000" b="1" dirty="0">
                          <a:solidFill>
                            <a:srgbClr val="002060"/>
                          </a:solidFill>
                        </a:rPr>
                        <a:t>-X GP, --exclude-glob GP</a:t>
                      </a:r>
                      <a:endParaRPr lang="zh-CN" altLang="en-US" sz="2000" b="1" dirty="0">
                        <a:solidFill>
                          <a:srgbClr val="002060"/>
                        </a:solidFill>
                      </a:endParaRPr>
                    </a:p>
                  </a:txBody>
                  <a:tcPr marL="86360" marR="8636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t>使用</a:t>
                      </a:r>
                      <a:r>
                        <a:rPr lang="en-US" altLang="zh-CN" sz="2000" dirty="0"/>
                        <a:t>shell</a:t>
                      </a:r>
                      <a:r>
                        <a:rPr lang="zh-CN" altLang="en-US" sz="2000" dirty="0"/>
                        <a:t>通配符匹配指定剔除的文件</a:t>
                      </a:r>
                    </a:p>
                  </a:txBody>
                  <a:tcPr marL="86360" marR="86360"/>
                </a:tc>
                <a:extLst>
                  <a:ext uri="{0D108BD9-81ED-4DB2-BD59-A6C34878D82A}">
                    <a16:rowId xmlns:a16="http://schemas.microsoft.com/office/drawing/2014/main" val="10008"/>
                  </a:ext>
                </a:extLst>
              </a:tr>
              <a:tr h="370840">
                <a:tc>
                  <a:txBody>
                    <a:bodyPr/>
                    <a:lstStyle/>
                    <a:p>
                      <a:r>
                        <a:rPr lang="en-US" altLang="zh-CN" sz="2000" b="1" dirty="0">
                          <a:solidFill>
                            <a:srgbClr val="002060"/>
                          </a:solidFill>
                        </a:rPr>
                        <a:t>--log=FILE</a:t>
                      </a:r>
                      <a:endParaRPr lang="zh-CN" altLang="en-US" sz="2000" b="1" dirty="0">
                        <a:solidFill>
                          <a:srgbClr val="002060"/>
                        </a:solidFill>
                      </a:endParaRPr>
                    </a:p>
                  </a:txBody>
                  <a:tcPr marL="86360" marR="86360"/>
                </a:tc>
                <a:tc>
                  <a:txBody>
                    <a:bodyPr/>
                    <a:lstStyle/>
                    <a:p>
                      <a:r>
                        <a:rPr lang="zh-CN" altLang="en-US" sz="2000" dirty="0"/>
                        <a:t>将执行的 </a:t>
                      </a:r>
                      <a:r>
                        <a:rPr lang="en-US" altLang="zh-CN" sz="2000" dirty="0" err="1"/>
                        <a:t>lftp</a:t>
                      </a:r>
                      <a:r>
                        <a:rPr lang="en-US" altLang="zh-CN" sz="2000" dirty="0"/>
                        <a:t> </a:t>
                      </a:r>
                      <a:r>
                        <a:rPr lang="zh-CN" altLang="en-US" sz="2000" dirty="0"/>
                        <a:t>命令写入 </a:t>
                      </a:r>
                      <a:r>
                        <a:rPr lang="en-US" altLang="zh-CN" sz="2000" dirty="0"/>
                        <a:t>FILE</a:t>
                      </a:r>
                      <a:endParaRPr lang="zh-CN" altLang="en-US" sz="2000" dirty="0"/>
                    </a:p>
                  </a:txBody>
                  <a:tcPr marL="86360" marR="86360"/>
                </a:tc>
                <a:extLst>
                  <a:ext uri="{0D108BD9-81ED-4DB2-BD59-A6C34878D82A}">
                    <a16:rowId xmlns:a16="http://schemas.microsoft.com/office/drawing/2014/main" val="10009"/>
                  </a:ext>
                </a:extLst>
              </a:tr>
              <a:tr h="370840">
                <a:tc>
                  <a:txBody>
                    <a:bodyPr/>
                    <a:lstStyle/>
                    <a:p>
                      <a:r>
                        <a:rPr lang="en-US" altLang="zh-CN" sz="2000" b="1" dirty="0">
                          <a:solidFill>
                            <a:srgbClr val="002060"/>
                          </a:solidFill>
                        </a:rPr>
                        <a:t>--script=FILE</a:t>
                      </a:r>
                      <a:endParaRPr lang="zh-CN" altLang="en-US" sz="2000" b="1" dirty="0">
                        <a:solidFill>
                          <a:srgbClr val="002060"/>
                        </a:solidFill>
                      </a:endParaRPr>
                    </a:p>
                  </a:txBody>
                  <a:tcPr marL="86360" marR="86360"/>
                </a:tc>
                <a:tc>
                  <a:txBody>
                    <a:bodyPr/>
                    <a:lstStyle/>
                    <a:p>
                      <a:r>
                        <a:rPr lang="zh-CN" altLang="en-US" sz="2000" dirty="0"/>
                        <a:t>将要执行的 </a:t>
                      </a:r>
                      <a:r>
                        <a:rPr lang="en-US" altLang="zh-CN" sz="2000" dirty="0" err="1"/>
                        <a:t>lftp</a:t>
                      </a:r>
                      <a:r>
                        <a:rPr lang="en-US" altLang="zh-CN" sz="2000" dirty="0"/>
                        <a:t> </a:t>
                      </a:r>
                      <a:r>
                        <a:rPr lang="zh-CN" altLang="en-US" sz="2000" dirty="0"/>
                        <a:t>命令写入 </a:t>
                      </a:r>
                      <a:r>
                        <a:rPr lang="en-US" altLang="zh-CN" sz="2000" dirty="0"/>
                        <a:t>FILE, </a:t>
                      </a:r>
                      <a:r>
                        <a:rPr lang="zh-CN" altLang="en-US" sz="2000" dirty="0"/>
                        <a:t>但不执行</a:t>
                      </a:r>
                    </a:p>
                  </a:txBody>
                  <a:tcPr marL="86360" marR="86360"/>
                </a:tc>
                <a:extLst>
                  <a:ext uri="{0D108BD9-81ED-4DB2-BD59-A6C34878D82A}">
                    <a16:rowId xmlns:a16="http://schemas.microsoft.com/office/drawing/2014/main" val="10010"/>
                  </a:ext>
                </a:extLst>
              </a:tr>
              <a:tr h="370840">
                <a:tc>
                  <a:txBody>
                    <a:bodyPr/>
                    <a:lstStyle/>
                    <a:p>
                      <a:r>
                        <a:rPr lang="en-US" altLang="zh-CN" sz="2000" b="1" dirty="0">
                          <a:solidFill>
                            <a:srgbClr val="002060"/>
                          </a:solidFill>
                        </a:rPr>
                        <a:t>--just-print, --dry-run</a:t>
                      </a:r>
                      <a:endParaRPr lang="zh-CN" altLang="en-US" sz="2000" b="1" dirty="0">
                        <a:solidFill>
                          <a:srgbClr val="002060"/>
                        </a:solidFill>
                      </a:endParaRPr>
                    </a:p>
                  </a:txBody>
                  <a:tcPr marL="86360" marR="86360"/>
                </a:tc>
                <a:tc>
                  <a:txBody>
                    <a:bodyPr/>
                    <a:lstStyle/>
                    <a:p>
                      <a:r>
                        <a:rPr lang="zh-CN" altLang="en-US" sz="2000" dirty="0"/>
                        <a:t>模拟执行（相当于</a:t>
                      </a:r>
                      <a:r>
                        <a:rPr lang="en-US" altLang="zh-CN" sz="2000" dirty="0"/>
                        <a:t>--script=-</a:t>
                      </a:r>
                      <a:r>
                        <a:rPr lang="zh-CN" altLang="en-US" sz="2000" dirty="0"/>
                        <a:t>）</a:t>
                      </a:r>
                    </a:p>
                  </a:txBody>
                  <a:tcPr marL="86360" marR="86360"/>
                </a:tc>
                <a:extLst>
                  <a:ext uri="{0D108BD9-81ED-4DB2-BD59-A6C34878D82A}">
                    <a16:rowId xmlns:a16="http://schemas.microsoft.com/office/drawing/2014/main" val="10011"/>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lftp</a:t>
            </a:r>
            <a:r>
              <a:rPr lang="zh-CN" altLang="en-US" dirty="0"/>
              <a:t>的交互子命令</a:t>
            </a:r>
            <a:r>
              <a:rPr lang="en-US" altLang="zh-CN" dirty="0"/>
              <a:t>—mirror</a:t>
            </a:r>
            <a:r>
              <a:rPr lang="zh-CN" altLang="en-US" dirty="0"/>
              <a:t>举例</a:t>
            </a:r>
          </a:p>
        </p:txBody>
      </p:sp>
      <p:sp>
        <p:nvSpPr>
          <p:cNvPr id="3" name="内容占位符 2"/>
          <p:cNvSpPr>
            <a:spLocks noGrp="1"/>
          </p:cNvSpPr>
          <p:nvPr>
            <p:ph idx="1"/>
          </p:nvPr>
        </p:nvSpPr>
        <p:spPr>
          <a:xfrm>
            <a:off x="611560" y="1484784"/>
            <a:ext cx="8229600" cy="4574133"/>
          </a:xfrm>
        </p:spPr>
        <p:txBody>
          <a:bodyPr/>
          <a:lstStyle/>
          <a:p>
            <a:r>
              <a:rPr lang="zh-CN" altLang="en-US" sz="2800" dirty="0"/>
              <a:t>并行镜像远程的</a:t>
            </a:r>
            <a:r>
              <a:rPr lang="en-US" altLang="zh-CN" sz="2800" dirty="0" err="1"/>
              <a:t>iso</a:t>
            </a:r>
            <a:r>
              <a:rPr lang="zh-CN" altLang="en-US" sz="2800" dirty="0"/>
              <a:t>目录到本地当前目录</a:t>
            </a:r>
            <a:endParaRPr lang="en-US" altLang="zh-CN" sz="2800" dirty="0"/>
          </a:p>
          <a:p>
            <a:pPr lvl="1">
              <a:buNone/>
            </a:pPr>
            <a:r>
              <a:rPr lang="en-US" altLang="zh-CN" dirty="0">
                <a:solidFill>
                  <a:schemeClr val="accent6">
                    <a:lumMod val="75000"/>
                  </a:schemeClr>
                </a:solidFill>
              </a:rPr>
              <a:t>&gt; mirror -P </a:t>
            </a:r>
            <a:r>
              <a:rPr lang="en-US" altLang="zh-CN" dirty="0" err="1">
                <a:solidFill>
                  <a:schemeClr val="accent6">
                    <a:lumMod val="75000"/>
                  </a:schemeClr>
                </a:solidFill>
              </a:rPr>
              <a:t>iso</a:t>
            </a:r>
            <a:r>
              <a:rPr lang="en-US" altLang="zh-CN" dirty="0">
                <a:solidFill>
                  <a:schemeClr val="accent6">
                    <a:lumMod val="75000"/>
                  </a:schemeClr>
                </a:solidFill>
              </a:rPr>
              <a:t>/</a:t>
            </a:r>
          </a:p>
          <a:p>
            <a:r>
              <a:rPr lang="zh-CN" altLang="en-US" sz="2800" dirty="0"/>
              <a:t>并行镜像 </a:t>
            </a:r>
            <a:r>
              <a:rPr lang="en-US" altLang="zh-CN" sz="2800" dirty="0">
                <a:hlinkClick r:id="rId2"/>
              </a:rPr>
              <a:t>ftp://ftp.example.org/pub</a:t>
            </a:r>
            <a:r>
              <a:rPr lang="en-US" altLang="zh-CN" sz="2800" dirty="0"/>
              <a:t> </a:t>
            </a:r>
            <a:r>
              <a:rPr lang="zh-CN" altLang="en-US" sz="2800" dirty="0"/>
              <a:t>到本地当前目录（删除远程不存在的文件，仅下载新文件）</a:t>
            </a:r>
            <a:endParaRPr lang="en-US" altLang="zh-CN" sz="2800" dirty="0"/>
          </a:p>
          <a:p>
            <a:pPr lvl="1">
              <a:buNone/>
            </a:pPr>
            <a:r>
              <a:rPr lang="en-US" altLang="zh-CN" dirty="0">
                <a:solidFill>
                  <a:schemeClr val="accent6">
                    <a:lumMod val="75000"/>
                  </a:schemeClr>
                </a:solidFill>
              </a:rPr>
              <a:t>&gt; mirror -P --delete --only-newer --verbose  ftp://ftp.example.org/pub</a:t>
            </a:r>
          </a:p>
          <a:p>
            <a:r>
              <a:rPr lang="zh-CN" altLang="en-US" sz="2800" dirty="0"/>
              <a:t>并行镜像</a:t>
            </a:r>
            <a:r>
              <a:rPr lang="en-US" altLang="zh-CN" sz="2800" dirty="0">
                <a:hlinkClick r:id="rId3"/>
              </a:rPr>
              <a:t>http://ftp.example.org/pub</a:t>
            </a:r>
            <a:r>
              <a:rPr lang="en-US" altLang="zh-CN" sz="2800" dirty="0"/>
              <a:t> </a:t>
            </a:r>
            <a:r>
              <a:rPr lang="zh-CN" altLang="en-US" sz="2800" dirty="0"/>
              <a:t>到本地当前目录下的 </a:t>
            </a:r>
            <a:r>
              <a:rPr lang="en-US" altLang="zh-CN" sz="2800" dirty="0"/>
              <a:t>ftp.example.org </a:t>
            </a:r>
            <a:r>
              <a:rPr lang="zh-CN" altLang="en-US" sz="2800" dirty="0"/>
              <a:t>子目录</a:t>
            </a:r>
            <a:endParaRPr lang="en-US" altLang="zh-CN" sz="2800" dirty="0"/>
          </a:p>
          <a:p>
            <a:pPr lvl="1">
              <a:buNone/>
            </a:pPr>
            <a:r>
              <a:rPr lang="en-US" altLang="zh-CN" dirty="0">
                <a:solidFill>
                  <a:schemeClr val="accent6">
                    <a:lumMod val="75000"/>
                  </a:schemeClr>
                </a:solidFill>
              </a:rPr>
              <a:t>&gt; mirror -P --delete --only-newer --verbose  http://ftp.example.org/pub        ftp.example.org/</a:t>
            </a:r>
          </a:p>
          <a:p>
            <a:pPr>
              <a:buNone/>
            </a:pP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lftp</a:t>
            </a:r>
            <a:r>
              <a:rPr lang="zh-CN" altLang="en-US" dirty="0"/>
              <a:t>的环境设置</a:t>
            </a:r>
          </a:p>
        </p:txBody>
      </p:sp>
      <p:sp>
        <p:nvSpPr>
          <p:cNvPr id="3" name="内容占位符 2"/>
          <p:cNvSpPr>
            <a:spLocks noGrp="1"/>
          </p:cNvSpPr>
          <p:nvPr>
            <p:ph idx="1"/>
          </p:nvPr>
        </p:nvSpPr>
        <p:spPr>
          <a:xfrm>
            <a:off x="457200" y="1556792"/>
            <a:ext cx="8229600" cy="4790157"/>
          </a:xfrm>
        </p:spPr>
        <p:txBody>
          <a:bodyPr/>
          <a:lstStyle/>
          <a:p>
            <a:r>
              <a:rPr lang="zh-CN" altLang="en-US" dirty="0"/>
              <a:t>交互模式：使用</a:t>
            </a:r>
            <a:r>
              <a:rPr lang="en-US" altLang="zh-CN" dirty="0"/>
              <a:t>set</a:t>
            </a:r>
            <a:r>
              <a:rPr lang="zh-CN" altLang="en-US" dirty="0"/>
              <a:t>命令设置</a:t>
            </a:r>
            <a:r>
              <a:rPr lang="en-US" altLang="zh-CN" dirty="0" err="1"/>
              <a:t>lftp</a:t>
            </a:r>
            <a:r>
              <a:rPr lang="zh-CN" altLang="en-US" dirty="0"/>
              <a:t>环境变量</a:t>
            </a:r>
            <a:endParaRPr lang="en-US" altLang="zh-CN" dirty="0"/>
          </a:p>
          <a:p>
            <a:pPr lvl="1"/>
            <a:r>
              <a:rPr lang="en-US" altLang="zh-CN" dirty="0">
                <a:solidFill>
                  <a:schemeClr val="accent6">
                    <a:lumMod val="75000"/>
                  </a:schemeClr>
                </a:solidFill>
              </a:rPr>
              <a:t>set -a</a:t>
            </a:r>
            <a:r>
              <a:rPr lang="zh-CN" altLang="en-US" dirty="0"/>
              <a:t>：显示所有的环境变量</a:t>
            </a:r>
            <a:endParaRPr lang="en-US" altLang="zh-CN" dirty="0"/>
          </a:p>
          <a:p>
            <a:pPr lvl="1"/>
            <a:r>
              <a:rPr lang="en-US" altLang="zh-CN" dirty="0">
                <a:solidFill>
                  <a:schemeClr val="accent6">
                    <a:lumMod val="75000"/>
                  </a:schemeClr>
                </a:solidFill>
              </a:rPr>
              <a:t>set -d</a:t>
            </a:r>
            <a:r>
              <a:rPr lang="zh-CN" altLang="en-US" dirty="0"/>
              <a:t>：显示默认的环境变量</a:t>
            </a:r>
            <a:endParaRPr lang="en-US" altLang="zh-CN" dirty="0"/>
          </a:p>
          <a:p>
            <a:pPr lvl="1"/>
            <a:r>
              <a:rPr lang="en-US" altLang="zh-CN" dirty="0">
                <a:solidFill>
                  <a:schemeClr val="accent6">
                    <a:lumMod val="75000"/>
                  </a:schemeClr>
                </a:solidFill>
              </a:rPr>
              <a:t>set </a:t>
            </a:r>
            <a:r>
              <a:rPr lang="en-US" altLang="zh-CN" dirty="0" err="1">
                <a:solidFill>
                  <a:schemeClr val="accent6">
                    <a:lumMod val="75000"/>
                  </a:schemeClr>
                </a:solidFill>
              </a:rPr>
              <a:t>var</a:t>
            </a:r>
            <a:r>
              <a:rPr lang="en-US" altLang="zh-CN" dirty="0">
                <a:solidFill>
                  <a:schemeClr val="accent6">
                    <a:lumMod val="75000"/>
                  </a:schemeClr>
                </a:solidFill>
              </a:rPr>
              <a:t> [</a:t>
            </a:r>
            <a:r>
              <a:rPr lang="en-US" altLang="zh-CN" dirty="0" err="1">
                <a:solidFill>
                  <a:schemeClr val="accent6">
                    <a:lumMod val="75000"/>
                  </a:schemeClr>
                </a:solidFill>
              </a:rPr>
              <a:t>val</a:t>
            </a:r>
            <a:r>
              <a:rPr lang="en-US" altLang="zh-CN" dirty="0">
                <a:solidFill>
                  <a:schemeClr val="accent6">
                    <a:lumMod val="75000"/>
                  </a:schemeClr>
                </a:solidFill>
              </a:rPr>
              <a:t>]</a:t>
            </a:r>
            <a:r>
              <a:rPr lang="zh-CN" altLang="en-US" dirty="0"/>
              <a:t>：设置环境变量</a:t>
            </a:r>
            <a:r>
              <a:rPr lang="en-US" altLang="zh-CN" dirty="0" err="1"/>
              <a:t>var</a:t>
            </a:r>
            <a:r>
              <a:rPr lang="zh-CN" altLang="en-US" dirty="0"/>
              <a:t>的值为</a:t>
            </a:r>
            <a:r>
              <a:rPr lang="en-US" altLang="zh-CN" dirty="0" err="1"/>
              <a:t>val</a:t>
            </a:r>
            <a:r>
              <a:rPr lang="zh-CN" altLang="en-US" dirty="0"/>
              <a:t>，若省略值</a:t>
            </a:r>
            <a:r>
              <a:rPr lang="en-US" altLang="zh-CN" dirty="0" err="1"/>
              <a:t>val</a:t>
            </a:r>
            <a:r>
              <a:rPr lang="zh-CN" altLang="en-US" dirty="0"/>
              <a:t>表示取消此环境变量的设置</a:t>
            </a:r>
            <a:endParaRPr lang="en-US" altLang="zh-CN" dirty="0"/>
          </a:p>
          <a:p>
            <a:r>
              <a:rPr lang="zh-CN" altLang="en-US" dirty="0"/>
              <a:t>环境文件</a:t>
            </a:r>
            <a:endParaRPr lang="en-US" altLang="zh-CN" dirty="0"/>
          </a:p>
          <a:p>
            <a:pPr lvl="1"/>
            <a:r>
              <a:rPr lang="zh-CN" altLang="en-US" dirty="0"/>
              <a:t>全局：</a:t>
            </a:r>
            <a:r>
              <a:rPr lang="en-US" altLang="zh-CN" dirty="0"/>
              <a:t> /etc/</a:t>
            </a:r>
            <a:r>
              <a:rPr lang="en-US" altLang="zh-CN" dirty="0" err="1"/>
              <a:t>lftp.conf</a:t>
            </a:r>
            <a:endParaRPr lang="en-US" altLang="zh-CN" dirty="0"/>
          </a:p>
          <a:p>
            <a:pPr lvl="1"/>
            <a:r>
              <a:rPr lang="zh-CN" altLang="en-US" dirty="0"/>
              <a:t>每用户：</a:t>
            </a:r>
            <a:r>
              <a:rPr lang="en-US" altLang="zh-CN" dirty="0"/>
              <a:t>~/.</a:t>
            </a:r>
            <a:r>
              <a:rPr lang="en-US" altLang="zh-CN" dirty="0" err="1"/>
              <a:t>lftp</a:t>
            </a:r>
            <a:r>
              <a:rPr lang="en-US" altLang="zh-CN" dirty="0"/>
              <a:t>/</a:t>
            </a:r>
            <a:r>
              <a:rPr lang="en-US" altLang="zh-CN" dirty="0" err="1"/>
              <a:t>rc</a:t>
            </a:r>
            <a:endParaRPr lang="en-US" altLang="zh-CN" dirty="0"/>
          </a:p>
          <a:p>
            <a:pPr lvl="2"/>
            <a:r>
              <a:rPr lang="zh-CN" altLang="en-US" dirty="0"/>
              <a:t>用户可以将用于自己环境设置的</a:t>
            </a:r>
            <a:r>
              <a:rPr lang="en-US" altLang="zh-CN" dirty="0"/>
              <a:t>set</a:t>
            </a:r>
            <a:r>
              <a:rPr lang="zh-CN" altLang="en-US" dirty="0"/>
              <a:t>命令放入其中</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wget</a:t>
            </a:r>
            <a:r>
              <a:rPr lang="zh-CN" altLang="en-US" dirty="0"/>
              <a:t>简介</a:t>
            </a:r>
          </a:p>
        </p:txBody>
      </p:sp>
      <p:sp>
        <p:nvSpPr>
          <p:cNvPr id="3" name="内容占位符 2"/>
          <p:cNvSpPr>
            <a:spLocks noGrp="1"/>
          </p:cNvSpPr>
          <p:nvPr>
            <p:ph idx="1"/>
          </p:nvPr>
        </p:nvSpPr>
        <p:spPr>
          <a:xfrm>
            <a:off x="700637" y="1340768"/>
            <a:ext cx="8229600" cy="5006181"/>
          </a:xfrm>
        </p:spPr>
        <p:txBody>
          <a:bodyPr/>
          <a:lstStyle/>
          <a:p>
            <a:r>
              <a:rPr lang="en-US" altLang="zh-CN" dirty="0" err="1"/>
              <a:t>wget</a:t>
            </a:r>
            <a:r>
              <a:rPr lang="zh-CN" altLang="en-US" dirty="0"/>
              <a:t>是</a:t>
            </a:r>
            <a:r>
              <a:rPr lang="zh-CN" altLang="en-US" dirty="0">
                <a:solidFill>
                  <a:srgbClr val="C00000"/>
                </a:solidFill>
              </a:rPr>
              <a:t>基于控制台</a:t>
            </a:r>
            <a:r>
              <a:rPr lang="zh-CN" altLang="en-US" dirty="0"/>
              <a:t>的</a:t>
            </a:r>
            <a:r>
              <a:rPr lang="en-US" altLang="zh-CN" dirty="0"/>
              <a:t>HTTP/FTP</a:t>
            </a:r>
            <a:r>
              <a:rPr lang="zh-CN" altLang="en-US" dirty="0">
                <a:solidFill>
                  <a:srgbClr val="C00000"/>
                </a:solidFill>
              </a:rPr>
              <a:t>下载工具</a:t>
            </a:r>
            <a:endParaRPr lang="en-US" altLang="zh-CN" dirty="0">
              <a:solidFill>
                <a:srgbClr val="C00000"/>
              </a:solidFill>
            </a:endParaRPr>
          </a:p>
          <a:p>
            <a:pPr lvl="1"/>
            <a:r>
              <a:rPr lang="zh-CN" altLang="en-US" sz="2400" dirty="0"/>
              <a:t>主页：</a:t>
            </a:r>
            <a:r>
              <a:rPr lang="en-US" altLang="zh-CN" sz="2400" dirty="0">
                <a:hlinkClick r:id="rId3"/>
              </a:rPr>
              <a:t>http://wget.sunsite.dk/</a:t>
            </a:r>
            <a:endParaRPr lang="en-US" altLang="zh-CN" sz="2400" dirty="0"/>
          </a:p>
          <a:p>
            <a:pPr lvl="1"/>
            <a:r>
              <a:rPr lang="zh-CN" altLang="en-US" sz="2400" dirty="0" smtClean="0"/>
              <a:t>在</a:t>
            </a:r>
            <a:r>
              <a:rPr lang="en-US" altLang="zh-CN" sz="2400" dirty="0" smtClean="0"/>
              <a:t>RHEL/CentOS</a:t>
            </a:r>
            <a:r>
              <a:rPr lang="zh-CN" altLang="en-US" sz="2400" dirty="0" smtClean="0"/>
              <a:t>中由名为</a:t>
            </a:r>
            <a:r>
              <a:rPr lang="zh-CN" altLang="en-US" sz="2400" dirty="0" smtClean="0">
                <a:solidFill>
                  <a:schemeClr val="accent6">
                    <a:lumMod val="75000"/>
                  </a:schemeClr>
                </a:solidFill>
              </a:rPr>
              <a:t> </a:t>
            </a:r>
            <a:r>
              <a:rPr lang="en-US" altLang="zh-CN" sz="2400" dirty="0" err="1" smtClean="0">
                <a:solidFill>
                  <a:schemeClr val="accent6">
                    <a:lumMod val="75000"/>
                  </a:schemeClr>
                </a:solidFill>
              </a:rPr>
              <a:t>wget</a:t>
            </a:r>
            <a:r>
              <a:rPr lang="zh-CN" altLang="en-US" sz="2400" dirty="0" smtClean="0">
                <a:solidFill>
                  <a:schemeClr val="accent6">
                    <a:lumMod val="75000"/>
                  </a:schemeClr>
                </a:solidFill>
              </a:rPr>
              <a:t> </a:t>
            </a:r>
            <a:r>
              <a:rPr lang="zh-CN" altLang="en-US" sz="2400" dirty="0" smtClean="0"/>
              <a:t>的</a:t>
            </a:r>
            <a:r>
              <a:rPr lang="en-US" altLang="zh-CN" sz="2400" dirty="0" smtClean="0"/>
              <a:t>RPM</a:t>
            </a:r>
            <a:r>
              <a:rPr lang="zh-CN" altLang="en-US" sz="2400" dirty="0" smtClean="0"/>
              <a:t>包提供</a:t>
            </a:r>
            <a:endParaRPr lang="en-US" altLang="zh-CN" sz="2400" dirty="0" smtClean="0"/>
          </a:p>
          <a:p>
            <a:r>
              <a:rPr lang="zh-CN" altLang="en-US" dirty="0" smtClean="0"/>
              <a:t>功能</a:t>
            </a:r>
            <a:endParaRPr lang="en-US" altLang="zh-CN" dirty="0" smtClean="0"/>
          </a:p>
          <a:p>
            <a:pPr lvl="1"/>
            <a:r>
              <a:rPr lang="zh-CN" altLang="en-US" sz="2000" dirty="0" smtClean="0">
                <a:solidFill>
                  <a:srgbClr val="C00000"/>
                </a:solidFill>
              </a:rPr>
              <a:t>不</a:t>
            </a:r>
            <a:r>
              <a:rPr lang="zh-CN" altLang="en-US" sz="2000" dirty="0">
                <a:solidFill>
                  <a:srgbClr val="C00000"/>
                </a:solidFill>
              </a:rPr>
              <a:t>使用交互界面，可以在后台工作</a:t>
            </a:r>
          </a:p>
          <a:p>
            <a:pPr lvl="1"/>
            <a:r>
              <a:rPr lang="zh-CN" altLang="en-US" sz="2000" dirty="0"/>
              <a:t>支持 </a:t>
            </a:r>
            <a:r>
              <a:rPr lang="en-US" altLang="zh-CN" sz="2000" dirty="0"/>
              <a:t>HTTP</a:t>
            </a:r>
            <a:r>
              <a:rPr lang="zh-CN" altLang="en-US" sz="2000" dirty="0"/>
              <a:t>、</a:t>
            </a:r>
            <a:r>
              <a:rPr lang="en-US" altLang="zh-CN" sz="2000" dirty="0"/>
              <a:t>HTTPS </a:t>
            </a:r>
            <a:r>
              <a:rPr lang="zh-CN" altLang="en-US" sz="2000" dirty="0"/>
              <a:t>和 </a:t>
            </a:r>
            <a:r>
              <a:rPr lang="en-US" altLang="zh-CN" sz="2000" dirty="0"/>
              <a:t>FTP </a:t>
            </a:r>
            <a:r>
              <a:rPr lang="zh-CN" altLang="en-US" sz="2000" dirty="0"/>
              <a:t>协议</a:t>
            </a:r>
          </a:p>
          <a:p>
            <a:pPr lvl="1"/>
            <a:r>
              <a:rPr lang="zh-CN" altLang="en-US" sz="2000" dirty="0"/>
              <a:t>在</a:t>
            </a:r>
            <a:r>
              <a:rPr lang="en-US" altLang="zh-CN" sz="2000" dirty="0" err="1"/>
              <a:t>wget</a:t>
            </a:r>
            <a:r>
              <a:rPr lang="zh-CN" altLang="en-US" sz="2000" dirty="0"/>
              <a:t>通过</a:t>
            </a:r>
            <a:r>
              <a:rPr lang="en-US" altLang="zh-CN" sz="2000" dirty="0"/>
              <a:t>FTP</a:t>
            </a:r>
            <a:r>
              <a:rPr lang="zh-CN" altLang="en-US" sz="2000" dirty="0"/>
              <a:t>下载时，具有文件名通配符匹配和目录递归镜像功能，并支持被动</a:t>
            </a:r>
            <a:r>
              <a:rPr lang="en-US" altLang="zh-CN" sz="2000" dirty="0"/>
              <a:t>FTP</a:t>
            </a:r>
            <a:r>
              <a:rPr lang="zh-CN" altLang="en-US" sz="2000" dirty="0"/>
              <a:t>下载</a:t>
            </a:r>
          </a:p>
          <a:p>
            <a:pPr lvl="1"/>
            <a:r>
              <a:rPr lang="zh-CN" altLang="en-US" sz="2000" dirty="0"/>
              <a:t>可以读出并储存</a:t>
            </a:r>
            <a:r>
              <a:rPr lang="en-US" altLang="zh-CN" sz="2000" dirty="0"/>
              <a:t>HTTP</a:t>
            </a:r>
            <a:r>
              <a:rPr lang="zh-CN" altLang="en-US" sz="2000" dirty="0"/>
              <a:t>和</a:t>
            </a:r>
            <a:r>
              <a:rPr lang="en-US" altLang="zh-CN" sz="2000" dirty="0"/>
              <a:t>FTP</a:t>
            </a:r>
            <a:r>
              <a:rPr lang="zh-CN" altLang="en-US" sz="2000" dirty="0"/>
              <a:t>站点给出的时间戳，从而可以判断远程文件的更新状况</a:t>
            </a:r>
          </a:p>
          <a:p>
            <a:pPr lvl="1"/>
            <a:r>
              <a:rPr lang="zh-CN" altLang="en-US" sz="2000" dirty="0"/>
              <a:t>断点续传的功能使得在缓慢和不稳定的连接状态下表现依然出色</a:t>
            </a:r>
          </a:p>
          <a:p>
            <a:pPr lvl="1"/>
            <a:r>
              <a:rPr lang="zh-CN" altLang="en-US" sz="2000" dirty="0"/>
              <a:t>支持代理服务器的特性使得</a:t>
            </a:r>
            <a:r>
              <a:rPr lang="en-US" altLang="zh-CN" sz="2000" dirty="0" err="1"/>
              <a:t>wget</a:t>
            </a:r>
            <a:r>
              <a:rPr lang="zh-CN" altLang="en-US" sz="2000" dirty="0"/>
              <a:t>在使用中减小网络负载、加速下载以及配合防火墙使用成为可能</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wget</a:t>
            </a:r>
            <a:r>
              <a:rPr lang="zh-CN" altLang="en-US" dirty="0"/>
              <a:t>命令</a:t>
            </a:r>
          </a:p>
        </p:txBody>
      </p:sp>
      <p:sp>
        <p:nvSpPr>
          <p:cNvPr id="3" name="内容占位符 2"/>
          <p:cNvSpPr>
            <a:spLocks noGrp="1"/>
          </p:cNvSpPr>
          <p:nvPr>
            <p:ph idx="1"/>
          </p:nvPr>
        </p:nvSpPr>
        <p:spPr>
          <a:xfrm>
            <a:off x="904056" y="1539240"/>
            <a:ext cx="7772400" cy="4114800"/>
          </a:xfrm>
        </p:spPr>
        <p:txBody>
          <a:bodyPr/>
          <a:lstStyle/>
          <a:p>
            <a:r>
              <a:rPr lang="zh-CN" altLang="en-US" dirty="0"/>
              <a:t>格式</a:t>
            </a:r>
            <a:endParaRPr lang="en-US" altLang="zh-CN" dirty="0"/>
          </a:p>
          <a:p>
            <a:pPr lvl="1"/>
            <a:r>
              <a:rPr lang="en-US" altLang="zh-CN" dirty="0" err="1">
                <a:solidFill>
                  <a:schemeClr val="accent6">
                    <a:lumMod val="75000"/>
                  </a:schemeClr>
                </a:solidFill>
              </a:rPr>
              <a:t>wget</a:t>
            </a:r>
            <a:r>
              <a:rPr lang="en-US" altLang="zh-CN" dirty="0">
                <a:solidFill>
                  <a:schemeClr val="accent6">
                    <a:lumMod val="75000"/>
                  </a:schemeClr>
                </a:solidFill>
              </a:rPr>
              <a:t> [option] [&lt;URL-list&gt;]</a:t>
            </a:r>
          </a:p>
          <a:p>
            <a:r>
              <a:rPr lang="zh-CN" altLang="en-US" dirty="0"/>
              <a:t>基本选项</a:t>
            </a:r>
          </a:p>
        </p:txBody>
      </p:sp>
      <p:graphicFrame>
        <p:nvGraphicFramePr>
          <p:cNvPr id="7" name="内容占位符 6"/>
          <p:cNvGraphicFramePr>
            <a:graphicFrameLocks/>
          </p:cNvGraphicFramePr>
          <p:nvPr>
            <p:extLst>
              <p:ext uri="{D42A27DB-BD31-4B8C-83A1-F6EECF244321}">
                <p14:modId xmlns:p14="http://schemas.microsoft.com/office/powerpoint/2010/main" val="3852563389"/>
              </p:ext>
            </p:extLst>
          </p:nvPr>
        </p:nvGraphicFramePr>
        <p:xfrm>
          <a:off x="393490" y="3374445"/>
          <a:ext cx="8229602" cy="3291840"/>
        </p:xfrm>
        <a:graphic>
          <a:graphicData uri="http://schemas.openxmlformats.org/drawingml/2006/table">
            <a:tbl>
              <a:tblPr firstRow="1" bandRow="1">
                <a:tableStyleId>{21E4AEA4-8DFA-4A89-87EB-49C32662AFE0}</a:tableStyleId>
              </a:tblPr>
              <a:tblGrid>
                <a:gridCol w="722126">
                  <a:extLst>
                    <a:ext uri="{9D8B030D-6E8A-4147-A177-3AD203B41FA5}">
                      <a16:colId xmlns:a16="http://schemas.microsoft.com/office/drawing/2014/main" val="20000"/>
                    </a:ext>
                  </a:extLst>
                </a:gridCol>
                <a:gridCol w="2024522">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gridCol w="3898778">
                  <a:extLst>
                    <a:ext uri="{9D8B030D-6E8A-4147-A177-3AD203B41FA5}">
                      <a16:colId xmlns:a16="http://schemas.microsoft.com/office/drawing/2014/main" val="20003"/>
                    </a:ext>
                  </a:extLst>
                </a:gridCol>
              </a:tblGrid>
              <a:tr h="370840">
                <a:tc>
                  <a:txBody>
                    <a:bodyPr/>
                    <a:lstStyle/>
                    <a:p>
                      <a:pPr algn="l"/>
                      <a:r>
                        <a:rPr lang="zh-CN" altLang="en-US" sz="2000" dirty="0">
                          <a:solidFill>
                            <a:srgbClr val="C00000"/>
                          </a:solidFill>
                        </a:rPr>
                        <a:t>选项</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C00000"/>
                          </a:solidFill>
                        </a:rPr>
                        <a:t>说明</a:t>
                      </a:r>
                    </a:p>
                  </a:txBody>
                  <a:tcPr/>
                </a:tc>
                <a:tc>
                  <a:txBody>
                    <a:bodyPr/>
                    <a:lstStyle/>
                    <a:p>
                      <a:pPr algn="l"/>
                      <a:r>
                        <a:rPr lang="zh-CN" altLang="en-US" sz="2000" dirty="0">
                          <a:solidFill>
                            <a:srgbClr val="C00000"/>
                          </a:solidFill>
                        </a:rPr>
                        <a:t>选项</a:t>
                      </a:r>
                    </a:p>
                  </a:txBody>
                  <a:tcPr/>
                </a:tc>
                <a:tc>
                  <a:txBody>
                    <a:bodyPr/>
                    <a:lstStyle/>
                    <a:p>
                      <a:pPr algn="l"/>
                      <a:r>
                        <a:rPr lang="zh-CN" altLang="en-US" sz="2000" dirty="0">
                          <a:solidFill>
                            <a:srgbClr val="C00000"/>
                          </a:solidFill>
                        </a:rPr>
                        <a:t>说明</a:t>
                      </a:r>
                    </a:p>
                  </a:txBody>
                  <a:tcPr/>
                </a:tc>
                <a:extLst>
                  <a:ext uri="{0D108BD9-81ED-4DB2-BD59-A6C34878D82A}">
                    <a16:rowId xmlns:a16="http://schemas.microsoft.com/office/drawing/2014/main" val="10000"/>
                  </a:ext>
                </a:extLst>
              </a:tr>
              <a:tr h="370840">
                <a:tc>
                  <a:txBody>
                    <a:bodyPr/>
                    <a:lstStyle/>
                    <a:p>
                      <a:r>
                        <a:rPr lang="en-US" altLang="zh-CN" sz="2000" dirty="0">
                          <a:solidFill>
                            <a:srgbClr val="C00000"/>
                          </a:solidFill>
                        </a:rPr>
                        <a:t>-h</a:t>
                      </a:r>
                      <a:endParaRPr lang="zh-CN" altLang="en-US" sz="2000" dirty="0">
                        <a:solidFill>
                          <a:srgbClr val="C00000"/>
                        </a:solidFill>
                      </a:endParaRPr>
                    </a:p>
                  </a:txBody>
                  <a:tcPr/>
                </a:tc>
                <a:tc>
                  <a:txBody>
                    <a:bodyPr/>
                    <a:lstStyle/>
                    <a:p>
                      <a:r>
                        <a:rPr lang="zh-CN" altLang="en-US" sz="2000" dirty="0"/>
                        <a:t>显示命令帮助</a:t>
                      </a:r>
                    </a:p>
                  </a:txBody>
                  <a:tcPr/>
                </a:tc>
                <a:tc>
                  <a:txBody>
                    <a:bodyPr/>
                    <a:lstStyle/>
                    <a:p>
                      <a:r>
                        <a:rPr lang="en-US" altLang="zh-CN" sz="2000" dirty="0">
                          <a:solidFill>
                            <a:srgbClr val="C00000"/>
                          </a:solidFill>
                        </a:rPr>
                        <a:t>-o </a:t>
                      </a:r>
                      <a:r>
                        <a:rPr lang="en-US" altLang="zh-CN" sz="2000" dirty="0" err="1">
                          <a:solidFill>
                            <a:srgbClr val="C00000"/>
                          </a:solidFill>
                        </a:rPr>
                        <a:t>logfile</a:t>
                      </a:r>
                      <a:endParaRPr lang="zh-CN" altLang="en-US" sz="2000" dirty="0">
                        <a:solidFill>
                          <a:srgbClr val="C00000"/>
                        </a:solidFill>
                      </a:endParaRPr>
                    </a:p>
                  </a:txBody>
                  <a:tcPr/>
                </a:tc>
                <a:tc>
                  <a:txBody>
                    <a:bodyPr/>
                    <a:lstStyle/>
                    <a:p>
                      <a:r>
                        <a:rPr lang="zh-CN" altLang="en-US" sz="2000" dirty="0"/>
                        <a:t>将执行过程写入日志文件</a:t>
                      </a:r>
                      <a:r>
                        <a:rPr lang="en-US" altLang="zh-CN" sz="2000" dirty="0" err="1"/>
                        <a:t>logfile</a:t>
                      </a:r>
                      <a:endParaRPr lang="zh-CN" altLang="en-US" sz="2000" dirty="0"/>
                    </a:p>
                  </a:txBody>
                  <a:tcPr/>
                </a:tc>
                <a:extLst>
                  <a:ext uri="{0D108BD9-81ED-4DB2-BD59-A6C34878D82A}">
                    <a16:rowId xmlns:a16="http://schemas.microsoft.com/office/drawing/2014/main" val="10001"/>
                  </a:ext>
                </a:extLst>
              </a:tr>
              <a:tr h="370840">
                <a:tc>
                  <a:txBody>
                    <a:bodyPr/>
                    <a:lstStyle/>
                    <a:p>
                      <a:r>
                        <a:rPr lang="en-US" altLang="zh-CN" sz="2000" dirty="0">
                          <a:solidFill>
                            <a:srgbClr val="C00000"/>
                          </a:solidFill>
                        </a:rPr>
                        <a:t>-b</a:t>
                      </a:r>
                      <a:endParaRPr lang="zh-CN" altLang="en-US" sz="2000" dirty="0">
                        <a:solidFill>
                          <a:srgbClr val="C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t>后台执行</a:t>
                      </a:r>
                    </a:p>
                  </a:txBody>
                  <a:tcPr/>
                </a:tc>
                <a:tc>
                  <a:txBody>
                    <a:bodyPr/>
                    <a:lstStyle/>
                    <a:p>
                      <a:r>
                        <a:rPr lang="en-US" altLang="zh-CN" sz="2000" dirty="0">
                          <a:solidFill>
                            <a:srgbClr val="C00000"/>
                          </a:solidFill>
                        </a:rPr>
                        <a:t>-a </a:t>
                      </a:r>
                      <a:r>
                        <a:rPr lang="en-US" altLang="zh-CN" sz="2000" dirty="0" err="1">
                          <a:solidFill>
                            <a:srgbClr val="C00000"/>
                          </a:solidFill>
                        </a:rPr>
                        <a:t>logfile</a:t>
                      </a:r>
                      <a:endParaRPr lang="zh-CN" altLang="en-US" sz="2000" dirty="0">
                        <a:solidFill>
                          <a:srgbClr val="C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t>将执行过程追加到日志文件</a:t>
                      </a:r>
                      <a:r>
                        <a:rPr lang="en-US" altLang="zh-CN" sz="2000" dirty="0" err="1"/>
                        <a:t>logfile</a:t>
                      </a:r>
                      <a:endParaRPr lang="zh-CN" altLang="en-US" sz="2000" dirty="0"/>
                    </a:p>
                  </a:txBody>
                  <a:tcPr/>
                </a:tc>
                <a:extLst>
                  <a:ext uri="{0D108BD9-81ED-4DB2-BD59-A6C34878D82A}">
                    <a16:rowId xmlns:a16="http://schemas.microsoft.com/office/drawing/2014/main" val="10002"/>
                  </a:ext>
                </a:extLst>
              </a:tr>
              <a:tr h="370840">
                <a:tc>
                  <a:txBody>
                    <a:bodyPr/>
                    <a:lstStyle/>
                    <a:p>
                      <a:r>
                        <a:rPr lang="en-US" altLang="zh-CN" sz="2000" dirty="0">
                          <a:solidFill>
                            <a:srgbClr val="C00000"/>
                          </a:solidFill>
                        </a:rPr>
                        <a:t>-v</a:t>
                      </a:r>
                      <a:endParaRPr lang="zh-CN" altLang="en-US" sz="2000" dirty="0">
                        <a:solidFill>
                          <a:srgbClr val="C00000"/>
                        </a:solidFill>
                      </a:endParaRPr>
                    </a:p>
                  </a:txBody>
                  <a:tcPr/>
                </a:tc>
                <a:tc>
                  <a:txBody>
                    <a:bodyPr/>
                    <a:lstStyle/>
                    <a:p>
                      <a:r>
                        <a:rPr lang="zh-CN" altLang="en-US" sz="2000" dirty="0"/>
                        <a:t>显示冗余输出</a:t>
                      </a:r>
                    </a:p>
                  </a:txBody>
                  <a:tcPr/>
                </a:tc>
                <a:tc>
                  <a:txBody>
                    <a:bodyPr/>
                    <a:lstStyle/>
                    <a:p>
                      <a:r>
                        <a:rPr lang="en-US" altLang="zh-CN" sz="2000" dirty="0">
                          <a:solidFill>
                            <a:srgbClr val="C00000"/>
                          </a:solidFill>
                        </a:rPr>
                        <a:t>-i </a:t>
                      </a:r>
                      <a:r>
                        <a:rPr lang="en-US" altLang="zh-CN" sz="2000" dirty="0" err="1">
                          <a:solidFill>
                            <a:srgbClr val="C00000"/>
                          </a:solidFill>
                        </a:rPr>
                        <a:t>urlfile</a:t>
                      </a:r>
                      <a:endParaRPr lang="zh-CN" altLang="en-US" sz="2000" dirty="0">
                        <a:solidFill>
                          <a:srgbClr val="C00000"/>
                        </a:solidFill>
                      </a:endParaRPr>
                    </a:p>
                  </a:txBody>
                  <a:tcPr/>
                </a:tc>
                <a:tc>
                  <a:txBody>
                    <a:bodyPr/>
                    <a:lstStyle/>
                    <a:p>
                      <a:r>
                        <a:rPr lang="zh-CN" altLang="en-US" sz="2000" dirty="0"/>
                        <a:t>从</a:t>
                      </a:r>
                      <a:r>
                        <a:rPr lang="en-US" altLang="zh-CN" sz="2000" dirty="0" err="1"/>
                        <a:t>urlfile</a:t>
                      </a:r>
                      <a:r>
                        <a:rPr lang="zh-CN" altLang="en-US" sz="2000" dirty="0"/>
                        <a:t>文件读取要下载的文件列表</a:t>
                      </a:r>
                    </a:p>
                  </a:txBody>
                  <a:tcPr/>
                </a:tc>
                <a:extLst>
                  <a:ext uri="{0D108BD9-81ED-4DB2-BD59-A6C34878D82A}">
                    <a16:rowId xmlns:a16="http://schemas.microsoft.com/office/drawing/2014/main" val="10003"/>
                  </a:ext>
                </a:extLst>
              </a:tr>
              <a:tr h="370840">
                <a:tc>
                  <a:txBody>
                    <a:bodyPr/>
                    <a:lstStyle/>
                    <a:p>
                      <a:r>
                        <a:rPr lang="en-US" altLang="zh-CN" sz="2000" dirty="0">
                          <a:solidFill>
                            <a:srgbClr val="C00000"/>
                          </a:solidFill>
                        </a:rPr>
                        <a:t>-q</a:t>
                      </a:r>
                      <a:endParaRPr lang="zh-CN" altLang="en-US" sz="2000" dirty="0">
                        <a:solidFill>
                          <a:srgbClr val="C00000"/>
                        </a:solidFill>
                      </a:endParaRPr>
                    </a:p>
                  </a:txBody>
                  <a:tcPr/>
                </a:tc>
                <a:tc>
                  <a:txBody>
                    <a:bodyPr/>
                    <a:lstStyle/>
                    <a:p>
                      <a:r>
                        <a:rPr lang="zh-CN" altLang="en-US" sz="2000" dirty="0"/>
                        <a:t>不显示执行输出</a:t>
                      </a:r>
                    </a:p>
                  </a:txBody>
                  <a:tcPr/>
                </a:tc>
                <a:tc>
                  <a:txBody>
                    <a:bodyPr/>
                    <a:lstStyle/>
                    <a:p>
                      <a:r>
                        <a:rPr lang="en-US" altLang="zh-CN" sz="2000" dirty="0">
                          <a:solidFill>
                            <a:srgbClr val="C00000"/>
                          </a:solidFill>
                        </a:rPr>
                        <a:t>-O </a:t>
                      </a:r>
                      <a:r>
                        <a:rPr lang="en-US" altLang="zh-CN" sz="2000" dirty="0" err="1">
                          <a:solidFill>
                            <a:srgbClr val="C00000"/>
                          </a:solidFill>
                        </a:rPr>
                        <a:t>outputfile</a:t>
                      </a:r>
                      <a:endParaRPr lang="zh-CN" altLang="en-US" sz="2000" dirty="0">
                        <a:solidFill>
                          <a:srgbClr val="C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t>将下载的文件改名为</a:t>
                      </a:r>
                      <a:r>
                        <a:rPr lang="en-US" altLang="zh-CN" sz="2000" dirty="0" err="1"/>
                        <a:t>outputfile</a:t>
                      </a:r>
                      <a:endParaRPr lang="zh-CN" altLang="en-US" sz="2000" dirty="0"/>
                    </a:p>
                  </a:txBody>
                  <a:tcPr/>
                </a:tc>
                <a:extLst>
                  <a:ext uri="{0D108BD9-81ED-4DB2-BD59-A6C34878D82A}">
                    <a16:rowId xmlns:a16="http://schemas.microsoft.com/office/drawing/2014/main" val="10004"/>
                  </a:ext>
                </a:extLst>
              </a:tr>
              <a:tr h="370840">
                <a:tc>
                  <a:txBody>
                    <a:bodyPr/>
                    <a:lstStyle/>
                    <a:p>
                      <a:r>
                        <a:rPr lang="en-US" altLang="zh-CN" sz="2000" dirty="0">
                          <a:solidFill>
                            <a:srgbClr val="C00000"/>
                          </a:solidFill>
                        </a:rPr>
                        <a:t>-d</a:t>
                      </a:r>
                      <a:endParaRPr lang="zh-CN" altLang="en-US" sz="2000" dirty="0">
                        <a:solidFill>
                          <a:srgbClr val="C00000"/>
                        </a:solidFill>
                      </a:endParaRPr>
                    </a:p>
                  </a:txBody>
                  <a:tcPr/>
                </a:tc>
                <a:tc>
                  <a:txBody>
                    <a:bodyPr/>
                    <a:lstStyle/>
                    <a:p>
                      <a:r>
                        <a:rPr lang="zh-CN" altLang="en-US" sz="2000" dirty="0"/>
                        <a:t>显示调试信息</a:t>
                      </a:r>
                    </a:p>
                  </a:txBody>
                  <a:tcPr/>
                </a:tc>
                <a:tc>
                  <a:txBody>
                    <a:bodyPr/>
                    <a:lstStyle/>
                    <a:p>
                      <a:r>
                        <a:rPr lang="en-US" altLang="zh-CN" sz="2000" dirty="0">
                          <a:solidFill>
                            <a:srgbClr val="C00000"/>
                          </a:solidFill>
                        </a:rPr>
                        <a:t>-P PREFIX</a:t>
                      </a:r>
                      <a:endParaRPr lang="zh-CN" altLang="en-US" sz="2000" dirty="0">
                        <a:solidFill>
                          <a:srgbClr val="C00000"/>
                        </a:solidFill>
                      </a:endParaRPr>
                    </a:p>
                  </a:txBody>
                  <a:tcPr/>
                </a:tc>
                <a:tc>
                  <a:txBody>
                    <a:bodyPr/>
                    <a:lstStyle/>
                    <a:p>
                      <a:r>
                        <a:rPr lang="zh-CN" altLang="en-US" sz="2000" dirty="0"/>
                        <a:t>将下载的文件存入</a:t>
                      </a:r>
                      <a:r>
                        <a:rPr lang="en-US" altLang="zh-CN" sz="2000" dirty="0"/>
                        <a:t>PREFIX/</a:t>
                      </a:r>
                      <a:r>
                        <a:rPr lang="zh-CN" altLang="en-US" sz="2000" dirty="0"/>
                        <a:t>目录</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wget</a:t>
            </a:r>
            <a:r>
              <a:rPr lang="zh-CN" altLang="en-US" dirty="0"/>
              <a:t>命令</a:t>
            </a:r>
            <a:r>
              <a:rPr lang="en-US" altLang="zh-CN" dirty="0"/>
              <a:t>—</a:t>
            </a:r>
            <a:r>
              <a:rPr lang="zh-CN" altLang="en-US" dirty="0"/>
              <a:t>常用下载选项</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1028434147"/>
              </p:ext>
            </p:extLst>
          </p:nvPr>
        </p:nvGraphicFramePr>
        <p:xfrm>
          <a:off x="395536" y="1776824"/>
          <a:ext cx="8435280" cy="4211320"/>
        </p:xfrm>
        <a:graphic>
          <a:graphicData uri="http://schemas.openxmlformats.org/drawingml/2006/table">
            <a:tbl>
              <a:tblPr firstRow="1" bandRow="1">
                <a:tableStyleId>{21E4AEA4-8DFA-4A89-87EB-49C32662AFE0}</a:tableStyleId>
              </a:tblPr>
              <a:tblGrid>
                <a:gridCol w="970101">
                  <a:extLst>
                    <a:ext uri="{9D8B030D-6E8A-4147-A177-3AD203B41FA5}">
                      <a16:colId xmlns:a16="http://schemas.microsoft.com/office/drawing/2014/main" val="20000"/>
                    </a:ext>
                  </a:extLst>
                </a:gridCol>
                <a:gridCol w="2657074">
                  <a:extLst>
                    <a:ext uri="{9D8B030D-6E8A-4147-A177-3AD203B41FA5}">
                      <a16:colId xmlns:a16="http://schemas.microsoft.com/office/drawing/2014/main" val="20001"/>
                    </a:ext>
                  </a:extLst>
                </a:gridCol>
                <a:gridCol w="2071801">
                  <a:extLst>
                    <a:ext uri="{9D8B030D-6E8A-4147-A177-3AD203B41FA5}">
                      <a16:colId xmlns:a16="http://schemas.microsoft.com/office/drawing/2014/main" val="20002"/>
                    </a:ext>
                  </a:extLst>
                </a:gridCol>
                <a:gridCol w="2736304">
                  <a:extLst>
                    <a:ext uri="{9D8B030D-6E8A-4147-A177-3AD203B41FA5}">
                      <a16:colId xmlns:a16="http://schemas.microsoft.com/office/drawing/2014/main" val="20003"/>
                    </a:ext>
                  </a:extLst>
                </a:gridCol>
              </a:tblGrid>
              <a:tr h="370840">
                <a:tc>
                  <a:txBody>
                    <a:bodyPr/>
                    <a:lstStyle/>
                    <a:p>
                      <a:pPr algn="l"/>
                      <a:r>
                        <a:rPr lang="zh-CN" altLang="en-US" dirty="0">
                          <a:solidFill>
                            <a:srgbClr val="C00000"/>
                          </a:solidFill>
                        </a:rPr>
                        <a:t>选项</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C00000"/>
                          </a:solidFill>
                        </a:rPr>
                        <a:t>说明</a:t>
                      </a:r>
                    </a:p>
                  </a:txBody>
                  <a:tcPr/>
                </a:tc>
                <a:tc>
                  <a:txBody>
                    <a:bodyPr/>
                    <a:lstStyle/>
                    <a:p>
                      <a:pPr algn="l"/>
                      <a:r>
                        <a:rPr lang="zh-CN" altLang="en-US" dirty="0">
                          <a:solidFill>
                            <a:srgbClr val="C00000"/>
                          </a:solidFill>
                        </a:rPr>
                        <a:t>选项</a:t>
                      </a:r>
                    </a:p>
                  </a:txBody>
                  <a:tcPr/>
                </a:tc>
                <a:tc>
                  <a:txBody>
                    <a:bodyPr/>
                    <a:lstStyle/>
                    <a:p>
                      <a:pPr algn="l"/>
                      <a:r>
                        <a:rPr lang="zh-CN" altLang="en-US" dirty="0">
                          <a:solidFill>
                            <a:srgbClr val="C00000"/>
                          </a:solidFill>
                        </a:rPr>
                        <a:t>说明</a:t>
                      </a:r>
                    </a:p>
                  </a:txBody>
                  <a:tcPr/>
                </a:tc>
                <a:extLst>
                  <a:ext uri="{0D108BD9-81ED-4DB2-BD59-A6C34878D82A}">
                    <a16:rowId xmlns:a16="http://schemas.microsoft.com/office/drawing/2014/main" val="10000"/>
                  </a:ext>
                </a:extLst>
              </a:tr>
              <a:tr h="185420">
                <a:tc>
                  <a:txBody>
                    <a:bodyPr/>
                    <a:lstStyle/>
                    <a:p>
                      <a:r>
                        <a:rPr lang="en-US" altLang="zh-CN" dirty="0">
                          <a:solidFill>
                            <a:srgbClr val="C00000"/>
                          </a:solidFill>
                        </a:rPr>
                        <a:t>-t NUM</a:t>
                      </a:r>
                      <a:endParaRPr lang="zh-CN" altLang="en-US" dirty="0">
                        <a:solidFill>
                          <a:srgbClr val="C00000"/>
                        </a:solidFill>
                      </a:endParaRPr>
                    </a:p>
                  </a:txBody>
                  <a:tcPr/>
                </a:tc>
                <a:tc>
                  <a:txBody>
                    <a:bodyPr/>
                    <a:lstStyle/>
                    <a:p>
                      <a:r>
                        <a:rPr lang="zh-CN" altLang="en-US" dirty="0"/>
                        <a:t>重试次数为</a:t>
                      </a:r>
                      <a:r>
                        <a:rPr lang="en-US" altLang="zh-CN" dirty="0"/>
                        <a:t>NUM</a:t>
                      </a:r>
                      <a:endParaRPr lang="zh-CN" altLang="en-US" dirty="0"/>
                    </a:p>
                  </a:txBody>
                  <a:tcPr/>
                </a:tc>
                <a:tc>
                  <a:txBody>
                    <a:bodyPr/>
                    <a:lstStyle/>
                    <a:p>
                      <a:r>
                        <a:rPr lang="en-US" altLang="zh-CN" dirty="0">
                          <a:solidFill>
                            <a:srgbClr val="C00000"/>
                          </a:solidFill>
                        </a:rPr>
                        <a:t>--limit-rate=RATE</a:t>
                      </a:r>
                      <a:endParaRPr lang="zh-CN" altLang="en-US" dirty="0">
                        <a:solidFill>
                          <a:srgbClr val="C00000"/>
                        </a:solidFill>
                      </a:endParaRPr>
                    </a:p>
                  </a:txBody>
                  <a:tcPr/>
                </a:tc>
                <a:tc>
                  <a:txBody>
                    <a:bodyPr/>
                    <a:lstStyle/>
                    <a:p>
                      <a:r>
                        <a:rPr lang="zh-CN" altLang="en-US" dirty="0"/>
                        <a:t>限制下载速度</a:t>
                      </a:r>
                    </a:p>
                  </a:txBody>
                  <a:tcPr/>
                </a:tc>
                <a:extLst>
                  <a:ext uri="{0D108BD9-81ED-4DB2-BD59-A6C34878D82A}">
                    <a16:rowId xmlns:a16="http://schemas.microsoft.com/office/drawing/2014/main" val="10001"/>
                  </a:ext>
                </a:extLst>
              </a:tr>
              <a:tr h="185420">
                <a:tc>
                  <a:txBody>
                    <a:bodyPr/>
                    <a:lstStyle/>
                    <a:p>
                      <a:r>
                        <a:rPr lang="en-US" altLang="zh-CN" dirty="0">
                          <a:solidFill>
                            <a:srgbClr val="C00000"/>
                          </a:solidFill>
                        </a:rPr>
                        <a:t>-c</a:t>
                      </a:r>
                      <a:endParaRPr lang="zh-CN" altLang="en-US" dirty="0">
                        <a:solidFill>
                          <a:srgbClr val="C00000"/>
                        </a:solidFill>
                      </a:endParaRPr>
                    </a:p>
                  </a:txBody>
                  <a:tcPr/>
                </a:tc>
                <a:tc>
                  <a:txBody>
                    <a:bodyPr/>
                    <a:lstStyle/>
                    <a:p>
                      <a:r>
                        <a:rPr lang="zh-CN" altLang="en-US" dirty="0"/>
                        <a:t>继续未完成的任务</a:t>
                      </a:r>
                    </a:p>
                  </a:txBody>
                  <a:tcPr/>
                </a:tc>
                <a:tc>
                  <a:txBody>
                    <a:bodyPr/>
                    <a:lstStyle/>
                    <a:p>
                      <a:r>
                        <a:rPr lang="en-US" altLang="zh-CN" dirty="0">
                          <a:solidFill>
                            <a:srgbClr val="C00000"/>
                          </a:solidFill>
                        </a:rPr>
                        <a:t>-m</a:t>
                      </a:r>
                      <a:endParaRPr lang="zh-CN" altLang="en-US" dirty="0">
                        <a:solidFill>
                          <a:srgbClr val="C00000"/>
                        </a:solidFill>
                      </a:endParaRPr>
                    </a:p>
                  </a:txBody>
                  <a:tcPr/>
                </a:tc>
                <a:tc>
                  <a:txBody>
                    <a:bodyPr/>
                    <a:lstStyle/>
                    <a:p>
                      <a:r>
                        <a:rPr lang="zh-CN" altLang="en-US" dirty="0"/>
                        <a:t>镜像站点目录</a:t>
                      </a:r>
                    </a:p>
                  </a:txBody>
                  <a:tcPr/>
                </a:tc>
                <a:extLst>
                  <a:ext uri="{0D108BD9-81ED-4DB2-BD59-A6C34878D82A}">
                    <a16:rowId xmlns:a16="http://schemas.microsoft.com/office/drawing/2014/main" val="10002"/>
                  </a:ext>
                </a:extLst>
              </a:tr>
              <a:tr h="185420">
                <a:tc>
                  <a:txBody>
                    <a:bodyPr/>
                    <a:lstStyle/>
                    <a:p>
                      <a:r>
                        <a:rPr lang="en-US" altLang="zh-CN" dirty="0">
                          <a:solidFill>
                            <a:srgbClr val="C00000"/>
                          </a:solidFill>
                        </a:rPr>
                        <a:t>-N</a:t>
                      </a:r>
                      <a:endParaRPr lang="zh-CN" altLang="en-US" dirty="0">
                        <a:solidFill>
                          <a:srgbClr val="C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开启时间戳比较，仅下载比本地新的文件</a:t>
                      </a:r>
                    </a:p>
                  </a:txBody>
                  <a:tcPr/>
                </a:tc>
                <a:tc>
                  <a:txBody>
                    <a:bodyPr/>
                    <a:lstStyle/>
                    <a:p>
                      <a:r>
                        <a:rPr lang="en-US" altLang="zh-CN" dirty="0">
                          <a:solidFill>
                            <a:srgbClr val="C00000"/>
                          </a:solidFill>
                        </a:rPr>
                        <a:t>-k</a:t>
                      </a:r>
                      <a:endParaRPr lang="zh-CN" altLang="en-US" dirty="0">
                        <a:solidFill>
                          <a:srgbClr val="C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将下载文件中的链接转换为本地的相对链接</a:t>
                      </a:r>
                    </a:p>
                  </a:txBody>
                  <a:tcPr/>
                </a:tc>
                <a:extLst>
                  <a:ext uri="{0D108BD9-81ED-4DB2-BD59-A6C34878D82A}">
                    <a16:rowId xmlns:a16="http://schemas.microsoft.com/office/drawing/2014/main" val="10003"/>
                  </a:ext>
                </a:extLst>
              </a:tr>
              <a:tr h="185420">
                <a:tc>
                  <a:txBody>
                    <a:bodyPr/>
                    <a:lstStyle/>
                    <a:p>
                      <a:r>
                        <a:rPr lang="en-US" altLang="zh-CN" dirty="0">
                          <a:solidFill>
                            <a:srgbClr val="C00000"/>
                          </a:solidFill>
                        </a:rPr>
                        <a:t>-r</a:t>
                      </a:r>
                      <a:endParaRPr lang="zh-CN" altLang="en-US" dirty="0">
                        <a:solidFill>
                          <a:srgbClr val="C00000"/>
                        </a:solidFill>
                      </a:endParaRPr>
                    </a:p>
                  </a:txBody>
                  <a:tcPr/>
                </a:tc>
                <a:tc>
                  <a:txBody>
                    <a:bodyPr/>
                    <a:lstStyle/>
                    <a:p>
                      <a:r>
                        <a:rPr lang="zh-CN" altLang="en-US" dirty="0"/>
                        <a:t>递归下载</a:t>
                      </a:r>
                    </a:p>
                  </a:txBody>
                  <a:tcPr/>
                </a:tc>
                <a:tc>
                  <a:txBody>
                    <a:bodyPr/>
                    <a:lstStyle/>
                    <a:p>
                      <a:r>
                        <a:rPr lang="en-US" altLang="zh-CN" dirty="0">
                          <a:solidFill>
                            <a:srgbClr val="C00000"/>
                          </a:solidFill>
                        </a:rPr>
                        <a:t>-K</a:t>
                      </a:r>
                      <a:endParaRPr lang="zh-CN" altLang="en-US" dirty="0">
                        <a:solidFill>
                          <a:srgbClr val="C00000"/>
                        </a:solidFill>
                      </a:endParaRPr>
                    </a:p>
                  </a:txBody>
                  <a:tcPr/>
                </a:tc>
                <a:tc>
                  <a:txBody>
                    <a:bodyPr/>
                    <a:lstStyle/>
                    <a:p>
                      <a:r>
                        <a:rPr lang="zh-CN" altLang="en-US" dirty="0"/>
                        <a:t>转换链接前先备份文件</a:t>
                      </a:r>
                    </a:p>
                  </a:txBody>
                  <a:tcPr/>
                </a:tc>
                <a:extLst>
                  <a:ext uri="{0D108BD9-81ED-4DB2-BD59-A6C34878D82A}">
                    <a16:rowId xmlns:a16="http://schemas.microsoft.com/office/drawing/2014/main" val="10004"/>
                  </a:ext>
                </a:extLst>
              </a:tr>
              <a:tr h="185420">
                <a:tc>
                  <a:txBody>
                    <a:bodyPr/>
                    <a:lstStyle/>
                    <a:p>
                      <a:r>
                        <a:rPr lang="en-US" altLang="zh-CN" dirty="0">
                          <a:solidFill>
                            <a:srgbClr val="C00000"/>
                          </a:solidFill>
                        </a:rPr>
                        <a:t>-l NUM</a:t>
                      </a:r>
                      <a:endParaRPr lang="zh-CN" altLang="en-US" dirty="0">
                        <a:solidFill>
                          <a:srgbClr val="C00000"/>
                        </a:solidFill>
                      </a:endParaRPr>
                    </a:p>
                  </a:txBody>
                  <a:tcPr/>
                </a:tc>
                <a:tc>
                  <a:txBody>
                    <a:bodyPr/>
                    <a:lstStyle/>
                    <a:p>
                      <a:r>
                        <a:rPr lang="zh-CN" altLang="en-US" dirty="0"/>
                        <a:t>指定下载深度为</a:t>
                      </a:r>
                      <a:r>
                        <a:rPr lang="en-US" altLang="zh-CN" dirty="0"/>
                        <a:t>NUM</a:t>
                      </a:r>
                      <a:endParaRPr lang="zh-CN" altLang="en-US" dirty="0"/>
                    </a:p>
                  </a:txBody>
                  <a:tcPr/>
                </a:tc>
                <a:tc>
                  <a:txBody>
                    <a:bodyPr/>
                    <a:lstStyle/>
                    <a:p>
                      <a:r>
                        <a:rPr lang="en-US" altLang="zh-CN" dirty="0">
                          <a:solidFill>
                            <a:srgbClr val="C00000"/>
                          </a:solidFill>
                        </a:rPr>
                        <a:t>--user=USER</a:t>
                      </a:r>
                      <a:endParaRPr lang="zh-CN" altLang="en-US" dirty="0">
                        <a:solidFill>
                          <a:srgbClr val="C00000"/>
                        </a:solidFill>
                      </a:endParaRPr>
                    </a:p>
                  </a:txBody>
                  <a:tcPr/>
                </a:tc>
                <a:tc>
                  <a:txBody>
                    <a:bodyPr/>
                    <a:lstStyle/>
                    <a:p>
                      <a:r>
                        <a:rPr lang="zh-CN" altLang="en-US" dirty="0"/>
                        <a:t>指定用户名</a:t>
                      </a:r>
                    </a:p>
                  </a:txBody>
                  <a:tcPr/>
                </a:tc>
                <a:extLst>
                  <a:ext uri="{0D108BD9-81ED-4DB2-BD59-A6C34878D82A}">
                    <a16:rowId xmlns:a16="http://schemas.microsoft.com/office/drawing/2014/main" val="10005"/>
                  </a:ext>
                </a:extLst>
              </a:tr>
              <a:tr h="1854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rgbClr val="C00000"/>
                          </a:solidFill>
                        </a:rPr>
                        <a:t>-</a:t>
                      </a:r>
                      <a:r>
                        <a:rPr lang="en-US" altLang="zh-CN" dirty="0" err="1">
                          <a:solidFill>
                            <a:srgbClr val="C00000"/>
                          </a:solidFill>
                        </a:rPr>
                        <a:t>nc</a:t>
                      </a:r>
                      <a:endParaRPr lang="zh-CN" altLang="en-US" dirty="0">
                        <a:solidFill>
                          <a:srgbClr val="C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不下载已存在的文件</a:t>
                      </a:r>
                    </a:p>
                  </a:txBody>
                  <a:tcPr/>
                </a:tc>
                <a:tc>
                  <a:txBody>
                    <a:bodyPr/>
                    <a:lstStyle/>
                    <a:p>
                      <a:r>
                        <a:rPr lang="en-US" altLang="zh-CN" dirty="0">
                          <a:solidFill>
                            <a:srgbClr val="C00000"/>
                          </a:solidFill>
                        </a:rPr>
                        <a:t>--password=PASS</a:t>
                      </a:r>
                      <a:endParaRPr lang="zh-CN" altLang="en-US" dirty="0">
                        <a:solidFill>
                          <a:srgbClr val="C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指定用户的口令</a:t>
                      </a:r>
                    </a:p>
                  </a:txBody>
                  <a:tcPr/>
                </a:tc>
                <a:extLst>
                  <a:ext uri="{0D108BD9-81ED-4DB2-BD59-A6C34878D82A}">
                    <a16:rowId xmlns:a16="http://schemas.microsoft.com/office/drawing/2014/main" val="10006"/>
                  </a:ext>
                </a:extLst>
              </a:tr>
              <a:tr h="185420">
                <a:tc>
                  <a:txBody>
                    <a:bodyPr/>
                    <a:lstStyle/>
                    <a:p>
                      <a:r>
                        <a:rPr lang="en-US" altLang="zh-CN" dirty="0">
                          <a:solidFill>
                            <a:srgbClr val="C00000"/>
                          </a:solidFill>
                        </a:rPr>
                        <a:t>-</a:t>
                      </a:r>
                      <a:r>
                        <a:rPr lang="en-US" altLang="zh-CN" dirty="0" err="1">
                          <a:solidFill>
                            <a:srgbClr val="C00000"/>
                          </a:solidFill>
                        </a:rPr>
                        <a:t>nd</a:t>
                      </a:r>
                      <a:endParaRPr lang="zh-CN" altLang="en-US" dirty="0">
                        <a:solidFill>
                          <a:srgbClr val="C00000"/>
                        </a:solidFill>
                      </a:endParaRPr>
                    </a:p>
                  </a:txBody>
                  <a:tcPr/>
                </a:tc>
                <a:tc>
                  <a:txBody>
                    <a:bodyPr/>
                    <a:lstStyle/>
                    <a:p>
                      <a:r>
                        <a:rPr lang="zh-CN" altLang="en-US" dirty="0"/>
                        <a:t>不在本地创建目录结构</a:t>
                      </a:r>
                    </a:p>
                  </a:txBody>
                  <a:tcPr/>
                </a:tc>
                <a:tc>
                  <a:txBody>
                    <a:bodyPr/>
                    <a:lstStyle/>
                    <a:p>
                      <a:r>
                        <a:rPr lang="en-US" altLang="zh-CN" dirty="0">
                          <a:solidFill>
                            <a:srgbClr val="C00000"/>
                          </a:solidFill>
                        </a:rPr>
                        <a:t>-L</a:t>
                      </a:r>
                      <a:endParaRPr lang="zh-CN" altLang="en-US" dirty="0">
                        <a:solidFill>
                          <a:srgbClr val="C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仅下载本站相关联的链接</a:t>
                      </a:r>
                    </a:p>
                  </a:txBody>
                  <a:tcPr/>
                </a:tc>
                <a:extLst>
                  <a:ext uri="{0D108BD9-81ED-4DB2-BD59-A6C34878D82A}">
                    <a16:rowId xmlns:a16="http://schemas.microsoft.com/office/drawing/2014/main" val="10007"/>
                  </a:ext>
                </a:extLst>
              </a:tr>
              <a:tr h="185420">
                <a:tc>
                  <a:txBody>
                    <a:bodyPr/>
                    <a:lstStyle/>
                    <a:p>
                      <a:r>
                        <a:rPr lang="en-US" altLang="zh-CN" dirty="0">
                          <a:solidFill>
                            <a:srgbClr val="C00000"/>
                          </a:solidFill>
                        </a:rPr>
                        <a:t>-</a:t>
                      </a:r>
                      <a:r>
                        <a:rPr lang="en-US" altLang="zh-CN" dirty="0" err="1">
                          <a:solidFill>
                            <a:srgbClr val="C00000"/>
                          </a:solidFill>
                        </a:rPr>
                        <a:t>np</a:t>
                      </a:r>
                      <a:endParaRPr lang="zh-CN" altLang="en-US" dirty="0">
                        <a:solidFill>
                          <a:srgbClr val="C00000"/>
                        </a:solidFill>
                      </a:endParaRPr>
                    </a:p>
                  </a:txBody>
                  <a:tcPr/>
                </a:tc>
                <a:tc>
                  <a:txBody>
                    <a:bodyPr/>
                    <a:lstStyle/>
                    <a:p>
                      <a:r>
                        <a:rPr lang="zh-CN" altLang="zh-CN" sz="1800" kern="1200" dirty="0">
                          <a:solidFill>
                            <a:schemeClr val="dk1"/>
                          </a:solidFill>
                          <a:latin typeface="+mn-lt"/>
                          <a:ea typeface="+mn-ea"/>
                          <a:cs typeface="+mn-cs"/>
                        </a:rPr>
                        <a:t>不遍历父目录</a:t>
                      </a:r>
                      <a:endParaRPr lang="zh-CN" altLang="en-US" dirty="0"/>
                    </a:p>
                  </a:txBody>
                  <a:tcPr/>
                </a:tc>
                <a:tc>
                  <a:txBody>
                    <a:bodyPr/>
                    <a:lstStyle/>
                    <a:p>
                      <a:r>
                        <a:rPr lang="en-US" altLang="zh-CN" dirty="0">
                          <a:solidFill>
                            <a:srgbClr val="C00000"/>
                          </a:solidFill>
                        </a:rPr>
                        <a:t>-H</a:t>
                      </a:r>
                      <a:endParaRPr lang="zh-CN" altLang="en-US" dirty="0">
                        <a:solidFill>
                          <a:srgbClr val="C00000"/>
                        </a:solidFill>
                      </a:endParaRPr>
                    </a:p>
                  </a:txBody>
                  <a:tcPr/>
                </a:tc>
                <a:tc>
                  <a:txBody>
                    <a:bodyPr/>
                    <a:lstStyle/>
                    <a:p>
                      <a:r>
                        <a:rPr lang="zh-CN" altLang="en-US" dirty="0"/>
                        <a:t>可下载外部站点相关文件</a:t>
                      </a:r>
                    </a:p>
                  </a:txBody>
                  <a:tcPr/>
                </a:tc>
                <a:extLst>
                  <a:ext uri="{0D108BD9-81ED-4DB2-BD59-A6C34878D82A}">
                    <a16:rowId xmlns:a16="http://schemas.microsoft.com/office/drawing/2014/main" val="10008"/>
                  </a:ext>
                </a:extLst>
              </a:tr>
              <a:tr h="185420">
                <a:tc>
                  <a:txBody>
                    <a:bodyPr/>
                    <a:lstStyle/>
                    <a:p>
                      <a:r>
                        <a:rPr lang="en-US" altLang="zh-CN" dirty="0">
                          <a:solidFill>
                            <a:srgbClr val="C00000"/>
                          </a:solidFill>
                        </a:rPr>
                        <a:t>-p</a:t>
                      </a:r>
                      <a:endParaRPr lang="zh-CN" altLang="en-US" dirty="0">
                        <a:solidFill>
                          <a:srgbClr val="C00000"/>
                        </a:solidFill>
                      </a:endParaRPr>
                    </a:p>
                  </a:txBody>
                  <a:tcPr/>
                </a:tc>
                <a:tc>
                  <a:txBody>
                    <a:bodyPr/>
                    <a:lstStyle/>
                    <a:p>
                      <a:r>
                        <a:rPr lang="zh-CN" altLang="en-US" dirty="0"/>
                        <a:t>下载</a:t>
                      </a:r>
                      <a:r>
                        <a:rPr lang="en-US" altLang="zh-CN" dirty="0"/>
                        <a:t>HTML</a:t>
                      </a:r>
                      <a:r>
                        <a:rPr lang="zh-CN" altLang="en-US" dirty="0"/>
                        <a:t>页面所包含的所有元素文件</a:t>
                      </a:r>
                    </a:p>
                  </a:txBody>
                  <a:tcPr/>
                </a:tc>
                <a:tc>
                  <a:txBody>
                    <a:bodyPr/>
                    <a:lstStyle/>
                    <a:p>
                      <a:r>
                        <a:rPr lang="en-US" altLang="zh-CN" dirty="0">
                          <a:solidFill>
                            <a:srgbClr val="C00000"/>
                          </a:solidFill>
                        </a:rPr>
                        <a:t>--delete-after</a:t>
                      </a:r>
                      <a:endParaRPr lang="zh-CN" altLang="en-US" dirty="0">
                        <a:solidFill>
                          <a:srgbClr val="C00000"/>
                        </a:solidFill>
                      </a:endParaRPr>
                    </a:p>
                  </a:txBody>
                  <a:tcPr/>
                </a:tc>
                <a:tc>
                  <a:txBody>
                    <a:bodyPr/>
                    <a:lstStyle/>
                    <a:p>
                      <a:r>
                        <a:rPr lang="zh-CN" altLang="en-US" dirty="0"/>
                        <a:t>下载后删除本地文件，常用于生成</a:t>
                      </a:r>
                      <a:r>
                        <a:rPr lang="en-US" altLang="zh-CN" dirty="0"/>
                        <a:t>Squid</a:t>
                      </a:r>
                      <a:r>
                        <a:rPr lang="zh-CN" altLang="en-US" dirty="0"/>
                        <a:t>缓存</a:t>
                      </a:r>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wget</a:t>
            </a:r>
            <a:r>
              <a:rPr lang="zh-CN" altLang="en-US" dirty="0"/>
              <a:t>命令</a:t>
            </a:r>
            <a:r>
              <a:rPr lang="en-US" altLang="zh-CN" dirty="0"/>
              <a:t>—</a:t>
            </a:r>
            <a:r>
              <a:rPr lang="zh-CN" altLang="en-US" dirty="0"/>
              <a:t>常用筛选选项</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314195306"/>
              </p:ext>
            </p:extLst>
          </p:nvPr>
        </p:nvGraphicFramePr>
        <p:xfrm>
          <a:off x="467544" y="1772816"/>
          <a:ext cx="8229601" cy="3261360"/>
        </p:xfrm>
        <a:graphic>
          <a:graphicData uri="http://schemas.openxmlformats.org/drawingml/2006/table">
            <a:tbl>
              <a:tblPr firstRow="1" bandRow="1">
                <a:tableStyleId>{21E4AEA4-8DFA-4A89-87EB-49C32662AFE0}</a:tableStyleId>
              </a:tblPr>
              <a:tblGrid>
                <a:gridCol w="3888432">
                  <a:extLst>
                    <a:ext uri="{9D8B030D-6E8A-4147-A177-3AD203B41FA5}">
                      <a16:colId xmlns:a16="http://schemas.microsoft.com/office/drawing/2014/main" val="20000"/>
                    </a:ext>
                  </a:extLst>
                </a:gridCol>
                <a:gridCol w="4341169">
                  <a:extLst>
                    <a:ext uri="{9D8B030D-6E8A-4147-A177-3AD203B41FA5}">
                      <a16:colId xmlns:a16="http://schemas.microsoft.com/office/drawing/2014/main" val="20001"/>
                    </a:ext>
                  </a:extLst>
                </a:gridCol>
              </a:tblGrid>
              <a:tr h="370840">
                <a:tc>
                  <a:txBody>
                    <a:bodyPr/>
                    <a:lstStyle/>
                    <a:p>
                      <a:pPr algn="l"/>
                      <a:r>
                        <a:rPr lang="zh-CN" altLang="en-US" sz="2400" dirty="0">
                          <a:solidFill>
                            <a:srgbClr val="C00000"/>
                          </a:solidFill>
                        </a:rPr>
                        <a:t>选项</a:t>
                      </a:r>
                    </a:p>
                  </a:txBody>
                  <a:tcPr/>
                </a:tc>
                <a:tc>
                  <a:txBody>
                    <a:bodyPr/>
                    <a:lstStyle/>
                    <a:p>
                      <a:pPr algn="l"/>
                      <a:r>
                        <a:rPr lang="zh-CN" altLang="en-US" sz="2400" dirty="0">
                          <a:solidFill>
                            <a:srgbClr val="C00000"/>
                          </a:solidFill>
                        </a:rPr>
                        <a:t>说明</a:t>
                      </a:r>
                    </a:p>
                  </a:txBody>
                  <a:tcPr/>
                </a:tc>
                <a:extLst>
                  <a:ext uri="{0D108BD9-81ED-4DB2-BD59-A6C34878D82A}">
                    <a16:rowId xmlns:a16="http://schemas.microsoft.com/office/drawing/2014/main" val="10000"/>
                  </a:ext>
                </a:extLst>
              </a:tr>
              <a:tr h="370840">
                <a:tc>
                  <a:txBody>
                    <a:bodyPr/>
                    <a:lstStyle/>
                    <a:p>
                      <a:r>
                        <a:rPr lang="en-US" altLang="zh-CN" sz="2000" dirty="0">
                          <a:solidFill>
                            <a:srgbClr val="C00000"/>
                          </a:solidFill>
                        </a:rPr>
                        <a:t>-A,  --accept=LIST</a:t>
                      </a:r>
                      <a:endParaRPr lang="zh-CN" altLang="en-US" sz="2000" dirty="0">
                        <a:solidFill>
                          <a:srgbClr val="C00000"/>
                        </a:solidFill>
                      </a:endParaRPr>
                    </a:p>
                  </a:txBody>
                  <a:tcPr/>
                </a:tc>
                <a:tc>
                  <a:txBody>
                    <a:bodyPr/>
                    <a:lstStyle/>
                    <a:p>
                      <a:r>
                        <a:rPr lang="zh-CN" altLang="en-US" sz="2000" dirty="0"/>
                        <a:t>使用逗号间隔的列表指出</a:t>
                      </a:r>
                      <a:r>
                        <a:rPr lang="zh-CN" altLang="en-US" sz="2000" dirty="0">
                          <a:solidFill>
                            <a:srgbClr val="C00000"/>
                          </a:solidFill>
                        </a:rPr>
                        <a:t>允许</a:t>
                      </a:r>
                      <a:r>
                        <a:rPr lang="zh-CN" altLang="en-US" sz="2000" dirty="0"/>
                        <a:t>下载的文件扩展名</a:t>
                      </a:r>
                    </a:p>
                  </a:txBody>
                  <a:tcPr/>
                </a:tc>
                <a:extLst>
                  <a:ext uri="{0D108BD9-81ED-4DB2-BD59-A6C34878D82A}">
                    <a16:rowId xmlns:a16="http://schemas.microsoft.com/office/drawing/2014/main" val="10001"/>
                  </a:ext>
                </a:extLst>
              </a:tr>
              <a:tr h="370840">
                <a:tc>
                  <a:txBody>
                    <a:bodyPr/>
                    <a:lstStyle/>
                    <a:p>
                      <a:r>
                        <a:rPr lang="en-US" altLang="zh-CN" sz="2000" dirty="0">
                          <a:solidFill>
                            <a:srgbClr val="C00000"/>
                          </a:solidFill>
                        </a:rPr>
                        <a:t>-R,  --reject=LIST</a:t>
                      </a:r>
                      <a:endParaRPr lang="zh-CN" altLang="en-US" sz="2000" dirty="0">
                        <a:solidFill>
                          <a:srgbClr val="C00000"/>
                        </a:solidFill>
                      </a:endParaRPr>
                    </a:p>
                  </a:txBody>
                  <a:tcPr/>
                </a:tc>
                <a:tc>
                  <a:txBody>
                    <a:bodyPr/>
                    <a:lstStyle/>
                    <a:p>
                      <a:r>
                        <a:rPr lang="zh-CN" altLang="en-US" sz="2000" dirty="0"/>
                        <a:t>使用逗号间隔的列表指出</a:t>
                      </a:r>
                      <a:r>
                        <a:rPr lang="zh-CN" altLang="en-US" sz="2000" dirty="0">
                          <a:solidFill>
                            <a:srgbClr val="C00000"/>
                          </a:solidFill>
                        </a:rPr>
                        <a:t>不允许</a:t>
                      </a:r>
                      <a:r>
                        <a:rPr lang="zh-CN" altLang="en-US" sz="2000" dirty="0"/>
                        <a:t>下载的文件扩展名</a:t>
                      </a:r>
                    </a:p>
                  </a:txBody>
                  <a:tcPr/>
                </a:tc>
                <a:extLst>
                  <a:ext uri="{0D108BD9-81ED-4DB2-BD59-A6C34878D82A}">
                    <a16:rowId xmlns:a16="http://schemas.microsoft.com/office/drawing/2014/main" val="10002"/>
                  </a:ext>
                </a:extLst>
              </a:tr>
              <a:tr h="370840">
                <a:tc>
                  <a:txBody>
                    <a:bodyPr/>
                    <a:lstStyle/>
                    <a:p>
                      <a:r>
                        <a:rPr lang="en-US" altLang="zh-CN" sz="2000" dirty="0">
                          <a:solidFill>
                            <a:srgbClr val="C00000"/>
                          </a:solidFill>
                        </a:rPr>
                        <a:t>-I,  --include-directories=LIST</a:t>
                      </a:r>
                      <a:endParaRPr lang="zh-CN" altLang="en-US" sz="2000" dirty="0">
                        <a:solidFill>
                          <a:srgbClr val="C00000"/>
                        </a:solidFill>
                      </a:endParaRPr>
                    </a:p>
                  </a:txBody>
                  <a:tcPr/>
                </a:tc>
                <a:tc>
                  <a:txBody>
                    <a:bodyPr/>
                    <a:lstStyle/>
                    <a:p>
                      <a:r>
                        <a:rPr lang="zh-CN" altLang="en-US" sz="2000" dirty="0"/>
                        <a:t>使用逗号间隔的列表指出</a:t>
                      </a:r>
                      <a:r>
                        <a:rPr lang="zh-CN" altLang="en-US" sz="2000" dirty="0">
                          <a:solidFill>
                            <a:srgbClr val="C00000"/>
                          </a:solidFill>
                        </a:rPr>
                        <a:t>允许</a:t>
                      </a:r>
                      <a:r>
                        <a:rPr lang="zh-CN" altLang="en-US" sz="2000" dirty="0"/>
                        <a:t>下载的目录名</a:t>
                      </a:r>
                    </a:p>
                  </a:txBody>
                  <a:tcPr/>
                </a:tc>
                <a:extLst>
                  <a:ext uri="{0D108BD9-81ED-4DB2-BD59-A6C34878D82A}">
                    <a16:rowId xmlns:a16="http://schemas.microsoft.com/office/drawing/2014/main" val="10003"/>
                  </a:ext>
                </a:extLst>
              </a:tr>
              <a:tr h="370840">
                <a:tc>
                  <a:txBody>
                    <a:bodyPr/>
                    <a:lstStyle/>
                    <a:p>
                      <a:r>
                        <a:rPr lang="en-US" altLang="zh-CN" sz="2000" dirty="0">
                          <a:solidFill>
                            <a:srgbClr val="C00000"/>
                          </a:solidFill>
                        </a:rPr>
                        <a:t>-X,  --exclude-directories=LIST</a:t>
                      </a:r>
                      <a:endParaRPr lang="zh-CN" altLang="en-US" sz="2000" dirty="0">
                        <a:solidFill>
                          <a:srgbClr val="C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t>使用逗号间隔的列表指出</a:t>
                      </a:r>
                      <a:r>
                        <a:rPr lang="zh-CN" altLang="en-US" sz="2000" dirty="0">
                          <a:solidFill>
                            <a:srgbClr val="C00000"/>
                          </a:solidFill>
                        </a:rPr>
                        <a:t>不允许</a:t>
                      </a:r>
                      <a:r>
                        <a:rPr lang="zh-CN" altLang="en-US" sz="2000" dirty="0"/>
                        <a:t>下载的目录名</a:t>
                      </a:r>
                    </a:p>
                  </a:txBody>
                  <a:tcPr/>
                </a:tc>
                <a:extLst>
                  <a:ext uri="{0D108BD9-81ED-4DB2-BD59-A6C34878D82A}">
                    <a16:rowId xmlns:a16="http://schemas.microsoft.com/office/drawing/2014/main" val="10004"/>
                  </a:ext>
                </a:extLst>
              </a:tr>
            </a:tbl>
          </a:graphicData>
        </a:graphic>
      </p:graphicFrame>
      <p:sp>
        <p:nvSpPr>
          <p:cNvPr id="8" name="TextBox 7"/>
          <p:cNvSpPr txBox="1"/>
          <p:nvPr/>
        </p:nvSpPr>
        <p:spPr>
          <a:xfrm>
            <a:off x="2123728" y="5445224"/>
            <a:ext cx="446449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400" dirty="0">
                <a:solidFill>
                  <a:srgbClr val="C00000"/>
                </a:solidFill>
              </a:rPr>
              <a:t>LIST</a:t>
            </a:r>
            <a:r>
              <a:rPr lang="en-US" altLang="zh-CN" sz="2400" dirty="0"/>
              <a:t> </a:t>
            </a:r>
            <a:r>
              <a:rPr lang="zh-CN" altLang="en-US" sz="2400" dirty="0"/>
              <a:t>中可以使用</a:t>
            </a:r>
            <a:r>
              <a:rPr lang="en-US" altLang="zh-CN" sz="2400" dirty="0"/>
              <a:t>Shell</a:t>
            </a:r>
            <a:r>
              <a:rPr lang="zh-CN" altLang="en-US" sz="2400" dirty="0"/>
              <a:t>的通配符</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wget</a:t>
            </a:r>
            <a:r>
              <a:rPr lang="zh-CN" altLang="en-US" dirty="0"/>
              <a:t>命令</a:t>
            </a:r>
            <a:r>
              <a:rPr lang="en-US" altLang="zh-CN" dirty="0"/>
              <a:t>—</a:t>
            </a:r>
            <a:r>
              <a:rPr lang="zh-CN" altLang="en-US" dirty="0"/>
              <a:t>常用筛选选项</a:t>
            </a:r>
          </a:p>
        </p:txBody>
      </p:sp>
      <p:sp>
        <p:nvSpPr>
          <p:cNvPr id="4" name="矩形 3"/>
          <p:cNvSpPr/>
          <p:nvPr/>
        </p:nvSpPr>
        <p:spPr>
          <a:xfrm>
            <a:off x="251520" y="1556792"/>
            <a:ext cx="8695630" cy="4524315"/>
          </a:xfrm>
          <a:prstGeom prst="rect">
            <a:avLst/>
          </a:prstGeom>
        </p:spPr>
        <p:txBody>
          <a:bodyPr wrap="square">
            <a:spAutoFit/>
          </a:bodyPr>
          <a:lstStyle/>
          <a:p>
            <a:r>
              <a:rPr lang="en-US" altLang="zh-CN" sz="2400" dirty="0" smtClean="0"/>
              <a:t>…</a:t>
            </a:r>
            <a:r>
              <a:rPr lang="zh-CN" altLang="en-US" sz="2400" dirty="0">
                <a:solidFill>
                  <a:srgbClr val="0000FF"/>
                </a:solidFill>
              </a:rPr>
              <a:t>[root@localhost ~]# wget </a:t>
            </a:r>
            <a:r>
              <a:rPr lang="zh-CN" altLang="en-US" sz="2400" dirty="0"/>
              <a:t>ftp://xilin:</a:t>
            </a:r>
            <a:r>
              <a:rPr lang="en-US" altLang="zh-CN" sz="2400" dirty="0" err="1"/>
              <a:t>xxxxxx</a:t>
            </a:r>
            <a:r>
              <a:rPr lang="zh-CN" altLang="en-US" sz="2400" dirty="0"/>
              <a:t>@192.168.181.13</a:t>
            </a:r>
            <a:r>
              <a:rPr lang="en-US" altLang="zh-CN" sz="2400" dirty="0"/>
              <a:t>3</a:t>
            </a:r>
            <a:r>
              <a:rPr lang="zh-CN" altLang="en-US" sz="2400" dirty="0"/>
              <a:t>//home//xilin//test</a:t>
            </a:r>
          </a:p>
          <a:p>
            <a:endParaRPr lang="en-US" altLang="zh-CN" sz="2400" dirty="0" smtClean="0"/>
          </a:p>
          <a:p>
            <a:r>
              <a:rPr lang="en-US" altLang="zh-CN" sz="2400" dirty="0" smtClean="0"/>
              <a:t>…</a:t>
            </a:r>
            <a:endParaRPr lang="zh-CN" altLang="en-US" sz="2400" dirty="0"/>
          </a:p>
          <a:p>
            <a:r>
              <a:rPr lang="zh-CN" altLang="en-US" sz="2400" dirty="0" smtClean="0"/>
              <a:t>2024-05-21 </a:t>
            </a:r>
            <a:r>
              <a:rPr lang="zh-CN" altLang="en-US" sz="2400" dirty="0"/>
              <a:t>05:50:07 (0.00 B/s) - ‘test’ saved [0]</a:t>
            </a:r>
          </a:p>
          <a:p>
            <a:endParaRPr lang="zh-CN" altLang="en-US" sz="2400" dirty="0"/>
          </a:p>
          <a:p>
            <a:r>
              <a:rPr lang="zh-CN" altLang="en-US" sz="2400" dirty="0">
                <a:solidFill>
                  <a:srgbClr val="0000FF"/>
                </a:solidFill>
              </a:rPr>
              <a:t>[root@localhost ~]# ls</a:t>
            </a:r>
          </a:p>
          <a:p>
            <a:r>
              <a:rPr lang="zh-CN" altLang="en-US" sz="2400" dirty="0"/>
              <a:t>5.3.1.sh  anaconda-ks.cfg  initial-setup-ks.cfg  readme.txt  test.download</a:t>
            </a:r>
          </a:p>
          <a:p>
            <a:r>
              <a:rPr lang="zh-CN" altLang="en-US" sz="2400" dirty="0"/>
              <a:t>5.3.sh    file_1           passwd              </a:t>
            </a:r>
            <a:r>
              <a:rPr lang="zh-CN" altLang="en-US" sz="2400" dirty="0">
                <a:solidFill>
                  <a:srgbClr val="FF0000"/>
                </a:solidFill>
              </a:rPr>
              <a:t>  test        </a:t>
            </a:r>
            <a:r>
              <a:rPr lang="zh-CN" altLang="en-US" sz="2400" dirty="0"/>
              <a:t>test.txt</a:t>
            </a:r>
          </a:p>
          <a:p>
            <a:r>
              <a:rPr lang="zh-CN" altLang="en-US" sz="2400" dirty="0"/>
              <a:t>ac_inf    grep             password              test.1</a:t>
            </a:r>
          </a:p>
          <a:p>
            <a:r>
              <a:rPr lang="zh-CN" altLang="en-US" sz="2400" dirty="0">
                <a:solidFill>
                  <a:srgbClr val="0000FF"/>
                </a:solidFill>
              </a:rPr>
              <a:t>[root@localhost ~]# </a:t>
            </a:r>
          </a:p>
        </p:txBody>
      </p:sp>
    </p:spTree>
    <p:extLst>
      <p:ext uri="{BB962C8B-B14F-4D97-AF65-F5344CB8AC3E}">
        <p14:creationId xmlns:p14="http://schemas.microsoft.com/office/powerpoint/2010/main" val="11533273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wget</a:t>
            </a:r>
            <a:r>
              <a:rPr lang="zh-CN" altLang="en-US" dirty="0"/>
              <a:t>命令</a:t>
            </a:r>
            <a:r>
              <a:rPr lang="en-US" altLang="zh-CN" dirty="0"/>
              <a:t>—</a:t>
            </a:r>
            <a:r>
              <a:rPr lang="zh-CN" altLang="en-US" dirty="0"/>
              <a:t>常用筛选选项</a:t>
            </a:r>
          </a:p>
        </p:txBody>
      </p:sp>
      <p:sp>
        <p:nvSpPr>
          <p:cNvPr id="3" name="矩形 2"/>
          <p:cNvSpPr/>
          <p:nvPr/>
        </p:nvSpPr>
        <p:spPr>
          <a:xfrm>
            <a:off x="287524" y="2060848"/>
            <a:ext cx="8568952" cy="3416320"/>
          </a:xfrm>
          <a:prstGeom prst="rect">
            <a:avLst/>
          </a:prstGeom>
        </p:spPr>
        <p:txBody>
          <a:bodyPr wrap="square">
            <a:spAutoFit/>
          </a:bodyPr>
          <a:lstStyle/>
          <a:p>
            <a:r>
              <a:rPr lang="zh-CN" altLang="en-US" sz="2400" dirty="0">
                <a:solidFill>
                  <a:srgbClr val="0000FF"/>
                </a:solidFill>
              </a:rPr>
              <a:t>[root@localhost ~]# </a:t>
            </a:r>
            <a:r>
              <a:rPr lang="zh-CN" altLang="en-US" sz="2400" dirty="0"/>
              <a:t>wget http://lftp.yar.ru/ftp/lftp-4.9.2.tar.gz </a:t>
            </a:r>
          </a:p>
          <a:p>
            <a:r>
              <a:rPr lang="zh-CN" altLang="en-US" sz="2400" dirty="0" smtClean="0">
                <a:solidFill>
                  <a:srgbClr val="0000FF"/>
                </a:solidFill>
              </a:rPr>
              <a:t>[</a:t>
            </a:r>
            <a:r>
              <a:rPr lang="zh-CN" altLang="en-US" sz="2400" dirty="0">
                <a:solidFill>
                  <a:srgbClr val="0000FF"/>
                </a:solidFill>
              </a:rPr>
              <a:t>root@localhost ~]# </a:t>
            </a:r>
            <a:r>
              <a:rPr lang="zh-CN" altLang="en-US" sz="2400" dirty="0"/>
              <a:t>ls</a:t>
            </a:r>
          </a:p>
          <a:p>
            <a:r>
              <a:rPr lang="zh-CN" altLang="en-US" sz="2400" dirty="0"/>
              <a:t>anaconda-ks.cfg  f1  file  initial-setup-ks.cfg  </a:t>
            </a:r>
            <a:r>
              <a:rPr lang="zh-CN" altLang="en-US" sz="2400" dirty="0">
                <a:solidFill>
                  <a:srgbClr val="FF0000"/>
                </a:solidFill>
              </a:rPr>
              <a:t>lftp-4.9.2.tar.gz  </a:t>
            </a:r>
            <a:r>
              <a:rPr lang="zh-CN" altLang="en-US" sz="2400" dirty="0"/>
              <a:t>mydir</a:t>
            </a:r>
          </a:p>
          <a:p>
            <a:r>
              <a:rPr lang="zh-CN" altLang="en-US" sz="2400" dirty="0">
                <a:solidFill>
                  <a:srgbClr val="0000FF"/>
                </a:solidFill>
              </a:rPr>
              <a:t>[root@localhost ~]# </a:t>
            </a:r>
            <a:r>
              <a:rPr lang="zh-CN" altLang="en-US" sz="2400" dirty="0"/>
              <a:t>wget http://lftp.yar.ru/ftp/lftp-4.9.2.tar.gz  -o a</a:t>
            </a:r>
          </a:p>
          <a:p>
            <a:r>
              <a:rPr lang="zh-CN" altLang="en-US" sz="2400" dirty="0">
                <a:solidFill>
                  <a:srgbClr val="0000FF"/>
                </a:solidFill>
              </a:rPr>
              <a:t>[root@localhost ~]# </a:t>
            </a:r>
            <a:r>
              <a:rPr lang="zh-CN" altLang="en-US" sz="2400" dirty="0"/>
              <a:t>ls</a:t>
            </a:r>
          </a:p>
          <a:p>
            <a:r>
              <a:rPr lang="zh-CN" altLang="en-US" sz="2400" dirty="0">
                <a:solidFill>
                  <a:srgbClr val="FF0000"/>
                </a:solidFill>
              </a:rPr>
              <a:t>a    </a:t>
            </a:r>
            <a:r>
              <a:rPr lang="zh-CN" altLang="en-US" sz="2400" dirty="0"/>
              <a:t>            f1    initial-setup-ks.cfg  lftp-4.9.2.tar.gz.1</a:t>
            </a:r>
          </a:p>
          <a:p>
            <a:r>
              <a:rPr lang="zh-CN" altLang="en-US" sz="2400" dirty="0"/>
              <a:t>anaconda-ks.cfg  file  lftp-4.9.2.tar.gz     mydir</a:t>
            </a:r>
          </a:p>
        </p:txBody>
      </p:sp>
    </p:spTree>
    <p:extLst>
      <p:ext uri="{BB962C8B-B14F-4D97-AF65-F5344CB8AC3E}">
        <p14:creationId xmlns:p14="http://schemas.microsoft.com/office/powerpoint/2010/main" val="20169154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字符界面浏览器</a:t>
            </a:r>
            <a:r>
              <a:rPr lang="en-US" altLang="zh-CN" dirty="0"/>
              <a:t>— links/w3m</a:t>
            </a:r>
            <a:endParaRPr lang="zh-CN" altLang="en-US" dirty="0"/>
          </a:p>
        </p:txBody>
      </p:sp>
      <p:sp>
        <p:nvSpPr>
          <p:cNvPr id="3" name="内容占位符 2"/>
          <p:cNvSpPr>
            <a:spLocks noGrp="1"/>
          </p:cNvSpPr>
          <p:nvPr>
            <p:ph idx="1"/>
          </p:nvPr>
        </p:nvSpPr>
        <p:spPr>
          <a:xfrm>
            <a:off x="702742" y="1371600"/>
            <a:ext cx="8244408" cy="4114800"/>
          </a:xfrm>
        </p:spPr>
        <p:txBody>
          <a:bodyPr/>
          <a:lstStyle/>
          <a:p>
            <a:r>
              <a:rPr lang="zh-CN" altLang="en-US" dirty="0"/>
              <a:t>浏览指定的</a:t>
            </a:r>
            <a:r>
              <a:rPr lang="en-US" altLang="zh-CN" dirty="0"/>
              <a:t>URL</a:t>
            </a:r>
          </a:p>
          <a:p>
            <a:pPr lvl="1">
              <a:buNone/>
            </a:pPr>
            <a:r>
              <a:rPr lang="en-US" altLang="zh-CN" dirty="0">
                <a:solidFill>
                  <a:schemeClr val="accent6">
                    <a:lumMod val="75000"/>
                  </a:schemeClr>
                </a:solidFill>
              </a:rPr>
              <a:t>$ links http://www.example.com</a:t>
            </a:r>
          </a:p>
          <a:p>
            <a:pPr lvl="1">
              <a:buNone/>
            </a:pPr>
            <a:r>
              <a:rPr lang="en-US" altLang="zh-CN" dirty="0">
                <a:solidFill>
                  <a:schemeClr val="accent6">
                    <a:lumMod val="75000"/>
                  </a:schemeClr>
                </a:solidFill>
              </a:rPr>
              <a:t>$ w3m http://www.example.com</a:t>
            </a:r>
          </a:p>
          <a:p>
            <a:r>
              <a:rPr lang="zh-CN" altLang="en-US" dirty="0"/>
              <a:t>在标准输出显示</a:t>
            </a:r>
            <a:r>
              <a:rPr lang="en-US" altLang="zh-CN" dirty="0"/>
              <a:t>html</a:t>
            </a:r>
            <a:r>
              <a:rPr lang="zh-CN" altLang="en-US" dirty="0"/>
              <a:t>页面的</a:t>
            </a:r>
            <a:r>
              <a:rPr lang="en-US" altLang="zh-CN" dirty="0"/>
              <a:t>TXT</a:t>
            </a:r>
            <a:r>
              <a:rPr lang="zh-CN" altLang="en-US" dirty="0"/>
              <a:t>版本</a:t>
            </a:r>
          </a:p>
          <a:p>
            <a:pPr lvl="1">
              <a:buNone/>
            </a:pPr>
            <a:r>
              <a:rPr lang="en-US" altLang="zh-CN" dirty="0">
                <a:solidFill>
                  <a:schemeClr val="accent6">
                    <a:lumMod val="75000"/>
                  </a:schemeClr>
                </a:solidFill>
              </a:rPr>
              <a:t>$ links</a:t>
            </a:r>
            <a:r>
              <a:rPr lang="en-US" altLang="zh-CN" dirty="0">
                <a:solidFill>
                  <a:srgbClr val="C00000"/>
                </a:solidFill>
              </a:rPr>
              <a:t> -dump </a:t>
            </a:r>
            <a:r>
              <a:rPr lang="en-US" altLang="zh-CN" dirty="0">
                <a:solidFill>
                  <a:schemeClr val="accent6">
                    <a:lumMod val="75000"/>
                  </a:schemeClr>
                </a:solidFill>
              </a:rPr>
              <a:t>http://www.example.com</a:t>
            </a:r>
          </a:p>
          <a:p>
            <a:pPr lvl="1">
              <a:buNone/>
            </a:pPr>
            <a:r>
              <a:rPr lang="en-US" altLang="zh-CN" dirty="0">
                <a:solidFill>
                  <a:schemeClr val="accent6">
                    <a:lumMod val="75000"/>
                  </a:schemeClr>
                </a:solidFill>
              </a:rPr>
              <a:t>$ w3m </a:t>
            </a:r>
            <a:r>
              <a:rPr lang="en-US" altLang="zh-CN" dirty="0">
                <a:solidFill>
                  <a:srgbClr val="C00000"/>
                </a:solidFill>
              </a:rPr>
              <a:t>-dump </a:t>
            </a:r>
            <a:r>
              <a:rPr lang="en-US" altLang="zh-CN" dirty="0">
                <a:solidFill>
                  <a:schemeClr val="accent6">
                    <a:lumMod val="75000"/>
                  </a:schemeClr>
                </a:solidFill>
              </a:rPr>
              <a:t>http://www.example.com</a:t>
            </a:r>
          </a:p>
          <a:p>
            <a:r>
              <a:rPr lang="zh-CN" altLang="en-US" dirty="0"/>
              <a:t>在标准输出显示</a:t>
            </a:r>
            <a:r>
              <a:rPr lang="en-US" altLang="zh-CN" dirty="0"/>
              <a:t>html</a:t>
            </a:r>
            <a:r>
              <a:rPr lang="zh-CN" altLang="en-US" dirty="0"/>
              <a:t>页面的源代码</a:t>
            </a:r>
          </a:p>
          <a:p>
            <a:pPr lvl="1">
              <a:buNone/>
            </a:pPr>
            <a:r>
              <a:rPr lang="en-US" altLang="zh-CN" dirty="0">
                <a:solidFill>
                  <a:schemeClr val="accent6">
                    <a:lumMod val="75000"/>
                  </a:schemeClr>
                </a:solidFill>
              </a:rPr>
              <a:t>$ links</a:t>
            </a:r>
            <a:r>
              <a:rPr lang="en-US" altLang="zh-CN" dirty="0">
                <a:solidFill>
                  <a:srgbClr val="C00000"/>
                </a:solidFill>
              </a:rPr>
              <a:t> -source </a:t>
            </a:r>
            <a:r>
              <a:rPr lang="en-US" altLang="zh-CN" dirty="0">
                <a:solidFill>
                  <a:schemeClr val="accent6">
                    <a:lumMod val="75000"/>
                  </a:schemeClr>
                </a:solidFill>
              </a:rPr>
              <a:t>http://www.example.com</a:t>
            </a:r>
          </a:p>
          <a:p>
            <a:pPr lvl="1">
              <a:buNone/>
            </a:pPr>
            <a:r>
              <a:rPr lang="en-US" altLang="zh-CN" dirty="0">
                <a:solidFill>
                  <a:schemeClr val="accent6">
                    <a:lumMod val="75000"/>
                  </a:schemeClr>
                </a:solidFill>
              </a:rPr>
              <a:t>$ w3m </a:t>
            </a:r>
            <a:r>
              <a:rPr lang="en-US" altLang="zh-CN" dirty="0">
                <a:solidFill>
                  <a:srgbClr val="C00000"/>
                </a:solidFill>
              </a:rPr>
              <a:t>-</a:t>
            </a:r>
            <a:r>
              <a:rPr lang="en-US" altLang="zh-CN" dirty="0" err="1">
                <a:solidFill>
                  <a:srgbClr val="C00000"/>
                </a:solidFill>
              </a:rPr>
              <a:t>dump_source</a:t>
            </a:r>
            <a:r>
              <a:rPr lang="en-US" altLang="zh-CN" dirty="0">
                <a:solidFill>
                  <a:srgbClr val="C00000"/>
                </a:solidFill>
              </a:rPr>
              <a:t> </a:t>
            </a:r>
            <a:r>
              <a:rPr lang="en-US" altLang="zh-CN" dirty="0">
                <a:solidFill>
                  <a:schemeClr val="accent6">
                    <a:lumMod val="75000"/>
                  </a:schemeClr>
                </a:solidFill>
              </a:rPr>
              <a:t>http://www.example.com</a:t>
            </a:r>
            <a:endParaRPr lang="zh-CN" altLang="en-US" dirty="0">
              <a:solidFill>
                <a:schemeClr val="accent6">
                  <a:lumMod val="75000"/>
                </a:schemeClr>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字符界面浏览器</a:t>
            </a:r>
            <a:r>
              <a:rPr lang="en-US" altLang="zh-CN" dirty="0"/>
              <a:t>— links/w3m</a:t>
            </a:r>
            <a:endParaRPr lang="zh-CN" altLang="en-US" dirty="0"/>
          </a:p>
        </p:txBody>
      </p:sp>
      <p:pic>
        <p:nvPicPr>
          <p:cNvPr id="6" name="图片 5"/>
          <p:cNvPicPr>
            <a:picLocks noChangeAspect="1"/>
          </p:cNvPicPr>
          <p:nvPr/>
        </p:nvPicPr>
        <p:blipFill rotWithShape="1">
          <a:blip r:embed="rId3"/>
          <a:srcRect r="9020"/>
          <a:stretch/>
        </p:blipFill>
        <p:spPr>
          <a:xfrm>
            <a:off x="147472" y="1988840"/>
            <a:ext cx="8849056" cy="3153215"/>
          </a:xfrm>
          <a:prstGeom prst="rect">
            <a:avLst/>
          </a:prstGeom>
        </p:spPr>
      </p:pic>
    </p:spTree>
    <p:extLst>
      <p:ext uri="{BB962C8B-B14F-4D97-AF65-F5344CB8AC3E}">
        <p14:creationId xmlns:p14="http://schemas.microsoft.com/office/powerpoint/2010/main" val="29507874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邮件客户</a:t>
            </a:r>
            <a:r>
              <a:rPr lang="en-US" altLang="zh-CN" dirty="0"/>
              <a:t>—mutt</a:t>
            </a:r>
            <a:endParaRPr lang="zh-CN" altLang="en-US" dirty="0"/>
          </a:p>
        </p:txBody>
      </p:sp>
      <p:sp>
        <p:nvSpPr>
          <p:cNvPr id="3" name="内容占位符 2"/>
          <p:cNvSpPr>
            <a:spLocks noGrp="1"/>
          </p:cNvSpPr>
          <p:nvPr>
            <p:ph idx="1"/>
          </p:nvPr>
        </p:nvSpPr>
        <p:spPr>
          <a:xfrm>
            <a:off x="827584" y="1484784"/>
            <a:ext cx="7772400" cy="4114800"/>
          </a:xfrm>
        </p:spPr>
        <p:txBody>
          <a:bodyPr/>
          <a:lstStyle/>
          <a:p>
            <a:r>
              <a:rPr lang="zh-CN" altLang="en-US" dirty="0"/>
              <a:t>支持</a:t>
            </a:r>
            <a:r>
              <a:rPr lang="en-US" altLang="zh-CN" dirty="0"/>
              <a:t>POP</a:t>
            </a:r>
            <a:r>
              <a:rPr lang="zh-CN" altLang="en-US" dirty="0"/>
              <a:t>、 </a:t>
            </a:r>
            <a:r>
              <a:rPr lang="en-US" altLang="zh-CN" dirty="0"/>
              <a:t>IMAP</a:t>
            </a:r>
            <a:r>
              <a:rPr lang="zh-CN" altLang="en-US" dirty="0"/>
              <a:t>和本地邮箱 </a:t>
            </a:r>
          </a:p>
          <a:p>
            <a:r>
              <a:rPr lang="zh-CN" altLang="en-US" dirty="0"/>
              <a:t>高度的可配置性 </a:t>
            </a:r>
          </a:p>
          <a:p>
            <a:r>
              <a:rPr lang="zh-CN" altLang="en-US" dirty="0"/>
              <a:t>可映射的“热键”（</a:t>
            </a:r>
            <a:r>
              <a:rPr lang="en-US" altLang="zh-CN" dirty="0"/>
              <a:t>hotkey</a:t>
            </a:r>
            <a:r>
              <a:rPr lang="zh-CN" altLang="en-US" dirty="0"/>
              <a:t>，功能键） </a:t>
            </a:r>
          </a:p>
          <a:p>
            <a:r>
              <a:rPr lang="zh-CN" altLang="en-US" dirty="0"/>
              <a:t>消息串线和彩色显示 </a:t>
            </a:r>
          </a:p>
          <a:p>
            <a:r>
              <a:rPr lang="en-US" altLang="zh-CN" dirty="0" err="1"/>
              <a:t>GnuPG</a:t>
            </a:r>
            <a:r>
              <a:rPr lang="zh-CN" altLang="en-US" dirty="0"/>
              <a:t>整合 </a:t>
            </a:r>
          </a:p>
          <a:p>
            <a:r>
              <a:rPr lang="zh-CN" altLang="en-US" dirty="0"/>
              <a:t>上下文敏感的帮助（“</a:t>
            </a:r>
            <a:r>
              <a:rPr lang="en-US" altLang="zh-CN" dirty="0"/>
              <a:t>?</a:t>
            </a:r>
            <a:r>
              <a:rPr lang="zh-CN" altLang="en-US" dirty="0"/>
              <a:t>”）</a:t>
            </a:r>
          </a:p>
        </p:txBody>
      </p:sp>
      <p:sp>
        <p:nvSpPr>
          <p:cNvPr id="4" name="矩形 3"/>
          <p:cNvSpPr/>
          <p:nvPr/>
        </p:nvSpPr>
        <p:spPr>
          <a:xfrm>
            <a:off x="107504" y="5373216"/>
            <a:ext cx="8928992" cy="400110"/>
          </a:xfrm>
          <a:prstGeom prst="rect">
            <a:avLst/>
          </a:prstGeom>
        </p:spPr>
        <p:txBody>
          <a:bodyPr wrap="square">
            <a:spAutoFit/>
          </a:bodyPr>
          <a:lstStyle/>
          <a:p>
            <a:r>
              <a:rPr lang="en-US" altLang="zh-CN" sz="2000" dirty="0"/>
              <a:t>mutt abc@mail.com -s "</a:t>
            </a:r>
            <a:r>
              <a:rPr lang="en-US" altLang="zh-CN" sz="2000" dirty="0" err="1"/>
              <a:t>itdhz</a:t>
            </a:r>
            <a:r>
              <a:rPr lang="zh-CN" altLang="en-US" sz="2000" dirty="0"/>
              <a:t>数据备份</a:t>
            </a:r>
            <a:r>
              <a:rPr lang="en-US" altLang="zh-CN" sz="2000" dirty="0"/>
              <a:t>" -a /</a:t>
            </a:r>
            <a:r>
              <a:rPr lang="en-US" altLang="zh-CN" sz="2000" dirty="0" smtClean="0"/>
              <a:t>home/</a:t>
            </a:r>
            <a:r>
              <a:rPr lang="en-US" altLang="zh-CN" sz="2000" dirty="0" err="1" smtClean="0"/>
              <a:t>itdhz.sql</a:t>
            </a:r>
            <a:r>
              <a:rPr lang="en-US" altLang="zh-CN" sz="2000" dirty="0" smtClean="0"/>
              <a:t> </a:t>
            </a:r>
            <a:r>
              <a:rPr lang="en-US" altLang="zh-CN" sz="2000" dirty="0"/>
              <a:t>&lt;/root/readme.txt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文件同步</a:t>
            </a:r>
            <a:r>
              <a:rPr lang="en-US" altLang="zh-CN" dirty="0"/>
              <a:t>—rsync</a:t>
            </a:r>
            <a:endParaRPr lang="zh-CN" altLang="en-US" dirty="0"/>
          </a:p>
        </p:txBody>
      </p:sp>
      <p:sp>
        <p:nvSpPr>
          <p:cNvPr id="3" name="内容占位符 2"/>
          <p:cNvSpPr>
            <a:spLocks noGrp="1"/>
          </p:cNvSpPr>
          <p:nvPr>
            <p:ph idx="1"/>
          </p:nvPr>
        </p:nvSpPr>
        <p:spPr>
          <a:xfrm>
            <a:off x="611560" y="1412776"/>
            <a:ext cx="8335590" cy="4430117"/>
          </a:xfrm>
        </p:spPr>
        <p:txBody>
          <a:bodyPr/>
          <a:lstStyle/>
          <a:p>
            <a:r>
              <a:rPr lang="en-US" altLang="zh-CN" sz="3200" dirty="0"/>
              <a:t>rsync </a:t>
            </a:r>
            <a:r>
              <a:rPr lang="zh-CN" altLang="en-US" sz="3200" dirty="0"/>
              <a:t>是一个</a:t>
            </a:r>
            <a:r>
              <a:rPr lang="zh-CN" altLang="en-US" sz="3200" dirty="0">
                <a:solidFill>
                  <a:srgbClr val="C00000"/>
                </a:solidFill>
              </a:rPr>
              <a:t>远程数据同步</a:t>
            </a:r>
            <a:r>
              <a:rPr lang="zh-CN" altLang="en-US" sz="3200" dirty="0"/>
              <a:t>工具</a:t>
            </a:r>
            <a:endParaRPr lang="en-US" altLang="zh-CN" sz="3200" dirty="0"/>
          </a:p>
          <a:p>
            <a:pPr lvl="1"/>
            <a:r>
              <a:rPr lang="zh-CN" altLang="en-US" dirty="0"/>
              <a:t>可通过</a:t>
            </a:r>
            <a:r>
              <a:rPr lang="en-US" altLang="zh-CN" dirty="0">
                <a:solidFill>
                  <a:srgbClr val="C00000"/>
                </a:solidFill>
              </a:rPr>
              <a:t>LAN/WAN</a:t>
            </a:r>
            <a:r>
              <a:rPr lang="zh-CN" altLang="en-US" dirty="0">
                <a:solidFill>
                  <a:srgbClr val="C00000"/>
                </a:solidFill>
              </a:rPr>
              <a:t>同步</a:t>
            </a:r>
            <a:r>
              <a:rPr lang="zh-CN" altLang="en-US" dirty="0"/>
              <a:t>不同主机上的文件或目录</a:t>
            </a:r>
          </a:p>
          <a:p>
            <a:pPr lvl="1"/>
            <a:r>
              <a:rPr lang="zh-CN" altLang="en-US" dirty="0"/>
              <a:t>可以</a:t>
            </a:r>
            <a:r>
              <a:rPr lang="zh-CN" altLang="en-US" dirty="0">
                <a:solidFill>
                  <a:srgbClr val="C00000"/>
                </a:solidFill>
              </a:rPr>
              <a:t>同步本地硬盘</a:t>
            </a:r>
            <a:r>
              <a:rPr lang="zh-CN" altLang="en-US" dirty="0"/>
              <a:t>中的不同文件或目录</a:t>
            </a:r>
            <a:endParaRPr lang="en-US" altLang="zh-CN" dirty="0"/>
          </a:p>
          <a:p>
            <a:r>
              <a:rPr lang="en-US" altLang="zh-CN" sz="3200" dirty="0"/>
              <a:t>rsync </a:t>
            </a:r>
            <a:r>
              <a:rPr lang="zh-CN" altLang="en-US" sz="3200" dirty="0"/>
              <a:t>使用所谓的 </a:t>
            </a:r>
            <a:r>
              <a:rPr lang="en-US" altLang="zh-CN" sz="3200" b="1" dirty="0">
                <a:hlinkClick r:id="rId3" tooltip="http://rsync.samba.org/tech_report/"/>
              </a:rPr>
              <a:t>rsync</a:t>
            </a:r>
            <a:r>
              <a:rPr lang="zh-CN" altLang="en-US" sz="3200" b="1" dirty="0">
                <a:hlinkClick r:id="rId3" tooltip="http://rsync.samba.org/tech_report/"/>
              </a:rPr>
              <a:t>算法</a:t>
            </a:r>
            <a:r>
              <a:rPr lang="zh-CN" altLang="en-US" sz="3200" dirty="0"/>
              <a:t> 进行数据同步</a:t>
            </a:r>
            <a:endParaRPr lang="en-US" altLang="zh-CN" sz="3200" dirty="0"/>
          </a:p>
          <a:p>
            <a:pPr lvl="1"/>
            <a:r>
              <a:rPr lang="zh-CN" altLang="en-US" dirty="0"/>
              <a:t>同步若干新文件时：只复制</a:t>
            </a:r>
            <a:r>
              <a:rPr lang="zh-CN" altLang="en-US" dirty="0">
                <a:solidFill>
                  <a:srgbClr val="C00000"/>
                </a:solidFill>
              </a:rPr>
              <a:t>有变化的文件</a:t>
            </a:r>
          </a:p>
          <a:p>
            <a:pPr lvl="1"/>
            <a:r>
              <a:rPr lang="zh-CN" altLang="en-US" dirty="0"/>
              <a:t>同步原有文件时：只复制文件的</a:t>
            </a:r>
            <a:r>
              <a:rPr lang="zh-CN" altLang="en-US" dirty="0">
                <a:solidFill>
                  <a:srgbClr val="C00000"/>
                </a:solidFill>
              </a:rPr>
              <a:t>变化部分</a:t>
            </a:r>
            <a:endParaRPr lang="en-US" altLang="zh-CN" dirty="0">
              <a:solidFill>
                <a:srgbClr val="C00000"/>
              </a:solidFill>
            </a:endParaRPr>
          </a:p>
          <a:p>
            <a:pPr lvl="1"/>
            <a:r>
              <a:rPr lang="zh-CN" altLang="en-US" sz="2800" dirty="0"/>
              <a:t>参考 </a:t>
            </a:r>
            <a:r>
              <a:rPr lang="en-US" altLang="zh-CN" sz="2800" dirty="0">
                <a:hlinkClick r:id="rId4" tooltip="http://rsync.samba.org/how-rsync-works.html"/>
              </a:rPr>
              <a:t>How Rsync Works A Practical Overview</a:t>
            </a:r>
            <a:endParaRPr lang="en-US" altLang="zh-CN" dirty="0"/>
          </a:p>
          <a:p>
            <a:r>
              <a:rPr lang="en-US" altLang="zh-CN" sz="3200" dirty="0"/>
              <a:t>rsync </a:t>
            </a:r>
            <a:r>
              <a:rPr lang="zh-CN" altLang="en-US" sz="3200" dirty="0"/>
              <a:t>目前由 </a:t>
            </a:r>
            <a:r>
              <a:rPr lang="en-US" altLang="zh-CN" sz="3200" dirty="0">
                <a:hlinkClick r:id="rId5" tooltip="http://rsync.samba.org"/>
              </a:rPr>
              <a:t>http://rsync.samba.org</a:t>
            </a:r>
            <a:r>
              <a:rPr lang="en-US" altLang="zh-CN" sz="3200" dirty="0"/>
              <a:t> </a:t>
            </a:r>
            <a:r>
              <a:rPr lang="zh-CN" altLang="en-US" sz="3200" dirty="0"/>
              <a:t>维护</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rsync </a:t>
            </a:r>
            <a:r>
              <a:rPr lang="zh-CN" altLang="en-US" dirty="0"/>
              <a:t>的基本特性</a:t>
            </a:r>
          </a:p>
        </p:txBody>
      </p:sp>
      <p:sp>
        <p:nvSpPr>
          <p:cNvPr id="3" name="内容占位符 2"/>
          <p:cNvSpPr>
            <a:spLocks noGrp="1"/>
          </p:cNvSpPr>
          <p:nvPr>
            <p:ph idx="1"/>
          </p:nvPr>
        </p:nvSpPr>
        <p:spPr>
          <a:xfrm>
            <a:off x="971600" y="1484784"/>
            <a:ext cx="7772400" cy="4114800"/>
          </a:xfrm>
        </p:spPr>
        <p:txBody>
          <a:bodyPr/>
          <a:lstStyle/>
          <a:p>
            <a:pPr marL="609600" indent="-609600">
              <a:lnSpc>
                <a:spcPct val="120000"/>
              </a:lnSpc>
            </a:pPr>
            <a:r>
              <a:rPr lang="zh-CN" altLang="en-US" sz="3200" dirty="0"/>
              <a:t>可以镜像保存整个目录树和文件系统</a:t>
            </a:r>
          </a:p>
          <a:p>
            <a:pPr marL="609600" indent="-609600">
              <a:lnSpc>
                <a:spcPct val="120000"/>
              </a:lnSpc>
            </a:pPr>
            <a:r>
              <a:rPr lang="zh-CN" altLang="en-US" sz="3200" dirty="0"/>
              <a:t>可以很容易做到保持原来文件的权限、时间、软硬链接等</a:t>
            </a:r>
          </a:p>
          <a:p>
            <a:pPr marL="609600" indent="-609600">
              <a:lnSpc>
                <a:spcPct val="120000"/>
              </a:lnSpc>
            </a:pPr>
            <a:r>
              <a:rPr lang="zh-CN" altLang="en-US" sz="3200" dirty="0"/>
              <a:t>无须特殊权限即可安装</a:t>
            </a:r>
          </a:p>
          <a:p>
            <a:pPr marL="609600" indent="-609600">
              <a:lnSpc>
                <a:spcPct val="120000"/>
              </a:lnSpc>
            </a:pPr>
            <a:r>
              <a:rPr lang="zh-CN" altLang="en-US" sz="3200" dirty="0"/>
              <a:t>优化的流程，文件传输效率高</a:t>
            </a:r>
          </a:p>
          <a:p>
            <a:pPr marL="609600" indent="-609600">
              <a:lnSpc>
                <a:spcPct val="120000"/>
              </a:lnSpc>
            </a:pPr>
            <a:r>
              <a:rPr lang="zh-CN" altLang="en-US" sz="3200" dirty="0"/>
              <a:t>可以使用 </a:t>
            </a:r>
            <a:r>
              <a:rPr lang="en-US" altLang="zh-CN" sz="3200" dirty="0" err="1"/>
              <a:t>rsh</a:t>
            </a:r>
            <a:r>
              <a:rPr lang="zh-CN" altLang="en-US" sz="3200" dirty="0"/>
              <a:t>、</a:t>
            </a:r>
            <a:r>
              <a:rPr lang="en-US" altLang="zh-CN" sz="3200" dirty="0"/>
              <a:t>ssh </a:t>
            </a:r>
            <a:r>
              <a:rPr lang="zh-CN" altLang="en-US" sz="3200" dirty="0"/>
              <a:t>方式来传输文件，当然也可以通过直接的 </a:t>
            </a:r>
            <a:r>
              <a:rPr lang="en-US" altLang="zh-CN" sz="3200" dirty="0"/>
              <a:t>socket </a:t>
            </a:r>
            <a:r>
              <a:rPr lang="zh-CN" altLang="en-US" sz="3200" dirty="0"/>
              <a:t>连接</a:t>
            </a:r>
          </a:p>
          <a:p>
            <a:pPr marL="609600" indent="-609600">
              <a:lnSpc>
                <a:spcPct val="120000"/>
              </a:lnSpc>
            </a:pPr>
            <a:r>
              <a:rPr lang="zh-CN" altLang="en-US" sz="3200" dirty="0"/>
              <a:t>支持匿名传输，以方便进行网站镜象</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rsync </a:t>
            </a:r>
            <a:r>
              <a:rPr lang="zh-CN" altLang="en-US" dirty="0"/>
              <a:t>使用的两种方式</a:t>
            </a:r>
          </a:p>
        </p:txBody>
      </p:sp>
      <p:sp>
        <p:nvSpPr>
          <p:cNvPr id="3" name="内容占位符 2"/>
          <p:cNvSpPr>
            <a:spLocks noGrp="1"/>
          </p:cNvSpPr>
          <p:nvPr>
            <p:ph idx="1"/>
          </p:nvPr>
        </p:nvSpPr>
        <p:spPr>
          <a:xfrm>
            <a:off x="899592" y="1371600"/>
            <a:ext cx="7772400" cy="4114800"/>
          </a:xfrm>
        </p:spPr>
        <p:txBody>
          <a:bodyPr/>
          <a:lstStyle/>
          <a:p>
            <a:r>
              <a:rPr lang="zh-CN" altLang="en-US" dirty="0"/>
              <a:t>远程</a:t>
            </a:r>
            <a:r>
              <a:rPr lang="en-US" altLang="zh-CN" dirty="0"/>
              <a:t>Shell</a:t>
            </a:r>
            <a:r>
              <a:rPr lang="zh-CN" altLang="en-US" dirty="0"/>
              <a:t>方式</a:t>
            </a:r>
          </a:p>
          <a:p>
            <a:pPr lvl="1"/>
            <a:r>
              <a:rPr lang="zh-CN" altLang="en-US" dirty="0"/>
              <a:t>可以使用</a:t>
            </a:r>
            <a:r>
              <a:rPr lang="en-US" altLang="zh-CN" dirty="0" err="1"/>
              <a:t>rsh</a:t>
            </a:r>
            <a:r>
              <a:rPr lang="zh-CN" altLang="en-US" dirty="0"/>
              <a:t>、</a:t>
            </a:r>
            <a:r>
              <a:rPr lang="en-US" altLang="zh-CN" dirty="0"/>
              <a:t>ssh</a:t>
            </a:r>
            <a:r>
              <a:rPr lang="zh-CN" altLang="en-US" dirty="0"/>
              <a:t>等远程</a:t>
            </a:r>
            <a:r>
              <a:rPr lang="en-US" altLang="zh-CN" dirty="0"/>
              <a:t>Shell</a:t>
            </a:r>
            <a:r>
              <a:rPr lang="zh-CN" altLang="en-US" dirty="0"/>
              <a:t>，默认使用</a:t>
            </a:r>
            <a:r>
              <a:rPr lang="en-US" altLang="zh-CN" dirty="0"/>
              <a:t>ssh</a:t>
            </a:r>
          </a:p>
          <a:p>
            <a:pPr lvl="1"/>
            <a:r>
              <a:rPr lang="zh-CN" altLang="en-US" dirty="0"/>
              <a:t>用户验证由远程</a:t>
            </a:r>
            <a:r>
              <a:rPr lang="en-US" altLang="zh-CN" dirty="0"/>
              <a:t>Shell</a:t>
            </a:r>
            <a:r>
              <a:rPr lang="zh-CN" altLang="en-US" dirty="0"/>
              <a:t>负责</a:t>
            </a:r>
          </a:p>
          <a:p>
            <a:r>
              <a:rPr lang="en-US" altLang="zh-CN" dirty="0"/>
              <a:t>C/S</a:t>
            </a:r>
            <a:r>
              <a:rPr lang="zh-CN" altLang="en-US" dirty="0"/>
              <a:t>方式</a:t>
            </a:r>
          </a:p>
          <a:p>
            <a:pPr lvl="1"/>
            <a:r>
              <a:rPr lang="zh-CN" altLang="en-US" dirty="0"/>
              <a:t>客户连接远程 </a:t>
            </a:r>
            <a:r>
              <a:rPr lang="en-US" altLang="zh-CN" dirty="0"/>
              <a:t>rsync </a:t>
            </a:r>
            <a:r>
              <a:rPr lang="zh-CN" altLang="en-US" dirty="0"/>
              <a:t>服务器</a:t>
            </a:r>
          </a:p>
          <a:p>
            <a:pPr lvl="1"/>
            <a:r>
              <a:rPr lang="en-US" altLang="zh-CN" dirty="0"/>
              <a:t>rsync </a:t>
            </a:r>
            <a:r>
              <a:rPr lang="zh-CN" altLang="en-US" dirty="0"/>
              <a:t>服务器默认监听 </a:t>
            </a:r>
            <a:r>
              <a:rPr lang="en-US" altLang="zh-CN" b="1" dirty="0">
                <a:solidFill>
                  <a:srgbClr val="002060"/>
                </a:solidFill>
              </a:rPr>
              <a:t>873</a:t>
            </a:r>
            <a:r>
              <a:rPr lang="en-US" altLang="zh-CN" dirty="0"/>
              <a:t> </a:t>
            </a:r>
            <a:r>
              <a:rPr lang="zh-CN" altLang="en-US" dirty="0"/>
              <a:t>端口</a:t>
            </a:r>
          </a:p>
          <a:p>
            <a:pPr lvl="1"/>
            <a:r>
              <a:rPr lang="zh-CN" altLang="en-US" dirty="0"/>
              <a:t>用户验证由 </a:t>
            </a:r>
            <a:r>
              <a:rPr lang="en-US" altLang="zh-CN" dirty="0"/>
              <a:t>rsync </a:t>
            </a:r>
            <a:r>
              <a:rPr lang="zh-CN" altLang="en-US" dirty="0"/>
              <a:t>服务器负责</a:t>
            </a:r>
            <a:endParaRPr lang="en-US" altLang="zh-CN" dirty="0"/>
          </a:p>
          <a:p>
            <a:pPr lvl="2"/>
            <a:r>
              <a:rPr lang="en-US" altLang="zh-CN" dirty="0"/>
              <a:t>rsync </a:t>
            </a:r>
            <a:r>
              <a:rPr lang="zh-CN" altLang="en-US" dirty="0"/>
              <a:t>服务器也可配置为匿名访问</a:t>
            </a:r>
          </a:p>
          <a:p>
            <a:pPr lvl="1"/>
            <a:r>
              <a:rPr lang="zh-CN" altLang="en-US" dirty="0"/>
              <a:t>访问</a:t>
            </a:r>
            <a:r>
              <a:rPr lang="en-US" altLang="zh-CN" dirty="0"/>
              <a:t>rsync</a:t>
            </a:r>
            <a:r>
              <a:rPr lang="zh-CN" altLang="en-US" dirty="0"/>
              <a:t>服务器时可使用</a:t>
            </a:r>
            <a:r>
              <a:rPr lang="en-US" altLang="zh-CN" dirty="0"/>
              <a:t>URL</a:t>
            </a:r>
            <a:r>
              <a:rPr lang="zh-CN" altLang="en-US" dirty="0"/>
              <a:t>（</a:t>
            </a:r>
            <a:r>
              <a:rPr lang="en-US" altLang="zh-CN" b="1" dirty="0">
                <a:solidFill>
                  <a:srgbClr val="002060"/>
                </a:solidFill>
              </a:rPr>
              <a:t>rsync://host</a:t>
            </a:r>
            <a:r>
              <a:rPr lang="zh-CN" altLang="en-US" dirty="0"/>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rsync </a:t>
            </a:r>
            <a:r>
              <a:rPr lang="zh-CN" altLang="zh-CN" dirty="0"/>
              <a:t>命令</a:t>
            </a:r>
            <a:endParaRPr lang="zh-CN" altLang="en-US" dirty="0"/>
          </a:p>
        </p:txBody>
      </p:sp>
      <p:sp>
        <p:nvSpPr>
          <p:cNvPr id="3" name="内容占位符 2"/>
          <p:cNvSpPr>
            <a:spLocks noGrp="1"/>
          </p:cNvSpPr>
          <p:nvPr>
            <p:ph idx="1"/>
          </p:nvPr>
        </p:nvSpPr>
        <p:spPr>
          <a:xfrm>
            <a:off x="963613" y="1556792"/>
            <a:ext cx="7772400" cy="4294311"/>
          </a:xfrm>
        </p:spPr>
        <p:txBody>
          <a:bodyPr/>
          <a:lstStyle/>
          <a:p>
            <a:r>
              <a:rPr lang="zh-CN" altLang="en-US" dirty="0"/>
              <a:t>同步本地文件或目录</a:t>
            </a:r>
          </a:p>
          <a:p>
            <a:pPr lvl="1"/>
            <a:r>
              <a:rPr lang="en-US" altLang="zh-CN" b="1" dirty="0">
                <a:solidFill>
                  <a:schemeClr val="accent6">
                    <a:lumMod val="75000"/>
                  </a:schemeClr>
                </a:solidFill>
              </a:rPr>
              <a:t>rsync [OPTION...] SRC... [DEST]</a:t>
            </a:r>
          </a:p>
          <a:p>
            <a:r>
              <a:rPr lang="zh-CN" altLang="en-US" dirty="0"/>
              <a:t>将远程文件或目录同步到本地（拉）</a:t>
            </a:r>
          </a:p>
          <a:p>
            <a:pPr lvl="1"/>
            <a:r>
              <a:rPr lang="en-US" altLang="zh-CN" b="1" dirty="0">
                <a:solidFill>
                  <a:schemeClr val="accent6">
                    <a:lumMod val="75000"/>
                  </a:schemeClr>
                </a:solidFill>
              </a:rPr>
              <a:t>rsync [OPTION...] [USER@]HOST:SRC... [DEST]</a:t>
            </a:r>
          </a:p>
          <a:p>
            <a:r>
              <a:rPr lang="zh-CN" altLang="en-US" dirty="0"/>
              <a:t>将本地文件或目录同步到远程（推）</a:t>
            </a:r>
          </a:p>
          <a:p>
            <a:pPr lvl="1"/>
            <a:r>
              <a:rPr lang="en-US" altLang="zh-CN" b="1" dirty="0">
                <a:solidFill>
                  <a:schemeClr val="accent6">
                    <a:lumMod val="75000"/>
                  </a:schemeClr>
                </a:solidFill>
              </a:rPr>
              <a:t>rsync [OPTION...] SRC... [USER@]HOST:DEST</a:t>
            </a:r>
            <a:endParaRPr lang="zh-CN" altLang="en-US" b="1" dirty="0">
              <a:solidFill>
                <a:schemeClr val="accent6">
                  <a:lumMod val="75000"/>
                </a:schemeClr>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rsync </a:t>
            </a:r>
            <a:r>
              <a:rPr lang="zh-CN" altLang="en-US" dirty="0"/>
              <a:t>命令的常用选项</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2735866140"/>
              </p:ext>
            </p:extLst>
          </p:nvPr>
        </p:nvGraphicFramePr>
        <p:xfrm>
          <a:off x="702559" y="1628800"/>
          <a:ext cx="8229601" cy="4937760"/>
        </p:xfrm>
        <a:graphic>
          <a:graphicData uri="http://schemas.openxmlformats.org/drawingml/2006/table">
            <a:tbl>
              <a:tblPr firstRow="1" bandRow="1">
                <a:tableStyleId>{5C22544A-7EE6-4342-B048-85BDC9FD1C3A}</a:tableStyleId>
              </a:tblPr>
              <a:tblGrid>
                <a:gridCol w="2592288">
                  <a:extLst>
                    <a:ext uri="{9D8B030D-6E8A-4147-A177-3AD203B41FA5}">
                      <a16:colId xmlns:a16="http://schemas.microsoft.com/office/drawing/2014/main" val="20000"/>
                    </a:ext>
                  </a:extLst>
                </a:gridCol>
                <a:gridCol w="5637313">
                  <a:extLst>
                    <a:ext uri="{9D8B030D-6E8A-4147-A177-3AD203B41FA5}">
                      <a16:colId xmlns:a16="http://schemas.microsoft.com/office/drawing/2014/main" val="20001"/>
                    </a:ext>
                  </a:extLst>
                </a:gridCol>
              </a:tblGrid>
              <a:tr h="370840">
                <a:tc>
                  <a:txBody>
                    <a:bodyPr/>
                    <a:lstStyle/>
                    <a:p>
                      <a:r>
                        <a:rPr lang="zh-CN" altLang="en-US" sz="2400" dirty="0"/>
                        <a:t>选项</a:t>
                      </a:r>
                    </a:p>
                  </a:txBody>
                  <a:tcPr/>
                </a:tc>
                <a:tc>
                  <a:txBody>
                    <a:bodyPr/>
                    <a:lstStyle/>
                    <a:p>
                      <a:r>
                        <a:rPr lang="zh-CN" altLang="en-US" sz="2400" dirty="0"/>
                        <a:t>说明</a:t>
                      </a:r>
                    </a:p>
                  </a:txBody>
                  <a:tcPr/>
                </a:tc>
                <a:extLst>
                  <a:ext uri="{0D108BD9-81ED-4DB2-BD59-A6C34878D82A}">
                    <a16:rowId xmlns:a16="http://schemas.microsoft.com/office/drawing/2014/main" val="10000"/>
                  </a:ext>
                </a:extLst>
              </a:tr>
              <a:tr h="370840">
                <a:tc>
                  <a:txBody>
                    <a:bodyPr/>
                    <a:lstStyle/>
                    <a:p>
                      <a:r>
                        <a:rPr lang="en-US" altLang="zh-CN" sz="2400" b="1" dirty="0">
                          <a:solidFill>
                            <a:srgbClr val="FF0000"/>
                          </a:solidFill>
                        </a:rPr>
                        <a:t>-a</a:t>
                      </a:r>
                      <a:r>
                        <a:rPr lang="zh-CN" altLang="en-US" sz="2400" b="1" dirty="0">
                          <a:solidFill>
                            <a:srgbClr val="FF0000"/>
                          </a:solidFill>
                        </a:rPr>
                        <a:t>，</a:t>
                      </a:r>
                      <a:r>
                        <a:rPr lang="en-US" altLang="zh-CN" sz="2400" b="1" dirty="0">
                          <a:solidFill>
                            <a:srgbClr val="FF0000"/>
                          </a:solidFill>
                        </a:rPr>
                        <a:t>--archive</a:t>
                      </a:r>
                      <a:endParaRPr lang="zh-CN" altLang="en-US" sz="2400" b="1" dirty="0">
                        <a:solidFill>
                          <a:srgbClr val="FF0000"/>
                        </a:solidFill>
                      </a:endParaRPr>
                    </a:p>
                  </a:txBody>
                  <a:tcPr/>
                </a:tc>
                <a:tc>
                  <a:txBody>
                    <a:bodyPr/>
                    <a:lstStyle/>
                    <a:p>
                      <a:r>
                        <a:rPr lang="zh-CN" altLang="en-US" sz="2400" dirty="0"/>
                        <a:t>归档模式，等价于 </a:t>
                      </a:r>
                      <a:r>
                        <a:rPr lang="en-US" altLang="zh-CN" sz="2400" dirty="0"/>
                        <a:t>-</a:t>
                      </a:r>
                      <a:r>
                        <a:rPr lang="en-US" altLang="zh-CN" sz="2400" dirty="0" err="1"/>
                        <a:t>rlptgoD</a:t>
                      </a:r>
                      <a:r>
                        <a:rPr lang="zh-CN" altLang="en-US" sz="2400" dirty="0"/>
                        <a:t>（不包括</a:t>
                      </a:r>
                      <a:r>
                        <a:rPr lang="en-US" altLang="zh-CN" sz="2400" dirty="0"/>
                        <a:t>-H</a:t>
                      </a:r>
                      <a:r>
                        <a:rPr lang="zh-CN" altLang="en-US" sz="2400" dirty="0"/>
                        <a:t>）</a:t>
                      </a:r>
                    </a:p>
                  </a:txBody>
                  <a:tcPr/>
                </a:tc>
                <a:extLst>
                  <a:ext uri="{0D108BD9-81ED-4DB2-BD59-A6C34878D82A}">
                    <a16:rowId xmlns:a16="http://schemas.microsoft.com/office/drawing/2014/main" val="10001"/>
                  </a:ext>
                </a:extLst>
              </a:tr>
              <a:tr h="370840">
                <a:tc>
                  <a:txBody>
                    <a:bodyPr/>
                    <a:lstStyle/>
                    <a:p>
                      <a:r>
                        <a:rPr lang="en-US" altLang="zh-CN" sz="2400" b="1" dirty="0">
                          <a:solidFill>
                            <a:srgbClr val="002060"/>
                          </a:solidFill>
                        </a:rPr>
                        <a:t>-r</a:t>
                      </a:r>
                      <a:r>
                        <a:rPr lang="zh-CN" altLang="en-US" sz="2400" b="1" dirty="0">
                          <a:solidFill>
                            <a:srgbClr val="002060"/>
                          </a:solidFill>
                        </a:rPr>
                        <a:t>，</a:t>
                      </a:r>
                      <a:r>
                        <a:rPr lang="en-US" altLang="zh-CN" sz="2400" b="1" dirty="0">
                          <a:solidFill>
                            <a:srgbClr val="002060"/>
                          </a:solidFill>
                        </a:rPr>
                        <a:t>--recursive</a:t>
                      </a:r>
                      <a:endParaRPr lang="zh-CN" altLang="en-US" sz="2400" b="1" dirty="0">
                        <a:solidFill>
                          <a:srgbClr val="002060"/>
                        </a:solidFill>
                      </a:endParaRPr>
                    </a:p>
                  </a:txBody>
                  <a:tcPr/>
                </a:tc>
                <a:tc>
                  <a:txBody>
                    <a:bodyPr/>
                    <a:lstStyle/>
                    <a:p>
                      <a:r>
                        <a:rPr lang="zh-CN" altLang="en-US" sz="2400" dirty="0"/>
                        <a:t>对子目录以递归模式处理</a:t>
                      </a:r>
                    </a:p>
                  </a:txBody>
                  <a:tcPr/>
                </a:tc>
                <a:extLst>
                  <a:ext uri="{0D108BD9-81ED-4DB2-BD59-A6C34878D82A}">
                    <a16:rowId xmlns:a16="http://schemas.microsoft.com/office/drawing/2014/main" val="10002"/>
                  </a:ext>
                </a:extLst>
              </a:tr>
              <a:tr h="370840">
                <a:tc>
                  <a:txBody>
                    <a:bodyPr/>
                    <a:lstStyle/>
                    <a:p>
                      <a:r>
                        <a:rPr lang="en-US" altLang="zh-CN" sz="2400" b="1" dirty="0">
                          <a:solidFill>
                            <a:srgbClr val="002060"/>
                          </a:solidFill>
                        </a:rPr>
                        <a:t>-l</a:t>
                      </a:r>
                      <a:r>
                        <a:rPr lang="zh-CN" altLang="en-US" sz="2400" b="1" dirty="0">
                          <a:solidFill>
                            <a:srgbClr val="002060"/>
                          </a:solidFill>
                        </a:rPr>
                        <a:t>，</a:t>
                      </a:r>
                      <a:r>
                        <a:rPr lang="en-US" altLang="zh-CN" sz="2400" b="1" dirty="0">
                          <a:solidFill>
                            <a:srgbClr val="002060"/>
                          </a:solidFill>
                        </a:rPr>
                        <a:t>--links</a:t>
                      </a:r>
                      <a:endParaRPr lang="zh-CN" altLang="en-US" sz="2400" b="1" dirty="0">
                        <a:solidFill>
                          <a:srgbClr val="002060"/>
                        </a:solidFill>
                      </a:endParaRPr>
                    </a:p>
                  </a:txBody>
                  <a:tcPr/>
                </a:tc>
                <a:tc>
                  <a:txBody>
                    <a:bodyPr/>
                    <a:lstStyle/>
                    <a:p>
                      <a:r>
                        <a:rPr lang="zh-CN" altLang="en-US" sz="2400" dirty="0"/>
                        <a:t>保持符号链接文件</a:t>
                      </a:r>
                    </a:p>
                  </a:txBody>
                  <a:tcPr/>
                </a:tc>
                <a:extLst>
                  <a:ext uri="{0D108BD9-81ED-4DB2-BD59-A6C34878D82A}">
                    <a16:rowId xmlns:a16="http://schemas.microsoft.com/office/drawing/2014/main" val="10003"/>
                  </a:ext>
                </a:extLst>
              </a:tr>
              <a:tr h="370840">
                <a:tc>
                  <a:txBody>
                    <a:bodyPr/>
                    <a:lstStyle/>
                    <a:p>
                      <a:r>
                        <a:rPr lang="en-US" altLang="zh-CN" sz="2400" b="1" dirty="0">
                          <a:solidFill>
                            <a:srgbClr val="002060"/>
                          </a:solidFill>
                        </a:rPr>
                        <a:t>-H</a:t>
                      </a:r>
                      <a:r>
                        <a:rPr lang="zh-CN" altLang="en-US" sz="2400" b="1" dirty="0">
                          <a:solidFill>
                            <a:srgbClr val="002060"/>
                          </a:solidFill>
                        </a:rPr>
                        <a:t>，</a:t>
                      </a:r>
                      <a:r>
                        <a:rPr lang="en-US" altLang="zh-CN" sz="2400" b="1" dirty="0">
                          <a:solidFill>
                            <a:srgbClr val="002060"/>
                          </a:solidFill>
                        </a:rPr>
                        <a:t>--hard-links</a:t>
                      </a:r>
                      <a:endParaRPr lang="zh-CN" altLang="en-US" sz="2400" b="1" dirty="0">
                        <a:solidFill>
                          <a:srgbClr val="002060"/>
                        </a:solidFill>
                      </a:endParaRPr>
                    </a:p>
                  </a:txBody>
                  <a:tcPr/>
                </a:tc>
                <a:tc>
                  <a:txBody>
                    <a:bodyPr/>
                    <a:lstStyle/>
                    <a:p>
                      <a:r>
                        <a:rPr lang="zh-CN" altLang="en-US" sz="2400" dirty="0"/>
                        <a:t>保持硬链接文件</a:t>
                      </a:r>
                    </a:p>
                  </a:txBody>
                  <a:tcPr/>
                </a:tc>
                <a:extLst>
                  <a:ext uri="{0D108BD9-81ED-4DB2-BD59-A6C34878D82A}">
                    <a16:rowId xmlns:a16="http://schemas.microsoft.com/office/drawing/2014/main" val="10004"/>
                  </a:ext>
                </a:extLst>
              </a:tr>
              <a:tr h="370840">
                <a:tc>
                  <a:txBody>
                    <a:bodyPr/>
                    <a:lstStyle/>
                    <a:p>
                      <a:r>
                        <a:rPr lang="en-US" altLang="zh-CN" sz="2400" b="1" dirty="0">
                          <a:solidFill>
                            <a:srgbClr val="002060"/>
                          </a:solidFill>
                        </a:rPr>
                        <a:t>-p</a:t>
                      </a:r>
                      <a:r>
                        <a:rPr lang="zh-CN" altLang="en-US" sz="2400" b="1" dirty="0">
                          <a:solidFill>
                            <a:srgbClr val="002060"/>
                          </a:solidFill>
                        </a:rPr>
                        <a:t>，</a:t>
                      </a:r>
                      <a:r>
                        <a:rPr lang="en-US" altLang="zh-CN" sz="2400" b="1" dirty="0">
                          <a:solidFill>
                            <a:srgbClr val="002060"/>
                          </a:solidFill>
                        </a:rPr>
                        <a:t>--perms</a:t>
                      </a:r>
                      <a:endParaRPr lang="zh-CN" altLang="en-US" sz="2400" b="1" dirty="0">
                        <a:solidFill>
                          <a:srgbClr val="002060"/>
                        </a:solidFill>
                      </a:endParaRPr>
                    </a:p>
                  </a:txBody>
                  <a:tcPr/>
                </a:tc>
                <a:tc>
                  <a:txBody>
                    <a:bodyPr/>
                    <a:lstStyle/>
                    <a:p>
                      <a:r>
                        <a:rPr lang="zh-CN" altLang="en-US" sz="2400" dirty="0"/>
                        <a:t>保持文件权限</a:t>
                      </a:r>
                    </a:p>
                  </a:txBody>
                  <a:tcPr/>
                </a:tc>
                <a:extLst>
                  <a:ext uri="{0D108BD9-81ED-4DB2-BD59-A6C34878D82A}">
                    <a16:rowId xmlns:a16="http://schemas.microsoft.com/office/drawing/2014/main" val="10005"/>
                  </a:ext>
                </a:extLst>
              </a:tr>
              <a:tr h="370840">
                <a:tc>
                  <a:txBody>
                    <a:bodyPr/>
                    <a:lstStyle/>
                    <a:p>
                      <a:r>
                        <a:rPr lang="en-US" altLang="zh-CN" sz="2400" b="1" dirty="0">
                          <a:solidFill>
                            <a:srgbClr val="002060"/>
                          </a:solidFill>
                        </a:rPr>
                        <a:t>-t</a:t>
                      </a:r>
                      <a:r>
                        <a:rPr lang="zh-CN" altLang="en-US" sz="2400" b="1" dirty="0">
                          <a:solidFill>
                            <a:srgbClr val="002060"/>
                          </a:solidFill>
                        </a:rPr>
                        <a:t>，</a:t>
                      </a:r>
                      <a:r>
                        <a:rPr lang="en-US" altLang="zh-CN" sz="2400" b="1" dirty="0">
                          <a:solidFill>
                            <a:srgbClr val="002060"/>
                          </a:solidFill>
                        </a:rPr>
                        <a:t>--times</a:t>
                      </a:r>
                      <a:endParaRPr lang="zh-CN" altLang="en-US" sz="2400" b="1" dirty="0">
                        <a:solidFill>
                          <a:srgbClr val="002060"/>
                        </a:solidFill>
                      </a:endParaRPr>
                    </a:p>
                  </a:txBody>
                  <a:tcPr/>
                </a:tc>
                <a:tc>
                  <a:txBody>
                    <a:bodyPr/>
                    <a:lstStyle/>
                    <a:p>
                      <a:r>
                        <a:rPr lang="zh-CN" altLang="en-US" sz="2400" dirty="0"/>
                        <a:t>保持文件时间信息</a:t>
                      </a:r>
                    </a:p>
                  </a:txBody>
                  <a:tcPr/>
                </a:tc>
                <a:extLst>
                  <a:ext uri="{0D108BD9-81ED-4DB2-BD59-A6C34878D82A}">
                    <a16:rowId xmlns:a16="http://schemas.microsoft.com/office/drawing/2014/main" val="10006"/>
                  </a:ext>
                </a:extLst>
              </a:tr>
              <a:tr h="123613">
                <a:tc>
                  <a:txBody>
                    <a:bodyPr/>
                    <a:lstStyle/>
                    <a:p>
                      <a:r>
                        <a:rPr lang="en-US" altLang="zh-CN" sz="2400" b="1" dirty="0">
                          <a:solidFill>
                            <a:srgbClr val="002060"/>
                          </a:solidFill>
                        </a:rPr>
                        <a:t>-g</a:t>
                      </a:r>
                      <a:r>
                        <a:rPr lang="zh-CN" altLang="en-US" sz="2400" b="1" dirty="0">
                          <a:solidFill>
                            <a:srgbClr val="002060"/>
                          </a:solidFill>
                        </a:rPr>
                        <a:t>，</a:t>
                      </a:r>
                      <a:r>
                        <a:rPr lang="en-US" altLang="zh-CN" sz="2400" b="1" dirty="0">
                          <a:solidFill>
                            <a:srgbClr val="002060"/>
                          </a:solidFill>
                        </a:rPr>
                        <a:t>--group</a:t>
                      </a:r>
                      <a:endParaRPr lang="zh-CN" altLang="en-US" sz="2400" b="1" dirty="0">
                        <a:solidFill>
                          <a:srgbClr val="002060"/>
                        </a:solidFill>
                      </a:endParaRPr>
                    </a:p>
                  </a:txBody>
                  <a:tcPr/>
                </a:tc>
                <a:tc>
                  <a:txBody>
                    <a:bodyPr/>
                    <a:lstStyle/>
                    <a:p>
                      <a:r>
                        <a:rPr lang="zh-CN" altLang="en-US" sz="2400" dirty="0"/>
                        <a:t>保持文件属组信息</a:t>
                      </a:r>
                    </a:p>
                  </a:txBody>
                  <a:tcPr/>
                </a:tc>
                <a:extLst>
                  <a:ext uri="{0D108BD9-81ED-4DB2-BD59-A6C34878D82A}">
                    <a16:rowId xmlns:a16="http://schemas.microsoft.com/office/drawing/2014/main" val="10007"/>
                  </a:ext>
                </a:extLst>
              </a:tr>
              <a:tr h="242147">
                <a:tc>
                  <a:txBody>
                    <a:bodyPr/>
                    <a:lstStyle/>
                    <a:p>
                      <a:r>
                        <a:rPr lang="en-US" altLang="zh-CN" sz="2400" b="1" dirty="0">
                          <a:solidFill>
                            <a:srgbClr val="002060"/>
                          </a:solidFill>
                        </a:rPr>
                        <a:t>-o</a:t>
                      </a:r>
                      <a:r>
                        <a:rPr lang="zh-CN" altLang="en-US" sz="2400" b="1" dirty="0">
                          <a:solidFill>
                            <a:srgbClr val="002060"/>
                          </a:solidFill>
                        </a:rPr>
                        <a:t>，</a:t>
                      </a:r>
                      <a:r>
                        <a:rPr lang="en-US" altLang="zh-CN" sz="2400" b="1" dirty="0">
                          <a:solidFill>
                            <a:srgbClr val="002060"/>
                          </a:solidFill>
                        </a:rPr>
                        <a:t>--owner</a:t>
                      </a:r>
                      <a:endParaRPr lang="zh-CN" altLang="en-US" sz="2400" b="1" dirty="0">
                        <a:solidFill>
                          <a:srgbClr val="002060"/>
                        </a:solidFill>
                      </a:endParaRPr>
                    </a:p>
                  </a:txBody>
                  <a:tcPr/>
                </a:tc>
                <a:tc>
                  <a:txBody>
                    <a:bodyPr/>
                    <a:lstStyle/>
                    <a:p>
                      <a:r>
                        <a:rPr lang="zh-CN" altLang="en-US" sz="2400" dirty="0"/>
                        <a:t>保持文件属主信息（仅 </a:t>
                      </a:r>
                      <a:r>
                        <a:rPr lang="en-US" altLang="zh-CN" sz="2400" dirty="0"/>
                        <a:t>root </a:t>
                      </a:r>
                      <a:r>
                        <a:rPr lang="zh-CN" altLang="en-US" sz="2400" dirty="0"/>
                        <a:t>可用）</a:t>
                      </a:r>
                    </a:p>
                  </a:txBody>
                  <a:tcPr/>
                </a:tc>
                <a:extLst>
                  <a:ext uri="{0D108BD9-81ED-4DB2-BD59-A6C34878D82A}">
                    <a16:rowId xmlns:a16="http://schemas.microsoft.com/office/drawing/2014/main" val="10008"/>
                  </a:ext>
                </a:extLst>
              </a:tr>
              <a:tr h="123613">
                <a:tc>
                  <a:txBody>
                    <a:bodyPr/>
                    <a:lstStyle/>
                    <a:p>
                      <a:r>
                        <a:rPr lang="en-US" altLang="zh-CN" sz="2400" b="1" dirty="0">
                          <a:solidFill>
                            <a:srgbClr val="002060"/>
                          </a:solidFill>
                        </a:rPr>
                        <a:t>-D</a:t>
                      </a:r>
                      <a:endParaRPr lang="zh-CN" altLang="en-US" sz="2400" b="1" dirty="0">
                        <a:solidFill>
                          <a:srgbClr val="002060"/>
                        </a:solidFill>
                      </a:endParaRPr>
                    </a:p>
                  </a:txBody>
                  <a:tcPr/>
                </a:tc>
                <a:tc>
                  <a:txBody>
                    <a:bodyPr/>
                    <a:lstStyle/>
                    <a:p>
                      <a:r>
                        <a:rPr lang="zh-CN" altLang="en-US" sz="2400" dirty="0"/>
                        <a:t>保持设备文件和特殊文件（仅 </a:t>
                      </a:r>
                      <a:r>
                        <a:rPr lang="en-US" altLang="zh-CN" sz="2400" dirty="0"/>
                        <a:t>root </a:t>
                      </a:r>
                      <a:r>
                        <a:rPr lang="zh-CN" altLang="en-US" sz="2400" dirty="0"/>
                        <a:t>可用）</a:t>
                      </a:r>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rsync </a:t>
            </a:r>
            <a:r>
              <a:rPr lang="zh-CN" altLang="en-US" dirty="0"/>
              <a:t>命令的常用选项续</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2262904287"/>
              </p:ext>
            </p:extLst>
          </p:nvPr>
        </p:nvGraphicFramePr>
        <p:xfrm>
          <a:off x="457199" y="1700808"/>
          <a:ext cx="8229601" cy="4719320"/>
        </p:xfrm>
        <a:graphic>
          <a:graphicData uri="http://schemas.openxmlformats.org/drawingml/2006/table">
            <a:tbl>
              <a:tblPr firstRow="1" bandRow="1">
                <a:tableStyleId>{5C22544A-7EE6-4342-B048-85BDC9FD1C3A}</a:tableStyleId>
              </a:tblPr>
              <a:tblGrid>
                <a:gridCol w="2530624">
                  <a:extLst>
                    <a:ext uri="{9D8B030D-6E8A-4147-A177-3AD203B41FA5}">
                      <a16:colId xmlns:a16="http://schemas.microsoft.com/office/drawing/2014/main" val="20000"/>
                    </a:ext>
                  </a:extLst>
                </a:gridCol>
                <a:gridCol w="5698977">
                  <a:extLst>
                    <a:ext uri="{9D8B030D-6E8A-4147-A177-3AD203B41FA5}">
                      <a16:colId xmlns:a16="http://schemas.microsoft.com/office/drawing/2014/main" val="20001"/>
                    </a:ext>
                  </a:extLst>
                </a:gridCol>
              </a:tblGrid>
              <a:tr h="370840">
                <a:tc>
                  <a:txBody>
                    <a:bodyPr/>
                    <a:lstStyle/>
                    <a:p>
                      <a:r>
                        <a:rPr lang="zh-CN" altLang="en-US" dirty="0"/>
                        <a:t>选项</a:t>
                      </a:r>
                    </a:p>
                  </a:txBody>
                  <a:tcPr/>
                </a:tc>
                <a:tc>
                  <a:txBody>
                    <a:bodyPr/>
                    <a:lstStyle/>
                    <a:p>
                      <a:r>
                        <a:rPr lang="zh-CN" altLang="en-US" dirty="0"/>
                        <a:t>说明</a:t>
                      </a:r>
                    </a:p>
                  </a:txBody>
                  <a:tcPr/>
                </a:tc>
                <a:extLst>
                  <a:ext uri="{0D108BD9-81ED-4DB2-BD59-A6C34878D82A}">
                    <a16:rowId xmlns:a16="http://schemas.microsoft.com/office/drawing/2014/main" val="10000"/>
                  </a:ext>
                </a:extLst>
              </a:tr>
              <a:tr h="370840">
                <a:tc>
                  <a:txBody>
                    <a:bodyPr/>
                    <a:lstStyle/>
                    <a:p>
                      <a:r>
                        <a:rPr lang="en-US" altLang="zh-CN" b="1" dirty="0">
                          <a:solidFill>
                            <a:srgbClr val="002060"/>
                          </a:solidFill>
                        </a:rPr>
                        <a:t>-e</a:t>
                      </a:r>
                      <a:r>
                        <a:rPr lang="zh-CN" altLang="en-US" b="1" dirty="0">
                          <a:solidFill>
                            <a:srgbClr val="002060"/>
                          </a:solidFill>
                        </a:rPr>
                        <a:t>，</a:t>
                      </a:r>
                      <a:r>
                        <a:rPr lang="en-US" altLang="zh-CN" b="1" dirty="0">
                          <a:solidFill>
                            <a:srgbClr val="002060"/>
                          </a:solidFill>
                        </a:rPr>
                        <a:t>--</a:t>
                      </a:r>
                      <a:r>
                        <a:rPr lang="en-US" altLang="zh-CN" b="1" dirty="0" err="1">
                          <a:solidFill>
                            <a:srgbClr val="002060"/>
                          </a:solidFill>
                        </a:rPr>
                        <a:t>rsh</a:t>
                      </a:r>
                      <a:r>
                        <a:rPr lang="en-US" altLang="zh-CN" b="1" dirty="0">
                          <a:solidFill>
                            <a:srgbClr val="002060"/>
                          </a:solidFill>
                        </a:rPr>
                        <a:t>=COMMAND</a:t>
                      </a:r>
                      <a:endParaRPr lang="zh-CN" altLang="en-US" b="1" dirty="0">
                        <a:solidFill>
                          <a:srgbClr val="002060"/>
                        </a:solidFill>
                      </a:endParaRPr>
                    </a:p>
                  </a:txBody>
                  <a:tcPr/>
                </a:tc>
                <a:tc>
                  <a:txBody>
                    <a:bodyPr/>
                    <a:lstStyle/>
                    <a:p>
                      <a:r>
                        <a:rPr lang="zh-CN" altLang="en-US" dirty="0"/>
                        <a:t>指定远程</a:t>
                      </a:r>
                      <a:r>
                        <a:rPr lang="en-US" altLang="zh-CN" dirty="0"/>
                        <a:t>Shell</a:t>
                      </a:r>
                      <a:r>
                        <a:rPr lang="zh-CN" altLang="en-US" dirty="0"/>
                        <a:t>程序，</a:t>
                      </a:r>
                      <a:r>
                        <a:rPr lang="en-US" altLang="zh-CN" dirty="0"/>
                        <a:t>RHEL/</a:t>
                      </a:r>
                      <a:r>
                        <a:rPr lang="en-US" altLang="zh-CN" dirty="0" err="1"/>
                        <a:t>CentOS</a:t>
                      </a:r>
                      <a:r>
                        <a:rPr lang="zh-CN" altLang="en-US" dirty="0"/>
                        <a:t>默认为</a:t>
                      </a:r>
                      <a:r>
                        <a:rPr lang="en-US" altLang="zh-CN" dirty="0"/>
                        <a:t>ssh</a:t>
                      </a:r>
                      <a:endParaRPr lang="zh-CN" altLang="en-US" dirty="0"/>
                    </a:p>
                  </a:txBody>
                  <a:tcPr/>
                </a:tc>
                <a:extLst>
                  <a:ext uri="{0D108BD9-81ED-4DB2-BD59-A6C34878D82A}">
                    <a16:rowId xmlns:a16="http://schemas.microsoft.com/office/drawing/2014/main" val="10001"/>
                  </a:ext>
                </a:extLst>
              </a:tr>
              <a:tr h="370840">
                <a:tc>
                  <a:txBody>
                    <a:bodyPr/>
                    <a:lstStyle/>
                    <a:p>
                      <a:r>
                        <a:rPr lang="en-US" altLang="zh-CN" b="1" dirty="0">
                          <a:solidFill>
                            <a:srgbClr val="FF0000"/>
                          </a:solidFill>
                        </a:rPr>
                        <a:t>-z</a:t>
                      </a:r>
                      <a:r>
                        <a:rPr lang="zh-CN" altLang="en-US" b="1" dirty="0">
                          <a:solidFill>
                            <a:srgbClr val="FF0000"/>
                          </a:solidFill>
                        </a:rPr>
                        <a:t>，</a:t>
                      </a:r>
                      <a:r>
                        <a:rPr lang="en-US" altLang="zh-CN" b="1" dirty="0">
                          <a:solidFill>
                            <a:srgbClr val="FF0000"/>
                          </a:solidFill>
                        </a:rPr>
                        <a:t>--compress</a:t>
                      </a:r>
                      <a:endParaRPr lang="zh-CN" altLang="en-US" b="1" dirty="0">
                        <a:solidFill>
                          <a:srgbClr val="FF0000"/>
                        </a:solidFill>
                      </a:endParaRPr>
                    </a:p>
                  </a:txBody>
                  <a:tcPr/>
                </a:tc>
                <a:tc>
                  <a:txBody>
                    <a:bodyPr/>
                    <a:lstStyle/>
                    <a:p>
                      <a:r>
                        <a:rPr lang="zh-CN" altLang="en-US" dirty="0"/>
                        <a:t>在传输文件时进行压缩处理</a:t>
                      </a:r>
                    </a:p>
                  </a:txBody>
                  <a:tcPr/>
                </a:tc>
                <a:extLst>
                  <a:ext uri="{0D108BD9-81ED-4DB2-BD59-A6C34878D82A}">
                    <a16:rowId xmlns:a16="http://schemas.microsoft.com/office/drawing/2014/main" val="10002"/>
                  </a:ext>
                </a:extLst>
              </a:tr>
              <a:tr h="370840">
                <a:tc>
                  <a:txBody>
                    <a:bodyPr/>
                    <a:lstStyle/>
                    <a:p>
                      <a:r>
                        <a:rPr lang="en-US" altLang="zh-CN" b="1" dirty="0">
                          <a:solidFill>
                            <a:srgbClr val="FF0000"/>
                          </a:solidFill>
                        </a:rPr>
                        <a:t>--delete</a:t>
                      </a:r>
                      <a:endParaRPr lang="zh-CN" altLang="en-US" b="1" dirty="0">
                        <a:solidFill>
                          <a:srgbClr val="FF0000"/>
                        </a:solidFill>
                      </a:endParaRPr>
                    </a:p>
                  </a:txBody>
                  <a:tcPr/>
                </a:tc>
                <a:tc>
                  <a:txBody>
                    <a:bodyPr/>
                    <a:lstStyle/>
                    <a:p>
                      <a:r>
                        <a:rPr lang="zh-CN" altLang="en-US" dirty="0"/>
                        <a:t>删除那些接收端还保留而发送端已经不存在的文件</a:t>
                      </a:r>
                    </a:p>
                  </a:txBody>
                  <a:tcPr/>
                </a:tc>
                <a:extLst>
                  <a:ext uri="{0D108BD9-81ED-4DB2-BD59-A6C34878D82A}">
                    <a16:rowId xmlns:a16="http://schemas.microsoft.com/office/drawing/2014/main" val="10003"/>
                  </a:ext>
                </a:extLst>
              </a:tr>
              <a:tr h="370840">
                <a:tc>
                  <a:txBody>
                    <a:bodyPr/>
                    <a:lstStyle/>
                    <a:p>
                      <a:r>
                        <a:rPr lang="en-US" altLang="zh-CN" b="1" dirty="0">
                          <a:solidFill>
                            <a:srgbClr val="FF0000"/>
                          </a:solidFill>
                        </a:rPr>
                        <a:t>--delete-after</a:t>
                      </a:r>
                      <a:endParaRPr lang="zh-CN" altLang="en-US" b="1" dirty="0">
                        <a:solidFill>
                          <a:srgbClr val="FF0000"/>
                        </a:solidFill>
                      </a:endParaRPr>
                    </a:p>
                  </a:txBody>
                  <a:tcPr/>
                </a:tc>
                <a:tc>
                  <a:txBody>
                    <a:bodyPr/>
                    <a:lstStyle/>
                    <a:p>
                      <a:r>
                        <a:rPr lang="zh-CN" altLang="en-US" dirty="0"/>
                        <a:t>接收者在传输之后才进行删除操作</a:t>
                      </a:r>
                    </a:p>
                  </a:txBody>
                  <a:tcPr/>
                </a:tc>
                <a:extLst>
                  <a:ext uri="{0D108BD9-81ED-4DB2-BD59-A6C34878D82A}">
                    <a16:rowId xmlns:a16="http://schemas.microsoft.com/office/drawing/2014/main" val="10004"/>
                  </a:ext>
                </a:extLst>
              </a:tr>
              <a:tr h="370840">
                <a:tc>
                  <a:txBody>
                    <a:bodyPr/>
                    <a:lstStyle/>
                    <a:p>
                      <a:r>
                        <a:rPr lang="en-US" altLang="zh-CN" b="1" dirty="0">
                          <a:solidFill>
                            <a:srgbClr val="FF0000"/>
                          </a:solidFill>
                        </a:rPr>
                        <a:t>--exclude=</a:t>
                      </a:r>
                      <a:r>
                        <a:rPr lang="en-US" altLang="zh-CN" b="1" i="1" dirty="0">
                          <a:solidFill>
                            <a:srgbClr val="FF0000"/>
                          </a:solidFill>
                        </a:rPr>
                        <a:t>PATTERN</a:t>
                      </a:r>
                      <a:endParaRPr lang="zh-CN" altLang="en-US" b="1" i="1" dirty="0">
                        <a:solidFill>
                          <a:srgbClr val="FF0000"/>
                        </a:solidFill>
                      </a:endParaRPr>
                    </a:p>
                  </a:txBody>
                  <a:tcPr/>
                </a:tc>
                <a:tc>
                  <a:txBody>
                    <a:bodyPr/>
                    <a:lstStyle/>
                    <a:p>
                      <a:r>
                        <a:rPr lang="zh-CN" altLang="en-US" dirty="0"/>
                        <a:t>指定排除不需要传输的文件匹配模式</a:t>
                      </a:r>
                    </a:p>
                  </a:txBody>
                  <a:tcPr/>
                </a:tc>
                <a:extLst>
                  <a:ext uri="{0D108BD9-81ED-4DB2-BD59-A6C34878D82A}">
                    <a16:rowId xmlns:a16="http://schemas.microsoft.com/office/drawing/2014/main" val="10005"/>
                  </a:ext>
                </a:extLst>
              </a:tr>
              <a:tr h="370840">
                <a:tc>
                  <a:txBody>
                    <a:bodyPr/>
                    <a:lstStyle/>
                    <a:p>
                      <a:r>
                        <a:rPr lang="en-US" altLang="zh-CN" b="1" dirty="0">
                          <a:solidFill>
                            <a:srgbClr val="FF0000"/>
                          </a:solidFill>
                        </a:rPr>
                        <a:t>--include=</a:t>
                      </a:r>
                      <a:r>
                        <a:rPr lang="en-US" altLang="zh-CN" b="1" i="1" dirty="0">
                          <a:solidFill>
                            <a:srgbClr val="FF0000"/>
                          </a:solidFill>
                        </a:rPr>
                        <a:t>PATTERN</a:t>
                      </a:r>
                      <a:endParaRPr lang="zh-CN" altLang="en-US" b="1" i="1" dirty="0">
                        <a:solidFill>
                          <a:srgbClr val="FF0000"/>
                        </a:solidFill>
                      </a:endParaRPr>
                    </a:p>
                  </a:txBody>
                  <a:tcPr/>
                </a:tc>
                <a:tc>
                  <a:txBody>
                    <a:bodyPr/>
                    <a:lstStyle/>
                    <a:p>
                      <a:r>
                        <a:rPr lang="zh-CN" altLang="en-US" dirty="0"/>
                        <a:t>指定需要传输的文件匹配模式</a:t>
                      </a:r>
                    </a:p>
                  </a:txBody>
                  <a:tcPr/>
                </a:tc>
                <a:extLst>
                  <a:ext uri="{0D108BD9-81ED-4DB2-BD59-A6C34878D82A}">
                    <a16:rowId xmlns:a16="http://schemas.microsoft.com/office/drawing/2014/main" val="10006"/>
                  </a:ext>
                </a:extLst>
              </a:tr>
              <a:tr h="370840">
                <a:tc>
                  <a:txBody>
                    <a:bodyPr/>
                    <a:lstStyle/>
                    <a:p>
                      <a:r>
                        <a:rPr lang="en-US" altLang="zh-CN" b="1" dirty="0">
                          <a:solidFill>
                            <a:srgbClr val="FF0000"/>
                          </a:solidFill>
                        </a:rPr>
                        <a:t>-P</a:t>
                      </a:r>
                      <a:endParaRPr lang="zh-CN" altLang="en-US" b="1" dirty="0">
                        <a:solidFill>
                          <a:srgbClr val="FF0000"/>
                        </a:solidFill>
                      </a:endParaRPr>
                    </a:p>
                  </a:txBody>
                  <a:tcPr/>
                </a:tc>
                <a:tc>
                  <a:txBody>
                    <a:bodyPr/>
                    <a:lstStyle/>
                    <a:p>
                      <a:r>
                        <a:rPr lang="zh-CN" altLang="en-US" dirty="0"/>
                        <a:t>等价于</a:t>
                      </a:r>
                      <a:r>
                        <a:rPr lang="en-US" altLang="zh-CN" dirty="0"/>
                        <a:t>--partial --progress</a:t>
                      </a:r>
                      <a:endParaRPr lang="zh-CN" altLang="en-US" dirty="0"/>
                    </a:p>
                  </a:txBody>
                  <a:tcPr/>
                </a:tc>
                <a:extLst>
                  <a:ext uri="{0D108BD9-81ED-4DB2-BD59-A6C34878D82A}">
                    <a16:rowId xmlns:a16="http://schemas.microsoft.com/office/drawing/2014/main" val="10007"/>
                  </a:ext>
                </a:extLst>
              </a:tr>
              <a:tr h="370840">
                <a:tc>
                  <a:txBody>
                    <a:bodyPr/>
                    <a:lstStyle/>
                    <a:p>
                      <a:r>
                        <a:rPr lang="en-US" altLang="zh-CN" b="1" dirty="0">
                          <a:solidFill>
                            <a:srgbClr val="002060"/>
                          </a:solidFill>
                        </a:rPr>
                        <a:t>--partial</a:t>
                      </a:r>
                      <a:endParaRPr lang="zh-CN" altLang="en-US" b="1" dirty="0">
                        <a:solidFill>
                          <a:srgbClr val="002060"/>
                        </a:solidFill>
                      </a:endParaRPr>
                    </a:p>
                  </a:txBody>
                  <a:tcPr/>
                </a:tc>
                <a:tc>
                  <a:txBody>
                    <a:bodyPr/>
                    <a:lstStyle/>
                    <a:p>
                      <a:r>
                        <a:rPr lang="zh-CN" altLang="en-US" dirty="0"/>
                        <a:t>保留因故没有完全传输的文件，以加快随后的再次传输</a:t>
                      </a:r>
                    </a:p>
                  </a:txBody>
                  <a:tcPr/>
                </a:tc>
                <a:extLst>
                  <a:ext uri="{0D108BD9-81ED-4DB2-BD59-A6C34878D82A}">
                    <a16:rowId xmlns:a16="http://schemas.microsoft.com/office/drawing/2014/main" val="10008"/>
                  </a:ext>
                </a:extLst>
              </a:tr>
              <a:tr h="370840">
                <a:tc>
                  <a:txBody>
                    <a:bodyPr/>
                    <a:lstStyle/>
                    <a:p>
                      <a:r>
                        <a:rPr lang="en-US" altLang="zh-CN" b="1" dirty="0">
                          <a:solidFill>
                            <a:srgbClr val="002060"/>
                          </a:solidFill>
                        </a:rPr>
                        <a:t>--progress</a:t>
                      </a:r>
                      <a:endParaRPr lang="zh-CN" altLang="en-US" b="1" dirty="0">
                        <a:solidFill>
                          <a:srgbClr val="002060"/>
                        </a:solidFill>
                      </a:endParaRPr>
                    </a:p>
                  </a:txBody>
                  <a:tcPr/>
                </a:tc>
                <a:tc>
                  <a:txBody>
                    <a:bodyPr/>
                    <a:lstStyle/>
                    <a:p>
                      <a:r>
                        <a:rPr lang="zh-CN" altLang="en-US" dirty="0"/>
                        <a:t>在传输时显示传输过程</a:t>
                      </a:r>
                    </a:p>
                  </a:txBody>
                  <a:tcPr/>
                </a:tc>
                <a:extLst>
                  <a:ext uri="{0D108BD9-81ED-4DB2-BD59-A6C34878D82A}">
                    <a16:rowId xmlns:a16="http://schemas.microsoft.com/office/drawing/2014/main" val="10009"/>
                  </a:ext>
                </a:extLst>
              </a:tr>
              <a:tr h="370840">
                <a:tc>
                  <a:txBody>
                    <a:bodyPr/>
                    <a:lstStyle/>
                    <a:p>
                      <a:r>
                        <a:rPr lang="en-US" altLang="zh-CN" b="1" dirty="0">
                          <a:solidFill>
                            <a:srgbClr val="002060"/>
                          </a:solidFill>
                        </a:rPr>
                        <a:t>-v</a:t>
                      </a:r>
                      <a:r>
                        <a:rPr lang="zh-CN" altLang="en-US" b="1" dirty="0">
                          <a:solidFill>
                            <a:srgbClr val="002060"/>
                          </a:solidFill>
                        </a:rPr>
                        <a:t>，</a:t>
                      </a:r>
                      <a:r>
                        <a:rPr lang="en-US" altLang="zh-CN" b="1" dirty="0">
                          <a:solidFill>
                            <a:srgbClr val="002060"/>
                          </a:solidFill>
                        </a:rPr>
                        <a:t>--verbose</a:t>
                      </a:r>
                      <a:endParaRPr lang="zh-CN" altLang="en-US" b="1" dirty="0">
                        <a:solidFill>
                          <a:srgbClr val="002060"/>
                        </a:solidFill>
                      </a:endParaRPr>
                    </a:p>
                  </a:txBody>
                  <a:tcPr/>
                </a:tc>
                <a:tc>
                  <a:txBody>
                    <a:bodyPr/>
                    <a:lstStyle/>
                    <a:p>
                      <a:r>
                        <a:rPr lang="zh-CN" altLang="en-US" dirty="0"/>
                        <a:t>详细输出模式</a:t>
                      </a:r>
                    </a:p>
                  </a:txBody>
                  <a:tcPr/>
                </a:tc>
                <a:extLst>
                  <a:ext uri="{0D108BD9-81ED-4DB2-BD59-A6C34878D82A}">
                    <a16:rowId xmlns:a16="http://schemas.microsoft.com/office/drawing/2014/main" val="10010"/>
                  </a:ext>
                </a:extLst>
              </a:tr>
              <a:tr h="370840">
                <a:tc>
                  <a:txBody>
                    <a:bodyPr/>
                    <a:lstStyle/>
                    <a:p>
                      <a:r>
                        <a:rPr lang="en-US" altLang="zh-CN" b="1" dirty="0">
                          <a:solidFill>
                            <a:srgbClr val="002060"/>
                          </a:solidFill>
                        </a:rPr>
                        <a:t>-q</a:t>
                      </a:r>
                      <a:r>
                        <a:rPr lang="zh-CN" altLang="en-US" b="1" dirty="0">
                          <a:solidFill>
                            <a:srgbClr val="002060"/>
                          </a:solidFill>
                        </a:rPr>
                        <a:t>，</a:t>
                      </a:r>
                      <a:r>
                        <a:rPr lang="en-US" altLang="zh-CN" b="1" dirty="0">
                          <a:solidFill>
                            <a:srgbClr val="002060"/>
                          </a:solidFill>
                        </a:rPr>
                        <a:t>--quiet</a:t>
                      </a:r>
                      <a:endParaRPr lang="zh-CN" altLang="en-US" b="1" dirty="0">
                        <a:solidFill>
                          <a:srgbClr val="002060"/>
                        </a:solidFill>
                      </a:endParaRPr>
                    </a:p>
                  </a:txBody>
                  <a:tcPr/>
                </a:tc>
                <a:tc>
                  <a:txBody>
                    <a:bodyPr/>
                    <a:lstStyle/>
                    <a:p>
                      <a:r>
                        <a:rPr lang="zh-CN" altLang="en-US" dirty="0"/>
                        <a:t>精简输出模式</a:t>
                      </a:r>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rsync </a:t>
            </a:r>
            <a:r>
              <a:rPr lang="zh-CN" altLang="en-US" dirty="0"/>
              <a:t>命令应用举例（</a:t>
            </a:r>
            <a:r>
              <a:rPr lang="en-US" altLang="zh-CN" dirty="0"/>
              <a:t>1</a:t>
            </a:r>
            <a:r>
              <a:rPr lang="zh-CN" altLang="en-US" dirty="0"/>
              <a:t>）</a:t>
            </a:r>
          </a:p>
        </p:txBody>
      </p:sp>
      <p:sp>
        <p:nvSpPr>
          <p:cNvPr id="3" name="内容占位符 2"/>
          <p:cNvSpPr>
            <a:spLocks noGrp="1"/>
          </p:cNvSpPr>
          <p:nvPr>
            <p:ph idx="1"/>
          </p:nvPr>
        </p:nvSpPr>
        <p:spPr>
          <a:xfrm>
            <a:off x="755576" y="1556792"/>
            <a:ext cx="8047558" cy="4114800"/>
          </a:xfrm>
        </p:spPr>
        <p:txBody>
          <a:bodyPr/>
          <a:lstStyle/>
          <a:p>
            <a:r>
              <a:rPr lang="zh-CN" altLang="en-US" sz="2800" dirty="0"/>
              <a:t>将整个 </a:t>
            </a:r>
            <a:r>
              <a:rPr lang="en-US" altLang="zh-CN" sz="2800" dirty="0"/>
              <a:t>/home </a:t>
            </a:r>
            <a:r>
              <a:rPr lang="zh-CN" altLang="en-US" sz="2800" dirty="0"/>
              <a:t>目录及其子目录同步到  </a:t>
            </a:r>
            <a:r>
              <a:rPr lang="en-US" altLang="zh-CN" sz="2800" dirty="0"/>
              <a:t>/backups</a:t>
            </a:r>
          </a:p>
          <a:p>
            <a:pPr lvl="1">
              <a:buNone/>
            </a:pPr>
            <a:r>
              <a:rPr lang="en-US" altLang="zh-CN" sz="2400" b="1" dirty="0">
                <a:solidFill>
                  <a:schemeClr val="accent6">
                    <a:lumMod val="75000"/>
                  </a:schemeClr>
                </a:solidFill>
              </a:rPr>
              <a:t># rsync -a --delete </a:t>
            </a:r>
            <a:r>
              <a:rPr lang="en-US" altLang="zh-CN" sz="2400" b="1" dirty="0">
                <a:solidFill>
                  <a:srgbClr val="FF0000"/>
                </a:solidFill>
              </a:rPr>
              <a:t>/home</a:t>
            </a:r>
            <a:r>
              <a:rPr lang="en-US" altLang="zh-CN" sz="2400" b="1" dirty="0">
                <a:solidFill>
                  <a:schemeClr val="accent6">
                    <a:lumMod val="75000"/>
                  </a:schemeClr>
                </a:solidFill>
              </a:rPr>
              <a:t> /backups</a:t>
            </a:r>
          </a:p>
          <a:p>
            <a:r>
              <a:rPr lang="zh-CN" altLang="en-US" sz="2800" dirty="0"/>
              <a:t>将 </a:t>
            </a:r>
            <a:r>
              <a:rPr lang="en-US" altLang="zh-CN" sz="2800" dirty="0"/>
              <a:t>/home </a:t>
            </a:r>
            <a:r>
              <a:rPr lang="zh-CN" altLang="en-US" sz="2800" dirty="0"/>
              <a:t>目录下的所有内容同步到  </a:t>
            </a:r>
            <a:r>
              <a:rPr lang="en-US" altLang="zh-CN" sz="2800" dirty="0"/>
              <a:t>/backups/home.0</a:t>
            </a:r>
          </a:p>
          <a:p>
            <a:pPr lvl="1">
              <a:buNone/>
            </a:pPr>
            <a:r>
              <a:rPr lang="en-US" altLang="zh-CN" sz="2400" b="1" dirty="0">
                <a:solidFill>
                  <a:schemeClr val="accent6">
                    <a:lumMod val="75000"/>
                  </a:schemeClr>
                </a:solidFill>
              </a:rPr>
              <a:t># rsync -a --delete </a:t>
            </a:r>
            <a:r>
              <a:rPr lang="en-US" altLang="zh-CN" sz="2400" b="1" dirty="0">
                <a:solidFill>
                  <a:srgbClr val="FF0000"/>
                </a:solidFill>
              </a:rPr>
              <a:t>/home/</a:t>
            </a:r>
            <a:r>
              <a:rPr lang="en-US" altLang="zh-CN" sz="2400" b="1" dirty="0">
                <a:solidFill>
                  <a:schemeClr val="accent6">
                    <a:lumMod val="75000"/>
                  </a:schemeClr>
                </a:solidFill>
              </a:rPr>
              <a:t> /backups/home.0</a:t>
            </a:r>
          </a:p>
          <a:p>
            <a:r>
              <a:rPr lang="zh-CN" altLang="en-US" sz="2800" dirty="0"/>
              <a:t>执行“推”复制同步</a:t>
            </a:r>
          </a:p>
          <a:p>
            <a:pPr lvl="1">
              <a:buNone/>
            </a:pPr>
            <a:r>
              <a:rPr lang="en-US" altLang="zh-CN" sz="2400" b="1" dirty="0">
                <a:solidFill>
                  <a:schemeClr val="accent6">
                    <a:lumMod val="75000"/>
                  </a:schemeClr>
                </a:solidFill>
              </a:rPr>
              <a:t>[</a:t>
            </a:r>
            <a:r>
              <a:rPr lang="en-US" altLang="zh-CN" sz="2400" b="1" dirty="0" err="1">
                <a:solidFill>
                  <a:schemeClr val="accent6">
                    <a:lumMod val="75000"/>
                  </a:schemeClr>
                </a:solidFill>
              </a:rPr>
              <a:t>root@soho</a:t>
            </a:r>
            <a:r>
              <a:rPr lang="en-US" altLang="zh-CN" sz="2400" b="1" dirty="0">
                <a:solidFill>
                  <a:schemeClr val="accent6">
                    <a:lumMod val="75000"/>
                  </a:schemeClr>
                </a:solidFill>
              </a:rPr>
              <a:t> ~]# rsync /etc/hosts centos5</a:t>
            </a:r>
            <a:r>
              <a:rPr lang="en-US" altLang="zh-CN" sz="2400" b="1" dirty="0">
                <a:solidFill>
                  <a:srgbClr val="FF0000"/>
                </a:solidFill>
              </a:rPr>
              <a:t>:</a:t>
            </a:r>
            <a:r>
              <a:rPr lang="en-US" altLang="zh-CN" sz="2400" b="1" dirty="0">
                <a:solidFill>
                  <a:schemeClr val="accent6">
                    <a:lumMod val="75000"/>
                  </a:schemeClr>
                </a:solidFill>
              </a:rPr>
              <a:t>/etc/hosts</a:t>
            </a:r>
          </a:p>
          <a:p>
            <a:r>
              <a:rPr lang="zh-CN" altLang="en-US" sz="2800" dirty="0"/>
              <a:t>执行“拉”复制同步</a:t>
            </a:r>
          </a:p>
          <a:p>
            <a:pPr lvl="1">
              <a:buNone/>
            </a:pPr>
            <a:r>
              <a:rPr lang="en-US" altLang="zh-CN" sz="2400" b="1" dirty="0">
                <a:solidFill>
                  <a:schemeClr val="accent6">
                    <a:lumMod val="75000"/>
                  </a:schemeClr>
                </a:solidFill>
              </a:rPr>
              <a:t>[root@centos5 ~]# rsync </a:t>
            </a:r>
            <a:r>
              <a:rPr lang="en-US" altLang="zh-CN" sz="2400" b="1" dirty="0" err="1">
                <a:solidFill>
                  <a:schemeClr val="accent6">
                    <a:lumMod val="75000"/>
                  </a:schemeClr>
                </a:solidFill>
              </a:rPr>
              <a:t>soho</a:t>
            </a:r>
            <a:r>
              <a:rPr lang="en-US" altLang="zh-CN" sz="2400" b="1" dirty="0">
                <a:solidFill>
                  <a:srgbClr val="FF0000"/>
                </a:solidFill>
              </a:rPr>
              <a:t>:</a:t>
            </a:r>
            <a:r>
              <a:rPr lang="en-US" altLang="zh-CN" sz="2400" b="1" dirty="0">
                <a:solidFill>
                  <a:schemeClr val="accent6">
                    <a:lumMod val="75000"/>
                  </a:schemeClr>
                </a:solidFill>
              </a:rPr>
              <a:t>/etc/hosts /etc/hosts</a:t>
            </a:r>
            <a:endParaRPr lang="zh-CN" altLang="en-US" sz="2400" b="1" dirty="0">
              <a:solidFill>
                <a:schemeClr val="accent6">
                  <a:lumMod val="75000"/>
                </a:schemeClr>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rsync </a:t>
            </a:r>
            <a:r>
              <a:rPr lang="zh-CN" altLang="en-US" dirty="0"/>
              <a:t>命令应用举例（</a:t>
            </a:r>
            <a:r>
              <a:rPr lang="en-US" altLang="zh-CN" dirty="0"/>
              <a:t>2</a:t>
            </a:r>
            <a:r>
              <a:rPr lang="zh-CN" altLang="en-US" dirty="0"/>
              <a:t>）</a:t>
            </a:r>
          </a:p>
        </p:txBody>
      </p:sp>
      <p:sp>
        <p:nvSpPr>
          <p:cNvPr id="3" name="内容占位符 2"/>
          <p:cNvSpPr>
            <a:spLocks noGrp="1"/>
          </p:cNvSpPr>
          <p:nvPr>
            <p:ph idx="1"/>
          </p:nvPr>
        </p:nvSpPr>
        <p:spPr>
          <a:xfrm>
            <a:off x="827584" y="1628800"/>
            <a:ext cx="7772400" cy="4114800"/>
          </a:xfrm>
        </p:spPr>
        <p:txBody>
          <a:bodyPr/>
          <a:lstStyle/>
          <a:p>
            <a:r>
              <a:rPr lang="zh-CN" altLang="en-US" sz="2800" dirty="0"/>
              <a:t>执行“推”复制同步用户的环境文件</a:t>
            </a:r>
          </a:p>
          <a:p>
            <a:pPr lvl="1">
              <a:buNone/>
            </a:pPr>
            <a:r>
              <a:rPr lang="en-US" altLang="zh-CN" sz="2400" b="1" dirty="0">
                <a:solidFill>
                  <a:schemeClr val="accent6">
                    <a:lumMod val="75000"/>
                  </a:schemeClr>
                </a:solidFill>
              </a:rPr>
              <a:t>[</a:t>
            </a:r>
            <a:r>
              <a:rPr lang="en-US" altLang="zh-CN" sz="2400" b="1" dirty="0" err="1">
                <a:solidFill>
                  <a:schemeClr val="accent6">
                    <a:lumMod val="75000"/>
                  </a:schemeClr>
                </a:solidFill>
              </a:rPr>
              <a:t>osmond@soho</a:t>
            </a:r>
            <a:r>
              <a:rPr lang="en-US" altLang="zh-CN" sz="2400" b="1" dirty="0">
                <a:solidFill>
                  <a:schemeClr val="accent6">
                    <a:lumMod val="75000"/>
                  </a:schemeClr>
                </a:solidFill>
              </a:rPr>
              <a:t> ~]$ rsync ~/.bash* centos5</a:t>
            </a:r>
            <a:r>
              <a:rPr lang="en-US" altLang="zh-CN" sz="2400" b="1" dirty="0">
                <a:solidFill>
                  <a:srgbClr val="FF0000"/>
                </a:solidFill>
              </a:rPr>
              <a:t>:</a:t>
            </a:r>
          </a:p>
          <a:p>
            <a:r>
              <a:rPr lang="zh-CN" altLang="en-US" sz="2800" dirty="0"/>
              <a:t>执行“拉”复制同步用户的环境文件</a:t>
            </a:r>
          </a:p>
          <a:p>
            <a:pPr lvl="1">
              <a:buNone/>
            </a:pPr>
            <a:r>
              <a:rPr lang="en-US" altLang="zh-CN" sz="2400" b="1" dirty="0">
                <a:solidFill>
                  <a:schemeClr val="accent6">
                    <a:lumMod val="75000"/>
                  </a:schemeClr>
                </a:solidFill>
              </a:rPr>
              <a:t>[osmond@cnetos5 ~]$ rsync </a:t>
            </a:r>
            <a:r>
              <a:rPr lang="en-US" altLang="zh-CN" sz="2400" b="1" dirty="0" err="1">
                <a:solidFill>
                  <a:schemeClr val="accent6">
                    <a:lumMod val="75000"/>
                  </a:schemeClr>
                </a:solidFill>
              </a:rPr>
              <a:t>soho</a:t>
            </a:r>
            <a:r>
              <a:rPr lang="en-US" altLang="zh-CN" sz="2400" b="1" dirty="0">
                <a:solidFill>
                  <a:schemeClr val="accent6">
                    <a:lumMod val="75000"/>
                  </a:schemeClr>
                </a:solidFill>
              </a:rPr>
              <a:t>:~/.bash* </a:t>
            </a:r>
            <a:r>
              <a:rPr lang="en-US" altLang="zh-CN" sz="2400" b="1" dirty="0">
                <a:solidFill>
                  <a:srgbClr val="FF0000"/>
                </a:solidFill>
              </a:rPr>
              <a:t>.</a:t>
            </a:r>
          </a:p>
          <a:p>
            <a:r>
              <a:rPr lang="zh-CN" altLang="en-US" sz="2800" dirty="0"/>
              <a:t>执行“推”复制同步站点根目录</a:t>
            </a:r>
          </a:p>
          <a:p>
            <a:pPr lvl="1">
              <a:buNone/>
            </a:pPr>
            <a:r>
              <a:rPr lang="en-US" altLang="zh-CN" sz="2400" b="1" dirty="0">
                <a:solidFill>
                  <a:schemeClr val="accent6">
                    <a:lumMod val="75000"/>
                  </a:schemeClr>
                </a:solidFill>
              </a:rPr>
              <a:t>[</a:t>
            </a:r>
            <a:r>
              <a:rPr lang="en-US" altLang="zh-CN" sz="2400" b="1" dirty="0" err="1">
                <a:solidFill>
                  <a:schemeClr val="accent6">
                    <a:lumMod val="75000"/>
                  </a:schemeClr>
                </a:solidFill>
              </a:rPr>
              <a:t>osmond@soho</a:t>
            </a:r>
            <a:r>
              <a:rPr lang="en-US" altLang="zh-CN" sz="2400" b="1" dirty="0">
                <a:solidFill>
                  <a:schemeClr val="accent6">
                    <a:lumMod val="75000"/>
                  </a:schemeClr>
                </a:solidFill>
              </a:rPr>
              <a:t> ~]$ rsync -</a:t>
            </a:r>
            <a:r>
              <a:rPr lang="en-US" altLang="zh-CN" sz="2400" b="1" dirty="0" err="1">
                <a:solidFill>
                  <a:schemeClr val="accent6">
                    <a:lumMod val="75000"/>
                  </a:schemeClr>
                </a:solidFill>
              </a:rPr>
              <a:t>avz</a:t>
            </a:r>
            <a:r>
              <a:rPr lang="en-US" altLang="zh-CN" sz="2400" b="1" dirty="0">
                <a:solidFill>
                  <a:schemeClr val="accent6">
                    <a:lumMod val="75000"/>
                  </a:schemeClr>
                </a:solidFill>
              </a:rPr>
              <a:t> --delete /</a:t>
            </a:r>
            <a:r>
              <a:rPr lang="en-US" altLang="zh-CN" sz="2400" b="1" dirty="0" err="1">
                <a:solidFill>
                  <a:schemeClr val="accent6">
                    <a:lumMod val="75000"/>
                  </a:schemeClr>
                </a:solidFill>
              </a:rPr>
              <a:t>var</a:t>
            </a:r>
            <a:r>
              <a:rPr lang="en-US" altLang="zh-CN" sz="2400" b="1" dirty="0">
                <a:solidFill>
                  <a:schemeClr val="accent6">
                    <a:lumMod val="75000"/>
                  </a:schemeClr>
                </a:solidFill>
              </a:rPr>
              <a:t>/www          </a:t>
            </a:r>
            <a:r>
              <a:rPr lang="en-US" altLang="zh-CN" sz="2400" b="1" dirty="0">
                <a:solidFill>
                  <a:srgbClr val="FF0000"/>
                </a:solidFill>
              </a:rPr>
              <a:t>root@</a:t>
            </a:r>
            <a:r>
              <a:rPr lang="en-US" altLang="zh-CN" sz="2400" b="1" dirty="0">
                <a:solidFill>
                  <a:schemeClr val="accent6">
                    <a:lumMod val="75000"/>
                  </a:schemeClr>
                </a:solidFill>
              </a:rPr>
              <a:t>192.168.0.101</a:t>
            </a:r>
            <a:r>
              <a:rPr lang="en-US" altLang="zh-CN" sz="2400" b="1" dirty="0">
                <a:solidFill>
                  <a:srgbClr val="FF0000"/>
                </a:solidFill>
              </a:rPr>
              <a:t>:</a:t>
            </a:r>
            <a:r>
              <a:rPr lang="en-US" altLang="zh-CN" sz="2400" b="1" dirty="0">
                <a:solidFill>
                  <a:schemeClr val="accent6">
                    <a:lumMod val="75000"/>
                  </a:schemeClr>
                </a:solidFill>
              </a:rPr>
              <a:t>/</a:t>
            </a:r>
            <a:r>
              <a:rPr lang="en-US" altLang="zh-CN" sz="2400" b="1" dirty="0" err="1">
                <a:solidFill>
                  <a:schemeClr val="accent6">
                    <a:lumMod val="75000"/>
                  </a:schemeClr>
                </a:solidFill>
              </a:rPr>
              <a:t>var</a:t>
            </a:r>
            <a:r>
              <a:rPr lang="en-US" altLang="zh-CN" sz="2400" b="1" dirty="0">
                <a:solidFill>
                  <a:schemeClr val="accent6">
                    <a:lumMod val="75000"/>
                  </a:schemeClr>
                </a:solidFill>
              </a:rPr>
              <a:t>/www</a:t>
            </a:r>
          </a:p>
          <a:p>
            <a:r>
              <a:rPr lang="zh-CN" altLang="en-US" sz="2800" dirty="0"/>
              <a:t>执行“拉”复制同步站点根目录</a:t>
            </a:r>
          </a:p>
          <a:p>
            <a:pPr lvl="1">
              <a:buNone/>
            </a:pPr>
            <a:r>
              <a:rPr lang="en-US" altLang="zh-CN" sz="2400" b="1" dirty="0">
                <a:solidFill>
                  <a:schemeClr val="accent6">
                    <a:lumMod val="75000"/>
                  </a:schemeClr>
                </a:solidFill>
              </a:rPr>
              <a:t>[osmond@cnetos5 ~]$ rsync -</a:t>
            </a:r>
            <a:r>
              <a:rPr lang="en-US" altLang="zh-CN" sz="2400" b="1" dirty="0" err="1">
                <a:solidFill>
                  <a:schemeClr val="accent6">
                    <a:lumMod val="75000"/>
                  </a:schemeClr>
                </a:solidFill>
              </a:rPr>
              <a:t>avz</a:t>
            </a:r>
            <a:r>
              <a:rPr lang="en-US" altLang="zh-CN" sz="2400" b="1" dirty="0">
                <a:solidFill>
                  <a:schemeClr val="accent6">
                    <a:lumMod val="75000"/>
                  </a:schemeClr>
                </a:solidFill>
              </a:rPr>
              <a:t> --delete       </a:t>
            </a:r>
            <a:r>
              <a:rPr lang="en-US" altLang="zh-CN" sz="2400" b="1" dirty="0">
                <a:solidFill>
                  <a:srgbClr val="FF0000"/>
                </a:solidFill>
              </a:rPr>
              <a:t>root@</a:t>
            </a:r>
            <a:r>
              <a:rPr lang="en-US" altLang="zh-CN" sz="2400" b="1" dirty="0">
                <a:solidFill>
                  <a:schemeClr val="accent6">
                    <a:lumMod val="75000"/>
                  </a:schemeClr>
                </a:solidFill>
              </a:rPr>
              <a:t>192.168.0.55</a:t>
            </a:r>
            <a:r>
              <a:rPr lang="en-US" altLang="zh-CN" sz="2400" b="1" dirty="0">
                <a:solidFill>
                  <a:srgbClr val="FF0000"/>
                </a:solidFill>
              </a:rPr>
              <a:t>:</a:t>
            </a:r>
            <a:r>
              <a:rPr lang="en-US" altLang="zh-CN" sz="2400" b="1" dirty="0">
                <a:solidFill>
                  <a:schemeClr val="accent6">
                    <a:lumMod val="75000"/>
                  </a:schemeClr>
                </a:solidFill>
              </a:rPr>
              <a:t>/</a:t>
            </a:r>
            <a:r>
              <a:rPr lang="en-US" altLang="zh-CN" sz="2400" b="1" dirty="0" err="1">
                <a:solidFill>
                  <a:schemeClr val="accent6">
                    <a:lumMod val="75000"/>
                  </a:schemeClr>
                </a:solidFill>
              </a:rPr>
              <a:t>var</a:t>
            </a:r>
            <a:r>
              <a:rPr lang="en-US" altLang="zh-CN" sz="2400" b="1" dirty="0">
                <a:solidFill>
                  <a:schemeClr val="accent6">
                    <a:lumMod val="75000"/>
                  </a:schemeClr>
                </a:solidFill>
              </a:rPr>
              <a:t>/www /</a:t>
            </a:r>
            <a:r>
              <a:rPr lang="en-US" altLang="zh-CN" sz="2400" b="1" dirty="0" err="1">
                <a:solidFill>
                  <a:schemeClr val="accent6">
                    <a:lumMod val="75000"/>
                  </a:schemeClr>
                </a:solidFill>
              </a:rPr>
              <a:t>var</a:t>
            </a:r>
            <a:r>
              <a:rPr lang="en-US" altLang="zh-CN" sz="2400" b="1" dirty="0">
                <a:solidFill>
                  <a:schemeClr val="accent6">
                    <a:lumMod val="75000"/>
                  </a:schemeClr>
                </a:solidFill>
              </a:rPr>
              <a:t>/www</a:t>
            </a:r>
            <a:endParaRPr lang="zh-CN" altLang="en-US" sz="2400" b="1" dirty="0">
              <a:solidFill>
                <a:schemeClr val="accent6">
                  <a:lumMod val="75000"/>
                </a:schemeClr>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ssh</a:t>
            </a:r>
            <a:endParaRPr lang="zh-CN" altLang="en-US" dirty="0"/>
          </a:p>
        </p:txBody>
      </p:sp>
      <p:sp>
        <p:nvSpPr>
          <p:cNvPr id="3" name="内容占位符 2"/>
          <p:cNvSpPr>
            <a:spLocks noGrp="1"/>
          </p:cNvSpPr>
          <p:nvPr>
            <p:ph idx="1"/>
          </p:nvPr>
        </p:nvSpPr>
        <p:spPr>
          <a:xfrm>
            <a:off x="971600" y="1484784"/>
            <a:ext cx="7772400" cy="4114800"/>
          </a:xfrm>
        </p:spPr>
        <p:txBody>
          <a:bodyPr/>
          <a:lstStyle/>
          <a:p>
            <a:pPr>
              <a:lnSpc>
                <a:spcPct val="120000"/>
              </a:lnSpc>
            </a:pPr>
            <a:r>
              <a:rPr lang="en-US" altLang="zh-CN" dirty="0"/>
              <a:t>ssh </a:t>
            </a:r>
            <a:r>
              <a:rPr lang="zh-CN" altLang="en-US" dirty="0"/>
              <a:t>用于替代 </a:t>
            </a:r>
            <a:r>
              <a:rPr lang="en-US" altLang="zh-CN" dirty="0"/>
              <a:t>telnet/rlogin</a:t>
            </a:r>
          </a:p>
          <a:p>
            <a:pPr>
              <a:lnSpc>
                <a:spcPct val="120000"/>
              </a:lnSpc>
            </a:pPr>
            <a:r>
              <a:rPr lang="zh-CN" altLang="en-US" dirty="0"/>
              <a:t>格式</a:t>
            </a:r>
            <a:endParaRPr lang="en-US" altLang="zh-CN" dirty="0"/>
          </a:p>
          <a:p>
            <a:pPr lvl="1">
              <a:lnSpc>
                <a:spcPct val="120000"/>
              </a:lnSpc>
            </a:pPr>
            <a:r>
              <a:rPr lang="en-US" altLang="zh-CN" dirty="0">
                <a:solidFill>
                  <a:schemeClr val="accent6">
                    <a:lumMod val="75000"/>
                  </a:schemeClr>
                </a:solidFill>
              </a:rPr>
              <a:t>ssh [user@]hostname </a:t>
            </a:r>
          </a:p>
          <a:p>
            <a:pPr lvl="1">
              <a:lnSpc>
                <a:spcPct val="120000"/>
              </a:lnSpc>
            </a:pPr>
            <a:r>
              <a:rPr lang="en-US" altLang="zh-CN" dirty="0">
                <a:solidFill>
                  <a:schemeClr val="accent6">
                    <a:lumMod val="75000"/>
                  </a:schemeClr>
                </a:solidFill>
              </a:rPr>
              <a:t>ssh [user@]hostname command </a:t>
            </a:r>
          </a:p>
          <a:p>
            <a:pPr>
              <a:lnSpc>
                <a:spcPct val="120000"/>
              </a:lnSpc>
            </a:pPr>
            <a:r>
              <a:rPr lang="zh-CN" altLang="en-US" dirty="0"/>
              <a:t>举例</a:t>
            </a:r>
            <a:endParaRPr lang="en-US" altLang="zh-CN" dirty="0"/>
          </a:p>
          <a:p>
            <a:pPr lvl="1">
              <a:lnSpc>
                <a:spcPct val="120000"/>
              </a:lnSpc>
              <a:buNone/>
            </a:pPr>
            <a:r>
              <a:rPr lang="en-US" altLang="zh-CN" dirty="0">
                <a:solidFill>
                  <a:schemeClr val="tx2">
                    <a:lumMod val="75000"/>
                  </a:schemeClr>
                </a:solidFill>
              </a:rPr>
              <a:t>$ ssh -l </a:t>
            </a:r>
            <a:r>
              <a:rPr lang="en-US" altLang="zh-CN" dirty="0" err="1">
                <a:solidFill>
                  <a:schemeClr val="tx2">
                    <a:lumMod val="75000"/>
                  </a:schemeClr>
                </a:solidFill>
              </a:rPr>
              <a:t>osmond</a:t>
            </a:r>
            <a:r>
              <a:rPr lang="en-US" altLang="zh-CN" dirty="0">
                <a:solidFill>
                  <a:schemeClr val="tx2">
                    <a:lumMod val="75000"/>
                  </a:schemeClr>
                </a:solidFill>
              </a:rPr>
              <a:t> 192.168.0.100</a:t>
            </a:r>
          </a:p>
          <a:p>
            <a:pPr lvl="1">
              <a:lnSpc>
                <a:spcPct val="120000"/>
              </a:lnSpc>
              <a:buNone/>
            </a:pPr>
            <a:r>
              <a:rPr lang="en-US" altLang="zh-CN" dirty="0">
                <a:solidFill>
                  <a:schemeClr val="tx2">
                    <a:lumMod val="75000"/>
                  </a:schemeClr>
                </a:solidFill>
              </a:rPr>
              <a:t>$ ssh osmond@192.168.0.100</a:t>
            </a:r>
          </a:p>
          <a:p>
            <a:pPr lvl="1">
              <a:lnSpc>
                <a:spcPct val="120000"/>
              </a:lnSpc>
              <a:buNone/>
            </a:pPr>
            <a:r>
              <a:rPr lang="en-US" altLang="zh-CN" dirty="0">
                <a:solidFill>
                  <a:schemeClr val="tx2">
                    <a:lumMod val="75000"/>
                  </a:schemeClr>
                </a:solidFill>
              </a:rPr>
              <a:t>$ ssh osmond@192.168.0.100 “ls ~”</a:t>
            </a:r>
            <a:endParaRPr lang="zh-CN" altLang="en-US" dirty="0">
              <a:solidFill>
                <a:schemeClr val="tx2">
                  <a:lumMod val="75000"/>
                </a:schemeClr>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scp</a:t>
            </a:r>
            <a:endParaRPr lang="zh-CN" altLang="en-US" dirty="0"/>
          </a:p>
        </p:txBody>
      </p:sp>
      <p:sp>
        <p:nvSpPr>
          <p:cNvPr id="3" name="内容占位符 2"/>
          <p:cNvSpPr>
            <a:spLocks noGrp="1"/>
          </p:cNvSpPr>
          <p:nvPr>
            <p:ph idx="1"/>
          </p:nvPr>
        </p:nvSpPr>
        <p:spPr>
          <a:xfrm>
            <a:off x="395536" y="1273681"/>
            <a:ext cx="8748464" cy="5078189"/>
          </a:xfrm>
        </p:spPr>
        <p:txBody>
          <a:bodyPr/>
          <a:lstStyle/>
          <a:p>
            <a:r>
              <a:rPr lang="en-US" altLang="zh-CN" dirty="0" err="1" smtClean="0"/>
              <a:t>scp</a:t>
            </a:r>
            <a:r>
              <a:rPr lang="en-US" altLang="zh-CN" dirty="0" smtClean="0"/>
              <a:t> </a:t>
            </a:r>
            <a:r>
              <a:rPr lang="zh-CN" altLang="en-US" dirty="0" smtClean="0"/>
              <a:t>本地主机和远程主机之间复制文件。</a:t>
            </a:r>
            <a:endParaRPr lang="en-US" altLang="zh-CN" dirty="0"/>
          </a:p>
          <a:p>
            <a:r>
              <a:rPr lang="zh-CN" altLang="en-US" dirty="0"/>
              <a:t>格式：</a:t>
            </a:r>
            <a:r>
              <a:rPr lang="fr-FR" altLang="zh-CN" dirty="0">
                <a:solidFill>
                  <a:schemeClr val="accent6">
                    <a:lumMod val="75000"/>
                  </a:schemeClr>
                </a:solidFill>
              </a:rPr>
              <a:t>scp </a:t>
            </a:r>
            <a:r>
              <a:rPr lang="en-US" altLang="zh-CN" dirty="0">
                <a:solidFill>
                  <a:schemeClr val="accent6">
                    <a:lumMod val="75000"/>
                  </a:schemeClr>
                </a:solidFill>
              </a:rPr>
              <a:t>[option] &lt;</a:t>
            </a:r>
            <a:r>
              <a:rPr lang="fr-FR" altLang="zh-CN" dirty="0">
                <a:solidFill>
                  <a:schemeClr val="accent6">
                    <a:lumMod val="75000"/>
                  </a:schemeClr>
                </a:solidFill>
              </a:rPr>
              <a:t>source&gt; &lt;destination&gt;</a:t>
            </a:r>
          </a:p>
          <a:p>
            <a:pPr lvl="1"/>
            <a:r>
              <a:rPr lang="zh-CN" altLang="fr-FR" dirty="0"/>
              <a:t>远程文件的指定方式是：</a:t>
            </a:r>
          </a:p>
          <a:p>
            <a:pPr lvl="2"/>
            <a:r>
              <a:rPr lang="fr-FR" altLang="zh-CN" dirty="0">
                <a:solidFill>
                  <a:schemeClr val="accent6">
                    <a:lumMod val="75000"/>
                  </a:schemeClr>
                </a:solidFill>
              </a:rPr>
              <a:t>[user@]host:/path/to/file</a:t>
            </a:r>
          </a:p>
          <a:p>
            <a:pPr lvl="1"/>
            <a:r>
              <a:rPr lang="zh-CN" altLang="en-US" dirty="0"/>
              <a:t>选项：</a:t>
            </a:r>
          </a:p>
          <a:p>
            <a:pPr lvl="2"/>
            <a:r>
              <a:rPr lang="en-US" altLang="zh-CN" dirty="0"/>
              <a:t>-r</a:t>
            </a:r>
            <a:r>
              <a:rPr lang="zh-CN" altLang="en-US" dirty="0"/>
              <a:t>：用于</a:t>
            </a:r>
            <a:r>
              <a:rPr lang="zh-CN" altLang="en-US" dirty="0">
                <a:solidFill>
                  <a:srgbClr val="FF0000"/>
                </a:solidFill>
              </a:rPr>
              <a:t>递归复制子目录</a:t>
            </a:r>
          </a:p>
          <a:p>
            <a:pPr lvl="2"/>
            <a:r>
              <a:rPr lang="en-US" altLang="zh-CN" dirty="0"/>
              <a:t>-p</a:t>
            </a:r>
            <a:r>
              <a:rPr lang="zh-CN" altLang="en-US" dirty="0"/>
              <a:t>：用于</a:t>
            </a:r>
            <a:r>
              <a:rPr lang="zh-CN" altLang="en-US" dirty="0">
                <a:solidFill>
                  <a:srgbClr val="FF0000"/>
                </a:solidFill>
              </a:rPr>
              <a:t>保留被复制文件的时间戳和权限</a:t>
            </a:r>
          </a:p>
          <a:p>
            <a:pPr lvl="2"/>
            <a:r>
              <a:rPr lang="en-US" altLang="zh-CN" dirty="0"/>
              <a:t>-C</a:t>
            </a:r>
            <a:r>
              <a:rPr lang="zh-CN" altLang="en-US" dirty="0"/>
              <a:t>：用于</a:t>
            </a:r>
            <a:r>
              <a:rPr lang="zh-CN" altLang="en-US" dirty="0">
                <a:solidFill>
                  <a:srgbClr val="FF0000"/>
                </a:solidFill>
              </a:rPr>
              <a:t>压缩数据流</a:t>
            </a:r>
            <a:endParaRPr lang="en-US" altLang="zh-CN" dirty="0">
              <a:solidFill>
                <a:srgbClr val="FF0000"/>
              </a:solidFill>
            </a:endParaRPr>
          </a:p>
          <a:p>
            <a:r>
              <a:rPr lang="zh-CN" altLang="en-US" dirty="0"/>
              <a:t>举例</a:t>
            </a:r>
            <a:endParaRPr lang="en-US" altLang="zh-CN" dirty="0"/>
          </a:p>
          <a:p>
            <a:pPr lvl="1"/>
            <a:r>
              <a:rPr lang="en-US" altLang="zh-CN" sz="2400" dirty="0"/>
              <a:t>$ scp osmond@192.168.0.101:remotefile  </a:t>
            </a:r>
            <a:r>
              <a:rPr lang="en-US" altLang="zh-CN" sz="2400" dirty="0" err="1"/>
              <a:t>localfile</a:t>
            </a:r>
            <a:endParaRPr lang="zh-CN" altLang="zh-CN" sz="2400" dirty="0"/>
          </a:p>
          <a:p>
            <a:pPr lvl="1"/>
            <a:r>
              <a:rPr lang="en-US" altLang="zh-CN" sz="2400" dirty="0"/>
              <a:t>$ scp -</a:t>
            </a:r>
            <a:r>
              <a:rPr lang="en-US" altLang="zh-CN" sz="2400" dirty="0" err="1"/>
              <a:t>rpC</a:t>
            </a:r>
            <a:r>
              <a:rPr lang="en-US" altLang="zh-CN" sz="2400" dirty="0"/>
              <a:t> osmond@backup.ls-al.me:/data  .</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sftp</a:t>
            </a:r>
            <a:endParaRPr lang="zh-CN" altLang="en-US" dirty="0"/>
          </a:p>
        </p:txBody>
      </p:sp>
      <p:sp>
        <p:nvSpPr>
          <p:cNvPr id="3" name="内容占位符 2"/>
          <p:cNvSpPr>
            <a:spLocks noGrp="1"/>
          </p:cNvSpPr>
          <p:nvPr>
            <p:ph idx="1"/>
          </p:nvPr>
        </p:nvSpPr>
        <p:spPr>
          <a:xfrm>
            <a:off x="717550" y="1556792"/>
            <a:ext cx="8229600" cy="4718149"/>
          </a:xfrm>
        </p:spPr>
        <p:txBody>
          <a:bodyPr/>
          <a:lstStyle/>
          <a:p>
            <a:r>
              <a:rPr lang="en-US" altLang="zh-CN" dirty="0" err="1"/>
              <a:t>sftp</a:t>
            </a:r>
            <a:r>
              <a:rPr lang="zh-CN" altLang="en-US" dirty="0"/>
              <a:t>命令是</a:t>
            </a:r>
            <a:r>
              <a:rPr lang="zh-CN" altLang="en-US" dirty="0">
                <a:solidFill>
                  <a:srgbClr val="FF0000"/>
                </a:solidFill>
              </a:rPr>
              <a:t>基于</a:t>
            </a:r>
            <a:r>
              <a:rPr lang="en-US" altLang="zh-CN" dirty="0">
                <a:solidFill>
                  <a:srgbClr val="FF0000"/>
                </a:solidFill>
              </a:rPr>
              <a:t>SSH</a:t>
            </a:r>
            <a:r>
              <a:rPr lang="zh-CN" altLang="en-US" dirty="0">
                <a:solidFill>
                  <a:srgbClr val="FF0000"/>
                </a:solidFill>
              </a:rPr>
              <a:t>协议的 </a:t>
            </a:r>
            <a:r>
              <a:rPr lang="en-US" altLang="zh-CN" dirty="0">
                <a:solidFill>
                  <a:srgbClr val="FF0000"/>
                </a:solidFill>
              </a:rPr>
              <a:t>ftp </a:t>
            </a:r>
            <a:r>
              <a:rPr lang="zh-CN" altLang="en-US" dirty="0">
                <a:solidFill>
                  <a:srgbClr val="FF0000"/>
                </a:solidFill>
              </a:rPr>
              <a:t>的客户端</a:t>
            </a:r>
          </a:p>
          <a:p>
            <a:r>
              <a:rPr lang="zh-CN" altLang="en-US" dirty="0"/>
              <a:t>与 </a:t>
            </a:r>
            <a:r>
              <a:rPr lang="en-US" altLang="zh-CN" dirty="0"/>
              <a:t>ftp </a:t>
            </a:r>
            <a:r>
              <a:rPr lang="zh-CN" altLang="en-US" dirty="0"/>
              <a:t>类似</a:t>
            </a:r>
            <a:r>
              <a:rPr lang="en-US" altLang="zh-CN" dirty="0"/>
              <a:t>, </a:t>
            </a:r>
            <a:r>
              <a:rPr lang="zh-CN" altLang="en-US" dirty="0"/>
              <a:t>但它进行</a:t>
            </a:r>
            <a:r>
              <a:rPr lang="zh-CN" altLang="en-US" dirty="0">
                <a:solidFill>
                  <a:srgbClr val="FF0000"/>
                </a:solidFill>
              </a:rPr>
              <a:t>加密传输</a:t>
            </a:r>
            <a:r>
              <a:rPr lang="zh-CN" altLang="en-US" dirty="0"/>
              <a:t>，比</a:t>
            </a:r>
            <a:r>
              <a:rPr lang="en-US" altLang="zh-CN" dirty="0"/>
              <a:t>FTP</a:t>
            </a:r>
            <a:r>
              <a:rPr lang="zh-CN" altLang="en-US" dirty="0"/>
              <a:t>有更高的安全性</a:t>
            </a:r>
            <a:endParaRPr lang="en-US" altLang="zh-CN" dirty="0"/>
          </a:p>
          <a:p>
            <a:r>
              <a:rPr lang="zh-CN" altLang="zh-CN" dirty="0"/>
              <a:t>格式</a:t>
            </a:r>
            <a:endParaRPr lang="en-US" altLang="zh-CN" dirty="0"/>
          </a:p>
          <a:p>
            <a:pPr lvl="1"/>
            <a:r>
              <a:rPr lang="en-US" altLang="zh-CN" dirty="0" err="1">
                <a:solidFill>
                  <a:schemeClr val="accent6">
                    <a:lumMod val="75000"/>
                  </a:schemeClr>
                </a:solidFill>
              </a:rPr>
              <a:t>sftp</a:t>
            </a:r>
            <a:r>
              <a:rPr lang="en-US" altLang="zh-CN" dirty="0">
                <a:solidFill>
                  <a:schemeClr val="accent6">
                    <a:lumMod val="75000"/>
                  </a:schemeClr>
                </a:solidFill>
              </a:rPr>
              <a:t> [user@]hostname</a:t>
            </a:r>
            <a:endParaRPr lang="zh-CN" altLang="zh-CN" dirty="0">
              <a:solidFill>
                <a:schemeClr val="accent6">
                  <a:lumMod val="75000"/>
                </a:schemeClr>
              </a:solidFill>
            </a:endParaRPr>
          </a:p>
          <a:p>
            <a:r>
              <a:rPr lang="zh-CN" altLang="en-US" dirty="0"/>
              <a:t>举例：</a:t>
            </a:r>
          </a:p>
          <a:p>
            <a:pPr lvl="1"/>
            <a:r>
              <a:rPr lang="en-US" altLang="zh-CN" dirty="0"/>
              <a:t>$ </a:t>
            </a:r>
            <a:r>
              <a:rPr lang="en-US" altLang="zh-CN" dirty="0" err="1"/>
              <a:t>sftp</a:t>
            </a:r>
            <a:r>
              <a:rPr lang="en-US" altLang="zh-CN" dirty="0"/>
              <a:t> osmond@192.168.0.101</a:t>
            </a:r>
          </a:p>
          <a:p>
            <a:r>
              <a:rPr lang="zh-CN" altLang="en-US" dirty="0"/>
              <a:t>进入 </a:t>
            </a:r>
            <a:r>
              <a:rPr lang="en-US" altLang="zh-CN" dirty="0" err="1"/>
              <a:t>sftp</a:t>
            </a:r>
            <a:r>
              <a:rPr lang="en-US" altLang="zh-CN" dirty="0"/>
              <a:t> </a:t>
            </a:r>
            <a:r>
              <a:rPr lang="zh-CN" altLang="en-US" dirty="0"/>
              <a:t>会话之后就可以使用 </a:t>
            </a:r>
            <a:r>
              <a:rPr lang="en-US" altLang="zh-CN" dirty="0"/>
              <a:t>ftp </a:t>
            </a:r>
            <a:r>
              <a:rPr lang="zh-CN" altLang="en-US" dirty="0"/>
              <a:t>子命令上传和下载文件了</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25760" y="22827"/>
            <a:ext cx="8892480" cy="6863417"/>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zh-CN" altLang="en-US" sz="2000" dirty="0">
                <a:solidFill>
                  <a:srgbClr val="0000FF"/>
                </a:solidFill>
              </a:rPr>
              <a:t>[root@localhost ~]# </a:t>
            </a:r>
            <a:r>
              <a:rPr lang="zh-CN" altLang="en-US" sz="2000" dirty="0"/>
              <a:t>sftp root@192.168.181.132</a:t>
            </a:r>
          </a:p>
          <a:p>
            <a:r>
              <a:rPr lang="zh-CN" altLang="en-US" sz="2000" dirty="0"/>
              <a:t>The authenticity of host '192.168.181.132 (192.168.181.132)' can't be established.</a:t>
            </a:r>
          </a:p>
          <a:p>
            <a:r>
              <a:rPr lang="zh-CN" altLang="en-US" sz="2000" dirty="0"/>
              <a:t>ECDSA key fingerprint is SHA256:HfEjicl3rMt/X6SyWCeZW</a:t>
            </a:r>
            <a:r>
              <a:rPr lang="zh-CN" altLang="en-US" sz="2000" dirty="0" smtClean="0"/>
              <a:t>658</a:t>
            </a:r>
            <a:r>
              <a:rPr lang="zh-CN" altLang="en-US" sz="2000" dirty="0"/>
              <a:t>BZUhz6T9VsMEVSE.</a:t>
            </a:r>
          </a:p>
          <a:p>
            <a:r>
              <a:rPr lang="zh-CN" altLang="en-US" sz="2000" dirty="0"/>
              <a:t>ECDSA key fingerprint is MD5:13:71</a:t>
            </a:r>
            <a:r>
              <a:rPr lang="zh-CN" altLang="en-US" sz="2000" dirty="0" smtClean="0"/>
              <a:t>:1</a:t>
            </a:r>
            <a:r>
              <a:rPr lang="zh-CN" altLang="en-US" sz="2000" dirty="0"/>
              <a:t>a:b9:0a:02:67:55:11:fb:57.</a:t>
            </a:r>
          </a:p>
          <a:p>
            <a:r>
              <a:rPr lang="zh-CN" altLang="en-US" sz="2000" dirty="0"/>
              <a:t>Are you sure you want to continue connecting (yes/no)? yes</a:t>
            </a:r>
          </a:p>
          <a:p>
            <a:r>
              <a:rPr lang="zh-CN" altLang="en-US" sz="2000" dirty="0"/>
              <a:t>Warning: Permanently added '192.168.181.132' (ECDSA) to the list of known hosts.</a:t>
            </a:r>
          </a:p>
          <a:p>
            <a:r>
              <a:rPr lang="zh-CN" altLang="en-US" sz="2000" dirty="0"/>
              <a:t>root@192.168.181.132's password: </a:t>
            </a:r>
          </a:p>
          <a:p>
            <a:r>
              <a:rPr lang="zh-CN" altLang="en-US" sz="2000" dirty="0"/>
              <a:t>Connected to 192.168.181.132.</a:t>
            </a:r>
          </a:p>
          <a:p>
            <a:r>
              <a:rPr lang="zh-CN" altLang="en-US" sz="2000" dirty="0">
                <a:solidFill>
                  <a:srgbClr val="0000FF"/>
                </a:solidFill>
              </a:rPr>
              <a:t>sftp&gt; </a:t>
            </a:r>
            <a:r>
              <a:rPr lang="zh-CN" altLang="en-US" sz="2000" dirty="0"/>
              <a:t>lls</a:t>
            </a:r>
          </a:p>
          <a:p>
            <a:r>
              <a:rPr lang="zh-CN" altLang="en-US" sz="2000" dirty="0"/>
              <a:t>anaconda-ks.cfg  file  initial-setup-ks.cfg  mydir</a:t>
            </a:r>
          </a:p>
          <a:p>
            <a:r>
              <a:rPr lang="zh-CN" altLang="en-US" sz="2000" dirty="0">
                <a:solidFill>
                  <a:srgbClr val="0000FF"/>
                </a:solidFill>
              </a:rPr>
              <a:t>sftp&gt; </a:t>
            </a:r>
            <a:r>
              <a:rPr lang="zh-CN" altLang="en-US" sz="2000" dirty="0"/>
              <a:t>ls</a:t>
            </a:r>
          </a:p>
          <a:p>
            <a:r>
              <a:rPr lang="zh-CN" altLang="en-US" sz="2000" dirty="0"/>
              <a:t>Desktop                      Documents                    Downloads                    </a:t>
            </a:r>
          </a:p>
          <a:p>
            <a:r>
              <a:rPr lang="zh-CN" altLang="en-US" sz="2000" dirty="0" smtClean="0"/>
              <a:t>Public                       </a:t>
            </a:r>
            <a:r>
              <a:rPr lang="zh-CN" altLang="en-US" sz="2000" dirty="0"/>
              <a:t>Python-3.5.0                 Python-3.5.0.tgz             </a:t>
            </a:r>
          </a:p>
          <a:p>
            <a:r>
              <a:rPr lang="en-US" altLang="zh-CN" sz="2000" dirty="0" smtClean="0"/>
              <a:t>…</a:t>
            </a:r>
            <a:endParaRPr lang="zh-CN" altLang="en-US" sz="2000" dirty="0"/>
          </a:p>
          <a:p>
            <a:r>
              <a:rPr lang="zh-CN" altLang="en-US" sz="2000" dirty="0">
                <a:solidFill>
                  <a:srgbClr val="0000FF"/>
                </a:solidFill>
              </a:rPr>
              <a:t>sftp&gt; </a:t>
            </a:r>
            <a:r>
              <a:rPr lang="zh-CN" altLang="en-US" sz="2000" dirty="0"/>
              <a:t>pwd</a:t>
            </a:r>
          </a:p>
          <a:p>
            <a:r>
              <a:rPr lang="zh-CN" altLang="en-US" sz="2000" dirty="0"/>
              <a:t>Remote working directory: /root</a:t>
            </a:r>
          </a:p>
          <a:p>
            <a:r>
              <a:rPr lang="zh-CN" altLang="en-US" sz="2000" dirty="0"/>
              <a:t>sftp&gt; lpwd</a:t>
            </a:r>
          </a:p>
          <a:p>
            <a:r>
              <a:rPr lang="zh-CN" altLang="en-US" sz="2000" dirty="0"/>
              <a:t>Local working directory: /root</a:t>
            </a:r>
          </a:p>
          <a:p>
            <a:r>
              <a:rPr lang="zh-CN" altLang="en-US" sz="2000" dirty="0">
                <a:solidFill>
                  <a:srgbClr val="0000FF"/>
                </a:solidFill>
              </a:rPr>
              <a:t>sftp&gt; </a:t>
            </a:r>
          </a:p>
        </p:txBody>
      </p:sp>
    </p:spTree>
    <p:extLst>
      <p:ext uri="{BB962C8B-B14F-4D97-AF65-F5344CB8AC3E}">
        <p14:creationId xmlns:p14="http://schemas.microsoft.com/office/powerpoint/2010/main" val="15420904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38257" y="908720"/>
            <a:ext cx="8892480" cy="563231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altLang="zh-CN" sz="2000" dirty="0" err="1">
                <a:solidFill>
                  <a:srgbClr val="0000FF"/>
                </a:solidFill>
              </a:rPr>
              <a:t>sftp</a:t>
            </a:r>
            <a:r>
              <a:rPr lang="en-US" altLang="zh-CN" sz="2000" dirty="0">
                <a:solidFill>
                  <a:srgbClr val="0000FF"/>
                </a:solidFill>
              </a:rPr>
              <a:t>&gt; help</a:t>
            </a:r>
          </a:p>
          <a:p>
            <a:r>
              <a:rPr lang="en-US" altLang="zh-CN" sz="2000" dirty="0">
                <a:solidFill>
                  <a:schemeClr val="tx1"/>
                </a:solidFill>
              </a:rPr>
              <a:t>Available commands:</a:t>
            </a:r>
          </a:p>
          <a:p>
            <a:r>
              <a:rPr lang="en-US" altLang="zh-CN" sz="2000" dirty="0">
                <a:solidFill>
                  <a:schemeClr val="tx1"/>
                </a:solidFill>
              </a:rPr>
              <a:t>bye                                Quit </a:t>
            </a:r>
            <a:r>
              <a:rPr lang="en-US" altLang="zh-CN" sz="2000" dirty="0" err="1">
                <a:solidFill>
                  <a:schemeClr val="tx1"/>
                </a:solidFill>
              </a:rPr>
              <a:t>sftp</a:t>
            </a:r>
            <a:endParaRPr lang="en-US" altLang="zh-CN" sz="2000" dirty="0">
              <a:solidFill>
                <a:schemeClr val="tx1"/>
              </a:solidFill>
            </a:endParaRPr>
          </a:p>
          <a:p>
            <a:r>
              <a:rPr lang="en-US" altLang="zh-CN" sz="2000" dirty="0">
                <a:solidFill>
                  <a:schemeClr val="tx1"/>
                </a:solidFill>
              </a:rPr>
              <a:t>cd path                            Change remote directory to 'path'</a:t>
            </a:r>
          </a:p>
          <a:p>
            <a:r>
              <a:rPr lang="en-US" altLang="zh-CN" sz="2000" dirty="0" err="1">
                <a:solidFill>
                  <a:schemeClr val="tx1"/>
                </a:solidFill>
              </a:rPr>
              <a:t>chgrp</a:t>
            </a:r>
            <a:r>
              <a:rPr lang="en-US" altLang="zh-CN" sz="2000" dirty="0">
                <a:solidFill>
                  <a:schemeClr val="tx1"/>
                </a:solidFill>
              </a:rPr>
              <a:t> grp path                     Change group of file 'path' to 'grp'</a:t>
            </a:r>
          </a:p>
          <a:p>
            <a:r>
              <a:rPr lang="en-US" altLang="zh-CN" sz="2000" dirty="0" err="1">
                <a:solidFill>
                  <a:schemeClr val="tx1"/>
                </a:solidFill>
              </a:rPr>
              <a:t>chmod</a:t>
            </a:r>
            <a:r>
              <a:rPr lang="en-US" altLang="zh-CN" sz="2000" dirty="0">
                <a:solidFill>
                  <a:schemeClr val="tx1"/>
                </a:solidFill>
              </a:rPr>
              <a:t> mode path                    Change permissions of file 'path' to 'mode'</a:t>
            </a:r>
          </a:p>
          <a:p>
            <a:r>
              <a:rPr lang="en-US" altLang="zh-CN" sz="2000" dirty="0" err="1">
                <a:solidFill>
                  <a:schemeClr val="tx1"/>
                </a:solidFill>
              </a:rPr>
              <a:t>chown</a:t>
            </a:r>
            <a:r>
              <a:rPr lang="en-US" altLang="zh-CN" sz="2000" dirty="0">
                <a:solidFill>
                  <a:schemeClr val="tx1"/>
                </a:solidFill>
              </a:rPr>
              <a:t> own path                     Change owner of file 'path' to 'own'</a:t>
            </a:r>
          </a:p>
          <a:p>
            <a:r>
              <a:rPr lang="en-US" altLang="zh-CN" sz="2000" dirty="0" err="1">
                <a:solidFill>
                  <a:schemeClr val="tx1"/>
                </a:solidFill>
              </a:rPr>
              <a:t>df</a:t>
            </a:r>
            <a:r>
              <a:rPr lang="en-US" altLang="zh-CN" sz="2000" dirty="0">
                <a:solidFill>
                  <a:schemeClr val="tx1"/>
                </a:solidFill>
              </a:rPr>
              <a:t> [-hi] [path]                    Display statistics for current directory or</a:t>
            </a:r>
          </a:p>
          <a:p>
            <a:r>
              <a:rPr lang="en-US" altLang="zh-CN" sz="2000" dirty="0">
                <a:solidFill>
                  <a:schemeClr val="tx1"/>
                </a:solidFill>
              </a:rPr>
              <a:t>                                   </a:t>
            </a:r>
            <a:r>
              <a:rPr lang="en-US" altLang="zh-CN" sz="2000" dirty="0" err="1">
                <a:solidFill>
                  <a:schemeClr val="tx1"/>
                </a:solidFill>
              </a:rPr>
              <a:t>filesystem</a:t>
            </a:r>
            <a:r>
              <a:rPr lang="en-US" altLang="zh-CN" sz="2000" dirty="0">
                <a:solidFill>
                  <a:schemeClr val="tx1"/>
                </a:solidFill>
              </a:rPr>
              <a:t> containing 'path'</a:t>
            </a:r>
          </a:p>
          <a:p>
            <a:r>
              <a:rPr lang="en-US" altLang="zh-CN" sz="2000" dirty="0">
                <a:solidFill>
                  <a:schemeClr val="tx1"/>
                </a:solidFill>
              </a:rPr>
              <a:t>exit                               Quit </a:t>
            </a:r>
            <a:r>
              <a:rPr lang="en-US" altLang="zh-CN" sz="2000" dirty="0" err="1" smtClean="0">
                <a:solidFill>
                  <a:schemeClr val="tx1"/>
                </a:solidFill>
              </a:rPr>
              <a:t>sftp</a:t>
            </a:r>
            <a:endParaRPr lang="en-US" altLang="zh-CN" sz="2000" dirty="0" smtClean="0">
              <a:solidFill>
                <a:schemeClr val="tx1"/>
              </a:solidFill>
            </a:endParaRPr>
          </a:p>
          <a:p>
            <a:r>
              <a:rPr lang="en-US" altLang="zh-CN" sz="2000" dirty="0">
                <a:solidFill>
                  <a:srgbClr val="FF0000"/>
                </a:solidFill>
              </a:rPr>
              <a:t>get [-</a:t>
            </a:r>
            <a:r>
              <a:rPr lang="en-US" altLang="zh-CN" sz="2000" dirty="0" err="1">
                <a:solidFill>
                  <a:srgbClr val="FF0000"/>
                </a:solidFill>
              </a:rPr>
              <a:t>afPpRr</a:t>
            </a:r>
            <a:r>
              <a:rPr lang="en-US" altLang="zh-CN" sz="2000" dirty="0">
                <a:solidFill>
                  <a:srgbClr val="FF0000"/>
                </a:solidFill>
              </a:rPr>
              <a:t>] remote [local]       Download file</a:t>
            </a:r>
          </a:p>
          <a:p>
            <a:r>
              <a:rPr lang="en-US" altLang="zh-CN" sz="2000" dirty="0" err="1">
                <a:solidFill>
                  <a:schemeClr val="tx1"/>
                </a:solidFill>
              </a:rPr>
              <a:t>reget</a:t>
            </a:r>
            <a:r>
              <a:rPr lang="en-US" altLang="zh-CN" sz="2000" dirty="0">
                <a:solidFill>
                  <a:schemeClr val="tx1"/>
                </a:solidFill>
              </a:rPr>
              <a:t> [-</a:t>
            </a:r>
            <a:r>
              <a:rPr lang="en-US" altLang="zh-CN" sz="2000" dirty="0" err="1">
                <a:solidFill>
                  <a:schemeClr val="tx1"/>
                </a:solidFill>
              </a:rPr>
              <a:t>fPpRr</a:t>
            </a:r>
            <a:r>
              <a:rPr lang="en-US" altLang="zh-CN" sz="2000" dirty="0">
                <a:solidFill>
                  <a:schemeClr val="tx1"/>
                </a:solidFill>
              </a:rPr>
              <a:t>] remote [local]      Resume download file</a:t>
            </a:r>
          </a:p>
          <a:p>
            <a:r>
              <a:rPr lang="en-US" altLang="zh-CN" sz="2000" dirty="0" err="1">
                <a:solidFill>
                  <a:schemeClr val="tx1"/>
                </a:solidFill>
              </a:rPr>
              <a:t>reput</a:t>
            </a:r>
            <a:r>
              <a:rPr lang="en-US" altLang="zh-CN" sz="2000" dirty="0">
                <a:solidFill>
                  <a:schemeClr val="tx1"/>
                </a:solidFill>
              </a:rPr>
              <a:t> [-</a:t>
            </a:r>
            <a:r>
              <a:rPr lang="en-US" altLang="zh-CN" sz="2000" dirty="0" err="1">
                <a:solidFill>
                  <a:schemeClr val="tx1"/>
                </a:solidFill>
              </a:rPr>
              <a:t>fPpRr</a:t>
            </a:r>
            <a:r>
              <a:rPr lang="en-US" altLang="zh-CN" sz="2000" dirty="0">
                <a:solidFill>
                  <a:schemeClr val="tx1"/>
                </a:solidFill>
              </a:rPr>
              <a:t>] [local] remote      Resume upload file</a:t>
            </a:r>
          </a:p>
          <a:p>
            <a:r>
              <a:rPr lang="en-US" altLang="zh-CN" sz="2000" dirty="0">
                <a:solidFill>
                  <a:schemeClr val="tx1"/>
                </a:solidFill>
              </a:rPr>
              <a:t>help                               Display this help text</a:t>
            </a:r>
          </a:p>
          <a:p>
            <a:r>
              <a:rPr lang="en-US" altLang="zh-CN" sz="2000" dirty="0" err="1">
                <a:solidFill>
                  <a:schemeClr val="tx1"/>
                </a:solidFill>
              </a:rPr>
              <a:t>lcd</a:t>
            </a:r>
            <a:r>
              <a:rPr lang="en-US" altLang="zh-CN" sz="2000" dirty="0">
                <a:solidFill>
                  <a:schemeClr val="tx1"/>
                </a:solidFill>
              </a:rPr>
              <a:t> path                           Change local directory to 'path'</a:t>
            </a:r>
          </a:p>
          <a:p>
            <a:r>
              <a:rPr lang="en-US" altLang="zh-CN" sz="2000" dirty="0" err="1">
                <a:solidFill>
                  <a:schemeClr val="tx1"/>
                </a:solidFill>
              </a:rPr>
              <a:t>lls</a:t>
            </a:r>
            <a:r>
              <a:rPr lang="en-US" altLang="zh-CN" sz="2000" dirty="0">
                <a:solidFill>
                  <a:schemeClr val="tx1"/>
                </a:solidFill>
              </a:rPr>
              <a:t> [ls-options [path]]            Display local directory listing</a:t>
            </a:r>
          </a:p>
          <a:p>
            <a:r>
              <a:rPr lang="en-US" altLang="zh-CN" sz="2000" dirty="0" err="1">
                <a:solidFill>
                  <a:schemeClr val="tx1"/>
                </a:solidFill>
              </a:rPr>
              <a:t>lmkdir</a:t>
            </a:r>
            <a:r>
              <a:rPr lang="en-US" altLang="zh-CN" sz="2000" dirty="0">
                <a:solidFill>
                  <a:schemeClr val="tx1"/>
                </a:solidFill>
              </a:rPr>
              <a:t> path                        Create local directory</a:t>
            </a:r>
          </a:p>
          <a:p>
            <a:endParaRPr lang="en-US" altLang="zh-CN" sz="2000" dirty="0">
              <a:solidFill>
                <a:schemeClr val="tx1"/>
              </a:solidFill>
            </a:endParaRPr>
          </a:p>
        </p:txBody>
      </p:sp>
    </p:spTree>
    <p:extLst>
      <p:ext uri="{BB962C8B-B14F-4D97-AF65-F5344CB8AC3E}">
        <p14:creationId xmlns:p14="http://schemas.microsoft.com/office/powerpoint/2010/main" val="33104721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188640"/>
            <a:ext cx="8892480" cy="624786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altLang="zh-CN" sz="2000" dirty="0" err="1" smtClean="0">
                <a:solidFill>
                  <a:schemeClr val="tx1"/>
                </a:solidFill>
              </a:rPr>
              <a:t>lcd</a:t>
            </a:r>
            <a:r>
              <a:rPr lang="en-US" altLang="zh-CN" sz="2000" dirty="0" smtClean="0">
                <a:solidFill>
                  <a:schemeClr val="tx1"/>
                </a:solidFill>
              </a:rPr>
              <a:t> </a:t>
            </a:r>
            <a:r>
              <a:rPr lang="en-US" altLang="zh-CN" sz="2000" dirty="0">
                <a:solidFill>
                  <a:schemeClr val="tx1"/>
                </a:solidFill>
              </a:rPr>
              <a:t>path                           Change local directory to 'path'</a:t>
            </a:r>
          </a:p>
          <a:p>
            <a:r>
              <a:rPr lang="en-US" altLang="zh-CN" sz="2000" dirty="0" err="1">
                <a:solidFill>
                  <a:srgbClr val="FF0000"/>
                </a:solidFill>
              </a:rPr>
              <a:t>lls</a:t>
            </a:r>
            <a:r>
              <a:rPr lang="en-US" altLang="zh-CN" sz="2000" dirty="0">
                <a:solidFill>
                  <a:srgbClr val="FF0000"/>
                </a:solidFill>
              </a:rPr>
              <a:t> [ls-options [path]]            Display local directory listing</a:t>
            </a:r>
          </a:p>
          <a:p>
            <a:r>
              <a:rPr lang="en-US" altLang="zh-CN" sz="2000" dirty="0" err="1">
                <a:solidFill>
                  <a:schemeClr val="tx1"/>
                </a:solidFill>
              </a:rPr>
              <a:t>lmkdir</a:t>
            </a:r>
            <a:r>
              <a:rPr lang="en-US" altLang="zh-CN" sz="2000" dirty="0">
                <a:solidFill>
                  <a:schemeClr val="tx1"/>
                </a:solidFill>
              </a:rPr>
              <a:t> path                        Create local directory</a:t>
            </a:r>
          </a:p>
          <a:p>
            <a:r>
              <a:rPr lang="en-US" altLang="zh-CN" sz="2000" dirty="0">
                <a:solidFill>
                  <a:schemeClr val="tx1"/>
                </a:solidFill>
              </a:rPr>
              <a:t>ln [-s] </a:t>
            </a:r>
            <a:r>
              <a:rPr lang="en-US" altLang="zh-CN" sz="2000" dirty="0" err="1">
                <a:solidFill>
                  <a:schemeClr val="tx1"/>
                </a:solidFill>
              </a:rPr>
              <a:t>oldpath</a:t>
            </a:r>
            <a:r>
              <a:rPr lang="en-US" altLang="zh-CN" sz="2000" dirty="0">
                <a:solidFill>
                  <a:schemeClr val="tx1"/>
                </a:solidFill>
              </a:rPr>
              <a:t> </a:t>
            </a:r>
            <a:r>
              <a:rPr lang="en-US" altLang="zh-CN" sz="2000" dirty="0" err="1">
                <a:solidFill>
                  <a:schemeClr val="tx1"/>
                </a:solidFill>
              </a:rPr>
              <a:t>newpath</a:t>
            </a:r>
            <a:r>
              <a:rPr lang="en-US" altLang="zh-CN" sz="2000" dirty="0">
                <a:solidFill>
                  <a:schemeClr val="tx1"/>
                </a:solidFill>
              </a:rPr>
              <a:t>            Link remote file (-s for </a:t>
            </a:r>
            <a:r>
              <a:rPr lang="en-US" altLang="zh-CN" sz="2000" dirty="0" err="1">
                <a:solidFill>
                  <a:schemeClr val="tx1"/>
                </a:solidFill>
              </a:rPr>
              <a:t>symlink</a:t>
            </a:r>
            <a:r>
              <a:rPr lang="en-US" altLang="zh-CN" sz="2000" dirty="0">
                <a:solidFill>
                  <a:schemeClr val="tx1"/>
                </a:solidFill>
              </a:rPr>
              <a:t>)</a:t>
            </a:r>
          </a:p>
          <a:p>
            <a:r>
              <a:rPr lang="en-US" altLang="zh-CN" sz="2000" dirty="0" err="1">
                <a:solidFill>
                  <a:schemeClr val="tx1"/>
                </a:solidFill>
              </a:rPr>
              <a:t>lpwd</a:t>
            </a:r>
            <a:r>
              <a:rPr lang="en-US" altLang="zh-CN" sz="2000" dirty="0">
                <a:solidFill>
                  <a:schemeClr val="tx1"/>
                </a:solidFill>
              </a:rPr>
              <a:t>                               Print local working directory</a:t>
            </a:r>
          </a:p>
          <a:p>
            <a:r>
              <a:rPr lang="en-US" altLang="zh-CN" sz="2000" dirty="0">
                <a:solidFill>
                  <a:srgbClr val="FF0000"/>
                </a:solidFill>
              </a:rPr>
              <a:t>ls [-1afhlnrSt] [path]             Display remote directory listing</a:t>
            </a:r>
          </a:p>
          <a:p>
            <a:r>
              <a:rPr lang="en-US" altLang="zh-CN" sz="2000" dirty="0" err="1">
                <a:solidFill>
                  <a:schemeClr val="tx1"/>
                </a:solidFill>
              </a:rPr>
              <a:t>lumask</a:t>
            </a:r>
            <a:r>
              <a:rPr lang="en-US" altLang="zh-CN" sz="2000" dirty="0">
                <a:solidFill>
                  <a:schemeClr val="tx1"/>
                </a:solidFill>
              </a:rPr>
              <a:t> </a:t>
            </a:r>
            <a:r>
              <a:rPr lang="en-US" altLang="zh-CN" sz="2000" dirty="0" err="1">
                <a:solidFill>
                  <a:schemeClr val="tx1"/>
                </a:solidFill>
              </a:rPr>
              <a:t>umask</a:t>
            </a:r>
            <a:r>
              <a:rPr lang="en-US" altLang="zh-CN" sz="2000" dirty="0">
                <a:solidFill>
                  <a:schemeClr val="tx1"/>
                </a:solidFill>
              </a:rPr>
              <a:t>                       Set local </a:t>
            </a:r>
            <a:r>
              <a:rPr lang="en-US" altLang="zh-CN" sz="2000" dirty="0" err="1">
                <a:solidFill>
                  <a:schemeClr val="tx1"/>
                </a:solidFill>
              </a:rPr>
              <a:t>umask</a:t>
            </a:r>
            <a:r>
              <a:rPr lang="en-US" altLang="zh-CN" sz="2000" dirty="0">
                <a:solidFill>
                  <a:schemeClr val="tx1"/>
                </a:solidFill>
              </a:rPr>
              <a:t> to '</a:t>
            </a:r>
            <a:r>
              <a:rPr lang="en-US" altLang="zh-CN" sz="2000" dirty="0" err="1">
                <a:solidFill>
                  <a:schemeClr val="tx1"/>
                </a:solidFill>
              </a:rPr>
              <a:t>umask</a:t>
            </a:r>
            <a:r>
              <a:rPr lang="en-US" altLang="zh-CN" sz="2000" dirty="0">
                <a:solidFill>
                  <a:schemeClr val="tx1"/>
                </a:solidFill>
              </a:rPr>
              <a:t>'</a:t>
            </a:r>
          </a:p>
          <a:p>
            <a:r>
              <a:rPr lang="en-US" altLang="zh-CN" sz="2000" dirty="0" err="1">
                <a:solidFill>
                  <a:schemeClr val="tx1"/>
                </a:solidFill>
              </a:rPr>
              <a:t>mkdir</a:t>
            </a:r>
            <a:r>
              <a:rPr lang="en-US" altLang="zh-CN" sz="2000" dirty="0">
                <a:solidFill>
                  <a:schemeClr val="tx1"/>
                </a:solidFill>
              </a:rPr>
              <a:t> path                         Create remote directory</a:t>
            </a:r>
          </a:p>
          <a:p>
            <a:r>
              <a:rPr lang="en-US" altLang="zh-CN" sz="2000" dirty="0">
                <a:solidFill>
                  <a:schemeClr val="tx1"/>
                </a:solidFill>
              </a:rPr>
              <a:t>progress                           Toggle display of progress meter</a:t>
            </a:r>
          </a:p>
          <a:p>
            <a:r>
              <a:rPr lang="en-US" altLang="zh-CN" sz="2000" dirty="0">
                <a:solidFill>
                  <a:srgbClr val="FF0000"/>
                </a:solidFill>
              </a:rPr>
              <a:t>put [-</a:t>
            </a:r>
            <a:r>
              <a:rPr lang="en-US" altLang="zh-CN" sz="2000" dirty="0" err="1">
                <a:solidFill>
                  <a:srgbClr val="FF0000"/>
                </a:solidFill>
              </a:rPr>
              <a:t>afPpRr</a:t>
            </a:r>
            <a:r>
              <a:rPr lang="en-US" altLang="zh-CN" sz="2000" dirty="0">
                <a:solidFill>
                  <a:srgbClr val="FF0000"/>
                </a:solidFill>
              </a:rPr>
              <a:t>] local [remote]       Upload file</a:t>
            </a:r>
          </a:p>
          <a:p>
            <a:r>
              <a:rPr lang="en-US" altLang="zh-CN" sz="2000" dirty="0" err="1">
                <a:solidFill>
                  <a:schemeClr val="tx1"/>
                </a:solidFill>
              </a:rPr>
              <a:t>pwd</a:t>
            </a:r>
            <a:r>
              <a:rPr lang="en-US" altLang="zh-CN" sz="2000" dirty="0">
                <a:solidFill>
                  <a:schemeClr val="tx1"/>
                </a:solidFill>
              </a:rPr>
              <a:t>                                Display remote working directory</a:t>
            </a:r>
          </a:p>
          <a:p>
            <a:r>
              <a:rPr lang="en-US" altLang="zh-CN" sz="2000" dirty="0">
                <a:solidFill>
                  <a:schemeClr val="tx1"/>
                </a:solidFill>
              </a:rPr>
              <a:t>quit                               </a:t>
            </a:r>
            <a:r>
              <a:rPr lang="en-US" altLang="zh-CN" sz="2000" dirty="0" err="1">
                <a:solidFill>
                  <a:schemeClr val="tx1"/>
                </a:solidFill>
              </a:rPr>
              <a:t>Quit</a:t>
            </a:r>
            <a:r>
              <a:rPr lang="en-US" altLang="zh-CN" sz="2000" dirty="0">
                <a:solidFill>
                  <a:schemeClr val="tx1"/>
                </a:solidFill>
              </a:rPr>
              <a:t> </a:t>
            </a:r>
            <a:r>
              <a:rPr lang="en-US" altLang="zh-CN" sz="2000" dirty="0" err="1">
                <a:solidFill>
                  <a:schemeClr val="tx1"/>
                </a:solidFill>
              </a:rPr>
              <a:t>sftp</a:t>
            </a:r>
            <a:endParaRPr lang="en-US" altLang="zh-CN" sz="2000" dirty="0">
              <a:solidFill>
                <a:schemeClr val="tx1"/>
              </a:solidFill>
            </a:endParaRPr>
          </a:p>
          <a:p>
            <a:r>
              <a:rPr lang="en-US" altLang="zh-CN" sz="2000" dirty="0">
                <a:solidFill>
                  <a:schemeClr val="tx1"/>
                </a:solidFill>
              </a:rPr>
              <a:t>rename </a:t>
            </a:r>
            <a:r>
              <a:rPr lang="en-US" altLang="zh-CN" sz="2000" dirty="0" err="1">
                <a:solidFill>
                  <a:schemeClr val="tx1"/>
                </a:solidFill>
              </a:rPr>
              <a:t>oldpath</a:t>
            </a:r>
            <a:r>
              <a:rPr lang="en-US" altLang="zh-CN" sz="2000" dirty="0">
                <a:solidFill>
                  <a:schemeClr val="tx1"/>
                </a:solidFill>
              </a:rPr>
              <a:t> </a:t>
            </a:r>
            <a:r>
              <a:rPr lang="en-US" altLang="zh-CN" sz="2000" dirty="0" err="1">
                <a:solidFill>
                  <a:schemeClr val="tx1"/>
                </a:solidFill>
              </a:rPr>
              <a:t>newpath</a:t>
            </a:r>
            <a:r>
              <a:rPr lang="en-US" altLang="zh-CN" sz="2000" dirty="0">
                <a:solidFill>
                  <a:schemeClr val="tx1"/>
                </a:solidFill>
              </a:rPr>
              <a:t>             Rename remote file</a:t>
            </a:r>
          </a:p>
          <a:p>
            <a:r>
              <a:rPr lang="en-US" altLang="zh-CN" sz="2000" dirty="0" err="1">
                <a:solidFill>
                  <a:schemeClr val="tx1"/>
                </a:solidFill>
              </a:rPr>
              <a:t>rm</a:t>
            </a:r>
            <a:r>
              <a:rPr lang="en-US" altLang="zh-CN" sz="2000" dirty="0">
                <a:solidFill>
                  <a:schemeClr val="tx1"/>
                </a:solidFill>
              </a:rPr>
              <a:t> path                            Delete remote file</a:t>
            </a:r>
          </a:p>
          <a:p>
            <a:r>
              <a:rPr lang="en-US" altLang="zh-CN" sz="2000" dirty="0" err="1">
                <a:solidFill>
                  <a:schemeClr val="tx1"/>
                </a:solidFill>
              </a:rPr>
              <a:t>rmdir</a:t>
            </a:r>
            <a:r>
              <a:rPr lang="en-US" altLang="zh-CN" sz="2000" dirty="0">
                <a:solidFill>
                  <a:schemeClr val="tx1"/>
                </a:solidFill>
              </a:rPr>
              <a:t> path                         Remove remote directory</a:t>
            </a:r>
          </a:p>
          <a:p>
            <a:r>
              <a:rPr lang="en-US" altLang="zh-CN" sz="2000" dirty="0" err="1">
                <a:solidFill>
                  <a:schemeClr val="tx1"/>
                </a:solidFill>
              </a:rPr>
              <a:t>symlink</a:t>
            </a:r>
            <a:r>
              <a:rPr lang="en-US" altLang="zh-CN" sz="2000" dirty="0">
                <a:solidFill>
                  <a:schemeClr val="tx1"/>
                </a:solidFill>
              </a:rPr>
              <a:t> </a:t>
            </a:r>
            <a:r>
              <a:rPr lang="en-US" altLang="zh-CN" sz="2000" dirty="0" err="1">
                <a:solidFill>
                  <a:schemeClr val="tx1"/>
                </a:solidFill>
              </a:rPr>
              <a:t>oldpath</a:t>
            </a:r>
            <a:r>
              <a:rPr lang="en-US" altLang="zh-CN" sz="2000" dirty="0">
                <a:solidFill>
                  <a:schemeClr val="tx1"/>
                </a:solidFill>
              </a:rPr>
              <a:t> </a:t>
            </a:r>
            <a:r>
              <a:rPr lang="en-US" altLang="zh-CN" sz="2000" dirty="0" err="1">
                <a:solidFill>
                  <a:schemeClr val="tx1"/>
                </a:solidFill>
              </a:rPr>
              <a:t>newpath</a:t>
            </a:r>
            <a:r>
              <a:rPr lang="en-US" altLang="zh-CN" sz="2000" dirty="0">
                <a:solidFill>
                  <a:schemeClr val="tx1"/>
                </a:solidFill>
              </a:rPr>
              <a:t>            </a:t>
            </a:r>
            <a:r>
              <a:rPr lang="en-US" altLang="zh-CN" sz="2000" dirty="0" err="1">
                <a:solidFill>
                  <a:schemeClr val="tx1"/>
                </a:solidFill>
              </a:rPr>
              <a:t>Symlink</a:t>
            </a:r>
            <a:r>
              <a:rPr lang="en-US" altLang="zh-CN" sz="2000" dirty="0">
                <a:solidFill>
                  <a:schemeClr val="tx1"/>
                </a:solidFill>
              </a:rPr>
              <a:t> remote file</a:t>
            </a:r>
          </a:p>
          <a:p>
            <a:r>
              <a:rPr lang="en-US" altLang="zh-CN" sz="2000" dirty="0">
                <a:solidFill>
                  <a:schemeClr val="tx1"/>
                </a:solidFill>
              </a:rPr>
              <a:t>version                            Show SFTP version</a:t>
            </a:r>
          </a:p>
          <a:p>
            <a:r>
              <a:rPr lang="en-US" altLang="zh-CN" sz="2000" dirty="0">
                <a:solidFill>
                  <a:schemeClr val="tx1"/>
                </a:solidFill>
              </a:rPr>
              <a:t>!command                           Execute 'command' in local shell</a:t>
            </a:r>
          </a:p>
          <a:p>
            <a:r>
              <a:rPr lang="en-US" altLang="zh-CN" sz="2000" dirty="0">
                <a:solidFill>
                  <a:schemeClr val="tx1"/>
                </a:solidFill>
              </a:rPr>
              <a:t>!                                  Escape to local shell</a:t>
            </a:r>
          </a:p>
          <a:p>
            <a:r>
              <a:rPr lang="en-US" altLang="zh-CN" sz="2000" dirty="0">
                <a:solidFill>
                  <a:schemeClr val="tx1"/>
                </a:solidFill>
              </a:rPr>
              <a:t>?                                  Synonym for help</a:t>
            </a:r>
          </a:p>
        </p:txBody>
      </p:sp>
    </p:spTree>
    <p:extLst>
      <p:ext uri="{BB962C8B-B14F-4D97-AF65-F5344CB8AC3E}">
        <p14:creationId xmlns:p14="http://schemas.microsoft.com/office/powerpoint/2010/main" val="7599719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dirty="0"/>
              <a:t>思考</a:t>
            </a:r>
          </a:p>
        </p:txBody>
      </p:sp>
      <p:sp>
        <p:nvSpPr>
          <p:cNvPr id="108547" name="Rectangle 3"/>
          <p:cNvSpPr>
            <a:spLocks noGrp="1" noChangeArrowheads="1"/>
          </p:cNvSpPr>
          <p:nvPr>
            <p:ph idx="1"/>
          </p:nvPr>
        </p:nvSpPr>
        <p:spPr>
          <a:xfrm>
            <a:off x="426368" y="1732113"/>
            <a:ext cx="8291264" cy="4001144"/>
          </a:xfrm>
        </p:spPr>
        <p:txBody>
          <a:bodyPr/>
          <a:lstStyle/>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简述</a:t>
            </a:r>
            <a:r>
              <a:rPr lang="en-US" altLang="zh-CN" b="1" dirty="0">
                <a:solidFill>
                  <a:srgbClr val="C00000"/>
                </a:solidFill>
                <a:latin typeface="微软雅黑" panose="020B0503020204020204" pitchFamily="34" charset="-122"/>
                <a:ea typeface="微软雅黑" panose="020B0503020204020204" pitchFamily="34" charset="-122"/>
              </a:rPr>
              <a:t>TCP/IP</a:t>
            </a:r>
            <a:r>
              <a:rPr lang="zh-CN" altLang="en-US" b="1" dirty="0">
                <a:solidFill>
                  <a:srgbClr val="C00000"/>
                </a:solidFill>
                <a:latin typeface="微软雅黑" panose="020B0503020204020204" pitchFamily="34" charset="-122"/>
                <a:ea typeface="微软雅黑" panose="020B0503020204020204" pitchFamily="34" charset="-122"/>
              </a:rPr>
              <a:t>模型及协议栈。</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如何使用命令配置以太网接口？ </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简述路由类型？ </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简述</a:t>
            </a:r>
            <a:r>
              <a:rPr lang="en-US" altLang="zh-CN" b="1" dirty="0">
                <a:solidFill>
                  <a:srgbClr val="C00000"/>
                </a:solidFill>
                <a:latin typeface="微软雅黑" panose="020B0503020204020204" pitchFamily="34" charset="-122"/>
                <a:ea typeface="微软雅黑" panose="020B0503020204020204" pitchFamily="34" charset="-122"/>
              </a:rPr>
              <a:t>RHEL/CentOS</a:t>
            </a:r>
            <a:r>
              <a:rPr lang="zh-CN" altLang="en-US" b="1" dirty="0">
                <a:solidFill>
                  <a:srgbClr val="C00000"/>
                </a:solidFill>
                <a:latin typeface="微软雅黑" panose="020B0503020204020204" pitchFamily="34" charset="-122"/>
                <a:ea typeface="微软雅黑" panose="020B0503020204020204" pitchFamily="34" charset="-122"/>
              </a:rPr>
              <a:t>下的</a:t>
            </a:r>
            <a:r>
              <a:rPr lang="en-US" altLang="zh-CN" b="1" dirty="0">
                <a:solidFill>
                  <a:srgbClr val="C00000"/>
                </a:solidFill>
                <a:latin typeface="微软雅黑" panose="020B0503020204020204" pitchFamily="34" charset="-122"/>
                <a:ea typeface="微软雅黑" panose="020B0503020204020204" pitchFamily="34" charset="-122"/>
              </a:rPr>
              <a:t>TCP/IP</a:t>
            </a:r>
            <a:r>
              <a:rPr lang="zh-CN" altLang="en-US" b="1" dirty="0">
                <a:solidFill>
                  <a:srgbClr val="C00000"/>
                </a:solidFill>
                <a:latin typeface="微软雅黑" panose="020B0503020204020204" pitchFamily="34" charset="-122"/>
                <a:ea typeface="微软雅黑" panose="020B0503020204020204" pitchFamily="34" charset="-122"/>
              </a:rPr>
              <a:t>配置文件族。</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简述</a:t>
            </a:r>
            <a:r>
              <a:rPr lang="en-US" altLang="zh-CN" b="1" dirty="0">
                <a:solidFill>
                  <a:srgbClr val="C00000"/>
                </a:solidFill>
                <a:latin typeface="微软雅黑" panose="020B0503020204020204" pitchFamily="34" charset="-122"/>
                <a:ea typeface="微软雅黑" panose="020B0503020204020204" pitchFamily="34" charset="-122"/>
              </a:rPr>
              <a:t>Linux</a:t>
            </a:r>
            <a:r>
              <a:rPr lang="zh-CN" altLang="en-US" b="1" dirty="0">
                <a:solidFill>
                  <a:srgbClr val="C00000"/>
                </a:solidFill>
                <a:latin typeface="微软雅黑" panose="020B0503020204020204" pitchFamily="34" charset="-122"/>
                <a:ea typeface="微软雅黑" panose="020B0503020204020204" pitchFamily="34" charset="-122"/>
              </a:rPr>
              <a:t>下常用的网络服务和网络客户端。</a:t>
            </a:r>
            <a:endParaRPr lang="en-US" altLang="zh-CN"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380510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dirty="0" smtClean="0"/>
              <a:t>回顾</a:t>
            </a:r>
            <a:endParaRPr lang="zh-CN" altLang="en-US" dirty="0"/>
          </a:p>
        </p:txBody>
      </p:sp>
      <p:sp>
        <p:nvSpPr>
          <p:cNvPr id="2" name="矩形 1"/>
          <p:cNvSpPr/>
          <p:nvPr/>
        </p:nvSpPr>
        <p:spPr>
          <a:xfrm>
            <a:off x="683568" y="1628800"/>
            <a:ext cx="7992888" cy="4154984"/>
          </a:xfrm>
          <a:prstGeom prst="rect">
            <a:avLst/>
          </a:prstGeom>
        </p:spPr>
        <p:txBody>
          <a:bodyPr wrap="square">
            <a:spAutoFit/>
          </a:bodyPr>
          <a:lstStyle/>
          <a:p>
            <a:pPr marL="285750" indent="-285750" fontAlgn="ctr">
              <a:buFont typeface="Arial" panose="020B0604020202020204" pitchFamily="34" charset="0"/>
              <a:buChar char="•"/>
            </a:pPr>
            <a:r>
              <a:rPr lang="zh-CN" altLang="en-US" sz="2400" b="1" dirty="0"/>
              <a:t>网络</a:t>
            </a:r>
            <a:r>
              <a:rPr lang="zh-CN" altLang="en-US" sz="2400" b="1" dirty="0" smtClean="0"/>
              <a:t>接口名称 ：</a:t>
            </a:r>
            <a:r>
              <a:rPr lang="en-US" altLang="zh-CN" sz="2400" b="1" dirty="0" err="1" smtClean="0"/>
              <a:t>ethX</a:t>
            </a:r>
            <a:r>
              <a:rPr lang="zh-CN" altLang="en-US" sz="2400" b="1" dirty="0" smtClean="0"/>
              <a:t>、</a:t>
            </a:r>
            <a:r>
              <a:rPr lang="en-US" altLang="zh-CN" sz="2400" dirty="0" err="1" smtClean="0"/>
              <a:t>trX</a:t>
            </a:r>
            <a:r>
              <a:rPr lang="zh-CN" altLang="en-US" sz="2400" dirty="0" smtClean="0"/>
              <a:t>、</a:t>
            </a:r>
            <a:r>
              <a:rPr lang="en-US" altLang="zh-CN" sz="2400" dirty="0" err="1" smtClean="0"/>
              <a:t>fddiX</a:t>
            </a:r>
            <a:r>
              <a:rPr lang="zh-CN" altLang="en-US" sz="2400" dirty="0" smtClean="0"/>
              <a:t>、</a:t>
            </a:r>
            <a:r>
              <a:rPr lang="en-US" altLang="zh-CN" sz="2400" dirty="0" err="1" smtClean="0"/>
              <a:t>pppX</a:t>
            </a:r>
            <a:r>
              <a:rPr lang="zh-CN" altLang="en-US" sz="2400" dirty="0" smtClean="0"/>
              <a:t>、</a:t>
            </a:r>
            <a:r>
              <a:rPr lang="en-US" altLang="zh-CN" sz="2400" dirty="0" smtClean="0"/>
              <a:t>lo</a:t>
            </a:r>
            <a:endParaRPr lang="zh-CN" altLang="zh-CN" sz="2400" dirty="0"/>
          </a:p>
          <a:p>
            <a:pPr marL="285750" indent="-285750">
              <a:buFont typeface="Arial" panose="020B0604020202020204" pitchFamily="34" charset="0"/>
              <a:buChar char="•"/>
            </a:pPr>
            <a:r>
              <a:rPr lang="zh-CN" altLang="en-US" sz="2400" dirty="0" smtClean="0"/>
              <a:t>一致的网络设备</a:t>
            </a:r>
            <a:r>
              <a:rPr lang="zh-CN" altLang="en-US" sz="2400" dirty="0"/>
              <a:t>名</a:t>
            </a:r>
            <a:r>
              <a:rPr lang="zh-CN" altLang="en-US" sz="2400" dirty="0" smtClean="0"/>
              <a:t>：</a:t>
            </a:r>
            <a:endParaRPr lang="en-US" altLang="zh-CN" sz="2400" dirty="0" smtClean="0"/>
          </a:p>
          <a:p>
            <a:r>
              <a:rPr lang="zh-CN" altLang="en-US" sz="2400" dirty="0" smtClean="0"/>
              <a:t>以</a:t>
            </a:r>
            <a:r>
              <a:rPr lang="zh-CN" altLang="en-US" sz="2400" dirty="0"/>
              <a:t>双字符前缀开始：</a:t>
            </a:r>
          </a:p>
          <a:p>
            <a:r>
              <a:rPr lang="en-US" altLang="zh-CN" sz="2400" dirty="0" err="1"/>
              <a:t>en</a:t>
            </a:r>
            <a:r>
              <a:rPr lang="zh-CN" altLang="en-US" sz="2400" dirty="0"/>
              <a:t>：表示以太网设备（</a:t>
            </a:r>
            <a:r>
              <a:rPr lang="en-US" altLang="zh-CN" sz="2400" dirty="0" err="1"/>
              <a:t>EtherNet</a:t>
            </a:r>
            <a:r>
              <a:rPr lang="zh-CN" altLang="en-US" sz="2400" dirty="0"/>
              <a:t>）</a:t>
            </a:r>
          </a:p>
          <a:p>
            <a:r>
              <a:rPr lang="en-US" altLang="zh-CN" sz="2400" dirty="0" err="1"/>
              <a:t>wl</a:t>
            </a:r>
            <a:r>
              <a:rPr lang="zh-CN" altLang="en-US" sz="2400" dirty="0"/>
              <a:t>：表示无线局域网设备（</a:t>
            </a:r>
            <a:r>
              <a:rPr lang="en-US" altLang="zh-CN" sz="2400" dirty="0"/>
              <a:t>Wireless LAN</a:t>
            </a:r>
            <a:r>
              <a:rPr lang="zh-CN" altLang="en-US" sz="2400" dirty="0"/>
              <a:t>）</a:t>
            </a:r>
          </a:p>
          <a:p>
            <a:r>
              <a:rPr lang="en-US" altLang="zh-CN" sz="2400" dirty="0" err="1"/>
              <a:t>ww</a:t>
            </a:r>
            <a:r>
              <a:rPr lang="zh-CN" altLang="en-US" sz="2400" dirty="0"/>
              <a:t>：表示无线广域网设备（</a:t>
            </a:r>
            <a:r>
              <a:rPr lang="en-US" altLang="zh-CN" sz="2400" dirty="0"/>
              <a:t>Wireless WAN</a:t>
            </a:r>
            <a:r>
              <a:rPr lang="zh-CN" altLang="en-US" sz="2400" dirty="0"/>
              <a:t>）</a:t>
            </a:r>
          </a:p>
          <a:p>
            <a:r>
              <a:rPr lang="zh-CN" altLang="en-US" sz="2400" dirty="0"/>
              <a:t>随后的第三个字符用于区分不同的硬件类型</a:t>
            </a:r>
          </a:p>
          <a:p>
            <a:r>
              <a:rPr lang="en-US" altLang="zh-CN" sz="2400" dirty="0"/>
              <a:t>o</a:t>
            </a:r>
            <a:r>
              <a:rPr lang="zh-CN" altLang="en-US" sz="2400" dirty="0"/>
              <a:t>：表示主板板载设备（</a:t>
            </a:r>
            <a:r>
              <a:rPr lang="en-US" altLang="zh-CN" sz="2400" dirty="0"/>
              <a:t>Onboard device</a:t>
            </a:r>
            <a:r>
              <a:rPr lang="zh-CN" altLang="en-US" sz="2400" dirty="0"/>
              <a:t>）</a:t>
            </a:r>
          </a:p>
          <a:p>
            <a:r>
              <a:rPr lang="en-US" altLang="zh-CN" sz="2400" dirty="0"/>
              <a:t>s</a:t>
            </a:r>
            <a:r>
              <a:rPr lang="zh-CN" altLang="en-US" sz="2400" dirty="0"/>
              <a:t>：表示热插拔插槽上的设备（</a:t>
            </a:r>
            <a:r>
              <a:rPr lang="en-US" altLang="zh-CN" sz="2400" dirty="0"/>
              <a:t>hot-plug Slot</a:t>
            </a:r>
            <a:r>
              <a:rPr lang="zh-CN" altLang="en-US" sz="2400" dirty="0"/>
              <a:t>）</a:t>
            </a:r>
          </a:p>
          <a:p>
            <a:r>
              <a:rPr lang="en-US" altLang="zh-CN" sz="2400" dirty="0"/>
              <a:t>p</a:t>
            </a:r>
            <a:r>
              <a:rPr lang="zh-CN" altLang="en-US" sz="2400" dirty="0"/>
              <a:t>：表示</a:t>
            </a:r>
            <a:r>
              <a:rPr lang="en-US" altLang="zh-CN" sz="2400" dirty="0"/>
              <a:t>PCI</a:t>
            </a:r>
            <a:r>
              <a:rPr lang="zh-CN" altLang="en-US" sz="2400" dirty="0"/>
              <a:t>总线或</a:t>
            </a:r>
            <a:r>
              <a:rPr lang="en-US" altLang="zh-CN" sz="2400" dirty="0"/>
              <a:t>USB</a:t>
            </a:r>
            <a:r>
              <a:rPr lang="zh-CN" altLang="en-US" sz="2400" dirty="0"/>
              <a:t>接口上的设备（</a:t>
            </a:r>
            <a:r>
              <a:rPr lang="en-US" altLang="zh-CN" sz="2400" dirty="0"/>
              <a:t>PCI device</a:t>
            </a:r>
            <a:r>
              <a:rPr lang="zh-CN" altLang="en-US" sz="2400" dirty="0"/>
              <a:t>）</a:t>
            </a:r>
          </a:p>
          <a:p>
            <a:endParaRPr lang="en-US" altLang="zh-CN" sz="2400" dirty="0" smtClean="0"/>
          </a:p>
        </p:txBody>
      </p:sp>
    </p:spTree>
    <p:extLst>
      <p:ext uri="{BB962C8B-B14F-4D97-AF65-F5344CB8AC3E}">
        <p14:creationId xmlns:p14="http://schemas.microsoft.com/office/powerpoint/2010/main" val="20563210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dirty="0" smtClean="0"/>
              <a:t>回顾</a:t>
            </a:r>
            <a:endParaRPr lang="zh-CN" altLang="en-US" dirty="0"/>
          </a:p>
        </p:txBody>
      </p:sp>
      <p:sp>
        <p:nvSpPr>
          <p:cNvPr id="2" name="矩形 1"/>
          <p:cNvSpPr/>
          <p:nvPr/>
        </p:nvSpPr>
        <p:spPr>
          <a:xfrm>
            <a:off x="683568" y="1484784"/>
            <a:ext cx="8136904" cy="5262979"/>
          </a:xfrm>
          <a:prstGeom prst="rect">
            <a:avLst/>
          </a:prstGeom>
        </p:spPr>
        <p:txBody>
          <a:bodyPr wrap="square">
            <a:spAutoFit/>
          </a:bodyPr>
          <a:lstStyle/>
          <a:p>
            <a:pPr marL="285750" indent="-285750" fontAlgn="ctr">
              <a:buFont typeface="Arial" panose="020B0604020202020204" pitchFamily="34" charset="0"/>
              <a:buChar char="•"/>
            </a:pPr>
            <a:r>
              <a:rPr lang="zh-CN" altLang="en-US" sz="2400" b="1" dirty="0"/>
              <a:t>临时性网络配置</a:t>
            </a:r>
          </a:p>
          <a:p>
            <a:pPr fontAlgn="ctr"/>
            <a:r>
              <a:rPr lang="zh-CN" altLang="en-US" sz="2400" b="1" dirty="0"/>
              <a:t>通过命令修改当前内核中的网络相关参数实现</a:t>
            </a:r>
          </a:p>
          <a:p>
            <a:pPr fontAlgn="ctr"/>
            <a:r>
              <a:rPr lang="en-US" altLang="zh-CN" sz="2400" b="1" dirty="0" err="1"/>
              <a:t>ip</a:t>
            </a:r>
            <a:r>
              <a:rPr lang="zh-CN" altLang="en-US" sz="2400" b="1" dirty="0"/>
              <a:t>、 </a:t>
            </a:r>
            <a:r>
              <a:rPr lang="en-US" altLang="zh-CN" sz="2400" b="1" dirty="0" err="1"/>
              <a:t>ifconfig</a:t>
            </a:r>
            <a:r>
              <a:rPr lang="zh-CN" altLang="en-US" sz="2400" b="1" dirty="0"/>
              <a:t>、</a:t>
            </a:r>
            <a:r>
              <a:rPr lang="en-US" altLang="zh-CN" sz="2400" b="1" dirty="0"/>
              <a:t>route</a:t>
            </a:r>
            <a:r>
              <a:rPr lang="zh-CN" altLang="en-US" sz="2400" b="1" dirty="0"/>
              <a:t>、</a:t>
            </a:r>
            <a:r>
              <a:rPr lang="en-US" altLang="zh-CN" sz="2400" b="1" dirty="0" err="1"/>
              <a:t>sysctl</a:t>
            </a:r>
            <a:r>
              <a:rPr lang="en-US" altLang="zh-CN" sz="2400" b="1" dirty="0"/>
              <a:t> -w</a:t>
            </a:r>
          </a:p>
          <a:p>
            <a:pPr fontAlgn="ctr"/>
            <a:r>
              <a:rPr lang="zh-CN" altLang="en-US" sz="2400" b="1" dirty="0"/>
              <a:t>配置后立即生效</a:t>
            </a:r>
          </a:p>
          <a:p>
            <a:pPr fontAlgn="ctr"/>
            <a:r>
              <a:rPr lang="zh-CN" altLang="en-US" sz="2400" b="1" dirty="0"/>
              <a:t>重新开机后</a:t>
            </a:r>
            <a:r>
              <a:rPr lang="zh-CN" altLang="en-US" sz="2400" b="1" dirty="0" smtClean="0"/>
              <a:t>失效</a:t>
            </a:r>
            <a:endParaRPr lang="en-US" altLang="zh-CN" sz="2400" b="1" dirty="0" smtClean="0"/>
          </a:p>
          <a:p>
            <a:pPr fontAlgn="ctr"/>
            <a:endParaRPr lang="zh-CN" altLang="en-US" sz="2400" b="1" dirty="0"/>
          </a:p>
          <a:p>
            <a:pPr marL="285750" indent="-285750" fontAlgn="ctr">
              <a:buFont typeface="Arial" panose="020B0604020202020204" pitchFamily="34" charset="0"/>
              <a:buChar char="•"/>
            </a:pPr>
            <a:r>
              <a:rPr lang="zh-CN" altLang="en-US" sz="2400" b="1" dirty="0"/>
              <a:t>永久性网络配置</a:t>
            </a:r>
          </a:p>
          <a:p>
            <a:pPr fontAlgn="ctr"/>
            <a:r>
              <a:rPr lang="en-US" altLang="zh-CN" sz="2400" b="1" dirty="0" smtClean="0"/>
              <a:t>1.</a:t>
            </a:r>
            <a:r>
              <a:rPr lang="zh-CN" altLang="en-US" sz="2400" b="1" dirty="0" smtClean="0"/>
              <a:t>通过</a:t>
            </a:r>
            <a:r>
              <a:rPr lang="zh-CN" altLang="en-US" sz="2400" b="1" dirty="0"/>
              <a:t>修改网络相关的配置文件</a:t>
            </a:r>
            <a:r>
              <a:rPr lang="zh-CN" altLang="en-US" sz="2400" b="1" dirty="0" smtClean="0"/>
              <a:t>实现</a:t>
            </a:r>
            <a:endParaRPr lang="en-US" altLang="zh-CN" sz="2400" b="1" dirty="0" smtClean="0"/>
          </a:p>
          <a:p>
            <a:pPr fontAlgn="ctr"/>
            <a:r>
              <a:rPr lang="en-US" altLang="zh-CN" sz="2400" dirty="0"/>
              <a:t>/</a:t>
            </a:r>
            <a:r>
              <a:rPr lang="en-US" altLang="zh-CN" sz="2400" dirty="0" err="1"/>
              <a:t>etc</a:t>
            </a:r>
            <a:r>
              <a:rPr lang="en-US" altLang="zh-CN" sz="2400" dirty="0"/>
              <a:t>/</a:t>
            </a:r>
            <a:r>
              <a:rPr lang="en-US" altLang="zh-CN" sz="2400" dirty="0" err="1"/>
              <a:t>sysconfig</a:t>
            </a:r>
            <a:r>
              <a:rPr lang="en-US" altLang="zh-CN" sz="2400" dirty="0"/>
              <a:t>/network-scripts/</a:t>
            </a:r>
            <a:r>
              <a:rPr lang="en-US" altLang="zh-CN" sz="2400" dirty="0" err="1"/>
              <a:t>ifcfg</a:t>
            </a:r>
            <a:r>
              <a:rPr lang="en-US" altLang="zh-CN" sz="2400" dirty="0"/>
              <a:t>-</a:t>
            </a:r>
            <a:r>
              <a:rPr lang="en-US" altLang="zh-CN" sz="2400" dirty="0" smtClean="0"/>
              <a:t>*</a:t>
            </a:r>
            <a:r>
              <a:rPr lang="en-US" altLang="zh-CN" sz="2400" dirty="0"/>
              <a:t> </a:t>
            </a:r>
            <a:r>
              <a:rPr lang="en-US" altLang="zh-CN" sz="2400" dirty="0" smtClean="0"/>
              <a:t> </a:t>
            </a:r>
            <a:r>
              <a:rPr lang="zh-CN" altLang="zh-CN" sz="2400" dirty="0" smtClean="0"/>
              <a:t>网络</a:t>
            </a:r>
            <a:r>
              <a:rPr lang="zh-CN" altLang="zh-CN" sz="2400" dirty="0"/>
              <a:t>接口配置文件</a:t>
            </a:r>
          </a:p>
          <a:p>
            <a:pPr fontAlgn="ctr"/>
            <a:r>
              <a:rPr lang="zh-CN" altLang="en-US" sz="2400" b="1" dirty="0" smtClean="0"/>
              <a:t>使用</a:t>
            </a:r>
            <a:r>
              <a:rPr lang="en-US" altLang="zh-CN" sz="2400" b="1" dirty="0"/>
              <a:t>vim/</a:t>
            </a:r>
            <a:r>
              <a:rPr lang="en-US" altLang="zh-CN" sz="2400" b="1" dirty="0" err="1"/>
              <a:t>nano</a:t>
            </a:r>
            <a:r>
              <a:rPr lang="zh-CN" altLang="en-US" sz="2400" b="1" dirty="0"/>
              <a:t>编辑器直接编辑</a:t>
            </a:r>
          </a:p>
          <a:p>
            <a:pPr fontAlgn="ctr"/>
            <a:r>
              <a:rPr lang="zh-CN" altLang="en-US" sz="2400" b="1" dirty="0"/>
              <a:t>使用</a:t>
            </a:r>
            <a:r>
              <a:rPr lang="en-US" altLang="zh-CN" sz="2400" b="1" dirty="0" err="1"/>
              <a:t>nmcli</a:t>
            </a:r>
            <a:r>
              <a:rPr lang="en-US" altLang="zh-CN" sz="2400" b="1" dirty="0"/>
              <a:t>/</a:t>
            </a:r>
            <a:r>
              <a:rPr lang="en-US" altLang="zh-CN" sz="2400" b="1" dirty="0" err="1"/>
              <a:t>nmtui</a:t>
            </a:r>
            <a:r>
              <a:rPr lang="zh-CN" altLang="en-US" sz="2400" b="1" dirty="0"/>
              <a:t>工具</a:t>
            </a:r>
          </a:p>
          <a:p>
            <a:pPr fontAlgn="ctr"/>
            <a:r>
              <a:rPr lang="en-US" altLang="zh-CN" sz="2400" b="1" dirty="0" smtClean="0"/>
              <a:t>2.</a:t>
            </a:r>
            <a:r>
              <a:rPr lang="zh-CN" altLang="en-US" sz="2400" b="1" dirty="0" smtClean="0"/>
              <a:t>修改</a:t>
            </a:r>
            <a:r>
              <a:rPr lang="zh-CN" altLang="en-US" sz="2400" b="1" dirty="0"/>
              <a:t>后，重新连接指定的网络接口才能生效</a:t>
            </a:r>
          </a:p>
          <a:p>
            <a:pPr fontAlgn="ctr"/>
            <a:r>
              <a:rPr lang="zh-CN" altLang="en-US" sz="2400" b="1" dirty="0"/>
              <a:t>重新开机后保留所有配置</a:t>
            </a:r>
          </a:p>
          <a:p>
            <a:endParaRPr lang="en-US" altLang="zh-CN" sz="2400" dirty="0" smtClean="0"/>
          </a:p>
        </p:txBody>
      </p:sp>
    </p:spTree>
    <p:extLst>
      <p:ext uri="{BB962C8B-B14F-4D97-AF65-F5344CB8AC3E}">
        <p14:creationId xmlns:p14="http://schemas.microsoft.com/office/powerpoint/2010/main" val="37445691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9754591" cy="1052513"/>
          </a:xfrm>
        </p:spPr>
        <p:txBody>
          <a:bodyPr/>
          <a:lstStyle/>
          <a:p>
            <a:r>
              <a:rPr lang="zh-CN" altLang="en-US" sz="4200" dirty="0"/>
              <a:t>永久性配置</a:t>
            </a:r>
            <a:r>
              <a:rPr lang="en-US" altLang="zh-CN" sz="4200" dirty="0"/>
              <a:t>—TCP/IP</a:t>
            </a:r>
            <a:r>
              <a:rPr lang="zh-CN" altLang="en-US" sz="4200" dirty="0"/>
              <a:t>配置文件</a:t>
            </a:r>
          </a:p>
        </p:txBody>
      </p:sp>
      <p:graphicFrame>
        <p:nvGraphicFramePr>
          <p:cNvPr id="8" name="内容占位符 7"/>
          <p:cNvGraphicFramePr>
            <a:graphicFrameLocks noGrp="1"/>
          </p:cNvGraphicFramePr>
          <p:nvPr>
            <p:ph idx="1"/>
            <p:extLst/>
          </p:nvPr>
        </p:nvGraphicFramePr>
        <p:xfrm>
          <a:off x="467544" y="1700808"/>
          <a:ext cx="8316774" cy="4104457"/>
        </p:xfrm>
        <a:graphic>
          <a:graphicData uri="http://schemas.openxmlformats.org/drawingml/2006/table">
            <a:tbl>
              <a:tblPr>
                <a:tableStyleId>{5C22544A-7EE6-4342-B048-85BDC9FD1C3A}</a:tableStyleId>
              </a:tblPr>
              <a:tblGrid>
                <a:gridCol w="4536504">
                  <a:extLst>
                    <a:ext uri="{9D8B030D-6E8A-4147-A177-3AD203B41FA5}">
                      <a16:colId xmlns:a16="http://schemas.microsoft.com/office/drawing/2014/main" val="20000"/>
                    </a:ext>
                  </a:extLst>
                </a:gridCol>
                <a:gridCol w="3780270">
                  <a:extLst>
                    <a:ext uri="{9D8B030D-6E8A-4147-A177-3AD203B41FA5}">
                      <a16:colId xmlns:a16="http://schemas.microsoft.com/office/drawing/2014/main" val="20001"/>
                    </a:ext>
                  </a:extLst>
                </a:gridCol>
              </a:tblGrid>
              <a:tr h="604618">
                <a:tc>
                  <a:txBody>
                    <a:bodyPr/>
                    <a:lstStyle/>
                    <a:p>
                      <a:pPr indent="0" algn="just">
                        <a:lnSpc>
                          <a:spcPct val="100000"/>
                        </a:lnSpc>
                        <a:spcAft>
                          <a:spcPts val="0"/>
                        </a:spcAft>
                      </a:pPr>
                      <a:r>
                        <a:rPr lang="en-US" sz="2000" dirty="0">
                          <a:effectLst/>
                        </a:rPr>
                        <a:t>/etc/</a:t>
                      </a:r>
                      <a:r>
                        <a:rPr lang="en-US" sz="2000" dirty="0" err="1">
                          <a:effectLst/>
                        </a:rPr>
                        <a:t>sysconfig</a:t>
                      </a:r>
                      <a:r>
                        <a:rPr lang="en-US" sz="2000" dirty="0">
                          <a:effectLst/>
                        </a:rPr>
                        <a:t>/network-scripts/</a:t>
                      </a:r>
                      <a:r>
                        <a:rPr lang="en-US" sz="2000" dirty="0" err="1">
                          <a:effectLst/>
                        </a:rPr>
                        <a:t>ifcfg</a:t>
                      </a:r>
                      <a:r>
                        <a:rPr lang="en-US" sz="2000" dirty="0">
                          <a:effectLst/>
                        </a:rPr>
                        <a:t>-*</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solidFill>
                            <a:srgbClr val="FF0000"/>
                          </a:solidFill>
                          <a:effectLst/>
                        </a:rPr>
                        <a:t>网络接口</a:t>
                      </a:r>
                      <a:r>
                        <a:rPr lang="zh-CN" sz="2000" dirty="0">
                          <a:effectLst/>
                        </a:rPr>
                        <a:t>配置文件</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671797">
                <a:tc>
                  <a:txBody>
                    <a:bodyPr/>
                    <a:lstStyle/>
                    <a:p>
                      <a:pPr indent="0" algn="just">
                        <a:lnSpc>
                          <a:spcPct val="100000"/>
                        </a:lnSpc>
                        <a:spcAft>
                          <a:spcPts val="0"/>
                        </a:spcAft>
                      </a:pPr>
                      <a:r>
                        <a:rPr lang="en-US" sz="2000" dirty="0">
                          <a:effectLst/>
                        </a:rPr>
                        <a:t>/etc/</a:t>
                      </a:r>
                      <a:r>
                        <a:rPr lang="en-US" sz="2000" dirty="0" err="1">
                          <a:effectLst/>
                        </a:rPr>
                        <a:t>sysconfig</a:t>
                      </a:r>
                      <a:r>
                        <a:rPr lang="en-US" sz="2000" dirty="0">
                          <a:effectLst/>
                        </a:rPr>
                        <a:t>/network-scripts/route-*</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solidFill>
                            <a:srgbClr val="FF0000"/>
                          </a:solidFill>
                          <a:effectLst/>
                        </a:rPr>
                        <a:t>网络接口路由</a:t>
                      </a:r>
                      <a:r>
                        <a:rPr lang="zh-CN" sz="2000" dirty="0">
                          <a:effectLst/>
                        </a:rPr>
                        <a:t>配置文件</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470258">
                <a:tc>
                  <a:txBody>
                    <a:bodyPr/>
                    <a:lstStyle/>
                    <a:p>
                      <a:pPr indent="0" algn="just">
                        <a:lnSpc>
                          <a:spcPct val="100000"/>
                        </a:lnSpc>
                        <a:spcAft>
                          <a:spcPts val="0"/>
                        </a:spcAft>
                      </a:pPr>
                      <a:r>
                        <a:rPr lang="en-US" sz="2000" dirty="0">
                          <a:effectLst/>
                        </a:rPr>
                        <a:t>/etc/hostname</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effectLst/>
                        </a:rPr>
                        <a:t>本地</a:t>
                      </a:r>
                      <a:r>
                        <a:rPr lang="zh-CN" sz="2000" dirty="0">
                          <a:solidFill>
                            <a:srgbClr val="FF0000"/>
                          </a:solidFill>
                          <a:effectLst/>
                        </a:rPr>
                        <a:t>主机名</a:t>
                      </a:r>
                      <a:r>
                        <a:rPr lang="zh-CN" sz="2000" dirty="0">
                          <a:effectLst/>
                        </a:rPr>
                        <a:t>配置文件</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537437">
                <a:tc>
                  <a:txBody>
                    <a:bodyPr/>
                    <a:lstStyle/>
                    <a:p>
                      <a:pPr indent="0" algn="just">
                        <a:lnSpc>
                          <a:spcPct val="100000"/>
                        </a:lnSpc>
                        <a:spcAft>
                          <a:spcPts val="0"/>
                        </a:spcAft>
                      </a:pPr>
                      <a:r>
                        <a:rPr lang="en-US" sz="2000" dirty="0">
                          <a:effectLst/>
                        </a:rPr>
                        <a:t>/etc/hosts</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solidFill>
                            <a:srgbClr val="FF0000"/>
                          </a:solidFill>
                          <a:effectLst/>
                        </a:rPr>
                        <a:t>主机名映射为</a:t>
                      </a:r>
                      <a:r>
                        <a:rPr lang="en-US" sz="2000" dirty="0">
                          <a:solidFill>
                            <a:srgbClr val="FF0000"/>
                          </a:solidFill>
                          <a:effectLst/>
                        </a:rPr>
                        <a:t>IP</a:t>
                      </a:r>
                      <a:r>
                        <a:rPr lang="zh-CN" sz="2000" dirty="0">
                          <a:solidFill>
                            <a:srgbClr val="FF0000"/>
                          </a:solidFill>
                          <a:effectLst/>
                        </a:rPr>
                        <a:t>地址</a:t>
                      </a:r>
                      <a:r>
                        <a:rPr lang="zh-CN" sz="2000" dirty="0">
                          <a:effectLst/>
                        </a:rPr>
                        <a:t>的解析功能</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537437">
                <a:tc>
                  <a:txBody>
                    <a:bodyPr/>
                    <a:lstStyle/>
                    <a:p>
                      <a:pPr indent="0" algn="just">
                        <a:lnSpc>
                          <a:spcPct val="100000"/>
                        </a:lnSpc>
                        <a:spcAft>
                          <a:spcPts val="0"/>
                        </a:spcAft>
                      </a:pPr>
                      <a:r>
                        <a:rPr lang="en-US" sz="2000" dirty="0">
                          <a:effectLst/>
                        </a:rPr>
                        <a:t>/etc/networks</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effectLst/>
                        </a:rPr>
                        <a:t>完成</a:t>
                      </a:r>
                      <a:r>
                        <a:rPr lang="zh-CN" sz="2000" dirty="0">
                          <a:solidFill>
                            <a:srgbClr val="FF0000"/>
                          </a:solidFill>
                          <a:effectLst/>
                        </a:rPr>
                        <a:t>域名与网络地址</a:t>
                      </a:r>
                      <a:r>
                        <a:rPr lang="zh-CN" sz="2000" dirty="0">
                          <a:effectLst/>
                        </a:rPr>
                        <a:t>的映射</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604617">
                <a:tc>
                  <a:txBody>
                    <a:bodyPr/>
                    <a:lstStyle/>
                    <a:p>
                      <a:pPr indent="0" algn="just">
                        <a:lnSpc>
                          <a:spcPct val="100000"/>
                        </a:lnSpc>
                        <a:spcAft>
                          <a:spcPts val="0"/>
                        </a:spcAft>
                      </a:pPr>
                      <a:r>
                        <a:rPr lang="en-US" sz="2000" dirty="0">
                          <a:effectLst/>
                        </a:rPr>
                        <a:t>/etc/</a:t>
                      </a:r>
                      <a:r>
                        <a:rPr lang="en-US" sz="2000" dirty="0" err="1">
                          <a:effectLst/>
                        </a:rPr>
                        <a:t>host.conf</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effectLst/>
                        </a:rPr>
                        <a:t>配置</a:t>
                      </a:r>
                      <a:r>
                        <a:rPr lang="zh-CN" sz="2000" dirty="0">
                          <a:solidFill>
                            <a:srgbClr val="FF0000"/>
                          </a:solidFill>
                          <a:effectLst/>
                        </a:rPr>
                        <a:t>域名服务</a:t>
                      </a:r>
                      <a:r>
                        <a:rPr lang="zh-CN" sz="2000" dirty="0">
                          <a:effectLst/>
                        </a:rPr>
                        <a:t>客户端的</a:t>
                      </a:r>
                      <a:r>
                        <a:rPr lang="zh-CN" sz="2000" dirty="0">
                          <a:solidFill>
                            <a:srgbClr val="FF0000"/>
                          </a:solidFill>
                          <a:effectLst/>
                        </a:rPr>
                        <a:t>控制</a:t>
                      </a:r>
                      <a:r>
                        <a:rPr lang="zh-CN" sz="2000" dirty="0">
                          <a:effectLst/>
                        </a:rPr>
                        <a:t>文件</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678293">
                <a:tc>
                  <a:txBody>
                    <a:bodyPr/>
                    <a:lstStyle/>
                    <a:p>
                      <a:pPr indent="0" algn="just">
                        <a:lnSpc>
                          <a:spcPct val="100000"/>
                        </a:lnSpc>
                        <a:spcAft>
                          <a:spcPts val="0"/>
                        </a:spcAft>
                      </a:pPr>
                      <a:r>
                        <a:rPr lang="en-US" sz="2000" dirty="0">
                          <a:effectLst/>
                        </a:rPr>
                        <a:t>/etc/</a:t>
                      </a:r>
                      <a:r>
                        <a:rPr lang="en-US" sz="2000" dirty="0" err="1">
                          <a:effectLst/>
                        </a:rPr>
                        <a:t>resolv.conf</a:t>
                      </a:r>
                      <a:endParaRPr lang="zh-CN" sz="2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a:lnSpc>
                          <a:spcPct val="100000"/>
                        </a:lnSpc>
                        <a:spcAft>
                          <a:spcPts val="0"/>
                        </a:spcAft>
                      </a:pPr>
                      <a:r>
                        <a:rPr lang="zh-CN" sz="2000" dirty="0">
                          <a:effectLst/>
                        </a:rPr>
                        <a:t>配置</a:t>
                      </a:r>
                      <a:r>
                        <a:rPr lang="zh-CN" sz="2000" dirty="0">
                          <a:solidFill>
                            <a:srgbClr val="FF0000"/>
                          </a:solidFill>
                          <a:effectLst/>
                        </a:rPr>
                        <a:t>域名服务</a:t>
                      </a:r>
                      <a:r>
                        <a:rPr lang="zh-CN" sz="2000" dirty="0">
                          <a:effectLst/>
                        </a:rPr>
                        <a:t>客户端的</a:t>
                      </a:r>
                      <a:r>
                        <a:rPr lang="zh-CN" sz="2000" dirty="0">
                          <a:solidFill>
                            <a:srgbClr val="FF0000"/>
                          </a:solidFill>
                          <a:effectLst/>
                        </a:rPr>
                        <a:t>配置</a:t>
                      </a:r>
                      <a:r>
                        <a:rPr lang="zh-CN" sz="2000" dirty="0">
                          <a:effectLst/>
                        </a:rPr>
                        <a:t>文件</a:t>
                      </a:r>
                      <a:endParaRPr lang="zh-CN" sz="2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174664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dirty="0" smtClean="0"/>
              <a:t>回顾</a:t>
            </a:r>
            <a:endParaRPr lang="zh-CN" altLang="en-US" dirty="0"/>
          </a:p>
        </p:txBody>
      </p:sp>
      <p:sp>
        <p:nvSpPr>
          <p:cNvPr id="2" name="矩形 1"/>
          <p:cNvSpPr/>
          <p:nvPr/>
        </p:nvSpPr>
        <p:spPr>
          <a:xfrm>
            <a:off x="683568" y="1628800"/>
            <a:ext cx="7776864" cy="1938992"/>
          </a:xfrm>
          <a:prstGeom prst="rect">
            <a:avLst/>
          </a:prstGeom>
        </p:spPr>
        <p:txBody>
          <a:bodyPr wrap="square">
            <a:spAutoFit/>
          </a:bodyPr>
          <a:lstStyle/>
          <a:p>
            <a:pPr marL="285750" indent="-285750">
              <a:buFont typeface="Arial" panose="020B0604020202020204" pitchFamily="34" charset="0"/>
              <a:buChar char="•"/>
            </a:pPr>
            <a:r>
              <a:rPr lang="zh-CN" altLang="en-US" sz="2400" dirty="0"/>
              <a:t>字符界面网络工具</a:t>
            </a:r>
            <a:endParaRPr lang="en-US" altLang="zh-CN" sz="2400" dirty="0" smtClean="0"/>
          </a:p>
          <a:p>
            <a:r>
              <a:rPr lang="en-US" altLang="zh-CN" sz="2400" dirty="0" smtClean="0"/>
              <a:t>scp</a:t>
            </a:r>
          </a:p>
          <a:p>
            <a:r>
              <a:rPr lang="en-US" altLang="zh-CN" sz="2400" dirty="0" smtClean="0"/>
              <a:t>ftp/</a:t>
            </a:r>
            <a:r>
              <a:rPr lang="en-US" altLang="zh-CN" sz="2400" dirty="0" err="1" smtClean="0"/>
              <a:t>lftp</a:t>
            </a:r>
            <a:r>
              <a:rPr lang="en-US" altLang="zh-CN" sz="2400" dirty="0" smtClean="0"/>
              <a:t>/</a:t>
            </a:r>
            <a:r>
              <a:rPr lang="en-US" altLang="zh-CN" sz="2400" dirty="0" err="1" smtClean="0"/>
              <a:t>sftp</a:t>
            </a:r>
            <a:endParaRPr lang="en-US" altLang="zh-CN" sz="2400" dirty="0" smtClean="0"/>
          </a:p>
          <a:p>
            <a:r>
              <a:rPr lang="en-US" altLang="zh-CN" sz="2400" dirty="0" smtClean="0"/>
              <a:t>telnet/ssh</a:t>
            </a:r>
          </a:p>
          <a:p>
            <a:r>
              <a:rPr lang="en-US" altLang="zh-CN" sz="2400" dirty="0" err="1" smtClean="0"/>
              <a:t>wget</a:t>
            </a:r>
            <a:endParaRPr lang="en-US" altLang="zh-CN" sz="2400" dirty="0"/>
          </a:p>
        </p:txBody>
      </p:sp>
      <p:pic>
        <p:nvPicPr>
          <p:cNvPr id="3" name="图片 2"/>
          <p:cNvPicPr>
            <a:picLocks noChangeAspect="1"/>
          </p:cNvPicPr>
          <p:nvPr/>
        </p:nvPicPr>
        <p:blipFill>
          <a:blip r:embed="rId3"/>
          <a:stretch>
            <a:fillRect/>
          </a:stretch>
        </p:blipFill>
        <p:spPr>
          <a:xfrm>
            <a:off x="4716016" y="116632"/>
            <a:ext cx="4295238" cy="4180952"/>
          </a:xfrm>
          <a:prstGeom prst="rect">
            <a:avLst/>
          </a:prstGeom>
        </p:spPr>
      </p:pic>
      <p:pic>
        <p:nvPicPr>
          <p:cNvPr id="4" name="图片 3"/>
          <p:cNvPicPr>
            <a:picLocks noChangeAspect="1"/>
          </p:cNvPicPr>
          <p:nvPr/>
        </p:nvPicPr>
        <p:blipFill rotWithShape="1">
          <a:blip r:embed="rId4"/>
          <a:srcRect l="6713"/>
          <a:stretch/>
        </p:blipFill>
        <p:spPr>
          <a:xfrm>
            <a:off x="4716016" y="2928888"/>
            <a:ext cx="4406700" cy="3942857"/>
          </a:xfrm>
          <a:prstGeom prst="rect">
            <a:avLst/>
          </a:prstGeom>
        </p:spPr>
      </p:pic>
      <p:sp>
        <p:nvSpPr>
          <p:cNvPr id="5" name="文本框 4"/>
          <p:cNvSpPr txBox="1"/>
          <p:nvPr/>
        </p:nvSpPr>
        <p:spPr>
          <a:xfrm>
            <a:off x="4588008" y="3059668"/>
            <a:ext cx="1008112" cy="369332"/>
          </a:xfrm>
          <a:prstGeom prst="rect">
            <a:avLst/>
          </a:prstGeom>
          <a:solidFill>
            <a:schemeClr val="accent1">
              <a:lumMod val="40000"/>
              <a:lumOff val="60000"/>
            </a:schemeClr>
          </a:solidFill>
        </p:spPr>
        <p:txBody>
          <a:bodyPr wrap="square" rtlCol="0">
            <a:spAutoFit/>
          </a:bodyPr>
          <a:lstStyle/>
          <a:p>
            <a:r>
              <a:rPr lang="en-US" altLang="zh-CN" dirty="0" err="1"/>
              <a:t>WinScp</a:t>
            </a:r>
            <a:endParaRPr lang="zh-CN" altLang="en-US" dirty="0"/>
          </a:p>
        </p:txBody>
      </p:sp>
      <p:sp>
        <p:nvSpPr>
          <p:cNvPr id="6" name="文本框 5"/>
          <p:cNvSpPr txBox="1"/>
          <p:nvPr/>
        </p:nvSpPr>
        <p:spPr>
          <a:xfrm>
            <a:off x="395536" y="5661248"/>
            <a:ext cx="3744416" cy="646331"/>
          </a:xfrm>
          <a:prstGeom prst="rect">
            <a:avLst/>
          </a:prstGeom>
          <a:noFill/>
        </p:spPr>
        <p:txBody>
          <a:bodyPr wrap="square" rtlCol="0">
            <a:spAutoFit/>
          </a:bodyPr>
          <a:lstStyle/>
          <a:p>
            <a:pPr marL="285750" indent="-285750">
              <a:buFont typeface="Arial" panose="020B0604020202020204" pitchFamily="34" charset="0"/>
              <a:buChar char="•"/>
            </a:pPr>
            <a:r>
              <a:rPr lang="zh-CN" altLang="en-US" b="1" dirty="0" smtClean="0"/>
              <a:t>注：以上命令的服务器端需要安装 </a:t>
            </a:r>
            <a:r>
              <a:rPr lang="en-US" altLang="zh-CN" b="1" dirty="0" err="1" smtClean="0"/>
              <a:t>vsftpd</a:t>
            </a:r>
            <a:r>
              <a:rPr lang="zh-CN" altLang="en-US" b="1" dirty="0" smtClean="0"/>
              <a:t>和</a:t>
            </a:r>
            <a:r>
              <a:rPr lang="en-US" altLang="zh-CN" b="1" dirty="0" err="1" smtClean="0"/>
              <a:t>OpenSSH</a:t>
            </a:r>
            <a:endParaRPr lang="zh-CN" altLang="en-US" b="1" dirty="0"/>
          </a:p>
        </p:txBody>
      </p:sp>
    </p:spTree>
    <p:extLst>
      <p:ext uri="{BB962C8B-B14F-4D97-AF65-F5344CB8AC3E}">
        <p14:creationId xmlns:p14="http://schemas.microsoft.com/office/powerpoint/2010/main" val="335446120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dirty="0" smtClean="0"/>
              <a:t>回顾</a:t>
            </a:r>
            <a:endParaRPr lang="zh-CN" altLang="en-US" dirty="0"/>
          </a:p>
        </p:txBody>
      </p:sp>
      <p:sp>
        <p:nvSpPr>
          <p:cNvPr id="2" name="矩形 1"/>
          <p:cNvSpPr/>
          <p:nvPr/>
        </p:nvSpPr>
        <p:spPr>
          <a:xfrm>
            <a:off x="107504" y="1340768"/>
            <a:ext cx="8928992" cy="4893647"/>
          </a:xfrm>
          <a:prstGeom prst="rect">
            <a:avLst/>
          </a:prstGeom>
        </p:spPr>
        <p:txBody>
          <a:bodyPr wrap="square">
            <a:spAutoFit/>
          </a:bodyPr>
          <a:lstStyle/>
          <a:p>
            <a:r>
              <a:rPr lang="en-US" altLang="zh-CN" sz="2400" dirty="0">
                <a:solidFill>
                  <a:srgbClr val="0000FF"/>
                </a:solidFill>
              </a:rPr>
              <a:t>[</a:t>
            </a:r>
            <a:r>
              <a:rPr lang="en-US" altLang="zh-CN" sz="2400" dirty="0" err="1">
                <a:solidFill>
                  <a:srgbClr val="0000FF"/>
                </a:solidFill>
              </a:rPr>
              <a:t>xl@localhost</a:t>
            </a:r>
            <a:r>
              <a:rPr lang="en-US" altLang="zh-CN" sz="2400" dirty="0">
                <a:solidFill>
                  <a:srgbClr val="0000FF"/>
                </a:solidFill>
              </a:rPr>
              <a:t> ~]$ scp -r </a:t>
            </a:r>
            <a:r>
              <a:rPr lang="en-US" altLang="zh-CN" sz="2400" dirty="0" smtClean="0">
                <a:solidFill>
                  <a:srgbClr val="0000FF"/>
                </a:solidFill>
              </a:rPr>
              <a:t>xilin@192.168.182.133:test </a:t>
            </a:r>
            <a:r>
              <a:rPr lang="en-US" altLang="zh-CN" sz="2400" dirty="0">
                <a:solidFill>
                  <a:srgbClr val="0000FF"/>
                </a:solidFill>
              </a:rPr>
              <a:t>.</a:t>
            </a:r>
          </a:p>
          <a:p>
            <a:r>
              <a:rPr lang="en-US" altLang="zh-CN" sz="2400" dirty="0"/>
              <a:t>The authenticity of host </a:t>
            </a:r>
            <a:r>
              <a:rPr lang="en-US" altLang="zh-CN" sz="2400" dirty="0" smtClean="0"/>
              <a:t>'192.168.182.133 </a:t>
            </a:r>
            <a:r>
              <a:rPr lang="en-US" altLang="zh-CN" sz="2400" dirty="0"/>
              <a:t>(</a:t>
            </a:r>
            <a:r>
              <a:rPr lang="en-US" altLang="zh-CN" sz="2400" dirty="0" smtClean="0"/>
              <a:t>192.168.182.133)' </a:t>
            </a:r>
            <a:r>
              <a:rPr lang="en-US" altLang="zh-CN" sz="2400" dirty="0"/>
              <a:t>can't be established.</a:t>
            </a:r>
          </a:p>
          <a:p>
            <a:r>
              <a:rPr lang="en-US" altLang="zh-CN" sz="2400" dirty="0"/>
              <a:t>ECDSA key fingerprint is SHA256:HfEjicl3rMt/X6SyWCeZW65qYJG8BZUhz6T9VsMEVSE.</a:t>
            </a:r>
          </a:p>
          <a:p>
            <a:r>
              <a:rPr lang="en-US" altLang="zh-CN" sz="2400" dirty="0"/>
              <a:t>ECDSA key fingerprint is MD5:13:71:89:94:4e:89:78:1a:b9:0a:02:67:55:11:fb:57.</a:t>
            </a:r>
          </a:p>
          <a:p>
            <a:r>
              <a:rPr lang="en-US" altLang="zh-CN" sz="2400" dirty="0"/>
              <a:t>Are you sure you want to continue connecting (yes/no)? </a:t>
            </a:r>
            <a:r>
              <a:rPr lang="en-US" altLang="zh-CN" sz="2400" dirty="0">
                <a:solidFill>
                  <a:srgbClr val="0000FF"/>
                </a:solidFill>
              </a:rPr>
              <a:t>yes</a:t>
            </a:r>
          </a:p>
          <a:p>
            <a:r>
              <a:rPr lang="en-US" altLang="zh-CN" sz="2400" dirty="0" smtClean="0"/>
              <a:t>xilin@192.168.182.133's </a:t>
            </a:r>
            <a:r>
              <a:rPr lang="en-US" altLang="zh-CN" sz="2400" dirty="0"/>
              <a:t>password: </a:t>
            </a:r>
          </a:p>
          <a:p>
            <a:r>
              <a:rPr lang="en-US" altLang="zh-CN" sz="2400" dirty="0"/>
              <a:t>test                                                          100%    0     0.0KB/s   00:00    </a:t>
            </a:r>
          </a:p>
          <a:p>
            <a:r>
              <a:rPr lang="en-US" altLang="zh-CN" sz="2400" dirty="0">
                <a:solidFill>
                  <a:srgbClr val="0000FF"/>
                </a:solidFill>
              </a:rPr>
              <a:t>[</a:t>
            </a:r>
            <a:r>
              <a:rPr lang="en-US" altLang="zh-CN" sz="2400" dirty="0" err="1">
                <a:solidFill>
                  <a:srgbClr val="0000FF"/>
                </a:solidFill>
              </a:rPr>
              <a:t>xl@localhost</a:t>
            </a:r>
            <a:r>
              <a:rPr lang="en-US" altLang="zh-CN" sz="2400" dirty="0">
                <a:solidFill>
                  <a:srgbClr val="0000FF"/>
                </a:solidFill>
              </a:rPr>
              <a:t> ~]$ ls</a:t>
            </a:r>
          </a:p>
        </p:txBody>
      </p:sp>
    </p:spTree>
    <p:extLst>
      <p:ext uri="{BB962C8B-B14F-4D97-AF65-F5344CB8AC3E}">
        <p14:creationId xmlns:p14="http://schemas.microsoft.com/office/powerpoint/2010/main" val="4105652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dirty="0" smtClean="0"/>
              <a:t>回顾</a:t>
            </a:r>
            <a:endParaRPr lang="zh-CN" altLang="en-US" dirty="0"/>
          </a:p>
        </p:txBody>
      </p:sp>
      <p:sp>
        <p:nvSpPr>
          <p:cNvPr id="2" name="矩形 1"/>
          <p:cNvSpPr/>
          <p:nvPr/>
        </p:nvSpPr>
        <p:spPr>
          <a:xfrm>
            <a:off x="323528" y="1340768"/>
            <a:ext cx="8623622" cy="2677656"/>
          </a:xfrm>
          <a:prstGeom prst="rect">
            <a:avLst/>
          </a:prstGeom>
        </p:spPr>
        <p:txBody>
          <a:bodyPr wrap="square">
            <a:spAutoFit/>
          </a:bodyPr>
          <a:lstStyle/>
          <a:p>
            <a:r>
              <a:rPr lang="en-US" altLang="zh-CN" sz="2400" dirty="0">
                <a:solidFill>
                  <a:srgbClr val="0000FF"/>
                </a:solidFill>
              </a:rPr>
              <a:t>[</a:t>
            </a:r>
            <a:r>
              <a:rPr lang="en-US" altLang="zh-CN" sz="2400" dirty="0" err="1">
                <a:solidFill>
                  <a:srgbClr val="0000FF"/>
                </a:solidFill>
              </a:rPr>
              <a:t>xl@localhost</a:t>
            </a:r>
            <a:r>
              <a:rPr lang="en-US" altLang="zh-CN" sz="2400" dirty="0">
                <a:solidFill>
                  <a:srgbClr val="0000FF"/>
                </a:solidFill>
              </a:rPr>
              <a:t> ~]$ ssh </a:t>
            </a:r>
            <a:r>
              <a:rPr lang="en-US" altLang="zh-CN" sz="2400" dirty="0" smtClean="0">
                <a:solidFill>
                  <a:srgbClr val="0000FF"/>
                </a:solidFill>
              </a:rPr>
              <a:t>xilin@192.168.182.133</a:t>
            </a:r>
            <a:endParaRPr lang="en-US" altLang="zh-CN" sz="2400" dirty="0">
              <a:solidFill>
                <a:srgbClr val="0000FF"/>
              </a:solidFill>
            </a:endParaRPr>
          </a:p>
          <a:p>
            <a:r>
              <a:rPr lang="en-US" altLang="zh-CN" sz="2400" dirty="0" smtClean="0"/>
              <a:t>xilin@192.168.182.133's </a:t>
            </a:r>
            <a:r>
              <a:rPr lang="en-US" altLang="zh-CN" sz="2400" dirty="0"/>
              <a:t>password: </a:t>
            </a:r>
          </a:p>
          <a:p>
            <a:r>
              <a:rPr lang="en-US" altLang="zh-CN" sz="2400" dirty="0"/>
              <a:t>Last login: Wed May 29 22:09:53 2024</a:t>
            </a:r>
          </a:p>
          <a:p>
            <a:r>
              <a:rPr lang="en-US" altLang="zh-CN" sz="2400" dirty="0"/>
              <a:t>[</a:t>
            </a:r>
            <a:r>
              <a:rPr lang="en-US" altLang="zh-CN" sz="2400" dirty="0" err="1"/>
              <a:t>xilin@localhost</a:t>
            </a:r>
            <a:r>
              <a:rPr lang="en-US" altLang="zh-CN" sz="2400" dirty="0"/>
              <a:t> ~]$ ls</a:t>
            </a:r>
          </a:p>
          <a:p>
            <a:r>
              <a:rPr lang="en-US" altLang="zh-CN" sz="2400" dirty="0"/>
              <a:t>paddle  sublime_text_3  test  </a:t>
            </a:r>
            <a:r>
              <a:rPr lang="zh-CN" altLang="en-US" sz="2400" dirty="0"/>
              <a:t>下载  公共  图片  文档  桌面  模板  视频  音乐</a:t>
            </a:r>
          </a:p>
          <a:p>
            <a:r>
              <a:rPr lang="en-US" altLang="zh-CN" sz="2400" dirty="0">
                <a:solidFill>
                  <a:srgbClr val="0000FF"/>
                </a:solidFill>
              </a:rPr>
              <a:t>[</a:t>
            </a:r>
            <a:r>
              <a:rPr lang="en-US" altLang="zh-CN" sz="2400" dirty="0" err="1">
                <a:solidFill>
                  <a:srgbClr val="0000FF"/>
                </a:solidFill>
              </a:rPr>
              <a:t>xilin@localhost</a:t>
            </a:r>
            <a:r>
              <a:rPr lang="en-US" altLang="zh-CN" sz="2400" dirty="0">
                <a:solidFill>
                  <a:srgbClr val="0000FF"/>
                </a:solidFill>
              </a:rPr>
              <a:t> ~]$ </a:t>
            </a:r>
          </a:p>
        </p:txBody>
      </p:sp>
    </p:spTree>
    <p:extLst>
      <p:ext uri="{BB962C8B-B14F-4D97-AF65-F5344CB8AC3E}">
        <p14:creationId xmlns:p14="http://schemas.microsoft.com/office/powerpoint/2010/main" val="39741516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dirty="0" smtClean="0"/>
              <a:t>回顾</a:t>
            </a:r>
            <a:endParaRPr lang="zh-CN" altLang="en-US" dirty="0"/>
          </a:p>
        </p:txBody>
      </p:sp>
      <p:sp>
        <p:nvSpPr>
          <p:cNvPr id="2" name="矩形 1"/>
          <p:cNvSpPr/>
          <p:nvPr/>
        </p:nvSpPr>
        <p:spPr>
          <a:xfrm>
            <a:off x="323528" y="1340768"/>
            <a:ext cx="8623622" cy="3785652"/>
          </a:xfrm>
          <a:prstGeom prst="rect">
            <a:avLst/>
          </a:prstGeom>
        </p:spPr>
        <p:txBody>
          <a:bodyPr wrap="square">
            <a:spAutoFit/>
          </a:bodyPr>
          <a:lstStyle/>
          <a:p>
            <a:r>
              <a:rPr lang="en-US" altLang="zh-CN" sz="2400" dirty="0">
                <a:solidFill>
                  <a:srgbClr val="0000FF"/>
                </a:solidFill>
              </a:rPr>
              <a:t>[</a:t>
            </a:r>
            <a:r>
              <a:rPr lang="en-US" altLang="zh-CN" sz="2400" dirty="0" err="1">
                <a:solidFill>
                  <a:srgbClr val="0000FF"/>
                </a:solidFill>
              </a:rPr>
              <a:t>xl@localhost</a:t>
            </a:r>
            <a:r>
              <a:rPr lang="en-US" altLang="zh-CN" sz="2400" dirty="0">
                <a:solidFill>
                  <a:srgbClr val="0000FF"/>
                </a:solidFill>
              </a:rPr>
              <a:t> ~]$ </a:t>
            </a:r>
            <a:r>
              <a:rPr lang="en-US" altLang="zh-CN" sz="2400" dirty="0" err="1">
                <a:solidFill>
                  <a:srgbClr val="0000FF"/>
                </a:solidFill>
              </a:rPr>
              <a:t>sftp</a:t>
            </a:r>
            <a:r>
              <a:rPr lang="en-US" altLang="zh-CN" sz="2400" dirty="0">
                <a:solidFill>
                  <a:srgbClr val="0000FF"/>
                </a:solidFill>
              </a:rPr>
              <a:t> </a:t>
            </a:r>
            <a:r>
              <a:rPr lang="en-US" altLang="zh-CN" sz="2400" dirty="0" smtClean="0">
                <a:solidFill>
                  <a:srgbClr val="0000FF"/>
                </a:solidFill>
              </a:rPr>
              <a:t>xilin@192.168.182.133</a:t>
            </a:r>
            <a:endParaRPr lang="en-US" altLang="zh-CN" sz="2400" dirty="0">
              <a:solidFill>
                <a:srgbClr val="0000FF"/>
              </a:solidFill>
            </a:endParaRPr>
          </a:p>
          <a:p>
            <a:r>
              <a:rPr lang="en-US" altLang="zh-CN" sz="2400" dirty="0" smtClean="0"/>
              <a:t>xilin@192.168.182.133's </a:t>
            </a:r>
            <a:r>
              <a:rPr lang="en-US" altLang="zh-CN" sz="2400" dirty="0"/>
              <a:t>password: </a:t>
            </a:r>
          </a:p>
          <a:p>
            <a:r>
              <a:rPr lang="en-US" altLang="zh-CN" sz="2400" dirty="0"/>
              <a:t>Connected to </a:t>
            </a:r>
            <a:r>
              <a:rPr lang="en-US" altLang="zh-CN" sz="2400" dirty="0" smtClean="0"/>
              <a:t>192.168.182.133.</a:t>
            </a:r>
            <a:endParaRPr lang="en-US" altLang="zh-CN" sz="2400" dirty="0"/>
          </a:p>
          <a:p>
            <a:r>
              <a:rPr lang="en-US" altLang="zh-CN" sz="2400" dirty="0" err="1">
                <a:solidFill>
                  <a:srgbClr val="0000FF"/>
                </a:solidFill>
              </a:rPr>
              <a:t>sftp</a:t>
            </a:r>
            <a:r>
              <a:rPr lang="en-US" altLang="zh-CN" sz="2400" dirty="0">
                <a:solidFill>
                  <a:srgbClr val="0000FF"/>
                </a:solidFill>
              </a:rPr>
              <a:t>&gt; ls</a:t>
            </a:r>
          </a:p>
          <a:p>
            <a:r>
              <a:rPr lang="en-US" altLang="zh-CN" sz="2400" dirty="0"/>
              <a:t>paddle          sublime_text_3  test            </a:t>
            </a:r>
            <a:r>
              <a:rPr lang="zh-CN" altLang="en-US" sz="2400" dirty="0"/>
              <a:t>下载          公共          图片          </a:t>
            </a:r>
          </a:p>
          <a:p>
            <a:r>
              <a:rPr lang="zh-CN" altLang="en-US" sz="2400" dirty="0"/>
              <a:t>文档          桌面          模板          视频          音乐          </a:t>
            </a:r>
          </a:p>
          <a:p>
            <a:r>
              <a:rPr lang="en-US" altLang="zh-CN" sz="2400" dirty="0" err="1">
                <a:solidFill>
                  <a:srgbClr val="0000FF"/>
                </a:solidFill>
              </a:rPr>
              <a:t>sftp</a:t>
            </a:r>
            <a:r>
              <a:rPr lang="en-US" altLang="zh-CN" sz="2400" dirty="0">
                <a:solidFill>
                  <a:srgbClr val="0000FF"/>
                </a:solidFill>
              </a:rPr>
              <a:t>&gt; get test</a:t>
            </a:r>
          </a:p>
          <a:p>
            <a:r>
              <a:rPr lang="en-US" altLang="zh-CN" sz="2400" dirty="0"/>
              <a:t>Fetching /home/</a:t>
            </a:r>
            <a:r>
              <a:rPr lang="en-US" altLang="zh-CN" sz="2400" dirty="0" err="1"/>
              <a:t>xilin</a:t>
            </a:r>
            <a:r>
              <a:rPr lang="en-US" altLang="zh-CN" sz="2400" dirty="0"/>
              <a:t>/test to test</a:t>
            </a:r>
          </a:p>
          <a:p>
            <a:r>
              <a:rPr lang="en-US" altLang="zh-CN" sz="2400" dirty="0" err="1">
                <a:solidFill>
                  <a:srgbClr val="0000FF"/>
                </a:solidFill>
              </a:rPr>
              <a:t>sftp</a:t>
            </a:r>
            <a:r>
              <a:rPr lang="en-US" altLang="zh-CN" sz="2400" dirty="0">
                <a:solidFill>
                  <a:srgbClr val="0000FF"/>
                </a:solidFill>
              </a:rPr>
              <a:t>&gt; !ls</a:t>
            </a:r>
          </a:p>
        </p:txBody>
      </p:sp>
    </p:spTree>
    <p:extLst>
      <p:ext uri="{BB962C8B-B14F-4D97-AF65-F5344CB8AC3E}">
        <p14:creationId xmlns:p14="http://schemas.microsoft.com/office/powerpoint/2010/main" val="156670087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dirty="0" smtClean="0"/>
              <a:t>回顾</a:t>
            </a:r>
            <a:endParaRPr lang="zh-CN" altLang="en-US" dirty="0"/>
          </a:p>
        </p:txBody>
      </p:sp>
      <p:sp>
        <p:nvSpPr>
          <p:cNvPr id="2" name="矩形 1"/>
          <p:cNvSpPr/>
          <p:nvPr/>
        </p:nvSpPr>
        <p:spPr>
          <a:xfrm>
            <a:off x="323528" y="1340768"/>
            <a:ext cx="8623622" cy="830997"/>
          </a:xfrm>
          <a:prstGeom prst="rect">
            <a:avLst/>
          </a:prstGeom>
        </p:spPr>
        <p:txBody>
          <a:bodyPr wrap="square">
            <a:spAutoFit/>
          </a:bodyPr>
          <a:lstStyle/>
          <a:p>
            <a:r>
              <a:rPr lang="da-DK" altLang="zh-CN" sz="2400" dirty="0">
                <a:solidFill>
                  <a:srgbClr val="0000FF"/>
                </a:solidFill>
              </a:rPr>
              <a:t>[root@localhost ~]# wget ftp://xilin:xxxxxx@192.168.181.133//home//xilin//test</a:t>
            </a:r>
          </a:p>
        </p:txBody>
      </p:sp>
    </p:spTree>
    <p:extLst>
      <p:ext uri="{BB962C8B-B14F-4D97-AF65-F5344CB8AC3E}">
        <p14:creationId xmlns:p14="http://schemas.microsoft.com/office/powerpoint/2010/main" val="31242137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4">
            <a:extLst>
              <a:ext uri="{FF2B5EF4-FFF2-40B4-BE49-F238E27FC236}">
                <a16:creationId xmlns:a16="http://schemas.microsoft.com/office/drawing/2014/main" id="{9AD9A78A-609F-4797-AA52-6B1406C11E73}"/>
              </a:ext>
            </a:extLst>
          </p:cNvPr>
          <p:cNvSpPr>
            <a:spLocks noGrp="1" noChangeArrowheads="1"/>
          </p:cNvSpPr>
          <p:nvPr>
            <p:ph type="title"/>
          </p:nvPr>
        </p:nvSpPr>
        <p:spPr>
          <a:xfrm>
            <a:off x="1223987" y="71399"/>
            <a:ext cx="7793037" cy="1204515"/>
          </a:xfrm>
        </p:spPr>
        <p:txBody>
          <a:bodyPr/>
          <a:lstStyle/>
          <a:p>
            <a:r>
              <a:rPr lang="zh-CN" altLang="en-US" dirty="0">
                <a:latin typeface="黑体" panose="02010609060101010101" pitchFamily="49" charset="-122"/>
                <a:ea typeface="黑体" panose="02010609060101010101" pitchFamily="49" charset="-122"/>
              </a:rPr>
              <a:t>本章内容要点</a:t>
            </a:r>
          </a:p>
        </p:txBody>
      </p:sp>
      <p:sp>
        <p:nvSpPr>
          <p:cNvPr id="2" name="圆角矩形 1">
            <a:extLst>
              <a:ext uri="{FF2B5EF4-FFF2-40B4-BE49-F238E27FC236}">
                <a16:creationId xmlns:a16="http://schemas.microsoft.com/office/drawing/2014/main" id="{24F68058-A272-4A0C-AC8E-6E614A1DCF7B}"/>
              </a:ext>
            </a:extLst>
          </p:cNvPr>
          <p:cNvSpPr/>
          <p:nvPr/>
        </p:nvSpPr>
        <p:spPr>
          <a:xfrm>
            <a:off x="811920" y="5013176"/>
            <a:ext cx="7808777" cy="1667871"/>
          </a:xfrm>
          <a:prstGeom prst="round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ahoma"/>
              <a:ea typeface="宋体"/>
              <a:cs typeface="+mn-cs"/>
            </a:endParaRPr>
          </a:p>
        </p:txBody>
      </p:sp>
      <p:pic>
        <p:nvPicPr>
          <p:cNvPr id="9221" name="Picture 8">
            <a:extLst>
              <a:ext uri="{FF2B5EF4-FFF2-40B4-BE49-F238E27FC236}">
                <a16:creationId xmlns:a16="http://schemas.microsoft.com/office/drawing/2014/main" id="{30CF9F7C-A188-429C-86A1-CC0CA6E855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80312" y="49014"/>
            <a:ext cx="1574994" cy="15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D35220A3-8319-42A1-BF3C-A9D0A093B9DF}"/>
              </a:ext>
            </a:extLst>
          </p:cNvPr>
          <p:cNvSpPr txBox="1">
            <a:spLocks noChangeArrowheads="1"/>
          </p:cNvSpPr>
          <p:nvPr/>
        </p:nvSpPr>
        <p:spPr>
          <a:xfrm>
            <a:off x="833406" y="1581667"/>
            <a:ext cx="7882441" cy="520493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000" kern="1200">
                <a:solidFill>
                  <a:schemeClr val="tx1">
                    <a:tint val="75000"/>
                  </a:schemeClr>
                </a:solidFill>
                <a:latin typeface="Broadway" panose="04040905080B02020502" pitchFamily="82"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spcBef>
                <a:spcPts val="600"/>
              </a:spcBef>
              <a:spcAft>
                <a:spcPts val="600"/>
              </a:spcAft>
              <a:buFont typeface="Wingdings" panose="05000000000000000000" pitchFamily="2" charset="2"/>
              <a:buChar char="Ø"/>
            </a:pPr>
            <a:r>
              <a:rPr lang="en-US" altLang="zh-CN" sz="3200" dirty="0">
                <a:solidFill>
                  <a:schemeClr val="tx1"/>
                </a:solidFill>
              </a:rPr>
              <a:t> Linux</a:t>
            </a:r>
            <a:r>
              <a:rPr lang="zh-CN" altLang="en-US" sz="3200" dirty="0">
                <a:solidFill>
                  <a:schemeClr val="tx1"/>
                </a:solidFill>
              </a:rPr>
              <a:t>网络配置</a:t>
            </a:r>
          </a:p>
          <a:p>
            <a:pPr lvl="1" algn="l">
              <a:lnSpc>
                <a:spcPct val="110000"/>
              </a:lnSpc>
              <a:spcBef>
                <a:spcPts val="600"/>
              </a:spcBef>
              <a:spcAft>
                <a:spcPts val="600"/>
              </a:spcAft>
            </a:pPr>
            <a:r>
              <a:rPr lang="en-US" altLang="zh-CN" dirty="0">
                <a:solidFill>
                  <a:schemeClr val="tx1"/>
                </a:solidFill>
              </a:rPr>
              <a:t>Linux</a:t>
            </a:r>
            <a:r>
              <a:rPr lang="zh-CN" altLang="en-US" dirty="0">
                <a:solidFill>
                  <a:schemeClr val="tx1"/>
                </a:solidFill>
              </a:rPr>
              <a:t>网络基础，</a:t>
            </a:r>
            <a:r>
              <a:rPr lang="en-US" altLang="zh-CN" dirty="0">
                <a:solidFill>
                  <a:schemeClr val="tx1"/>
                </a:solidFill>
              </a:rPr>
              <a:t>IP</a:t>
            </a:r>
            <a:r>
              <a:rPr lang="zh-CN" altLang="en-US" dirty="0">
                <a:solidFill>
                  <a:schemeClr val="tx1"/>
                </a:solidFill>
              </a:rPr>
              <a:t>命令，配置网络参数，使用</a:t>
            </a:r>
            <a:r>
              <a:rPr lang="en-US" altLang="zh-CN" dirty="0" err="1">
                <a:solidFill>
                  <a:schemeClr val="tx1"/>
                </a:solidFill>
              </a:rPr>
              <a:t>nmcli</a:t>
            </a:r>
            <a:r>
              <a:rPr lang="zh-CN" altLang="en-US" dirty="0">
                <a:solidFill>
                  <a:schemeClr val="tx1"/>
                </a:solidFill>
              </a:rPr>
              <a:t>管理网络</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en-US" altLang="zh-CN" sz="3200" dirty="0">
                <a:solidFill>
                  <a:schemeClr val="tx1"/>
                </a:solidFill>
              </a:rPr>
              <a:t> Linux</a:t>
            </a:r>
            <a:r>
              <a:rPr lang="zh-CN" altLang="en-US" sz="3200" dirty="0">
                <a:solidFill>
                  <a:schemeClr val="tx1"/>
                </a:solidFill>
              </a:rPr>
              <a:t>网络工具</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网络测试工具，</a:t>
            </a:r>
            <a:r>
              <a:rPr lang="en-US" altLang="zh-CN" dirty="0">
                <a:solidFill>
                  <a:prstClr val="black"/>
                </a:solidFill>
              </a:rPr>
              <a:t>Internet</a:t>
            </a:r>
            <a:r>
              <a:rPr lang="zh-CN" altLang="en-US" dirty="0">
                <a:solidFill>
                  <a:prstClr val="black"/>
                </a:solidFill>
              </a:rPr>
              <a:t>网络客户工具，</a:t>
            </a:r>
            <a:r>
              <a:rPr lang="en-US" altLang="zh-CN" dirty="0">
                <a:solidFill>
                  <a:prstClr val="black"/>
                </a:solidFill>
              </a:rPr>
              <a:t>OpenSSH</a:t>
            </a:r>
            <a:r>
              <a:rPr lang="zh-CN" altLang="en-US" dirty="0">
                <a:solidFill>
                  <a:prstClr val="black"/>
                </a:solidFill>
              </a:rPr>
              <a:t>客户工具</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en-US" altLang="zh-CN" sz="3200" dirty="0">
                <a:solidFill>
                  <a:schemeClr val="tx1"/>
                </a:solidFill>
              </a:rPr>
              <a:t> RPM</a:t>
            </a:r>
            <a:r>
              <a:rPr lang="zh-CN" altLang="en-US" sz="3200" dirty="0">
                <a:solidFill>
                  <a:schemeClr val="tx1"/>
                </a:solidFill>
              </a:rPr>
              <a:t>包和</a:t>
            </a:r>
            <a:r>
              <a:rPr lang="en-US" altLang="zh-CN" sz="3200" dirty="0">
                <a:solidFill>
                  <a:schemeClr val="tx1"/>
                </a:solidFill>
              </a:rPr>
              <a:t>YUM</a:t>
            </a:r>
            <a:r>
              <a:rPr lang="zh-CN" altLang="en-US" sz="3200" dirty="0">
                <a:solidFill>
                  <a:schemeClr val="tx1"/>
                </a:solidFill>
              </a:rPr>
              <a:t>配置</a:t>
            </a:r>
            <a:endParaRPr lang="en-US" altLang="zh-CN" sz="3200" dirty="0">
              <a:solidFill>
                <a:schemeClr val="tx1"/>
              </a:solidFill>
            </a:endParaRPr>
          </a:p>
          <a:p>
            <a:pPr lvl="1" algn="l">
              <a:lnSpc>
                <a:spcPct val="110000"/>
              </a:lnSpc>
              <a:spcBef>
                <a:spcPts val="600"/>
              </a:spcBef>
              <a:spcAft>
                <a:spcPts val="600"/>
              </a:spcAft>
            </a:pPr>
            <a:r>
              <a:rPr lang="en-US" altLang="zh-CN" dirty="0">
                <a:solidFill>
                  <a:prstClr val="black"/>
                </a:solidFill>
              </a:rPr>
              <a:t>RPM</a:t>
            </a:r>
            <a:r>
              <a:rPr lang="zh-CN" altLang="en-US" dirty="0">
                <a:solidFill>
                  <a:prstClr val="black"/>
                </a:solidFill>
              </a:rPr>
              <a:t>概述及</a:t>
            </a:r>
            <a:r>
              <a:rPr lang="en-US" altLang="zh-CN" dirty="0">
                <a:solidFill>
                  <a:prstClr val="black"/>
                </a:solidFill>
              </a:rPr>
              <a:t>RPM</a:t>
            </a:r>
            <a:r>
              <a:rPr lang="zh-CN" altLang="en-US" dirty="0">
                <a:solidFill>
                  <a:prstClr val="black"/>
                </a:solidFill>
              </a:rPr>
              <a:t>命令的使用，</a:t>
            </a:r>
            <a:r>
              <a:rPr lang="en-US" altLang="zh-CN" dirty="0">
                <a:solidFill>
                  <a:prstClr val="black"/>
                </a:solidFill>
              </a:rPr>
              <a:t>YUM</a:t>
            </a:r>
            <a:r>
              <a:rPr lang="zh-CN" altLang="en-US" dirty="0">
                <a:solidFill>
                  <a:prstClr val="black"/>
                </a:solidFill>
              </a:rPr>
              <a:t>概述及</a:t>
            </a:r>
            <a:r>
              <a:rPr lang="en-US" altLang="zh-CN" dirty="0">
                <a:solidFill>
                  <a:prstClr val="black"/>
                </a:solidFill>
              </a:rPr>
              <a:t>YUM</a:t>
            </a:r>
            <a:r>
              <a:rPr lang="zh-CN" altLang="en-US" dirty="0">
                <a:solidFill>
                  <a:prstClr val="black"/>
                </a:solidFill>
              </a:rPr>
              <a:t>命令的使用和配置</a:t>
            </a:r>
            <a:endParaRPr lang="en-US" altLang="zh-CN" dirty="0">
              <a:solidFill>
                <a:prstClr val="black"/>
              </a:solidFill>
            </a:endParaRPr>
          </a:p>
          <a:p>
            <a:pPr lvl="1" algn="l">
              <a:lnSpc>
                <a:spcPct val="110000"/>
              </a:lnSpc>
              <a:spcBef>
                <a:spcPts val="600"/>
              </a:spcBef>
              <a:spcAft>
                <a:spcPts val="600"/>
              </a:spcAft>
            </a:pPr>
            <a:endParaRPr lang="zh-CN" altLang="en-US" dirty="0">
              <a:solidFill>
                <a:prstClr val="black"/>
              </a:solidFill>
            </a:endParaRPr>
          </a:p>
        </p:txBody>
      </p:sp>
    </p:spTree>
    <p:extLst>
      <p:ext uri="{BB962C8B-B14F-4D97-AF65-F5344CB8AC3E}">
        <p14:creationId xmlns:p14="http://schemas.microsoft.com/office/powerpoint/2010/main" val="91129637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 </a:t>
            </a:r>
            <a:r>
              <a:rPr lang="en-US" altLang="zh-CN" dirty="0"/>
              <a:t>RPM</a:t>
            </a:r>
            <a:r>
              <a:rPr lang="zh-CN" altLang="en-US" dirty="0"/>
              <a:t>概述</a:t>
            </a:r>
          </a:p>
        </p:txBody>
      </p:sp>
      <p:sp>
        <p:nvSpPr>
          <p:cNvPr id="3" name="内容占位符 2"/>
          <p:cNvSpPr>
            <a:spLocks noGrp="1"/>
          </p:cNvSpPr>
          <p:nvPr>
            <p:ph idx="1"/>
          </p:nvPr>
        </p:nvSpPr>
        <p:spPr>
          <a:xfrm>
            <a:off x="467544" y="1340768"/>
            <a:ext cx="8479606" cy="5184576"/>
          </a:xfrm>
        </p:spPr>
        <p:txBody>
          <a:bodyPr/>
          <a:lstStyle/>
          <a:p>
            <a:pPr algn="just">
              <a:lnSpc>
                <a:spcPct val="120000"/>
              </a:lnSpc>
            </a:pPr>
            <a:r>
              <a:rPr lang="en-US" altLang="zh-CN" sz="3000" dirty="0"/>
              <a:t>RPM </a:t>
            </a:r>
            <a:r>
              <a:rPr lang="zh-CN" altLang="en-US" sz="3000" dirty="0"/>
              <a:t>最早是由 </a:t>
            </a:r>
            <a:r>
              <a:rPr lang="en-US" altLang="zh-CN" sz="3000" dirty="0">
                <a:solidFill>
                  <a:srgbClr val="FF0000"/>
                </a:solidFill>
              </a:rPr>
              <a:t>Red Hat </a:t>
            </a:r>
            <a:r>
              <a:rPr lang="zh-CN" altLang="en-US" sz="3000" dirty="0"/>
              <a:t>公司提出的软件包管理标准，最初的全称是 </a:t>
            </a:r>
            <a:r>
              <a:rPr lang="en-US" altLang="zh-CN" sz="3000" dirty="0">
                <a:solidFill>
                  <a:srgbClr val="FF0000"/>
                </a:solidFill>
              </a:rPr>
              <a:t>Red Hat Package Manager</a:t>
            </a:r>
            <a:endParaRPr lang="zh-CN" altLang="en-US" sz="3000" dirty="0"/>
          </a:p>
          <a:p>
            <a:pPr algn="just">
              <a:lnSpc>
                <a:spcPct val="120000"/>
              </a:lnSpc>
            </a:pPr>
            <a:r>
              <a:rPr lang="zh-CN" altLang="en-US" sz="3000" dirty="0"/>
              <a:t>后来随着版本的升级又融入了许多其他的优秀特性， 成为了</a:t>
            </a:r>
            <a:r>
              <a:rPr lang="en-US" altLang="zh-CN" sz="3000" dirty="0"/>
              <a:t>Linux</a:t>
            </a:r>
            <a:r>
              <a:rPr lang="zh-CN" altLang="en-US" sz="3000" dirty="0"/>
              <a:t>中</a:t>
            </a:r>
            <a:r>
              <a:rPr lang="zh-CN" altLang="en-US" sz="3000" dirty="0">
                <a:solidFill>
                  <a:srgbClr val="FF0000"/>
                </a:solidFill>
              </a:rPr>
              <a:t>公认</a:t>
            </a:r>
            <a:r>
              <a:rPr lang="zh-CN" altLang="en-US" sz="3000" dirty="0"/>
              <a:t>的</a:t>
            </a:r>
            <a:r>
              <a:rPr lang="zh-CN" altLang="en-US" sz="3000" dirty="0">
                <a:solidFill>
                  <a:srgbClr val="FF0000"/>
                </a:solidFill>
              </a:rPr>
              <a:t>软件包管理标准</a:t>
            </a:r>
          </a:p>
          <a:p>
            <a:pPr algn="just">
              <a:lnSpc>
                <a:spcPct val="120000"/>
              </a:lnSpc>
            </a:pPr>
            <a:r>
              <a:rPr lang="zh-CN" altLang="en-US" sz="3000" dirty="0"/>
              <a:t>被许多</a:t>
            </a:r>
            <a:r>
              <a:rPr lang="en-US" altLang="zh-CN" sz="3000" dirty="0"/>
              <a:t>Linux</a:t>
            </a:r>
            <a:r>
              <a:rPr lang="zh-CN" altLang="en-US" sz="3000" dirty="0"/>
              <a:t>发行使用，如：</a:t>
            </a:r>
            <a:r>
              <a:rPr lang="en-US" altLang="zh-CN" sz="3000" dirty="0"/>
              <a:t>RHEL/CentOS/Fedora, SLES/openSUSE </a:t>
            </a:r>
            <a:r>
              <a:rPr lang="zh-CN" altLang="en-US" sz="3000" dirty="0"/>
              <a:t>等</a:t>
            </a:r>
          </a:p>
          <a:p>
            <a:pPr algn="just">
              <a:lnSpc>
                <a:spcPct val="120000"/>
              </a:lnSpc>
            </a:pPr>
            <a:r>
              <a:rPr lang="zh-CN" altLang="en-US" sz="3000" dirty="0"/>
              <a:t>如今</a:t>
            </a:r>
            <a:r>
              <a:rPr lang="en-US" altLang="zh-CN" sz="3000" dirty="0"/>
              <a:t>RPM</a:t>
            </a:r>
            <a:r>
              <a:rPr lang="zh-CN" altLang="en-US" sz="3000" dirty="0"/>
              <a:t>是</a:t>
            </a:r>
            <a:r>
              <a:rPr lang="en-US" altLang="zh-CN" sz="3000" dirty="0">
                <a:solidFill>
                  <a:schemeClr val="accent6">
                    <a:lumMod val="75000"/>
                  </a:schemeClr>
                </a:solidFill>
              </a:rPr>
              <a:t>RPM Package Manager</a:t>
            </a:r>
            <a:r>
              <a:rPr lang="zh-CN" altLang="en-US" sz="3000" dirty="0"/>
              <a:t>的缩写，</a:t>
            </a:r>
            <a:r>
              <a:rPr lang="zh-CN" altLang="en-US" sz="3000" dirty="0">
                <a:solidFill>
                  <a:srgbClr val="FF0000"/>
                </a:solidFill>
              </a:rPr>
              <a:t>由</a:t>
            </a:r>
            <a:r>
              <a:rPr lang="en-US" altLang="zh-CN" sz="3000" dirty="0">
                <a:solidFill>
                  <a:srgbClr val="FF0000"/>
                </a:solidFill>
              </a:rPr>
              <a:t>RPM</a:t>
            </a:r>
            <a:r>
              <a:rPr lang="zh-CN" altLang="en-US" sz="3000" dirty="0">
                <a:solidFill>
                  <a:srgbClr val="FF0000"/>
                </a:solidFill>
              </a:rPr>
              <a:t>社区</a:t>
            </a:r>
            <a:r>
              <a:rPr lang="zh-CN" altLang="en-US" sz="3000" dirty="0"/>
              <a:t>（</a:t>
            </a:r>
            <a:r>
              <a:rPr lang="en-US" altLang="zh-CN" sz="3000" dirty="0"/>
              <a:t>http://www.rpm.org/</a:t>
            </a:r>
            <a:r>
              <a:rPr lang="zh-CN" altLang="en-US" sz="3000" dirty="0"/>
              <a:t>）负责</a:t>
            </a:r>
            <a:r>
              <a:rPr lang="zh-CN" altLang="en-US" sz="3000" dirty="0">
                <a:solidFill>
                  <a:srgbClr val="FF0000"/>
                </a:solidFill>
              </a:rPr>
              <a:t>维护</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的</a:t>
            </a:r>
            <a:r>
              <a:rPr lang="zh-CN" altLang="en-US" dirty="0" smtClean="0"/>
              <a:t>优点</a:t>
            </a:r>
            <a:endParaRPr lang="zh-CN" altLang="en-US" dirty="0"/>
          </a:p>
        </p:txBody>
      </p:sp>
      <p:sp>
        <p:nvSpPr>
          <p:cNvPr id="3" name="内容占位符 2"/>
          <p:cNvSpPr>
            <a:spLocks noGrp="1"/>
          </p:cNvSpPr>
          <p:nvPr>
            <p:ph idx="1"/>
          </p:nvPr>
        </p:nvSpPr>
        <p:spPr>
          <a:xfrm>
            <a:off x="971600" y="2575437"/>
            <a:ext cx="7772400" cy="2422103"/>
          </a:xfrm>
        </p:spPr>
        <p:txBody>
          <a:bodyPr/>
          <a:lstStyle/>
          <a:p>
            <a:r>
              <a:rPr lang="zh-CN" altLang="en-US" dirty="0"/>
              <a:t>易于安装、升级便利</a:t>
            </a:r>
          </a:p>
          <a:p>
            <a:r>
              <a:rPr lang="zh-CN" altLang="en-US" dirty="0"/>
              <a:t>丰富的软件包查询功能</a:t>
            </a:r>
          </a:p>
          <a:p>
            <a:r>
              <a:rPr lang="zh-CN" altLang="en-US" dirty="0"/>
              <a:t>软件包内容校验功能</a:t>
            </a:r>
          </a:p>
          <a:p>
            <a:r>
              <a:rPr lang="zh-CN" altLang="en-US" dirty="0"/>
              <a:t>支持多种硬件平台</a:t>
            </a:r>
          </a:p>
        </p:txBody>
      </p:sp>
      <p:graphicFrame>
        <p:nvGraphicFramePr>
          <p:cNvPr id="7" name="表格 6">
            <a:extLst>
              <a:ext uri="{FF2B5EF4-FFF2-40B4-BE49-F238E27FC236}">
                <a16:creationId xmlns:a16="http://schemas.microsoft.com/office/drawing/2014/main" id="{73C8A23F-C6EA-4D7E-9720-6F7B10ADE3C9}"/>
              </a:ext>
            </a:extLst>
          </p:cNvPr>
          <p:cNvGraphicFramePr>
            <a:graphicFrameLocks noGrp="1"/>
          </p:cNvGraphicFramePr>
          <p:nvPr>
            <p:extLst>
              <p:ext uri="{D42A27DB-BD31-4B8C-83A1-F6EECF244321}">
                <p14:modId xmlns:p14="http://schemas.microsoft.com/office/powerpoint/2010/main" val="3206565999"/>
              </p:ext>
            </p:extLst>
          </p:nvPr>
        </p:nvGraphicFramePr>
        <p:xfrm>
          <a:off x="604789" y="1445382"/>
          <a:ext cx="8340476" cy="1051560"/>
        </p:xfrm>
        <a:graphic>
          <a:graphicData uri="http://schemas.openxmlformats.org/drawingml/2006/table">
            <a:tbl>
              <a:tblPr>
                <a:tableStyleId>{284E427A-3D55-4303-BF80-6455036E1DE7}</a:tableStyleId>
              </a:tblPr>
              <a:tblGrid>
                <a:gridCol w="2160241">
                  <a:extLst>
                    <a:ext uri="{9D8B030D-6E8A-4147-A177-3AD203B41FA5}">
                      <a16:colId xmlns:a16="http://schemas.microsoft.com/office/drawing/2014/main" val="1324790743"/>
                    </a:ext>
                  </a:extLst>
                </a:gridCol>
                <a:gridCol w="1728192">
                  <a:extLst>
                    <a:ext uri="{9D8B030D-6E8A-4147-A177-3AD203B41FA5}">
                      <a16:colId xmlns:a16="http://schemas.microsoft.com/office/drawing/2014/main" val="1146665897"/>
                    </a:ext>
                  </a:extLst>
                </a:gridCol>
                <a:gridCol w="1944216">
                  <a:extLst>
                    <a:ext uri="{9D8B030D-6E8A-4147-A177-3AD203B41FA5}">
                      <a16:colId xmlns:a16="http://schemas.microsoft.com/office/drawing/2014/main" val="3626298765"/>
                    </a:ext>
                  </a:extLst>
                </a:gridCol>
                <a:gridCol w="2507827">
                  <a:extLst>
                    <a:ext uri="{9D8B030D-6E8A-4147-A177-3AD203B41FA5}">
                      <a16:colId xmlns:a16="http://schemas.microsoft.com/office/drawing/2014/main" val="4031711504"/>
                    </a:ext>
                  </a:extLst>
                </a:gridCol>
              </a:tblGrid>
              <a:tr h="0">
                <a:tc>
                  <a:txBody>
                    <a:bodyPr/>
                    <a:lstStyle/>
                    <a:p>
                      <a:pPr algn="ctr"/>
                      <a:r>
                        <a:rPr lang="en-US" sz="2000" b="1" dirty="0">
                          <a:solidFill>
                            <a:srgbClr val="C00000"/>
                          </a:solidFill>
                          <a:effectLst/>
                        </a:rPr>
                        <a:t>distribution </a:t>
                      </a:r>
                      <a:r>
                        <a:rPr lang="zh-CN" altLang="en-US" sz="2000" b="1" dirty="0">
                          <a:solidFill>
                            <a:srgbClr val="C00000"/>
                          </a:solidFill>
                          <a:effectLst/>
                        </a:rPr>
                        <a:t>代表</a:t>
                      </a:r>
                      <a:endParaRPr lang="zh-CN" altLang="en-US" sz="2000" b="1" dirty="0">
                        <a:solidFill>
                          <a:srgbClr val="C00000"/>
                        </a:solidFill>
                        <a:effectLst/>
                        <a:latin typeface="新细明体"/>
                      </a:endParaRPr>
                    </a:p>
                  </a:txBody>
                  <a:tcPr marL="22860" marR="22860" marT="22860" marB="22860" anchor="ctr"/>
                </a:tc>
                <a:tc>
                  <a:txBody>
                    <a:bodyPr/>
                    <a:lstStyle/>
                    <a:p>
                      <a:pPr algn="ctr"/>
                      <a:r>
                        <a:rPr lang="zh-CN" altLang="en-US" sz="2000" b="1" dirty="0">
                          <a:solidFill>
                            <a:srgbClr val="C00000"/>
                          </a:solidFill>
                          <a:effectLst/>
                        </a:rPr>
                        <a:t>软件管理机制</a:t>
                      </a:r>
                      <a:endParaRPr lang="zh-CN" altLang="en-US" sz="2000" b="1" dirty="0">
                        <a:solidFill>
                          <a:srgbClr val="C00000"/>
                        </a:solidFill>
                        <a:effectLst/>
                        <a:latin typeface="新细明体"/>
                      </a:endParaRPr>
                    </a:p>
                  </a:txBody>
                  <a:tcPr marL="22860" marR="22860" marT="22860" marB="22860" anchor="ctr"/>
                </a:tc>
                <a:tc>
                  <a:txBody>
                    <a:bodyPr/>
                    <a:lstStyle/>
                    <a:p>
                      <a:pPr algn="ctr"/>
                      <a:r>
                        <a:rPr lang="zh-CN" altLang="en-US" sz="2000" b="1" dirty="0">
                          <a:solidFill>
                            <a:srgbClr val="C00000"/>
                          </a:solidFill>
                          <a:effectLst/>
                        </a:rPr>
                        <a:t>使用命令</a:t>
                      </a:r>
                      <a:endParaRPr lang="zh-CN" altLang="en-US" sz="2000" b="1" dirty="0">
                        <a:solidFill>
                          <a:srgbClr val="C00000"/>
                        </a:solidFill>
                        <a:effectLst/>
                        <a:latin typeface="新细明体"/>
                      </a:endParaRPr>
                    </a:p>
                  </a:txBody>
                  <a:tcPr marL="22860" marR="22860" marT="22860" marB="22860" anchor="ctr"/>
                </a:tc>
                <a:tc>
                  <a:txBody>
                    <a:bodyPr/>
                    <a:lstStyle/>
                    <a:p>
                      <a:pPr algn="ctr"/>
                      <a:r>
                        <a:rPr lang="zh-CN" altLang="en-US" sz="2000" b="1" dirty="0">
                          <a:solidFill>
                            <a:srgbClr val="C00000"/>
                          </a:solidFill>
                          <a:effectLst/>
                        </a:rPr>
                        <a:t>线上升级机制</a:t>
                      </a:r>
                      <a:r>
                        <a:rPr lang="en-US" altLang="zh-CN" sz="2000" b="1" dirty="0">
                          <a:solidFill>
                            <a:srgbClr val="C00000"/>
                          </a:solidFill>
                          <a:effectLst/>
                        </a:rPr>
                        <a:t>(</a:t>
                      </a:r>
                      <a:r>
                        <a:rPr lang="zh-CN" altLang="en-US" sz="2000" b="1" dirty="0">
                          <a:solidFill>
                            <a:srgbClr val="C00000"/>
                          </a:solidFill>
                          <a:effectLst/>
                        </a:rPr>
                        <a:t>命令</a:t>
                      </a:r>
                      <a:r>
                        <a:rPr lang="en-US" altLang="zh-CN" sz="2000" b="1" dirty="0">
                          <a:solidFill>
                            <a:srgbClr val="C00000"/>
                          </a:solidFill>
                          <a:effectLst/>
                        </a:rPr>
                        <a:t>)</a:t>
                      </a:r>
                      <a:endParaRPr lang="en-US" altLang="zh-CN" sz="2000" b="1" dirty="0">
                        <a:solidFill>
                          <a:srgbClr val="C00000"/>
                        </a:solidFill>
                        <a:effectLst/>
                        <a:latin typeface="新细明体"/>
                      </a:endParaRPr>
                    </a:p>
                  </a:txBody>
                  <a:tcPr marL="22860" marR="22860" marT="22860" marB="22860" anchor="ctr"/>
                </a:tc>
                <a:extLst>
                  <a:ext uri="{0D108BD9-81ED-4DB2-BD59-A6C34878D82A}">
                    <a16:rowId xmlns:a16="http://schemas.microsoft.com/office/drawing/2014/main" val="2343325738"/>
                  </a:ext>
                </a:extLst>
              </a:tr>
              <a:tr h="0">
                <a:tc>
                  <a:txBody>
                    <a:bodyPr/>
                    <a:lstStyle/>
                    <a:p>
                      <a:pPr algn="ctr"/>
                      <a:r>
                        <a:rPr lang="en-US" sz="2000" dirty="0">
                          <a:effectLst/>
                        </a:rPr>
                        <a:t>Red Hat/Fedora</a:t>
                      </a:r>
                      <a:endParaRPr lang="en-US" sz="2000" dirty="0">
                        <a:effectLst/>
                        <a:latin typeface="新细明体"/>
                      </a:endParaRPr>
                    </a:p>
                  </a:txBody>
                  <a:tcPr marL="22860" marR="22860" marT="22860" marB="22860" anchor="ctr"/>
                </a:tc>
                <a:tc>
                  <a:txBody>
                    <a:bodyPr/>
                    <a:lstStyle/>
                    <a:p>
                      <a:pPr algn="ctr"/>
                      <a:r>
                        <a:rPr lang="en-US" sz="2000" dirty="0">
                          <a:effectLst/>
                        </a:rPr>
                        <a:t>RPM</a:t>
                      </a:r>
                      <a:endParaRPr lang="en-US" sz="2000" dirty="0">
                        <a:effectLst/>
                        <a:latin typeface="新细明体"/>
                      </a:endParaRPr>
                    </a:p>
                  </a:txBody>
                  <a:tcPr marL="22860" marR="22860" marT="22860" marB="22860" anchor="ctr"/>
                </a:tc>
                <a:tc>
                  <a:txBody>
                    <a:bodyPr/>
                    <a:lstStyle/>
                    <a:p>
                      <a:pPr algn="ctr"/>
                      <a:r>
                        <a:rPr lang="en-US" sz="2000" dirty="0">
                          <a:effectLst/>
                        </a:rPr>
                        <a:t>rpm, rpmbuild</a:t>
                      </a:r>
                      <a:endParaRPr lang="en-US" sz="2000" dirty="0">
                        <a:effectLst/>
                        <a:latin typeface="新细明体"/>
                      </a:endParaRPr>
                    </a:p>
                  </a:txBody>
                  <a:tcPr marL="22860" marR="22860" marT="22860" marB="22860" anchor="ctr"/>
                </a:tc>
                <a:tc>
                  <a:txBody>
                    <a:bodyPr/>
                    <a:lstStyle/>
                    <a:p>
                      <a:pPr algn="ctr"/>
                      <a:r>
                        <a:rPr lang="en-US" sz="2000" dirty="0">
                          <a:effectLst/>
                        </a:rPr>
                        <a:t>YUM (yum)</a:t>
                      </a:r>
                      <a:endParaRPr lang="en-US" sz="2000" dirty="0">
                        <a:effectLst/>
                        <a:latin typeface="新细明体"/>
                      </a:endParaRPr>
                    </a:p>
                  </a:txBody>
                  <a:tcPr marL="22860" marR="22860" marT="22860" marB="22860" anchor="ctr"/>
                </a:tc>
                <a:extLst>
                  <a:ext uri="{0D108BD9-81ED-4DB2-BD59-A6C34878D82A}">
                    <a16:rowId xmlns:a16="http://schemas.microsoft.com/office/drawing/2014/main" val="2859738445"/>
                  </a:ext>
                </a:extLst>
              </a:tr>
              <a:tr h="0">
                <a:tc>
                  <a:txBody>
                    <a:bodyPr/>
                    <a:lstStyle/>
                    <a:p>
                      <a:pPr algn="ctr"/>
                      <a:r>
                        <a:rPr lang="en-US" sz="2000">
                          <a:effectLst/>
                        </a:rPr>
                        <a:t>Debian/Ubuntu</a:t>
                      </a:r>
                      <a:endParaRPr lang="en-US" sz="2000">
                        <a:effectLst/>
                        <a:latin typeface="新细明体"/>
                      </a:endParaRPr>
                    </a:p>
                  </a:txBody>
                  <a:tcPr marL="22860" marR="22860" marT="22860" marB="22860" anchor="ctr"/>
                </a:tc>
                <a:tc>
                  <a:txBody>
                    <a:bodyPr/>
                    <a:lstStyle/>
                    <a:p>
                      <a:pPr algn="ctr"/>
                      <a:r>
                        <a:rPr lang="en-US" sz="2000" dirty="0">
                          <a:effectLst/>
                        </a:rPr>
                        <a:t>DPKG</a:t>
                      </a:r>
                      <a:endParaRPr lang="en-US" sz="2000" dirty="0">
                        <a:effectLst/>
                        <a:latin typeface="新细明体"/>
                      </a:endParaRPr>
                    </a:p>
                  </a:txBody>
                  <a:tcPr marL="22860" marR="22860" marT="22860" marB="22860" anchor="ctr"/>
                </a:tc>
                <a:tc>
                  <a:txBody>
                    <a:bodyPr/>
                    <a:lstStyle/>
                    <a:p>
                      <a:pPr algn="ctr"/>
                      <a:r>
                        <a:rPr lang="en-US" sz="2000" dirty="0" err="1">
                          <a:effectLst/>
                        </a:rPr>
                        <a:t>dpkg</a:t>
                      </a:r>
                      <a:endParaRPr lang="en-US" sz="2000" dirty="0">
                        <a:effectLst/>
                        <a:latin typeface="新细明体"/>
                      </a:endParaRPr>
                    </a:p>
                  </a:txBody>
                  <a:tcPr marL="22860" marR="22860" marT="22860" marB="22860" anchor="ctr"/>
                </a:tc>
                <a:tc>
                  <a:txBody>
                    <a:bodyPr/>
                    <a:lstStyle/>
                    <a:p>
                      <a:pPr algn="ctr"/>
                      <a:r>
                        <a:rPr lang="en-US" sz="2000" dirty="0">
                          <a:effectLst/>
                        </a:rPr>
                        <a:t>APT (apt-get)</a:t>
                      </a:r>
                      <a:endParaRPr lang="en-US" sz="2000" dirty="0">
                        <a:effectLst/>
                        <a:latin typeface="新细明体"/>
                      </a:endParaRPr>
                    </a:p>
                  </a:txBody>
                  <a:tcPr marL="22860" marR="22860" marT="22860" marB="22860" anchor="ctr"/>
                </a:tc>
                <a:extLst>
                  <a:ext uri="{0D108BD9-81ED-4DB2-BD59-A6C34878D82A}">
                    <a16:rowId xmlns:a16="http://schemas.microsoft.com/office/drawing/2014/main" val="861861447"/>
                  </a:ext>
                </a:extLst>
              </a:tr>
            </a:tbl>
          </a:graphicData>
        </a:graphic>
      </p:graphicFrame>
      <p:sp>
        <p:nvSpPr>
          <p:cNvPr id="9" name="文本框 8">
            <a:extLst>
              <a:ext uri="{FF2B5EF4-FFF2-40B4-BE49-F238E27FC236}">
                <a16:creationId xmlns:a16="http://schemas.microsoft.com/office/drawing/2014/main" id="{BCF1CC7C-51DD-4EC9-B312-C00017D4CFD0}"/>
              </a:ext>
            </a:extLst>
          </p:cNvPr>
          <p:cNvSpPr txBox="1"/>
          <p:nvPr/>
        </p:nvSpPr>
        <p:spPr>
          <a:xfrm>
            <a:off x="1043608" y="4981400"/>
            <a:ext cx="7272808" cy="1829603"/>
          </a:xfrm>
          <a:prstGeom prst="rect">
            <a:avLst/>
          </a:prstGeom>
          <a:noFill/>
        </p:spPr>
        <p:txBody>
          <a:bodyPr wrap="square">
            <a:spAutoFit/>
          </a:bodyPr>
          <a:lstStyle/>
          <a:p>
            <a:pPr algn="l">
              <a:lnSpc>
                <a:spcPct val="120000"/>
              </a:lnSpc>
              <a:buFont typeface="+mj-lt"/>
              <a:buAutoNum type="arabicPeriod"/>
            </a:pPr>
            <a:r>
              <a:rPr lang="zh-CN" altLang="en-US" sz="2400" b="0" dirty="0">
                <a:solidFill>
                  <a:srgbClr val="000088"/>
                </a:solidFill>
                <a:effectLst/>
                <a:latin typeface="新细明体"/>
              </a:rPr>
              <a:t>由于</a:t>
            </a:r>
            <a:r>
              <a:rPr lang="zh-CN" altLang="en-US" sz="2400" b="0" dirty="0">
                <a:solidFill>
                  <a:srgbClr val="C00000"/>
                </a:solidFill>
                <a:effectLst/>
                <a:latin typeface="新细明体"/>
              </a:rPr>
              <a:t>已经编译</a:t>
            </a:r>
            <a:r>
              <a:rPr lang="zh-CN" altLang="en-US" sz="2400" b="0" dirty="0">
                <a:solidFill>
                  <a:srgbClr val="000088"/>
                </a:solidFill>
                <a:effectLst/>
                <a:latin typeface="新细明体"/>
              </a:rPr>
              <a:t>完成并且打包完毕，所以软件传输与安装上很方便 </a:t>
            </a:r>
            <a:r>
              <a:rPr lang="en-US" altLang="zh-CN" sz="2400" b="0" dirty="0">
                <a:solidFill>
                  <a:srgbClr val="000088"/>
                </a:solidFill>
                <a:effectLst/>
                <a:latin typeface="新细明体"/>
              </a:rPr>
              <a:t>(</a:t>
            </a:r>
            <a:r>
              <a:rPr lang="zh-CN" altLang="en-US" sz="2400" b="0" dirty="0">
                <a:solidFill>
                  <a:srgbClr val="000088"/>
                </a:solidFill>
                <a:effectLst/>
                <a:latin typeface="新细明体"/>
              </a:rPr>
              <a:t>不需要再重新编译</a:t>
            </a:r>
            <a:r>
              <a:rPr lang="en-US" altLang="zh-CN" sz="2400" b="0" dirty="0">
                <a:solidFill>
                  <a:srgbClr val="000088"/>
                </a:solidFill>
                <a:effectLst/>
                <a:latin typeface="新细明体"/>
              </a:rPr>
              <a:t>)</a:t>
            </a:r>
            <a:r>
              <a:rPr lang="zh-CN" altLang="en-US" sz="2400" b="0" dirty="0">
                <a:solidFill>
                  <a:srgbClr val="000088"/>
                </a:solidFill>
                <a:effectLst/>
                <a:latin typeface="新细明体"/>
              </a:rPr>
              <a:t>；</a:t>
            </a:r>
          </a:p>
          <a:p>
            <a:pPr algn="l">
              <a:lnSpc>
                <a:spcPct val="120000"/>
              </a:lnSpc>
              <a:buFont typeface="+mj-lt"/>
              <a:buAutoNum type="arabicPeriod"/>
            </a:pPr>
            <a:r>
              <a:rPr lang="zh-CN" altLang="en-US" sz="2400" b="0" dirty="0">
                <a:solidFill>
                  <a:srgbClr val="000088"/>
                </a:solidFill>
                <a:effectLst/>
                <a:latin typeface="新细明体"/>
              </a:rPr>
              <a:t>由于</a:t>
            </a:r>
            <a:r>
              <a:rPr lang="zh-CN" altLang="en-US" sz="2400" b="0" dirty="0">
                <a:solidFill>
                  <a:srgbClr val="C00000"/>
                </a:solidFill>
                <a:effectLst/>
                <a:latin typeface="新细明体"/>
              </a:rPr>
              <a:t>软件的信息</a:t>
            </a:r>
            <a:r>
              <a:rPr lang="zh-CN" altLang="en-US" sz="2400" b="0" dirty="0">
                <a:solidFill>
                  <a:srgbClr val="000088"/>
                </a:solidFill>
                <a:effectLst/>
                <a:latin typeface="新细明体"/>
              </a:rPr>
              <a:t>都</a:t>
            </a:r>
            <a:r>
              <a:rPr lang="zh-CN" altLang="en-US" sz="2400" b="0" dirty="0">
                <a:solidFill>
                  <a:srgbClr val="C00000"/>
                </a:solidFill>
                <a:effectLst/>
                <a:latin typeface="新细明体"/>
              </a:rPr>
              <a:t>已经记录</a:t>
            </a:r>
            <a:r>
              <a:rPr lang="zh-CN" altLang="en-US" sz="2400" b="0" dirty="0">
                <a:solidFill>
                  <a:srgbClr val="000088"/>
                </a:solidFill>
                <a:effectLst/>
                <a:latin typeface="新细明体"/>
              </a:rPr>
              <a:t>在 </a:t>
            </a:r>
            <a:r>
              <a:rPr lang="en-US" altLang="zh-CN" sz="2400" b="0" dirty="0">
                <a:solidFill>
                  <a:srgbClr val="000088"/>
                </a:solidFill>
                <a:effectLst/>
                <a:latin typeface="新细明体"/>
              </a:rPr>
              <a:t>Linux </a:t>
            </a:r>
            <a:r>
              <a:rPr lang="zh-CN" altLang="en-US" sz="2400" b="0" dirty="0">
                <a:solidFill>
                  <a:srgbClr val="000088"/>
                </a:solidFill>
                <a:effectLst/>
                <a:latin typeface="新细明体"/>
              </a:rPr>
              <a:t>主机的数据库上，很方便查询、升级与卸载</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的缺点</a:t>
            </a:r>
          </a:p>
        </p:txBody>
      </p:sp>
      <p:sp>
        <p:nvSpPr>
          <p:cNvPr id="3" name="内容占位符 2"/>
          <p:cNvSpPr>
            <a:spLocks noGrp="1"/>
          </p:cNvSpPr>
          <p:nvPr>
            <p:ph idx="1"/>
          </p:nvPr>
        </p:nvSpPr>
        <p:spPr>
          <a:xfrm>
            <a:off x="818815" y="1340768"/>
            <a:ext cx="8158820" cy="2422103"/>
          </a:xfrm>
        </p:spPr>
        <p:txBody>
          <a:bodyPr/>
          <a:lstStyle/>
          <a:p>
            <a:pPr marL="342900" indent="-342900" eaLnBrk="0" hangingPunct="0">
              <a:spcBef>
                <a:spcPct val="20000"/>
              </a:spcBef>
              <a:buClr>
                <a:srgbClr val="0000FF"/>
              </a:buClr>
              <a:buSzPct val="60000"/>
              <a:buFont typeface="Wingdings" panose="05000000000000000000" pitchFamily="2" charset="2"/>
              <a:buChar char="n"/>
            </a:pPr>
            <a:r>
              <a:rPr lang="zh-CN" altLang="en-US" sz="2400" b="1" dirty="0">
                <a:latin typeface="楷体_GB2312"/>
                <a:ea typeface="楷体" panose="02010609060101010101" pitchFamily="49" charset="-122"/>
              </a:rPr>
              <a:t>软件文件</a:t>
            </a:r>
            <a:r>
              <a:rPr lang="zh-CN" altLang="en-US" sz="2400" b="1" dirty="0">
                <a:solidFill>
                  <a:srgbClr val="C00000"/>
                </a:solidFill>
                <a:latin typeface="楷体_GB2312"/>
                <a:ea typeface="楷体" panose="02010609060101010101" pitchFamily="49" charset="-122"/>
              </a:rPr>
              <a:t>安装的环境</a:t>
            </a:r>
            <a:r>
              <a:rPr lang="zh-CN" altLang="en-US" sz="2400" b="1" dirty="0">
                <a:latin typeface="楷体_GB2312"/>
                <a:ea typeface="楷体" panose="02010609060101010101" pitchFamily="49" charset="-122"/>
              </a:rPr>
              <a:t>必须与打包时环境需求一致或相当</a:t>
            </a:r>
          </a:p>
          <a:p>
            <a:pPr marL="342900" indent="-342900" eaLnBrk="0" hangingPunct="0">
              <a:spcBef>
                <a:spcPct val="20000"/>
              </a:spcBef>
              <a:buClr>
                <a:srgbClr val="0000FF"/>
              </a:buClr>
              <a:buSzPct val="60000"/>
              <a:buFont typeface="Wingdings" panose="05000000000000000000" pitchFamily="2" charset="2"/>
              <a:buChar char="n"/>
            </a:pPr>
            <a:r>
              <a:rPr lang="zh-CN" altLang="en-US" sz="2400" b="1" dirty="0">
                <a:latin typeface="楷体_GB2312"/>
                <a:ea typeface="楷体" panose="02010609060101010101" pitchFamily="49" charset="-122"/>
              </a:rPr>
              <a:t>需要满足软件的</a:t>
            </a:r>
            <a:r>
              <a:rPr lang="zh-CN" altLang="en-US" sz="2400" b="1" dirty="0">
                <a:solidFill>
                  <a:srgbClr val="C00000"/>
                </a:solidFill>
                <a:latin typeface="楷体_GB2312"/>
                <a:ea typeface="楷体" panose="02010609060101010101" pitchFamily="49" charset="-122"/>
              </a:rPr>
              <a:t>相依属性</a:t>
            </a:r>
            <a:r>
              <a:rPr lang="zh-CN" altLang="en-US" sz="2400" b="1" dirty="0">
                <a:latin typeface="楷体_GB2312"/>
                <a:ea typeface="楷体" panose="02010609060101010101" pitchFamily="49" charset="-122"/>
              </a:rPr>
              <a:t>需求</a:t>
            </a:r>
          </a:p>
          <a:p>
            <a:pPr marL="342900" indent="-342900" eaLnBrk="0" hangingPunct="0">
              <a:spcBef>
                <a:spcPct val="20000"/>
              </a:spcBef>
              <a:buClr>
                <a:srgbClr val="0000FF"/>
              </a:buClr>
              <a:buSzPct val="60000"/>
              <a:buFont typeface="Wingdings" panose="05000000000000000000" pitchFamily="2" charset="2"/>
              <a:buChar char="n"/>
            </a:pPr>
            <a:r>
              <a:rPr lang="zh-CN" altLang="en-US" sz="2400" b="1" dirty="0">
                <a:solidFill>
                  <a:srgbClr val="C00000"/>
                </a:solidFill>
                <a:latin typeface="楷体_GB2312"/>
                <a:ea typeface="楷体" panose="02010609060101010101" pitchFamily="49" charset="-122"/>
              </a:rPr>
              <a:t>卸载</a:t>
            </a:r>
            <a:r>
              <a:rPr lang="zh-CN" altLang="en-US" sz="2400" b="1" dirty="0">
                <a:latin typeface="楷体_GB2312"/>
                <a:ea typeface="楷体" panose="02010609060101010101" pitchFamily="49" charset="-122"/>
              </a:rPr>
              <a:t>时需要特别小心，</a:t>
            </a:r>
            <a:r>
              <a:rPr lang="zh-CN" altLang="en-US" sz="2400" b="1" dirty="0">
                <a:solidFill>
                  <a:srgbClr val="C00000"/>
                </a:solidFill>
                <a:latin typeface="楷体_GB2312"/>
                <a:ea typeface="楷体" panose="02010609060101010101" pitchFamily="49" charset="-122"/>
              </a:rPr>
              <a:t>最底层</a:t>
            </a:r>
            <a:r>
              <a:rPr lang="zh-CN" altLang="en-US" sz="2400" b="1" dirty="0">
                <a:latin typeface="楷体_GB2312"/>
                <a:ea typeface="楷体" panose="02010609060101010101" pitchFamily="49" charset="-122"/>
              </a:rPr>
              <a:t>的软件</a:t>
            </a:r>
            <a:r>
              <a:rPr lang="zh-CN" altLang="en-US" sz="2400" b="1" dirty="0">
                <a:solidFill>
                  <a:srgbClr val="C00000"/>
                </a:solidFill>
                <a:latin typeface="楷体_GB2312"/>
                <a:ea typeface="楷体" panose="02010609060101010101" pitchFamily="49" charset="-122"/>
              </a:rPr>
              <a:t>不可先移除</a:t>
            </a:r>
            <a:r>
              <a:rPr lang="zh-CN" altLang="en-US" sz="2400" b="1" dirty="0">
                <a:latin typeface="楷体_GB2312"/>
                <a:ea typeface="楷体" panose="02010609060101010101" pitchFamily="49" charset="-122"/>
              </a:rPr>
              <a:t>，否则可能造成整个系统的问题</a:t>
            </a:r>
          </a:p>
          <a:p>
            <a:endParaRPr lang="zh-CN" altLang="en-US" dirty="0"/>
          </a:p>
        </p:txBody>
      </p:sp>
      <p:sp>
        <p:nvSpPr>
          <p:cNvPr id="10" name="文本框 9">
            <a:extLst>
              <a:ext uri="{FF2B5EF4-FFF2-40B4-BE49-F238E27FC236}">
                <a16:creationId xmlns:a16="http://schemas.microsoft.com/office/drawing/2014/main" id="{C790C3A5-64F4-45EF-9B59-5573AEBD09B8}"/>
              </a:ext>
            </a:extLst>
          </p:cNvPr>
          <p:cNvSpPr txBox="1"/>
          <p:nvPr/>
        </p:nvSpPr>
        <p:spPr>
          <a:xfrm>
            <a:off x="816533" y="3068960"/>
            <a:ext cx="8291971" cy="2954655"/>
          </a:xfrm>
          <a:prstGeom prst="rect">
            <a:avLst/>
          </a:prstGeom>
          <a:noFill/>
        </p:spPr>
        <p:txBody>
          <a:bodyPr wrap="square">
            <a:spAutoFit/>
          </a:bodyPr>
          <a:lstStyle/>
          <a:p>
            <a:pPr marL="342900" indent="-342900">
              <a:lnSpc>
                <a:spcPct val="120000"/>
              </a:lnSpc>
              <a:buClr>
                <a:srgbClr val="0000FF"/>
              </a:buClr>
              <a:buSzPct val="60000"/>
              <a:buFont typeface="Wingdings" panose="05000000000000000000" pitchFamily="2" charset="2"/>
              <a:buChar char="n"/>
            </a:pPr>
            <a:r>
              <a:rPr lang="en-US" altLang="zh-CN" sz="2000" b="0" i="0" dirty="0">
                <a:solidFill>
                  <a:srgbClr val="C00000"/>
                </a:solidFill>
                <a:effectLst/>
                <a:latin typeface="微软雅黑" panose="020B0503020204020204" pitchFamily="34" charset="-122"/>
                <a:ea typeface="微软雅黑" panose="020B0503020204020204" pitchFamily="34" charset="-122"/>
              </a:rPr>
              <a:t>Source RPM</a:t>
            </a:r>
            <a:r>
              <a:rPr lang="zh-CN" altLang="en-US" sz="2000" dirty="0">
                <a:solidFill>
                  <a:srgbClr val="C00000"/>
                </a:solidFill>
                <a:latin typeface="微软雅黑" panose="020B0503020204020204" pitchFamily="34" charset="-122"/>
                <a:ea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rPr>
              <a:t>SRPM</a:t>
            </a:r>
            <a:r>
              <a:rPr lang="zh-CN" altLang="en-US" sz="2000" dirty="0">
                <a:solidFill>
                  <a:srgbClr val="C00000"/>
                </a:solidFill>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提供</a:t>
            </a:r>
            <a:r>
              <a:rPr lang="zh-CN" altLang="en-US" sz="2000" dirty="0">
                <a:solidFill>
                  <a:srgbClr val="C00000"/>
                </a:solidFill>
                <a:latin typeface="微软雅黑" panose="020B0503020204020204" pitchFamily="34" charset="-122"/>
                <a:ea typeface="微软雅黑" panose="020B0503020204020204" pitchFamily="34" charset="-122"/>
              </a:rPr>
              <a:t>未经过编译的</a:t>
            </a:r>
            <a:r>
              <a:rPr lang="zh-CN" altLang="en-US" sz="2000" b="0" i="0" dirty="0">
                <a:solidFill>
                  <a:srgbClr val="C00000"/>
                </a:solidFill>
                <a:effectLst/>
                <a:latin typeface="微软雅黑" panose="020B0503020204020204" pitchFamily="34" charset="-122"/>
                <a:ea typeface="微软雅黑" panose="020B0503020204020204" pitchFamily="34" charset="-122"/>
              </a:rPr>
              <a:t>软件内容</a:t>
            </a:r>
            <a:r>
              <a:rPr lang="zh-CN" altLang="en-US" sz="2000" b="0" i="0" dirty="0">
                <a:effectLst/>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软件所需要的</a:t>
            </a:r>
            <a:r>
              <a:rPr lang="zh-CN" altLang="en-US" sz="2000" dirty="0">
                <a:solidFill>
                  <a:srgbClr val="C00000"/>
                </a:solidFill>
                <a:latin typeface="微软雅黑" panose="020B0503020204020204" pitchFamily="34" charset="-122"/>
                <a:ea typeface="微软雅黑" panose="020B0503020204020204" pitchFamily="34" charset="-122"/>
              </a:rPr>
              <a:t>相依性软件说明</a:t>
            </a:r>
            <a:r>
              <a:rPr lang="zh-CN" altLang="en-US" sz="2000" dirty="0">
                <a:latin typeface="微软雅黑" panose="020B0503020204020204" pitchFamily="34" charset="-122"/>
                <a:ea typeface="微软雅黑" panose="020B0503020204020204" pitchFamily="34" charset="-122"/>
              </a:rPr>
              <a:t>、以及所有 </a:t>
            </a:r>
            <a:r>
              <a:rPr lang="en-US" altLang="zh-CN" sz="2000" dirty="0">
                <a:solidFill>
                  <a:srgbClr val="C00000"/>
                </a:solidFill>
                <a:latin typeface="微软雅黑" panose="020B0503020204020204" pitchFamily="34" charset="-122"/>
                <a:ea typeface="微软雅黑" panose="020B0503020204020204" pitchFamily="34" charset="-122"/>
              </a:rPr>
              <a:t>RPM </a:t>
            </a:r>
            <a:r>
              <a:rPr lang="zh-CN" altLang="en-US" sz="2000" dirty="0">
                <a:solidFill>
                  <a:srgbClr val="C00000"/>
                </a:solidFill>
                <a:latin typeface="微软雅黑" panose="020B0503020204020204" pitchFamily="34" charset="-122"/>
                <a:ea typeface="微软雅黑" panose="020B0503020204020204" pitchFamily="34" charset="-122"/>
              </a:rPr>
              <a:t>文件所提供的数据</a:t>
            </a:r>
            <a:endParaRPr lang="en-US" altLang="zh-CN" sz="2000" dirty="0">
              <a:solidFill>
                <a:srgbClr val="C00000"/>
              </a:solidFill>
              <a:latin typeface="微软雅黑" panose="020B0503020204020204" pitchFamily="34" charset="-122"/>
              <a:ea typeface="微软雅黑" panose="020B0503020204020204" pitchFamily="34" charset="-122"/>
            </a:endParaRPr>
          </a:p>
          <a:p>
            <a:pPr marL="342900" indent="-342900">
              <a:lnSpc>
                <a:spcPct val="120000"/>
              </a:lnSpc>
              <a:buClr>
                <a:srgbClr val="0000FF"/>
              </a:buClr>
              <a:buSzPct val="60000"/>
              <a:buFont typeface="Wingdings" panose="05000000000000000000" pitchFamily="2" charset="2"/>
              <a:buChar char="n"/>
            </a:pPr>
            <a:r>
              <a:rPr lang="en-US" altLang="zh-CN" sz="2000" b="0" dirty="0">
                <a:effectLst/>
                <a:latin typeface="微软雅黑" panose="020B0503020204020204" pitchFamily="34" charset="-122"/>
                <a:ea typeface="微软雅黑" panose="020B0503020204020204" pitchFamily="34" charset="-122"/>
              </a:rPr>
              <a:t>SRPM </a:t>
            </a:r>
            <a:r>
              <a:rPr lang="zh-CN" altLang="en-US" sz="2000" b="0" dirty="0">
                <a:effectLst/>
                <a:latin typeface="微软雅黑" panose="020B0503020204020204" pitchFamily="34" charset="-122"/>
                <a:ea typeface="微软雅黑" panose="020B0503020204020204" pitchFamily="34" charset="-122"/>
              </a:rPr>
              <a:t>的扩展名是</a:t>
            </a:r>
            <a:r>
              <a:rPr lang="zh-CN" altLang="en-US" sz="2000" b="0" dirty="0">
                <a:solidFill>
                  <a:srgbClr val="C00000"/>
                </a:solidFill>
                <a:effectLst/>
                <a:latin typeface="微软雅黑" panose="020B0503020204020204" pitchFamily="34" charset="-122"/>
                <a:ea typeface="微软雅黑" panose="020B0503020204020204" pitchFamily="34" charset="-122"/>
              </a:rPr>
              <a:t>以 ***</a:t>
            </a:r>
            <a:r>
              <a:rPr lang="en-US" altLang="zh-CN" sz="2000" b="0" dirty="0">
                <a:solidFill>
                  <a:srgbClr val="C00000"/>
                </a:solidFill>
                <a:effectLst/>
                <a:latin typeface="微软雅黑" panose="020B0503020204020204" pitchFamily="34" charset="-122"/>
                <a:ea typeface="微软雅黑" panose="020B0503020204020204" pitchFamily="34" charset="-122"/>
              </a:rPr>
              <a:t>.</a:t>
            </a:r>
            <a:r>
              <a:rPr lang="en-US" altLang="zh-CN" sz="2000" b="0" dirty="0" err="1">
                <a:solidFill>
                  <a:srgbClr val="C00000"/>
                </a:solidFill>
                <a:effectLst/>
                <a:latin typeface="微软雅黑" panose="020B0503020204020204" pitchFamily="34" charset="-122"/>
                <a:ea typeface="微软雅黑" panose="020B0503020204020204" pitchFamily="34" charset="-122"/>
              </a:rPr>
              <a:t>src.rpm</a:t>
            </a:r>
            <a:r>
              <a:rPr lang="en-US" altLang="zh-CN" sz="2000" b="0" dirty="0">
                <a:solidFill>
                  <a:srgbClr val="C00000"/>
                </a:solidFill>
                <a:effectLst/>
                <a:latin typeface="微软雅黑" panose="020B0503020204020204" pitchFamily="34" charset="-122"/>
                <a:ea typeface="微软雅黑" panose="020B0503020204020204" pitchFamily="34" charset="-122"/>
              </a:rPr>
              <a:t> </a:t>
            </a:r>
            <a:r>
              <a:rPr lang="zh-CN" altLang="en-US" sz="2000" b="0" dirty="0">
                <a:effectLst/>
                <a:latin typeface="微软雅黑" panose="020B0503020204020204" pitchFamily="34" charset="-122"/>
                <a:ea typeface="微软雅黑" panose="020B0503020204020204" pitchFamily="34" charset="-122"/>
              </a:rPr>
              <a:t>格式来命名</a:t>
            </a:r>
            <a:endParaRPr lang="en-US" altLang="zh-CN" sz="2000" b="0" dirty="0">
              <a:effectLst/>
              <a:latin typeface="微软雅黑" panose="020B0503020204020204" pitchFamily="34" charset="-122"/>
              <a:ea typeface="微软雅黑" panose="020B0503020204020204" pitchFamily="34" charset="-122"/>
            </a:endParaRPr>
          </a:p>
          <a:p>
            <a:pPr marL="342900" indent="-342900">
              <a:lnSpc>
                <a:spcPct val="120000"/>
              </a:lnSpc>
              <a:buClr>
                <a:srgbClr val="0000FF"/>
              </a:buClr>
              <a:buSzPct val="60000"/>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与 </a:t>
            </a:r>
            <a:r>
              <a:rPr lang="en-US" altLang="zh-CN" sz="2000" dirty="0">
                <a:latin typeface="微软雅黑" panose="020B0503020204020204" pitchFamily="34" charset="-122"/>
                <a:ea typeface="微软雅黑" panose="020B0503020204020204" pitchFamily="34" charset="-122"/>
              </a:rPr>
              <a:t>RPM </a:t>
            </a:r>
            <a:r>
              <a:rPr lang="zh-CN" altLang="en-US" sz="2000" dirty="0">
                <a:latin typeface="微软雅黑" panose="020B0503020204020204" pitchFamily="34" charset="-122"/>
                <a:ea typeface="微软雅黑" panose="020B0503020204020204" pitchFamily="34" charset="-122"/>
              </a:rPr>
              <a:t>不同的是，</a:t>
            </a:r>
            <a:r>
              <a:rPr lang="en-US" altLang="zh-CN" sz="2000" dirty="0">
                <a:latin typeface="微软雅黑" panose="020B0503020204020204" pitchFamily="34" charset="-122"/>
                <a:ea typeface="微软雅黑" panose="020B0503020204020204" pitchFamily="34" charset="-122"/>
              </a:rPr>
              <a:t> SRPM</a:t>
            </a:r>
            <a:r>
              <a:rPr lang="zh-CN" altLang="en-US" sz="2000" dirty="0">
                <a:latin typeface="微软雅黑" panose="020B0503020204020204" pitchFamily="34" charset="-122"/>
                <a:ea typeface="微软雅黑" panose="020B0503020204020204" pitchFamily="34" charset="-122"/>
              </a:rPr>
              <a:t>提供了</a:t>
            </a:r>
            <a:r>
              <a:rPr lang="zh-CN" altLang="en-US" sz="2000" dirty="0">
                <a:solidFill>
                  <a:srgbClr val="C00000"/>
                </a:solidFill>
                <a:latin typeface="微软雅黑" panose="020B0503020204020204" pitchFamily="34" charset="-122"/>
                <a:ea typeface="微软雅黑" panose="020B0503020204020204" pitchFamily="34" charset="-122"/>
              </a:rPr>
              <a:t>参数配置文件 </a:t>
            </a:r>
            <a:r>
              <a:rPr lang="en-US" altLang="zh-CN" sz="2000" dirty="0">
                <a:solidFill>
                  <a:srgbClr val="C00000"/>
                </a:solidFill>
                <a:latin typeface="微软雅黑" panose="020B0503020204020204" pitchFamily="34" charset="-122"/>
                <a:ea typeface="微软雅黑" panose="020B0503020204020204" pitchFamily="34" charset="-122"/>
              </a:rPr>
              <a:t>(configure </a:t>
            </a:r>
            <a:r>
              <a:rPr lang="zh-CN" altLang="en-US" sz="2000" dirty="0">
                <a:solidFill>
                  <a:srgbClr val="C00000"/>
                </a:solidFill>
                <a:latin typeface="微软雅黑" panose="020B0503020204020204" pitchFamily="34" charset="-122"/>
                <a:ea typeface="微软雅黑" panose="020B0503020204020204" pitchFamily="34" charset="-122"/>
              </a:rPr>
              <a:t>与 </a:t>
            </a:r>
            <a:r>
              <a:rPr lang="en-US" altLang="zh-CN" sz="2000" dirty="0" err="1">
                <a:solidFill>
                  <a:srgbClr val="C00000"/>
                </a:solidFill>
                <a:latin typeface="微软雅黑" panose="020B0503020204020204" pitchFamily="34" charset="-122"/>
                <a:ea typeface="微软雅黑" panose="020B0503020204020204" pitchFamily="34" charset="-122"/>
              </a:rPr>
              <a:t>makefile</a:t>
            </a:r>
            <a:r>
              <a:rPr lang="en-US" altLang="zh-CN" sz="2000" dirty="0">
                <a:solidFill>
                  <a:srgbClr val="C00000"/>
                </a:solidFill>
                <a:latin typeface="微软雅黑" panose="020B0503020204020204" pitchFamily="34" charset="-122"/>
                <a:ea typeface="微软雅黑" panose="020B0503020204020204" pitchFamily="34" charset="-122"/>
              </a:rPr>
              <a:t>)</a:t>
            </a:r>
            <a:r>
              <a:rPr lang="zh-CN" altLang="en-US" sz="2000" dirty="0">
                <a:solidFill>
                  <a:srgbClr val="C00000"/>
                </a:solidFill>
                <a:latin typeface="微软雅黑" panose="020B0503020204020204" pitchFamily="34" charset="-122"/>
                <a:ea typeface="微软雅黑" panose="020B0503020204020204" pitchFamily="34" charset="-122"/>
              </a:rPr>
              <a:t> </a:t>
            </a:r>
            <a:r>
              <a:rPr lang="zh-CN" altLang="en-US" sz="2000" b="0" i="0" dirty="0">
                <a:effectLst/>
                <a:latin typeface="微软雅黑" panose="020B0503020204020204" pitchFamily="34" charset="-122"/>
                <a:ea typeface="微软雅黑" panose="020B0503020204020204" pitchFamily="34" charset="-122"/>
              </a:rPr>
              <a:t>安装该软件时，需要：</a:t>
            </a:r>
          </a:p>
          <a:p>
            <a:pPr lvl="1">
              <a:lnSpc>
                <a:spcPct val="120000"/>
              </a:lnSpc>
              <a:buClr>
                <a:srgbClr val="C00000"/>
              </a:buClr>
              <a:buFont typeface="Arial" panose="020B0604020202020204" pitchFamily="34" charset="0"/>
              <a:buChar char="•"/>
            </a:pPr>
            <a:r>
              <a:rPr lang="zh-CN" altLang="en-US" sz="2000" b="0" dirty="0">
                <a:effectLst/>
                <a:latin typeface="微软雅黑" panose="020B0503020204020204" pitchFamily="34" charset="-122"/>
                <a:ea typeface="微软雅黑" panose="020B0503020204020204" pitchFamily="34" charset="-122"/>
              </a:rPr>
              <a:t> </a:t>
            </a:r>
            <a:r>
              <a:rPr lang="zh-CN" altLang="en-US" sz="2000" b="0" dirty="0">
                <a:solidFill>
                  <a:srgbClr val="C00000"/>
                </a:solidFill>
                <a:effectLst/>
                <a:latin typeface="微软雅黑" panose="020B0503020204020204" pitchFamily="34" charset="-122"/>
                <a:ea typeface="微软雅黑" panose="020B0503020204020204" pitchFamily="34" charset="-122"/>
              </a:rPr>
              <a:t>先</a:t>
            </a:r>
            <a:r>
              <a:rPr lang="zh-CN" altLang="en-US" sz="2000" b="0" dirty="0">
                <a:effectLst/>
                <a:latin typeface="微软雅黑" panose="020B0503020204020204" pitchFamily="34" charset="-122"/>
                <a:ea typeface="微软雅黑" panose="020B0503020204020204" pitchFamily="34" charset="-122"/>
              </a:rPr>
              <a:t>将该软件以 </a:t>
            </a:r>
            <a:r>
              <a:rPr lang="en-US" altLang="zh-CN" sz="2000" b="0" dirty="0">
                <a:effectLst/>
                <a:latin typeface="微软雅黑" panose="020B0503020204020204" pitchFamily="34" charset="-122"/>
                <a:ea typeface="微软雅黑" panose="020B0503020204020204" pitchFamily="34" charset="-122"/>
              </a:rPr>
              <a:t>RPM </a:t>
            </a:r>
            <a:r>
              <a:rPr lang="zh-CN" altLang="en-US" sz="2000" b="0" dirty="0">
                <a:effectLst/>
                <a:latin typeface="微软雅黑" panose="020B0503020204020204" pitchFamily="34" charset="-122"/>
                <a:ea typeface="微软雅黑" panose="020B0503020204020204" pitchFamily="34" charset="-122"/>
              </a:rPr>
              <a:t>管理方式</a:t>
            </a:r>
            <a:r>
              <a:rPr lang="zh-CN" altLang="en-US" sz="2000" b="0" dirty="0">
                <a:solidFill>
                  <a:srgbClr val="C00000"/>
                </a:solidFill>
                <a:effectLst/>
                <a:latin typeface="微软雅黑" panose="020B0503020204020204" pitchFamily="34" charset="-122"/>
                <a:ea typeface="微软雅黑" panose="020B0503020204020204" pitchFamily="34" charset="-122"/>
              </a:rPr>
              <a:t>编译</a:t>
            </a:r>
            <a:r>
              <a:rPr lang="zh-CN" altLang="en-US" sz="2000" b="0" dirty="0">
                <a:effectLst/>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SRPM </a:t>
            </a:r>
            <a:r>
              <a:rPr lang="zh-CN" altLang="en-US" sz="2000" dirty="0">
                <a:latin typeface="微软雅黑" panose="020B0503020204020204" pitchFamily="34" charset="-122"/>
                <a:ea typeface="微软雅黑" panose="020B0503020204020204" pitchFamily="34" charset="-122"/>
              </a:rPr>
              <a:t>会被编译成 </a:t>
            </a:r>
            <a:r>
              <a:rPr lang="en-US" altLang="zh-CN" sz="2000" dirty="0">
                <a:latin typeface="微软雅黑" panose="020B0503020204020204" pitchFamily="34" charset="-122"/>
                <a:ea typeface="微软雅黑" panose="020B0503020204020204" pitchFamily="34" charset="-122"/>
              </a:rPr>
              <a:t>RPM </a:t>
            </a:r>
            <a:r>
              <a:rPr lang="zh-CN" altLang="en-US" sz="2000" dirty="0">
                <a:latin typeface="微软雅黑" panose="020B0503020204020204" pitchFamily="34" charset="-122"/>
                <a:ea typeface="微软雅黑" panose="020B0503020204020204" pitchFamily="34" charset="-122"/>
              </a:rPr>
              <a:t>文件） </a:t>
            </a:r>
            <a:endParaRPr lang="zh-CN" altLang="en-US" sz="2000" b="0" dirty="0">
              <a:effectLst/>
              <a:latin typeface="微软雅黑" panose="020B0503020204020204" pitchFamily="34" charset="-122"/>
              <a:ea typeface="微软雅黑" panose="020B0503020204020204" pitchFamily="34" charset="-122"/>
            </a:endParaRPr>
          </a:p>
          <a:p>
            <a:pPr lvl="1">
              <a:lnSpc>
                <a:spcPct val="120000"/>
              </a:lnSpc>
              <a:buClr>
                <a:srgbClr val="C00000"/>
              </a:buClr>
              <a:buFont typeface="Arial" panose="020B0604020202020204" pitchFamily="34" charset="0"/>
              <a:buChar char="•"/>
            </a:pPr>
            <a:r>
              <a:rPr lang="zh-CN" altLang="en-US" sz="2000" b="0" dirty="0">
                <a:effectLst/>
                <a:latin typeface="微软雅黑" panose="020B0503020204020204" pitchFamily="34" charset="-122"/>
                <a:ea typeface="微软雅黑" panose="020B0503020204020204" pitchFamily="34" charset="-122"/>
              </a:rPr>
              <a:t> 然后将编译完成的 </a:t>
            </a:r>
            <a:r>
              <a:rPr lang="en-US" altLang="zh-CN" sz="2000" b="0" dirty="0">
                <a:effectLst/>
                <a:latin typeface="微软雅黑" panose="020B0503020204020204" pitchFamily="34" charset="-122"/>
                <a:ea typeface="微软雅黑" panose="020B0503020204020204" pitchFamily="34" charset="-122"/>
              </a:rPr>
              <a:t>RPM </a:t>
            </a:r>
            <a:r>
              <a:rPr lang="zh-CN" altLang="en-US" sz="2000" b="0" dirty="0">
                <a:effectLst/>
                <a:latin typeface="微软雅黑" panose="020B0503020204020204" pitchFamily="34" charset="-122"/>
                <a:ea typeface="微软雅黑" panose="020B0503020204020204" pitchFamily="34" charset="-122"/>
              </a:rPr>
              <a:t>文件</a:t>
            </a:r>
            <a:r>
              <a:rPr lang="zh-CN" altLang="en-US" sz="2000" b="0" dirty="0">
                <a:solidFill>
                  <a:srgbClr val="C00000"/>
                </a:solidFill>
                <a:effectLst/>
                <a:latin typeface="微软雅黑" panose="020B0503020204020204" pitchFamily="34" charset="-122"/>
                <a:ea typeface="微软雅黑" panose="020B0503020204020204" pitchFamily="34" charset="-122"/>
              </a:rPr>
              <a:t>安装</a:t>
            </a:r>
            <a:r>
              <a:rPr lang="zh-CN" altLang="en-US" sz="2000" b="0" dirty="0">
                <a:effectLst/>
                <a:latin typeface="微软雅黑" panose="020B0503020204020204" pitchFamily="34" charset="-122"/>
                <a:ea typeface="微软雅黑" panose="020B0503020204020204" pitchFamily="34" charset="-122"/>
              </a:rPr>
              <a:t>到 </a:t>
            </a:r>
            <a:r>
              <a:rPr lang="en-US" altLang="zh-CN" sz="2000" b="0" dirty="0">
                <a:effectLst/>
                <a:latin typeface="微软雅黑" panose="020B0503020204020204" pitchFamily="34" charset="-122"/>
                <a:ea typeface="微软雅黑" panose="020B0503020204020204" pitchFamily="34" charset="-122"/>
              </a:rPr>
              <a:t>Linux </a:t>
            </a:r>
            <a:r>
              <a:rPr lang="zh-CN" altLang="en-US" sz="2000" b="0" dirty="0">
                <a:effectLst/>
                <a:latin typeface="微软雅黑" panose="020B0503020204020204" pitchFamily="34" charset="-122"/>
                <a:ea typeface="微软雅黑" panose="020B0503020204020204" pitchFamily="34" charset="-122"/>
              </a:rPr>
              <a:t>系统中</a:t>
            </a:r>
          </a:p>
          <a:p>
            <a:endParaRPr lang="zh-CN" altLang="en-US" dirty="0"/>
          </a:p>
        </p:txBody>
      </p:sp>
      <p:graphicFrame>
        <p:nvGraphicFramePr>
          <p:cNvPr id="6" name="表格 5">
            <a:extLst>
              <a:ext uri="{FF2B5EF4-FFF2-40B4-BE49-F238E27FC236}">
                <a16:creationId xmlns:a16="http://schemas.microsoft.com/office/drawing/2014/main" id="{F3066632-2037-4231-B19A-664AF946DBB3}"/>
              </a:ext>
            </a:extLst>
          </p:cNvPr>
          <p:cNvGraphicFramePr>
            <a:graphicFrameLocks noGrp="1"/>
          </p:cNvGraphicFramePr>
          <p:nvPr>
            <p:extLst>
              <p:ext uri="{D42A27DB-BD31-4B8C-83A1-F6EECF244321}">
                <p14:modId xmlns:p14="http://schemas.microsoft.com/office/powerpoint/2010/main" val="3281505671"/>
              </p:ext>
            </p:extLst>
          </p:nvPr>
        </p:nvGraphicFramePr>
        <p:xfrm>
          <a:off x="707257" y="5733256"/>
          <a:ext cx="7918691" cy="1051560"/>
        </p:xfrm>
        <a:graphic>
          <a:graphicData uri="http://schemas.openxmlformats.org/drawingml/2006/table">
            <a:tbl>
              <a:tblPr>
                <a:tableStyleId>{284E427A-3D55-4303-BF80-6455036E1DE7}</a:tableStyleId>
              </a:tblPr>
              <a:tblGrid>
                <a:gridCol w="1077931">
                  <a:extLst>
                    <a:ext uri="{9D8B030D-6E8A-4147-A177-3AD203B41FA5}">
                      <a16:colId xmlns:a16="http://schemas.microsoft.com/office/drawing/2014/main" val="3587056147"/>
                    </a:ext>
                  </a:extLst>
                </a:gridCol>
                <a:gridCol w="1368152">
                  <a:extLst>
                    <a:ext uri="{9D8B030D-6E8A-4147-A177-3AD203B41FA5}">
                      <a16:colId xmlns:a16="http://schemas.microsoft.com/office/drawing/2014/main" val="500277039"/>
                    </a:ext>
                  </a:extLst>
                </a:gridCol>
                <a:gridCol w="1080120">
                  <a:extLst>
                    <a:ext uri="{9D8B030D-6E8A-4147-A177-3AD203B41FA5}">
                      <a16:colId xmlns:a16="http://schemas.microsoft.com/office/drawing/2014/main" val="151915189"/>
                    </a:ext>
                  </a:extLst>
                </a:gridCol>
                <a:gridCol w="1944216">
                  <a:extLst>
                    <a:ext uri="{9D8B030D-6E8A-4147-A177-3AD203B41FA5}">
                      <a16:colId xmlns:a16="http://schemas.microsoft.com/office/drawing/2014/main" val="2603382607"/>
                    </a:ext>
                  </a:extLst>
                </a:gridCol>
                <a:gridCol w="2448272">
                  <a:extLst>
                    <a:ext uri="{9D8B030D-6E8A-4147-A177-3AD203B41FA5}">
                      <a16:colId xmlns:a16="http://schemas.microsoft.com/office/drawing/2014/main" val="199803900"/>
                    </a:ext>
                  </a:extLst>
                </a:gridCol>
              </a:tblGrid>
              <a:tr h="0">
                <a:tc>
                  <a:txBody>
                    <a:bodyPr/>
                    <a:lstStyle/>
                    <a:p>
                      <a:pPr algn="ctr"/>
                      <a:r>
                        <a:rPr lang="zh-CN" altLang="en-US" sz="2000" dirty="0">
                          <a:effectLst/>
                        </a:rPr>
                        <a:t>文件格式</a:t>
                      </a:r>
                      <a:endParaRPr lang="zh-CN" altLang="en-US" sz="2000" dirty="0">
                        <a:effectLst/>
                        <a:latin typeface="新细明体"/>
                      </a:endParaRPr>
                    </a:p>
                  </a:txBody>
                  <a:tcPr marL="22860" marR="22860" marT="22860" marB="22860" anchor="ctr"/>
                </a:tc>
                <a:tc>
                  <a:txBody>
                    <a:bodyPr/>
                    <a:lstStyle/>
                    <a:p>
                      <a:pPr algn="ctr"/>
                      <a:r>
                        <a:rPr lang="zh-CN" altLang="en-US" sz="2000" dirty="0">
                          <a:effectLst/>
                        </a:rPr>
                        <a:t>档名格式</a:t>
                      </a:r>
                      <a:endParaRPr lang="zh-CN" altLang="en-US" sz="2000" dirty="0">
                        <a:effectLst/>
                        <a:latin typeface="新细明体"/>
                      </a:endParaRPr>
                    </a:p>
                  </a:txBody>
                  <a:tcPr marL="22860" marR="22860" marT="22860" marB="22860" anchor="ctr"/>
                </a:tc>
                <a:tc>
                  <a:txBody>
                    <a:bodyPr/>
                    <a:lstStyle/>
                    <a:p>
                      <a:pPr algn="ctr"/>
                      <a:r>
                        <a:rPr lang="zh-CN" altLang="en-US" sz="2000" dirty="0">
                          <a:effectLst/>
                        </a:rPr>
                        <a:t>直接安装</a:t>
                      </a:r>
                      <a:endParaRPr lang="zh-CN" altLang="en-US" sz="2000" dirty="0">
                        <a:effectLst/>
                        <a:latin typeface="新细明体"/>
                      </a:endParaRPr>
                    </a:p>
                  </a:txBody>
                  <a:tcPr marL="22860" marR="22860" marT="22860" marB="22860" anchor="ctr"/>
                </a:tc>
                <a:tc>
                  <a:txBody>
                    <a:bodyPr/>
                    <a:lstStyle/>
                    <a:p>
                      <a:pPr algn="ctr"/>
                      <a:r>
                        <a:rPr lang="zh-CN" altLang="en-US" sz="2000" dirty="0">
                          <a:effectLst/>
                        </a:rPr>
                        <a:t>内含程序类型</a:t>
                      </a:r>
                      <a:endParaRPr lang="zh-CN" altLang="en-US" sz="2000" dirty="0">
                        <a:effectLst/>
                        <a:latin typeface="新细明体"/>
                      </a:endParaRPr>
                    </a:p>
                  </a:txBody>
                  <a:tcPr marL="22860" marR="22860" marT="22860" marB="22860" anchor="ctr"/>
                </a:tc>
                <a:tc>
                  <a:txBody>
                    <a:bodyPr/>
                    <a:lstStyle/>
                    <a:p>
                      <a:pPr algn="ctr"/>
                      <a:r>
                        <a:rPr lang="zh-CN" altLang="en-US" sz="2000" dirty="0">
                          <a:effectLst/>
                        </a:rPr>
                        <a:t>可否修改参数并编译</a:t>
                      </a:r>
                      <a:endParaRPr lang="zh-CN" altLang="en-US" sz="2000" dirty="0">
                        <a:effectLst/>
                        <a:latin typeface="新细明体"/>
                      </a:endParaRPr>
                    </a:p>
                  </a:txBody>
                  <a:tcPr marL="22860" marR="22860" marT="22860" marB="22860" anchor="ctr"/>
                </a:tc>
                <a:extLst>
                  <a:ext uri="{0D108BD9-81ED-4DB2-BD59-A6C34878D82A}">
                    <a16:rowId xmlns:a16="http://schemas.microsoft.com/office/drawing/2014/main" val="1087633333"/>
                  </a:ext>
                </a:extLst>
              </a:tr>
              <a:tr h="0">
                <a:tc>
                  <a:txBody>
                    <a:bodyPr/>
                    <a:lstStyle/>
                    <a:p>
                      <a:pPr algn="ctr"/>
                      <a:r>
                        <a:rPr lang="en-US" sz="2000" dirty="0">
                          <a:effectLst/>
                        </a:rPr>
                        <a:t>RPM</a:t>
                      </a:r>
                      <a:endParaRPr lang="en-US" sz="2000" dirty="0">
                        <a:effectLst/>
                        <a:latin typeface="新细明体"/>
                      </a:endParaRPr>
                    </a:p>
                  </a:txBody>
                  <a:tcPr marL="22860" marR="22860" marT="22860" marB="22860" anchor="ctr"/>
                </a:tc>
                <a:tc>
                  <a:txBody>
                    <a:bodyPr/>
                    <a:lstStyle/>
                    <a:p>
                      <a:pPr algn="ctr"/>
                      <a:r>
                        <a:rPr lang="en-US" sz="2000" dirty="0" err="1">
                          <a:effectLst/>
                        </a:rPr>
                        <a:t>xxx.rpm</a:t>
                      </a:r>
                      <a:endParaRPr lang="en-US" sz="2000" dirty="0">
                        <a:effectLst/>
                        <a:latin typeface="新细明体"/>
                      </a:endParaRPr>
                    </a:p>
                  </a:txBody>
                  <a:tcPr marL="22860" marR="22860" marT="22860" marB="22860" anchor="ctr"/>
                </a:tc>
                <a:tc>
                  <a:txBody>
                    <a:bodyPr/>
                    <a:lstStyle/>
                    <a:p>
                      <a:pPr algn="ctr"/>
                      <a:r>
                        <a:rPr lang="zh-CN" altLang="en-US" sz="2000">
                          <a:effectLst/>
                        </a:rPr>
                        <a:t>可</a:t>
                      </a:r>
                      <a:endParaRPr lang="zh-CN" altLang="en-US" sz="2000">
                        <a:effectLst/>
                        <a:latin typeface="新细明体"/>
                      </a:endParaRPr>
                    </a:p>
                  </a:txBody>
                  <a:tcPr marL="22860" marR="22860" marT="22860" marB="22860" anchor="ctr"/>
                </a:tc>
                <a:tc>
                  <a:txBody>
                    <a:bodyPr/>
                    <a:lstStyle/>
                    <a:p>
                      <a:pPr algn="ctr"/>
                      <a:r>
                        <a:rPr lang="zh-CN" altLang="en-US" sz="2000">
                          <a:effectLst/>
                        </a:rPr>
                        <a:t>已编译</a:t>
                      </a:r>
                      <a:endParaRPr lang="zh-CN" altLang="en-US" sz="2000">
                        <a:effectLst/>
                        <a:latin typeface="新细明体"/>
                      </a:endParaRPr>
                    </a:p>
                  </a:txBody>
                  <a:tcPr marL="22860" marR="22860" marT="22860" marB="22860" anchor="ctr"/>
                </a:tc>
                <a:tc>
                  <a:txBody>
                    <a:bodyPr/>
                    <a:lstStyle/>
                    <a:p>
                      <a:pPr algn="ctr"/>
                      <a:r>
                        <a:rPr lang="zh-CN" altLang="en-US" sz="2000">
                          <a:effectLst/>
                        </a:rPr>
                        <a:t>不可</a:t>
                      </a:r>
                      <a:endParaRPr lang="zh-CN" altLang="en-US" sz="2000">
                        <a:effectLst/>
                        <a:latin typeface="新细明体"/>
                      </a:endParaRPr>
                    </a:p>
                  </a:txBody>
                  <a:tcPr marL="22860" marR="22860" marT="22860" marB="22860" anchor="ctr"/>
                </a:tc>
                <a:extLst>
                  <a:ext uri="{0D108BD9-81ED-4DB2-BD59-A6C34878D82A}">
                    <a16:rowId xmlns:a16="http://schemas.microsoft.com/office/drawing/2014/main" val="2894736384"/>
                  </a:ext>
                </a:extLst>
              </a:tr>
              <a:tr h="0">
                <a:tc>
                  <a:txBody>
                    <a:bodyPr/>
                    <a:lstStyle/>
                    <a:p>
                      <a:pPr algn="ctr"/>
                      <a:r>
                        <a:rPr lang="en-US" sz="2000" dirty="0">
                          <a:effectLst/>
                        </a:rPr>
                        <a:t>SRPM</a:t>
                      </a:r>
                      <a:endParaRPr lang="en-US" sz="2000" dirty="0">
                        <a:effectLst/>
                        <a:latin typeface="新细明体"/>
                      </a:endParaRPr>
                    </a:p>
                  </a:txBody>
                  <a:tcPr marL="22860" marR="22860" marT="22860" marB="22860" anchor="ctr"/>
                </a:tc>
                <a:tc>
                  <a:txBody>
                    <a:bodyPr/>
                    <a:lstStyle/>
                    <a:p>
                      <a:pPr algn="ctr"/>
                      <a:r>
                        <a:rPr lang="en-US" sz="2000" dirty="0" err="1">
                          <a:effectLst/>
                        </a:rPr>
                        <a:t>xxx.src.rpm</a:t>
                      </a:r>
                      <a:endParaRPr lang="en-US" sz="2000" dirty="0">
                        <a:effectLst/>
                        <a:latin typeface="新细明体"/>
                      </a:endParaRPr>
                    </a:p>
                  </a:txBody>
                  <a:tcPr marL="22860" marR="22860" marT="22860" marB="22860" anchor="ctr"/>
                </a:tc>
                <a:tc>
                  <a:txBody>
                    <a:bodyPr/>
                    <a:lstStyle/>
                    <a:p>
                      <a:pPr algn="ctr"/>
                      <a:r>
                        <a:rPr lang="zh-CN" altLang="en-US" sz="2000" dirty="0">
                          <a:effectLst/>
                        </a:rPr>
                        <a:t>不可</a:t>
                      </a:r>
                      <a:endParaRPr lang="zh-CN" altLang="en-US" sz="2000" dirty="0">
                        <a:effectLst/>
                        <a:latin typeface="新细明体"/>
                      </a:endParaRPr>
                    </a:p>
                  </a:txBody>
                  <a:tcPr marL="22860" marR="22860" marT="22860" marB="22860" anchor="ctr"/>
                </a:tc>
                <a:tc>
                  <a:txBody>
                    <a:bodyPr/>
                    <a:lstStyle/>
                    <a:p>
                      <a:pPr algn="ctr"/>
                      <a:r>
                        <a:rPr lang="zh-CN" altLang="en-US" sz="2000" dirty="0">
                          <a:effectLst/>
                        </a:rPr>
                        <a:t>未编译之原始码</a:t>
                      </a:r>
                      <a:endParaRPr lang="zh-CN" altLang="en-US" sz="2000" dirty="0">
                        <a:effectLst/>
                        <a:latin typeface="新细明体"/>
                      </a:endParaRPr>
                    </a:p>
                  </a:txBody>
                  <a:tcPr marL="22860" marR="22860" marT="22860" marB="22860" anchor="ctr"/>
                </a:tc>
                <a:tc>
                  <a:txBody>
                    <a:bodyPr/>
                    <a:lstStyle/>
                    <a:p>
                      <a:pPr algn="ctr"/>
                      <a:r>
                        <a:rPr lang="zh-CN" altLang="en-US" sz="2000" dirty="0">
                          <a:effectLst/>
                        </a:rPr>
                        <a:t>可</a:t>
                      </a:r>
                      <a:endParaRPr lang="zh-CN" altLang="en-US" sz="2000" dirty="0">
                        <a:effectLst/>
                        <a:latin typeface="新细明体"/>
                      </a:endParaRPr>
                    </a:p>
                  </a:txBody>
                  <a:tcPr marL="22860" marR="22860" marT="22860" marB="22860" anchor="ctr"/>
                </a:tc>
                <a:extLst>
                  <a:ext uri="{0D108BD9-81ED-4DB2-BD59-A6C34878D82A}">
                    <a16:rowId xmlns:a16="http://schemas.microsoft.com/office/drawing/2014/main" val="1292629216"/>
                  </a:ext>
                </a:extLst>
              </a:tr>
            </a:tbl>
          </a:graphicData>
        </a:graphic>
      </p:graphicFrame>
    </p:spTree>
    <p:extLst>
      <p:ext uri="{BB962C8B-B14F-4D97-AF65-F5344CB8AC3E}">
        <p14:creationId xmlns:p14="http://schemas.microsoft.com/office/powerpoint/2010/main" val="30943075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包的名称格式</a:t>
            </a:r>
          </a:p>
        </p:txBody>
      </p:sp>
      <p:sp>
        <p:nvSpPr>
          <p:cNvPr id="3" name="内容占位符 2"/>
          <p:cNvSpPr>
            <a:spLocks noGrp="1"/>
          </p:cNvSpPr>
          <p:nvPr>
            <p:ph idx="1"/>
          </p:nvPr>
        </p:nvSpPr>
        <p:spPr>
          <a:xfrm>
            <a:off x="529208" y="2348880"/>
            <a:ext cx="8229600" cy="3816424"/>
          </a:xfrm>
        </p:spPr>
        <p:txBody>
          <a:bodyPr/>
          <a:lstStyle/>
          <a:p>
            <a:r>
              <a:rPr lang="en-US" altLang="zh-CN" sz="2800" dirty="0">
                <a:solidFill>
                  <a:srgbClr val="C00000"/>
                </a:solidFill>
              </a:rPr>
              <a:t>name</a:t>
            </a:r>
            <a:r>
              <a:rPr lang="zh-CN" altLang="en-US" sz="2800" dirty="0"/>
              <a:t>：软件的名称</a:t>
            </a:r>
            <a:endParaRPr lang="en-US" altLang="zh-CN" sz="2800" dirty="0"/>
          </a:p>
          <a:p>
            <a:r>
              <a:rPr lang="en-US" altLang="zh-CN" sz="2800" dirty="0">
                <a:solidFill>
                  <a:srgbClr val="0070C0"/>
                </a:solidFill>
              </a:rPr>
              <a:t>version</a:t>
            </a:r>
            <a:r>
              <a:rPr lang="zh-CN" altLang="en-US" sz="2800" dirty="0"/>
              <a:t>：软件的版本号</a:t>
            </a:r>
            <a:endParaRPr lang="en-US" altLang="zh-CN" sz="2800" dirty="0"/>
          </a:p>
          <a:p>
            <a:pPr lvl="1"/>
            <a:r>
              <a:rPr lang="zh-CN" altLang="en-US" sz="2400" dirty="0"/>
              <a:t>主版本、次版本、修订版本、发布版本次数</a:t>
            </a:r>
            <a:endParaRPr lang="en-US" altLang="zh-CN" sz="2400" dirty="0"/>
          </a:p>
          <a:p>
            <a:r>
              <a:rPr lang="en-US" altLang="zh-CN" sz="2800" dirty="0">
                <a:solidFill>
                  <a:schemeClr val="accent6">
                    <a:lumMod val="75000"/>
                  </a:schemeClr>
                </a:solidFill>
              </a:rPr>
              <a:t>type</a:t>
            </a:r>
            <a:r>
              <a:rPr lang="zh-CN" altLang="en-US" sz="2800" dirty="0"/>
              <a:t>：包的类型</a:t>
            </a:r>
            <a:endParaRPr lang="en-US" altLang="zh-CN" sz="2800" dirty="0"/>
          </a:p>
          <a:p>
            <a:pPr lvl="1"/>
            <a:r>
              <a:rPr lang="en-US" altLang="zh-CN" sz="2400" dirty="0">
                <a:solidFill>
                  <a:srgbClr val="FF0000"/>
                </a:solidFill>
              </a:rPr>
              <a:t>i[3456]86</a:t>
            </a:r>
            <a:r>
              <a:rPr lang="zh-CN" altLang="en-US" sz="2400" dirty="0"/>
              <a:t>：在</a:t>
            </a:r>
            <a:r>
              <a:rPr lang="en-US" altLang="zh-CN" sz="2400" dirty="0"/>
              <a:t>Intel x86</a:t>
            </a:r>
            <a:r>
              <a:rPr lang="zh-CN" altLang="en-US" sz="2400" dirty="0"/>
              <a:t>计算机平台上编译的</a:t>
            </a:r>
          </a:p>
          <a:p>
            <a:pPr lvl="1"/>
            <a:r>
              <a:rPr lang="en-US" altLang="zh-CN" sz="2400" dirty="0">
                <a:solidFill>
                  <a:srgbClr val="FF0000"/>
                </a:solidFill>
              </a:rPr>
              <a:t>x86_64</a:t>
            </a:r>
            <a:r>
              <a:rPr lang="zh-CN" altLang="en-US" sz="2400" dirty="0"/>
              <a:t>：在</a:t>
            </a:r>
            <a:r>
              <a:rPr lang="en-US" altLang="zh-CN" sz="2400" dirty="0"/>
              <a:t>Intel x86_64</a:t>
            </a:r>
            <a:r>
              <a:rPr lang="zh-CN" altLang="en-US" sz="2400" dirty="0"/>
              <a:t>计算机平台上编译的</a:t>
            </a:r>
          </a:p>
          <a:p>
            <a:pPr lvl="1"/>
            <a:r>
              <a:rPr lang="en-US" altLang="zh-CN" sz="2400" dirty="0" err="1">
                <a:solidFill>
                  <a:srgbClr val="FF0000"/>
                </a:solidFill>
              </a:rPr>
              <a:t>sparc</a:t>
            </a:r>
            <a:r>
              <a:rPr lang="en-US" altLang="zh-CN" sz="2400" dirty="0">
                <a:solidFill>
                  <a:srgbClr val="FF0000"/>
                </a:solidFill>
              </a:rPr>
              <a:t>/alpha </a:t>
            </a:r>
            <a:r>
              <a:rPr lang="zh-CN" altLang="en-US" sz="2400" dirty="0"/>
              <a:t>：在</a:t>
            </a:r>
            <a:r>
              <a:rPr lang="en-US" altLang="zh-CN" sz="2400" dirty="0" err="1"/>
              <a:t>sparc</a:t>
            </a:r>
            <a:r>
              <a:rPr lang="en-US" altLang="zh-CN" sz="2400" dirty="0"/>
              <a:t> /alpha</a:t>
            </a:r>
            <a:r>
              <a:rPr lang="zh-CN" altLang="en-US" sz="2400" dirty="0"/>
              <a:t>计算机平台上编译的</a:t>
            </a:r>
          </a:p>
          <a:p>
            <a:pPr lvl="1"/>
            <a:r>
              <a:rPr lang="en-US" altLang="zh-CN" sz="2400" dirty="0" err="1">
                <a:solidFill>
                  <a:srgbClr val="FF0000"/>
                </a:solidFill>
              </a:rPr>
              <a:t>src</a:t>
            </a:r>
            <a:r>
              <a:rPr lang="zh-CN" altLang="en-US" sz="2400" dirty="0"/>
              <a:t>：软件源代码</a:t>
            </a:r>
            <a:endParaRPr lang="en-US" altLang="zh-CN" sz="2400" dirty="0"/>
          </a:p>
          <a:p>
            <a:r>
              <a:rPr lang="en-US" altLang="zh-CN" sz="2800" b="1" dirty="0"/>
              <a:t>rpm</a:t>
            </a:r>
            <a:r>
              <a:rPr lang="zh-CN" altLang="en-US" sz="2800" dirty="0"/>
              <a:t>：</a:t>
            </a:r>
            <a:r>
              <a:rPr lang="zh-CN" altLang="en-US" sz="2800" b="1" dirty="0"/>
              <a:t>文件扩展名</a:t>
            </a:r>
            <a:endParaRPr lang="zh-CN" altLang="en-US" dirty="0"/>
          </a:p>
        </p:txBody>
      </p:sp>
      <p:sp>
        <p:nvSpPr>
          <p:cNvPr id="8" name="TextBox 7"/>
          <p:cNvSpPr txBox="1"/>
          <p:nvPr/>
        </p:nvSpPr>
        <p:spPr>
          <a:xfrm>
            <a:off x="1547664" y="1390645"/>
            <a:ext cx="6336704"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0" lvl="1"/>
            <a:r>
              <a:rPr lang="en-US" altLang="zh-CN" sz="2400" dirty="0">
                <a:solidFill>
                  <a:srgbClr val="C00000"/>
                </a:solidFill>
              </a:rPr>
              <a:t>       name</a:t>
            </a:r>
            <a:r>
              <a:rPr lang="en-US" altLang="zh-CN" sz="2400" dirty="0"/>
              <a:t>-</a:t>
            </a:r>
            <a:r>
              <a:rPr lang="en-US" altLang="zh-CN" sz="2400" dirty="0" err="1">
                <a:solidFill>
                  <a:srgbClr val="0070C0"/>
                </a:solidFill>
              </a:rPr>
              <a:t>version</a:t>
            </a:r>
            <a:r>
              <a:rPr lang="en-US" altLang="zh-CN" sz="2400" dirty="0" err="1"/>
              <a:t>.</a:t>
            </a:r>
            <a:r>
              <a:rPr lang="en-US" altLang="zh-CN" sz="2400" dirty="0" err="1">
                <a:solidFill>
                  <a:schemeClr val="accent6">
                    <a:lumMod val="75000"/>
                  </a:schemeClr>
                </a:solidFill>
              </a:rPr>
              <a:t>type</a:t>
            </a:r>
            <a:r>
              <a:rPr lang="en-US" altLang="zh-CN" sz="2400" dirty="0" err="1"/>
              <a:t>.</a:t>
            </a:r>
            <a:r>
              <a:rPr lang="en-US" altLang="zh-CN" sz="2400" b="1" dirty="0" err="1"/>
              <a:t>rpm</a:t>
            </a:r>
            <a:endParaRPr lang="en-US" altLang="zh-CN" sz="2400" b="1" dirty="0"/>
          </a:p>
          <a:p>
            <a:pPr marL="0" lvl="1"/>
            <a:r>
              <a:rPr lang="zh-CN" altLang="en-US" sz="2400" dirty="0"/>
              <a:t>如：</a:t>
            </a:r>
            <a:r>
              <a:rPr lang="en-US" altLang="zh-CN" sz="2400" dirty="0">
                <a:solidFill>
                  <a:srgbClr val="C00000"/>
                </a:solidFill>
              </a:rPr>
              <a:t>zsh</a:t>
            </a:r>
            <a:r>
              <a:rPr lang="en-US" altLang="zh-CN" sz="2400" dirty="0"/>
              <a:t>-</a:t>
            </a:r>
            <a:r>
              <a:rPr lang="en-US" altLang="zh-CN" sz="2400" dirty="0">
                <a:solidFill>
                  <a:srgbClr val="0070C0"/>
                </a:solidFill>
              </a:rPr>
              <a:t>3.0.5-15</a:t>
            </a:r>
            <a:r>
              <a:rPr lang="en-US" altLang="zh-CN" sz="2400" dirty="0"/>
              <a:t>.{</a:t>
            </a:r>
            <a:r>
              <a:rPr lang="en-US" altLang="zh-CN" sz="2400" dirty="0">
                <a:solidFill>
                  <a:schemeClr val="accent6">
                    <a:lumMod val="75000"/>
                  </a:schemeClr>
                </a:solidFill>
              </a:rPr>
              <a:t>i386</a:t>
            </a:r>
            <a:r>
              <a:rPr lang="en-US" altLang="zh-CN" sz="2400" dirty="0"/>
              <a:t>,</a:t>
            </a:r>
            <a:r>
              <a:rPr lang="en-US" altLang="zh-CN" sz="2400" dirty="0">
                <a:solidFill>
                  <a:schemeClr val="accent6">
                    <a:lumMod val="75000"/>
                  </a:schemeClr>
                </a:solidFill>
              </a:rPr>
              <a:t>x86_64</a:t>
            </a:r>
            <a:r>
              <a:rPr lang="en-US" altLang="zh-CN" sz="2400" dirty="0"/>
              <a:t>,</a:t>
            </a:r>
            <a:r>
              <a:rPr lang="en-US" altLang="zh-CN" sz="2400" dirty="0">
                <a:solidFill>
                  <a:schemeClr val="accent6">
                    <a:lumMod val="75000"/>
                  </a:schemeClr>
                </a:solidFill>
              </a:rPr>
              <a:t>src</a:t>
            </a:r>
            <a:r>
              <a:rPr lang="en-US" altLang="zh-CN" sz="2400" dirty="0"/>
              <a:t>}.rpm</a:t>
            </a:r>
            <a:endParaRPr lang="zh-CN" altLang="en-US" sz="1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获得</a:t>
            </a:r>
            <a:r>
              <a:rPr lang="en-US" altLang="zh-CN" dirty="0"/>
              <a:t>RPM</a:t>
            </a:r>
            <a:r>
              <a:rPr lang="zh-CN" altLang="en-US" dirty="0"/>
              <a:t>包</a:t>
            </a:r>
          </a:p>
        </p:txBody>
      </p:sp>
      <p:sp>
        <p:nvSpPr>
          <p:cNvPr id="3" name="内容占位符 2"/>
          <p:cNvSpPr>
            <a:spLocks noGrp="1"/>
          </p:cNvSpPr>
          <p:nvPr>
            <p:ph idx="1"/>
          </p:nvPr>
        </p:nvSpPr>
        <p:spPr/>
        <p:txBody>
          <a:bodyPr/>
          <a:lstStyle/>
          <a:p>
            <a:pPr>
              <a:lnSpc>
                <a:spcPct val="130000"/>
              </a:lnSpc>
            </a:pPr>
            <a:r>
              <a:rPr lang="zh-CN" altLang="en-US" dirty="0"/>
              <a:t>从发行套件的</a:t>
            </a:r>
            <a:r>
              <a:rPr lang="en-US" altLang="zh-CN" dirty="0"/>
              <a:t>CD</a:t>
            </a:r>
            <a:r>
              <a:rPr lang="zh-CN" altLang="en-US" dirty="0"/>
              <a:t>中查找</a:t>
            </a:r>
          </a:p>
          <a:p>
            <a:pPr>
              <a:lnSpc>
                <a:spcPct val="130000"/>
              </a:lnSpc>
            </a:pPr>
            <a:r>
              <a:rPr lang="zh-CN" altLang="en-US" dirty="0"/>
              <a:t>从软件的主站点查找下载</a:t>
            </a:r>
          </a:p>
          <a:p>
            <a:pPr>
              <a:lnSpc>
                <a:spcPct val="130000"/>
              </a:lnSpc>
            </a:pPr>
            <a:r>
              <a:rPr lang="zh-CN" altLang="en-US" dirty="0"/>
              <a:t>从</a:t>
            </a:r>
            <a:r>
              <a:rPr lang="en-US" altLang="zh-CN" dirty="0"/>
              <a:t>http://www.rpmfind.net</a:t>
            </a:r>
            <a:r>
              <a:rPr lang="zh-CN" altLang="en-US" dirty="0"/>
              <a:t>查找下载</a:t>
            </a:r>
          </a:p>
          <a:p>
            <a:pPr>
              <a:lnSpc>
                <a:spcPct val="130000"/>
              </a:lnSpc>
            </a:pPr>
            <a:r>
              <a:rPr lang="zh-CN" altLang="en-US" dirty="0"/>
              <a:t>从</a:t>
            </a:r>
            <a:r>
              <a:rPr lang="en-US" altLang="zh-CN" dirty="0"/>
              <a:t>http://atrpms.net/</a:t>
            </a:r>
            <a:r>
              <a:rPr lang="zh-CN" altLang="en-US" dirty="0"/>
              <a:t>查找下载</a:t>
            </a:r>
          </a:p>
          <a:p>
            <a:pPr>
              <a:lnSpc>
                <a:spcPct val="130000"/>
              </a:lnSpc>
            </a:pPr>
            <a:r>
              <a:rPr lang="zh-CN" altLang="en-US" dirty="0"/>
              <a:t>从</a:t>
            </a:r>
            <a:r>
              <a:rPr lang="en-US" altLang="zh-CN" dirty="0"/>
              <a:t>http://rpm.pbone.net/</a:t>
            </a:r>
            <a:r>
              <a:rPr lang="zh-CN" altLang="en-US" dirty="0"/>
              <a:t>查找下载</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的五大功能</a:t>
            </a:r>
          </a:p>
        </p:txBody>
      </p:sp>
      <p:sp>
        <p:nvSpPr>
          <p:cNvPr id="3" name="内容占位符 2"/>
          <p:cNvSpPr>
            <a:spLocks noGrp="1"/>
          </p:cNvSpPr>
          <p:nvPr>
            <p:ph idx="1"/>
          </p:nvPr>
        </p:nvSpPr>
        <p:spPr>
          <a:xfrm>
            <a:off x="971600" y="1628800"/>
            <a:ext cx="7712843" cy="4114800"/>
          </a:xfrm>
        </p:spPr>
        <p:txBody>
          <a:bodyPr/>
          <a:lstStyle/>
          <a:p>
            <a:pPr>
              <a:lnSpc>
                <a:spcPct val="130000"/>
              </a:lnSpc>
            </a:pPr>
            <a:r>
              <a:rPr lang="zh-CN" altLang="en-US" dirty="0">
                <a:solidFill>
                  <a:srgbClr val="FF0000"/>
                </a:solidFill>
              </a:rPr>
              <a:t>安装</a:t>
            </a:r>
            <a:r>
              <a:rPr lang="en-US" altLang="zh-CN" dirty="0"/>
              <a:t>——</a:t>
            </a:r>
            <a:r>
              <a:rPr lang="zh-CN" altLang="en-US" dirty="0"/>
              <a:t>将软件从包中解出来，并安装到硬盘</a:t>
            </a:r>
          </a:p>
          <a:p>
            <a:pPr>
              <a:lnSpc>
                <a:spcPct val="130000"/>
              </a:lnSpc>
            </a:pPr>
            <a:r>
              <a:rPr lang="zh-CN" altLang="en-US" dirty="0">
                <a:solidFill>
                  <a:srgbClr val="FF0000"/>
                </a:solidFill>
              </a:rPr>
              <a:t>卸载</a:t>
            </a:r>
            <a:r>
              <a:rPr lang="en-US" altLang="zh-CN" dirty="0"/>
              <a:t>——</a:t>
            </a:r>
            <a:r>
              <a:rPr lang="zh-CN" altLang="en-US" dirty="0"/>
              <a:t>将软件从硬盘清除</a:t>
            </a:r>
          </a:p>
          <a:p>
            <a:pPr>
              <a:lnSpc>
                <a:spcPct val="130000"/>
              </a:lnSpc>
            </a:pPr>
            <a:r>
              <a:rPr lang="zh-CN" altLang="en-US" dirty="0">
                <a:solidFill>
                  <a:srgbClr val="FF0000"/>
                </a:solidFill>
              </a:rPr>
              <a:t>升级</a:t>
            </a:r>
            <a:r>
              <a:rPr lang="en-US" altLang="zh-CN" dirty="0"/>
              <a:t>——</a:t>
            </a:r>
            <a:r>
              <a:rPr lang="zh-CN" altLang="en-US" dirty="0"/>
              <a:t>替换软件的旧版本</a:t>
            </a:r>
          </a:p>
          <a:p>
            <a:pPr>
              <a:lnSpc>
                <a:spcPct val="130000"/>
              </a:lnSpc>
            </a:pPr>
            <a:r>
              <a:rPr lang="zh-CN" altLang="en-US" b="1" dirty="0">
                <a:solidFill>
                  <a:srgbClr val="FF0000"/>
                </a:solidFill>
              </a:rPr>
              <a:t>查询</a:t>
            </a:r>
            <a:r>
              <a:rPr lang="en-US" altLang="zh-CN" dirty="0"/>
              <a:t>——</a:t>
            </a:r>
            <a:r>
              <a:rPr lang="zh-CN" altLang="en-US" dirty="0"/>
              <a:t>查询软件包的信息</a:t>
            </a:r>
          </a:p>
          <a:p>
            <a:pPr>
              <a:lnSpc>
                <a:spcPct val="130000"/>
              </a:lnSpc>
            </a:pPr>
            <a:r>
              <a:rPr lang="zh-CN" altLang="en-US" b="1" dirty="0">
                <a:solidFill>
                  <a:srgbClr val="FF0000"/>
                </a:solidFill>
              </a:rPr>
              <a:t>验证</a:t>
            </a:r>
            <a:r>
              <a:rPr lang="en-US" altLang="zh-CN" dirty="0"/>
              <a:t>——</a:t>
            </a:r>
            <a:r>
              <a:rPr lang="zh-CN" altLang="en-US" dirty="0"/>
              <a:t>检验系统中的软件与包中软件的区别</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安装、升级和卸载软件</a:t>
            </a:r>
          </a:p>
        </p:txBody>
      </p:sp>
      <p:sp>
        <p:nvSpPr>
          <p:cNvPr id="3" name="内容占位符 2"/>
          <p:cNvSpPr>
            <a:spLocks noGrp="1"/>
          </p:cNvSpPr>
          <p:nvPr>
            <p:ph idx="1"/>
          </p:nvPr>
        </p:nvSpPr>
        <p:spPr>
          <a:xfrm>
            <a:off x="637220" y="3509858"/>
            <a:ext cx="8229600" cy="2989957"/>
          </a:xfrm>
        </p:spPr>
        <p:txBody>
          <a:bodyPr/>
          <a:lstStyle/>
          <a:p>
            <a:r>
              <a:rPr lang="zh-CN" altLang="en-US" dirty="0"/>
              <a:t>输出选项：</a:t>
            </a:r>
          </a:p>
          <a:p>
            <a:pPr lvl="1"/>
            <a:r>
              <a:rPr lang="en-US" altLang="zh-CN" dirty="0">
                <a:solidFill>
                  <a:srgbClr val="FF0000"/>
                </a:solidFill>
              </a:rPr>
              <a:t>-v</a:t>
            </a:r>
            <a:r>
              <a:rPr lang="zh-CN" altLang="en-US" dirty="0"/>
              <a:t>：安装时显示</a:t>
            </a:r>
            <a:r>
              <a:rPr lang="zh-CN" altLang="en-US" dirty="0">
                <a:solidFill>
                  <a:srgbClr val="FF0000"/>
                </a:solidFill>
              </a:rPr>
              <a:t>详细的安装信息</a:t>
            </a:r>
          </a:p>
          <a:p>
            <a:pPr lvl="1"/>
            <a:r>
              <a:rPr lang="en-US" altLang="zh-CN" dirty="0">
                <a:solidFill>
                  <a:srgbClr val="FF0000"/>
                </a:solidFill>
              </a:rPr>
              <a:t>-h</a:t>
            </a:r>
            <a:r>
              <a:rPr lang="zh-CN" altLang="en-US" dirty="0"/>
              <a:t>：使用“</a:t>
            </a:r>
            <a:r>
              <a:rPr lang="en-US" altLang="zh-CN" dirty="0"/>
              <a:t>#”</a:t>
            </a:r>
            <a:r>
              <a:rPr lang="zh-CN" altLang="en-US" dirty="0">
                <a:solidFill>
                  <a:srgbClr val="FF0000"/>
                </a:solidFill>
              </a:rPr>
              <a:t>显示进度</a:t>
            </a:r>
          </a:p>
          <a:p>
            <a:r>
              <a:rPr lang="en-US" altLang="zh-CN" dirty="0" err="1"/>
              <a:t>rpmfile</a:t>
            </a:r>
            <a:r>
              <a:rPr lang="en-US" altLang="zh-CN" dirty="0"/>
              <a:t> </a:t>
            </a:r>
            <a:r>
              <a:rPr lang="zh-CN" altLang="en-US" dirty="0"/>
              <a:t>的</a:t>
            </a:r>
            <a:r>
              <a:rPr lang="en-US" altLang="zh-CN" dirty="0">
                <a:solidFill>
                  <a:srgbClr val="FF0000"/>
                </a:solidFill>
              </a:rPr>
              <a:t>URL</a:t>
            </a:r>
            <a:r>
              <a:rPr lang="zh-CN" altLang="en-US" dirty="0">
                <a:solidFill>
                  <a:srgbClr val="FF0000"/>
                </a:solidFill>
              </a:rPr>
              <a:t>支持（远程文件）</a:t>
            </a:r>
          </a:p>
          <a:p>
            <a:pPr lvl="1"/>
            <a:r>
              <a:rPr lang="en-US" altLang="zh-CN" dirty="0">
                <a:solidFill>
                  <a:srgbClr val="FF0000"/>
                </a:solidFill>
              </a:rPr>
              <a:t>ftp://</a:t>
            </a:r>
          </a:p>
          <a:p>
            <a:pPr lvl="1"/>
            <a:r>
              <a:rPr lang="en-US" altLang="zh-CN" dirty="0">
                <a:solidFill>
                  <a:srgbClr val="FF0000"/>
                </a:solidFill>
              </a:rPr>
              <a:t>http://</a:t>
            </a:r>
            <a:endParaRPr lang="zh-CN" altLang="en-US" dirty="0">
              <a:solidFill>
                <a:srgbClr val="FF0000"/>
              </a:solidFill>
            </a:endParaRPr>
          </a:p>
        </p:txBody>
      </p:sp>
      <p:sp>
        <p:nvSpPr>
          <p:cNvPr id="7" name="TextBox 6"/>
          <p:cNvSpPr txBox="1"/>
          <p:nvPr/>
        </p:nvSpPr>
        <p:spPr>
          <a:xfrm>
            <a:off x="1043608" y="1469102"/>
            <a:ext cx="7416824" cy="181588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800" b="1" dirty="0"/>
              <a:t>安装</a:t>
            </a:r>
            <a:r>
              <a:rPr lang="zh-CN" altLang="en-US" sz="2800" dirty="0"/>
              <a:t>：</a:t>
            </a:r>
            <a:r>
              <a:rPr lang="en-US" altLang="zh-CN" sz="2800" dirty="0">
                <a:latin typeface="Microsoft Sans Serif" pitchFamily="34" charset="0"/>
                <a:cs typeface="Microsoft Sans Serif" pitchFamily="34" charset="0"/>
              </a:rPr>
              <a:t>rpm   </a:t>
            </a:r>
            <a:r>
              <a:rPr lang="en-US" altLang="zh-CN" sz="2800" dirty="0">
                <a:solidFill>
                  <a:srgbClr val="C00000"/>
                </a:solidFill>
                <a:latin typeface="Microsoft Sans Serif" pitchFamily="34" charset="0"/>
                <a:cs typeface="Microsoft Sans Serif" pitchFamily="34" charset="0"/>
              </a:rPr>
              <a:t>-i|--install        </a:t>
            </a:r>
            <a:r>
              <a:rPr lang="en-US" altLang="zh-CN" sz="2800" dirty="0">
                <a:latin typeface="Microsoft Sans Serif" pitchFamily="34" charset="0"/>
                <a:cs typeface="Microsoft Sans Serif" pitchFamily="34" charset="0"/>
              </a:rPr>
              <a:t>&lt;</a:t>
            </a:r>
            <a:r>
              <a:rPr lang="en-US" altLang="zh-CN" sz="2800" dirty="0" err="1">
                <a:latin typeface="Microsoft Sans Serif" pitchFamily="34" charset="0"/>
                <a:cs typeface="Microsoft Sans Serif" pitchFamily="34" charset="0"/>
              </a:rPr>
              <a:t>rpmfile</a:t>
            </a:r>
            <a:r>
              <a:rPr lang="en-US" altLang="zh-CN" sz="2800" dirty="0">
                <a:latin typeface="Microsoft Sans Serif" pitchFamily="34" charset="0"/>
                <a:cs typeface="Microsoft Sans Serif" pitchFamily="34" charset="0"/>
              </a:rPr>
              <a:t>&gt; … </a:t>
            </a:r>
          </a:p>
          <a:p>
            <a:r>
              <a:rPr lang="zh-CN" altLang="en-US" sz="2800" b="1" dirty="0"/>
              <a:t>升级</a:t>
            </a:r>
            <a:r>
              <a:rPr lang="zh-CN" altLang="en-US" sz="2800" dirty="0"/>
              <a:t>：</a:t>
            </a:r>
            <a:r>
              <a:rPr lang="en-US" altLang="zh-CN" sz="2800" dirty="0">
                <a:latin typeface="Microsoft Sans Serif" pitchFamily="34" charset="0"/>
                <a:cs typeface="Microsoft Sans Serif" pitchFamily="34" charset="0"/>
              </a:rPr>
              <a:t>rpm   </a:t>
            </a:r>
            <a:r>
              <a:rPr lang="en-US" altLang="zh-CN" sz="2800" dirty="0">
                <a:solidFill>
                  <a:srgbClr val="C00000"/>
                </a:solidFill>
                <a:latin typeface="Microsoft Sans Serif" pitchFamily="34" charset="0"/>
                <a:cs typeface="Microsoft Sans Serif" pitchFamily="34" charset="0"/>
              </a:rPr>
              <a:t>-U|--upgrade  </a:t>
            </a:r>
            <a:r>
              <a:rPr lang="en-US" altLang="zh-CN" sz="2800" dirty="0">
                <a:latin typeface="Microsoft Sans Serif" pitchFamily="34" charset="0"/>
                <a:cs typeface="Microsoft Sans Serif" pitchFamily="34" charset="0"/>
              </a:rPr>
              <a:t>&lt;</a:t>
            </a:r>
            <a:r>
              <a:rPr lang="en-US" altLang="zh-CN" sz="2800" dirty="0" err="1">
                <a:latin typeface="Microsoft Sans Serif" pitchFamily="34" charset="0"/>
                <a:cs typeface="Microsoft Sans Serif" pitchFamily="34" charset="0"/>
              </a:rPr>
              <a:t>rpmfile</a:t>
            </a:r>
            <a:r>
              <a:rPr lang="en-US" altLang="zh-CN" sz="2800" dirty="0">
                <a:latin typeface="Microsoft Sans Serif" pitchFamily="34" charset="0"/>
                <a:cs typeface="Microsoft Sans Serif" pitchFamily="34" charset="0"/>
              </a:rPr>
              <a:t>&gt; … </a:t>
            </a:r>
          </a:p>
          <a:p>
            <a:r>
              <a:rPr lang="zh-CN" altLang="en-US" sz="2800" b="1" dirty="0"/>
              <a:t>更新</a:t>
            </a:r>
            <a:r>
              <a:rPr lang="zh-CN" altLang="en-US" sz="2800" dirty="0"/>
              <a:t>：</a:t>
            </a:r>
            <a:r>
              <a:rPr lang="en-US" altLang="zh-CN" sz="2800" dirty="0">
                <a:latin typeface="Microsoft Sans Serif" pitchFamily="34" charset="0"/>
                <a:cs typeface="Microsoft Sans Serif" pitchFamily="34" charset="0"/>
              </a:rPr>
              <a:t>rpm   </a:t>
            </a:r>
            <a:r>
              <a:rPr lang="en-US" altLang="zh-CN" sz="2800" dirty="0">
                <a:solidFill>
                  <a:srgbClr val="C00000"/>
                </a:solidFill>
                <a:latin typeface="Microsoft Sans Serif" pitchFamily="34" charset="0"/>
                <a:cs typeface="Microsoft Sans Serif" pitchFamily="34" charset="0"/>
              </a:rPr>
              <a:t>-F|--freshen    </a:t>
            </a:r>
            <a:r>
              <a:rPr lang="en-US" altLang="zh-CN" sz="2800" dirty="0">
                <a:latin typeface="Microsoft Sans Serif" pitchFamily="34" charset="0"/>
                <a:cs typeface="Microsoft Sans Serif" pitchFamily="34" charset="0"/>
              </a:rPr>
              <a:t>&lt;</a:t>
            </a:r>
            <a:r>
              <a:rPr lang="en-US" altLang="zh-CN" sz="2800" dirty="0" err="1">
                <a:latin typeface="Microsoft Sans Serif" pitchFamily="34" charset="0"/>
                <a:cs typeface="Microsoft Sans Serif" pitchFamily="34" charset="0"/>
              </a:rPr>
              <a:t>rpmfile</a:t>
            </a:r>
            <a:r>
              <a:rPr lang="en-US" altLang="zh-CN" sz="2800" dirty="0">
                <a:latin typeface="Microsoft Sans Serif" pitchFamily="34" charset="0"/>
                <a:cs typeface="Microsoft Sans Serif" pitchFamily="34" charset="0"/>
              </a:rPr>
              <a:t>&gt; … </a:t>
            </a:r>
          </a:p>
          <a:p>
            <a:r>
              <a:rPr lang="zh-CN" altLang="en-US" sz="2800" b="1" dirty="0"/>
              <a:t>卸载</a:t>
            </a:r>
            <a:r>
              <a:rPr lang="zh-CN" altLang="en-US" sz="2800" dirty="0"/>
              <a:t>：</a:t>
            </a:r>
            <a:r>
              <a:rPr lang="en-US" altLang="zh-CN" sz="2800" dirty="0">
                <a:latin typeface="Microsoft Sans Serif" pitchFamily="34" charset="0"/>
                <a:cs typeface="Microsoft Sans Serif" pitchFamily="34" charset="0"/>
              </a:rPr>
              <a:t>rpm   </a:t>
            </a:r>
            <a:r>
              <a:rPr lang="en-US" altLang="zh-CN" sz="2800" dirty="0">
                <a:solidFill>
                  <a:srgbClr val="C00000"/>
                </a:solidFill>
                <a:latin typeface="Microsoft Sans Serif" pitchFamily="34" charset="0"/>
                <a:cs typeface="Microsoft Sans Serif" pitchFamily="34" charset="0"/>
              </a:rPr>
              <a:t>-e|--erase       </a:t>
            </a:r>
            <a:r>
              <a:rPr lang="en-US" altLang="zh-CN" sz="2800" dirty="0">
                <a:latin typeface="Microsoft Sans Serif" pitchFamily="34" charset="0"/>
                <a:cs typeface="Microsoft Sans Serif" pitchFamily="34" charset="0"/>
              </a:rPr>
              <a:t>&lt;package&gt; …</a:t>
            </a:r>
            <a:endParaRPr lang="zh-CN" altLang="en-US" sz="2800" dirty="0">
              <a:latin typeface="Microsoft Sans Serif" pitchFamily="34" charset="0"/>
              <a:cs typeface="Microsoft Sans Serif" pitchFamily="3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升级和更新软件</a:t>
            </a:r>
          </a:p>
        </p:txBody>
      </p:sp>
      <p:graphicFrame>
        <p:nvGraphicFramePr>
          <p:cNvPr id="6" name="表格 5">
            <a:extLst>
              <a:ext uri="{FF2B5EF4-FFF2-40B4-BE49-F238E27FC236}">
                <a16:creationId xmlns:a16="http://schemas.microsoft.com/office/drawing/2014/main" id="{F5DF48F5-7EBE-42D1-A75A-7A686E02E4BD}"/>
              </a:ext>
            </a:extLst>
          </p:cNvPr>
          <p:cNvGraphicFramePr>
            <a:graphicFrameLocks noGrp="1"/>
          </p:cNvGraphicFramePr>
          <p:nvPr>
            <p:extLst>
              <p:ext uri="{D42A27DB-BD31-4B8C-83A1-F6EECF244321}">
                <p14:modId xmlns:p14="http://schemas.microsoft.com/office/powerpoint/2010/main" val="2700490690"/>
              </p:ext>
            </p:extLst>
          </p:nvPr>
        </p:nvGraphicFramePr>
        <p:xfrm>
          <a:off x="675482" y="1700808"/>
          <a:ext cx="8000974" cy="3744416"/>
        </p:xfrm>
        <a:graphic>
          <a:graphicData uri="http://schemas.openxmlformats.org/drawingml/2006/table">
            <a:tbl>
              <a:tblPr>
                <a:tableStyleId>{3C2FFA5D-87B4-456A-9821-1D502468CF0F}</a:tableStyleId>
              </a:tblPr>
              <a:tblGrid>
                <a:gridCol w="1806265">
                  <a:extLst>
                    <a:ext uri="{9D8B030D-6E8A-4147-A177-3AD203B41FA5}">
                      <a16:colId xmlns:a16="http://schemas.microsoft.com/office/drawing/2014/main" val="109387168"/>
                    </a:ext>
                  </a:extLst>
                </a:gridCol>
                <a:gridCol w="6194709">
                  <a:extLst>
                    <a:ext uri="{9D8B030D-6E8A-4147-A177-3AD203B41FA5}">
                      <a16:colId xmlns:a16="http://schemas.microsoft.com/office/drawing/2014/main" val="4225850418"/>
                    </a:ext>
                  </a:extLst>
                </a:gridCol>
              </a:tblGrid>
              <a:tr h="1872208">
                <a:tc>
                  <a:txBody>
                    <a:bodyPr/>
                    <a:lstStyle/>
                    <a:p>
                      <a:pPr algn="ctr"/>
                      <a:r>
                        <a:rPr lang="en-US" sz="2800" b="1" kern="1200" dirty="0">
                          <a:solidFill>
                            <a:schemeClr val="dk1"/>
                          </a:solidFill>
                          <a:latin typeface="+mn-lt"/>
                          <a:ea typeface="+mn-ea"/>
                          <a:cs typeface="+mn-cs"/>
                        </a:rPr>
                        <a:t>-</a:t>
                      </a:r>
                      <a:r>
                        <a:rPr lang="en-US" sz="2800" b="1" kern="1200" dirty="0" err="1">
                          <a:solidFill>
                            <a:schemeClr val="dk1"/>
                          </a:solidFill>
                          <a:latin typeface="+mn-lt"/>
                          <a:ea typeface="+mn-ea"/>
                          <a:cs typeface="+mn-cs"/>
                        </a:rPr>
                        <a:t>Uvh</a:t>
                      </a:r>
                      <a:endParaRPr lang="en-US" sz="2800" b="1" kern="1200" dirty="0">
                        <a:solidFill>
                          <a:schemeClr val="dk1"/>
                        </a:solidFill>
                        <a:latin typeface="+mn-lt"/>
                        <a:ea typeface="+mn-ea"/>
                        <a:cs typeface="+mn-cs"/>
                      </a:endParaRPr>
                    </a:p>
                  </a:txBody>
                  <a:tcPr marL="22860" marR="22860" marT="22860" marB="22860" anchor="ctr"/>
                </a:tc>
                <a:tc>
                  <a:txBody>
                    <a:bodyPr/>
                    <a:lstStyle/>
                    <a:p>
                      <a:pPr marL="0" algn="l" defTabSz="914400" rtl="0" eaLnBrk="1" fontAlgn="base" latinLnBrk="0" hangingPunct="1">
                        <a:spcBef>
                          <a:spcPct val="0"/>
                        </a:spcBef>
                        <a:spcAft>
                          <a:spcPct val="0"/>
                        </a:spcAft>
                      </a:pPr>
                      <a:r>
                        <a:rPr lang="zh-CN" altLang="en-US" sz="2800" b="1" kern="1200" dirty="0">
                          <a:solidFill>
                            <a:schemeClr val="dk1"/>
                          </a:solidFill>
                          <a:latin typeface="+mn-lt"/>
                          <a:ea typeface="+mn-ea"/>
                          <a:cs typeface="+mn-cs"/>
                        </a:rPr>
                        <a:t>后面接的软件即使</a:t>
                      </a:r>
                      <a:r>
                        <a:rPr lang="zh-CN" altLang="en-US" sz="2800" b="1" kern="1200" dirty="0">
                          <a:solidFill>
                            <a:srgbClr val="FF0000"/>
                          </a:solidFill>
                          <a:latin typeface="+mn-lt"/>
                          <a:ea typeface="+mn-ea"/>
                          <a:cs typeface="+mn-cs"/>
                        </a:rPr>
                        <a:t>没有安装</a:t>
                      </a:r>
                      <a:r>
                        <a:rPr lang="zh-CN" altLang="en-US" sz="2800" b="1" kern="1200" dirty="0">
                          <a:solidFill>
                            <a:schemeClr val="dk1"/>
                          </a:solidFill>
                          <a:latin typeface="+mn-lt"/>
                          <a:ea typeface="+mn-ea"/>
                          <a:cs typeface="+mn-cs"/>
                        </a:rPr>
                        <a:t>过，则系统将予以</a:t>
                      </a:r>
                      <a:r>
                        <a:rPr lang="zh-CN" altLang="en-US" sz="2800" b="1" kern="1200" dirty="0">
                          <a:solidFill>
                            <a:srgbClr val="FF0000"/>
                          </a:solidFill>
                          <a:latin typeface="+mn-lt"/>
                          <a:ea typeface="+mn-ea"/>
                          <a:cs typeface="+mn-cs"/>
                        </a:rPr>
                        <a:t>直接安装</a:t>
                      </a:r>
                      <a:r>
                        <a:rPr lang="zh-CN" altLang="en-US" sz="2800" b="1" kern="1200" dirty="0">
                          <a:solidFill>
                            <a:schemeClr val="dk1"/>
                          </a:solidFill>
                          <a:latin typeface="+mn-lt"/>
                          <a:ea typeface="+mn-ea"/>
                          <a:cs typeface="+mn-cs"/>
                        </a:rPr>
                        <a:t>； 若后面接的软件有</a:t>
                      </a:r>
                      <a:r>
                        <a:rPr lang="zh-CN" altLang="en-US" sz="2800" b="1" kern="1200" dirty="0">
                          <a:solidFill>
                            <a:srgbClr val="FF0000"/>
                          </a:solidFill>
                          <a:latin typeface="+mn-lt"/>
                          <a:ea typeface="+mn-ea"/>
                          <a:cs typeface="+mn-cs"/>
                        </a:rPr>
                        <a:t>安装过</a:t>
                      </a:r>
                      <a:r>
                        <a:rPr lang="zh-CN" altLang="en-US" sz="2800" b="1" kern="1200" dirty="0">
                          <a:solidFill>
                            <a:schemeClr val="dk1"/>
                          </a:solidFill>
                          <a:latin typeface="+mn-lt"/>
                          <a:ea typeface="+mn-ea"/>
                          <a:cs typeface="+mn-cs"/>
                        </a:rPr>
                        <a:t>旧版，则系统</a:t>
                      </a:r>
                      <a:r>
                        <a:rPr lang="zh-CN" altLang="en-US" sz="2800" b="1" kern="1200" dirty="0">
                          <a:solidFill>
                            <a:srgbClr val="FF0000"/>
                          </a:solidFill>
                          <a:latin typeface="+mn-lt"/>
                          <a:ea typeface="+mn-ea"/>
                          <a:cs typeface="+mn-cs"/>
                        </a:rPr>
                        <a:t>自动升级</a:t>
                      </a:r>
                      <a:r>
                        <a:rPr lang="zh-CN" altLang="en-US" sz="2800" b="1" kern="1200" dirty="0">
                          <a:solidFill>
                            <a:schemeClr val="dk1"/>
                          </a:solidFill>
                          <a:latin typeface="+mn-lt"/>
                          <a:ea typeface="+mn-ea"/>
                          <a:cs typeface="+mn-cs"/>
                        </a:rPr>
                        <a:t>至新版</a:t>
                      </a:r>
                    </a:p>
                  </a:txBody>
                  <a:tcPr marL="22860" marR="22860" marT="22860" marB="22860" anchor="ctr"/>
                </a:tc>
                <a:extLst>
                  <a:ext uri="{0D108BD9-81ED-4DB2-BD59-A6C34878D82A}">
                    <a16:rowId xmlns:a16="http://schemas.microsoft.com/office/drawing/2014/main" val="1705677236"/>
                  </a:ext>
                </a:extLst>
              </a:tr>
              <a:tr h="1872208">
                <a:tc>
                  <a:txBody>
                    <a:bodyPr/>
                    <a:lstStyle/>
                    <a:p>
                      <a:pPr marL="0" algn="ctr" defTabSz="914400" rtl="0" eaLnBrk="1" latinLnBrk="0" hangingPunct="1"/>
                      <a:r>
                        <a:rPr lang="en-US" sz="2800" b="1" kern="1200" dirty="0">
                          <a:solidFill>
                            <a:schemeClr val="dk1"/>
                          </a:solidFill>
                          <a:latin typeface="+mn-lt"/>
                          <a:ea typeface="+mn-ea"/>
                          <a:cs typeface="+mn-cs"/>
                        </a:rPr>
                        <a:t>-</a:t>
                      </a:r>
                      <a:r>
                        <a:rPr lang="en-US" sz="2800" b="1" kern="1200" dirty="0" err="1">
                          <a:solidFill>
                            <a:schemeClr val="dk1"/>
                          </a:solidFill>
                          <a:latin typeface="+mn-lt"/>
                          <a:ea typeface="+mn-ea"/>
                          <a:cs typeface="+mn-cs"/>
                        </a:rPr>
                        <a:t>Fvh</a:t>
                      </a:r>
                      <a:endParaRPr lang="en-US" sz="2800" b="1" kern="1200" dirty="0">
                        <a:solidFill>
                          <a:schemeClr val="dk1"/>
                        </a:solidFill>
                        <a:latin typeface="+mn-lt"/>
                        <a:ea typeface="+mn-ea"/>
                        <a:cs typeface="+mn-cs"/>
                      </a:endParaRPr>
                    </a:p>
                  </a:txBody>
                  <a:tcPr marL="22860" marR="22860" marT="22860" marB="22860" anchor="ctr"/>
                </a:tc>
                <a:tc>
                  <a:txBody>
                    <a:bodyPr/>
                    <a:lstStyle/>
                    <a:p>
                      <a:pPr marL="0" algn="l" defTabSz="914400" rtl="0" eaLnBrk="1" fontAlgn="base" latinLnBrk="0" hangingPunct="1">
                        <a:spcBef>
                          <a:spcPct val="0"/>
                        </a:spcBef>
                        <a:spcAft>
                          <a:spcPct val="0"/>
                        </a:spcAft>
                      </a:pPr>
                      <a:r>
                        <a:rPr lang="zh-CN" altLang="en-US" sz="2800" b="1" kern="1200" dirty="0">
                          <a:solidFill>
                            <a:schemeClr val="dk1"/>
                          </a:solidFill>
                          <a:latin typeface="+mn-lt"/>
                          <a:ea typeface="+mn-ea"/>
                          <a:cs typeface="+mn-cs"/>
                        </a:rPr>
                        <a:t>如果后面接的软件并</a:t>
                      </a:r>
                      <a:r>
                        <a:rPr lang="zh-CN" altLang="en-US" sz="2800" b="1" kern="1200" dirty="0">
                          <a:solidFill>
                            <a:srgbClr val="FF0000"/>
                          </a:solidFill>
                          <a:latin typeface="+mn-lt"/>
                          <a:ea typeface="+mn-ea"/>
                          <a:cs typeface="+mn-cs"/>
                        </a:rPr>
                        <a:t>未安装</a:t>
                      </a:r>
                      <a:r>
                        <a:rPr lang="zh-CN" altLang="en-US" sz="2800" b="1" kern="1200" dirty="0">
                          <a:solidFill>
                            <a:schemeClr val="dk1"/>
                          </a:solidFill>
                          <a:latin typeface="+mn-lt"/>
                          <a:ea typeface="+mn-ea"/>
                          <a:cs typeface="+mn-cs"/>
                        </a:rPr>
                        <a:t>到你的 </a:t>
                      </a:r>
                      <a:r>
                        <a:rPr lang="en-US" altLang="zh-CN" sz="2800" b="1" kern="1200" dirty="0">
                          <a:solidFill>
                            <a:schemeClr val="dk1"/>
                          </a:solidFill>
                          <a:latin typeface="+mn-lt"/>
                          <a:ea typeface="+mn-ea"/>
                          <a:cs typeface="+mn-cs"/>
                        </a:rPr>
                        <a:t>Linux </a:t>
                      </a:r>
                      <a:r>
                        <a:rPr lang="zh-CN" altLang="en-US" sz="2800" b="1" kern="1200" dirty="0">
                          <a:solidFill>
                            <a:schemeClr val="dk1"/>
                          </a:solidFill>
                          <a:latin typeface="+mn-lt"/>
                          <a:ea typeface="+mn-ea"/>
                          <a:cs typeface="+mn-cs"/>
                        </a:rPr>
                        <a:t>系统上，则该</a:t>
                      </a:r>
                      <a:r>
                        <a:rPr lang="zh-CN" altLang="en-US" sz="2800" b="1" kern="1200" dirty="0">
                          <a:solidFill>
                            <a:srgbClr val="FF0000"/>
                          </a:solidFill>
                          <a:latin typeface="+mn-lt"/>
                          <a:ea typeface="+mn-ea"/>
                          <a:cs typeface="+mn-cs"/>
                        </a:rPr>
                        <a:t>软件不会被安装</a:t>
                      </a:r>
                      <a:r>
                        <a:rPr lang="zh-CN" altLang="en-US" sz="2800" b="1" kern="1200" dirty="0">
                          <a:solidFill>
                            <a:schemeClr val="dk1"/>
                          </a:solidFill>
                          <a:latin typeface="+mn-lt"/>
                          <a:ea typeface="+mn-ea"/>
                          <a:cs typeface="+mn-cs"/>
                        </a:rPr>
                        <a:t>；亦即只有</a:t>
                      </a:r>
                      <a:r>
                        <a:rPr lang="zh-CN" altLang="en-US" sz="2800" b="1" kern="1200" dirty="0">
                          <a:solidFill>
                            <a:srgbClr val="FF0000"/>
                          </a:solidFill>
                          <a:latin typeface="+mn-lt"/>
                          <a:ea typeface="+mn-ea"/>
                          <a:cs typeface="+mn-cs"/>
                        </a:rPr>
                        <a:t>已安装</a:t>
                      </a:r>
                      <a:r>
                        <a:rPr lang="zh-CN" altLang="en-US" sz="2800" b="1" kern="1200" dirty="0">
                          <a:solidFill>
                            <a:schemeClr val="dk1"/>
                          </a:solidFill>
                          <a:latin typeface="+mn-lt"/>
                          <a:ea typeface="+mn-ea"/>
                          <a:cs typeface="+mn-cs"/>
                        </a:rPr>
                        <a:t>至你 </a:t>
                      </a:r>
                      <a:r>
                        <a:rPr lang="en-US" altLang="zh-CN" sz="2800" b="1" kern="1200" dirty="0">
                          <a:solidFill>
                            <a:schemeClr val="dk1"/>
                          </a:solidFill>
                          <a:latin typeface="+mn-lt"/>
                          <a:ea typeface="+mn-ea"/>
                          <a:cs typeface="+mn-cs"/>
                        </a:rPr>
                        <a:t>Linux </a:t>
                      </a:r>
                      <a:r>
                        <a:rPr lang="zh-CN" altLang="en-US" sz="2800" b="1" kern="1200" dirty="0">
                          <a:solidFill>
                            <a:schemeClr val="dk1"/>
                          </a:solidFill>
                          <a:latin typeface="+mn-lt"/>
                          <a:ea typeface="+mn-ea"/>
                          <a:cs typeface="+mn-cs"/>
                        </a:rPr>
                        <a:t>系统内的软件会</a:t>
                      </a:r>
                      <a:r>
                        <a:rPr lang="zh-CN" altLang="en-US" sz="2800" b="1" kern="1200" dirty="0">
                          <a:solidFill>
                            <a:srgbClr val="FF0000"/>
                          </a:solidFill>
                          <a:latin typeface="+mn-lt"/>
                          <a:ea typeface="+mn-ea"/>
                          <a:cs typeface="+mn-cs"/>
                        </a:rPr>
                        <a:t>被升级</a:t>
                      </a:r>
                    </a:p>
                  </a:txBody>
                  <a:tcPr marL="22860" marR="22860" marT="22860" marB="22860" anchor="ctr"/>
                </a:tc>
                <a:extLst>
                  <a:ext uri="{0D108BD9-81ED-4DB2-BD59-A6C34878D82A}">
                    <a16:rowId xmlns:a16="http://schemas.microsoft.com/office/drawing/2014/main" val="2744187467"/>
                  </a:ext>
                </a:extLst>
              </a:tr>
            </a:tbl>
          </a:graphicData>
        </a:graphic>
      </p:graphicFrame>
    </p:spTree>
    <p:extLst>
      <p:ext uri="{BB962C8B-B14F-4D97-AF65-F5344CB8AC3E}">
        <p14:creationId xmlns:p14="http://schemas.microsoft.com/office/powerpoint/2010/main" val="40903570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的基本查询</a:t>
            </a:r>
          </a:p>
        </p:txBody>
      </p:sp>
      <p:sp>
        <p:nvSpPr>
          <p:cNvPr id="3" name="内容占位符 2"/>
          <p:cNvSpPr>
            <a:spLocks noGrp="1"/>
          </p:cNvSpPr>
          <p:nvPr>
            <p:ph idx="1"/>
          </p:nvPr>
        </p:nvSpPr>
        <p:spPr>
          <a:xfrm>
            <a:off x="683568" y="1253574"/>
            <a:ext cx="8460432" cy="5604426"/>
          </a:xfrm>
        </p:spPr>
        <p:txBody>
          <a:bodyPr/>
          <a:lstStyle/>
          <a:p>
            <a:r>
              <a:rPr lang="zh-CN" altLang="en-US" sz="2800" dirty="0"/>
              <a:t>查询软件包</a:t>
            </a:r>
            <a:r>
              <a:rPr lang="zh-CN" altLang="en-US" sz="2800" dirty="0">
                <a:solidFill>
                  <a:srgbClr val="FF0000"/>
                </a:solidFill>
              </a:rPr>
              <a:t>是否安装</a:t>
            </a:r>
            <a:r>
              <a:rPr lang="zh-CN" altLang="en-US" sz="2800" dirty="0"/>
              <a:t>并查看</a:t>
            </a:r>
            <a:r>
              <a:rPr lang="zh-CN" altLang="en-US" sz="2800" dirty="0">
                <a:solidFill>
                  <a:srgbClr val="FF0000"/>
                </a:solidFill>
              </a:rPr>
              <a:t>软件包的版本</a:t>
            </a:r>
          </a:p>
          <a:p>
            <a:pPr lvl="1">
              <a:spcBef>
                <a:spcPts val="400"/>
              </a:spcBef>
              <a:buNone/>
            </a:pPr>
            <a:r>
              <a:rPr lang="en-US" altLang="zh-CN" sz="2400" dirty="0">
                <a:solidFill>
                  <a:schemeClr val="accent6">
                    <a:lumMod val="75000"/>
                  </a:schemeClr>
                </a:solidFill>
              </a:rPr>
              <a:t>rpm -q &lt;</a:t>
            </a:r>
            <a:r>
              <a:rPr lang="en-US" altLang="zh-CN" sz="2400" dirty="0" err="1">
                <a:solidFill>
                  <a:schemeClr val="accent6">
                    <a:lumMod val="75000"/>
                  </a:schemeClr>
                </a:solidFill>
              </a:rPr>
              <a:t>package_name</a:t>
            </a:r>
            <a:r>
              <a:rPr lang="en-US" altLang="zh-CN" sz="2400" dirty="0">
                <a:solidFill>
                  <a:schemeClr val="accent6">
                    <a:lumMod val="75000"/>
                  </a:schemeClr>
                </a:solidFill>
              </a:rPr>
              <a:t>&gt;</a:t>
            </a:r>
            <a:endParaRPr lang="en-US" altLang="zh-CN" sz="2800" dirty="0"/>
          </a:p>
          <a:p>
            <a:r>
              <a:rPr lang="zh-CN" altLang="en-US" sz="2800" dirty="0"/>
              <a:t>查询</a:t>
            </a:r>
            <a:r>
              <a:rPr lang="zh-CN" altLang="en-US" sz="2800" dirty="0">
                <a:solidFill>
                  <a:srgbClr val="FF0000"/>
                </a:solidFill>
              </a:rPr>
              <a:t>已安装</a:t>
            </a:r>
            <a:r>
              <a:rPr lang="zh-CN" altLang="en-US" sz="2800" dirty="0"/>
              <a:t>的</a:t>
            </a:r>
            <a:r>
              <a:rPr lang="zh-CN" altLang="en-US" sz="2800" dirty="0">
                <a:solidFill>
                  <a:srgbClr val="FF0000"/>
                </a:solidFill>
              </a:rPr>
              <a:t>所有软件包</a:t>
            </a:r>
          </a:p>
          <a:p>
            <a:pPr lvl="1">
              <a:buNone/>
            </a:pPr>
            <a:r>
              <a:rPr lang="en-US" altLang="zh-CN" sz="2400" dirty="0">
                <a:solidFill>
                  <a:schemeClr val="accent6">
                    <a:lumMod val="75000"/>
                  </a:schemeClr>
                </a:solidFill>
              </a:rPr>
              <a:t>rpm -</a:t>
            </a:r>
            <a:r>
              <a:rPr lang="en-US" altLang="zh-CN" sz="2400" dirty="0" err="1">
                <a:solidFill>
                  <a:schemeClr val="accent6">
                    <a:lumMod val="75000"/>
                  </a:schemeClr>
                </a:solidFill>
              </a:rPr>
              <a:t>qa</a:t>
            </a:r>
            <a:endParaRPr lang="en-US" altLang="zh-CN" sz="2400" dirty="0">
              <a:solidFill>
                <a:schemeClr val="accent6">
                  <a:lumMod val="75000"/>
                </a:schemeClr>
              </a:solidFill>
            </a:endParaRPr>
          </a:p>
          <a:p>
            <a:r>
              <a:rPr lang="zh-CN" altLang="en-US" sz="2800" dirty="0"/>
              <a:t>查询</a:t>
            </a:r>
            <a:r>
              <a:rPr lang="zh-CN" altLang="en-US" sz="2800" dirty="0">
                <a:solidFill>
                  <a:srgbClr val="FF0000"/>
                </a:solidFill>
              </a:rPr>
              <a:t>软件包信息（开发者、版本与说明等） </a:t>
            </a:r>
          </a:p>
          <a:p>
            <a:pPr lvl="1">
              <a:buNone/>
            </a:pPr>
            <a:r>
              <a:rPr lang="en-US" altLang="zh-CN" sz="2400" dirty="0">
                <a:solidFill>
                  <a:schemeClr val="accent6">
                    <a:lumMod val="75000"/>
                  </a:schemeClr>
                </a:solidFill>
              </a:rPr>
              <a:t>rpm -</a:t>
            </a:r>
            <a:r>
              <a:rPr lang="en-US" altLang="zh-CN" sz="2400" dirty="0" err="1">
                <a:solidFill>
                  <a:schemeClr val="accent6">
                    <a:lumMod val="75000"/>
                  </a:schemeClr>
                </a:solidFill>
              </a:rPr>
              <a:t>qi</a:t>
            </a:r>
            <a:r>
              <a:rPr lang="en-US" altLang="zh-CN" sz="2400" dirty="0">
                <a:solidFill>
                  <a:schemeClr val="accent6">
                    <a:lumMod val="75000"/>
                  </a:schemeClr>
                </a:solidFill>
              </a:rPr>
              <a:t> &lt;</a:t>
            </a:r>
            <a:r>
              <a:rPr lang="en-US" altLang="zh-CN" sz="2400" dirty="0" err="1">
                <a:solidFill>
                  <a:schemeClr val="accent6">
                    <a:lumMod val="75000"/>
                  </a:schemeClr>
                </a:solidFill>
              </a:rPr>
              <a:t>package_name</a:t>
            </a:r>
            <a:r>
              <a:rPr lang="en-US" altLang="zh-CN" sz="2400" dirty="0">
                <a:solidFill>
                  <a:schemeClr val="accent6">
                    <a:lumMod val="75000"/>
                  </a:schemeClr>
                </a:solidFill>
              </a:rPr>
              <a:t>&gt;</a:t>
            </a:r>
          </a:p>
          <a:p>
            <a:pPr lvl="1">
              <a:buNone/>
            </a:pPr>
            <a:r>
              <a:rPr lang="en-US" altLang="zh-CN" sz="2400" dirty="0">
                <a:solidFill>
                  <a:schemeClr val="accent6">
                    <a:lumMod val="75000"/>
                  </a:schemeClr>
                </a:solidFill>
              </a:rPr>
              <a:t>rpm -</a:t>
            </a:r>
            <a:r>
              <a:rPr lang="en-US" altLang="zh-CN" sz="2400" dirty="0" err="1">
                <a:solidFill>
                  <a:schemeClr val="accent6">
                    <a:lumMod val="75000"/>
                  </a:schemeClr>
                </a:solidFill>
              </a:rPr>
              <a:t>qi</a:t>
            </a:r>
            <a:r>
              <a:rPr lang="en-US" altLang="zh-CN" sz="2400" dirty="0" err="1">
                <a:solidFill>
                  <a:srgbClr val="FF0000"/>
                </a:solidFill>
              </a:rPr>
              <a:t>p</a:t>
            </a:r>
            <a:r>
              <a:rPr lang="en-US" altLang="zh-CN" sz="2400" dirty="0">
                <a:solidFill>
                  <a:schemeClr val="accent6">
                    <a:lumMod val="75000"/>
                  </a:schemeClr>
                </a:solidFill>
              </a:rPr>
              <a:t> &lt;</a:t>
            </a:r>
            <a:r>
              <a:rPr lang="en-US" altLang="zh-CN" sz="2400" dirty="0" err="1">
                <a:solidFill>
                  <a:schemeClr val="accent6">
                    <a:lumMod val="75000"/>
                  </a:schemeClr>
                </a:solidFill>
              </a:rPr>
              <a:t>package_file_path_name</a:t>
            </a:r>
            <a:r>
              <a:rPr lang="en-US" altLang="zh-CN" sz="2400" dirty="0">
                <a:solidFill>
                  <a:schemeClr val="accent6">
                    <a:lumMod val="75000"/>
                  </a:schemeClr>
                </a:solidFill>
              </a:rPr>
              <a:t>&gt;</a:t>
            </a:r>
          </a:p>
          <a:p>
            <a:r>
              <a:rPr lang="zh-CN" altLang="en-US" sz="2800" dirty="0"/>
              <a:t>查询</a:t>
            </a:r>
            <a:r>
              <a:rPr lang="zh-CN" altLang="en-US" sz="2800" dirty="0">
                <a:solidFill>
                  <a:srgbClr val="FF0000"/>
                </a:solidFill>
              </a:rPr>
              <a:t>软件包中所有文件</a:t>
            </a:r>
            <a:r>
              <a:rPr lang="zh-CN" altLang="en-US" sz="2800" dirty="0"/>
              <a:t>的名称</a:t>
            </a:r>
          </a:p>
          <a:p>
            <a:pPr lvl="1">
              <a:buNone/>
            </a:pPr>
            <a:r>
              <a:rPr lang="en-US" altLang="zh-CN" sz="2400" dirty="0">
                <a:solidFill>
                  <a:schemeClr val="accent6">
                    <a:lumMod val="75000"/>
                  </a:schemeClr>
                </a:solidFill>
              </a:rPr>
              <a:t>rpm -</a:t>
            </a:r>
            <a:r>
              <a:rPr lang="en-US" altLang="zh-CN" sz="2400" dirty="0" err="1">
                <a:solidFill>
                  <a:schemeClr val="accent6">
                    <a:lumMod val="75000"/>
                  </a:schemeClr>
                </a:solidFill>
              </a:rPr>
              <a:t>ql</a:t>
            </a:r>
            <a:r>
              <a:rPr lang="en-US" altLang="zh-CN" sz="2400" dirty="0">
                <a:solidFill>
                  <a:schemeClr val="accent6">
                    <a:lumMod val="75000"/>
                  </a:schemeClr>
                </a:solidFill>
              </a:rPr>
              <a:t> &lt;</a:t>
            </a:r>
            <a:r>
              <a:rPr lang="en-US" altLang="zh-CN" sz="2400" dirty="0" err="1">
                <a:solidFill>
                  <a:schemeClr val="accent6">
                    <a:lumMod val="75000"/>
                  </a:schemeClr>
                </a:solidFill>
              </a:rPr>
              <a:t>package_name</a:t>
            </a:r>
            <a:r>
              <a:rPr lang="en-US" altLang="zh-CN" sz="2400" dirty="0">
                <a:solidFill>
                  <a:schemeClr val="accent6">
                    <a:lumMod val="75000"/>
                  </a:schemeClr>
                </a:solidFill>
              </a:rPr>
              <a:t>&gt;</a:t>
            </a:r>
          </a:p>
          <a:p>
            <a:pPr lvl="1">
              <a:buNone/>
            </a:pPr>
            <a:r>
              <a:rPr lang="en-US" altLang="zh-CN" sz="2400" dirty="0">
                <a:solidFill>
                  <a:schemeClr val="accent6">
                    <a:lumMod val="75000"/>
                  </a:schemeClr>
                </a:solidFill>
              </a:rPr>
              <a:t>rpm -</a:t>
            </a:r>
            <a:r>
              <a:rPr lang="en-US" altLang="zh-CN" sz="2400" dirty="0" err="1">
                <a:solidFill>
                  <a:schemeClr val="accent6">
                    <a:lumMod val="75000"/>
                  </a:schemeClr>
                </a:solidFill>
              </a:rPr>
              <a:t>ql</a:t>
            </a:r>
            <a:r>
              <a:rPr lang="en-US" altLang="zh-CN" sz="2400" dirty="0" err="1">
                <a:solidFill>
                  <a:srgbClr val="FF0000"/>
                </a:solidFill>
              </a:rPr>
              <a:t>p</a:t>
            </a:r>
            <a:r>
              <a:rPr lang="en-US" altLang="zh-CN" sz="2400" dirty="0">
                <a:solidFill>
                  <a:schemeClr val="accent6">
                    <a:lumMod val="75000"/>
                  </a:schemeClr>
                </a:solidFill>
              </a:rPr>
              <a:t> &lt;</a:t>
            </a:r>
            <a:r>
              <a:rPr lang="en-US" altLang="zh-CN" sz="2400" dirty="0" err="1">
                <a:solidFill>
                  <a:schemeClr val="accent6">
                    <a:lumMod val="75000"/>
                  </a:schemeClr>
                </a:solidFill>
              </a:rPr>
              <a:t>package_file_path_name</a:t>
            </a:r>
            <a:r>
              <a:rPr lang="en-US" altLang="zh-CN" sz="2400" dirty="0">
                <a:solidFill>
                  <a:schemeClr val="accent6">
                    <a:lumMod val="75000"/>
                  </a:schemeClr>
                </a:solidFill>
              </a:rPr>
              <a:t>&gt;</a:t>
            </a:r>
          </a:p>
          <a:p>
            <a:r>
              <a:rPr lang="zh-CN" altLang="en-US" sz="2800" dirty="0"/>
              <a:t>查询磁盘上的文件</a:t>
            </a:r>
            <a:r>
              <a:rPr lang="zh-CN" altLang="en-US" sz="2800" dirty="0">
                <a:solidFill>
                  <a:srgbClr val="FF0000"/>
                </a:solidFill>
              </a:rPr>
              <a:t>属于哪一个已安装软件</a:t>
            </a:r>
          </a:p>
          <a:p>
            <a:pPr lvl="1">
              <a:spcBef>
                <a:spcPts val="0"/>
              </a:spcBef>
              <a:buNone/>
            </a:pPr>
            <a:r>
              <a:rPr lang="en-US" altLang="zh-CN" sz="2400" dirty="0">
                <a:solidFill>
                  <a:schemeClr val="accent6">
                    <a:lumMod val="75000"/>
                  </a:schemeClr>
                </a:solidFill>
              </a:rPr>
              <a:t>rpm -</a:t>
            </a:r>
            <a:r>
              <a:rPr lang="en-US" altLang="zh-CN" sz="2400" dirty="0" err="1">
                <a:solidFill>
                  <a:schemeClr val="accent6">
                    <a:lumMod val="75000"/>
                  </a:schemeClr>
                </a:solidFill>
              </a:rPr>
              <a:t>qf</a:t>
            </a:r>
            <a:r>
              <a:rPr lang="en-US" altLang="zh-CN" sz="2400" dirty="0">
                <a:solidFill>
                  <a:schemeClr val="accent6">
                    <a:lumMod val="75000"/>
                  </a:schemeClr>
                </a:solidFill>
              </a:rPr>
              <a:t> &lt;</a:t>
            </a:r>
            <a:r>
              <a:rPr lang="en-US" altLang="zh-CN" sz="2400" dirty="0" err="1">
                <a:solidFill>
                  <a:schemeClr val="accent6">
                    <a:lumMod val="75000"/>
                  </a:schemeClr>
                </a:solidFill>
              </a:rPr>
              <a:t>path_name</a:t>
            </a:r>
            <a:r>
              <a:rPr lang="en-US" altLang="zh-CN" sz="2400" dirty="0">
                <a:solidFill>
                  <a:schemeClr val="accent6">
                    <a:lumMod val="75000"/>
                  </a:schemeClr>
                </a:solidFill>
              </a:rPr>
              <a:t>&gt;</a:t>
            </a:r>
            <a:endParaRPr lang="zh-CN" altLang="en-US" sz="2400" dirty="0">
              <a:solidFill>
                <a:schemeClr val="accent6">
                  <a:lumMod val="75000"/>
                </a:schemeClr>
              </a:solidFill>
            </a:endParaRPr>
          </a:p>
        </p:txBody>
      </p:sp>
    </p:spTree>
    <p:extLst>
      <p:ext uri="{BB962C8B-B14F-4D97-AF65-F5344CB8AC3E}">
        <p14:creationId xmlns:p14="http://schemas.microsoft.com/office/powerpoint/2010/main" val="213153286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的基本查询说明</a:t>
            </a:r>
          </a:p>
        </p:txBody>
      </p:sp>
      <p:sp>
        <p:nvSpPr>
          <p:cNvPr id="3" name="内容占位符 2"/>
          <p:cNvSpPr>
            <a:spLocks noGrp="1"/>
          </p:cNvSpPr>
          <p:nvPr>
            <p:ph idx="1"/>
          </p:nvPr>
        </p:nvSpPr>
        <p:spPr>
          <a:xfrm>
            <a:off x="890845" y="1412776"/>
            <a:ext cx="7641595" cy="5040560"/>
          </a:xfrm>
        </p:spPr>
        <p:txBody>
          <a:bodyPr/>
          <a:lstStyle/>
          <a:p>
            <a:pPr>
              <a:lnSpc>
                <a:spcPct val="120000"/>
              </a:lnSpc>
            </a:pPr>
            <a:r>
              <a:rPr lang="zh-CN" altLang="en-US" dirty="0"/>
              <a:t>在</a:t>
            </a:r>
            <a:r>
              <a:rPr lang="zh-CN" altLang="en-US" dirty="0">
                <a:solidFill>
                  <a:srgbClr val="FF0000"/>
                </a:solidFill>
              </a:rPr>
              <a:t>查询</a:t>
            </a:r>
            <a:r>
              <a:rPr lang="zh-CN" altLang="en-US" dirty="0"/>
              <a:t>的部分，所有的参数之前都需要</a:t>
            </a:r>
            <a:r>
              <a:rPr lang="zh-CN" altLang="en-US" dirty="0">
                <a:solidFill>
                  <a:srgbClr val="FF0000"/>
                </a:solidFill>
              </a:rPr>
              <a:t>加上 </a:t>
            </a:r>
            <a:r>
              <a:rPr lang="en-US" altLang="zh-CN" dirty="0">
                <a:solidFill>
                  <a:srgbClr val="FF0000"/>
                </a:solidFill>
              </a:rPr>
              <a:t>-q </a:t>
            </a:r>
            <a:r>
              <a:rPr lang="zh-CN" altLang="en-US" dirty="0"/>
              <a:t>使用</a:t>
            </a:r>
            <a:endParaRPr lang="en-US" altLang="zh-CN" dirty="0"/>
          </a:p>
          <a:p>
            <a:pPr>
              <a:lnSpc>
                <a:spcPct val="120000"/>
              </a:lnSpc>
            </a:pPr>
            <a:r>
              <a:rPr lang="zh-CN" altLang="en-US" dirty="0"/>
              <a:t>查询主要分为两部分：</a:t>
            </a:r>
            <a:endParaRPr lang="en-US" altLang="zh-CN" dirty="0"/>
          </a:p>
          <a:p>
            <a:pPr lvl="1">
              <a:lnSpc>
                <a:spcPct val="120000"/>
              </a:lnSpc>
            </a:pPr>
            <a:r>
              <a:rPr lang="zh-CN" altLang="en-US" dirty="0"/>
              <a:t>查</a:t>
            </a:r>
            <a:r>
              <a:rPr lang="zh-CN" altLang="en-US" dirty="0">
                <a:solidFill>
                  <a:srgbClr val="FF0000"/>
                </a:solidFill>
              </a:rPr>
              <a:t>已安装</a:t>
            </a:r>
            <a:r>
              <a:rPr lang="zh-CN" altLang="en-US" dirty="0"/>
              <a:t>到系统上面的的</a:t>
            </a:r>
            <a:r>
              <a:rPr lang="zh-CN" altLang="en-US" dirty="0">
                <a:solidFill>
                  <a:srgbClr val="FF0000"/>
                </a:solidFill>
              </a:rPr>
              <a:t>软件信息</a:t>
            </a:r>
            <a:r>
              <a:rPr lang="zh-CN" altLang="en-US" dirty="0"/>
              <a:t>，这部份的信息都是由</a:t>
            </a:r>
            <a:r>
              <a:rPr lang="zh-CN" altLang="en-US" dirty="0">
                <a:solidFill>
                  <a:srgbClr val="FF0000"/>
                </a:solidFill>
              </a:rPr>
              <a:t> </a:t>
            </a:r>
            <a:r>
              <a:rPr lang="en-US" altLang="zh-CN" dirty="0">
                <a:solidFill>
                  <a:srgbClr val="FF0000"/>
                </a:solidFill>
              </a:rPr>
              <a:t>/var/lib/rpm/ </a:t>
            </a:r>
            <a:r>
              <a:rPr lang="zh-CN" altLang="en-US" dirty="0"/>
              <a:t>所提供</a:t>
            </a:r>
            <a:endParaRPr lang="en-US" altLang="zh-CN" dirty="0"/>
          </a:p>
          <a:p>
            <a:pPr lvl="1">
              <a:lnSpc>
                <a:spcPct val="120000"/>
              </a:lnSpc>
            </a:pPr>
            <a:r>
              <a:rPr lang="zh-CN" altLang="en-US" dirty="0"/>
              <a:t>查某个 </a:t>
            </a:r>
            <a:r>
              <a:rPr lang="en-US" altLang="zh-CN" dirty="0">
                <a:solidFill>
                  <a:srgbClr val="FF0000"/>
                </a:solidFill>
              </a:rPr>
              <a:t>rpm </a:t>
            </a:r>
            <a:r>
              <a:rPr lang="zh-CN" altLang="en-US" dirty="0">
                <a:solidFill>
                  <a:srgbClr val="FF0000"/>
                </a:solidFill>
              </a:rPr>
              <a:t>文件内容</a:t>
            </a:r>
            <a:r>
              <a:rPr lang="zh-CN" altLang="en-US" dirty="0"/>
              <a:t>， 由 </a:t>
            </a:r>
            <a:r>
              <a:rPr lang="en-US" altLang="zh-CN" dirty="0"/>
              <a:t>RPM </a:t>
            </a:r>
            <a:r>
              <a:rPr lang="zh-CN" altLang="en-US" dirty="0"/>
              <a:t>文件内找出一些要写入数据库内的信息，这部分要使用 </a:t>
            </a:r>
            <a:r>
              <a:rPr lang="en-US" altLang="zh-CN" dirty="0">
                <a:solidFill>
                  <a:srgbClr val="FF0000"/>
                </a:solidFill>
              </a:rPr>
              <a:t>-</a:t>
            </a:r>
            <a:r>
              <a:rPr lang="en-US" altLang="zh-CN" dirty="0" err="1">
                <a:solidFill>
                  <a:srgbClr val="FF0000"/>
                </a:solidFill>
              </a:rPr>
              <a:t>qp</a:t>
            </a:r>
            <a:r>
              <a:rPr lang="en-US" altLang="zh-CN" dirty="0">
                <a:solidFill>
                  <a:srgbClr val="FF0000"/>
                </a:solidFill>
              </a:rPr>
              <a:t> </a:t>
            </a:r>
            <a:r>
              <a:rPr lang="en-US" altLang="zh-CN" dirty="0"/>
              <a:t>(p </a:t>
            </a:r>
            <a:r>
              <a:rPr lang="zh-CN" altLang="en-US" dirty="0"/>
              <a:t>是 </a:t>
            </a:r>
            <a:r>
              <a:rPr lang="en-US" altLang="zh-CN" dirty="0"/>
              <a:t>package </a:t>
            </a:r>
            <a:r>
              <a:rPr lang="zh-CN" altLang="en-US" dirty="0"/>
              <a:t>的意思</a:t>
            </a:r>
            <a:r>
              <a:rPr lang="en-US" altLang="zh-CN" dirty="0"/>
              <a:t>)</a:t>
            </a:r>
            <a:r>
              <a:rPr lang="zh-CN" altLang="en-US" dirty="0"/>
              <a:t>参数</a:t>
            </a:r>
          </a:p>
        </p:txBody>
      </p:sp>
    </p:spTree>
    <p:extLst>
      <p:ext uri="{BB962C8B-B14F-4D97-AF65-F5344CB8AC3E}">
        <p14:creationId xmlns:p14="http://schemas.microsoft.com/office/powerpoint/2010/main" val="19480014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的基本查询说明</a:t>
            </a:r>
          </a:p>
        </p:txBody>
      </p:sp>
      <p:sp>
        <p:nvSpPr>
          <p:cNvPr id="5" name="矩形 4"/>
          <p:cNvSpPr/>
          <p:nvPr/>
        </p:nvSpPr>
        <p:spPr>
          <a:xfrm>
            <a:off x="395536" y="1844824"/>
            <a:ext cx="9073008" cy="2308324"/>
          </a:xfrm>
          <a:prstGeom prst="rect">
            <a:avLst/>
          </a:prstGeom>
        </p:spPr>
        <p:txBody>
          <a:bodyPr wrap="square">
            <a:spAutoFit/>
          </a:bodyPr>
          <a:lstStyle/>
          <a:p>
            <a:r>
              <a:rPr lang="zh-CN" altLang="en-US" dirty="0">
                <a:solidFill>
                  <a:srgbClr val="0000FF"/>
                </a:solidFill>
              </a:rPr>
              <a:t>[xl@localhost ~]$ rpm -qa | head -5</a:t>
            </a:r>
          </a:p>
          <a:p>
            <a:r>
              <a:rPr lang="zh-CN" altLang="en-US" dirty="0"/>
              <a:t>libva-devel-1.8.3-1.el7.x86_64</a:t>
            </a:r>
          </a:p>
          <a:p>
            <a:r>
              <a:rPr lang="zh-CN" altLang="en-US" dirty="0"/>
              <a:t>pam-1.1.8-22.el7.x86_64</a:t>
            </a:r>
          </a:p>
          <a:p>
            <a:r>
              <a:rPr lang="zh-CN" altLang="en-US" dirty="0"/>
              <a:t>gnome-session-3.26.1-11.el7.x86_64</a:t>
            </a:r>
          </a:p>
          <a:p>
            <a:r>
              <a:rPr lang="zh-CN" altLang="en-US" dirty="0"/>
              <a:t>curl-7.29.0-46.el7.x86_64</a:t>
            </a:r>
          </a:p>
          <a:p>
            <a:r>
              <a:rPr lang="zh-CN" altLang="en-US" dirty="0"/>
              <a:t>m17n-contrib-1.1.14-3.el7.noarch</a:t>
            </a:r>
          </a:p>
          <a:p>
            <a:r>
              <a:rPr lang="zh-CN" altLang="en-US" dirty="0">
                <a:solidFill>
                  <a:srgbClr val="0000FF"/>
                </a:solidFill>
              </a:rPr>
              <a:t>[xl@localhost ~]$ rpm -q vsftpd</a:t>
            </a:r>
          </a:p>
          <a:p>
            <a:r>
              <a:rPr lang="zh-CN" altLang="en-US" dirty="0"/>
              <a:t>vsftpd-3.0.2-29.el7_9.x86_</a:t>
            </a:r>
            <a:r>
              <a:rPr lang="zh-CN" altLang="en-US" dirty="0" smtClean="0"/>
              <a:t>64</a:t>
            </a:r>
            <a:endParaRPr lang="zh-CN" altLang="en-US" dirty="0"/>
          </a:p>
        </p:txBody>
      </p:sp>
    </p:spTree>
    <p:extLst>
      <p:ext uri="{BB962C8B-B14F-4D97-AF65-F5344CB8AC3E}">
        <p14:creationId xmlns:p14="http://schemas.microsoft.com/office/powerpoint/2010/main" val="190902307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的基本查询说明</a:t>
            </a:r>
          </a:p>
        </p:txBody>
      </p:sp>
      <p:sp>
        <p:nvSpPr>
          <p:cNvPr id="5" name="矩形 4"/>
          <p:cNvSpPr/>
          <p:nvPr/>
        </p:nvSpPr>
        <p:spPr>
          <a:xfrm>
            <a:off x="35496" y="260648"/>
            <a:ext cx="9073008" cy="6463308"/>
          </a:xfrm>
          <a:prstGeom prst="rect">
            <a:avLst/>
          </a:prstGeom>
          <a:solidFill>
            <a:schemeClr val="bg1"/>
          </a:solidFill>
        </p:spPr>
        <p:txBody>
          <a:bodyPr wrap="square">
            <a:spAutoFit/>
          </a:bodyPr>
          <a:lstStyle/>
          <a:p>
            <a:r>
              <a:rPr lang="zh-CN" altLang="en-US" dirty="0">
                <a:solidFill>
                  <a:srgbClr val="0000FF"/>
                </a:solidFill>
              </a:rPr>
              <a:t>[xl@localhost ~]$ rpm -qi vsftpd</a:t>
            </a:r>
          </a:p>
          <a:p>
            <a:r>
              <a:rPr lang="zh-CN" altLang="en-US" dirty="0"/>
              <a:t>Name        : vsftpd</a:t>
            </a:r>
          </a:p>
          <a:p>
            <a:r>
              <a:rPr lang="zh-CN" altLang="en-US" dirty="0"/>
              <a:t>Version     : 3.0.2</a:t>
            </a:r>
          </a:p>
          <a:p>
            <a:r>
              <a:rPr lang="zh-CN" altLang="en-US" dirty="0"/>
              <a:t>Release     : 29.el7_9</a:t>
            </a:r>
          </a:p>
          <a:p>
            <a:r>
              <a:rPr lang="zh-CN" altLang="en-US" dirty="0"/>
              <a:t>Architecture: x86_64</a:t>
            </a:r>
          </a:p>
          <a:p>
            <a:r>
              <a:rPr lang="zh-CN" altLang="en-US" dirty="0"/>
              <a:t>Install Date: Tue 21 May 2024 04:35:54 AM EDT</a:t>
            </a:r>
          </a:p>
          <a:p>
            <a:r>
              <a:rPr lang="zh-CN" altLang="en-US" dirty="0"/>
              <a:t>Group       : System Environment/Daemons</a:t>
            </a:r>
          </a:p>
          <a:p>
            <a:r>
              <a:rPr lang="zh-CN" altLang="en-US" dirty="0"/>
              <a:t>Size        : 361349</a:t>
            </a:r>
          </a:p>
          <a:p>
            <a:r>
              <a:rPr lang="zh-CN" altLang="en-US" dirty="0"/>
              <a:t>License     : GPLv2 with exceptions</a:t>
            </a:r>
          </a:p>
          <a:p>
            <a:r>
              <a:rPr lang="zh-CN" altLang="en-US" dirty="0"/>
              <a:t>Signature   : RSA/SHA256, Fri 11 Jun 2021 11:06:15 AM EDT, Key ID 24c6a8a7f4a80eb5</a:t>
            </a:r>
          </a:p>
          <a:p>
            <a:r>
              <a:rPr lang="zh-CN" altLang="en-US" dirty="0"/>
              <a:t>Source RPM  : vsftpd-3.0.2-29.el7_9.src.rpm</a:t>
            </a:r>
          </a:p>
          <a:p>
            <a:r>
              <a:rPr lang="zh-CN" altLang="en-US" dirty="0"/>
              <a:t>Build Date  : Wed 09 Jun 2021 12:15:50 PM EDT</a:t>
            </a:r>
          </a:p>
          <a:p>
            <a:r>
              <a:rPr lang="zh-CN" altLang="en-US" dirty="0"/>
              <a:t>Build Host  : x86-02.bsys.centos.org</a:t>
            </a:r>
          </a:p>
          <a:p>
            <a:r>
              <a:rPr lang="zh-CN" altLang="en-US" dirty="0"/>
              <a:t>Relocations : (not relocatable)</a:t>
            </a:r>
          </a:p>
          <a:p>
            <a:r>
              <a:rPr lang="zh-CN" altLang="en-US" dirty="0"/>
              <a:t>Packager    : CentOS BuildSystem &lt;http://bugs.centos.org&gt;</a:t>
            </a:r>
          </a:p>
          <a:p>
            <a:r>
              <a:rPr lang="zh-CN" altLang="en-US" dirty="0"/>
              <a:t>Vendor      : CentOS</a:t>
            </a:r>
          </a:p>
          <a:p>
            <a:r>
              <a:rPr lang="zh-CN" altLang="en-US" dirty="0"/>
              <a:t>URL         : https://security.appspot.com/vsftpd.html</a:t>
            </a:r>
          </a:p>
          <a:p>
            <a:r>
              <a:rPr lang="zh-CN" altLang="en-US" dirty="0"/>
              <a:t>Summary     : Very Secure Ftp Daemon</a:t>
            </a:r>
          </a:p>
          <a:p>
            <a:r>
              <a:rPr lang="zh-CN" altLang="en-US" dirty="0"/>
              <a:t>Description :</a:t>
            </a:r>
          </a:p>
          <a:p>
            <a:r>
              <a:rPr lang="zh-CN" altLang="en-US" dirty="0"/>
              <a:t>vsftpd is a Very Secure FTP daemon. It was written completely from</a:t>
            </a:r>
          </a:p>
          <a:p>
            <a:r>
              <a:rPr lang="zh-CN" altLang="en-US" dirty="0"/>
              <a:t>scratch.</a:t>
            </a:r>
          </a:p>
          <a:p>
            <a:r>
              <a:rPr lang="zh-CN" altLang="en-US" dirty="0"/>
              <a:t>[xl@localhost ~]$ </a:t>
            </a:r>
          </a:p>
        </p:txBody>
      </p:sp>
    </p:spTree>
    <p:extLst>
      <p:ext uri="{BB962C8B-B14F-4D97-AF65-F5344CB8AC3E}">
        <p14:creationId xmlns:p14="http://schemas.microsoft.com/office/powerpoint/2010/main" val="179640216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的基本查询说明</a:t>
            </a:r>
          </a:p>
        </p:txBody>
      </p:sp>
      <p:sp>
        <p:nvSpPr>
          <p:cNvPr id="5" name="矩形 4"/>
          <p:cNvSpPr/>
          <p:nvPr/>
        </p:nvSpPr>
        <p:spPr>
          <a:xfrm>
            <a:off x="70992" y="548680"/>
            <a:ext cx="9073008" cy="923330"/>
          </a:xfrm>
          <a:prstGeom prst="rect">
            <a:avLst/>
          </a:prstGeom>
          <a:solidFill>
            <a:schemeClr val="bg1"/>
          </a:solidFill>
        </p:spPr>
        <p:txBody>
          <a:bodyPr wrap="square">
            <a:spAutoFit/>
          </a:bodyPr>
          <a:lstStyle/>
          <a:p>
            <a:r>
              <a:rPr lang="zh-CN" altLang="en-US" dirty="0" smtClean="0">
                <a:solidFill>
                  <a:srgbClr val="0000FF"/>
                </a:solidFill>
              </a:rPr>
              <a:t>[</a:t>
            </a:r>
            <a:r>
              <a:rPr lang="en-US" altLang="zh-CN" dirty="0" err="1" smtClean="0">
                <a:solidFill>
                  <a:srgbClr val="0000FF"/>
                </a:solidFill>
              </a:rPr>
              <a:t>xl@localhost</a:t>
            </a:r>
            <a:r>
              <a:rPr lang="en-US" altLang="zh-CN" dirty="0" smtClean="0">
                <a:solidFill>
                  <a:srgbClr val="0000FF"/>
                </a:solidFill>
              </a:rPr>
              <a:t> </a:t>
            </a:r>
            <a:r>
              <a:rPr lang="en-US" altLang="zh-CN" dirty="0">
                <a:solidFill>
                  <a:srgbClr val="0000FF"/>
                </a:solidFill>
              </a:rPr>
              <a:t>~]$ rpm -</a:t>
            </a:r>
            <a:r>
              <a:rPr lang="en-US" altLang="zh-CN" dirty="0" err="1">
                <a:solidFill>
                  <a:srgbClr val="0000FF"/>
                </a:solidFill>
              </a:rPr>
              <a:t>qf</a:t>
            </a:r>
            <a:r>
              <a:rPr lang="en-US" altLang="zh-CN" dirty="0">
                <a:solidFill>
                  <a:srgbClr val="0000FF"/>
                </a:solidFill>
              </a:rPr>
              <a:t> /</a:t>
            </a:r>
            <a:r>
              <a:rPr lang="en-US" altLang="zh-CN" dirty="0" err="1">
                <a:solidFill>
                  <a:srgbClr val="0000FF"/>
                </a:solidFill>
              </a:rPr>
              <a:t>etc</a:t>
            </a:r>
            <a:r>
              <a:rPr lang="en-US" altLang="zh-CN" dirty="0">
                <a:solidFill>
                  <a:srgbClr val="0000FF"/>
                </a:solidFill>
              </a:rPr>
              <a:t>/</a:t>
            </a:r>
            <a:r>
              <a:rPr lang="en-US" altLang="zh-CN" dirty="0" err="1">
                <a:solidFill>
                  <a:srgbClr val="0000FF"/>
                </a:solidFill>
              </a:rPr>
              <a:t>passwd</a:t>
            </a:r>
            <a:endParaRPr lang="en-US" altLang="zh-CN" dirty="0">
              <a:solidFill>
                <a:srgbClr val="0000FF"/>
              </a:solidFill>
            </a:endParaRPr>
          </a:p>
          <a:p>
            <a:r>
              <a:rPr lang="en-US" altLang="zh-CN" dirty="0"/>
              <a:t>setup-2.8.71-9.el7.noarch</a:t>
            </a:r>
          </a:p>
          <a:p>
            <a:r>
              <a:rPr lang="en-US" altLang="zh-CN" dirty="0">
                <a:solidFill>
                  <a:srgbClr val="0000FF"/>
                </a:solidFill>
              </a:rPr>
              <a:t>[</a:t>
            </a:r>
            <a:r>
              <a:rPr lang="en-US" altLang="zh-CN" dirty="0" err="1">
                <a:solidFill>
                  <a:srgbClr val="0000FF"/>
                </a:solidFill>
              </a:rPr>
              <a:t>xl@localhost</a:t>
            </a:r>
            <a:r>
              <a:rPr lang="en-US" altLang="zh-CN" dirty="0">
                <a:solidFill>
                  <a:srgbClr val="0000FF"/>
                </a:solidFill>
              </a:rPr>
              <a:t> ~]$ </a:t>
            </a:r>
          </a:p>
        </p:txBody>
      </p:sp>
    </p:spTree>
    <p:extLst>
      <p:ext uri="{BB962C8B-B14F-4D97-AF65-F5344CB8AC3E}">
        <p14:creationId xmlns:p14="http://schemas.microsoft.com/office/powerpoint/2010/main" val="24270112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的基本查询举例</a:t>
            </a:r>
            <a:r>
              <a:rPr lang="en-US" altLang="zh-CN" dirty="0"/>
              <a:t>1</a:t>
            </a:r>
            <a:endParaRPr lang="zh-CN" altLang="en-US" dirty="0"/>
          </a:p>
        </p:txBody>
      </p:sp>
      <p:sp>
        <p:nvSpPr>
          <p:cNvPr id="9" name="文本框 8">
            <a:extLst>
              <a:ext uri="{FF2B5EF4-FFF2-40B4-BE49-F238E27FC236}">
                <a16:creationId xmlns:a16="http://schemas.microsoft.com/office/drawing/2014/main" id="{EFBC93BA-5125-4D6B-8109-93E9375FB1F7}"/>
              </a:ext>
            </a:extLst>
          </p:cNvPr>
          <p:cNvSpPr txBox="1"/>
          <p:nvPr/>
        </p:nvSpPr>
        <p:spPr>
          <a:xfrm>
            <a:off x="467544" y="1412776"/>
            <a:ext cx="8479606" cy="5262979"/>
          </a:xfrm>
          <a:prstGeom prst="rect">
            <a:avLst/>
          </a:prstGeom>
          <a:solidFill>
            <a:schemeClr val="accent2">
              <a:lumMod val="60000"/>
              <a:lumOff val="40000"/>
            </a:schemeClr>
          </a:solidFill>
        </p:spPr>
        <p:txBody>
          <a:bodyPr wrap="square">
            <a:spAutoFit/>
          </a:bodyPr>
          <a:lstStyle/>
          <a:p>
            <a:r>
              <a:rPr lang="zh-CN" altLang="en-US" sz="2400" dirty="0">
                <a:solidFill>
                  <a:srgbClr val="0000FF"/>
                </a:solidFill>
              </a:rPr>
              <a:t>范例一：找出你的 </a:t>
            </a:r>
            <a:r>
              <a:rPr lang="en-US" altLang="zh-CN" sz="2400" dirty="0">
                <a:solidFill>
                  <a:srgbClr val="0000FF"/>
                </a:solidFill>
              </a:rPr>
              <a:t>Linux </a:t>
            </a:r>
            <a:r>
              <a:rPr lang="zh-CN" altLang="en-US" sz="2400" dirty="0">
                <a:solidFill>
                  <a:srgbClr val="0000FF"/>
                </a:solidFill>
              </a:rPr>
              <a:t>是否有安装 </a:t>
            </a:r>
            <a:r>
              <a:rPr lang="en-US" altLang="zh-CN" sz="2400" dirty="0" err="1">
                <a:solidFill>
                  <a:srgbClr val="0000FF"/>
                </a:solidFill>
              </a:rPr>
              <a:t>logrotate</a:t>
            </a:r>
            <a:r>
              <a:rPr lang="en-US" altLang="zh-CN" sz="2400" dirty="0">
                <a:solidFill>
                  <a:srgbClr val="0000FF"/>
                </a:solidFill>
              </a:rPr>
              <a:t> </a:t>
            </a:r>
            <a:r>
              <a:rPr lang="zh-CN" altLang="en-US" sz="2400" dirty="0">
                <a:solidFill>
                  <a:srgbClr val="0000FF"/>
                </a:solidFill>
              </a:rPr>
              <a:t>这个软件？</a:t>
            </a:r>
          </a:p>
          <a:p>
            <a:r>
              <a:rPr lang="en-US" altLang="zh-CN" sz="2400" dirty="0"/>
              <a:t>[</a:t>
            </a:r>
            <a:r>
              <a:rPr lang="en-US" altLang="zh-CN" sz="2400" dirty="0" err="1"/>
              <a:t>root@www</a:t>
            </a:r>
            <a:r>
              <a:rPr lang="en-US" altLang="zh-CN" sz="2400" dirty="0"/>
              <a:t> ~]# </a:t>
            </a:r>
            <a:r>
              <a:rPr lang="en-US" altLang="zh-CN" sz="2400" dirty="0">
                <a:solidFill>
                  <a:srgbClr val="FF0000"/>
                </a:solidFill>
              </a:rPr>
              <a:t>rpm -q </a:t>
            </a:r>
            <a:r>
              <a:rPr lang="en-US" altLang="zh-CN" sz="2400" dirty="0" err="1">
                <a:solidFill>
                  <a:srgbClr val="FF0000"/>
                </a:solidFill>
              </a:rPr>
              <a:t>logrotate</a:t>
            </a:r>
            <a:endParaRPr lang="en-US" altLang="zh-CN" sz="2400" dirty="0">
              <a:solidFill>
                <a:srgbClr val="FF0000"/>
              </a:solidFill>
            </a:endParaRPr>
          </a:p>
          <a:p>
            <a:r>
              <a:rPr lang="en-US" altLang="zh-CN" sz="2400" dirty="0">
                <a:solidFill>
                  <a:schemeClr val="accent5">
                    <a:lumMod val="25000"/>
                  </a:schemeClr>
                </a:solidFill>
              </a:rPr>
              <a:t>logrotate-3.7.4-8</a:t>
            </a:r>
          </a:p>
          <a:p>
            <a:r>
              <a:rPr lang="en-US" altLang="zh-CN" sz="2400" dirty="0"/>
              <a:t>[</a:t>
            </a:r>
            <a:r>
              <a:rPr lang="en-US" altLang="zh-CN" sz="2400" dirty="0" err="1"/>
              <a:t>root@www</a:t>
            </a:r>
            <a:r>
              <a:rPr lang="en-US" altLang="zh-CN" sz="2400" dirty="0"/>
              <a:t> ~]# </a:t>
            </a:r>
            <a:r>
              <a:rPr lang="en-US" altLang="zh-CN" sz="2400" dirty="0">
                <a:solidFill>
                  <a:srgbClr val="FF0000"/>
                </a:solidFill>
              </a:rPr>
              <a:t>rpm -q </a:t>
            </a:r>
            <a:r>
              <a:rPr lang="en-US" altLang="zh-CN" sz="2400" dirty="0" err="1">
                <a:solidFill>
                  <a:srgbClr val="FF0000"/>
                </a:solidFill>
              </a:rPr>
              <a:t>logrotating</a:t>
            </a:r>
            <a:endParaRPr lang="en-US" altLang="zh-CN" sz="2400" dirty="0">
              <a:solidFill>
                <a:srgbClr val="FF0000"/>
              </a:solidFill>
            </a:endParaRPr>
          </a:p>
          <a:p>
            <a:r>
              <a:rPr lang="en-US" altLang="zh-CN" sz="2400" dirty="0">
                <a:solidFill>
                  <a:schemeClr val="accent5">
                    <a:lumMod val="25000"/>
                  </a:schemeClr>
                </a:solidFill>
              </a:rPr>
              <a:t>package </a:t>
            </a:r>
            <a:r>
              <a:rPr lang="en-US" altLang="zh-CN" sz="2400" dirty="0" err="1">
                <a:solidFill>
                  <a:schemeClr val="accent5">
                    <a:lumMod val="25000"/>
                  </a:schemeClr>
                </a:solidFill>
              </a:rPr>
              <a:t>logrotating</a:t>
            </a:r>
            <a:r>
              <a:rPr lang="en-US" altLang="zh-CN" sz="2400" dirty="0">
                <a:solidFill>
                  <a:schemeClr val="accent5">
                    <a:lumMod val="25000"/>
                  </a:schemeClr>
                </a:solidFill>
              </a:rPr>
              <a:t> is not installed</a:t>
            </a:r>
          </a:p>
          <a:p>
            <a:r>
              <a:rPr lang="en-US" altLang="zh-CN" sz="2400" dirty="0"/>
              <a:t># </a:t>
            </a:r>
            <a:r>
              <a:rPr lang="zh-CN" altLang="en-US" sz="2400" dirty="0"/>
              <a:t>注意到，系统会去找是否有安装后面接的软件名称。注意，</a:t>
            </a:r>
          </a:p>
          <a:p>
            <a:r>
              <a:rPr lang="en-US" altLang="zh-CN" sz="2400" dirty="0">
                <a:solidFill>
                  <a:srgbClr val="C00000"/>
                </a:solidFill>
              </a:rPr>
              <a:t># </a:t>
            </a:r>
            <a:r>
              <a:rPr lang="zh-CN" altLang="en-US" sz="2400" dirty="0">
                <a:solidFill>
                  <a:srgbClr val="C00000"/>
                </a:solidFill>
              </a:rPr>
              <a:t>不必要加上版本！！</a:t>
            </a:r>
          </a:p>
          <a:p>
            <a:r>
              <a:rPr lang="zh-CN" altLang="en-US" sz="2400" dirty="0">
                <a:solidFill>
                  <a:srgbClr val="0000FF"/>
                </a:solidFill>
              </a:rPr>
              <a:t>范例二：列出上例中，属于该软件所提供的所有目录与文件：</a:t>
            </a:r>
          </a:p>
          <a:p>
            <a:r>
              <a:rPr lang="en-US" altLang="zh-CN" sz="2400" dirty="0"/>
              <a:t>[</a:t>
            </a:r>
            <a:r>
              <a:rPr lang="en-US" altLang="zh-CN" sz="2400" dirty="0" err="1"/>
              <a:t>root@www</a:t>
            </a:r>
            <a:r>
              <a:rPr lang="en-US" altLang="zh-CN" sz="2400" dirty="0"/>
              <a:t> ~]# </a:t>
            </a:r>
            <a:r>
              <a:rPr lang="en-US" altLang="zh-CN" sz="2400" dirty="0">
                <a:solidFill>
                  <a:srgbClr val="FF0000"/>
                </a:solidFill>
              </a:rPr>
              <a:t>rpm -</a:t>
            </a:r>
            <a:r>
              <a:rPr lang="en-US" altLang="zh-CN" sz="2400" dirty="0" err="1">
                <a:solidFill>
                  <a:srgbClr val="FF0000"/>
                </a:solidFill>
              </a:rPr>
              <a:t>ql</a:t>
            </a:r>
            <a:r>
              <a:rPr lang="en-US" altLang="zh-CN" sz="2400" dirty="0">
                <a:solidFill>
                  <a:srgbClr val="FF0000"/>
                </a:solidFill>
              </a:rPr>
              <a:t> </a:t>
            </a:r>
            <a:r>
              <a:rPr lang="en-US" altLang="zh-CN" sz="2400" dirty="0" err="1">
                <a:solidFill>
                  <a:srgbClr val="FF0000"/>
                </a:solidFill>
              </a:rPr>
              <a:t>logrotate</a:t>
            </a:r>
            <a:endParaRPr lang="en-US" altLang="zh-CN" sz="2400" dirty="0">
              <a:solidFill>
                <a:srgbClr val="FF0000"/>
              </a:solidFill>
            </a:endParaRPr>
          </a:p>
          <a:p>
            <a:r>
              <a:rPr lang="en-US" altLang="zh-CN" sz="2400" dirty="0">
                <a:solidFill>
                  <a:schemeClr val="accent5">
                    <a:lumMod val="25000"/>
                  </a:schemeClr>
                </a:solidFill>
              </a:rPr>
              <a:t>/etc/</a:t>
            </a:r>
            <a:r>
              <a:rPr lang="en-US" altLang="zh-CN" sz="2400" dirty="0" err="1">
                <a:solidFill>
                  <a:schemeClr val="accent5">
                    <a:lumMod val="25000"/>
                  </a:schemeClr>
                </a:solidFill>
              </a:rPr>
              <a:t>cron.daily</a:t>
            </a:r>
            <a:r>
              <a:rPr lang="en-US" altLang="zh-CN" sz="2400" dirty="0">
                <a:solidFill>
                  <a:schemeClr val="accent5">
                    <a:lumMod val="25000"/>
                  </a:schemeClr>
                </a:solidFill>
              </a:rPr>
              <a:t>/</a:t>
            </a:r>
            <a:r>
              <a:rPr lang="en-US" altLang="zh-CN" sz="2400" dirty="0" err="1">
                <a:solidFill>
                  <a:schemeClr val="accent5">
                    <a:lumMod val="25000"/>
                  </a:schemeClr>
                </a:solidFill>
              </a:rPr>
              <a:t>logrotate</a:t>
            </a:r>
            <a:endParaRPr lang="en-US" altLang="zh-CN" sz="2400" dirty="0">
              <a:solidFill>
                <a:schemeClr val="accent5">
                  <a:lumMod val="25000"/>
                </a:schemeClr>
              </a:solidFill>
            </a:endParaRPr>
          </a:p>
          <a:p>
            <a:r>
              <a:rPr lang="en-US" altLang="zh-CN" sz="2400" dirty="0">
                <a:solidFill>
                  <a:schemeClr val="accent5">
                    <a:lumMod val="25000"/>
                  </a:schemeClr>
                </a:solidFill>
              </a:rPr>
              <a:t>/etc/</a:t>
            </a:r>
            <a:r>
              <a:rPr lang="en-US" altLang="zh-CN" sz="2400" dirty="0" err="1">
                <a:solidFill>
                  <a:schemeClr val="accent5">
                    <a:lumMod val="25000"/>
                  </a:schemeClr>
                </a:solidFill>
              </a:rPr>
              <a:t>logrotate.conf</a:t>
            </a:r>
            <a:endParaRPr lang="en-US" altLang="zh-CN" sz="2400" dirty="0">
              <a:solidFill>
                <a:schemeClr val="accent5">
                  <a:lumMod val="25000"/>
                </a:schemeClr>
              </a:solidFill>
            </a:endParaRPr>
          </a:p>
          <a:p>
            <a:r>
              <a:rPr lang="en-US" altLang="zh-CN" sz="2400" dirty="0"/>
              <a:t>....(</a:t>
            </a:r>
            <a:r>
              <a:rPr lang="zh-CN" altLang="en-US" sz="2400" dirty="0"/>
              <a:t>以下省略</a:t>
            </a:r>
            <a:r>
              <a:rPr lang="en-US" altLang="zh-CN" sz="2400" dirty="0"/>
              <a:t>)....</a:t>
            </a:r>
          </a:p>
          <a:p>
            <a:r>
              <a:rPr lang="en-US" altLang="zh-CN" sz="2400" dirty="0"/>
              <a:t># </a:t>
            </a:r>
            <a:r>
              <a:rPr lang="zh-CN" altLang="en-US" sz="2400" dirty="0">
                <a:solidFill>
                  <a:srgbClr val="C00000"/>
                </a:solidFill>
              </a:rPr>
              <a:t>可以看出该软件提供了多少的文件与目录，</a:t>
            </a:r>
            <a:r>
              <a:rPr lang="zh-CN" altLang="en-US" sz="2400" dirty="0"/>
              <a:t>也可以追踪软件的数据。</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的基本查询举例</a:t>
            </a:r>
            <a:r>
              <a:rPr lang="en-US" altLang="zh-CN" dirty="0"/>
              <a:t>2</a:t>
            </a:r>
            <a:endParaRPr lang="zh-CN" altLang="en-US" dirty="0"/>
          </a:p>
        </p:txBody>
      </p:sp>
      <p:sp>
        <p:nvSpPr>
          <p:cNvPr id="9" name="文本框 8">
            <a:extLst>
              <a:ext uri="{FF2B5EF4-FFF2-40B4-BE49-F238E27FC236}">
                <a16:creationId xmlns:a16="http://schemas.microsoft.com/office/drawing/2014/main" id="{EFBC93BA-5125-4D6B-8109-93E9375FB1F7}"/>
              </a:ext>
            </a:extLst>
          </p:cNvPr>
          <p:cNvSpPr txBox="1"/>
          <p:nvPr/>
        </p:nvSpPr>
        <p:spPr>
          <a:xfrm>
            <a:off x="32424" y="1355055"/>
            <a:ext cx="9079152" cy="5324535"/>
          </a:xfrm>
          <a:prstGeom prst="rect">
            <a:avLst/>
          </a:prstGeom>
          <a:solidFill>
            <a:schemeClr val="accent2">
              <a:lumMod val="60000"/>
              <a:lumOff val="40000"/>
            </a:schemeClr>
          </a:solidFill>
        </p:spPr>
        <p:txBody>
          <a:bodyPr wrap="square">
            <a:spAutoFit/>
          </a:bodyPr>
          <a:lstStyle/>
          <a:p>
            <a:r>
              <a:rPr lang="zh-CN" altLang="en-US" sz="2000" dirty="0">
                <a:solidFill>
                  <a:srgbClr val="0000FF"/>
                </a:solidFill>
              </a:rPr>
              <a:t>范例三：列出 </a:t>
            </a:r>
            <a:r>
              <a:rPr lang="en-US" altLang="zh-CN" sz="2000" dirty="0" err="1">
                <a:solidFill>
                  <a:srgbClr val="0000FF"/>
                </a:solidFill>
              </a:rPr>
              <a:t>logrotate</a:t>
            </a:r>
            <a:r>
              <a:rPr lang="en-US" altLang="zh-CN" sz="2000" dirty="0">
                <a:solidFill>
                  <a:srgbClr val="0000FF"/>
                </a:solidFill>
              </a:rPr>
              <a:t> </a:t>
            </a:r>
            <a:r>
              <a:rPr lang="zh-CN" altLang="en-US" sz="2000" dirty="0">
                <a:solidFill>
                  <a:srgbClr val="0000FF"/>
                </a:solidFill>
              </a:rPr>
              <a:t>这个软件的相关说明数据：</a:t>
            </a:r>
          </a:p>
          <a:p>
            <a:r>
              <a:rPr lang="en-US" altLang="zh-CN" sz="2000" dirty="0"/>
              <a:t>[</a:t>
            </a:r>
            <a:r>
              <a:rPr lang="en-US" altLang="zh-CN" sz="2000" dirty="0" err="1"/>
              <a:t>root@www</a:t>
            </a:r>
            <a:r>
              <a:rPr lang="en-US" altLang="zh-CN" sz="2000" dirty="0"/>
              <a:t> ~]# </a:t>
            </a:r>
            <a:r>
              <a:rPr lang="en-US" altLang="zh-CN" sz="2000" dirty="0">
                <a:solidFill>
                  <a:srgbClr val="FF0000"/>
                </a:solidFill>
              </a:rPr>
              <a:t>rpm -qi </a:t>
            </a:r>
            <a:r>
              <a:rPr lang="en-US" altLang="zh-CN" sz="2000" dirty="0" err="1">
                <a:solidFill>
                  <a:srgbClr val="FF0000"/>
                </a:solidFill>
              </a:rPr>
              <a:t>logrotate</a:t>
            </a:r>
            <a:endParaRPr lang="en-US" altLang="zh-CN" sz="2000" dirty="0">
              <a:solidFill>
                <a:srgbClr val="FF0000"/>
              </a:solidFill>
            </a:endParaRPr>
          </a:p>
          <a:p>
            <a:r>
              <a:rPr lang="en-US" altLang="zh-CN" sz="2000" dirty="0">
                <a:solidFill>
                  <a:schemeClr val="accent1">
                    <a:lumMod val="50000"/>
                  </a:schemeClr>
                </a:solidFill>
              </a:rPr>
              <a:t>Name        : </a:t>
            </a:r>
            <a:r>
              <a:rPr lang="en-US" altLang="zh-CN" sz="2000" dirty="0" err="1">
                <a:solidFill>
                  <a:schemeClr val="accent1">
                    <a:lumMod val="50000"/>
                  </a:schemeClr>
                </a:solidFill>
              </a:rPr>
              <a:t>logrotate</a:t>
            </a:r>
            <a:r>
              <a:rPr lang="en-US" altLang="zh-CN" sz="2000" dirty="0">
                <a:solidFill>
                  <a:schemeClr val="accent1">
                    <a:lumMod val="50000"/>
                  </a:schemeClr>
                </a:solidFill>
              </a:rPr>
              <a:t>             Relocations: (not relocatable)</a:t>
            </a:r>
          </a:p>
          <a:p>
            <a:r>
              <a:rPr lang="en-US" altLang="zh-CN" sz="2000" dirty="0">
                <a:solidFill>
                  <a:schemeClr val="accent1">
                    <a:lumMod val="50000"/>
                  </a:schemeClr>
                </a:solidFill>
              </a:rPr>
              <a:t>Version     : 3.7.4                      Vendor: CentOS</a:t>
            </a:r>
          </a:p>
          <a:p>
            <a:r>
              <a:rPr lang="en-US" altLang="zh-CN" sz="2000" dirty="0">
                <a:solidFill>
                  <a:schemeClr val="accent1">
                    <a:lumMod val="50000"/>
                  </a:schemeClr>
                </a:solidFill>
              </a:rPr>
              <a:t>Release     : 8                      Build Date: Sun 02 Dec 2007 08:38:06 AM CST</a:t>
            </a:r>
          </a:p>
          <a:p>
            <a:r>
              <a:rPr lang="en-US" altLang="zh-CN" sz="2000" dirty="0">
                <a:solidFill>
                  <a:schemeClr val="accent1">
                    <a:lumMod val="50000"/>
                  </a:schemeClr>
                </a:solidFill>
              </a:rPr>
              <a:t>Install Date: Sat 09 May 2009 11:59:05 PM CST    Build Host: builder6</a:t>
            </a:r>
          </a:p>
          <a:p>
            <a:r>
              <a:rPr lang="en-US" altLang="zh-CN" sz="2000" dirty="0">
                <a:solidFill>
                  <a:schemeClr val="accent1">
                    <a:lumMod val="50000"/>
                  </a:schemeClr>
                </a:solidFill>
              </a:rPr>
              <a:t>Group       : System Environment/Base  Source RPM: logrotate-3.7.4-8.src.rpm</a:t>
            </a:r>
          </a:p>
          <a:p>
            <a:r>
              <a:rPr lang="en-US" altLang="zh-CN" sz="2000" dirty="0">
                <a:solidFill>
                  <a:schemeClr val="accent1">
                    <a:lumMod val="50000"/>
                  </a:schemeClr>
                </a:solidFill>
              </a:rPr>
              <a:t>Size        : 53618                     License: GPL</a:t>
            </a:r>
          </a:p>
          <a:p>
            <a:r>
              <a:rPr lang="en-US" altLang="zh-CN" sz="2000" dirty="0">
                <a:solidFill>
                  <a:schemeClr val="accent1">
                    <a:lumMod val="50000"/>
                  </a:schemeClr>
                </a:solidFill>
              </a:rPr>
              <a:t>Signature   : DSA/SHA1, Sun 02 Dec 2007 09:10:01 AM CST, Key ID a8a447dce8562897</a:t>
            </a:r>
          </a:p>
          <a:p>
            <a:r>
              <a:rPr lang="en-US" altLang="zh-CN" sz="2000" dirty="0">
                <a:solidFill>
                  <a:schemeClr val="accent1">
                    <a:lumMod val="50000"/>
                  </a:schemeClr>
                </a:solidFill>
              </a:rPr>
              <a:t>Summary     : Rotates, compresses, removes and mails system log files.</a:t>
            </a:r>
          </a:p>
          <a:p>
            <a:r>
              <a:rPr lang="en-US" altLang="zh-CN" sz="2000" dirty="0">
                <a:solidFill>
                  <a:schemeClr val="accent1">
                    <a:lumMod val="50000"/>
                  </a:schemeClr>
                </a:solidFill>
              </a:rPr>
              <a:t>Description :</a:t>
            </a:r>
          </a:p>
          <a:p>
            <a:r>
              <a:rPr lang="en-US" altLang="zh-CN" sz="2000" dirty="0">
                <a:solidFill>
                  <a:schemeClr val="accent1">
                    <a:lumMod val="50000"/>
                  </a:schemeClr>
                </a:solidFill>
              </a:rPr>
              <a:t>The </a:t>
            </a:r>
            <a:r>
              <a:rPr lang="en-US" altLang="zh-CN" sz="2000" dirty="0" err="1">
                <a:solidFill>
                  <a:schemeClr val="accent1">
                    <a:lumMod val="50000"/>
                  </a:schemeClr>
                </a:solidFill>
              </a:rPr>
              <a:t>logrotate</a:t>
            </a:r>
            <a:r>
              <a:rPr lang="en-US" altLang="zh-CN" sz="2000" dirty="0">
                <a:solidFill>
                  <a:schemeClr val="accent1">
                    <a:lumMod val="50000"/>
                  </a:schemeClr>
                </a:solidFill>
              </a:rPr>
              <a:t> utility is designed to simplify the administration of</a:t>
            </a:r>
          </a:p>
          <a:p>
            <a:r>
              <a:rPr lang="en-US" altLang="zh-CN" sz="2000" dirty="0">
                <a:solidFill>
                  <a:schemeClr val="accent1">
                    <a:lumMod val="50000"/>
                  </a:schemeClr>
                </a:solidFill>
              </a:rPr>
              <a:t>log files on a system which generates a lot of log files.  </a:t>
            </a:r>
            <a:r>
              <a:rPr lang="en-US" altLang="zh-CN" sz="2000" dirty="0" err="1">
                <a:solidFill>
                  <a:schemeClr val="accent1">
                    <a:lumMod val="50000"/>
                  </a:schemeClr>
                </a:solidFill>
              </a:rPr>
              <a:t>Logrotate</a:t>
            </a:r>
            <a:endParaRPr lang="en-US" altLang="zh-CN" sz="2000" dirty="0">
              <a:solidFill>
                <a:schemeClr val="accent1">
                  <a:lumMod val="50000"/>
                </a:schemeClr>
              </a:solidFill>
            </a:endParaRPr>
          </a:p>
          <a:p>
            <a:r>
              <a:rPr lang="en-US" altLang="zh-CN" sz="2000" dirty="0">
                <a:solidFill>
                  <a:schemeClr val="accent1">
                    <a:lumMod val="50000"/>
                  </a:schemeClr>
                </a:solidFill>
              </a:rPr>
              <a:t>....(</a:t>
            </a:r>
            <a:r>
              <a:rPr lang="zh-CN" altLang="en-US" sz="2000" dirty="0">
                <a:solidFill>
                  <a:schemeClr val="accent1">
                    <a:lumMod val="50000"/>
                  </a:schemeClr>
                </a:solidFill>
              </a:rPr>
              <a:t>以下省略</a:t>
            </a:r>
            <a:r>
              <a:rPr lang="en-US" altLang="zh-CN" sz="2000" dirty="0">
                <a:solidFill>
                  <a:schemeClr val="accent1">
                    <a:lumMod val="50000"/>
                  </a:schemeClr>
                </a:solidFill>
              </a:rPr>
              <a:t>)....</a:t>
            </a:r>
          </a:p>
          <a:p>
            <a:r>
              <a:rPr lang="en-US" altLang="zh-CN" sz="2000" dirty="0">
                <a:solidFill>
                  <a:srgbClr val="C00000"/>
                </a:solidFill>
              </a:rPr>
              <a:t># </a:t>
            </a:r>
            <a:r>
              <a:rPr lang="zh-CN" altLang="en-US" sz="2000" dirty="0">
                <a:solidFill>
                  <a:srgbClr val="C00000"/>
                </a:solidFill>
              </a:rPr>
              <a:t>列出该软件的 </a:t>
            </a:r>
            <a:r>
              <a:rPr lang="en-US" altLang="zh-CN" sz="2000" dirty="0">
                <a:solidFill>
                  <a:srgbClr val="C00000"/>
                </a:solidFill>
              </a:rPr>
              <a:t>information (</a:t>
            </a:r>
            <a:r>
              <a:rPr lang="zh-CN" altLang="en-US" sz="2000" dirty="0">
                <a:solidFill>
                  <a:srgbClr val="C00000"/>
                </a:solidFill>
              </a:rPr>
              <a:t>信息</a:t>
            </a:r>
            <a:r>
              <a:rPr lang="en-US" altLang="zh-CN" sz="2000" dirty="0">
                <a:solidFill>
                  <a:srgbClr val="C00000"/>
                </a:solidFill>
              </a:rPr>
              <a:t>)</a:t>
            </a:r>
            <a:r>
              <a:rPr lang="zh-CN" altLang="en-US" sz="2000" dirty="0">
                <a:solidFill>
                  <a:srgbClr val="C00000"/>
                </a:solidFill>
              </a:rPr>
              <a:t>，包括软件名称、</a:t>
            </a:r>
            <a:r>
              <a:rPr lang="en-US" altLang="zh-CN" sz="2000" dirty="0">
                <a:solidFill>
                  <a:srgbClr val="C00000"/>
                </a:solidFill>
              </a:rPr>
              <a:t> </a:t>
            </a:r>
            <a:r>
              <a:rPr lang="zh-CN" altLang="en-US" sz="2000" dirty="0">
                <a:solidFill>
                  <a:srgbClr val="C00000"/>
                </a:solidFill>
              </a:rPr>
              <a:t>版本、开发商、打包次数、</a:t>
            </a:r>
          </a:p>
          <a:p>
            <a:r>
              <a:rPr lang="en-US" altLang="zh-CN" sz="2000" dirty="0">
                <a:solidFill>
                  <a:srgbClr val="C00000"/>
                </a:solidFill>
              </a:rPr>
              <a:t># SRPM</a:t>
            </a:r>
            <a:r>
              <a:rPr lang="zh-CN" altLang="en-US" sz="2000" dirty="0">
                <a:solidFill>
                  <a:srgbClr val="C00000"/>
                </a:solidFill>
              </a:rPr>
              <a:t>文件名称、简单说明资讯、软件打包者、</a:t>
            </a:r>
            <a:r>
              <a:rPr lang="en-US" altLang="zh-CN" sz="2000" dirty="0">
                <a:solidFill>
                  <a:srgbClr val="C00000"/>
                </a:solidFill>
              </a:rPr>
              <a:t> </a:t>
            </a:r>
            <a:r>
              <a:rPr lang="zh-CN" altLang="en-US" sz="2000" dirty="0">
                <a:solidFill>
                  <a:srgbClr val="C00000"/>
                </a:solidFill>
              </a:rPr>
              <a:t>安装日期等等！</a:t>
            </a:r>
          </a:p>
        </p:txBody>
      </p:sp>
    </p:spTree>
    <p:extLst>
      <p:ext uri="{BB962C8B-B14F-4D97-AF65-F5344CB8AC3E}">
        <p14:creationId xmlns:p14="http://schemas.microsoft.com/office/powerpoint/2010/main" val="242336705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的基本查询举例</a:t>
            </a:r>
            <a:r>
              <a:rPr lang="en-US" altLang="zh-CN" dirty="0"/>
              <a:t>3</a:t>
            </a:r>
            <a:endParaRPr lang="zh-CN" altLang="en-US" dirty="0"/>
          </a:p>
        </p:txBody>
      </p:sp>
      <p:sp>
        <p:nvSpPr>
          <p:cNvPr id="9" name="文本框 8">
            <a:extLst>
              <a:ext uri="{FF2B5EF4-FFF2-40B4-BE49-F238E27FC236}">
                <a16:creationId xmlns:a16="http://schemas.microsoft.com/office/drawing/2014/main" id="{EFBC93BA-5125-4D6B-8109-93E9375FB1F7}"/>
              </a:ext>
            </a:extLst>
          </p:cNvPr>
          <p:cNvSpPr txBox="1"/>
          <p:nvPr/>
        </p:nvSpPr>
        <p:spPr>
          <a:xfrm>
            <a:off x="611560" y="1313631"/>
            <a:ext cx="8335590" cy="5509200"/>
          </a:xfrm>
          <a:prstGeom prst="rect">
            <a:avLst/>
          </a:prstGeom>
          <a:solidFill>
            <a:schemeClr val="accent2">
              <a:lumMod val="60000"/>
              <a:lumOff val="40000"/>
            </a:schemeClr>
          </a:solidFill>
        </p:spPr>
        <p:txBody>
          <a:bodyPr wrap="square">
            <a:spAutoFit/>
          </a:bodyPr>
          <a:lstStyle/>
          <a:p>
            <a:r>
              <a:rPr lang="zh-CN" altLang="en-US" sz="2200" dirty="0">
                <a:solidFill>
                  <a:srgbClr val="0000FF"/>
                </a:solidFill>
              </a:rPr>
              <a:t>范例四：找出 </a:t>
            </a:r>
            <a:r>
              <a:rPr lang="en-US" altLang="zh-CN" sz="2200" dirty="0">
                <a:solidFill>
                  <a:srgbClr val="0000FF"/>
                </a:solidFill>
              </a:rPr>
              <a:t>/bin/</a:t>
            </a:r>
            <a:r>
              <a:rPr lang="en-US" altLang="zh-CN" sz="2200" dirty="0" err="1">
                <a:solidFill>
                  <a:srgbClr val="0000FF"/>
                </a:solidFill>
              </a:rPr>
              <a:t>sh</a:t>
            </a:r>
            <a:r>
              <a:rPr lang="en-US" altLang="zh-CN" sz="2200" dirty="0">
                <a:solidFill>
                  <a:srgbClr val="0000FF"/>
                </a:solidFill>
              </a:rPr>
              <a:t> </a:t>
            </a:r>
            <a:r>
              <a:rPr lang="zh-CN" altLang="en-US" sz="2200" dirty="0">
                <a:solidFill>
                  <a:srgbClr val="0000FF"/>
                </a:solidFill>
              </a:rPr>
              <a:t>是哪个软件提供的？</a:t>
            </a:r>
          </a:p>
          <a:p>
            <a:r>
              <a:rPr lang="en-US" altLang="zh-CN" sz="2200" dirty="0"/>
              <a:t>[</a:t>
            </a:r>
            <a:r>
              <a:rPr lang="en-US" altLang="zh-CN" sz="2200" dirty="0" err="1"/>
              <a:t>root@www</a:t>
            </a:r>
            <a:r>
              <a:rPr lang="en-US" altLang="zh-CN" sz="2200" dirty="0"/>
              <a:t> ~]# </a:t>
            </a:r>
            <a:r>
              <a:rPr lang="en-US" altLang="zh-CN" sz="2200" dirty="0">
                <a:solidFill>
                  <a:srgbClr val="FF0000"/>
                </a:solidFill>
              </a:rPr>
              <a:t>rpm -</a:t>
            </a:r>
            <a:r>
              <a:rPr lang="en-US" altLang="zh-CN" sz="2200" dirty="0" err="1">
                <a:solidFill>
                  <a:srgbClr val="FF0000"/>
                </a:solidFill>
              </a:rPr>
              <a:t>qf</a:t>
            </a:r>
            <a:r>
              <a:rPr lang="en-US" altLang="zh-CN" sz="2200" dirty="0">
                <a:solidFill>
                  <a:srgbClr val="FF0000"/>
                </a:solidFill>
              </a:rPr>
              <a:t> /bin/</a:t>
            </a:r>
            <a:r>
              <a:rPr lang="en-US" altLang="zh-CN" sz="2200" dirty="0" err="1">
                <a:solidFill>
                  <a:srgbClr val="FF0000"/>
                </a:solidFill>
              </a:rPr>
              <a:t>sh</a:t>
            </a:r>
            <a:endParaRPr lang="en-US" altLang="zh-CN" sz="2200" dirty="0">
              <a:solidFill>
                <a:srgbClr val="FF0000"/>
              </a:solidFill>
            </a:endParaRPr>
          </a:p>
          <a:p>
            <a:r>
              <a:rPr lang="en-US" altLang="zh-CN" sz="2200" dirty="0">
                <a:solidFill>
                  <a:schemeClr val="accent1">
                    <a:lumMod val="50000"/>
                  </a:schemeClr>
                </a:solidFill>
              </a:rPr>
              <a:t>bash-3.2-21.el5</a:t>
            </a:r>
          </a:p>
          <a:p>
            <a:r>
              <a:rPr lang="en-US" altLang="zh-CN" sz="2200" dirty="0">
                <a:solidFill>
                  <a:srgbClr val="C00000"/>
                </a:solidFill>
              </a:rPr>
              <a:t># </a:t>
            </a:r>
            <a:r>
              <a:rPr lang="zh-CN" altLang="en-US" sz="2200" dirty="0">
                <a:solidFill>
                  <a:srgbClr val="C00000"/>
                </a:solidFill>
              </a:rPr>
              <a:t>这个参数后面接的是文件，不像前面都是接软件！</a:t>
            </a:r>
          </a:p>
          <a:p>
            <a:r>
              <a:rPr lang="en-US" altLang="zh-CN" sz="2200" dirty="0">
                <a:solidFill>
                  <a:srgbClr val="C00000"/>
                </a:solidFill>
              </a:rPr>
              <a:t># </a:t>
            </a:r>
            <a:r>
              <a:rPr lang="zh-CN" altLang="en-US" sz="2200" dirty="0">
                <a:solidFill>
                  <a:srgbClr val="C00000"/>
                </a:solidFill>
              </a:rPr>
              <a:t>这个功能在查询系统的某个文件属于哪一个软件所有的。</a:t>
            </a:r>
          </a:p>
          <a:p>
            <a:r>
              <a:rPr lang="zh-CN" altLang="en-US" sz="2200" dirty="0">
                <a:solidFill>
                  <a:srgbClr val="0000FF"/>
                </a:solidFill>
              </a:rPr>
              <a:t>范例五：若要成功安装 </a:t>
            </a:r>
            <a:r>
              <a:rPr lang="en-US" altLang="zh-CN" sz="2200" dirty="0" err="1">
                <a:solidFill>
                  <a:srgbClr val="0000FF"/>
                </a:solidFill>
              </a:rPr>
              <a:t>logrotate</a:t>
            </a:r>
            <a:r>
              <a:rPr lang="en-US" altLang="zh-CN" sz="2200" dirty="0">
                <a:solidFill>
                  <a:srgbClr val="0000FF"/>
                </a:solidFill>
              </a:rPr>
              <a:t> </a:t>
            </a:r>
            <a:r>
              <a:rPr lang="zh-CN" altLang="en-US" sz="2200" dirty="0">
                <a:solidFill>
                  <a:srgbClr val="0000FF"/>
                </a:solidFill>
              </a:rPr>
              <a:t>，他还需要什么文件的帮忙？</a:t>
            </a:r>
          </a:p>
          <a:p>
            <a:r>
              <a:rPr lang="en-US" altLang="zh-CN" sz="2200" dirty="0"/>
              <a:t>[</a:t>
            </a:r>
            <a:r>
              <a:rPr lang="en-US" altLang="zh-CN" sz="2200" dirty="0" err="1"/>
              <a:t>root@www</a:t>
            </a:r>
            <a:r>
              <a:rPr lang="en-US" altLang="zh-CN" sz="2200" dirty="0"/>
              <a:t> ~]# </a:t>
            </a:r>
            <a:r>
              <a:rPr lang="en-US" altLang="zh-CN" sz="2200" dirty="0">
                <a:solidFill>
                  <a:srgbClr val="FF0000"/>
                </a:solidFill>
              </a:rPr>
              <a:t>rpm -</a:t>
            </a:r>
            <a:r>
              <a:rPr lang="en-US" altLang="zh-CN" sz="2200" dirty="0" err="1">
                <a:solidFill>
                  <a:srgbClr val="FF0000"/>
                </a:solidFill>
              </a:rPr>
              <a:t>qR</a:t>
            </a:r>
            <a:r>
              <a:rPr lang="en-US" altLang="zh-CN" sz="2200" dirty="0">
                <a:solidFill>
                  <a:srgbClr val="FF0000"/>
                </a:solidFill>
              </a:rPr>
              <a:t> </a:t>
            </a:r>
            <a:r>
              <a:rPr lang="en-US" altLang="zh-CN" sz="2200" dirty="0" err="1">
                <a:solidFill>
                  <a:srgbClr val="FF0000"/>
                </a:solidFill>
              </a:rPr>
              <a:t>logrotate</a:t>
            </a:r>
            <a:endParaRPr lang="en-US" altLang="zh-CN" sz="2200" dirty="0">
              <a:solidFill>
                <a:srgbClr val="FF0000"/>
              </a:solidFill>
            </a:endParaRPr>
          </a:p>
          <a:p>
            <a:r>
              <a:rPr lang="en-US" altLang="zh-CN" sz="2200" dirty="0">
                <a:solidFill>
                  <a:schemeClr val="accent1">
                    <a:lumMod val="50000"/>
                  </a:schemeClr>
                </a:solidFill>
              </a:rPr>
              <a:t>/bin/</a:t>
            </a:r>
            <a:r>
              <a:rPr lang="en-US" altLang="zh-CN" sz="2200" dirty="0" err="1">
                <a:solidFill>
                  <a:schemeClr val="accent1">
                    <a:lumMod val="50000"/>
                  </a:schemeClr>
                </a:solidFill>
              </a:rPr>
              <a:t>sh</a:t>
            </a:r>
            <a:endParaRPr lang="en-US" altLang="zh-CN" sz="2200" dirty="0">
              <a:solidFill>
                <a:schemeClr val="accent1">
                  <a:lumMod val="50000"/>
                </a:schemeClr>
              </a:solidFill>
            </a:endParaRPr>
          </a:p>
          <a:p>
            <a:r>
              <a:rPr lang="en-US" altLang="zh-CN" sz="2200" dirty="0">
                <a:solidFill>
                  <a:schemeClr val="accent1">
                    <a:lumMod val="50000"/>
                  </a:schemeClr>
                </a:solidFill>
              </a:rPr>
              <a:t>config(</a:t>
            </a:r>
            <a:r>
              <a:rPr lang="en-US" altLang="zh-CN" sz="2200" dirty="0" err="1">
                <a:solidFill>
                  <a:schemeClr val="accent1">
                    <a:lumMod val="50000"/>
                  </a:schemeClr>
                </a:solidFill>
              </a:rPr>
              <a:t>logrotate</a:t>
            </a:r>
            <a:r>
              <a:rPr lang="en-US" altLang="zh-CN" sz="2200" dirty="0">
                <a:solidFill>
                  <a:schemeClr val="accent1">
                    <a:lumMod val="50000"/>
                  </a:schemeClr>
                </a:solidFill>
              </a:rPr>
              <a:t>) = 3.7.4-8</a:t>
            </a:r>
          </a:p>
          <a:p>
            <a:r>
              <a:rPr lang="en-US" altLang="zh-CN" sz="2200" dirty="0">
                <a:solidFill>
                  <a:schemeClr val="accent1">
                    <a:lumMod val="50000"/>
                  </a:schemeClr>
                </a:solidFill>
              </a:rPr>
              <a:t>libc.so.6</a:t>
            </a:r>
          </a:p>
          <a:p>
            <a:r>
              <a:rPr lang="en-US" altLang="zh-CN" sz="2200" dirty="0">
                <a:solidFill>
                  <a:schemeClr val="accent1">
                    <a:lumMod val="50000"/>
                  </a:schemeClr>
                </a:solidFill>
              </a:rPr>
              <a:t>....(</a:t>
            </a:r>
            <a:r>
              <a:rPr lang="zh-CN" altLang="en-US" sz="2200" dirty="0">
                <a:solidFill>
                  <a:schemeClr val="accent1">
                    <a:lumMod val="50000"/>
                  </a:schemeClr>
                </a:solidFill>
              </a:rPr>
              <a:t>以下省略</a:t>
            </a:r>
            <a:r>
              <a:rPr lang="en-US" altLang="zh-CN" sz="2200" dirty="0">
                <a:solidFill>
                  <a:schemeClr val="accent1">
                    <a:lumMod val="50000"/>
                  </a:schemeClr>
                </a:solidFill>
              </a:rPr>
              <a:t>)....</a:t>
            </a:r>
          </a:p>
          <a:p>
            <a:r>
              <a:rPr lang="en-US" altLang="zh-CN" sz="2200" dirty="0">
                <a:solidFill>
                  <a:srgbClr val="C00000"/>
                </a:solidFill>
              </a:rPr>
              <a:t># </a:t>
            </a:r>
            <a:r>
              <a:rPr lang="zh-CN" altLang="en-US" sz="2200" dirty="0">
                <a:solidFill>
                  <a:srgbClr val="C00000"/>
                </a:solidFill>
              </a:rPr>
              <a:t>由这里看起来，还需要很多文件的支持才行！</a:t>
            </a:r>
          </a:p>
          <a:p>
            <a:r>
              <a:rPr lang="zh-CN" altLang="en-US" sz="2200" dirty="0">
                <a:solidFill>
                  <a:srgbClr val="0000FF"/>
                </a:solidFill>
              </a:rPr>
              <a:t>范例六：假设我有下载一个 </a:t>
            </a:r>
            <a:r>
              <a:rPr lang="en-US" altLang="zh-CN" sz="2200" dirty="0">
                <a:solidFill>
                  <a:srgbClr val="0000FF"/>
                </a:solidFill>
              </a:rPr>
              <a:t>RPM </a:t>
            </a:r>
            <a:r>
              <a:rPr lang="zh-CN" altLang="en-US" sz="2200" dirty="0">
                <a:solidFill>
                  <a:srgbClr val="0000FF"/>
                </a:solidFill>
              </a:rPr>
              <a:t>文件，想要知道该文件的需求文件，该如何？</a:t>
            </a:r>
          </a:p>
          <a:p>
            <a:r>
              <a:rPr lang="en-US" altLang="zh-CN" sz="2200" dirty="0"/>
              <a:t>[</a:t>
            </a:r>
            <a:r>
              <a:rPr lang="en-US" altLang="zh-CN" sz="2200" dirty="0" err="1"/>
              <a:t>root@www</a:t>
            </a:r>
            <a:r>
              <a:rPr lang="en-US" altLang="zh-CN" sz="2200" dirty="0"/>
              <a:t> ~]# </a:t>
            </a:r>
            <a:r>
              <a:rPr lang="en-US" altLang="zh-CN" sz="2200" dirty="0">
                <a:solidFill>
                  <a:srgbClr val="FF0000"/>
                </a:solidFill>
              </a:rPr>
              <a:t>rpm -</a:t>
            </a:r>
            <a:r>
              <a:rPr lang="en-US" altLang="zh-CN" sz="2200" dirty="0" err="1">
                <a:solidFill>
                  <a:srgbClr val="FF0000"/>
                </a:solidFill>
              </a:rPr>
              <a:t>qpR</a:t>
            </a:r>
            <a:r>
              <a:rPr lang="en-US" altLang="zh-CN" sz="2200" dirty="0">
                <a:solidFill>
                  <a:srgbClr val="FF0000"/>
                </a:solidFill>
              </a:rPr>
              <a:t> filename.i386.rpm</a:t>
            </a:r>
          </a:p>
          <a:p>
            <a:r>
              <a:rPr lang="en-US" altLang="zh-CN" sz="2200" dirty="0"/>
              <a:t># </a:t>
            </a:r>
            <a:r>
              <a:rPr lang="zh-CN" altLang="en-US" sz="2200" dirty="0">
                <a:solidFill>
                  <a:srgbClr val="C00000"/>
                </a:solidFill>
              </a:rPr>
              <a:t>加上 </a:t>
            </a:r>
            <a:r>
              <a:rPr lang="en-US" altLang="zh-CN" sz="2200" dirty="0">
                <a:solidFill>
                  <a:srgbClr val="C00000"/>
                </a:solidFill>
              </a:rPr>
              <a:t>-</a:t>
            </a:r>
            <a:r>
              <a:rPr lang="en-US" altLang="zh-CN" sz="2200" dirty="0" err="1">
                <a:solidFill>
                  <a:srgbClr val="C00000"/>
                </a:solidFill>
              </a:rPr>
              <a:t>qpR</a:t>
            </a:r>
            <a:r>
              <a:rPr lang="en-US" altLang="zh-CN" sz="2200" dirty="0">
                <a:solidFill>
                  <a:srgbClr val="C00000"/>
                </a:solidFill>
              </a:rPr>
              <a:t> </a:t>
            </a:r>
            <a:r>
              <a:rPr lang="zh-CN" altLang="en-US" sz="2200" dirty="0"/>
              <a:t>，找出该文件需求的数据！</a:t>
            </a:r>
          </a:p>
        </p:txBody>
      </p:sp>
    </p:spTree>
    <p:extLst>
      <p:ext uri="{BB962C8B-B14F-4D97-AF65-F5344CB8AC3E}">
        <p14:creationId xmlns:p14="http://schemas.microsoft.com/office/powerpoint/2010/main" val="185866202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校验</a:t>
            </a:r>
          </a:p>
        </p:txBody>
      </p:sp>
      <p:sp>
        <p:nvSpPr>
          <p:cNvPr id="3" name="内容占位符 2"/>
          <p:cNvSpPr>
            <a:spLocks noGrp="1"/>
          </p:cNvSpPr>
          <p:nvPr>
            <p:ph idx="1"/>
          </p:nvPr>
        </p:nvSpPr>
        <p:spPr>
          <a:xfrm>
            <a:off x="899592" y="1484784"/>
            <a:ext cx="7772400" cy="5373216"/>
          </a:xfrm>
        </p:spPr>
        <p:txBody>
          <a:bodyPr/>
          <a:lstStyle/>
          <a:p>
            <a:pPr>
              <a:lnSpc>
                <a:spcPct val="110000"/>
              </a:lnSpc>
            </a:pPr>
            <a:r>
              <a:rPr lang="zh-CN" altLang="en-US" sz="3600" dirty="0"/>
              <a:t>校验</a:t>
            </a:r>
            <a:r>
              <a:rPr lang="zh-CN" altLang="en-US" sz="3600" dirty="0">
                <a:solidFill>
                  <a:srgbClr val="FF0000"/>
                </a:solidFill>
              </a:rPr>
              <a:t>指定</a:t>
            </a:r>
            <a:r>
              <a:rPr lang="zh-CN" altLang="en-US" sz="3600" dirty="0"/>
              <a:t>的</a:t>
            </a:r>
            <a:r>
              <a:rPr lang="zh-CN" altLang="en-US" sz="3600" dirty="0">
                <a:solidFill>
                  <a:srgbClr val="FF0000"/>
                </a:solidFill>
              </a:rPr>
              <a:t>软件包</a:t>
            </a:r>
          </a:p>
          <a:p>
            <a:pPr lvl="1">
              <a:lnSpc>
                <a:spcPct val="110000"/>
              </a:lnSpc>
              <a:buNone/>
            </a:pPr>
            <a:r>
              <a:rPr lang="en-US" altLang="zh-CN" dirty="0">
                <a:solidFill>
                  <a:schemeClr val="accent6">
                    <a:lumMod val="75000"/>
                  </a:schemeClr>
                </a:solidFill>
              </a:rPr>
              <a:t>rpm -V &lt;</a:t>
            </a:r>
            <a:r>
              <a:rPr lang="en-US" altLang="zh-CN" dirty="0" err="1">
                <a:solidFill>
                  <a:schemeClr val="accent6">
                    <a:lumMod val="75000"/>
                  </a:schemeClr>
                </a:solidFill>
              </a:rPr>
              <a:t>package_name</a:t>
            </a:r>
            <a:r>
              <a:rPr lang="en-US" altLang="zh-CN" dirty="0">
                <a:solidFill>
                  <a:schemeClr val="accent6">
                    <a:lumMod val="75000"/>
                  </a:schemeClr>
                </a:solidFill>
              </a:rPr>
              <a:t>&gt;</a:t>
            </a:r>
          </a:p>
          <a:p>
            <a:pPr>
              <a:lnSpc>
                <a:spcPct val="110000"/>
              </a:lnSpc>
            </a:pPr>
            <a:r>
              <a:rPr lang="zh-CN" altLang="en-US" sz="3600" dirty="0"/>
              <a:t>校验有</a:t>
            </a:r>
            <a:r>
              <a:rPr lang="zh-CN" altLang="en-US" sz="3600" dirty="0">
                <a:solidFill>
                  <a:srgbClr val="FF0000"/>
                </a:solidFill>
              </a:rPr>
              <a:t>已安装</a:t>
            </a:r>
            <a:r>
              <a:rPr lang="zh-CN" altLang="en-US" sz="3600" dirty="0"/>
              <a:t>的</a:t>
            </a:r>
            <a:r>
              <a:rPr lang="zh-CN" altLang="en-US" sz="3600" dirty="0">
                <a:solidFill>
                  <a:srgbClr val="FF0000"/>
                </a:solidFill>
              </a:rPr>
              <a:t>所有软件包</a:t>
            </a:r>
          </a:p>
          <a:p>
            <a:pPr lvl="1">
              <a:lnSpc>
                <a:spcPct val="110000"/>
              </a:lnSpc>
              <a:buNone/>
            </a:pPr>
            <a:r>
              <a:rPr lang="en-US" altLang="zh-CN" dirty="0">
                <a:solidFill>
                  <a:schemeClr val="accent6">
                    <a:lumMod val="75000"/>
                  </a:schemeClr>
                </a:solidFill>
              </a:rPr>
              <a:t>rpm -</a:t>
            </a:r>
            <a:r>
              <a:rPr lang="en-US" altLang="zh-CN" dirty="0" err="1">
                <a:solidFill>
                  <a:schemeClr val="accent6">
                    <a:lumMod val="75000"/>
                  </a:schemeClr>
                </a:solidFill>
              </a:rPr>
              <a:t>Va</a:t>
            </a:r>
            <a:endParaRPr lang="en-US" altLang="zh-CN" dirty="0">
              <a:solidFill>
                <a:schemeClr val="accent6">
                  <a:lumMod val="75000"/>
                </a:schemeClr>
              </a:solidFill>
            </a:endParaRPr>
          </a:p>
          <a:p>
            <a:pPr>
              <a:lnSpc>
                <a:spcPct val="110000"/>
              </a:lnSpc>
            </a:pPr>
            <a:r>
              <a:rPr lang="zh-CN" altLang="en-US" sz="3600" dirty="0"/>
              <a:t>校验指定的</a:t>
            </a:r>
            <a:r>
              <a:rPr lang="en-US" altLang="zh-CN" sz="3600" dirty="0">
                <a:solidFill>
                  <a:srgbClr val="FF0000"/>
                </a:solidFill>
              </a:rPr>
              <a:t>RPM</a:t>
            </a:r>
            <a:r>
              <a:rPr lang="zh-CN" altLang="en-US" sz="3600" dirty="0">
                <a:solidFill>
                  <a:srgbClr val="FF0000"/>
                </a:solidFill>
              </a:rPr>
              <a:t>包文件</a:t>
            </a:r>
          </a:p>
          <a:p>
            <a:pPr lvl="1">
              <a:lnSpc>
                <a:spcPct val="110000"/>
              </a:lnSpc>
              <a:buNone/>
            </a:pPr>
            <a:r>
              <a:rPr lang="en-US" altLang="zh-CN" dirty="0">
                <a:solidFill>
                  <a:schemeClr val="accent6">
                    <a:lumMod val="75000"/>
                  </a:schemeClr>
                </a:solidFill>
              </a:rPr>
              <a:t>rpm -</a:t>
            </a:r>
            <a:r>
              <a:rPr lang="en-US" altLang="zh-CN" dirty="0" err="1">
                <a:solidFill>
                  <a:schemeClr val="accent6">
                    <a:lumMod val="75000"/>
                  </a:schemeClr>
                </a:solidFill>
              </a:rPr>
              <a:t>Vp</a:t>
            </a:r>
            <a:r>
              <a:rPr lang="en-US" altLang="zh-CN" dirty="0">
                <a:solidFill>
                  <a:schemeClr val="accent6">
                    <a:lumMod val="75000"/>
                  </a:schemeClr>
                </a:solidFill>
              </a:rPr>
              <a:t> &lt;</a:t>
            </a:r>
            <a:r>
              <a:rPr lang="en-US" altLang="zh-CN" dirty="0" err="1">
                <a:solidFill>
                  <a:schemeClr val="accent6">
                    <a:lumMod val="75000"/>
                  </a:schemeClr>
                </a:solidFill>
              </a:rPr>
              <a:t>package_file_path_name</a:t>
            </a:r>
            <a:r>
              <a:rPr lang="en-US" altLang="zh-CN" dirty="0">
                <a:solidFill>
                  <a:schemeClr val="accent6">
                    <a:lumMod val="75000"/>
                  </a:schemeClr>
                </a:solidFill>
              </a:rPr>
              <a:t>&gt;</a:t>
            </a:r>
          </a:p>
          <a:p>
            <a:pPr>
              <a:lnSpc>
                <a:spcPct val="110000"/>
              </a:lnSpc>
            </a:pPr>
            <a:r>
              <a:rPr lang="zh-CN" altLang="en-US" sz="3600" dirty="0"/>
              <a:t>验证</a:t>
            </a:r>
            <a:r>
              <a:rPr lang="zh-CN" altLang="en-US" sz="3600" dirty="0">
                <a:solidFill>
                  <a:srgbClr val="FF0000"/>
                </a:solidFill>
              </a:rPr>
              <a:t>包含指定文件的软件包</a:t>
            </a:r>
            <a:endParaRPr lang="zh-CN" altLang="en-GB" sz="3600" dirty="0">
              <a:solidFill>
                <a:srgbClr val="FF0000"/>
              </a:solidFill>
            </a:endParaRPr>
          </a:p>
          <a:p>
            <a:pPr lvl="1">
              <a:lnSpc>
                <a:spcPct val="110000"/>
              </a:lnSpc>
              <a:buNone/>
            </a:pPr>
            <a:r>
              <a:rPr lang="en-US" altLang="zh-CN" dirty="0">
                <a:solidFill>
                  <a:schemeClr val="accent6">
                    <a:lumMod val="75000"/>
                  </a:schemeClr>
                </a:solidFill>
              </a:rPr>
              <a:t>rpm -</a:t>
            </a:r>
            <a:r>
              <a:rPr lang="en-US" altLang="zh-CN" dirty="0" err="1">
                <a:solidFill>
                  <a:schemeClr val="accent6">
                    <a:lumMod val="75000"/>
                  </a:schemeClr>
                </a:solidFill>
              </a:rPr>
              <a:t>Vf</a:t>
            </a:r>
            <a:r>
              <a:rPr lang="en-US" altLang="zh-CN" dirty="0">
                <a:solidFill>
                  <a:schemeClr val="accent6">
                    <a:lumMod val="75000"/>
                  </a:schemeClr>
                </a:solidFill>
              </a:rPr>
              <a:t> &lt;</a:t>
            </a:r>
            <a:r>
              <a:rPr lang="en-US" altLang="zh-CN" dirty="0" err="1">
                <a:solidFill>
                  <a:schemeClr val="accent6">
                    <a:lumMod val="75000"/>
                  </a:schemeClr>
                </a:solidFill>
              </a:rPr>
              <a:t>path_name</a:t>
            </a:r>
            <a:r>
              <a:rPr lang="en-US" altLang="zh-CN" dirty="0">
                <a:solidFill>
                  <a:schemeClr val="accent6">
                    <a:lumMod val="75000"/>
                  </a:schemeClr>
                </a:solidFill>
              </a:rPr>
              <a:t>&gt;</a:t>
            </a:r>
            <a:endParaRPr lang="zh-CN" altLang="en-US" dirty="0">
              <a:solidFill>
                <a:schemeClr val="accent6">
                  <a:lumMod val="75000"/>
                </a:schemeClr>
              </a:solidFill>
            </a:endParaRPr>
          </a:p>
          <a:p>
            <a:pPr>
              <a:lnSpc>
                <a:spcPct val="110000"/>
              </a:lnSpc>
            </a:pPr>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校验举例</a:t>
            </a:r>
          </a:p>
        </p:txBody>
      </p:sp>
      <p:sp>
        <p:nvSpPr>
          <p:cNvPr id="7" name="文本框 6">
            <a:extLst>
              <a:ext uri="{FF2B5EF4-FFF2-40B4-BE49-F238E27FC236}">
                <a16:creationId xmlns:a16="http://schemas.microsoft.com/office/drawing/2014/main" id="{25DA3FD0-EE2D-435B-940A-F8700B10C2C3}"/>
              </a:ext>
            </a:extLst>
          </p:cNvPr>
          <p:cNvSpPr txBox="1"/>
          <p:nvPr/>
        </p:nvSpPr>
        <p:spPr>
          <a:xfrm>
            <a:off x="339726" y="1700808"/>
            <a:ext cx="8607424" cy="4524315"/>
          </a:xfrm>
          <a:prstGeom prst="rect">
            <a:avLst/>
          </a:prstGeom>
          <a:solidFill>
            <a:schemeClr val="accent2">
              <a:lumMod val="60000"/>
              <a:lumOff val="40000"/>
            </a:schemeClr>
          </a:solidFill>
        </p:spPr>
        <p:txBody>
          <a:bodyPr wrap="square">
            <a:spAutoFit/>
          </a:bodyPr>
          <a:lstStyle/>
          <a:p>
            <a:r>
              <a:rPr lang="zh-CN" altLang="en-US" sz="2400" dirty="0">
                <a:solidFill>
                  <a:srgbClr val="0000FF"/>
                </a:solidFill>
              </a:rPr>
              <a:t>范例一：列出你的 </a:t>
            </a:r>
            <a:r>
              <a:rPr lang="en-US" altLang="zh-CN" sz="2400" dirty="0">
                <a:solidFill>
                  <a:srgbClr val="0000FF"/>
                </a:solidFill>
              </a:rPr>
              <a:t>Linux </a:t>
            </a:r>
            <a:r>
              <a:rPr lang="zh-CN" altLang="en-US" sz="2400" dirty="0">
                <a:solidFill>
                  <a:srgbClr val="0000FF"/>
                </a:solidFill>
              </a:rPr>
              <a:t>内的 </a:t>
            </a:r>
            <a:r>
              <a:rPr lang="en-US" altLang="zh-CN" sz="2400" dirty="0" err="1">
                <a:solidFill>
                  <a:srgbClr val="0000FF"/>
                </a:solidFill>
              </a:rPr>
              <a:t>logrotate</a:t>
            </a:r>
            <a:r>
              <a:rPr lang="en-US" altLang="zh-CN" sz="2400" dirty="0">
                <a:solidFill>
                  <a:srgbClr val="0000FF"/>
                </a:solidFill>
              </a:rPr>
              <a:t> </a:t>
            </a:r>
            <a:r>
              <a:rPr lang="zh-CN" altLang="en-US" sz="2400" dirty="0">
                <a:solidFill>
                  <a:srgbClr val="0000FF"/>
                </a:solidFill>
              </a:rPr>
              <a:t>这个软件是否被更动过？</a:t>
            </a:r>
          </a:p>
          <a:p>
            <a:r>
              <a:rPr lang="en-US" altLang="zh-CN" sz="2400" dirty="0"/>
              <a:t>[</a:t>
            </a:r>
            <a:r>
              <a:rPr lang="en-US" altLang="zh-CN" sz="2400" dirty="0" err="1"/>
              <a:t>root@www</a:t>
            </a:r>
            <a:r>
              <a:rPr lang="en-US" altLang="zh-CN" sz="2400" dirty="0"/>
              <a:t> ~]# </a:t>
            </a:r>
            <a:r>
              <a:rPr lang="en-US" altLang="zh-CN" sz="2400" dirty="0">
                <a:solidFill>
                  <a:srgbClr val="FF0000"/>
                </a:solidFill>
              </a:rPr>
              <a:t>rpm -V </a:t>
            </a:r>
            <a:r>
              <a:rPr lang="en-US" altLang="zh-CN" sz="2400" dirty="0" err="1">
                <a:solidFill>
                  <a:srgbClr val="FF0000"/>
                </a:solidFill>
              </a:rPr>
              <a:t>logrotate</a:t>
            </a:r>
            <a:endParaRPr lang="en-US" altLang="zh-CN" sz="2400" dirty="0">
              <a:solidFill>
                <a:srgbClr val="FF0000"/>
              </a:solidFill>
            </a:endParaRPr>
          </a:p>
          <a:p>
            <a:endParaRPr lang="en-US" altLang="zh-CN" sz="2400" dirty="0"/>
          </a:p>
          <a:p>
            <a:r>
              <a:rPr lang="fr-FR" altLang="zh-CN" sz="2400" dirty="0"/>
              <a:t>[root@www ~]# </a:t>
            </a:r>
            <a:r>
              <a:rPr lang="fr-FR" altLang="zh-CN" sz="2400" dirty="0">
                <a:solidFill>
                  <a:srgbClr val="FF0000"/>
                </a:solidFill>
              </a:rPr>
              <a:t>rpm -V logrotate</a:t>
            </a:r>
          </a:p>
          <a:p>
            <a:r>
              <a:rPr lang="fr-FR" altLang="zh-CN" sz="2400" dirty="0">
                <a:solidFill>
                  <a:schemeClr val="accent1">
                    <a:lumMod val="50000"/>
                  </a:schemeClr>
                </a:solidFill>
              </a:rPr>
              <a:t>..5....T  c /etc/logrotate.con</a:t>
            </a:r>
            <a:endParaRPr lang="zh-CN" altLang="en-US" sz="2400" dirty="0">
              <a:solidFill>
                <a:schemeClr val="accent1">
                  <a:lumMod val="50000"/>
                </a:schemeClr>
              </a:solidFill>
            </a:endParaRPr>
          </a:p>
          <a:p>
            <a:r>
              <a:rPr lang="en-US" altLang="zh-CN" sz="2400" dirty="0">
                <a:solidFill>
                  <a:srgbClr val="C00000"/>
                </a:solidFill>
              </a:rPr>
              <a:t># </a:t>
            </a:r>
            <a:r>
              <a:rPr lang="zh-CN" altLang="en-US" sz="2400" dirty="0">
                <a:solidFill>
                  <a:srgbClr val="C00000"/>
                </a:solidFill>
              </a:rPr>
              <a:t>如果没有出现任何信息，说明该软件所提供的文件没有被修改过；</a:t>
            </a:r>
            <a:r>
              <a:rPr lang="en-US" altLang="zh-CN" sz="2400" dirty="0">
                <a:solidFill>
                  <a:srgbClr val="C00000"/>
                </a:solidFill>
              </a:rPr>
              <a:t> </a:t>
            </a:r>
            <a:r>
              <a:rPr lang="zh-CN" altLang="en-US" sz="2400" dirty="0">
                <a:solidFill>
                  <a:srgbClr val="C00000"/>
                </a:solidFill>
              </a:rPr>
              <a:t>如果有出现任何信息，则证明修改过！</a:t>
            </a:r>
          </a:p>
          <a:p>
            <a:endParaRPr lang="zh-CN" altLang="en-US" sz="2400" dirty="0"/>
          </a:p>
          <a:p>
            <a:r>
              <a:rPr lang="zh-CN" altLang="en-US" sz="2400" dirty="0">
                <a:solidFill>
                  <a:srgbClr val="0000FF"/>
                </a:solidFill>
              </a:rPr>
              <a:t>范例二：查询一下，你的 </a:t>
            </a:r>
            <a:r>
              <a:rPr lang="en-US" altLang="zh-CN" sz="2400" dirty="0">
                <a:solidFill>
                  <a:srgbClr val="0000FF"/>
                </a:solidFill>
              </a:rPr>
              <a:t>/etc/crontab </a:t>
            </a:r>
            <a:r>
              <a:rPr lang="zh-CN" altLang="en-US" sz="2400" dirty="0">
                <a:solidFill>
                  <a:srgbClr val="0000FF"/>
                </a:solidFill>
              </a:rPr>
              <a:t>是否有被更动过？</a:t>
            </a:r>
          </a:p>
          <a:p>
            <a:r>
              <a:rPr lang="en-US" altLang="zh-CN" sz="2400" dirty="0"/>
              <a:t>[</a:t>
            </a:r>
            <a:r>
              <a:rPr lang="en-US" altLang="zh-CN" sz="2400" dirty="0" err="1"/>
              <a:t>root@www</a:t>
            </a:r>
            <a:r>
              <a:rPr lang="en-US" altLang="zh-CN" sz="2400" dirty="0"/>
              <a:t> ~]# </a:t>
            </a:r>
            <a:r>
              <a:rPr lang="en-US" altLang="zh-CN" sz="2400" dirty="0">
                <a:solidFill>
                  <a:srgbClr val="FF0000"/>
                </a:solidFill>
              </a:rPr>
              <a:t>rpm -</a:t>
            </a:r>
            <a:r>
              <a:rPr lang="en-US" altLang="zh-CN" sz="2400" dirty="0" err="1">
                <a:solidFill>
                  <a:srgbClr val="FF0000"/>
                </a:solidFill>
              </a:rPr>
              <a:t>Vf</a:t>
            </a:r>
            <a:r>
              <a:rPr lang="en-US" altLang="zh-CN" sz="2400" dirty="0">
                <a:solidFill>
                  <a:srgbClr val="FF0000"/>
                </a:solidFill>
              </a:rPr>
              <a:t> /etc/crontab</a:t>
            </a:r>
          </a:p>
          <a:p>
            <a:r>
              <a:rPr lang="en-US" altLang="zh-CN" sz="2400" dirty="0">
                <a:solidFill>
                  <a:schemeClr val="accent1">
                    <a:lumMod val="50000"/>
                  </a:schemeClr>
                </a:solidFill>
              </a:rPr>
              <a:t>S.5....T  </a:t>
            </a:r>
            <a:r>
              <a:rPr lang="en-US" altLang="zh-CN" sz="2400" dirty="0">
                <a:solidFill>
                  <a:srgbClr val="FF0000"/>
                </a:solidFill>
              </a:rPr>
              <a:t>c</a:t>
            </a:r>
            <a:r>
              <a:rPr lang="en-US" altLang="zh-CN" sz="2400" dirty="0">
                <a:solidFill>
                  <a:schemeClr val="accent1">
                    <a:lumMod val="50000"/>
                  </a:schemeClr>
                </a:solidFill>
              </a:rPr>
              <a:t> /etc/crontab</a:t>
            </a:r>
          </a:p>
          <a:p>
            <a:r>
              <a:rPr lang="en-US" altLang="zh-CN" sz="2400" dirty="0">
                <a:solidFill>
                  <a:srgbClr val="C00000"/>
                </a:solidFill>
              </a:rPr>
              <a:t>#</a:t>
            </a:r>
            <a:r>
              <a:rPr lang="zh-CN" altLang="en-US" sz="2400" dirty="0">
                <a:solidFill>
                  <a:srgbClr val="C00000"/>
                </a:solidFill>
              </a:rPr>
              <a:t>因为有被更动过，所以会列出被修改过的信息类型！</a:t>
            </a:r>
            <a:endParaRPr lang="en-US" altLang="zh-CN" sz="2400" dirty="0">
              <a:solidFill>
                <a:srgbClr val="C00000"/>
              </a:solidFill>
            </a:endParaRPr>
          </a:p>
        </p:txBody>
      </p:sp>
    </p:spTree>
    <p:extLst>
      <p:ext uri="{BB962C8B-B14F-4D97-AF65-F5344CB8AC3E}">
        <p14:creationId xmlns:p14="http://schemas.microsoft.com/office/powerpoint/2010/main" val="419094790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校验结果说明</a:t>
            </a:r>
          </a:p>
        </p:txBody>
      </p:sp>
      <p:sp>
        <p:nvSpPr>
          <p:cNvPr id="7" name="文本框 6">
            <a:extLst>
              <a:ext uri="{FF2B5EF4-FFF2-40B4-BE49-F238E27FC236}">
                <a16:creationId xmlns:a16="http://schemas.microsoft.com/office/drawing/2014/main" id="{25DA3FD0-EE2D-435B-940A-F8700B10C2C3}"/>
              </a:ext>
            </a:extLst>
          </p:cNvPr>
          <p:cNvSpPr txBox="1"/>
          <p:nvPr/>
        </p:nvSpPr>
        <p:spPr>
          <a:xfrm>
            <a:off x="755576" y="1340768"/>
            <a:ext cx="7992888" cy="5616602"/>
          </a:xfrm>
          <a:prstGeom prst="rect">
            <a:avLst/>
          </a:prstGeom>
          <a:noFill/>
        </p:spPr>
        <p:txBody>
          <a:bodyPr wrap="square">
            <a:spAutoFit/>
          </a:bodyPr>
          <a:lstStyle/>
          <a:p>
            <a:pPr marL="342900" indent="-342900" eaLnBrk="0" hangingPunct="0">
              <a:lnSpc>
                <a:spcPct val="110000"/>
              </a:lnSpc>
              <a:spcBef>
                <a:spcPct val="20000"/>
              </a:spcBef>
              <a:buClr>
                <a:schemeClr val="folHlink"/>
              </a:buClr>
              <a:buSzPct val="60000"/>
              <a:buFont typeface="Wingdings" panose="05000000000000000000" pitchFamily="2" charset="2"/>
              <a:buChar char="n"/>
            </a:pPr>
            <a:r>
              <a:rPr lang="en-US" altLang="zh-CN" sz="3100" dirty="0">
                <a:solidFill>
                  <a:srgbClr val="FF0000"/>
                </a:solidFill>
                <a:latin typeface="Tahoma" panose="020B0604030504040204" pitchFamily="34" charset="0"/>
                <a:ea typeface="楷体_GB2312"/>
              </a:rPr>
              <a:t>S</a:t>
            </a:r>
            <a:r>
              <a:rPr lang="en-US" altLang="zh-CN" sz="3100" dirty="0">
                <a:latin typeface="Tahoma" panose="020B0604030504040204" pitchFamily="34" charset="0"/>
                <a:ea typeface="楷体_GB2312"/>
              </a:rPr>
              <a:t> </a:t>
            </a:r>
            <a:r>
              <a:rPr lang="zh-CN" altLang="en-US" sz="3100" dirty="0">
                <a:latin typeface="Tahoma" panose="020B0604030504040204" pitchFamily="34" charset="0"/>
                <a:ea typeface="楷体_GB2312"/>
              </a:rPr>
              <a:t>：</a:t>
            </a:r>
            <a:r>
              <a:rPr lang="zh-CN" altLang="en-US" sz="3100" dirty="0">
                <a:solidFill>
                  <a:srgbClr val="FF0000"/>
                </a:solidFill>
                <a:latin typeface="Tahoma" panose="020B0604030504040204" pitchFamily="34" charset="0"/>
                <a:ea typeface="楷体_GB2312"/>
              </a:rPr>
              <a:t>文件</a:t>
            </a:r>
            <a:r>
              <a:rPr lang="zh-CN" altLang="en-US" sz="3100" dirty="0">
                <a:latin typeface="Tahoma" panose="020B0604030504040204" pitchFamily="34" charset="0"/>
                <a:ea typeface="楷体_GB2312"/>
              </a:rPr>
              <a:t>的容量</a:t>
            </a:r>
            <a:r>
              <a:rPr lang="zh-CN" altLang="en-US" sz="3100" dirty="0">
                <a:solidFill>
                  <a:srgbClr val="FF0000"/>
                </a:solidFill>
                <a:latin typeface="Tahoma" panose="020B0604030504040204" pitchFamily="34" charset="0"/>
                <a:ea typeface="楷体_GB2312"/>
              </a:rPr>
              <a:t>大小</a:t>
            </a:r>
            <a:r>
              <a:rPr lang="zh-CN" altLang="en-US" sz="3100" dirty="0">
                <a:latin typeface="Tahoma" panose="020B0604030504040204" pitchFamily="34" charset="0"/>
                <a:ea typeface="楷体_GB2312"/>
              </a:rPr>
              <a:t>是否被修改</a:t>
            </a:r>
          </a:p>
          <a:p>
            <a:pPr marL="342900" indent="-342900" eaLnBrk="0" hangingPunct="0">
              <a:lnSpc>
                <a:spcPct val="110000"/>
              </a:lnSpc>
              <a:spcBef>
                <a:spcPct val="20000"/>
              </a:spcBef>
              <a:buClr>
                <a:schemeClr val="folHlink"/>
              </a:buClr>
              <a:buSzPct val="60000"/>
              <a:buFont typeface="Wingdings" panose="05000000000000000000" pitchFamily="2" charset="2"/>
              <a:buChar char="n"/>
            </a:pPr>
            <a:r>
              <a:rPr lang="en-US" altLang="zh-CN" sz="3100" dirty="0">
                <a:solidFill>
                  <a:srgbClr val="FF0000"/>
                </a:solidFill>
                <a:latin typeface="Tahoma" panose="020B0604030504040204" pitchFamily="34" charset="0"/>
                <a:ea typeface="楷体_GB2312"/>
              </a:rPr>
              <a:t>M</a:t>
            </a:r>
            <a:r>
              <a:rPr lang="en-US" altLang="zh-CN" sz="3100" dirty="0">
                <a:latin typeface="Tahoma" panose="020B0604030504040204" pitchFamily="34" charset="0"/>
                <a:ea typeface="楷体_GB2312"/>
              </a:rPr>
              <a:t> </a:t>
            </a:r>
            <a:r>
              <a:rPr lang="zh-CN" altLang="en-US" sz="3100" dirty="0">
                <a:latin typeface="Tahoma" panose="020B0604030504040204" pitchFamily="34" charset="0"/>
                <a:ea typeface="楷体_GB2312"/>
              </a:rPr>
              <a:t>：</a:t>
            </a:r>
            <a:r>
              <a:rPr lang="zh-CN" altLang="en-US" sz="3100" dirty="0">
                <a:solidFill>
                  <a:srgbClr val="FF0000"/>
                </a:solidFill>
                <a:latin typeface="Tahoma" panose="020B0604030504040204" pitchFamily="34" charset="0"/>
                <a:ea typeface="楷体_GB2312"/>
              </a:rPr>
              <a:t>文件的类型或文件的属性 </a:t>
            </a:r>
            <a:r>
              <a:rPr lang="en-US" altLang="zh-CN" sz="3100" dirty="0">
                <a:latin typeface="Tahoma" panose="020B0604030504040204" pitchFamily="34" charset="0"/>
                <a:ea typeface="楷体_GB2312"/>
              </a:rPr>
              <a:t>(</a:t>
            </a:r>
            <a:r>
              <a:rPr lang="en-US" altLang="zh-CN" sz="3100" dirty="0" err="1">
                <a:latin typeface="Tahoma" panose="020B0604030504040204" pitchFamily="34" charset="0"/>
                <a:ea typeface="楷体_GB2312"/>
              </a:rPr>
              <a:t>rwx</a:t>
            </a:r>
            <a:r>
              <a:rPr lang="en-US" altLang="zh-CN" sz="3100" dirty="0">
                <a:latin typeface="Tahoma" panose="020B0604030504040204" pitchFamily="34" charset="0"/>
                <a:ea typeface="楷体_GB2312"/>
              </a:rPr>
              <a:t>) </a:t>
            </a:r>
            <a:r>
              <a:rPr lang="zh-CN" altLang="en-US" sz="3100" dirty="0">
                <a:latin typeface="Tahoma" panose="020B0604030504040204" pitchFamily="34" charset="0"/>
                <a:ea typeface="楷体_GB2312"/>
              </a:rPr>
              <a:t>是否被修改，如是否可运行等参数已被改变</a:t>
            </a:r>
          </a:p>
          <a:p>
            <a:pPr marL="342900" indent="-342900" eaLnBrk="0" hangingPunct="0">
              <a:lnSpc>
                <a:spcPct val="110000"/>
              </a:lnSpc>
              <a:spcBef>
                <a:spcPct val="20000"/>
              </a:spcBef>
              <a:buClr>
                <a:schemeClr val="folHlink"/>
              </a:buClr>
              <a:buSzPct val="60000"/>
              <a:buFont typeface="Wingdings" panose="05000000000000000000" pitchFamily="2" charset="2"/>
              <a:buChar char="n"/>
            </a:pPr>
            <a:r>
              <a:rPr lang="en-US" altLang="zh-CN" sz="3100" dirty="0">
                <a:solidFill>
                  <a:srgbClr val="FF0000"/>
                </a:solidFill>
                <a:latin typeface="Tahoma" panose="020B0604030504040204" pitchFamily="34" charset="0"/>
                <a:ea typeface="楷体_GB2312"/>
              </a:rPr>
              <a:t>5</a:t>
            </a:r>
            <a:r>
              <a:rPr lang="en-US" altLang="zh-CN" sz="3100" dirty="0">
                <a:latin typeface="Tahoma" panose="020B0604030504040204" pitchFamily="34" charset="0"/>
                <a:ea typeface="楷体_GB2312"/>
              </a:rPr>
              <a:t> </a:t>
            </a:r>
            <a:r>
              <a:rPr lang="zh-CN" altLang="en-US" sz="3100" dirty="0">
                <a:latin typeface="Tahoma" panose="020B0604030504040204" pitchFamily="34" charset="0"/>
                <a:ea typeface="楷体_GB2312"/>
              </a:rPr>
              <a:t>：</a:t>
            </a:r>
            <a:r>
              <a:rPr lang="en-US" altLang="zh-CN" sz="3100" dirty="0">
                <a:latin typeface="Tahoma" panose="020B0604030504040204" pitchFamily="34" charset="0"/>
                <a:ea typeface="楷体_GB2312"/>
              </a:rPr>
              <a:t>MD5 </a:t>
            </a:r>
            <a:r>
              <a:rPr lang="zh-CN" altLang="en-US" sz="3100" dirty="0">
                <a:latin typeface="Tahoma" panose="020B0604030504040204" pitchFamily="34" charset="0"/>
                <a:ea typeface="楷体_GB2312"/>
              </a:rPr>
              <a:t>这一种</a:t>
            </a:r>
            <a:r>
              <a:rPr lang="zh-CN" altLang="en-US" sz="3100" dirty="0">
                <a:solidFill>
                  <a:srgbClr val="FF0000"/>
                </a:solidFill>
                <a:latin typeface="Tahoma" panose="020B0604030504040204" pitchFamily="34" charset="0"/>
                <a:ea typeface="楷体_GB2312"/>
              </a:rPr>
              <a:t>指纹码</a:t>
            </a:r>
            <a:r>
              <a:rPr lang="zh-CN" altLang="en-US" sz="3100" dirty="0">
                <a:latin typeface="Tahoma" panose="020B0604030504040204" pitchFamily="34" charset="0"/>
                <a:ea typeface="楷体_GB2312"/>
              </a:rPr>
              <a:t>的内容已经不同</a:t>
            </a:r>
          </a:p>
          <a:p>
            <a:pPr marL="342900" indent="-342900" eaLnBrk="0" hangingPunct="0">
              <a:lnSpc>
                <a:spcPct val="110000"/>
              </a:lnSpc>
              <a:spcBef>
                <a:spcPct val="20000"/>
              </a:spcBef>
              <a:buClr>
                <a:schemeClr val="folHlink"/>
              </a:buClr>
              <a:buSzPct val="60000"/>
              <a:buFont typeface="Wingdings" panose="05000000000000000000" pitchFamily="2" charset="2"/>
              <a:buChar char="n"/>
            </a:pPr>
            <a:r>
              <a:rPr lang="en-US" altLang="zh-CN" sz="3100" dirty="0">
                <a:solidFill>
                  <a:srgbClr val="FF0000"/>
                </a:solidFill>
                <a:latin typeface="Tahoma" panose="020B0604030504040204" pitchFamily="34" charset="0"/>
                <a:ea typeface="楷体_GB2312"/>
              </a:rPr>
              <a:t>D</a:t>
            </a:r>
            <a:r>
              <a:rPr lang="en-US" altLang="zh-CN" sz="3100" dirty="0">
                <a:latin typeface="Tahoma" panose="020B0604030504040204" pitchFamily="34" charset="0"/>
                <a:ea typeface="楷体_GB2312"/>
              </a:rPr>
              <a:t> </a:t>
            </a:r>
            <a:r>
              <a:rPr lang="zh-CN" altLang="en-US" sz="3100" dirty="0">
                <a:latin typeface="Tahoma" panose="020B0604030504040204" pitchFamily="34" charset="0"/>
                <a:ea typeface="楷体_GB2312"/>
              </a:rPr>
              <a:t>：设备的主</a:t>
            </a:r>
            <a:r>
              <a:rPr lang="en-US" altLang="zh-CN" sz="3100" dirty="0">
                <a:latin typeface="Tahoma" panose="020B0604030504040204" pitchFamily="34" charset="0"/>
                <a:ea typeface="楷体_GB2312"/>
              </a:rPr>
              <a:t>/</a:t>
            </a:r>
            <a:r>
              <a:rPr lang="zh-CN" altLang="en-US" sz="3100" dirty="0">
                <a:latin typeface="Tahoma" panose="020B0604030504040204" pitchFamily="34" charset="0"/>
                <a:ea typeface="楷体_GB2312"/>
              </a:rPr>
              <a:t>次代码已经改变</a:t>
            </a:r>
          </a:p>
          <a:p>
            <a:pPr marL="342900" indent="-342900" eaLnBrk="0" hangingPunct="0">
              <a:lnSpc>
                <a:spcPct val="110000"/>
              </a:lnSpc>
              <a:spcBef>
                <a:spcPct val="20000"/>
              </a:spcBef>
              <a:buClr>
                <a:schemeClr val="folHlink"/>
              </a:buClr>
              <a:buSzPct val="60000"/>
              <a:buFont typeface="Wingdings" panose="05000000000000000000" pitchFamily="2" charset="2"/>
              <a:buChar char="n"/>
            </a:pPr>
            <a:r>
              <a:rPr lang="en-US" altLang="zh-CN" sz="3100" dirty="0">
                <a:solidFill>
                  <a:srgbClr val="FF0000"/>
                </a:solidFill>
                <a:latin typeface="Tahoma" panose="020B0604030504040204" pitchFamily="34" charset="0"/>
                <a:ea typeface="楷体_GB2312"/>
              </a:rPr>
              <a:t>L</a:t>
            </a:r>
            <a:r>
              <a:rPr lang="en-US" altLang="zh-CN" sz="3100" dirty="0">
                <a:latin typeface="Tahoma" panose="020B0604030504040204" pitchFamily="34" charset="0"/>
                <a:ea typeface="楷体_GB2312"/>
              </a:rPr>
              <a:t> </a:t>
            </a:r>
            <a:r>
              <a:rPr lang="zh-CN" altLang="en-US" sz="3100" dirty="0">
                <a:latin typeface="Tahoma" panose="020B0604030504040204" pitchFamily="34" charset="0"/>
                <a:ea typeface="楷体_GB2312"/>
              </a:rPr>
              <a:t>：</a:t>
            </a:r>
            <a:r>
              <a:rPr lang="zh-CN" altLang="en-US" sz="3100" dirty="0">
                <a:solidFill>
                  <a:srgbClr val="FF0000"/>
                </a:solidFill>
                <a:latin typeface="Tahoma" panose="020B0604030504040204" pitchFamily="34" charset="0"/>
                <a:ea typeface="楷体_GB2312"/>
              </a:rPr>
              <a:t>链接</a:t>
            </a:r>
            <a:r>
              <a:rPr lang="en-US" altLang="zh-CN" sz="3100" dirty="0">
                <a:latin typeface="Tahoma" panose="020B0604030504040204" pitchFamily="34" charset="0"/>
                <a:ea typeface="楷体_GB2312"/>
              </a:rPr>
              <a:t>Link </a:t>
            </a:r>
            <a:r>
              <a:rPr lang="zh-CN" altLang="en-US" sz="3100" dirty="0">
                <a:solidFill>
                  <a:srgbClr val="FF0000"/>
                </a:solidFill>
                <a:latin typeface="Tahoma" panose="020B0604030504040204" pitchFamily="34" charset="0"/>
                <a:ea typeface="楷体_GB2312"/>
              </a:rPr>
              <a:t>路径</a:t>
            </a:r>
            <a:r>
              <a:rPr lang="zh-CN" altLang="en-US" sz="3100" dirty="0">
                <a:latin typeface="Tahoma" panose="020B0604030504040204" pitchFamily="34" charset="0"/>
                <a:ea typeface="楷体_GB2312"/>
              </a:rPr>
              <a:t>已被改变</a:t>
            </a:r>
          </a:p>
          <a:p>
            <a:pPr marL="342900" indent="-342900" eaLnBrk="0" hangingPunct="0">
              <a:lnSpc>
                <a:spcPct val="110000"/>
              </a:lnSpc>
              <a:spcBef>
                <a:spcPct val="20000"/>
              </a:spcBef>
              <a:buClr>
                <a:schemeClr val="folHlink"/>
              </a:buClr>
              <a:buSzPct val="60000"/>
              <a:buFont typeface="Wingdings" panose="05000000000000000000" pitchFamily="2" charset="2"/>
              <a:buChar char="n"/>
            </a:pPr>
            <a:r>
              <a:rPr lang="en-US" altLang="zh-CN" sz="3100" dirty="0">
                <a:solidFill>
                  <a:srgbClr val="FF0000"/>
                </a:solidFill>
                <a:latin typeface="Tahoma" panose="020B0604030504040204" pitchFamily="34" charset="0"/>
                <a:ea typeface="楷体_GB2312"/>
              </a:rPr>
              <a:t>U</a:t>
            </a:r>
            <a:r>
              <a:rPr lang="en-US" altLang="zh-CN" sz="3100" dirty="0">
                <a:latin typeface="Tahoma" panose="020B0604030504040204" pitchFamily="34" charset="0"/>
                <a:ea typeface="楷体_GB2312"/>
              </a:rPr>
              <a:t> </a:t>
            </a:r>
            <a:r>
              <a:rPr lang="zh-CN" altLang="en-US" sz="3100" dirty="0">
                <a:latin typeface="Tahoma" panose="020B0604030504040204" pitchFamily="34" charset="0"/>
                <a:ea typeface="楷体_GB2312"/>
              </a:rPr>
              <a:t>：文件的</a:t>
            </a:r>
            <a:r>
              <a:rPr lang="zh-CN" altLang="en-US" sz="3100" dirty="0">
                <a:solidFill>
                  <a:srgbClr val="FF0000"/>
                </a:solidFill>
                <a:latin typeface="Tahoma" panose="020B0604030504040204" pitchFamily="34" charset="0"/>
                <a:ea typeface="楷体_GB2312"/>
              </a:rPr>
              <a:t>所属人</a:t>
            </a:r>
            <a:r>
              <a:rPr lang="zh-CN" altLang="en-US" sz="3100" dirty="0">
                <a:latin typeface="Tahoma" panose="020B0604030504040204" pitchFamily="34" charset="0"/>
                <a:ea typeface="楷体_GB2312"/>
              </a:rPr>
              <a:t>已被改变</a:t>
            </a:r>
          </a:p>
          <a:p>
            <a:pPr marL="342900" indent="-342900" eaLnBrk="0" hangingPunct="0">
              <a:lnSpc>
                <a:spcPct val="110000"/>
              </a:lnSpc>
              <a:spcBef>
                <a:spcPct val="20000"/>
              </a:spcBef>
              <a:buClr>
                <a:schemeClr val="folHlink"/>
              </a:buClr>
              <a:buSzPct val="60000"/>
              <a:buFont typeface="Wingdings" panose="05000000000000000000" pitchFamily="2" charset="2"/>
              <a:buChar char="n"/>
            </a:pPr>
            <a:r>
              <a:rPr lang="en-US" altLang="zh-CN" sz="3100" dirty="0">
                <a:solidFill>
                  <a:srgbClr val="FF0000"/>
                </a:solidFill>
                <a:latin typeface="Tahoma" panose="020B0604030504040204" pitchFamily="34" charset="0"/>
                <a:ea typeface="楷体_GB2312"/>
              </a:rPr>
              <a:t>G</a:t>
            </a:r>
            <a:r>
              <a:rPr lang="en-US" altLang="zh-CN" sz="3100" dirty="0">
                <a:latin typeface="Tahoma" panose="020B0604030504040204" pitchFamily="34" charset="0"/>
                <a:ea typeface="楷体_GB2312"/>
              </a:rPr>
              <a:t> </a:t>
            </a:r>
            <a:r>
              <a:rPr lang="zh-CN" altLang="en-US" sz="3100" dirty="0">
                <a:latin typeface="Tahoma" panose="020B0604030504040204" pitchFamily="34" charset="0"/>
                <a:ea typeface="楷体_GB2312"/>
              </a:rPr>
              <a:t>：文件的</a:t>
            </a:r>
            <a:r>
              <a:rPr lang="zh-CN" altLang="en-US" sz="3100" dirty="0">
                <a:solidFill>
                  <a:srgbClr val="FF0000"/>
                </a:solidFill>
                <a:latin typeface="Tahoma" panose="020B0604030504040204" pitchFamily="34" charset="0"/>
                <a:ea typeface="楷体_GB2312"/>
              </a:rPr>
              <a:t>所属群组</a:t>
            </a:r>
            <a:r>
              <a:rPr lang="zh-CN" altLang="en-US" sz="3100" dirty="0">
                <a:latin typeface="Tahoma" panose="020B0604030504040204" pitchFamily="34" charset="0"/>
                <a:ea typeface="楷体_GB2312"/>
              </a:rPr>
              <a:t>已被改变</a:t>
            </a:r>
          </a:p>
          <a:p>
            <a:pPr marL="342900" indent="-342900" eaLnBrk="0" hangingPunct="0">
              <a:lnSpc>
                <a:spcPct val="110000"/>
              </a:lnSpc>
              <a:spcBef>
                <a:spcPct val="20000"/>
              </a:spcBef>
              <a:buClr>
                <a:schemeClr val="folHlink"/>
              </a:buClr>
              <a:buSzPct val="60000"/>
              <a:buFont typeface="Wingdings" panose="05000000000000000000" pitchFamily="2" charset="2"/>
              <a:buChar char="n"/>
            </a:pPr>
            <a:r>
              <a:rPr lang="en-US" altLang="zh-CN" sz="3100" dirty="0">
                <a:solidFill>
                  <a:srgbClr val="FF0000"/>
                </a:solidFill>
                <a:latin typeface="Tahoma" panose="020B0604030504040204" pitchFamily="34" charset="0"/>
                <a:ea typeface="楷体_GB2312"/>
              </a:rPr>
              <a:t>T</a:t>
            </a:r>
            <a:r>
              <a:rPr lang="en-US" altLang="zh-CN" sz="3100" dirty="0">
                <a:latin typeface="Tahoma" panose="020B0604030504040204" pitchFamily="34" charset="0"/>
                <a:ea typeface="楷体_GB2312"/>
              </a:rPr>
              <a:t> </a:t>
            </a:r>
            <a:r>
              <a:rPr lang="zh-CN" altLang="en-US" sz="3100" dirty="0">
                <a:latin typeface="Tahoma" panose="020B0604030504040204" pitchFamily="34" charset="0"/>
                <a:ea typeface="楷体_GB2312"/>
              </a:rPr>
              <a:t>：文件的</a:t>
            </a:r>
            <a:r>
              <a:rPr lang="zh-CN" altLang="en-US" sz="3100" dirty="0">
                <a:solidFill>
                  <a:srgbClr val="FF0000"/>
                </a:solidFill>
                <a:latin typeface="Tahoma" panose="020B0604030504040204" pitchFamily="34" charset="0"/>
                <a:ea typeface="楷体_GB2312"/>
              </a:rPr>
              <a:t>创建时间</a:t>
            </a:r>
            <a:r>
              <a:rPr lang="zh-CN" altLang="en-US" sz="3100" dirty="0">
                <a:latin typeface="Tahoma" panose="020B0604030504040204" pitchFamily="34" charset="0"/>
                <a:ea typeface="楷体_GB2312"/>
              </a:rPr>
              <a:t>已被改变</a:t>
            </a:r>
          </a:p>
        </p:txBody>
      </p:sp>
    </p:spTree>
    <p:extLst>
      <p:ext uri="{BB962C8B-B14F-4D97-AF65-F5344CB8AC3E}">
        <p14:creationId xmlns:p14="http://schemas.microsoft.com/office/powerpoint/2010/main" val="37303619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校验结果说明</a:t>
            </a:r>
          </a:p>
        </p:txBody>
      </p:sp>
      <p:sp>
        <p:nvSpPr>
          <p:cNvPr id="7" name="文本框 6">
            <a:extLst>
              <a:ext uri="{FF2B5EF4-FFF2-40B4-BE49-F238E27FC236}">
                <a16:creationId xmlns:a16="http://schemas.microsoft.com/office/drawing/2014/main" id="{25DA3FD0-EE2D-435B-940A-F8700B10C2C3}"/>
              </a:ext>
            </a:extLst>
          </p:cNvPr>
          <p:cNvSpPr txBox="1"/>
          <p:nvPr/>
        </p:nvSpPr>
        <p:spPr>
          <a:xfrm>
            <a:off x="755576" y="1412776"/>
            <a:ext cx="8081652" cy="5001497"/>
          </a:xfrm>
          <a:prstGeom prst="rect">
            <a:avLst/>
          </a:prstGeom>
          <a:noFill/>
        </p:spPr>
        <p:txBody>
          <a:bodyPr wrap="square">
            <a:spAutoFit/>
          </a:bodyPr>
          <a:lstStyle/>
          <a:p>
            <a:pPr marL="342900" indent="-342900" eaLnBrk="0" hangingPunct="0">
              <a:lnSpc>
                <a:spcPct val="110000"/>
              </a:lnSpc>
              <a:spcBef>
                <a:spcPct val="20000"/>
              </a:spcBef>
              <a:buClr>
                <a:schemeClr val="folHlink"/>
              </a:buClr>
              <a:buSzPct val="60000"/>
              <a:buFont typeface="Wingdings" panose="05000000000000000000" pitchFamily="2" charset="2"/>
              <a:buChar char="n"/>
            </a:pPr>
            <a:r>
              <a:rPr lang="en-US" altLang="zh-CN" sz="3100" dirty="0">
                <a:latin typeface="Tahoma" panose="020B0604030504040204" pitchFamily="34" charset="0"/>
                <a:ea typeface="楷体_GB2312"/>
              </a:rPr>
              <a:t>c </a:t>
            </a:r>
            <a:r>
              <a:rPr lang="zh-CN" altLang="en-US" sz="3100" dirty="0">
                <a:latin typeface="Tahoma" panose="020B0604030504040204" pitchFamily="34" charset="0"/>
                <a:ea typeface="楷体_GB2312"/>
              </a:rPr>
              <a:t>代表的是</a:t>
            </a:r>
            <a:r>
              <a:rPr lang="en-US" altLang="zh-CN" sz="3100" dirty="0">
                <a:latin typeface="Tahoma" panose="020B0604030504040204" pitchFamily="34" charset="0"/>
                <a:ea typeface="楷体_GB2312"/>
              </a:rPr>
              <a:t>Config file </a:t>
            </a:r>
            <a:r>
              <a:rPr lang="zh-CN" altLang="en-US" sz="3100" dirty="0">
                <a:latin typeface="Tahoma" panose="020B0604030504040204" pitchFamily="34" charset="0"/>
                <a:ea typeface="楷体_GB2312"/>
              </a:rPr>
              <a:t>的意思，也就是文件的类型</a:t>
            </a:r>
            <a:endParaRPr lang="en-US" altLang="zh-CN" sz="3100" dirty="0">
              <a:latin typeface="Tahoma" panose="020B0604030504040204" pitchFamily="34" charset="0"/>
              <a:ea typeface="楷体_GB2312"/>
            </a:endParaRPr>
          </a:p>
          <a:p>
            <a:pPr marL="342900" indent="-342900" eaLnBrk="0" hangingPunct="0">
              <a:lnSpc>
                <a:spcPct val="110000"/>
              </a:lnSpc>
              <a:spcBef>
                <a:spcPct val="20000"/>
              </a:spcBef>
              <a:buClr>
                <a:schemeClr val="folHlink"/>
              </a:buClr>
              <a:buSzPct val="60000"/>
              <a:buFont typeface="Wingdings" panose="05000000000000000000" pitchFamily="2" charset="2"/>
              <a:buChar char="n"/>
            </a:pPr>
            <a:r>
              <a:rPr lang="zh-CN" altLang="en-US" sz="3100" dirty="0">
                <a:latin typeface="Tahoma" panose="020B0604030504040204" pitchFamily="34" charset="0"/>
                <a:ea typeface="楷体_GB2312"/>
              </a:rPr>
              <a:t>文件类型分类：</a:t>
            </a:r>
          </a:p>
          <a:p>
            <a:pPr marL="914400" lvl="1" indent="-457200" eaLnBrk="0" hangingPunct="0">
              <a:lnSpc>
                <a:spcPct val="110000"/>
              </a:lnSpc>
              <a:spcBef>
                <a:spcPct val="20000"/>
              </a:spcBef>
              <a:buClr>
                <a:schemeClr val="folHlink"/>
              </a:buClr>
              <a:buSzPct val="60000"/>
              <a:buFont typeface="Wingdings" panose="05000000000000000000" pitchFamily="2" charset="2"/>
              <a:buChar char="l"/>
            </a:pPr>
            <a:r>
              <a:rPr lang="en-US" altLang="zh-CN" sz="2800" dirty="0">
                <a:solidFill>
                  <a:srgbClr val="FF0000"/>
                </a:solidFill>
                <a:latin typeface="Tahoma" panose="020B0604030504040204" pitchFamily="34" charset="0"/>
                <a:ea typeface="楷体_GB2312"/>
              </a:rPr>
              <a:t>c</a:t>
            </a:r>
            <a:r>
              <a:rPr lang="en-US" altLang="zh-CN" sz="2800" dirty="0">
                <a:latin typeface="Tahoma" panose="020B0604030504040204" pitchFamily="34" charset="0"/>
                <a:ea typeface="楷体_GB2312"/>
              </a:rPr>
              <a:t> </a:t>
            </a:r>
            <a:r>
              <a:rPr lang="zh-CN" altLang="en-US" sz="2800" dirty="0">
                <a:latin typeface="Tahoma" panose="020B0604030504040204" pitchFamily="34" charset="0"/>
                <a:ea typeface="楷体_GB2312"/>
              </a:rPr>
              <a:t>：</a:t>
            </a:r>
            <a:r>
              <a:rPr lang="zh-CN" altLang="en-US" sz="2800" dirty="0">
                <a:solidFill>
                  <a:srgbClr val="FF0000"/>
                </a:solidFill>
                <a:latin typeface="Tahoma" panose="020B0604030504040204" pitchFamily="34" charset="0"/>
                <a:ea typeface="楷体_GB2312"/>
              </a:rPr>
              <a:t>配置文件</a:t>
            </a:r>
            <a:r>
              <a:rPr lang="en-US" altLang="zh-CN" sz="2800" dirty="0">
                <a:latin typeface="Tahoma" panose="020B0604030504040204" pitchFamily="34" charset="0"/>
                <a:ea typeface="楷体_GB2312"/>
              </a:rPr>
              <a:t>(config file)</a:t>
            </a:r>
          </a:p>
          <a:p>
            <a:pPr marL="914400" lvl="1" indent="-457200" eaLnBrk="0" hangingPunct="0">
              <a:lnSpc>
                <a:spcPct val="110000"/>
              </a:lnSpc>
              <a:spcBef>
                <a:spcPct val="20000"/>
              </a:spcBef>
              <a:buClr>
                <a:schemeClr val="folHlink"/>
              </a:buClr>
              <a:buSzPct val="60000"/>
              <a:buFont typeface="Wingdings" panose="05000000000000000000" pitchFamily="2" charset="2"/>
              <a:buChar char="l"/>
            </a:pPr>
            <a:r>
              <a:rPr lang="en-US" altLang="zh-CN" sz="2800" dirty="0">
                <a:solidFill>
                  <a:srgbClr val="FF0000"/>
                </a:solidFill>
                <a:latin typeface="Tahoma" panose="020B0604030504040204" pitchFamily="34" charset="0"/>
                <a:ea typeface="楷体_GB2312"/>
              </a:rPr>
              <a:t>d</a:t>
            </a:r>
            <a:r>
              <a:rPr lang="en-US" altLang="zh-CN" sz="2800" dirty="0">
                <a:latin typeface="Tahoma" panose="020B0604030504040204" pitchFamily="34" charset="0"/>
                <a:ea typeface="楷体_GB2312"/>
              </a:rPr>
              <a:t> </a:t>
            </a:r>
            <a:r>
              <a:rPr lang="zh-CN" altLang="en-US" sz="2800" dirty="0">
                <a:latin typeface="Tahoma" panose="020B0604030504040204" pitchFamily="34" charset="0"/>
                <a:ea typeface="楷体_GB2312"/>
              </a:rPr>
              <a:t>：</a:t>
            </a:r>
            <a:r>
              <a:rPr lang="zh-CN" altLang="en-US" sz="2800" dirty="0">
                <a:solidFill>
                  <a:srgbClr val="FF0000"/>
                </a:solidFill>
                <a:latin typeface="Tahoma" panose="020B0604030504040204" pitchFamily="34" charset="0"/>
                <a:ea typeface="楷体_GB2312"/>
              </a:rPr>
              <a:t>文件数据文件 </a:t>
            </a:r>
            <a:r>
              <a:rPr lang="en-US" altLang="zh-CN" sz="2800" dirty="0">
                <a:latin typeface="Tahoma" panose="020B0604030504040204" pitchFamily="34" charset="0"/>
                <a:ea typeface="楷体_GB2312"/>
              </a:rPr>
              <a:t>(documentation)</a:t>
            </a:r>
          </a:p>
          <a:p>
            <a:pPr marL="914400" lvl="1" indent="-457200" eaLnBrk="0" hangingPunct="0">
              <a:lnSpc>
                <a:spcPct val="110000"/>
              </a:lnSpc>
              <a:spcBef>
                <a:spcPct val="20000"/>
              </a:spcBef>
              <a:buClr>
                <a:schemeClr val="folHlink"/>
              </a:buClr>
              <a:buSzPct val="60000"/>
              <a:buFont typeface="Wingdings" panose="05000000000000000000" pitchFamily="2" charset="2"/>
              <a:buChar char="l"/>
            </a:pPr>
            <a:r>
              <a:rPr lang="en-US" altLang="zh-CN" sz="2800" dirty="0">
                <a:solidFill>
                  <a:srgbClr val="FF0000"/>
                </a:solidFill>
                <a:latin typeface="Tahoma" panose="020B0604030504040204" pitchFamily="34" charset="0"/>
                <a:ea typeface="楷体_GB2312"/>
              </a:rPr>
              <a:t>g</a:t>
            </a:r>
            <a:r>
              <a:rPr lang="en-US" altLang="zh-CN" sz="2800" dirty="0">
                <a:latin typeface="Tahoma" panose="020B0604030504040204" pitchFamily="34" charset="0"/>
                <a:ea typeface="楷体_GB2312"/>
              </a:rPr>
              <a:t> </a:t>
            </a:r>
            <a:r>
              <a:rPr lang="zh-CN" altLang="en-US" sz="2800" dirty="0">
                <a:latin typeface="Tahoma" panose="020B0604030504040204" pitchFamily="34" charset="0"/>
                <a:ea typeface="楷体_GB2312"/>
              </a:rPr>
              <a:t>：</a:t>
            </a:r>
            <a:r>
              <a:rPr lang="en-US" altLang="zh-CN" sz="2800" dirty="0">
                <a:solidFill>
                  <a:srgbClr val="FF0000"/>
                </a:solidFill>
                <a:latin typeface="Tahoma" panose="020B0604030504040204" pitchFamily="34" charset="0"/>
                <a:ea typeface="楷体_GB2312"/>
              </a:rPr>
              <a:t>ghost file</a:t>
            </a:r>
            <a:r>
              <a:rPr lang="zh-CN" altLang="en-US" sz="2800" dirty="0">
                <a:latin typeface="Tahoma" panose="020B0604030504040204" pitchFamily="34" charset="0"/>
                <a:ea typeface="楷体_GB2312"/>
              </a:rPr>
              <a:t>，通常是该文件不被某个软件所包含，较少发生！</a:t>
            </a:r>
            <a:endParaRPr lang="en-US" altLang="zh-CN" sz="2800" dirty="0">
              <a:latin typeface="Tahoma" panose="020B0604030504040204" pitchFamily="34" charset="0"/>
              <a:ea typeface="楷体_GB2312"/>
            </a:endParaRPr>
          </a:p>
          <a:p>
            <a:pPr marL="914400" lvl="1" indent="-457200" eaLnBrk="0" hangingPunct="0">
              <a:lnSpc>
                <a:spcPct val="110000"/>
              </a:lnSpc>
              <a:spcBef>
                <a:spcPct val="20000"/>
              </a:spcBef>
              <a:buClr>
                <a:schemeClr val="folHlink"/>
              </a:buClr>
              <a:buSzPct val="60000"/>
              <a:buFont typeface="Wingdings" panose="05000000000000000000" pitchFamily="2" charset="2"/>
              <a:buChar char="l"/>
            </a:pPr>
            <a:r>
              <a:rPr lang="en-US" altLang="zh-CN" sz="2800" dirty="0">
                <a:solidFill>
                  <a:srgbClr val="FF0000"/>
                </a:solidFill>
                <a:latin typeface="Tahoma" panose="020B0604030504040204" pitchFamily="34" charset="0"/>
                <a:ea typeface="楷体_GB2312"/>
              </a:rPr>
              <a:t>l</a:t>
            </a:r>
            <a:r>
              <a:rPr lang="en-US" altLang="zh-CN" sz="2800" dirty="0">
                <a:latin typeface="Tahoma" panose="020B0604030504040204" pitchFamily="34" charset="0"/>
                <a:ea typeface="楷体_GB2312"/>
              </a:rPr>
              <a:t> </a:t>
            </a:r>
            <a:r>
              <a:rPr lang="zh-CN" altLang="en-US" sz="2800" dirty="0">
                <a:latin typeface="Tahoma" panose="020B0604030504040204" pitchFamily="34" charset="0"/>
                <a:ea typeface="楷体_GB2312"/>
              </a:rPr>
              <a:t>：</a:t>
            </a:r>
            <a:r>
              <a:rPr lang="zh-CN" altLang="en-US" sz="2800" dirty="0">
                <a:solidFill>
                  <a:srgbClr val="FF0000"/>
                </a:solidFill>
                <a:latin typeface="Tahoma" panose="020B0604030504040204" pitchFamily="34" charset="0"/>
                <a:ea typeface="楷体_GB2312"/>
              </a:rPr>
              <a:t>授权文件 </a:t>
            </a:r>
            <a:r>
              <a:rPr lang="en-US" altLang="zh-CN" sz="2800" dirty="0">
                <a:latin typeface="Tahoma" panose="020B0604030504040204" pitchFamily="34" charset="0"/>
                <a:ea typeface="楷体_GB2312"/>
              </a:rPr>
              <a:t>(license file)</a:t>
            </a:r>
          </a:p>
          <a:p>
            <a:pPr marL="914400" lvl="1" indent="-457200" eaLnBrk="0" hangingPunct="0">
              <a:lnSpc>
                <a:spcPct val="110000"/>
              </a:lnSpc>
              <a:spcBef>
                <a:spcPct val="20000"/>
              </a:spcBef>
              <a:buClr>
                <a:schemeClr val="folHlink"/>
              </a:buClr>
              <a:buSzPct val="60000"/>
              <a:buFont typeface="Wingdings" panose="05000000000000000000" pitchFamily="2" charset="2"/>
              <a:buChar char="l"/>
            </a:pPr>
            <a:r>
              <a:rPr lang="en-US" altLang="zh-CN" sz="2800" dirty="0">
                <a:solidFill>
                  <a:srgbClr val="FF0000"/>
                </a:solidFill>
                <a:latin typeface="Tahoma" panose="020B0604030504040204" pitchFamily="34" charset="0"/>
                <a:ea typeface="楷体_GB2312"/>
              </a:rPr>
              <a:t>r </a:t>
            </a:r>
            <a:r>
              <a:rPr lang="zh-CN" altLang="en-US" sz="2800" dirty="0">
                <a:latin typeface="Tahoma" panose="020B0604030504040204" pitchFamily="34" charset="0"/>
                <a:ea typeface="楷体_GB2312"/>
              </a:rPr>
              <a:t>：</a:t>
            </a:r>
            <a:r>
              <a:rPr lang="zh-CN" altLang="en-US" sz="2800" dirty="0">
                <a:solidFill>
                  <a:srgbClr val="FF0000"/>
                </a:solidFill>
                <a:latin typeface="Tahoma" panose="020B0604030504040204" pitchFamily="34" charset="0"/>
                <a:ea typeface="楷体_GB2312"/>
              </a:rPr>
              <a:t>自述文件</a:t>
            </a:r>
            <a:r>
              <a:rPr lang="zh-CN" altLang="en-US" sz="2800" dirty="0">
                <a:latin typeface="Tahoma" panose="020B0604030504040204" pitchFamily="34" charset="0"/>
                <a:ea typeface="楷体_GB2312"/>
              </a:rPr>
              <a:t> </a:t>
            </a:r>
            <a:r>
              <a:rPr lang="en-US" altLang="zh-CN" sz="2800" dirty="0">
                <a:latin typeface="Tahoma" panose="020B0604030504040204" pitchFamily="34" charset="0"/>
                <a:ea typeface="楷体_GB2312"/>
              </a:rPr>
              <a:t>(read me)</a:t>
            </a:r>
            <a:endParaRPr lang="zh-CN" altLang="en-US" sz="2800" dirty="0">
              <a:latin typeface="Tahoma" panose="020B0604030504040204" pitchFamily="34" charset="0"/>
              <a:ea typeface="楷体_GB2312"/>
            </a:endParaRPr>
          </a:p>
        </p:txBody>
      </p:sp>
    </p:spTree>
    <p:extLst>
      <p:ext uri="{BB962C8B-B14F-4D97-AF65-F5344CB8AC3E}">
        <p14:creationId xmlns:p14="http://schemas.microsoft.com/office/powerpoint/2010/main" val="63692411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包的公钥和签名</a:t>
            </a:r>
          </a:p>
        </p:txBody>
      </p:sp>
      <p:sp>
        <p:nvSpPr>
          <p:cNvPr id="3" name="内容占位符 2"/>
          <p:cNvSpPr>
            <a:spLocks noGrp="1"/>
          </p:cNvSpPr>
          <p:nvPr>
            <p:ph idx="1"/>
          </p:nvPr>
        </p:nvSpPr>
        <p:spPr>
          <a:xfrm>
            <a:off x="766155" y="1412776"/>
            <a:ext cx="8180995" cy="4530725"/>
          </a:xfrm>
        </p:spPr>
        <p:txBody>
          <a:bodyPr/>
          <a:lstStyle/>
          <a:p>
            <a:pPr algn="l"/>
            <a:r>
              <a:rPr lang="zh-CN" altLang="en-US" b="0" i="0" dirty="0">
                <a:solidFill>
                  <a:srgbClr val="000000"/>
                </a:solidFill>
                <a:effectLst/>
                <a:latin typeface="新细明体"/>
              </a:rPr>
              <a:t>如何检验软件本身是否有问题？</a:t>
            </a:r>
            <a:endParaRPr lang="en-US" altLang="zh-CN" b="0" i="0" dirty="0">
              <a:solidFill>
                <a:srgbClr val="000000"/>
              </a:solidFill>
              <a:effectLst/>
              <a:latin typeface="新细明体"/>
            </a:endParaRPr>
          </a:p>
          <a:p>
            <a:pPr lvl="1"/>
            <a:r>
              <a:rPr lang="zh-CN" altLang="en-US" dirty="0">
                <a:solidFill>
                  <a:srgbClr val="000000"/>
                </a:solidFill>
                <a:latin typeface="新细明体"/>
              </a:rPr>
              <a:t>软件开发厂商以</a:t>
            </a:r>
            <a:r>
              <a:rPr lang="zh-CN" altLang="en-US" dirty="0">
                <a:solidFill>
                  <a:srgbClr val="FF0000"/>
                </a:solidFill>
                <a:latin typeface="新细明体"/>
              </a:rPr>
              <a:t>数字签名</a:t>
            </a:r>
            <a:r>
              <a:rPr lang="zh-CN" altLang="en-US" dirty="0">
                <a:solidFill>
                  <a:srgbClr val="000000"/>
                </a:solidFill>
                <a:latin typeface="新细明体"/>
              </a:rPr>
              <a:t>系统产生一个专属于该软件的签名，并将该签名的</a:t>
            </a:r>
            <a:r>
              <a:rPr lang="zh-CN" altLang="en-US" dirty="0">
                <a:solidFill>
                  <a:srgbClr val="FF0000"/>
                </a:solidFill>
                <a:latin typeface="新细明体"/>
              </a:rPr>
              <a:t>公钥</a:t>
            </a:r>
            <a:r>
              <a:rPr lang="zh-CN" altLang="en-US" dirty="0">
                <a:solidFill>
                  <a:srgbClr val="000000"/>
                </a:solidFill>
                <a:latin typeface="新细明体"/>
              </a:rPr>
              <a:t> </a:t>
            </a:r>
            <a:r>
              <a:rPr lang="en-US" altLang="zh-CN" dirty="0">
                <a:solidFill>
                  <a:srgbClr val="000000"/>
                </a:solidFill>
                <a:latin typeface="新细明体"/>
              </a:rPr>
              <a:t>(public key) </a:t>
            </a:r>
            <a:r>
              <a:rPr lang="zh-CN" altLang="en-US" dirty="0">
                <a:solidFill>
                  <a:srgbClr val="000000"/>
                </a:solidFill>
                <a:latin typeface="新细明体"/>
              </a:rPr>
              <a:t>发布</a:t>
            </a:r>
            <a:endParaRPr lang="en-US" altLang="zh-CN" dirty="0">
              <a:solidFill>
                <a:srgbClr val="000000"/>
              </a:solidFill>
              <a:latin typeface="新细明体"/>
            </a:endParaRPr>
          </a:p>
          <a:p>
            <a:pPr marL="342900" lvl="1" indent="-342900">
              <a:buFont typeface="Wingdings" panose="05000000000000000000" pitchFamily="2" charset="2"/>
              <a:buChar char="n"/>
            </a:pPr>
            <a:r>
              <a:rPr lang="zh-CN" altLang="en-US" sz="3200" b="0" dirty="0">
                <a:solidFill>
                  <a:srgbClr val="000000"/>
                </a:solidFill>
                <a:latin typeface="新细明体"/>
              </a:rPr>
              <a:t>安装一个 </a:t>
            </a:r>
            <a:r>
              <a:rPr lang="en-US" altLang="zh-CN" sz="3200" b="0" dirty="0">
                <a:solidFill>
                  <a:srgbClr val="000000"/>
                </a:solidFill>
                <a:latin typeface="新细明体"/>
              </a:rPr>
              <a:t>RPM </a:t>
            </a:r>
            <a:r>
              <a:rPr lang="zh-CN" altLang="en-US" sz="3200" b="0" dirty="0">
                <a:solidFill>
                  <a:srgbClr val="000000"/>
                </a:solidFill>
                <a:latin typeface="新细明体"/>
              </a:rPr>
              <a:t>文件步骤：</a:t>
            </a:r>
          </a:p>
          <a:p>
            <a:pPr lvl="1"/>
            <a:r>
              <a:rPr lang="zh-CN" altLang="en-US" dirty="0">
                <a:solidFill>
                  <a:srgbClr val="000000"/>
                </a:solidFill>
                <a:latin typeface="新细明体"/>
              </a:rPr>
              <a:t>首先，要</a:t>
            </a:r>
            <a:r>
              <a:rPr lang="zh-CN" altLang="en-US" dirty="0">
                <a:solidFill>
                  <a:srgbClr val="FF0000"/>
                </a:solidFill>
                <a:latin typeface="新细明体"/>
              </a:rPr>
              <a:t>先安装</a:t>
            </a:r>
            <a:r>
              <a:rPr lang="zh-CN" altLang="en-US" dirty="0">
                <a:solidFill>
                  <a:srgbClr val="000000"/>
                </a:solidFill>
                <a:latin typeface="新细明体"/>
              </a:rPr>
              <a:t>原厂发布的</a:t>
            </a:r>
            <a:r>
              <a:rPr lang="zh-CN" altLang="en-US" dirty="0">
                <a:solidFill>
                  <a:srgbClr val="FF0000"/>
                </a:solidFill>
                <a:latin typeface="新细明体"/>
              </a:rPr>
              <a:t>公钥文件</a:t>
            </a:r>
          </a:p>
          <a:p>
            <a:pPr lvl="1"/>
            <a:r>
              <a:rPr lang="zh-CN" altLang="en-US" dirty="0">
                <a:solidFill>
                  <a:srgbClr val="000000"/>
                </a:solidFill>
                <a:latin typeface="新细明体"/>
              </a:rPr>
              <a:t>实际安装原厂的 </a:t>
            </a:r>
            <a:r>
              <a:rPr lang="en-US" altLang="zh-CN" dirty="0">
                <a:solidFill>
                  <a:srgbClr val="000000"/>
                </a:solidFill>
                <a:latin typeface="新细明体"/>
              </a:rPr>
              <a:t>RPM </a:t>
            </a:r>
            <a:r>
              <a:rPr lang="zh-CN" altLang="en-US" dirty="0">
                <a:solidFill>
                  <a:srgbClr val="000000"/>
                </a:solidFill>
                <a:latin typeface="新细明体"/>
              </a:rPr>
              <a:t>软件时， </a:t>
            </a:r>
            <a:r>
              <a:rPr lang="en-US" altLang="zh-CN" dirty="0">
                <a:solidFill>
                  <a:srgbClr val="FF0000"/>
                </a:solidFill>
                <a:latin typeface="新细明体"/>
              </a:rPr>
              <a:t>rpm </a:t>
            </a:r>
            <a:r>
              <a:rPr lang="zh-CN" altLang="en-US" dirty="0">
                <a:solidFill>
                  <a:srgbClr val="FF0000"/>
                </a:solidFill>
                <a:latin typeface="新细明体"/>
              </a:rPr>
              <a:t>命令会去读取 </a:t>
            </a:r>
            <a:r>
              <a:rPr lang="en-US" altLang="zh-CN" dirty="0">
                <a:solidFill>
                  <a:srgbClr val="FF0000"/>
                </a:solidFill>
                <a:latin typeface="新细明体"/>
              </a:rPr>
              <a:t>RPM </a:t>
            </a:r>
            <a:r>
              <a:rPr lang="zh-CN" altLang="en-US" dirty="0">
                <a:solidFill>
                  <a:srgbClr val="FF0000"/>
                </a:solidFill>
                <a:latin typeface="新细明体"/>
              </a:rPr>
              <a:t>文件的签名信息</a:t>
            </a:r>
            <a:r>
              <a:rPr lang="zh-CN" altLang="en-US" dirty="0">
                <a:solidFill>
                  <a:srgbClr val="000000"/>
                </a:solidFill>
                <a:latin typeface="新细明体"/>
              </a:rPr>
              <a:t>，与</a:t>
            </a:r>
            <a:r>
              <a:rPr lang="zh-CN" altLang="en-US" dirty="0">
                <a:solidFill>
                  <a:srgbClr val="FF0000"/>
                </a:solidFill>
                <a:latin typeface="新细明体"/>
              </a:rPr>
              <a:t>本机系统内的签名信息比对</a:t>
            </a:r>
          </a:p>
          <a:p>
            <a:pPr lvl="1"/>
            <a:r>
              <a:rPr lang="zh-CN" altLang="en-US" dirty="0">
                <a:solidFill>
                  <a:srgbClr val="000000"/>
                </a:solidFill>
                <a:latin typeface="新细明体"/>
              </a:rPr>
              <a:t>若签名相同则予以安装，若找不到相关的签名信息，则给予警告并且停止安装</a:t>
            </a:r>
          </a:p>
          <a:p>
            <a:pPr lvl="1"/>
            <a:endParaRPr lang="zh-CN" altLang="en-US" dirty="0"/>
          </a:p>
        </p:txBody>
      </p:sp>
    </p:spTree>
    <p:extLst>
      <p:ext uri="{BB962C8B-B14F-4D97-AF65-F5344CB8AC3E}">
        <p14:creationId xmlns:p14="http://schemas.microsoft.com/office/powerpoint/2010/main" val="45289693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RPM</a:t>
            </a:r>
            <a:r>
              <a:rPr lang="zh-CN" altLang="en-US" dirty="0"/>
              <a:t>包的公钥和签名</a:t>
            </a:r>
          </a:p>
        </p:txBody>
      </p:sp>
      <p:sp>
        <p:nvSpPr>
          <p:cNvPr id="3" name="内容占位符 2"/>
          <p:cNvSpPr>
            <a:spLocks noGrp="1"/>
          </p:cNvSpPr>
          <p:nvPr>
            <p:ph idx="1"/>
          </p:nvPr>
        </p:nvSpPr>
        <p:spPr>
          <a:xfrm>
            <a:off x="766155" y="1484784"/>
            <a:ext cx="8568952" cy="4530725"/>
          </a:xfrm>
        </p:spPr>
        <p:txBody>
          <a:bodyPr/>
          <a:lstStyle/>
          <a:p>
            <a:r>
              <a:rPr lang="zh-CN" altLang="en-US" dirty="0">
                <a:solidFill>
                  <a:srgbClr val="FF0000"/>
                </a:solidFill>
              </a:rPr>
              <a:t>导入</a:t>
            </a:r>
            <a:r>
              <a:rPr lang="en-US" altLang="zh-CN" dirty="0">
                <a:solidFill>
                  <a:srgbClr val="FF0000"/>
                </a:solidFill>
              </a:rPr>
              <a:t>RPM</a:t>
            </a:r>
            <a:r>
              <a:rPr lang="zh-CN" altLang="en-US" dirty="0">
                <a:solidFill>
                  <a:srgbClr val="FF0000"/>
                </a:solidFill>
              </a:rPr>
              <a:t>包的公钥</a:t>
            </a:r>
            <a:endParaRPr lang="en-US" altLang="zh-CN" dirty="0">
              <a:solidFill>
                <a:srgbClr val="FF0000"/>
              </a:solidFill>
            </a:endParaRPr>
          </a:p>
          <a:p>
            <a:pPr lvl="1"/>
            <a:r>
              <a:rPr lang="zh-CN" altLang="en-US" dirty="0"/>
              <a:t>格式：</a:t>
            </a:r>
            <a:r>
              <a:rPr lang="en-US" altLang="zh-CN" dirty="0">
                <a:solidFill>
                  <a:srgbClr val="C00000"/>
                </a:solidFill>
              </a:rPr>
              <a:t>rpm --import &lt;</a:t>
            </a:r>
            <a:r>
              <a:rPr lang="zh-CN" altLang="en-US" dirty="0">
                <a:solidFill>
                  <a:srgbClr val="C00000"/>
                </a:solidFill>
              </a:rPr>
              <a:t>公钥文件名</a:t>
            </a:r>
            <a:r>
              <a:rPr lang="en-US" altLang="zh-CN" dirty="0">
                <a:solidFill>
                  <a:srgbClr val="C00000"/>
                </a:solidFill>
              </a:rPr>
              <a:t>&gt;</a:t>
            </a:r>
          </a:p>
          <a:p>
            <a:pPr lvl="1"/>
            <a:r>
              <a:rPr lang="zh-CN" altLang="en-US" dirty="0"/>
              <a:t>例如</a:t>
            </a:r>
            <a:endParaRPr lang="en-US" altLang="zh-CN" dirty="0"/>
          </a:p>
          <a:p>
            <a:pPr lvl="1">
              <a:buNone/>
            </a:pPr>
            <a:r>
              <a:rPr lang="en-US" altLang="zh-CN" dirty="0">
                <a:solidFill>
                  <a:schemeClr val="accent6">
                    <a:lumMod val="75000"/>
                  </a:schemeClr>
                </a:solidFill>
              </a:rPr>
              <a:t># rpm --import  /etc/</a:t>
            </a:r>
            <a:r>
              <a:rPr lang="en-US" altLang="zh-CN" dirty="0" err="1">
                <a:solidFill>
                  <a:schemeClr val="accent6">
                    <a:lumMod val="75000"/>
                  </a:schemeClr>
                </a:solidFill>
              </a:rPr>
              <a:t>pki</a:t>
            </a:r>
            <a:r>
              <a:rPr lang="en-US" altLang="zh-CN" dirty="0">
                <a:solidFill>
                  <a:schemeClr val="accent6">
                    <a:lumMod val="75000"/>
                  </a:schemeClr>
                </a:solidFill>
              </a:rPr>
              <a:t>/rpm-</a:t>
            </a:r>
            <a:r>
              <a:rPr lang="en-US" altLang="zh-CN" dirty="0" err="1">
                <a:solidFill>
                  <a:schemeClr val="accent6">
                    <a:lumMod val="75000"/>
                  </a:schemeClr>
                </a:solidFill>
              </a:rPr>
              <a:t>gpg</a:t>
            </a:r>
            <a:r>
              <a:rPr lang="en-US" altLang="zh-CN" dirty="0">
                <a:solidFill>
                  <a:schemeClr val="accent6">
                    <a:lumMod val="75000"/>
                  </a:schemeClr>
                </a:solidFill>
              </a:rPr>
              <a:t>/RPM-GPG-*</a:t>
            </a:r>
          </a:p>
          <a:p>
            <a:pPr lvl="1">
              <a:buNone/>
            </a:pPr>
            <a:r>
              <a:rPr lang="en-US" altLang="zh-CN" dirty="0">
                <a:solidFill>
                  <a:schemeClr val="accent6">
                    <a:lumMod val="75000"/>
                  </a:schemeClr>
                </a:solidFill>
              </a:rPr>
              <a:t># rpm --import http://apt.sw.be/RPM-GPG-KEY.dag.txt</a:t>
            </a:r>
          </a:p>
          <a:p>
            <a:r>
              <a:rPr lang="zh-CN" altLang="en-US" dirty="0">
                <a:solidFill>
                  <a:srgbClr val="C00000"/>
                </a:solidFill>
              </a:rPr>
              <a:t>检查</a:t>
            </a:r>
            <a:r>
              <a:rPr lang="zh-CN" altLang="en-US" dirty="0"/>
              <a:t>指定</a:t>
            </a:r>
            <a:r>
              <a:rPr lang="en-US" altLang="zh-CN" dirty="0"/>
              <a:t>RPM</a:t>
            </a:r>
            <a:r>
              <a:rPr lang="zh-CN" altLang="en-US" dirty="0"/>
              <a:t>包的</a:t>
            </a:r>
            <a:r>
              <a:rPr lang="zh-CN" altLang="en-US" dirty="0">
                <a:solidFill>
                  <a:srgbClr val="C00000"/>
                </a:solidFill>
              </a:rPr>
              <a:t>数字签名</a:t>
            </a:r>
          </a:p>
          <a:p>
            <a:pPr lvl="1"/>
            <a:r>
              <a:rPr lang="en-US" altLang="zh-CN" dirty="0"/>
              <a:t>rpm -K  &lt;</a:t>
            </a:r>
            <a:r>
              <a:rPr lang="en-US" altLang="zh-CN" dirty="0" err="1"/>
              <a:t>rpmfile</a:t>
            </a:r>
            <a:r>
              <a:rPr lang="en-US" altLang="zh-CN" dirty="0"/>
              <a:t>&gt;</a:t>
            </a:r>
            <a:endParaRPr lang="zh-CN" alt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D600EC6-4226-4115-8985-7BE60C0E57D9}"/>
              </a:ext>
            </a:extLst>
          </p:cNvPr>
          <p:cNvSpPr txBox="1"/>
          <p:nvPr/>
        </p:nvSpPr>
        <p:spPr>
          <a:xfrm>
            <a:off x="467544" y="1054571"/>
            <a:ext cx="8496944" cy="5172955"/>
          </a:xfrm>
          <a:prstGeom prst="rect">
            <a:avLst/>
          </a:prstGeom>
          <a:noFill/>
        </p:spPr>
        <p:txBody>
          <a:bodyPr wrap="square" rtlCol="0">
            <a:spAutoFit/>
          </a:bodyPr>
          <a:lstStyle/>
          <a:p>
            <a:pPr algn="just">
              <a:lnSpc>
                <a:spcPct val="150000"/>
              </a:lnSpc>
            </a:pPr>
            <a:r>
              <a:rPr lang="en-US" altLang="zh-CN" sz="2800" b="1" dirty="0">
                <a:solidFill>
                  <a:srgbClr val="C00000"/>
                </a:solidFill>
                <a:latin typeface="+mj-lt"/>
              </a:rPr>
              <a:t>1.</a:t>
            </a:r>
            <a:r>
              <a:rPr lang="zh-CN" altLang="en-US" sz="2800" b="1" dirty="0">
                <a:solidFill>
                  <a:srgbClr val="C00000"/>
                </a:solidFill>
                <a:latin typeface="+mj-lt"/>
              </a:rPr>
              <a:t>如何查询系统当中，以 </a:t>
            </a:r>
            <a:r>
              <a:rPr lang="en-US" altLang="zh-CN" sz="2800" b="1" dirty="0">
                <a:solidFill>
                  <a:srgbClr val="C00000"/>
                </a:solidFill>
                <a:latin typeface="+mj-lt"/>
              </a:rPr>
              <a:t>c </a:t>
            </a:r>
            <a:r>
              <a:rPr lang="zh-CN" altLang="en-US" sz="2800" b="1" dirty="0">
                <a:solidFill>
                  <a:srgbClr val="C00000"/>
                </a:solidFill>
                <a:latin typeface="+mj-lt"/>
              </a:rPr>
              <a:t>开头的软件有几个？</a:t>
            </a:r>
          </a:p>
          <a:p>
            <a:pPr algn="just">
              <a:lnSpc>
                <a:spcPct val="150000"/>
              </a:lnSpc>
            </a:pPr>
            <a:r>
              <a:rPr lang="en-US" altLang="zh-CN" sz="2800" b="1" dirty="0">
                <a:solidFill>
                  <a:srgbClr val="C00000"/>
                </a:solidFill>
                <a:latin typeface="+mj-lt"/>
              </a:rPr>
              <a:t>2.</a:t>
            </a:r>
            <a:r>
              <a:rPr lang="zh-CN" altLang="en-US" sz="2800" b="1" dirty="0">
                <a:solidFill>
                  <a:srgbClr val="C00000"/>
                </a:solidFill>
                <a:latin typeface="+mj-lt"/>
              </a:rPr>
              <a:t>本机 </a:t>
            </a:r>
            <a:r>
              <a:rPr lang="en-US" altLang="zh-CN" sz="2800" b="1" dirty="0">
                <a:solidFill>
                  <a:srgbClr val="C00000"/>
                </a:solidFill>
                <a:latin typeface="+mj-lt"/>
              </a:rPr>
              <a:t>WWW </a:t>
            </a:r>
            <a:r>
              <a:rPr lang="zh-CN" altLang="en-US" sz="2800" b="1" dirty="0">
                <a:solidFill>
                  <a:srgbClr val="C00000"/>
                </a:solidFill>
                <a:latin typeface="+mj-lt"/>
              </a:rPr>
              <a:t>服务器为 </a:t>
            </a:r>
            <a:r>
              <a:rPr lang="en-US" altLang="zh-CN" sz="2800" b="1" dirty="0">
                <a:solidFill>
                  <a:srgbClr val="C00000"/>
                </a:solidFill>
                <a:latin typeface="+mj-lt"/>
              </a:rPr>
              <a:t>Apache </a:t>
            </a:r>
            <a:r>
              <a:rPr lang="zh-CN" altLang="en-US" sz="2800" b="1" dirty="0">
                <a:solidFill>
                  <a:srgbClr val="C00000"/>
                </a:solidFill>
                <a:latin typeface="+mj-lt"/>
              </a:rPr>
              <a:t>，他使用的 </a:t>
            </a:r>
            <a:r>
              <a:rPr lang="en-US" altLang="zh-CN" sz="2800" b="1" dirty="0">
                <a:solidFill>
                  <a:srgbClr val="C00000"/>
                </a:solidFill>
                <a:latin typeface="+mj-lt"/>
              </a:rPr>
              <a:t>RPM </a:t>
            </a:r>
            <a:r>
              <a:rPr lang="zh-CN" altLang="en-US" sz="2800" b="1" dirty="0">
                <a:solidFill>
                  <a:srgbClr val="C00000"/>
                </a:solidFill>
                <a:latin typeface="+mj-lt"/>
              </a:rPr>
              <a:t>软件档名为 </a:t>
            </a:r>
            <a:r>
              <a:rPr lang="en-US" altLang="zh-CN" sz="2800" b="1" dirty="0">
                <a:solidFill>
                  <a:srgbClr val="C00000"/>
                </a:solidFill>
                <a:latin typeface="+mj-lt"/>
              </a:rPr>
              <a:t>httpd </a:t>
            </a:r>
            <a:r>
              <a:rPr lang="zh-CN" altLang="en-US" sz="2800" b="1" dirty="0">
                <a:solidFill>
                  <a:srgbClr val="C00000"/>
                </a:solidFill>
                <a:latin typeface="+mj-lt"/>
              </a:rPr>
              <a:t>。如果查出来他的配置文件已经被修改过，但是忘记了曾经修改过哪些地方，所以想要直接重新安装一次该软件，该如何作？</a:t>
            </a:r>
            <a:endParaRPr lang="en-US" altLang="zh-CN" sz="2800" b="1" dirty="0">
              <a:solidFill>
                <a:srgbClr val="C00000"/>
              </a:solidFill>
              <a:latin typeface="+mj-lt"/>
            </a:endParaRPr>
          </a:p>
          <a:p>
            <a:pPr algn="just">
              <a:lnSpc>
                <a:spcPct val="150000"/>
              </a:lnSpc>
            </a:pPr>
            <a:r>
              <a:rPr lang="zh-CN" altLang="en-US" sz="2800" b="1" dirty="0">
                <a:solidFill>
                  <a:srgbClr val="C00000"/>
                </a:solidFill>
                <a:latin typeface="+mj-lt"/>
              </a:rPr>
              <a:t>（</a:t>
            </a:r>
            <a:r>
              <a:rPr lang="zh-CN" altLang="en-US" sz="2400" dirty="0">
                <a:solidFill>
                  <a:srgbClr val="000088"/>
                </a:solidFill>
                <a:latin typeface="细明体"/>
              </a:rPr>
              <a:t>软件</a:t>
            </a:r>
            <a:r>
              <a:rPr lang="en-US" altLang="zh-CN" sz="2400" dirty="0">
                <a:solidFill>
                  <a:srgbClr val="000088"/>
                </a:solidFill>
                <a:latin typeface="细明体"/>
              </a:rPr>
              <a:t>URL</a:t>
            </a:r>
            <a:r>
              <a:rPr lang="zh-CN" altLang="en-US" sz="2400" dirty="0">
                <a:solidFill>
                  <a:srgbClr val="000088"/>
                </a:solidFill>
                <a:latin typeface="细明体"/>
              </a:rPr>
              <a:t>为</a:t>
            </a:r>
            <a:r>
              <a:rPr lang="en-US" altLang="zh-CN" sz="2400" dirty="0">
                <a:solidFill>
                  <a:srgbClr val="000088"/>
                </a:solidFill>
                <a:latin typeface="细明体"/>
              </a:rPr>
              <a:t>http://web.site.name/path/httpd-x.x.xx.i386.rpm</a:t>
            </a:r>
            <a:r>
              <a:rPr lang="zh-CN" altLang="en-US" sz="2800" b="1" dirty="0">
                <a:solidFill>
                  <a:srgbClr val="C00000"/>
                </a:solidFill>
                <a:latin typeface="+mj-lt"/>
              </a:rPr>
              <a:t>）</a:t>
            </a:r>
          </a:p>
          <a:p>
            <a:pPr algn="just">
              <a:lnSpc>
                <a:spcPct val="150000"/>
              </a:lnSpc>
            </a:pPr>
            <a:r>
              <a:rPr lang="en-US" altLang="zh-CN" sz="2800" b="1" dirty="0">
                <a:solidFill>
                  <a:srgbClr val="C00000"/>
                </a:solidFill>
                <a:latin typeface="+mj-lt"/>
              </a:rPr>
              <a:t>3.</a:t>
            </a:r>
            <a:r>
              <a:rPr lang="zh-CN" altLang="en-US" sz="2800" b="1" dirty="0">
                <a:solidFill>
                  <a:srgbClr val="C00000"/>
                </a:solidFill>
                <a:latin typeface="+mj-lt"/>
              </a:rPr>
              <a:t>如果误删了某个重要文件，例如 </a:t>
            </a:r>
            <a:r>
              <a:rPr lang="en-US" altLang="zh-CN" sz="2800" b="1" dirty="0">
                <a:solidFill>
                  <a:srgbClr val="C00000"/>
                </a:solidFill>
                <a:latin typeface="+mj-lt"/>
              </a:rPr>
              <a:t>/etc/crontab</a:t>
            </a:r>
            <a:r>
              <a:rPr lang="zh-CN" altLang="en-US" sz="2800" b="1" dirty="0">
                <a:solidFill>
                  <a:srgbClr val="C00000"/>
                </a:solidFill>
                <a:latin typeface="+mj-lt"/>
              </a:rPr>
              <a:t>，怎么查询该文件属于哪一个软件？</a:t>
            </a:r>
          </a:p>
        </p:txBody>
      </p:sp>
      <p:pic>
        <p:nvPicPr>
          <p:cNvPr id="6" name="Picture 2">
            <a:extLst>
              <a:ext uri="{FF2B5EF4-FFF2-40B4-BE49-F238E27FC236}">
                <a16:creationId xmlns:a16="http://schemas.microsoft.com/office/drawing/2014/main" id="{1D55D552-1419-44CC-9087-2E2E437C68C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970" t="15350" r="1723" b="11002"/>
          <a:stretch/>
        </p:blipFill>
        <p:spPr bwMode="auto">
          <a:xfrm>
            <a:off x="107504" y="404664"/>
            <a:ext cx="1512168" cy="121914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29935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38001" y="248925"/>
            <a:ext cx="7895728" cy="1052513"/>
          </a:xfrm>
        </p:spPr>
        <p:txBody>
          <a:bodyPr/>
          <a:lstStyle/>
          <a:p>
            <a:r>
              <a:rPr lang="zh-CN" altLang="en-US" dirty="0"/>
              <a:t>软件包管理与系统更新</a:t>
            </a:r>
          </a:p>
        </p:txBody>
      </p:sp>
      <p:sp>
        <p:nvSpPr>
          <p:cNvPr id="3" name="内容占位符 2"/>
          <p:cNvSpPr>
            <a:spLocks noGrp="1"/>
          </p:cNvSpPr>
          <p:nvPr>
            <p:ph idx="1"/>
          </p:nvPr>
        </p:nvSpPr>
        <p:spPr>
          <a:xfrm>
            <a:off x="457200" y="1313161"/>
            <a:ext cx="8229600" cy="5500215"/>
          </a:xfrm>
        </p:spPr>
        <p:txBody>
          <a:bodyPr/>
          <a:lstStyle/>
          <a:p>
            <a:pPr>
              <a:lnSpc>
                <a:spcPct val="120000"/>
              </a:lnSpc>
            </a:pPr>
            <a:r>
              <a:rPr lang="zh-CN" altLang="en-US" dirty="0"/>
              <a:t>使用软件更新系统的目的</a:t>
            </a:r>
          </a:p>
          <a:p>
            <a:pPr lvl="1">
              <a:lnSpc>
                <a:spcPct val="120000"/>
              </a:lnSpc>
            </a:pPr>
            <a:r>
              <a:rPr lang="zh-CN" altLang="en-US" dirty="0"/>
              <a:t>为了要</a:t>
            </a:r>
            <a:r>
              <a:rPr lang="zh-CN" altLang="en-US" dirty="0">
                <a:solidFill>
                  <a:srgbClr val="C00000"/>
                </a:solidFill>
              </a:rPr>
              <a:t>解决安装</a:t>
            </a:r>
            <a:r>
              <a:rPr lang="en-US" altLang="zh-CN" dirty="0"/>
              <a:t>RPM</a:t>
            </a:r>
            <a:r>
              <a:rPr lang="zh-CN" altLang="en-US" dirty="0"/>
              <a:t>时的</a:t>
            </a:r>
            <a:r>
              <a:rPr lang="zh-CN" altLang="en-US" dirty="0">
                <a:solidFill>
                  <a:srgbClr val="C00000"/>
                </a:solidFill>
              </a:rPr>
              <a:t>依赖性</a:t>
            </a:r>
            <a:r>
              <a:rPr lang="zh-CN" altLang="en-US" dirty="0"/>
              <a:t>问题</a:t>
            </a:r>
            <a:endParaRPr lang="en-US" altLang="zh-CN" dirty="0"/>
          </a:p>
          <a:p>
            <a:pPr>
              <a:lnSpc>
                <a:spcPct val="120000"/>
              </a:lnSpc>
            </a:pPr>
            <a:r>
              <a:rPr lang="zh-CN" altLang="en-US" dirty="0"/>
              <a:t>常见的基于</a:t>
            </a:r>
            <a:r>
              <a:rPr lang="en-US" altLang="zh-CN" dirty="0"/>
              <a:t>RPM</a:t>
            </a:r>
            <a:r>
              <a:rPr lang="zh-CN" altLang="en-US" dirty="0"/>
              <a:t>的更新系统</a:t>
            </a:r>
            <a:endParaRPr lang="en-US" altLang="zh-CN" dirty="0"/>
          </a:p>
          <a:p>
            <a:pPr lvl="1">
              <a:lnSpc>
                <a:spcPct val="120000"/>
              </a:lnSpc>
            </a:pPr>
            <a:r>
              <a:rPr lang="en-US" altLang="zh-CN" dirty="0">
                <a:solidFill>
                  <a:schemeClr val="accent6">
                    <a:lumMod val="75000"/>
                  </a:schemeClr>
                </a:solidFill>
              </a:rPr>
              <a:t>Red Hat Network </a:t>
            </a:r>
            <a:r>
              <a:rPr lang="en-US" altLang="zh-CN" dirty="0"/>
              <a:t>—— Red Hat </a:t>
            </a:r>
            <a:r>
              <a:rPr lang="zh-CN" altLang="en-US" dirty="0"/>
              <a:t>的企业级更新系统</a:t>
            </a:r>
            <a:endParaRPr lang="en-US" altLang="zh-CN" dirty="0"/>
          </a:p>
          <a:p>
            <a:pPr lvl="1">
              <a:lnSpc>
                <a:spcPct val="120000"/>
              </a:lnSpc>
            </a:pPr>
            <a:r>
              <a:rPr lang="en-US" altLang="zh-CN" dirty="0">
                <a:solidFill>
                  <a:schemeClr val="accent6">
                    <a:lumMod val="75000"/>
                  </a:schemeClr>
                </a:solidFill>
              </a:rPr>
              <a:t>yum</a:t>
            </a:r>
            <a:r>
              <a:rPr lang="en-US" altLang="zh-CN" dirty="0"/>
              <a:t> —— Fedora, </a:t>
            </a:r>
            <a:r>
              <a:rPr lang="en-US" altLang="zh-CN" dirty="0" err="1"/>
              <a:t>CentOS</a:t>
            </a:r>
            <a:endParaRPr lang="en-US" altLang="zh-CN" dirty="0"/>
          </a:p>
          <a:p>
            <a:pPr lvl="1">
              <a:lnSpc>
                <a:spcPct val="120000"/>
              </a:lnSpc>
            </a:pPr>
            <a:r>
              <a:rPr lang="en-US" altLang="zh-CN" dirty="0" err="1">
                <a:solidFill>
                  <a:schemeClr val="accent6">
                    <a:lumMod val="75000"/>
                  </a:schemeClr>
                </a:solidFill>
              </a:rPr>
              <a:t>zypp</a:t>
            </a:r>
            <a:r>
              <a:rPr lang="en-US" altLang="zh-CN" dirty="0"/>
              <a:t> —— </a:t>
            </a:r>
            <a:r>
              <a:rPr lang="en-US" altLang="zh-CN" dirty="0" err="1"/>
              <a:t>openSUSE</a:t>
            </a:r>
            <a:endParaRPr lang="en-US" altLang="zh-CN" dirty="0"/>
          </a:p>
          <a:p>
            <a:pPr lvl="1">
              <a:lnSpc>
                <a:spcPct val="120000"/>
              </a:lnSpc>
            </a:pPr>
            <a:r>
              <a:rPr lang="en-US" altLang="zh-CN" dirty="0" err="1">
                <a:solidFill>
                  <a:schemeClr val="accent6">
                    <a:lumMod val="75000"/>
                  </a:schemeClr>
                </a:solidFill>
              </a:rPr>
              <a:t>urpmi</a:t>
            </a:r>
            <a:r>
              <a:rPr lang="en-US" altLang="zh-CN" dirty="0">
                <a:solidFill>
                  <a:schemeClr val="accent6">
                    <a:lumMod val="75000"/>
                  </a:schemeClr>
                </a:solidFill>
              </a:rPr>
              <a:t> </a:t>
            </a:r>
            <a:r>
              <a:rPr lang="en-US" altLang="zh-CN" dirty="0"/>
              <a:t>—— </a:t>
            </a:r>
            <a:r>
              <a:rPr lang="en-US" altLang="zh-CN" dirty="0" err="1"/>
              <a:t>Mandriva</a:t>
            </a:r>
            <a:endParaRPr lang="en-US" altLang="zh-CN" dirty="0"/>
          </a:p>
          <a:p>
            <a:pPr lvl="1">
              <a:lnSpc>
                <a:spcPct val="120000"/>
              </a:lnSpc>
            </a:pPr>
            <a:r>
              <a:rPr lang="en-US" altLang="zh-CN" dirty="0">
                <a:solidFill>
                  <a:schemeClr val="accent6">
                    <a:lumMod val="75000"/>
                  </a:schemeClr>
                </a:solidFill>
              </a:rPr>
              <a:t>APT-RPM</a:t>
            </a:r>
            <a:r>
              <a:rPr lang="en-US" altLang="zh-CN" dirty="0"/>
              <a:t> —— </a:t>
            </a:r>
            <a:r>
              <a:rPr lang="en-US" altLang="zh-CN" dirty="0" err="1"/>
              <a:t>PCLinuxOS</a:t>
            </a:r>
            <a:r>
              <a:rPr lang="zh-CN" altLang="en-US" dirty="0"/>
              <a:t>，</a:t>
            </a:r>
            <a:r>
              <a:rPr lang="en-US" altLang="zh-CN" dirty="0"/>
              <a:t> ALT Linux</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a:t>
            </a:r>
            <a:r>
              <a:rPr lang="en-US" altLang="zh-CN" dirty="0"/>
              <a:t>Linux</a:t>
            </a:r>
            <a:r>
              <a:rPr lang="zh-CN" altLang="en-US" dirty="0"/>
              <a:t>发行的更新软件</a:t>
            </a:r>
          </a:p>
        </p:txBody>
      </p:sp>
      <p:sp>
        <p:nvSpPr>
          <p:cNvPr id="3" name="内容占位符 2"/>
          <p:cNvSpPr>
            <a:spLocks noGrp="1"/>
          </p:cNvSpPr>
          <p:nvPr>
            <p:ph idx="1"/>
          </p:nvPr>
        </p:nvSpPr>
        <p:spPr/>
        <p:txBody>
          <a:bodyPr/>
          <a:lstStyle/>
          <a:p>
            <a:r>
              <a:rPr lang="en-US" altLang="zh-CN" dirty="0">
                <a:solidFill>
                  <a:schemeClr val="accent6">
                    <a:lumMod val="75000"/>
                  </a:schemeClr>
                </a:solidFill>
              </a:rPr>
              <a:t>apt </a:t>
            </a:r>
            <a:r>
              <a:rPr lang="en-US" altLang="zh-CN" dirty="0"/>
              <a:t>—— </a:t>
            </a:r>
            <a:r>
              <a:rPr lang="en-US" altLang="zh-CN" dirty="0" err="1"/>
              <a:t>Debian</a:t>
            </a:r>
            <a:r>
              <a:rPr lang="en-US" altLang="zh-CN" dirty="0"/>
              <a:t>, Ubuntu, </a:t>
            </a:r>
            <a:r>
              <a:rPr lang="en-US" altLang="zh-CN" dirty="0" err="1"/>
              <a:t>LinuxMint</a:t>
            </a:r>
            <a:endParaRPr lang="en-US" altLang="zh-CN" dirty="0"/>
          </a:p>
          <a:p>
            <a:r>
              <a:rPr lang="en-US" altLang="zh-CN" dirty="0" err="1">
                <a:solidFill>
                  <a:schemeClr val="accent6">
                    <a:lumMod val="75000"/>
                  </a:schemeClr>
                </a:solidFill>
              </a:rPr>
              <a:t>apk</a:t>
            </a:r>
            <a:r>
              <a:rPr lang="en-US" altLang="zh-CN" dirty="0"/>
              <a:t> —— Alpine</a:t>
            </a:r>
          </a:p>
          <a:p>
            <a:r>
              <a:rPr lang="en-US" altLang="zh-CN" dirty="0" err="1">
                <a:solidFill>
                  <a:schemeClr val="accent6">
                    <a:lumMod val="75000"/>
                  </a:schemeClr>
                </a:solidFill>
              </a:rPr>
              <a:t>slackpkg</a:t>
            </a:r>
            <a:r>
              <a:rPr lang="en-US" altLang="zh-CN" dirty="0"/>
              <a:t> —— </a:t>
            </a:r>
            <a:r>
              <a:rPr lang="en-US" altLang="zh-CN" dirty="0" err="1"/>
              <a:t>Slackware</a:t>
            </a:r>
            <a:endParaRPr lang="en-US" altLang="zh-CN" dirty="0"/>
          </a:p>
          <a:p>
            <a:r>
              <a:rPr lang="en-US" altLang="zh-CN" dirty="0">
                <a:solidFill>
                  <a:schemeClr val="accent6">
                    <a:lumMod val="75000"/>
                  </a:schemeClr>
                </a:solidFill>
              </a:rPr>
              <a:t>emerge</a:t>
            </a:r>
            <a:r>
              <a:rPr lang="en-US" altLang="zh-CN" dirty="0"/>
              <a:t> —— </a:t>
            </a:r>
            <a:r>
              <a:rPr lang="en-US" altLang="zh-CN" dirty="0" err="1"/>
              <a:t>Gentoo</a:t>
            </a:r>
            <a:endParaRPr lang="en-US" altLang="zh-CN" dirty="0"/>
          </a:p>
          <a:p>
            <a:r>
              <a:rPr lang="en-US" altLang="zh-CN" dirty="0" err="1">
                <a:solidFill>
                  <a:schemeClr val="accent6">
                    <a:lumMod val="75000"/>
                  </a:schemeClr>
                </a:solidFill>
              </a:rPr>
              <a:t>pacman</a:t>
            </a:r>
            <a:r>
              <a:rPr lang="en-US" altLang="zh-CN" dirty="0"/>
              <a:t> —— Arch</a:t>
            </a:r>
            <a:endParaRPr lang="zh-CN" altLang="en-US" dirty="0"/>
          </a:p>
          <a:p>
            <a:r>
              <a:rPr lang="en-US" altLang="zh-CN" dirty="0" err="1">
                <a:solidFill>
                  <a:schemeClr val="accent6">
                    <a:lumMod val="75000"/>
                  </a:schemeClr>
                </a:solidFill>
              </a:rPr>
              <a:t>conary</a:t>
            </a:r>
            <a:r>
              <a:rPr lang="en-US" altLang="zh-CN" dirty="0"/>
              <a:t> —— </a:t>
            </a:r>
            <a:r>
              <a:rPr lang="en-US" altLang="zh-CN" dirty="0" err="1"/>
              <a:t>rPath</a:t>
            </a:r>
            <a:r>
              <a:rPr lang="en-US" altLang="zh-CN" dirty="0"/>
              <a:t>, Foresight</a:t>
            </a:r>
          </a:p>
          <a:p>
            <a:endParaRPr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 </a:t>
            </a:r>
            <a:r>
              <a:rPr lang="en-US" altLang="zh-CN" dirty="0"/>
              <a:t>YUM</a:t>
            </a:r>
            <a:r>
              <a:rPr lang="zh-CN" altLang="en-US" dirty="0"/>
              <a:t>简介</a:t>
            </a:r>
          </a:p>
        </p:txBody>
      </p:sp>
      <p:sp>
        <p:nvSpPr>
          <p:cNvPr id="3" name="内容占位符 2"/>
          <p:cNvSpPr>
            <a:spLocks noGrp="1"/>
          </p:cNvSpPr>
          <p:nvPr>
            <p:ph idx="1"/>
          </p:nvPr>
        </p:nvSpPr>
        <p:spPr>
          <a:xfrm>
            <a:off x="251520" y="1244228"/>
            <a:ext cx="8892480" cy="5400600"/>
          </a:xfrm>
        </p:spPr>
        <p:txBody>
          <a:bodyPr/>
          <a:lstStyle/>
          <a:p>
            <a:r>
              <a:rPr lang="en-US" altLang="zh-CN" sz="2800" dirty="0"/>
              <a:t>yum </a:t>
            </a:r>
            <a:r>
              <a:rPr lang="zh-CN" altLang="en-US" sz="2800" dirty="0"/>
              <a:t>是 </a:t>
            </a:r>
            <a:r>
              <a:rPr lang="en-US" altLang="zh-CN" sz="2800" dirty="0"/>
              <a:t>Yellow dog Updater, Modified </a:t>
            </a:r>
            <a:r>
              <a:rPr lang="zh-CN" altLang="en-US" sz="2800" dirty="0"/>
              <a:t>的简称，用 </a:t>
            </a:r>
            <a:r>
              <a:rPr lang="en-US" altLang="zh-CN" sz="2800" dirty="0"/>
              <a:t>python </a:t>
            </a:r>
            <a:r>
              <a:rPr lang="zh-CN" altLang="en-US" sz="2800" dirty="0"/>
              <a:t>写成</a:t>
            </a:r>
            <a:endParaRPr lang="en-US" altLang="zh-CN" sz="2800" dirty="0"/>
          </a:p>
          <a:p>
            <a:r>
              <a:rPr lang="en-US" altLang="zh-CN" sz="2800" dirty="0"/>
              <a:t>yum </a:t>
            </a:r>
            <a:r>
              <a:rPr lang="zh-CN" altLang="en-US" sz="2800" dirty="0"/>
              <a:t>宗旨是</a:t>
            </a:r>
            <a:r>
              <a:rPr lang="zh-CN" altLang="en-US" sz="2800" dirty="0">
                <a:solidFill>
                  <a:srgbClr val="FF0000"/>
                </a:solidFill>
              </a:rPr>
              <a:t>自动化地升级</a:t>
            </a:r>
            <a:r>
              <a:rPr lang="zh-CN" altLang="en-US" sz="2800" dirty="0"/>
              <a:t>，</a:t>
            </a:r>
            <a:r>
              <a:rPr lang="zh-CN" altLang="en-US" sz="2800" dirty="0">
                <a:solidFill>
                  <a:srgbClr val="FF0000"/>
                </a:solidFill>
              </a:rPr>
              <a:t>安装</a:t>
            </a:r>
            <a:r>
              <a:rPr lang="en-US" altLang="zh-CN" sz="2800" dirty="0"/>
              <a:t>/</a:t>
            </a:r>
            <a:r>
              <a:rPr lang="zh-CN" altLang="en-US" sz="2800" dirty="0">
                <a:solidFill>
                  <a:srgbClr val="FF0000"/>
                </a:solidFill>
              </a:rPr>
              <a:t>卸载</a:t>
            </a:r>
            <a:r>
              <a:rPr lang="en-US" altLang="zh-CN" sz="2800" dirty="0"/>
              <a:t>rpm</a:t>
            </a:r>
            <a:r>
              <a:rPr lang="zh-CN" altLang="en-US" sz="2800" dirty="0"/>
              <a:t>包，收集</a:t>
            </a:r>
            <a:r>
              <a:rPr lang="en-US" altLang="zh-CN" sz="2800" dirty="0"/>
              <a:t>rpm</a:t>
            </a:r>
            <a:r>
              <a:rPr lang="zh-CN" altLang="en-US" sz="2800" dirty="0"/>
              <a:t>包的相关信息，</a:t>
            </a:r>
            <a:r>
              <a:rPr lang="zh-CN" altLang="en-US" sz="2800" dirty="0">
                <a:solidFill>
                  <a:srgbClr val="FF0000"/>
                </a:solidFill>
              </a:rPr>
              <a:t>检查依赖性并自动提示</a:t>
            </a:r>
            <a:r>
              <a:rPr lang="zh-CN" altLang="en-US" sz="2800" dirty="0"/>
              <a:t>用户解决</a:t>
            </a:r>
            <a:endParaRPr lang="en-US" altLang="zh-CN" sz="2800" dirty="0"/>
          </a:p>
          <a:p>
            <a:r>
              <a:rPr lang="en-US" altLang="zh-CN" sz="2800" dirty="0"/>
              <a:t>yum </a:t>
            </a:r>
            <a:r>
              <a:rPr lang="zh-CN" altLang="en-US" sz="2800" dirty="0"/>
              <a:t>是 </a:t>
            </a:r>
            <a:r>
              <a:rPr lang="en-US" altLang="zh-CN" sz="2800" dirty="0"/>
              <a:t>rpm </a:t>
            </a:r>
            <a:r>
              <a:rPr lang="zh-CN" altLang="en-US" sz="2800" dirty="0"/>
              <a:t>的</a:t>
            </a:r>
            <a:r>
              <a:rPr lang="zh-CN" altLang="en-US" sz="2800" dirty="0">
                <a:solidFill>
                  <a:srgbClr val="FF0000"/>
                </a:solidFill>
              </a:rPr>
              <a:t>前端程序 </a:t>
            </a:r>
            <a:endParaRPr lang="en-US" altLang="zh-CN" sz="2800" dirty="0">
              <a:solidFill>
                <a:srgbClr val="FF0000"/>
              </a:solidFill>
            </a:endParaRPr>
          </a:p>
          <a:p>
            <a:r>
              <a:rPr lang="en-US" altLang="zh-CN" sz="2800" dirty="0"/>
              <a:t>yum </a:t>
            </a:r>
            <a:r>
              <a:rPr lang="zh-CN" altLang="en-US" sz="2800" dirty="0"/>
              <a:t>关键是要有可靠的 </a:t>
            </a:r>
            <a:r>
              <a:rPr lang="en-US" altLang="zh-CN" sz="2800" dirty="0">
                <a:solidFill>
                  <a:srgbClr val="FF0000"/>
                </a:solidFill>
              </a:rPr>
              <a:t>repository</a:t>
            </a:r>
            <a:r>
              <a:rPr lang="zh-CN" altLang="en-US" sz="2800" dirty="0">
                <a:solidFill>
                  <a:srgbClr val="FF0000"/>
                </a:solidFill>
              </a:rPr>
              <a:t>（软件仓库）</a:t>
            </a:r>
          </a:p>
          <a:p>
            <a:pPr lvl="1"/>
            <a:r>
              <a:rPr lang="zh-CN" altLang="en-US" sz="2400" dirty="0"/>
              <a:t>可以是 </a:t>
            </a:r>
            <a:r>
              <a:rPr lang="en-US" altLang="zh-CN" sz="2400" dirty="0">
                <a:solidFill>
                  <a:srgbClr val="FF0000"/>
                </a:solidFill>
              </a:rPr>
              <a:t>http </a:t>
            </a:r>
            <a:r>
              <a:rPr lang="zh-CN" altLang="en-US" sz="2400" dirty="0">
                <a:solidFill>
                  <a:srgbClr val="FF0000"/>
                </a:solidFill>
              </a:rPr>
              <a:t>或 </a:t>
            </a:r>
            <a:r>
              <a:rPr lang="en-US" altLang="zh-CN" sz="2400" dirty="0">
                <a:solidFill>
                  <a:srgbClr val="FF0000"/>
                </a:solidFill>
              </a:rPr>
              <a:t>ftp </a:t>
            </a:r>
            <a:r>
              <a:rPr lang="zh-CN" altLang="en-US" sz="2400" dirty="0">
                <a:solidFill>
                  <a:srgbClr val="FF0000"/>
                </a:solidFill>
              </a:rPr>
              <a:t>站点</a:t>
            </a:r>
            <a:r>
              <a:rPr lang="zh-CN" altLang="en-US" sz="2400" dirty="0"/>
              <a:t>，也可以是</a:t>
            </a:r>
            <a:r>
              <a:rPr lang="zh-CN" altLang="en-US" sz="2400" dirty="0">
                <a:solidFill>
                  <a:srgbClr val="FF0000"/>
                </a:solidFill>
              </a:rPr>
              <a:t>本地</a:t>
            </a:r>
            <a:r>
              <a:rPr lang="zh-CN" altLang="en-US" sz="2400" dirty="0"/>
              <a:t>软件池</a:t>
            </a:r>
          </a:p>
          <a:p>
            <a:pPr lvl="1"/>
            <a:r>
              <a:rPr lang="en-US" altLang="zh-CN" sz="2400" dirty="0" smtClean="0"/>
              <a:t>yum </a:t>
            </a:r>
            <a:r>
              <a:rPr lang="zh-CN" altLang="en-US" sz="2400" dirty="0"/>
              <a:t>正是由于对收集的这些 </a:t>
            </a:r>
            <a:r>
              <a:rPr lang="en-US" altLang="zh-CN" sz="2400" dirty="0"/>
              <a:t>header</a:t>
            </a:r>
            <a:r>
              <a:rPr lang="zh-CN" altLang="en-US" sz="2400" dirty="0"/>
              <a:t>并加以分析，才能自动化地完成安装</a:t>
            </a:r>
            <a:r>
              <a:rPr lang="en-US" altLang="zh-CN" sz="2400" dirty="0"/>
              <a:t>/</a:t>
            </a:r>
            <a:r>
              <a:rPr lang="zh-CN" altLang="en-US" sz="2400" dirty="0"/>
              <a:t>更新</a:t>
            </a:r>
            <a:r>
              <a:rPr lang="en-US" altLang="zh-CN" sz="2400" dirty="0"/>
              <a:t>/</a:t>
            </a:r>
            <a:r>
              <a:rPr lang="zh-CN" altLang="en-US" sz="2400" dirty="0"/>
              <a:t>删除等</a:t>
            </a:r>
            <a:r>
              <a:rPr lang="zh-CN" altLang="en-US" sz="2400" dirty="0" smtClean="0"/>
              <a:t>任务</a:t>
            </a:r>
            <a:endParaRPr lang="en-US" altLang="zh-CN" sz="2400" dirty="0" smtClean="0"/>
          </a:p>
          <a:p>
            <a:pPr lvl="1"/>
            <a:r>
              <a:rPr lang="en-US" altLang="zh-CN" sz="2400" dirty="0"/>
              <a:t>header </a:t>
            </a:r>
            <a:r>
              <a:rPr lang="zh-CN" altLang="en-US" sz="2400" dirty="0"/>
              <a:t>包括了</a:t>
            </a:r>
            <a:r>
              <a:rPr lang="en-US" altLang="zh-CN" sz="2400" dirty="0"/>
              <a:t>rpm </a:t>
            </a:r>
            <a:r>
              <a:rPr lang="zh-CN" altLang="en-US" sz="2400" dirty="0"/>
              <a:t>包的各种信息，包括描述，功能，提供的文件，依赖性等</a:t>
            </a:r>
          </a:p>
          <a:p>
            <a:pPr lvl="1"/>
            <a:endParaRPr lang="zh-CN" alt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yum </a:t>
            </a:r>
            <a:r>
              <a:rPr lang="zh-CN" altLang="en-US" dirty="0"/>
              <a:t>的特点</a:t>
            </a:r>
          </a:p>
        </p:txBody>
      </p:sp>
      <p:sp>
        <p:nvSpPr>
          <p:cNvPr id="3" name="内容占位符 2"/>
          <p:cNvSpPr>
            <a:spLocks noGrp="1"/>
          </p:cNvSpPr>
          <p:nvPr>
            <p:ph idx="1"/>
          </p:nvPr>
        </p:nvSpPr>
        <p:spPr>
          <a:xfrm>
            <a:off x="453073" y="1412776"/>
            <a:ext cx="8678986" cy="4790157"/>
          </a:xfrm>
        </p:spPr>
        <p:txBody>
          <a:bodyPr/>
          <a:lstStyle/>
          <a:p>
            <a:r>
              <a:rPr lang="zh-CN" altLang="en-US" dirty="0">
                <a:solidFill>
                  <a:srgbClr val="FF0000"/>
                </a:solidFill>
              </a:rPr>
              <a:t>便于</a:t>
            </a:r>
            <a:r>
              <a:rPr lang="zh-CN" altLang="en-US" dirty="0"/>
              <a:t>管理</a:t>
            </a:r>
            <a:r>
              <a:rPr lang="zh-CN" altLang="en-US" dirty="0">
                <a:solidFill>
                  <a:srgbClr val="FF0000"/>
                </a:solidFill>
              </a:rPr>
              <a:t>大量系统</a:t>
            </a:r>
            <a:r>
              <a:rPr lang="zh-CN" altLang="en-US" dirty="0"/>
              <a:t>的更新问题</a:t>
            </a:r>
            <a:endParaRPr lang="en-US" altLang="zh-CN" dirty="0"/>
          </a:p>
          <a:p>
            <a:pPr lvl="1"/>
            <a:r>
              <a:rPr lang="zh-CN" altLang="en-US" dirty="0">
                <a:solidFill>
                  <a:srgbClr val="FF0000"/>
                </a:solidFill>
              </a:rPr>
              <a:t>自动解决包的倚赖性问题</a:t>
            </a:r>
            <a:r>
              <a:rPr lang="zh-CN" altLang="en-US" dirty="0"/>
              <a:t>能更方便的 添加</a:t>
            </a:r>
            <a:r>
              <a:rPr lang="en-US" altLang="zh-CN" dirty="0"/>
              <a:t>/</a:t>
            </a:r>
            <a:r>
              <a:rPr lang="zh-CN" altLang="en-US" dirty="0"/>
              <a:t>删除</a:t>
            </a:r>
            <a:r>
              <a:rPr lang="en-US" altLang="zh-CN" dirty="0"/>
              <a:t>/</a:t>
            </a:r>
            <a:r>
              <a:rPr lang="zh-CN" altLang="en-US" dirty="0"/>
              <a:t>更新 </a:t>
            </a:r>
            <a:r>
              <a:rPr lang="en-US" altLang="zh-CN" dirty="0"/>
              <a:t>RPM</a:t>
            </a:r>
            <a:r>
              <a:rPr lang="zh-CN" altLang="en-US" dirty="0"/>
              <a:t>包</a:t>
            </a:r>
          </a:p>
          <a:p>
            <a:r>
              <a:rPr lang="zh-CN" altLang="en-US" dirty="0"/>
              <a:t>可以同时配置</a:t>
            </a:r>
            <a:r>
              <a:rPr lang="zh-CN" altLang="en-US" dirty="0">
                <a:solidFill>
                  <a:srgbClr val="FF0000"/>
                </a:solidFill>
              </a:rPr>
              <a:t>多个资源库</a:t>
            </a:r>
            <a:r>
              <a:rPr lang="zh-CN" altLang="en-US" dirty="0"/>
              <a:t>（</a:t>
            </a:r>
            <a:r>
              <a:rPr lang="en-US" altLang="zh-CN" dirty="0"/>
              <a:t>Repository</a:t>
            </a:r>
            <a:r>
              <a:rPr lang="zh-CN" altLang="en-US" dirty="0"/>
              <a:t>）</a:t>
            </a:r>
            <a:endParaRPr lang="en-US" altLang="zh-CN" dirty="0"/>
          </a:p>
          <a:p>
            <a:pPr lvl="1"/>
            <a:r>
              <a:rPr lang="zh-CN" altLang="en-US" dirty="0"/>
              <a:t>可以在多个库之间定位软件包</a:t>
            </a:r>
          </a:p>
          <a:p>
            <a:r>
              <a:rPr lang="zh-CN" altLang="en-US" dirty="0">
                <a:solidFill>
                  <a:srgbClr val="FF0000"/>
                </a:solidFill>
              </a:rPr>
              <a:t>简洁的配置文件</a:t>
            </a:r>
            <a:endParaRPr lang="en-US" altLang="zh-CN" dirty="0">
              <a:solidFill>
                <a:srgbClr val="FF0000"/>
              </a:solidFill>
            </a:endParaRPr>
          </a:p>
          <a:p>
            <a:pPr lvl="1"/>
            <a:r>
              <a:rPr lang="en-US" altLang="zh-CN" dirty="0"/>
              <a:t>/etc/</a:t>
            </a:r>
            <a:r>
              <a:rPr lang="en-US" altLang="zh-CN" dirty="0" err="1"/>
              <a:t>yum.conf</a:t>
            </a:r>
            <a:r>
              <a:rPr lang="en-US" altLang="zh-CN" dirty="0"/>
              <a:t> </a:t>
            </a:r>
            <a:r>
              <a:rPr lang="zh-CN" altLang="en-US" dirty="0"/>
              <a:t>和</a:t>
            </a:r>
            <a:r>
              <a:rPr lang="en-US" altLang="zh-CN" dirty="0"/>
              <a:t>/etc/</a:t>
            </a:r>
            <a:r>
              <a:rPr lang="en-US" altLang="zh-CN" dirty="0" err="1"/>
              <a:t>yum.repos.d</a:t>
            </a:r>
            <a:r>
              <a:rPr lang="en-US" altLang="zh-CN" dirty="0"/>
              <a:t>/*.repo</a:t>
            </a:r>
          </a:p>
          <a:p>
            <a:r>
              <a:rPr lang="zh-CN" altLang="en-US" dirty="0"/>
              <a:t>保持</a:t>
            </a:r>
            <a:r>
              <a:rPr lang="zh-CN" altLang="en-US" dirty="0">
                <a:solidFill>
                  <a:srgbClr val="FF0000"/>
                </a:solidFill>
              </a:rPr>
              <a:t>与</a:t>
            </a:r>
            <a:r>
              <a:rPr lang="en-US" altLang="zh-CN" dirty="0">
                <a:solidFill>
                  <a:srgbClr val="FF0000"/>
                </a:solidFill>
              </a:rPr>
              <a:t>RPM</a:t>
            </a:r>
            <a:r>
              <a:rPr lang="zh-CN" altLang="en-US" dirty="0">
                <a:solidFill>
                  <a:srgbClr val="FF0000"/>
                </a:solidFill>
              </a:rPr>
              <a:t>数据库的一致性 </a:t>
            </a:r>
          </a:p>
          <a:p>
            <a:r>
              <a:rPr lang="zh-CN" altLang="en-US" dirty="0"/>
              <a:t>有一个</a:t>
            </a:r>
            <a:r>
              <a:rPr lang="zh-CN" altLang="en-US" dirty="0">
                <a:solidFill>
                  <a:srgbClr val="FF0000"/>
                </a:solidFill>
              </a:rPr>
              <a:t>比较详细的</a:t>
            </a:r>
            <a:r>
              <a:rPr lang="en-US" altLang="zh-CN" dirty="0">
                <a:solidFill>
                  <a:srgbClr val="FF0000"/>
                </a:solidFill>
              </a:rPr>
              <a:t>log</a:t>
            </a:r>
            <a:r>
              <a:rPr lang="zh-CN" altLang="en-US" dirty="0"/>
              <a:t>，可以查看何时升级安装了什么软件包等</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YUM</a:t>
            </a:r>
            <a:r>
              <a:rPr lang="zh-CN" altLang="en-US" dirty="0"/>
              <a:t>组件</a:t>
            </a:r>
          </a:p>
        </p:txBody>
      </p:sp>
      <p:sp>
        <p:nvSpPr>
          <p:cNvPr id="3" name="内容占位符 2"/>
          <p:cNvSpPr>
            <a:spLocks noGrp="1"/>
          </p:cNvSpPr>
          <p:nvPr>
            <p:ph idx="1"/>
          </p:nvPr>
        </p:nvSpPr>
        <p:spPr>
          <a:xfrm>
            <a:off x="1043608" y="1269256"/>
            <a:ext cx="7793037" cy="4862165"/>
          </a:xfrm>
        </p:spPr>
        <p:txBody>
          <a:bodyPr/>
          <a:lstStyle/>
          <a:p>
            <a:pPr>
              <a:spcBef>
                <a:spcPts val="500"/>
              </a:spcBef>
            </a:pPr>
            <a:r>
              <a:rPr lang="en-US" altLang="zh-CN" sz="3000" dirty="0"/>
              <a:t>YUM</a:t>
            </a:r>
            <a:r>
              <a:rPr lang="zh-CN" altLang="en-US" sz="3000" dirty="0">
                <a:solidFill>
                  <a:srgbClr val="FF0000"/>
                </a:solidFill>
              </a:rPr>
              <a:t>命令</a:t>
            </a:r>
          </a:p>
          <a:p>
            <a:pPr lvl="1">
              <a:spcBef>
                <a:spcPts val="500"/>
              </a:spcBef>
            </a:pPr>
            <a:r>
              <a:rPr lang="zh-CN" altLang="en-US" sz="2600" dirty="0"/>
              <a:t>通过</a:t>
            </a:r>
            <a:r>
              <a:rPr lang="en-US" altLang="zh-CN" sz="2600" dirty="0">
                <a:solidFill>
                  <a:srgbClr val="FF0000"/>
                </a:solidFill>
              </a:rPr>
              <a:t>yum</a:t>
            </a:r>
            <a:r>
              <a:rPr lang="zh-CN" altLang="en-US" sz="2600" dirty="0">
                <a:solidFill>
                  <a:srgbClr val="FF0000"/>
                </a:solidFill>
              </a:rPr>
              <a:t>命令</a:t>
            </a:r>
            <a:r>
              <a:rPr lang="zh-CN" altLang="en-US" sz="2600" dirty="0"/>
              <a:t>使用</a:t>
            </a:r>
            <a:r>
              <a:rPr lang="en-US" altLang="zh-CN" sz="2600" dirty="0"/>
              <a:t>YUM</a:t>
            </a:r>
            <a:r>
              <a:rPr lang="zh-CN" altLang="en-US" sz="2600" dirty="0"/>
              <a:t>提供的众多功能</a:t>
            </a:r>
          </a:p>
          <a:p>
            <a:pPr lvl="1">
              <a:spcBef>
                <a:spcPts val="500"/>
              </a:spcBef>
            </a:pPr>
            <a:r>
              <a:rPr lang="zh-CN" altLang="en-US" sz="2600" dirty="0"/>
              <a:t>由名为“</a:t>
            </a:r>
            <a:r>
              <a:rPr lang="en-US" altLang="zh-CN" sz="2600" dirty="0"/>
              <a:t>yum”</a:t>
            </a:r>
            <a:r>
              <a:rPr lang="zh-CN" altLang="en-US" sz="2600" dirty="0"/>
              <a:t>软件包提供（默认已安装）</a:t>
            </a:r>
          </a:p>
          <a:p>
            <a:pPr lvl="1">
              <a:spcBef>
                <a:spcPts val="500"/>
              </a:spcBef>
            </a:pPr>
            <a:r>
              <a:rPr lang="en-US" altLang="zh-CN" sz="2600" dirty="0"/>
              <a:t>YUM</a:t>
            </a:r>
            <a:r>
              <a:rPr lang="zh-CN" altLang="en-US" sz="2600" dirty="0"/>
              <a:t>软件的主页为</a:t>
            </a:r>
            <a:r>
              <a:rPr lang="en-US" altLang="zh-CN" sz="2600" dirty="0"/>
              <a:t>http://linux.duke.edu/yum/</a:t>
            </a:r>
            <a:endParaRPr lang="zh-CN" altLang="en-US" sz="2600" dirty="0"/>
          </a:p>
          <a:p>
            <a:pPr>
              <a:spcBef>
                <a:spcPts val="500"/>
              </a:spcBef>
            </a:pPr>
            <a:r>
              <a:rPr lang="en-US" altLang="zh-CN" sz="3000" dirty="0"/>
              <a:t>YUM</a:t>
            </a:r>
            <a:r>
              <a:rPr lang="zh-CN" altLang="en-US" sz="3000" dirty="0">
                <a:solidFill>
                  <a:srgbClr val="FF0000"/>
                </a:solidFill>
              </a:rPr>
              <a:t>插件</a:t>
            </a:r>
          </a:p>
          <a:p>
            <a:pPr lvl="1">
              <a:spcBef>
                <a:spcPts val="500"/>
              </a:spcBef>
            </a:pPr>
            <a:r>
              <a:rPr lang="zh-CN" altLang="en-US" sz="2600" dirty="0"/>
              <a:t>由官方或第三方开发的</a:t>
            </a:r>
            <a:r>
              <a:rPr lang="en-US" altLang="zh-CN" sz="2600" dirty="0"/>
              <a:t>YUM</a:t>
            </a:r>
            <a:r>
              <a:rPr lang="zh-CN" altLang="en-US" sz="2600" dirty="0"/>
              <a:t>插件用于</a:t>
            </a:r>
            <a:r>
              <a:rPr lang="zh-CN" altLang="en-US" sz="2600" dirty="0">
                <a:solidFill>
                  <a:srgbClr val="FF0000"/>
                </a:solidFill>
              </a:rPr>
              <a:t>扩展</a:t>
            </a:r>
            <a:r>
              <a:rPr lang="en-US" altLang="zh-CN" sz="2600" dirty="0">
                <a:solidFill>
                  <a:srgbClr val="FF0000"/>
                </a:solidFill>
              </a:rPr>
              <a:t>YUM</a:t>
            </a:r>
            <a:r>
              <a:rPr lang="zh-CN" altLang="en-US" sz="2600" dirty="0">
                <a:solidFill>
                  <a:srgbClr val="FF0000"/>
                </a:solidFill>
              </a:rPr>
              <a:t>的功能</a:t>
            </a:r>
          </a:p>
          <a:p>
            <a:pPr lvl="1">
              <a:spcBef>
                <a:spcPts val="500"/>
              </a:spcBef>
            </a:pPr>
            <a:r>
              <a:rPr lang="zh-CN" altLang="en-US" sz="2600" dirty="0"/>
              <a:t>通常由以名为“</a:t>
            </a:r>
            <a:r>
              <a:rPr lang="en-US" altLang="zh-CN" sz="2600" dirty="0">
                <a:solidFill>
                  <a:srgbClr val="FF0000"/>
                </a:solidFill>
              </a:rPr>
              <a:t>yum -&lt;</a:t>
            </a:r>
            <a:r>
              <a:rPr lang="en-US" altLang="zh-CN" sz="2600" dirty="0" err="1">
                <a:solidFill>
                  <a:srgbClr val="FF0000"/>
                </a:solidFill>
              </a:rPr>
              <a:t>pluginname</a:t>
            </a:r>
            <a:r>
              <a:rPr lang="en-US" altLang="zh-CN" sz="2600" dirty="0">
                <a:solidFill>
                  <a:srgbClr val="FF0000"/>
                </a:solidFill>
              </a:rPr>
              <a:t>&gt;”</a:t>
            </a:r>
            <a:r>
              <a:rPr lang="zh-CN" altLang="en-US" sz="2600" dirty="0"/>
              <a:t>的软件包提供</a:t>
            </a:r>
          </a:p>
          <a:p>
            <a:pPr>
              <a:spcBef>
                <a:spcPts val="500"/>
              </a:spcBef>
            </a:pPr>
            <a:r>
              <a:rPr lang="en-US" altLang="zh-CN" sz="3000" dirty="0"/>
              <a:t>YUM</a:t>
            </a:r>
            <a:r>
              <a:rPr lang="zh-CN" altLang="en-US" sz="3000" dirty="0">
                <a:solidFill>
                  <a:srgbClr val="FF0000"/>
                </a:solidFill>
              </a:rPr>
              <a:t>仓库</a:t>
            </a:r>
            <a:endParaRPr lang="en-US" altLang="zh-CN" sz="3000" dirty="0">
              <a:solidFill>
                <a:srgbClr val="FF0000"/>
              </a:solidFill>
            </a:endParaRPr>
          </a:p>
          <a:p>
            <a:pPr>
              <a:spcBef>
                <a:spcPts val="500"/>
              </a:spcBef>
            </a:pPr>
            <a:r>
              <a:rPr lang="en-US" altLang="zh-CN" sz="3000" dirty="0"/>
              <a:t>YUM</a:t>
            </a:r>
            <a:r>
              <a:rPr lang="zh-CN" altLang="en-US" sz="3000" dirty="0">
                <a:solidFill>
                  <a:srgbClr val="FF0000"/>
                </a:solidFill>
              </a:rPr>
              <a:t>缓存</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YUM</a:t>
            </a:r>
            <a:r>
              <a:rPr lang="zh-CN" altLang="en-US" dirty="0"/>
              <a:t>使用流程</a:t>
            </a:r>
          </a:p>
        </p:txBody>
      </p:sp>
      <p:pic>
        <p:nvPicPr>
          <p:cNvPr id="5" name="Picture 2">
            <a:extLst>
              <a:ext uri="{FF2B5EF4-FFF2-40B4-BE49-F238E27FC236}">
                <a16:creationId xmlns:a16="http://schemas.microsoft.com/office/drawing/2014/main" id="{C2E5D2FA-10AA-4FE8-BD55-3385E244DC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29" t="12475" r="4956" b="5776"/>
          <a:stretch/>
        </p:blipFill>
        <p:spPr bwMode="auto">
          <a:xfrm>
            <a:off x="98425" y="1916832"/>
            <a:ext cx="8947150" cy="4032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798004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YUM</a:t>
            </a:r>
            <a:r>
              <a:rPr lang="zh-CN" altLang="en-US" dirty="0"/>
              <a:t>仓库</a:t>
            </a:r>
          </a:p>
        </p:txBody>
      </p:sp>
      <p:sp>
        <p:nvSpPr>
          <p:cNvPr id="3" name="内容占位符 2"/>
          <p:cNvSpPr>
            <a:spLocks noGrp="1"/>
          </p:cNvSpPr>
          <p:nvPr>
            <p:ph idx="1"/>
          </p:nvPr>
        </p:nvSpPr>
        <p:spPr>
          <a:xfrm>
            <a:off x="827584" y="1371600"/>
            <a:ext cx="7772400" cy="4114800"/>
          </a:xfrm>
        </p:spPr>
        <p:txBody>
          <a:bodyPr/>
          <a:lstStyle/>
          <a:p>
            <a:r>
              <a:rPr lang="en-US" altLang="zh-CN" sz="2600" dirty="0">
                <a:solidFill>
                  <a:srgbClr val="FF0000"/>
                </a:solidFill>
              </a:rPr>
              <a:t>YUM</a:t>
            </a:r>
            <a:r>
              <a:rPr lang="zh-CN" altLang="en-US" sz="2600" dirty="0">
                <a:solidFill>
                  <a:srgbClr val="FF0000"/>
                </a:solidFill>
              </a:rPr>
              <a:t>仓库</a:t>
            </a:r>
            <a:r>
              <a:rPr lang="zh-CN" altLang="en-US" sz="2600" dirty="0"/>
              <a:t>（</a:t>
            </a:r>
            <a:r>
              <a:rPr lang="en-US" altLang="zh-CN" sz="2600" dirty="0"/>
              <a:t>repository</a:t>
            </a:r>
            <a:r>
              <a:rPr lang="zh-CN" altLang="en-US" sz="2600" dirty="0"/>
              <a:t>）亦称“</a:t>
            </a:r>
            <a:r>
              <a:rPr lang="zh-CN" altLang="en-US" sz="2600" dirty="0">
                <a:solidFill>
                  <a:srgbClr val="FF0000"/>
                </a:solidFill>
              </a:rPr>
              <a:t>更新源</a:t>
            </a:r>
            <a:r>
              <a:rPr lang="zh-CN" altLang="en-US" sz="2600" dirty="0"/>
              <a:t>”</a:t>
            </a:r>
          </a:p>
          <a:p>
            <a:r>
              <a:rPr lang="zh-CN" altLang="en-US" sz="2600" dirty="0"/>
              <a:t>一个</a:t>
            </a:r>
            <a:r>
              <a:rPr lang="en-US" altLang="zh-CN" sz="2600" dirty="0"/>
              <a:t>YUM</a:t>
            </a:r>
            <a:r>
              <a:rPr lang="zh-CN" altLang="en-US" sz="2600" dirty="0"/>
              <a:t>软件仓库就是一个包含了仓库数据的存放众多</a:t>
            </a:r>
            <a:r>
              <a:rPr lang="en-US" altLang="zh-CN" sz="2600" dirty="0">
                <a:solidFill>
                  <a:srgbClr val="FF0000"/>
                </a:solidFill>
              </a:rPr>
              <a:t>RPM</a:t>
            </a:r>
            <a:r>
              <a:rPr lang="zh-CN" altLang="en-US" sz="2600" dirty="0">
                <a:solidFill>
                  <a:srgbClr val="FF0000"/>
                </a:solidFill>
              </a:rPr>
              <a:t>文件的目录</a:t>
            </a:r>
          </a:p>
          <a:p>
            <a:r>
              <a:rPr lang="en-US" altLang="zh-CN" sz="2600" dirty="0"/>
              <a:t>YUM</a:t>
            </a:r>
            <a:r>
              <a:rPr lang="zh-CN" altLang="en-US" sz="2600" dirty="0"/>
              <a:t>仓库数据通常存放在名为“</a:t>
            </a:r>
            <a:r>
              <a:rPr lang="en-US" altLang="zh-CN" sz="2600" dirty="0" err="1"/>
              <a:t>repodata</a:t>
            </a:r>
            <a:r>
              <a:rPr lang="en-US" altLang="zh-CN" sz="2600" dirty="0"/>
              <a:t>”</a:t>
            </a:r>
            <a:r>
              <a:rPr lang="zh-CN" altLang="en-US" sz="2600" dirty="0"/>
              <a:t>的子目录中</a:t>
            </a:r>
          </a:p>
          <a:p>
            <a:r>
              <a:rPr lang="en-US" altLang="zh-CN" sz="2600" dirty="0"/>
              <a:t>YUM</a:t>
            </a:r>
            <a:r>
              <a:rPr lang="zh-CN" altLang="en-US" sz="2600" dirty="0"/>
              <a:t>客户通过</a:t>
            </a:r>
            <a:r>
              <a:rPr lang="zh-CN" altLang="en-US" sz="2600" dirty="0">
                <a:solidFill>
                  <a:srgbClr val="FF0000"/>
                </a:solidFill>
              </a:rPr>
              <a:t>访问</a:t>
            </a:r>
            <a:r>
              <a:rPr lang="en-US" altLang="zh-CN" sz="2600" dirty="0">
                <a:solidFill>
                  <a:srgbClr val="FF0000"/>
                </a:solidFill>
              </a:rPr>
              <a:t>YUM</a:t>
            </a:r>
            <a:r>
              <a:rPr lang="zh-CN" altLang="en-US" sz="2600" dirty="0">
                <a:solidFill>
                  <a:srgbClr val="FF0000"/>
                </a:solidFill>
              </a:rPr>
              <a:t>仓库数据</a:t>
            </a:r>
            <a:r>
              <a:rPr lang="zh-CN" altLang="en-US" sz="2600" dirty="0"/>
              <a:t>进行分析并完成查询、安装、更新等操作。</a:t>
            </a:r>
          </a:p>
          <a:p>
            <a:pPr lvl="1"/>
            <a:r>
              <a:rPr lang="en-US" altLang="zh-CN" sz="2200" dirty="0"/>
              <a:t>YUM</a:t>
            </a:r>
            <a:r>
              <a:rPr lang="zh-CN" altLang="en-US" sz="2200" dirty="0"/>
              <a:t>客户可以使用</a:t>
            </a:r>
            <a:r>
              <a:rPr lang="en-US" altLang="zh-CN" sz="2200" dirty="0">
                <a:solidFill>
                  <a:srgbClr val="FF0000"/>
                </a:solidFill>
              </a:rPr>
              <a:t>http://</a:t>
            </a:r>
            <a:r>
              <a:rPr lang="zh-CN" altLang="en-US" sz="2200" dirty="0">
                <a:solidFill>
                  <a:srgbClr val="FF0000"/>
                </a:solidFill>
              </a:rPr>
              <a:t>、</a:t>
            </a:r>
            <a:r>
              <a:rPr lang="en-US" altLang="zh-CN" sz="2200" dirty="0">
                <a:solidFill>
                  <a:srgbClr val="FF0000"/>
                </a:solidFill>
              </a:rPr>
              <a:t>ftp:// </a:t>
            </a:r>
            <a:r>
              <a:rPr lang="zh-CN" altLang="en-US" sz="2200" dirty="0">
                <a:solidFill>
                  <a:srgbClr val="FF0000"/>
                </a:solidFill>
              </a:rPr>
              <a:t>或</a:t>
            </a:r>
            <a:r>
              <a:rPr lang="en-US" altLang="zh-CN" sz="2200" dirty="0">
                <a:solidFill>
                  <a:srgbClr val="FF0000"/>
                </a:solidFill>
              </a:rPr>
              <a:t>file://</a:t>
            </a:r>
            <a:r>
              <a:rPr lang="zh-CN" altLang="en-US" sz="2200" dirty="0"/>
              <a:t>（本地文件）协议访问</a:t>
            </a:r>
            <a:r>
              <a:rPr lang="en-US" altLang="zh-CN" sz="2200" dirty="0"/>
              <a:t>YUM</a:t>
            </a:r>
            <a:r>
              <a:rPr lang="zh-CN" altLang="en-US" sz="2200" dirty="0"/>
              <a:t>仓库</a:t>
            </a:r>
          </a:p>
          <a:p>
            <a:pPr lvl="1"/>
            <a:r>
              <a:rPr lang="en-US" altLang="zh-CN" sz="2200" dirty="0"/>
              <a:t>YUM</a:t>
            </a:r>
            <a:r>
              <a:rPr lang="zh-CN" altLang="en-US" sz="2200" dirty="0"/>
              <a:t>客户可以使用</a:t>
            </a:r>
            <a:r>
              <a:rPr lang="zh-CN" altLang="en-US" sz="2200" dirty="0">
                <a:solidFill>
                  <a:srgbClr val="FF0000"/>
                </a:solidFill>
              </a:rPr>
              <a:t>官方和第三方</a:t>
            </a:r>
            <a:r>
              <a:rPr lang="zh-CN" altLang="en-US" sz="2200" dirty="0"/>
              <a:t>提供的众多</a:t>
            </a:r>
            <a:r>
              <a:rPr lang="en-US" altLang="zh-CN" sz="2200" dirty="0"/>
              <a:t>YUM</a:t>
            </a:r>
            <a:r>
              <a:rPr lang="zh-CN" altLang="en-US" sz="2200" dirty="0"/>
              <a:t>仓库更新系统</a:t>
            </a:r>
          </a:p>
          <a:p>
            <a:r>
              <a:rPr lang="en-US" altLang="zh-CN" sz="2600" dirty="0"/>
              <a:t>createrepo</a:t>
            </a:r>
            <a:r>
              <a:rPr lang="zh-CN" altLang="en-US" sz="2600" dirty="0"/>
              <a:t>、</a:t>
            </a:r>
            <a:r>
              <a:rPr lang="en-US" altLang="zh-CN" sz="2600" dirty="0"/>
              <a:t>yum-</a:t>
            </a:r>
            <a:r>
              <a:rPr lang="en-US" altLang="zh-CN" sz="2600" dirty="0" err="1"/>
              <a:t>utils</a:t>
            </a:r>
            <a:r>
              <a:rPr lang="zh-CN" altLang="en-US" sz="2600" dirty="0"/>
              <a:t>等软件包（默认未安装）中提供了</a:t>
            </a:r>
            <a:r>
              <a:rPr lang="en-US" altLang="zh-CN" sz="2600" dirty="0"/>
              <a:t>YUM</a:t>
            </a:r>
            <a:r>
              <a:rPr lang="zh-CN" altLang="en-US" sz="2600" dirty="0"/>
              <a:t>仓库管理工具</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yum</a:t>
            </a:r>
            <a:r>
              <a:rPr lang="zh-CN" altLang="zh-CN" dirty="0"/>
              <a:t>命令语法</a:t>
            </a:r>
            <a:endParaRPr lang="zh-CN" altLang="en-US" dirty="0"/>
          </a:p>
        </p:txBody>
      </p:sp>
      <p:sp>
        <p:nvSpPr>
          <p:cNvPr id="3" name="内容占位符 2"/>
          <p:cNvSpPr>
            <a:spLocks noGrp="1"/>
          </p:cNvSpPr>
          <p:nvPr>
            <p:ph idx="1"/>
          </p:nvPr>
        </p:nvSpPr>
        <p:spPr>
          <a:xfrm>
            <a:off x="717550" y="1484784"/>
            <a:ext cx="8229600" cy="4862165"/>
          </a:xfrm>
        </p:spPr>
        <p:txBody>
          <a:bodyPr/>
          <a:lstStyle/>
          <a:p>
            <a:r>
              <a:rPr lang="en-US" altLang="zh-CN" dirty="0"/>
              <a:t>yum</a:t>
            </a:r>
            <a:r>
              <a:rPr lang="zh-CN" altLang="en-US" dirty="0"/>
              <a:t>是</a:t>
            </a:r>
            <a:r>
              <a:rPr lang="en-US" altLang="zh-CN" dirty="0"/>
              <a:t>YUM</a:t>
            </a:r>
            <a:r>
              <a:rPr lang="zh-CN" altLang="en-US" dirty="0"/>
              <a:t>系统的</a:t>
            </a:r>
            <a:r>
              <a:rPr lang="zh-CN" altLang="en-US" dirty="0">
                <a:solidFill>
                  <a:srgbClr val="FF0000"/>
                </a:solidFill>
              </a:rPr>
              <a:t>字符界面</a:t>
            </a:r>
            <a:r>
              <a:rPr lang="zh-CN" altLang="en-US" dirty="0"/>
              <a:t>管理工具</a:t>
            </a:r>
          </a:p>
          <a:p>
            <a:pPr lvl="1"/>
            <a:r>
              <a:rPr lang="en-US" altLang="zh-CN" dirty="0">
                <a:solidFill>
                  <a:schemeClr val="accent6">
                    <a:lumMod val="75000"/>
                  </a:schemeClr>
                </a:solidFill>
              </a:rPr>
              <a:t>yum  [</a:t>
            </a:r>
            <a:r>
              <a:rPr lang="zh-CN" altLang="en-US" dirty="0">
                <a:solidFill>
                  <a:schemeClr val="accent6">
                    <a:lumMod val="75000"/>
                  </a:schemeClr>
                </a:solidFill>
              </a:rPr>
              <a:t>全局参数</a:t>
            </a:r>
            <a:r>
              <a:rPr lang="en-US" altLang="zh-CN" dirty="0">
                <a:solidFill>
                  <a:schemeClr val="accent6">
                    <a:lumMod val="75000"/>
                  </a:schemeClr>
                </a:solidFill>
              </a:rPr>
              <a:t>] </a:t>
            </a:r>
            <a:r>
              <a:rPr lang="zh-CN" altLang="en-US" dirty="0">
                <a:solidFill>
                  <a:schemeClr val="accent6">
                    <a:lumMod val="75000"/>
                  </a:schemeClr>
                </a:solidFill>
              </a:rPr>
              <a:t>命令 </a:t>
            </a:r>
            <a:r>
              <a:rPr lang="en-US" altLang="zh-CN" dirty="0">
                <a:solidFill>
                  <a:schemeClr val="accent6">
                    <a:lumMod val="75000"/>
                  </a:schemeClr>
                </a:solidFill>
              </a:rPr>
              <a:t>[</a:t>
            </a:r>
            <a:r>
              <a:rPr lang="zh-CN" altLang="en-US" dirty="0">
                <a:solidFill>
                  <a:schemeClr val="accent6">
                    <a:lumMod val="75000"/>
                  </a:schemeClr>
                </a:solidFill>
              </a:rPr>
              <a:t>命令参数</a:t>
            </a:r>
            <a:r>
              <a:rPr lang="en-US" altLang="zh-CN" dirty="0">
                <a:solidFill>
                  <a:schemeClr val="accent6">
                    <a:lumMod val="75000"/>
                  </a:schemeClr>
                </a:solidFill>
              </a:rPr>
              <a:t>]</a:t>
            </a:r>
          </a:p>
          <a:p>
            <a:r>
              <a:rPr lang="zh-CN" altLang="en-US" dirty="0"/>
              <a:t>常用的全局参数</a:t>
            </a:r>
          </a:p>
          <a:p>
            <a:pPr lvl="1">
              <a:lnSpc>
                <a:spcPct val="110000"/>
              </a:lnSpc>
            </a:pPr>
            <a:r>
              <a:rPr lang="en-US" altLang="zh-CN" sz="2400" dirty="0">
                <a:solidFill>
                  <a:srgbClr val="C00000"/>
                </a:solidFill>
              </a:rPr>
              <a:t>-y</a:t>
            </a:r>
            <a:r>
              <a:rPr lang="zh-CN" altLang="en-US" sz="2400" dirty="0"/>
              <a:t>：</a:t>
            </a:r>
            <a:r>
              <a:rPr lang="zh-CN" altLang="en-US" sz="2400" dirty="0">
                <a:solidFill>
                  <a:srgbClr val="FF0000"/>
                </a:solidFill>
              </a:rPr>
              <a:t>自动</a:t>
            </a:r>
            <a:r>
              <a:rPr lang="zh-CN" altLang="en-US" sz="2400" dirty="0"/>
              <a:t>对</a:t>
            </a:r>
            <a:r>
              <a:rPr lang="en-US" altLang="zh-CN" sz="2400" dirty="0"/>
              <a:t>yum</a:t>
            </a:r>
            <a:r>
              <a:rPr lang="zh-CN" altLang="en-US" sz="2400" dirty="0"/>
              <a:t>命令的提问回答“是（</a:t>
            </a:r>
            <a:r>
              <a:rPr lang="en-US" altLang="zh-CN" sz="2400" dirty="0">
                <a:solidFill>
                  <a:srgbClr val="FF0000"/>
                </a:solidFill>
              </a:rPr>
              <a:t>yes</a:t>
            </a:r>
            <a:r>
              <a:rPr lang="zh-CN" altLang="en-US" sz="2400" dirty="0"/>
              <a:t>）”</a:t>
            </a:r>
          </a:p>
          <a:p>
            <a:pPr lvl="1">
              <a:lnSpc>
                <a:spcPct val="110000"/>
              </a:lnSpc>
            </a:pPr>
            <a:r>
              <a:rPr lang="en-US" altLang="zh-CN" sz="2400" dirty="0">
                <a:solidFill>
                  <a:srgbClr val="C00000"/>
                </a:solidFill>
              </a:rPr>
              <a:t>-C</a:t>
            </a:r>
            <a:r>
              <a:rPr lang="zh-CN" altLang="en-US" sz="2400" dirty="0"/>
              <a:t>：只利用本地缓存，</a:t>
            </a:r>
            <a:r>
              <a:rPr lang="zh-CN" altLang="en-US" sz="2400" dirty="0">
                <a:solidFill>
                  <a:srgbClr val="FF0000"/>
                </a:solidFill>
              </a:rPr>
              <a:t>不从远程仓库下载</a:t>
            </a:r>
            <a:r>
              <a:rPr lang="zh-CN" altLang="en-US" sz="2400" dirty="0"/>
              <a:t>文件</a:t>
            </a:r>
          </a:p>
          <a:p>
            <a:pPr lvl="1">
              <a:lnSpc>
                <a:spcPct val="110000"/>
              </a:lnSpc>
            </a:pPr>
            <a:r>
              <a:rPr lang="en-US" altLang="zh-CN" sz="2400" dirty="0">
                <a:solidFill>
                  <a:srgbClr val="C00000"/>
                </a:solidFill>
              </a:rPr>
              <a:t>--</a:t>
            </a:r>
            <a:r>
              <a:rPr lang="en-US" altLang="zh-CN" sz="2400" dirty="0" err="1">
                <a:solidFill>
                  <a:srgbClr val="C00000"/>
                </a:solidFill>
              </a:rPr>
              <a:t>enablerepo</a:t>
            </a:r>
            <a:r>
              <a:rPr lang="en-US" altLang="zh-CN" sz="2400" dirty="0">
                <a:solidFill>
                  <a:srgbClr val="C00000"/>
                </a:solidFill>
              </a:rPr>
              <a:t>=REPO</a:t>
            </a:r>
            <a:r>
              <a:rPr lang="zh-CN" altLang="en-US" sz="2400" dirty="0"/>
              <a:t>：临时</a:t>
            </a:r>
            <a:r>
              <a:rPr lang="zh-CN" altLang="en-US" sz="2400" dirty="0">
                <a:solidFill>
                  <a:srgbClr val="FF0000"/>
                </a:solidFill>
              </a:rPr>
              <a:t>启用指定</a:t>
            </a:r>
            <a:r>
              <a:rPr lang="zh-CN" altLang="en-US" sz="2400" dirty="0"/>
              <a:t>的名为</a:t>
            </a:r>
            <a:r>
              <a:rPr lang="en-US" altLang="zh-CN" sz="2400" dirty="0"/>
              <a:t>REPO</a:t>
            </a:r>
            <a:r>
              <a:rPr lang="zh-CN" altLang="en-US" sz="2400" dirty="0"/>
              <a:t>的</a:t>
            </a:r>
            <a:r>
              <a:rPr lang="zh-CN" altLang="en-US" sz="2400" dirty="0">
                <a:solidFill>
                  <a:srgbClr val="FF0000"/>
                </a:solidFill>
              </a:rPr>
              <a:t>仓库</a:t>
            </a:r>
          </a:p>
          <a:p>
            <a:pPr lvl="1">
              <a:lnSpc>
                <a:spcPct val="110000"/>
              </a:lnSpc>
            </a:pPr>
            <a:r>
              <a:rPr lang="en-US" altLang="zh-CN" sz="2400" dirty="0">
                <a:solidFill>
                  <a:srgbClr val="C00000"/>
                </a:solidFill>
              </a:rPr>
              <a:t>--</a:t>
            </a:r>
            <a:r>
              <a:rPr lang="en-US" altLang="zh-CN" sz="2400" dirty="0" err="1">
                <a:solidFill>
                  <a:srgbClr val="C00000"/>
                </a:solidFill>
              </a:rPr>
              <a:t>disablerepo</a:t>
            </a:r>
            <a:r>
              <a:rPr lang="en-US" altLang="zh-CN" sz="2400" dirty="0">
                <a:solidFill>
                  <a:srgbClr val="C00000"/>
                </a:solidFill>
              </a:rPr>
              <a:t>=REPO</a:t>
            </a:r>
            <a:r>
              <a:rPr lang="zh-CN" altLang="en-US" sz="2400" dirty="0"/>
              <a:t>：临时</a:t>
            </a:r>
            <a:r>
              <a:rPr lang="zh-CN" altLang="en-US" sz="2400" dirty="0">
                <a:solidFill>
                  <a:srgbClr val="FF0000"/>
                </a:solidFill>
              </a:rPr>
              <a:t>禁用指定</a:t>
            </a:r>
            <a:r>
              <a:rPr lang="zh-CN" altLang="en-US" sz="2400" dirty="0"/>
              <a:t>的名为</a:t>
            </a:r>
            <a:r>
              <a:rPr lang="en-US" altLang="zh-CN" sz="2400" dirty="0"/>
              <a:t>REPO</a:t>
            </a:r>
            <a:r>
              <a:rPr lang="zh-CN" altLang="en-US" sz="2400" dirty="0"/>
              <a:t>的</a:t>
            </a:r>
            <a:r>
              <a:rPr lang="zh-CN" altLang="en-US" sz="2400" dirty="0">
                <a:solidFill>
                  <a:srgbClr val="FF0000"/>
                </a:solidFill>
              </a:rPr>
              <a:t>仓库</a:t>
            </a:r>
          </a:p>
          <a:p>
            <a:pPr lvl="1">
              <a:lnSpc>
                <a:spcPct val="110000"/>
              </a:lnSpc>
            </a:pPr>
            <a:r>
              <a:rPr lang="en-US" altLang="zh-CN" sz="2400" dirty="0">
                <a:solidFill>
                  <a:srgbClr val="C00000"/>
                </a:solidFill>
              </a:rPr>
              <a:t>--</a:t>
            </a:r>
            <a:r>
              <a:rPr lang="en-US" altLang="zh-CN" sz="2400" dirty="0" err="1">
                <a:solidFill>
                  <a:srgbClr val="C00000"/>
                </a:solidFill>
              </a:rPr>
              <a:t>installlroot</a:t>
            </a:r>
            <a:r>
              <a:rPr lang="en-US" altLang="zh-CN" sz="2400" dirty="0">
                <a:solidFill>
                  <a:srgbClr val="C00000"/>
                </a:solidFill>
              </a:rPr>
              <a:t>=PATH</a:t>
            </a:r>
            <a:r>
              <a:rPr lang="zh-CN" altLang="en-US" sz="2400" dirty="0"/>
              <a:t>：</a:t>
            </a:r>
            <a:r>
              <a:rPr lang="zh-CN" altLang="en-US" sz="2400" dirty="0">
                <a:solidFill>
                  <a:srgbClr val="FF0000"/>
                </a:solidFill>
              </a:rPr>
              <a:t>指定安装软件时的根目录</a:t>
            </a:r>
            <a:r>
              <a:rPr lang="zh-CN" altLang="en-US" sz="2400" dirty="0"/>
              <a:t>，主要用于为</a:t>
            </a:r>
            <a:r>
              <a:rPr lang="en-US" altLang="zh-CN" sz="2400" dirty="0" err="1"/>
              <a:t>chroot</a:t>
            </a:r>
            <a:r>
              <a:rPr lang="zh-CN" altLang="en-US" sz="2400" dirty="0"/>
              <a:t>环境安装软件</a:t>
            </a:r>
          </a:p>
        </p:txBody>
      </p:sp>
    </p:spTree>
    <p:extLst>
      <p:ext uri="{BB962C8B-B14F-4D97-AF65-F5344CB8AC3E}">
        <p14:creationId xmlns:p14="http://schemas.microsoft.com/office/powerpoint/2010/main" val="117817565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yum </a:t>
            </a:r>
            <a:r>
              <a:rPr lang="zh-CN" altLang="en-US" dirty="0"/>
              <a:t>安装、升级和卸载</a:t>
            </a:r>
          </a:p>
        </p:txBody>
      </p:sp>
      <p:sp>
        <p:nvSpPr>
          <p:cNvPr id="3" name="内容占位符 2"/>
          <p:cNvSpPr>
            <a:spLocks noGrp="1"/>
          </p:cNvSpPr>
          <p:nvPr>
            <p:ph idx="1"/>
          </p:nvPr>
        </p:nvSpPr>
        <p:spPr>
          <a:xfrm>
            <a:off x="687389" y="1484784"/>
            <a:ext cx="8229600" cy="4862165"/>
          </a:xfrm>
        </p:spPr>
        <p:txBody>
          <a:bodyPr/>
          <a:lstStyle/>
          <a:p>
            <a:r>
              <a:rPr lang="en-US" altLang="zh-CN" dirty="0"/>
              <a:t>yum </a:t>
            </a:r>
            <a:r>
              <a:rPr lang="en-US" altLang="zh-CN" dirty="0">
                <a:solidFill>
                  <a:srgbClr val="C00000"/>
                </a:solidFill>
              </a:rPr>
              <a:t>install</a:t>
            </a:r>
            <a:r>
              <a:rPr lang="en-US" altLang="zh-CN" dirty="0"/>
              <a:t> &lt;package&gt; … </a:t>
            </a:r>
          </a:p>
          <a:p>
            <a:r>
              <a:rPr lang="en-US" altLang="zh-CN" dirty="0"/>
              <a:t>yum </a:t>
            </a:r>
            <a:r>
              <a:rPr lang="en-US" altLang="zh-CN" dirty="0" err="1">
                <a:solidFill>
                  <a:srgbClr val="C00000"/>
                </a:solidFill>
              </a:rPr>
              <a:t>localinstall</a:t>
            </a:r>
            <a:r>
              <a:rPr lang="en-US" altLang="zh-CN" dirty="0"/>
              <a:t> &lt;</a:t>
            </a:r>
            <a:r>
              <a:rPr lang="en-US" altLang="zh-CN" dirty="0" err="1"/>
              <a:t>rpmfile</a:t>
            </a:r>
            <a:r>
              <a:rPr lang="en-US" altLang="zh-CN" dirty="0"/>
              <a:t>&gt; … </a:t>
            </a:r>
          </a:p>
          <a:p>
            <a:r>
              <a:rPr lang="en-US" altLang="zh-CN" dirty="0"/>
              <a:t>yum </a:t>
            </a:r>
            <a:r>
              <a:rPr lang="en-US" altLang="zh-CN" dirty="0" err="1">
                <a:solidFill>
                  <a:srgbClr val="C00000"/>
                </a:solidFill>
              </a:rPr>
              <a:t>groupinstall</a:t>
            </a:r>
            <a:r>
              <a:rPr lang="en-US" altLang="zh-CN" dirty="0"/>
              <a:t> &lt;</a:t>
            </a:r>
            <a:r>
              <a:rPr lang="en-US" altLang="zh-CN" dirty="0" err="1"/>
              <a:t>packagegroup</a:t>
            </a:r>
            <a:r>
              <a:rPr lang="en-US" altLang="zh-CN" dirty="0"/>
              <a:t>&gt; … </a:t>
            </a:r>
          </a:p>
          <a:p>
            <a:endParaRPr lang="en-US" altLang="zh-CN" sz="1400" dirty="0"/>
          </a:p>
          <a:p>
            <a:r>
              <a:rPr lang="en-US" altLang="zh-CN" dirty="0"/>
              <a:t>yum </a:t>
            </a:r>
            <a:r>
              <a:rPr lang="en-US" altLang="zh-CN" dirty="0">
                <a:solidFill>
                  <a:srgbClr val="C00000"/>
                </a:solidFill>
              </a:rPr>
              <a:t>update</a:t>
            </a:r>
            <a:r>
              <a:rPr lang="en-US" altLang="zh-CN" dirty="0"/>
              <a:t> [package …]</a:t>
            </a:r>
          </a:p>
          <a:p>
            <a:r>
              <a:rPr lang="en-US" altLang="zh-CN" dirty="0"/>
              <a:t>yum </a:t>
            </a:r>
            <a:r>
              <a:rPr lang="en-US" altLang="zh-CN" dirty="0" err="1">
                <a:solidFill>
                  <a:srgbClr val="C00000"/>
                </a:solidFill>
              </a:rPr>
              <a:t>localupdate</a:t>
            </a:r>
            <a:r>
              <a:rPr lang="en-US" altLang="zh-CN" dirty="0"/>
              <a:t> &lt;</a:t>
            </a:r>
            <a:r>
              <a:rPr lang="en-US" altLang="zh-CN" dirty="0" err="1"/>
              <a:t>rpmfile</a:t>
            </a:r>
            <a:r>
              <a:rPr lang="en-US" altLang="zh-CN" dirty="0"/>
              <a:t>&gt; … </a:t>
            </a:r>
            <a:endParaRPr lang="en-US" altLang="zh-CN" dirty="0">
              <a:solidFill>
                <a:srgbClr val="C00000"/>
              </a:solidFill>
            </a:endParaRPr>
          </a:p>
          <a:p>
            <a:r>
              <a:rPr lang="en-US" altLang="zh-CN" dirty="0"/>
              <a:t>yum </a:t>
            </a:r>
            <a:r>
              <a:rPr lang="en-US" altLang="zh-CN" dirty="0" err="1">
                <a:solidFill>
                  <a:srgbClr val="C00000"/>
                </a:solidFill>
              </a:rPr>
              <a:t>groupupdate</a:t>
            </a:r>
            <a:r>
              <a:rPr lang="en-US" altLang="zh-CN" dirty="0"/>
              <a:t> &lt;</a:t>
            </a:r>
            <a:r>
              <a:rPr lang="en-US" altLang="zh-CN" dirty="0" err="1"/>
              <a:t>packagegroup</a:t>
            </a:r>
            <a:r>
              <a:rPr lang="en-US" altLang="zh-CN" dirty="0"/>
              <a:t>&gt; …</a:t>
            </a:r>
          </a:p>
          <a:p>
            <a:endParaRPr lang="en-US" altLang="zh-CN" sz="1400" dirty="0"/>
          </a:p>
          <a:p>
            <a:r>
              <a:rPr lang="en-US" altLang="zh-CN" dirty="0"/>
              <a:t>yum </a:t>
            </a:r>
            <a:r>
              <a:rPr lang="en-US" altLang="zh-CN" dirty="0">
                <a:solidFill>
                  <a:srgbClr val="C00000"/>
                </a:solidFill>
              </a:rPr>
              <a:t>remove</a:t>
            </a:r>
            <a:r>
              <a:rPr lang="en-US" altLang="zh-CN" dirty="0"/>
              <a:t> &lt;package&gt; … </a:t>
            </a:r>
          </a:p>
          <a:p>
            <a:r>
              <a:rPr lang="en-US" altLang="zh-CN" dirty="0"/>
              <a:t>yum </a:t>
            </a:r>
            <a:r>
              <a:rPr lang="en-US" altLang="zh-CN" dirty="0" err="1">
                <a:solidFill>
                  <a:srgbClr val="C00000"/>
                </a:solidFill>
              </a:rPr>
              <a:t>groupremove</a:t>
            </a:r>
            <a:r>
              <a:rPr lang="en-US" altLang="zh-CN" dirty="0"/>
              <a:t> &lt;</a:t>
            </a:r>
            <a:r>
              <a:rPr lang="en-US" altLang="zh-CN" dirty="0" err="1"/>
              <a:t>packagegroup</a:t>
            </a:r>
            <a:r>
              <a:rPr lang="en-US" altLang="zh-CN" dirty="0"/>
              <a:t>&gt; … </a:t>
            </a:r>
            <a:endParaRPr lang="zh-CN" altLang="en-US" dirty="0"/>
          </a:p>
        </p:txBody>
      </p:sp>
      <p:sp>
        <p:nvSpPr>
          <p:cNvPr id="4" name="矩形 3"/>
          <p:cNvSpPr/>
          <p:nvPr/>
        </p:nvSpPr>
        <p:spPr>
          <a:xfrm>
            <a:off x="7207867" y="2420888"/>
            <a:ext cx="1709122" cy="400110"/>
          </a:xfrm>
          <a:prstGeom prst="rect">
            <a:avLst/>
          </a:prstGeom>
        </p:spPr>
        <p:txBody>
          <a:bodyPr wrap="none">
            <a:spAutoFit/>
          </a:bodyPr>
          <a:lstStyle/>
          <a:p>
            <a:r>
              <a:rPr lang="en-US" altLang="zh-CN" sz="2000" dirty="0"/>
              <a:t>yum </a:t>
            </a:r>
            <a:r>
              <a:rPr lang="en-US" altLang="zh-CN" sz="2000" dirty="0" err="1"/>
              <a:t>grouplist</a:t>
            </a:r>
            <a:endParaRPr lang="zh-CN" altLang="en-US" sz="2000" dirty="0"/>
          </a:p>
        </p:txBody>
      </p:sp>
    </p:spTree>
    <p:extLst>
      <p:ext uri="{BB962C8B-B14F-4D97-AF65-F5344CB8AC3E}">
        <p14:creationId xmlns:p14="http://schemas.microsoft.com/office/powerpoint/2010/main" val="258148297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yum</a:t>
            </a:r>
            <a:r>
              <a:rPr lang="zh-CN" altLang="en-US" dirty="0"/>
              <a:t>查询</a:t>
            </a:r>
          </a:p>
        </p:txBody>
      </p:sp>
      <p:sp>
        <p:nvSpPr>
          <p:cNvPr id="3" name="内容占位符 2"/>
          <p:cNvSpPr>
            <a:spLocks noGrp="1"/>
          </p:cNvSpPr>
          <p:nvPr>
            <p:ph idx="1"/>
          </p:nvPr>
        </p:nvSpPr>
        <p:spPr>
          <a:xfrm>
            <a:off x="971600" y="1244228"/>
            <a:ext cx="7772400" cy="4114800"/>
          </a:xfrm>
        </p:spPr>
        <p:txBody>
          <a:bodyPr/>
          <a:lstStyle/>
          <a:p>
            <a:r>
              <a:rPr lang="en-US" altLang="zh-CN" dirty="0"/>
              <a:t>yum </a:t>
            </a:r>
            <a:r>
              <a:rPr lang="en-US" altLang="zh-CN" dirty="0">
                <a:solidFill>
                  <a:srgbClr val="C00000"/>
                </a:solidFill>
              </a:rPr>
              <a:t>search</a:t>
            </a:r>
            <a:r>
              <a:rPr lang="en-US" altLang="zh-CN" dirty="0"/>
              <a:t> &lt;search-term&gt; </a:t>
            </a:r>
          </a:p>
          <a:p>
            <a:r>
              <a:rPr lang="en-US" altLang="zh-CN" dirty="0"/>
              <a:t>yum </a:t>
            </a:r>
            <a:r>
              <a:rPr lang="en-US" altLang="zh-CN" dirty="0">
                <a:solidFill>
                  <a:srgbClr val="C00000"/>
                </a:solidFill>
              </a:rPr>
              <a:t>list</a:t>
            </a:r>
            <a:r>
              <a:rPr lang="en-US" altLang="zh-CN" dirty="0"/>
              <a:t> [all] [</a:t>
            </a:r>
            <a:r>
              <a:rPr lang="en-US" altLang="zh-CN" dirty="0" err="1"/>
              <a:t>glob_exp</a:t>
            </a:r>
            <a:r>
              <a:rPr lang="en-US" altLang="zh-CN" dirty="0"/>
              <a:t>] [recent] </a:t>
            </a:r>
            <a:r>
              <a:rPr lang="zh-CN" altLang="en-US" dirty="0">
                <a:solidFill>
                  <a:srgbClr val="FF0000"/>
                </a:solidFill>
              </a:rPr>
              <a:t>类似</a:t>
            </a:r>
            <a:r>
              <a:rPr lang="en-US" altLang="zh-CN" dirty="0">
                <a:solidFill>
                  <a:srgbClr val="FF0000"/>
                </a:solidFill>
              </a:rPr>
              <a:t>rpm -</a:t>
            </a:r>
            <a:r>
              <a:rPr lang="en-US" altLang="zh-CN" dirty="0" err="1">
                <a:solidFill>
                  <a:srgbClr val="FF0000"/>
                </a:solidFill>
              </a:rPr>
              <a:t>qai</a:t>
            </a:r>
            <a:endParaRPr lang="en-US" altLang="zh-CN" dirty="0"/>
          </a:p>
          <a:p>
            <a:r>
              <a:rPr lang="en-US" altLang="zh-CN" dirty="0"/>
              <a:t>yum </a:t>
            </a:r>
            <a:r>
              <a:rPr lang="en-US" altLang="zh-CN" dirty="0">
                <a:solidFill>
                  <a:srgbClr val="C00000"/>
                </a:solidFill>
              </a:rPr>
              <a:t>list</a:t>
            </a:r>
            <a:r>
              <a:rPr lang="en-US" altLang="zh-CN" dirty="0"/>
              <a:t> &lt;</a:t>
            </a:r>
            <a:r>
              <a:rPr lang="en-US" altLang="zh-CN" dirty="0" err="1"/>
              <a:t>available|extras|installed|updates</a:t>
            </a:r>
            <a:r>
              <a:rPr lang="en-US" altLang="zh-CN" dirty="0"/>
              <a:t>&gt; [</a:t>
            </a:r>
            <a:r>
              <a:rPr lang="en-US" altLang="zh-CN" dirty="0" err="1"/>
              <a:t>glob_exp</a:t>
            </a:r>
            <a:r>
              <a:rPr lang="en-US" altLang="zh-CN" dirty="0"/>
              <a:t>] </a:t>
            </a:r>
          </a:p>
          <a:p>
            <a:r>
              <a:rPr lang="en-US" altLang="zh-CN" dirty="0"/>
              <a:t>yum </a:t>
            </a:r>
            <a:r>
              <a:rPr lang="en-US" altLang="zh-CN" dirty="0">
                <a:solidFill>
                  <a:srgbClr val="C00000"/>
                </a:solidFill>
              </a:rPr>
              <a:t>info</a:t>
            </a:r>
            <a:r>
              <a:rPr lang="en-US" altLang="zh-CN" dirty="0"/>
              <a:t> &lt;package&gt;  </a:t>
            </a:r>
            <a:r>
              <a:rPr lang="zh-CN" altLang="en-US" dirty="0">
                <a:solidFill>
                  <a:srgbClr val="FF0000"/>
                </a:solidFill>
              </a:rPr>
              <a:t>类似</a:t>
            </a:r>
            <a:r>
              <a:rPr lang="en-US" altLang="zh-CN" dirty="0">
                <a:solidFill>
                  <a:srgbClr val="FF0000"/>
                </a:solidFill>
              </a:rPr>
              <a:t>rpm -</a:t>
            </a:r>
            <a:r>
              <a:rPr lang="en-US" altLang="zh-CN" dirty="0" err="1">
                <a:solidFill>
                  <a:srgbClr val="FF0000"/>
                </a:solidFill>
              </a:rPr>
              <a:t>qai</a:t>
            </a:r>
            <a:endParaRPr lang="en-US" altLang="zh-CN" dirty="0">
              <a:solidFill>
                <a:srgbClr val="FF0000"/>
              </a:solidFill>
            </a:endParaRPr>
          </a:p>
          <a:p>
            <a:r>
              <a:rPr lang="en-US" altLang="zh-CN" dirty="0"/>
              <a:t>yum </a:t>
            </a:r>
            <a:r>
              <a:rPr lang="en-US" altLang="zh-CN" dirty="0" err="1">
                <a:solidFill>
                  <a:srgbClr val="C00000"/>
                </a:solidFill>
              </a:rPr>
              <a:t>grouplist</a:t>
            </a:r>
            <a:r>
              <a:rPr lang="en-US" altLang="zh-CN" dirty="0"/>
              <a:t> &lt;group-wildcard&gt;</a:t>
            </a:r>
          </a:p>
          <a:p>
            <a:r>
              <a:rPr lang="en-US" altLang="zh-CN" dirty="0"/>
              <a:t>yum </a:t>
            </a:r>
            <a:r>
              <a:rPr lang="en-US" altLang="zh-CN" dirty="0" err="1">
                <a:solidFill>
                  <a:srgbClr val="C00000"/>
                </a:solidFill>
              </a:rPr>
              <a:t>groupinfo</a:t>
            </a:r>
            <a:r>
              <a:rPr lang="en-US" altLang="zh-CN" dirty="0"/>
              <a:t> &lt;</a:t>
            </a:r>
            <a:r>
              <a:rPr lang="en-US" altLang="zh-CN" dirty="0" err="1"/>
              <a:t>packagegroup</a:t>
            </a:r>
            <a:r>
              <a:rPr lang="en-US" altLang="zh-CN" dirty="0"/>
              <a:t>&gt;</a:t>
            </a:r>
          </a:p>
          <a:p>
            <a:r>
              <a:rPr lang="en-US" altLang="zh-CN" dirty="0">
                <a:solidFill>
                  <a:srgbClr val="FF0000"/>
                </a:solidFill>
              </a:rPr>
              <a:t>search</a:t>
            </a:r>
            <a:r>
              <a:rPr lang="zh-CN" altLang="en-US" dirty="0">
                <a:solidFill>
                  <a:srgbClr val="FF0000"/>
                </a:solidFill>
              </a:rPr>
              <a:t>查找 </a:t>
            </a:r>
            <a:r>
              <a:rPr lang="en-US" altLang="zh-CN" dirty="0">
                <a:solidFill>
                  <a:srgbClr val="FF0000"/>
                </a:solidFill>
              </a:rPr>
              <a:t>list </a:t>
            </a:r>
            <a:r>
              <a:rPr lang="zh-CN" altLang="en-US" dirty="0">
                <a:solidFill>
                  <a:srgbClr val="FF0000"/>
                </a:solidFill>
              </a:rPr>
              <a:t>列出 </a:t>
            </a:r>
            <a:r>
              <a:rPr lang="en-US" altLang="zh-CN" dirty="0">
                <a:solidFill>
                  <a:srgbClr val="FF0000"/>
                </a:solidFill>
              </a:rPr>
              <a:t>info</a:t>
            </a:r>
            <a:r>
              <a:rPr lang="zh-CN" altLang="en-US" dirty="0">
                <a:solidFill>
                  <a:srgbClr val="FF0000"/>
                </a:solidFill>
              </a:rPr>
              <a:t>信息返回</a:t>
            </a:r>
          </a:p>
        </p:txBody>
      </p:sp>
    </p:spTree>
    <p:extLst>
      <p:ext uri="{BB962C8B-B14F-4D97-AF65-F5344CB8AC3E}">
        <p14:creationId xmlns:p14="http://schemas.microsoft.com/office/powerpoint/2010/main" val="50961755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yum</a:t>
            </a:r>
            <a:r>
              <a:rPr lang="zh-CN" altLang="en-US" dirty="0"/>
              <a:t>查询</a:t>
            </a:r>
          </a:p>
        </p:txBody>
      </p:sp>
      <p:sp>
        <p:nvSpPr>
          <p:cNvPr id="5" name="矩形 4"/>
          <p:cNvSpPr/>
          <p:nvPr/>
        </p:nvSpPr>
        <p:spPr>
          <a:xfrm>
            <a:off x="107504" y="1412776"/>
            <a:ext cx="8839646" cy="5355312"/>
          </a:xfrm>
          <a:prstGeom prst="rect">
            <a:avLst/>
          </a:prstGeom>
        </p:spPr>
        <p:txBody>
          <a:bodyPr wrap="square">
            <a:spAutoFit/>
          </a:bodyPr>
          <a:lstStyle/>
          <a:p>
            <a:r>
              <a:rPr lang="zh-CN" altLang="en-US" dirty="0">
                <a:solidFill>
                  <a:srgbClr val="0000FF"/>
                </a:solidFill>
              </a:rPr>
              <a:t>[xl@localhost ~]$ yum info vsftpd</a:t>
            </a:r>
          </a:p>
          <a:p>
            <a:r>
              <a:rPr lang="zh-CN" altLang="en-US" dirty="0"/>
              <a:t>Loaded plugins: fastestmirror, langpacks</a:t>
            </a:r>
          </a:p>
          <a:p>
            <a:r>
              <a:rPr lang="zh-CN" altLang="en-US" dirty="0"/>
              <a:t>Loading mirror speeds from cached hostfile</a:t>
            </a:r>
          </a:p>
          <a:p>
            <a:r>
              <a:rPr lang="zh-CN" altLang="en-US" dirty="0"/>
              <a:t> * base: mirrors.bupt.edu.cn</a:t>
            </a:r>
          </a:p>
          <a:p>
            <a:r>
              <a:rPr lang="zh-CN" altLang="en-US" dirty="0"/>
              <a:t> * extras: mirrors.qlu.edu.cn</a:t>
            </a:r>
          </a:p>
          <a:p>
            <a:r>
              <a:rPr lang="zh-CN" altLang="en-US" dirty="0"/>
              <a:t> * updates: mirrors.qlu.edu.cn</a:t>
            </a:r>
          </a:p>
          <a:p>
            <a:r>
              <a:rPr lang="zh-CN" altLang="en-US" dirty="0"/>
              <a:t>Installed Packages</a:t>
            </a:r>
          </a:p>
          <a:p>
            <a:r>
              <a:rPr lang="zh-CN" altLang="en-US" dirty="0"/>
              <a:t>Name        : vsftpd</a:t>
            </a:r>
          </a:p>
          <a:p>
            <a:r>
              <a:rPr lang="zh-CN" altLang="en-US" dirty="0"/>
              <a:t>Arch        : x86_64</a:t>
            </a:r>
          </a:p>
          <a:p>
            <a:r>
              <a:rPr lang="zh-CN" altLang="en-US" dirty="0"/>
              <a:t>Version     : 3.0.2</a:t>
            </a:r>
          </a:p>
          <a:p>
            <a:r>
              <a:rPr lang="zh-CN" altLang="en-US" dirty="0"/>
              <a:t>Release     : 29.el7_9</a:t>
            </a:r>
          </a:p>
          <a:p>
            <a:r>
              <a:rPr lang="zh-CN" altLang="en-US" dirty="0"/>
              <a:t>Size        : 353 k</a:t>
            </a:r>
          </a:p>
          <a:p>
            <a:r>
              <a:rPr lang="zh-CN" altLang="en-US" dirty="0"/>
              <a:t>Repo        : installed</a:t>
            </a:r>
          </a:p>
          <a:p>
            <a:r>
              <a:rPr lang="zh-CN" altLang="en-US" dirty="0"/>
              <a:t>From repo   : updates</a:t>
            </a:r>
          </a:p>
          <a:p>
            <a:r>
              <a:rPr lang="zh-CN" altLang="en-US" dirty="0"/>
              <a:t>Summary     : Very Secure Ftp Daemon</a:t>
            </a:r>
          </a:p>
          <a:p>
            <a:r>
              <a:rPr lang="zh-CN" altLang="en-US" dirty="0"/>
              <a:t>URL         : https://security.appspot.com/vsftpd.html</a:t>
            </a:r>
          </a:p>
          <a:p>
            <a:r>
              <a:rPr lang="zh-CN" altLang="en-US" dirty="0"/>
              <a:t>License     : GPLv2 with exceptions</a:t>
            </a:r>
          </a:p>
          <a:p>
            <a:r>
              <a:rPr lang="zh-CN" altLang="en-US" dirty="0"/>
              <a:t>Description : vsftpd is a Very Secure FTP daemon. It was written completely from</a:t>
            </a:r>
          </a:p>
          <a:p>
            <a:r>
              <a:rPr lang="zh-CN" altLang="en-US" dirty="0"/>
              <a:t>            : scratch</a:t>
            </a:r>
            <a:r>
              <a:rPr lang="zh-CN" altLang="en-US" dirty="0" smtClean="0"/>
              <a:t>.</a:t>
            </a:r>
            <a:endParaRPr lang="zh-CN" altLang="en-US" dirty="0"/>
          </a:p>
        </p:txBody>
      </p:sp>
    </p:spTree>
    <p:extLst>
      <p:ext uri="{BB962C8B-B14F-4D97-AF65-F5344CB8AC3E}">
        <p14:creationId xmlns:p14="http://schemas.microsoft.com/office/powerpoint/2010/main" val="145633459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yum</a:t>
            </a:r>
            <a:r>
              <a:rPr lang="zh-CN" altLang="en-US" dirty="0"/>
              <a:t>查询</a:t>
            </a:r>
          </a:p>
        </p:txBody>
      </p:sp>
      <p:sp>
        <p:nvSpPr>
          <p:cNvPr id="5" name="矩形 4"/>
          <p:cNvSpPr/>
          <p:nvPr/>
        </p:nvSpPr>
        <p:spPr>
          <a:xfrm>
            <a:off x="251520" y="1720840"/>
            <a:ext cx="8892480" cy="3416320"/>
          </a:xfrm>
          <a:prstGeom prst="rect">
            <a:avLst/>
          </a:prstGeom>
        </p:spPr>
        <p:txBody>
          <a:bodyPr wrap="square">
            <a:spAutoFit/>
          </a:bodyPr>
          <a:lstStyle/>
          <a:p>
            <a:r>
              <a:rPr lang="zh-CN" altLang="en-US" dirty="0">
                <a:solidFill>
                  <a:srgbClr val="0000FF"/>
                </a:solidFill>
              </a:rPr>
              <a:t>[xl@localhost ~]$ yum search vsftpd</a:t>
            </a:r>
          </a:p>
          <a:p>
            <a:r>
              <a:rPr lang="zh-CN" altLang="en-US" dirty="0"/>
              <a:t>Loaded plugins: fastestmirror, langpacks</a:t>
            </a:r>
          </a:p>
          <a:p>
            <a:r>
              <a:rPr lang="zh-CN" altLang="en-US" dirty="0"/>
              <a:t>Loading mirror speeds from cached hostfile</a:t>
            </a:r>
          </a:p>
          <a:p>
            <a:r>
              <a:rPr lang="zh-CN" altLang="en-US" dirty="0"/>
              <a:t> * base: mirrors.bupt.edu.cn</a:t>
            </a:r>
          </a:p>
          <a:p>
            <a:r>
              <a:rPr lang="zh-CN" altLang="en-US" dirty="0"/>
              <a:t> * extras: mirrors.qlu.edu.cn</a:t>
            </a:r>
          </a:p>
          <a:p>
            <a:r>
              <a:rPr lang="zh-CN" altLang="en-US" dirty="0"/>
              <a:t> * updates: mirrors.qlu.edu.cn</a:t>
            </a:r>
          </a:p>
          <a:p>
            <a:r>
              <a:rPr lang="zh-CN" altLang="en-US" dirty="0"/>
              <a:t>===================================== N/S matched: vsftpd ======================================</a:t>
            </a:r>
          </a:p>
          <a:p>
            <a:r>
              <a:rPr lang="zh-CN" altLang="en-US" dirty="0"/>
              <a:t>vsftpd-sysvinit.x86_64 : SysV initscript for vsftpd daemon</a:t>
            </a:r>
          </a:p>
          <a:p>
            <a:r>
              <a:rPr lang="zh-CN" altLang="en-US" dirty="0"/>
              <a:t>vsftpd.x86_64 : Very Secure Ftp Daemon</a:t>
            </a:r>
          </a:p>
          <a:p>
            <a:endParaRPr lang="zh-CN" altLang="en-US" dirty="0"/>
          </a:p>
          <a:p>
            <a:r>
              <a:rPr lang="zh-CN" altLang="en-US" dirty="0"/>
              <a:t>  Name and summary matches only, use "search all" for everything</a:t>
            </a:r>
            <a:r>
              <a:rPr lang="zh-CN" altLang="en-US" dirty="0" smtClean="0"/>
              <a:t>.</a:t>
            </a:r>
            <a:endParaRPr lang="zh-CN" altLang="en-US" dirty="0"/>
          </a:p>
        </p:txBody>
      </p:sp>
    </p:spTree>
    <p:extLst>
      <p:ext uri="{BB962C8B-B14F-4D97-AF65-F5344CB8AC3E}">
        <p14:creationId xmlns:p14="http://schemas.microsoft.com/office/powerpoint/2010/main" val="194780351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yum</a:t>
            </a:r>
            <a:r>
              <a:rPr lang="zh-CN" altLang="en-US" dirty="0"/>
              <a:t>查询</a:t>
            </a:r>
          </a:p>
        </p:txBody>
      </p:sp>
      <p:sp>
        <p:nvSpPr>
          <p:cNvPr id="5" name="矩形 4"/>
          <p:cNvSpPr/>
          <p:nvPr/>
        </p:nvSpPr>
        <p:spPr>
          <a:xfrm>
            <a:off x="107504" y="1844824"/>
            <a:ext cx="8928992" cy="2585323"/>
          </a:xfrm>
          <a:prstGeom prst="rect">
            <a:avLst/>
          </a:prstGeom>
        </p:spPr>
        <p:txBody>
          <a:bodyPr wrap="square">
            <a:spAutoFit/>
          </a:bodyPr>
          <a:lstStyle/>
          <a:p>
            <a:r>
              <a:rPr lang="zh-CN" altLang="en-US" dirty="0">
                <a:solidFill>
                  <a:srgbClr val="0000FF"/>
                </a:solidFill>
              </a:rPr>
              <a:t>[xl@localhost ~]$ yum list vsftpd</a:t>
            </a:r>
          </a:p>
          <a:p>
            <a:r>
              <a:rPr lang="zh-CN" altLang="en-US" dirty="0"/>
              <a:t>Loaded plugins: fastestmirror, langpacks</a:t>
            </a:r>
          </a:p>
          <a:p>
            <a:r>
              <a:rPr lang="zh-CN" altLang="en-US" dirty="0"/>
              <a:t>Loading mirror speeds from cached hostfile</a:t>
            </a:r>
          </a:p>
          <a:p>
            <a:r>
              <a:rPr lang="zh-CN" altLang="en-US" dirty="0"/>
              <a:t> * base: mirrors.bupt.edu.cn</a:t>
            </a:r>
          </a:p>
          <a:p>
            <a:r>
              <a:rPr lang="zh-CN" altLang="en-US" dirty="0"/>
              <a:t> * extras: mirrors.qlu.edu.cn</a:t>
            </a:r>
          </a:p>
          <a:p>
            <a:r>
              <a:rPr lang="zh-CN" altLang="en-US" dirty="0"/>
              <a:t> * updates: mirrors.qlu.edu.cn</a:t>
            </a:r>
          </a:p>
          <a:p>
            <a:r>
              <a:rPr lang="zh-CN" altLang="en-US" dirty="0"/>
              <a:t>Installed Packages</a:t>
            </a:r>
          </a:p>
          <a:p>
            <a:r>
              <a:rPr lang="zh-CN" altLang="en-US" dirty="0"/>
              <a:t>vsftpd.x86_64                              3.0.2-29.el7_9                               @updates</a:t>
            </a:r>
          </a:p>
          <a:p>
            <a:r>
              <a:rPr lang="zh-CN" altLang="en-US" dirty="0">
                <a:solidFill>
                  <a:srgbClr val="0000FF"/>
                </a:solidFill>
              </a:rPr>
              <a:t>[xl@localhost ~]$</a:t>
            </a:r>
          </a:p>
        </p:txBody>
      </p:sp>
    </p:spTree>
    <p:extLst>
      <p:ext uri="{BB962C8B-B14F-4D97-AF65-F5344CB8AC3E}">
        <p14:creationId xmlns:p14="http://schemas.microsoft.com/office/powerpoint/2010/main" val="64078045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yum</a:t>
            </a:r>
            <a:r>
              <a:rPr lang="zh-CN" altLang="en-US" dirty="0"/>
              <a:t>的更多用法</a:t>
            </a:r>
          </a:p>
        </p:txBody>
      </p:sp>
      <p:sp>
        <p:nvSpPr>
          <p:cNvPr id="3" name="内容占位符 2"/>
          <p:cNvSpPr>
            <a:spLocks noGrp="1"/>
          </p:cNvSpPr>
          <p:nvPr>
            <p:ph idx="1"/>
          </p:nvPr>
        </p:nvSpPr>
        <p:spPr>
          <a:xfrm>
            <a:off x="971600" y="1628800"/>
            <a:ext cx="7772400" cy="4114800"/>
          </a:xfrm>
        </p:spPr>
        <p:txBody>
          <a:bodyPr/>
          <a:lstStyle/>
          <a:p>
            <a:r>
              <a:rPr lang="zh-CN" altLang="en-US" dirty="0"/>
              <a:t>检查</a:t>
            </a:r>
            <a:r>
              <a:rPr lang="zh-CN" altLang="en-US" dirty="0">
                <a:solidFill>
                  <a:srgbClr val="FF0000"/>
                </a:solidFill>
              </a:rPr>
              <a:t>可更新</a:t>
            </a:r>
            <a:r>
              <a:rPr lang="zh-CN" altLang="en-US" dirty="0"/>
              <a:t>的所有软件包 </a:t>
            </a:r>
          </a:p>
          <a:p>
            <a:pPr lvl="1"/>
            <a:r>
              <a:rPr lang="en-US" altLang="zh-CN" dirty="0">
                <a:solidFill>
                  <a:schemeClr val="accent6">
                    <a:lumMod val="75000"/>
                  </a:schemeClr>
                </a:solidFill>
              </a:rPr>
              <a:t>yum check-update </a:t>
            </a:r>
          </a:p>
          <a:p>
            <a:r>
              <a:rPr lang="zh-CN" altLang="en-US" dirty="0">
                <a:solidFill>
                  <a:srgbClr val="FF0000"/>
                </a:solidFill>
              </a:rPr>
              <a:t>清除</a:t>
            </a:r>
            <a:r>
              <a:rPr lang="zh-CN" altLang="en-US" dirty="0"/>
              <a:t>缓存中的</a:t>
            </a:r>
            <a:r>
              <a:rPr lang="en-US" altLang="zh-CN" dirty="0"/>
              <a:t>rpm</a:t>
            </a:r>
            <a:r>
              <a:rPr lang="zh-CN" altLang="en-US" dirty="0"/>
              <a:t>头文件和包文件 </a:t>
            </a:r>
            <a:endParaRPr lang="en-US" altLang="zh-CN" dirty="0"/>
          </a:p>
          <a:p>
            <a:pPr lvl="1"/>
            <a:r>
              <a:rPr lang="zh-CN" altLang="en-US" dirty="0">
                <a:solidFill>
                  <a:srgbClr val="FF0000"/>
                </a:solidFill>
              </a:rPr>
              <a:t>类似</a:t>
            </a:r>
            <a:r>
              <a:rPr lang="en-US" altLang="zh-CN" dirty="0">
                <a:solidFill>
                  <a:srgbClr val="FF0000"/>
                </a:solidFill>
              </a:rPr>
              <a:t>rpm -</a:t>
            </a:r>
            <a:r>
              <a:rPr lang="en-US" altLang="zh-CN" dirty="0" err="1">
                <a:solidFill>
                  <a:srgbClr val="FF0000"/>
                </a:solidFill>
              </a:rPr>
              <a:t>qf</a:t>
            </a:r>
            <a:r>
              <a:rPr lang="zh-CN" altLang="en-US" dirty="0">
                <a:solidFill>
                  <a:srgbClr val="FF0000"/>
                </a:solidFill>
              </a:rPr>
              <a:t> </a:t>
            </a:r>
          </a:p>
          <a:p>
            <a:pPr lvl="1"/>
            <a:r>
              <a:rPr lang="en-US" altLang="zh-CN" dirty="0">
                <a:solidFill>
                  <a:schemeClr val="accent6">
                    <a:lumMod val="75000"/>
                  </a:schemeClr>
                </a:solidFill>
              </a:rPr>
              <a:t>yum clean all </a:t>
            </a:r>
          </a:p>
          <a:p>
            <a:r>
              <a:rPr lang="zh-CN" altLang="en-US" dirty="0"/>
              <a:t>显示软件包的</a:t>
            </a:r>
            <a:r>
              <a:rPr lang="zh-CN" altLang="en-US" dirty="0">
                <a:solidFill>
                  <a:srgbClr val="FF0000"/>
                </a:solidFill>
              </a:rPr>
              <a:t>依赖信息</a:t>
            </a:r>
          </a:p>
          <a:p>
            <a:pPr lvl="1"/>
            <a:r>
              <a:rPr lang="en-US" altLang="zh-CN" dirty="0">
                <a:solidFill>
                  <a:schemeClr val="accent6">
                    <a:lumMod val="75000"/>
                  </a:schemeClr>
                </a:solidFill>
              </a:rPr>
              <a:t>yum </a:t>
            </a:r>
            <a:r>
              <a:rPr lang="en-US" altLang="zh-CN" dirty="0" err="1">
                <a:solidFill>
                  <a:schemeClr val="accent6">
                    <a:lumMod val="75000"/>
                  </a:schemeClr>
                </a:solidFill>
              </a:rPr>
              <a:t>deplist</a:t>
            </a:r>
            <a:r>
              <a:rPr lang="en-US" altLang="zh-CN" dirty="0">
                <a:solidFill>
                  <a:schemeClr val="accent6">
                    <a:lumMod val="75000"/>
                  </a:schemeClr>
                </a:solidFill>
              </a:rPr>
              <a:t> &lt;packages&gt; </a:t>
            </a:r>
          </a:p>
          <a:p>
            <a:r>
              <a:rPr lang="zh-CN" altLang="en-US" dirty="0"/>
              <a:t>搜索文件 </a:t>
            </a:r>
          </a:p>
          <a:p>
            <a:pPr lvl="1"/>
            <a:r>
              <a:rPr lang="en-US" altLang="zh-CN" dirty="0">
                <a:solidFill>
                  <a:schemeClr val="accent6">
                    <a:lumMod val="75000"/>
                  </a:schemeClr>
                </a:solidFill>
              </a:rPr>
              <a:t>yum provides &lt;filename&gt;</a:t>
            </a:r>
            <a:endParaRPr lang="zh-CN" altLang="en-US" dirty="0">
              <a:solidFill>
                <a:schemeClr val="accent6">
                  <a:lumMod val="75000"/>
                </a:schemeClr>
              </a:solidFill>
            </a:endParaRPr>
          </a:p>
        </p:txBody>
      </p:sp>
    </p:spTree>
    <p:extLst>
      <p:ext uri="{BB962C8B-B14F-4D97-AF65-F5344CB8AC3E}">
        <p14:creationId xmlns:p14="http://schemas.microsoft.com/office/powerpoint/2010/main" val="38478285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7810375" cy="1052513"/>
          </a:xfrm>
        </p:spPr>
        <p:txBody>
          <a:bodyPr/>
          <a:lstStyle/>
          <a:p>
            <a:r>
              <a:rPr lang="en-US" altLang="zh-CN" dirty="0"/>
              <a:t>YUM</a:t>
            </a:r>
            <a:r>
              <a:rPr lang="zh-CN" altLang="en-US" dirty="0"/>
              <a:t>主配置文件</a:t>
            </a:r>
            <a:r>
              <a:rPr lang="en-US" altLang="zh-CN" dirty="0"/>
              <a:t>/etc/</a:t>
            </a:r>
            <a:r>
              <a:rPr lang="en-US" altLang="zh-CN" dirty="0" err="1"/>
              <a:t>yum.conf</a:t>
            </a:r>
            <a:endParaRPr lang="zh-CN" altLang="en-US" dirty="0"/>
          </a:p>
        </p:txBody>
      </p:sp>
      <p:sp>
        <p:nvSpPr>
          <p:cNvPr id="3" name="内容占位符 2"/>
          <p:cNvSpPr>
            <a:spLocks noGrp="1"/>
          </p:cNvSpPr>
          <p:nvPr>
            <p:ph idx="1"/>
          </p:nvPr>
        </p:nvSpPr>
        <p:spPr>
          <a:xfrm>
            <a:off x="120080" y="1457400"/>
            <a:ext cx="8903840" cy="5208885"/>
          </a:xfrm>
          <a:solidFill>
            <a:schemeClr val="accent2">
              <a:lumMod val="60000"/>
              <a:lumOff val="40000"/>
            </a:schemeClr>
          </a:solidFill>
        </p:spPr>
        <p:txBody>
          <a:bodyPr/>
          <a:lstStyle/>
          <a:p>
            <a:pPr>
              <a:buNone/>
            </a:pPr>
            <a:r>
              <a:rPr lang="en-US" altLang="zh-CN" sz="2000" dirty="0"/>
              <a:t>[main]</a:t>
            </a:r>
          </a:p>
          <a:p>
            <a:pPr>
              <a:buNone/>
            </a:pPr>
            <a:r>
              <a:rPr lang="en-US" altLang="zh-CN" sz="2000" dirty="0" err="1"/>
              <a:t>cachedir</a:t>
            </a:r>
            <a:r>
              <a:rPr lang="en-US" altLang="zh-CN" sz="2000" dirty="0"/>
              <a:t>=/</a:t>
            </a:r>
            <a:r>
              <a:rPr lang="en-US" altLang="zh-CN" sz="2000" dirty="0" err="1"/>
              <a:t>var</a:t>
            </a:r>
            <a:r>
              <a:rPr lang="en-US" altLang="zh-CN" sz="2000" dirty="0"/>
              <a:t>/cache/yum	# </a:t>
            </a:r>
            <a:r>
              <a:rPr lang="zh-CN" altLang="en-US" sz="2000" dirty="0">
                <a:solidFill>
                  <a:srgbClr val="FF0000"/>
                </a:solidFill>
              </a:rPr>
              <a:t>指定</a:t>
            </a:r>
            <a:r>
              <a:rPr lang="en-US" altLang="zh-CN" sz="2000" dirty="0">
                <a:solidFill>
                  <a:srgbClr val="FF0000"/>
                </a:solidFill>
              </a:rPr>
              <a:t>YUM</a:t>
            </a:r>
            <a:r>
              <a:rPr lang="zh-CN" altLang="en-US" sz="2000" dirty="0">
                <a:solidFill>
                  <a:srgbClr val="FF0000"/>
                </a:solidFill>
              </a:rPr>
              <a:t>缓存目录</a:t>
            </a:r>
          </a:p>
          <a:p>
            <a:pPr>
              <a:buNone/>
            </a:pPr>
            <a:r>
              <a:rPr lang="en-US" altLang="zh-CN" sz="2000" dirty="0" err="1"/>
              <a:t>keepcache</a:t>
            </a:r>
            <a:r>
              <a:rPr lang="en-US" altLang="zh-CN" sz="2000" dirty="0"/>
              <a:t>=0	# </a:t>
            </a:r>
            <a:r>
              <a:rPr lang="zh-CN" altLang="en-US" sz="2000" dirty="0"/>
              <a:t>是否保持缓存（包括仓库数据和</a:t>
            </a:r>
            <a:r>
              <a:rPr lang="en-US" altLang="zh-CN" sz="2000" dirty="0"/>
              <a:t>RPM</a:t>
            </a:r>
            <a:r>
              <a:rPr lang="zh-CN" altLang="en-US" sz="2000" dirty="0"/>
              <a:t>），</a:t>
            </a:r>
            <a:r>
              <a:rPr lang="en-US" altLang="zh-CN" sz="2000" dirty="0"/>
              <a:t>1</a:t>
            </a:r>
            <a:r>
              <a:rPr lang="zh-CN" altLang="en-US" sz="2000" dirty="0"/>
              <a:t>保存，</a:t>
            </a:r>
            <a:r>
              <a:rPr lang="en-US" altLang="zh-CN" sz="2000" dirty="0"/>
              <a:t>0</a:t>
            </a:r>
            <a:r>
              <a:rPr lang="zh-CN" altLang="en-US" sz="2000" dirty="0"/>
              <a:t>不保存</a:t>
            </a:r>
          </a:p>
          <a:p>
            <a:pPr>
              <a:buNone/>
            </a:pPr>
            <a:r>
              <a:rPr lang="en-US" altLang="zh-CN" sz="2000" dirty="0" err="1"/>
              <a:t>debuglevel</a:t>
            </a:r>
            <a:r>
              <a:rPr lang="en-US" altLang="zh-CN" sz="2000" dirty="0"/>
              <a:t>=2	# </a:t>
            </a:r>
            <a:r>
              <a:rPr lang="zh-CN" altLang="en-US" sz="2000" dirty="0"/>
              <a:t>设置</a:t>
            </a:r>
            <a:r>
              <a:rPr lang="zh-CN" altLang="en-US" sz="2000" dirty="0">
                <a:solidFill>
                  <a:srgbClr val="FF0000"/>
                </a:solidFill>
              </a:rPr>
              <a:t>日志记录等级</a:t>
            </a:r>
            <a:r>
              <a:rPr lang="en-US" altLang="zh-CN" sz="2000" dirty="0">
                <a:solidFill>
                  <a:srgbClr val="FF0000"/>
                </a:solidFill>
              </a:rPr>
              <a:t>(0-10)</a:t>
            </a:r>
            <a:r>
              <a:rPr lang="zh-CN" altLang="en-US" sz="2000" dirty="0"/>
              <a:t>，数值越高记录的信息越多</a:t>
            </a:r>
          </a:p>
          <a:p>
            <a:pPr>
              <a:buNone/>
            </a:pPr>
            <a:r>
              <a:rPr lang="en-US" altLang="zh-CN" sz="2000" dirty="0"/>
              <a:t>logfile=/var/log/yum.log	# </a:t>
            </a:r>
            <a:r>
              <a:rPr lang="zh-CN" altLang="en-US" sz="2000" dirty="0"/>
              <a:t>设置</a:t>
            </a:r>
            <a:r>
              <a:rPr lang="zh-CN" altLang="en-US" sz="2000" dirty="0">
                <a:solidFill>
                  <a:srgbClr val="FF0000"/>
                </a:solidFill>
              </a:rPr>
              <a:t>日志文件路径</a:t>
            </a:r>
          </a:p>
          <a:p>
            <a:pPr>
              <a:buNone/>
            </a:pPr>
            <a:r>
              <a:rPr lang="en-US" altLang="zh-CN" sz="2000" dirty="0" err="1"/>
              <a:t>distroverpkg</a:t>
            </a:r>
            <a:r>
              <a:rPr lang="en-US" altLang="zh-CN" sz="2000" dirty="0"/>
              <a:t>=</a:t>
            </a:r>
            <a:r>
              <a:rPr lang="en-US" altLang="zh-CN" sz="2000" dirty="0" err="1"/>
              <a:t>redhat</a:t>
            </a:r>
            <a:r>
              <a:rPr lang="en-US" altLang="zh-CN" sz="2000" dirty="0"/>
              <a:t>-release# </a:t>
            </a:r>
            <a:r>
              <a:rPr lang="zh-CN" altLang="en-US" sz="2000" dirty="0"/>
              <a:t>指定发行版本的软件包名称</a:t>
            </a:r>
          </a:p>
          <a:p>
            <a:pPr>
              <a:buNone/>
            </a:pPr>
            <a:r>
              <a:rPr lang="en-US" altLang="zh-CN" sz="2000" dirty="0"/>
              <a:t>tolerant=1	# </a:t>
            </a:r>
            <a:r>
              <a:rPr lang="zh-CN" altLang="en-US" sz="2000" dirty="0"/>
              <a:t>允许</a:t>
            </a:r>
            <a:r>
              <a:rPr lang="en-US" altLang="zh-CN" sz="2000" dirty="0"/>
              <a:t>yum</a:t>
            </a:r>
            <a:r>
              <a:rPr lang="zh-CN" altLang="en-US" sz="2000" dirty="0"/>
              <a:t>在出现错误时继续运行，比如不需要更新的程序包</a:t>
            </a:r>
          </a:p>
          <a:p>
            <a:pPr>
              <a:buNone/>
            </a:pPr>
            <a:r>
              <a:rPr lang="en-US" altLang="zh-CN" sz="2000" dirty="0" err="1"/>
              <a:t>exactarch</a:t>
            </a:r>
            <a:r>
              <a:rPr lang="en-US" altLang="zh-CN" sz="2000" dirty="0"/>
              <a:t>=1	# </a:t>
            </a:r>
            <a:r>
              <a:rPr lang="zh-CN" altLang="en-US" sz="2000" dirty="0"/>
              <a:t>更新时不允许更新不同版本的</a:t>
            </a:r>
            <a:r>
              <a:rPr lang="en-US" altLang="zh-CN" sz="2000" dirty="0"/>
              <a:t>RPM</a:t>
            </a:r>
            <a:r>
              <a:rPr lang="zh-CN" altLang="en-US" sz="2000" dirty="0"/>
              <a:t>包</a:t>
            </a:r>
          </a:p>
          <a:p>
            <a:pPr>
              <a:buNone/>
            </a:pPr>
            <a:r>
              <a:rPr lang="en-US" altLang="zh-CN" sz="2000" dirty="0"/>
              <a:t>obsoletes=1	# </a:t>
            </a:r>
            <a:r>
              <a:rPr lang="zh-CN" altLang="en-US" sz="2000" dirty="0"/>
              <a:t>相当于</a:t>
            </a:r>
            <a:r>
              <a:rPr lang="en-US" altLang="zh-CN" sz="2000" dirty="0"/>
              <a:t>upgrade</a:t>
            </a:r>
            <a:r>
              <a:rPr lang="zh-CN" altLang="en-US" sz="2000" dirty="0"/>
              <a:t>，允许更新陈旧的</a:t>
            </a:r>
            <a:r>
              <a:rPr lang="en-US" altLang="zh-CN" sz="2000" dirty="0"/>
              <a:t>RPM</a:t>
            </a:r>
            <a:r>
              <a:rPr lang="zh-CN" altLang="en-US" sz="2000" dirty="0"/>
              <a:t>包</a:t>
            </a:r>
          </a:p>
          <a:p>
            <a:pPr>
              <a:buNone/>
            </a:pPr>
            <a:r>
              <a:rPr lang="en-US" altLang="zh-CN" sz="2000" dirty="0" err="1"/>
              <a:t>gpgcheck</a:t>
            </a:r>
            <a:r>
              <a:rPr lang="en-US" altLang="zh-CN" sz="2000" dirty="0"/>
              <a:t>=1	# </a:t>
            </a:r>
            <a:r>
              <a:rPr lang="zh-CN" altLang="en-US" sz="2000" dirty="0"/>
              <a:t>校验软件包的</a:t>
            </a:r>
            <a:r>
              <a:rPr lang="en-US" altLang="zh-CN" sz="2000" dirty="0"/>
              <a:t>GPG</a:t>
            </a:r>
            <a:r>
              <a:rPr lang="zh-CN" altLang="en-US" sz="2000" dirty="0"/>
              <a:t>签名</a:t>
            </a:r>
          </a:p>
          <a:p>
            <a:pPr>
              <a:buNone/>
            </a:pPr>
            <a:r>
              <a:rPr lang="en-US" altLang="zh-CN" sz="2000" dirty="0"/>
              <a:t>plugins=1		# </a:t>
            </a:r>
            <a:r>
              <a:rPr lang="zh-CN" altLang="en-US" sz="2000" dirty="0"/>
              <a:t>默认开启</a:t>
            </a:r>
            <a:r>
              <a:rPr lang="en-US" altLang="zh-CN" sz="2000" dirty="0"/>
              <a:t>YUM</a:t>
            </a:r>
            <a:r>
              <a:rPr lang="zh-CN" altLang="en-US" sz="2000" dirty="0"/>
              <a:t>的插件使用</a:t>
            </a:r>
          </a:p>
          <a:p>
            <a:pPr>
              <a:buNone/>
            </a:pPr>
            <a:r>
              <a:rPr lang="en-US" altLang="zh-CN" sz="2000" dirty="0" err="1"/>
              <a:t>metadata_expire</a:t>
            </a:r>
            <a:r>
              <a:rPr lang="en-US" altLang="zh-CN" sz="2000" dirty="0"/>
              <a:t>=1h	# </a:t>
            </a:r>
            <a:r>
              <a:rPr lang="zh-CN" altLang="en-US" sz="2000" dirty="0"/>
              <a:t>设置仓库数据的失效时间为</a:t>
            </a:r>
            <a:r>
              <a:rPr lang="en-US" altLang="zh-CN" sz="2000" dirty="0"/>
              <a:t>1</a:t>
            </a:r>
            <a:r>
              <a:rPr lang="zh-CN" altLang="en-US" sz="2000" dirty="0"/>
              <a:t>小时</a:t>
            </a:r>
          </a:p>
          <a:p>
            <a:pPr>
              <a:buNone/>
            </a:pPr>
            <a:r>
              <a:rPr lang="en-US" altLang="zh-CN" sz="2000" dirty="0" err="1"/>
              <a:t>installonly_limit</a:t>
            </a:r>
            <a:r>
              <a:rPr lang="en-US" altLang="zh-CN" sz="2000" dirty="0"/>
              <a:t> = 5	# </a:t>
            </a:r>
            <a:r>
              <a:rPr lang="zh-CN" altLang="en-US" sz="2000" dirty="0"/>
              <a:t>允许保留多少个内核包</a:t>
            </a:r>
          </a:p>
          <a:p>
            <a:pPr>
              <a:buNone/>
            </a:pPr>
            <a:r>
              <a:rPr lang="en-US" altLang="zh-CN" sz="2000" dirty="0" err="1"/>
              <a:t>reposdir</a:t>
            </a:r>
            <a:r>
              <a:rPr lang="en-US" altLang="zh-CN" sz="2000" dirty="0"/>
              <a:t> = /etc/</a:t>
            </a:r>
            <a:r>
              <a:rPr lang="en-US" altLang="zh-CN" sz="2000" dirty="0" err="1"/>
              <a:t>yum.repos.d</a:t>
            </a:r>
            <a:r>
              <a:rPr lang="en-US" altLang="zh-CN" sz="2000" dirty="0"/>
              <a:t>	# </a:t>
            </a:r>
            <a:r>
              <a:rPr lang="zh-CN" altLang="en-US" sz="2000" dirty="0"/>
              <a:t>指定</a:t>
            </a:r>
            <a:r>
              <a:rPr lang="zh-CN" altLang="en-US" sz="2000" dirty="0">
                <a:solidFill>
                  <a:srgbClr val="FF0000"/>
                </a:solidFill>
              </a:rPr>
              <a:t>仓库配置文件的目录</a:t>
            </a:r>
            <a:r>
              <a:rPr lang="zh-CN" altLang="en-US" sz="2000" dirty="0"/>
              <a:t>，此为默认值</a:t>
            </a:r>
            <a:endParaRPr lang="zh-CN" altLang="en-US" sz="14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7793037" cy="1052513"/>
          </a:xfrm>
        </p:spPr>
        <p:txBody>
          <a:bodyPr/>
          <a:lstStyle/>
          <a:p>
            <a:r>
              <a:rPr lang="zh-CN" altLang="en-US" dirty="0"/>
              <a:t>仓库配置</a:t>
            </a:r>
            <a:r>
              <a:rPr lang="en-US" altLang="zh-CN" dirty="0"/>
              <a:t>/etc/</a:t>
            </a:r>
            <a:r>
              <a:rPr lang="en-US" altLang="zh-CN" dirty="0" err="1"/>
              <a:t>yum.repos.d</a:t>
            </a:r>
            <a:r>
              <a:rPr lang="en-US" altLang="zh-CN" dirty="0"/>
              <a:t>/</a:t>
            </a:r>
            <a:r>
              <a:rPr lang="en-US" altLang="zh-CN" b="1" dirty="0"/>
              <a:t>*</a:t>
            </a:r>
            <a:r>
              <a:rPr lang="en-US" altLang="zh-CN" dirty="0"/>
              <a:t>.repo</a:t>
            </a:r>
            <a:endParaRPr lang="zh-CN" altLang="en-US" dirty="0"/>
          </a:p>
        </p:txBody>
      </p:sp>
      <p:sp>
        <p:nvSpPr>
          <p:cNvPr id="5" name="矩形 4"/>
          <p:cNvSpPr/>
          <p:nvPr/>
        </p:nvSpPr>
        <p:spPr>
          <a:xfrm>
            <a:off x="467544" y="1844824"/>
            <a:ext cx="7776864" cy="1938992"/>
          </a:xfrm>
          <a:prstGeom prst="rect">
            <a:avLst/>
          </a:prstGeom>
        </p:spPr>
        <p:txBody>
          <a:bodyPr wrap="square">
            <a:spAutoFit/>
          </a:bodyPr>
          <a:lstStyle/>
          <a:p>
            <a:r>
              <a:rPr lang="zh-CN" altLang="en-US" sz="2400" dirty="0">
                <a:solidFill>
                  <a:srgbClr val="0000FF"/>
                </a:solidFill>
              </a:rPr>
              <a:t>[xl@localhost ~]$ ls /etc/yum.repos.d</a:t>
            </a:r>
          </a:p>
          <a:p>
            <a:r>
              <a:rPr lang="zh-CN" altLang="en-US" sz="2400" dirty="0"/>
              <a:t>CentOS-Base.repo  CentOS-Debuginfo.repo  </a:t>
            </a:r>
            <a:endParaRPr lang="en-US" altLang="zh-CN" sz="2400" dirty="0" smtClean="0"/>
          </a:p>
          <a:p>
            <a:r>
              <a:rPr lang="zh-CN" altLang="en-US" sz="2400" dirty="0" smtClean="0"/>
              <a:t>CentOS</a:t>
            </a:r>
            <a:r>
              <a:rPr lang="zh-CN" altLang="en-US" sz="2400" dirty="0"/>
              <a:t>-Media.repo    CentOS-Vault.repo</a:t>
            </a:r>
          </a:p>
          <a:p>
            <a:r>
              <a:rPr lang="zh-CN" altLang="en-US" sz="2400" dirty="0"/>
              <a:t>CentOS-CR.repo    CentOS-fasttrack.repo  </a:t>
            </a:r>
            <a:endParaRPr lang="en-US" altLang="zh-CN" sz="2400" dirty="0" smtClean="0"/>
          </a:p>
          <a:p>
            <a:r>
              <a:rPr lang="zh-CN" altLang="en-US" sz="2400" dirty="0" smtClean="0"/>
              <a:t>CentOS</a:t>
            </a:r>
            <a:r>
              <a:rPr lang="zh-CN" altLang="en-US" sz="2400" dirty="0"/>
              <a:t>-Sources.repo  epel.repo</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7793037" cy="1052513"/>
          </a:xfrm>
        </p:spPr>
        <p:txBody>
          <a:bodyPr/>
          <a:lstStyle/>
          <a:p>
            <a:r>
              <a:rPr lang="zh-CN" altLang="en-US" dirty="0"/>
              <a:t>仓库配置</a:t>
            </a:r>
            <a:r>
              <a:rPr lang="en-US" altLang="zh-CN" dirty="0"/>
              <a:t>/etc/</a:t>
            </a:r>
            <a:r>
              <a:rPr lang="en-US" altLang="zh-CN" dirty="0" err="1"/>
              <a:t>yum.repos.d</a:t>
            </a:r>
            <a:r>
              <a:rPr lang="en-US" altLang="zh-CN" dirty="0"/>
              <a:t>/</a:t>
            </a:r>
            <a:r>
              <a:rPr lang="en-US" altLang="zh-CN" b="1" dirty="0"/>
              <a:t>*</a:t>
            </a:r>
            <a:r>
              <a:rPr lang="en-US" altLang="zh-CN" dirty="0"/>
              <a:t>.repo</a:t>
            </a:r>
            <a:endParaRPr lang="zh-CN" altLang="en-US" dirty="0"/>
          </a:p>
        </p:txBody>
      </p:sp>
      <p:sp>
        <p:nvSpPr>
          <p:cNvPr id="3" name="内容占位符 2"/>
          <p:cNvSpPr>
            <a:spLocks noGrp="1"/>
          </p:cNvSpPr>
          <p:nvPr>
            <p:ph idx="1"/>
          </p:nvPr>
        </p:nvSpPr>
        <p:spPr>
          <a:xfrm>
            <a:off x="260350" y="1496607"/>
            <a:ext cx="8686800" cy="5181501"/>
          </a:xfrm>
          <a:solidFill>
            <a:schemeClr val="accent2">
              <a:lumMod val="60000"/>
              <a:lumOff val="40000"/>
            </a:schemeClr>
          </a:solidFill>
        </p:spPr>
        <p:txBody>
          <a:bodyPr/>
          <a:lstStyle/>
          <a:p>
            <a:pPr>
              <a:buNone/>
            </a:pPr>
            <a:r>
              <a:rPr lang="en-US" altLang="zh-CN" sz="2800" dirty="0">
                <a:solidFill>
                  <a:srgbClr val="C00000"/>
                </a:solidFill>
              </a:rPr>
              <a:t>[</a:t>
            </a:r>
            <a:r>
              <a:rPr lang="en-US" altLang="zh-CN" sz="2800" dirty="0" err="1">
                <a:solidFill>
                  <a:srgbClr val="C00000"/>
                </a:solidFill>
              </a:rPr>
              <a:t>repositoryid</a:t>
            </a:r>
            <a:r>
              <a:rPr lang="en-US" altLang="zh-CN" sz="2800" dirty="0">
                <a:solidFill>
                  <a:srgbClr val="C00000"/>
                </a:solidFill>
              </a:rPr>
              <a:t>]</a:t>
            </a:r>
          </a:p>
          <a:p>
            <a:pPr>
              <a:buNone/>
            </a:pPr>
            <a:r>
              <a:rPr lang="en-US" altLang="zh-CN" sz="2800" dirty="0">
                <a:solidFill>
                  <a:srgbClr val="C00000"/>
                </a:solidFill>
              </a:rPr>
              <a:t>name=</a:t>
            </a:r>
            <a:r>
              <a:rPr lang="en-US" altLang="zh-CN" sz="2800" dirty="0"/>
              <a:t>name for this repository</a:t>
            </a:r>
          </a:p>
          <a:p>
            <a:pPr>
              <a:buNone/>
            </a:pPr>
            <a:r>
              <a:rPr lang="en-US" altLang="zh-CN" sz="2800" dirty="0" err="1">
                <a:solidFill>
                  <a:srgbClr val="C00000"/>
                </a:solidFill>
              </a:rPr>
              <a:t>baseurl</a:t>
            </a:r>
            <a:r>
              <a:rPr lang="en-US" altLang="zh-CN" sz="2800" dirty="0">
                <a:solidFill>
                  <a:srgbClr val="C00000"/>
                </a:solidFill>
              </a:rPr>
              <a:t>=</a:t>
            </a:r>
            <a:r>
              <a:rPr lang="en-US" altLang="zh-CN" sz="2800" dirty="0"/>
              <a:t>url://server1/path/to/repository/   #</a:t>
            </a:r>
            <a:r>
              <a:rPr lang="zh-CN" altLang="en-US" sz="2800" dirty="0"/>
              <a:t>实际地址</a:t>
            </a:r>
            <a:endParaRPr lang="en-US" altLang="zh-CN" sz="2800" dirty="0"/>
          </a:p>
          <a:p>
            <a:pPr>
              <a:buNone/>
            </a:pPr>
            <a:r>
              <a:rPr lang="en-US" altLang="zh-CN" sz="2800" dirty="0"/>
              <a:t>              url://server2/path/to/repository/</a:t>
            </a:r>
          </a:p>
          <a:p>
            <a:pPr>
              <a:buNone/>
            </a:pPr>
            <a:r>
              <a:rPr lang="en-US" altLang="zh-CN" sz="2800" dirty="0"/>
              <a:t>              url://server3/path/to/repository/</a:t>
            </a:r>
          </a:p>
          <a:p>
            <a:pPr>
              <a:buNone/>
            </a:pPr>
            <a:r>
              <a:rPr lang="en-US" altLang="zh-CN" sz="2800" dirty="0" err="1">
                <a:solidFill>
                  <a:srgbClr val="C00000"/>
                </a:solidFill>
              </a:rPr>
              <a:t>mirrorlist</a:t>
            </a:r>
            <a:r>
              <a:rPr lang="en-US" altLang="zh-CN" sz="2800" dirty="0">
                <a:solidFill>
                  <a:srgbClr val="C00000"/>
                </a:solidFill>
              </a:rPr>
              <a:t>=</a:t>
            </a:r>
            <a:r>
              <a:rPr lang="en-US" altLang="zh-CN" sz="2800" dirty="0"/>
              <a:t>url://path/to/mirrorlist/repository/ #</a:t>
            </a:r>
            <a:r>
              <a:rPr lang="zh-CN" altLang="en-US" sz="2800" dirty="0"/>
              <a:t>镜像站</a:t>
            </a:r>
            <a:endParaRPr lang="en-US" altLang="zh-CN" sz="2800" dirty="0"/>
          </a:p>
          <a:p>
            <a:pPr>
              <a:buNone/>
            </a:pPr>
            <a:r>
              <a:rPr lang="en-US" altLang="zh-CN" sz="2800" dirty="0">
                <a:solidFill>
                  <a:srgbClr val="C00000"/>
                </a:solidFill>
              </a:rPr>
              <a:t>enabled=</a:t>
            </a:r>
            <a:r>
              <a:rPr lang="en-US" altLang="zh-CN" sz="2800" dirty="0"/>
              <a:t>0/1  </a:t>
            </a:r>
            <a:r>
              <a:rPr lang="en-US" altLang="zh-CN" sz="2800" dirty="0">
                <a:solidFill>
                  <a:srgbClr val="FF0000"/>
                </a:solidFill>
              </a:rPr>
              <a:t>#1 </a:t>
            </a:r>
            <a:r>
              <a:rPr lang="zh-CN" altLang="en-US" sz="2800" dirty="0">
                <a:solidFill>
                  <a:srgbClr val="FF0000"/>
                </a:solidFill>
              </a:rPr>
              <a:t>软件源，</a:t>
            </a:r>
            <a:r>
              <a:rPr lang="en-US" altLang="zh-CN" sz="2800" dirty="0">
                <a:solidFill>
                  <a:srgbClr val="FF0000"/>
                </a:solidFill>
              </a:rPr>
              <a:t>0</a:t>
            </a:r>
            <a:r>
              <a:rPr lang="zh-CN" altLang="en-US" sz="2800" dirty="0">
                <a:solidFill>
                  <a:srgbClr val="FF0000"/>
                </a:solidFill>
              </a:rPr>
              <a:t>软件源禁用</a:t>
            </a:r>
            <a:endParaRPr lang="en-US" altLang="zh-CN" sz="2800" dirty="0">
              <a:solidFill>
                <a:srgbClr val="FF0000"/>
              </a:solidFill>
            </a:endParaRPr>
          </a:p>
          <a:p>
            <a:pPr>
              <a:buNone/>
            </a:pPr>
            <a:r>
              <a:rPr lang="en-US" altLang="zh-CN" sz="2800" dirty="0" err="1">
                <a:solidFill>
                  <a:srgbClr val="C00000"/>
                </a:solidFill>
              </a:rPr>
              <a:t>gpgcheck</a:t>
            </a:r>
            <a:r>
              <a:rPr lang="en-US" altLang="zh-CN" sz="2800" dirty="0">
                <a:solidFill>
                  <a:srgbClr val="C00000"/>
                </a:solidFill>
              </a:rPr>
              <a:t>=</a:t>
            </a:r>
            <a:r>
              <a:rPr lang="en-US" altLang="zh-CN" sz="2800" dirty="0"/>
              <a:t>0/1 </a:t>
            </a:r>
            <a:r>
              <a:rPr lang="en-US" altLang="zh-CN" sz="2800" dirty="0">
                <a:solidFill>
                  <a:srgbClr val="FF0000"/>
                </a:solidFill>
              </a:rPr>
              <a:t>#</a:t>
            </a:r>
            <a:r>
              <a:rPr lang="zh-CN" altLang="en-US" sz="2800" dirty="0">
                <a:solidFill>
                  <a:srgbClr val="FF0000"/>
                </a:solidFill>
              </a:rPr>
              <a:t>是否检查数字签名</a:t>
            </a:r>
            <a:endParaRPr lang="en-US" altLang="zh-CN" sz="2800" dirty="0">
              <a:solidFill>
                <a:srgbClr val="FF0000"/>
              </a:solidFill>
            </a:endParaRPr>
          </a:p>
          <a:p>
            <a:pPr>
              <a:buNone/>
            </a:pPr>
            <a:r>
              <a:rPr lang="en-US" altLang="zh-CN" sz="2800" dirty="0" err="1">
                <a:solidFill>
                  <a:srgbClr val="C00000"/>
                </a:solidFill>
              </a:rPr>
              <a:t>gpgkey</a:t>
            </a:r>
            <a:r>
              <a:rPr lang="en-US" altLang="zh-CN" sz="2800" dirty="0">
                <a:solidFill>
                  <a:srgbClr val="C00000"/>
                </a:solidFill>
              </a:rPr>
              <a:t>=</a:t>
            </a:r>
            <a:r>
              <a:rPr lang="en-US" altLang="zh-CN" sz="2800" dirty="0"/>
              <a:t>A URL pointing to the GPG key file</a:t>
            </a:r>
          </a:p>
          <a:p>
            <a:pPr>
              <a:buNone/>
            </a:pPr>
            <a:r>
              <a:rPr lang="en-US" altLang="zh-CN" sz="2800" dirty="0"/>
              <a:t>                     </a:t>
            </a:r>
            <a:r>
              <a:rPr lang="en-US" altLang="zh-CN" sz="2800" dirty="0">
                <a:solidFill>
                  <a:srgbClr val="FF0000"/>
                </a:solidFill>
              </a:rPr>
              <a:t>#</a:t>
            </a:r>
            <a:r>
              <a:rPr lang="zh-CN" altLang="en-US" sz="2800" dirty="0">
                <a:solidFill>
                  <a:srgbClr val="FF0000"/>
                </a:solidFill>
              </a:rPr>
              <a:t>数字签名的公钥位置</a:t>
            </a:r>
          </a:p>
        </p:txBody>
      </p:sp>
    </p:spTree>
    <p:extLst>
      <p:ext uri="{BB962C8B-B14F-4D97-AF65-F5344CB8AC3E}">
        <p14:creationId xmlns:p14="http://schemas.microsoft.com/office/powerpoint/2010/main" val="371051364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98783" y="260648"/>
            <a:ext cx="7965706" cy="1052513"/>
          </a:xfrm>
        </p:spPr>
        <p:txBody>
          <a:bodyPr/>
          <a:lstStyle/>
          <a:p>
            <a:r>
              <a:rPr lang="zh-CN" altLang="en-US" dirty="0"/>
              <a:t>仓库配置</a:t>
            </a:r>
            <a:r>
              <a:rPr lang="en-US" altLang="zh-CN" dirty="0"/>
              <a:t>/etc/</a:t>
            </a:r>
            <a:r>
              <a:rPr lang="en-US" altLang="zh-CN" dirty="0" err="1"/>
              <a:t>yum.repos.d</a:t>
            </a:r>
            <a:r>
              <a:rPr lang="en-US" altLang="zh-CN" dirty="0"/>
              <a:t>/</a:t>
            </a:r>
            <a:r>
              <a:rPr lang="en-US" altLang="zh-CN" b="1" dirty="0"/>
              <a:t>*</a:t>
            </a:r>
            <a:r>
              <a:rPr lang="en-US" altLang="zh-CN" dirty="0"/>
              <a:t>.repo</a:t>
            </a:r>
            <a:endParaRPr lang="zh-CN" altLang="en-US" dirty="0"/>
          </a:p>
        </p:txBody>
      </p:sp>
      <p:sp>
        <p:nvSpPr>
          <p:cNvPr id="3" name="内容占位符 2"/>
          <p:cNvSpPr>
            <a:spLocks noGrp="1"/>
          </p:cNvSpPr>
          <p:nvPr>
            <p:ph idx="1"/>
          </p:nvPr>
        </p:nvSpPr>
        <p:spPr>
          <a:xfrm>
            <a:off x="859432" y="1412776"/>
            <a:ext cx="8244408" cy="5225752"/>
          </a:xfrm>
        </p:spPr>
        <p:txBody>
          <a:bodyPr/>
          <a:lstStyle/>
          <a:p>
            <a:r>
              <a:rPr lang="zh-CN" altLang="en-US" dirty="0">
                <a:solidFill>
                  <a:srgbClr val="FF0000"/>
                </a:solidFill>
              </a:rPr>
              <a:t>设置网络更新源</a:t>
            </a:r>
            <a:endParaRPr lang="en-US" altLang="zh-CN" dirty="0">
              <a:solidFill>
                <a:srgbClr val="FF0000"/>
              </a:solidFill>
            </a:endParaRPr>
          </a:p>
          <a:p>
            <a:pPr lvl="1"/>
            <a:r>
              <a:rPr lang="zh-CN" altLang="en-US" dirty="0"/>
              <a:t>默认配置文件：</a:t>
            </a:r>
            <a:r>
              <a:rPr lang="en-US" altLang="zh-CN" dirty="0" err="1"/>
              <a:t>CentOS-Base.repo</a:t>
            </a:r>
            <a:endParaRPr lang="en-US" altLang="zh-CN" dirty="0"/>
          </a:p>
          <a:p>
            <a:pPr lvl="1"/>
            <a:r>
              <a:rPr lang="zh-CN" altLang="en-US" dirty="0"/>
              <a:t>下载使用国内的镜像站点提供的仓库配置文件</a:t>
            </a:r>
          </a:p>
          <a:p>
            <a:pPr lvl="2"/>
            <a:r>
              <a:rPr lang="en-US" altLang="zh-CN" dirty="0"/>
              <a:t>http://mirrors.sohu.com/help/CentOS-Base-sohu.repo</a:t>
            </a:r>
          </a:p>
          <a:p>
            <a:pPr lvl="2"/>
            <a:r>
              <a:rPr lang="en-US" altLang="zh-CN" dirty="0"/>
              <a:t>http://mirrors.163.com/.help/CentOS-Base-163.repo</a:t>
            </a:r>
          </a:p>
          <a:p>
            <a:pPr lvl="2"/>
            <a:r>
              <a:rPr lang="en-US" altLang="zh-CN" dirty="0"/>
              <a:t>http://centos.ustc.edu.cn/CentOS-Base.repo.6</a:t>
            </a:r>
          </a:p>
          <a:p>
            <a:r>
              <a:rPr lang="zh-CN" altLang="en-US" dirty="0">
                <a:solidFill>
                  <a:srgbClr val="FF0000"/>
                </a:solidFill>
              </a:rPr>
              <a:t>本地更新源</a:t>
            </a:r>
            <a:endParaRPr lang="en-US" altLang="zh-CN" dirty="0">
              <a:solidFill>
                <a:srgbClr val="FF0000"/>
              </a:solidFill>
            </a:endParaRPr>
          </a:p>
          <a:p>
            <a:pPr lvl="1"/>
            <a:r>
              <a:rPr lang="zh-CN" altLang="en-US" dirty="0"/>
              <a:t>默认配置文件：</a:t>
            </a:r>
            <a:r>
              <a:rPr lang="en-US" altLang="zh-CN" dirty="0" err="1"/>
              <a:t>CentOS-Media.repo</a:t>
            </a:r>
            <a:endParaRPr lang="en-US" altLang="zh-CN" dirty="0"/>
          </a:p>
          <a:p>
            <a:endParaRPr lang="zh-CN" alt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98783" y="260648"/>
            <a:ext cx="7965706" cy="1052513"/>
          </a:xfrm>
        </p:spPr>
        <p:txBody>
          <a:bodyPr/>
          <a:lstStyle/>
          <a:p>
            <a:r>
              <a:rPr lang="zh-CN" altLang="en-US" dirty="0"/>
              <a:t>仓库配置</a:t>
            </a:r>
            <a:r>
              <a:rPr lang="en-US" altLang="zh-CN" dirty="0"/>
              <a:t>/etc/</a:t>
            </a:r>
            <a:r>
              <a:rPr lang="en-US" altLang="zh-CN" dirty="0" err="1"/>
              <a:t>yum.repos.d</a:t>
            </a:r>
            <a:r>
              <a:rPr lang="en-US" altLang="zh-CN" dirty="0"/>
              <a:t>/</a:t>
            </a:r>
            <a:r>
              <a:rPr lang="en-US" altLang="zh-CN" b="1" dirty="0"/>
              <a:t>*</a:t>
            </a:r>
            <a:r>
              <a:rPr lang="en-US" altLang="zh-CN" dirty="0"/>
              <a:t>.repo</a:t>
            </a:r>
            <a:endParaRPr lang="zh-CN" altLang="en-US" dirty="0"/>
          </a:p>
        </p:txBody>
      </p:sp>
      <p:sp>
        <p:nvSpPr>
          <p:cNvPr id="5" name="矩形 4"/>
          <p:cNvSpPr/>
          <p:nvPr/>
        </p:nvSpPr>
        <p:spPr>
          <a:xfrm>
            <a:off x="251521" y="2078784"/>
            <a:ext cx="8712968" cy="3816429"/>
          </a:xfrm>
          <a:prstGeom prst="rect">
            <a:avLst/>
          </a:prstGeom>
        </p:spPr>
        <p:txBody>
          <a:bodyPr wrap="square">
            <a:spAutoFit/>
          </a:bodyPr>
          <a:lstStyle/>
          <a:p>
            <a:endParaRPr lang="en-US" altLang="zh-CN" sz="2200" dirty="0" smtClean="0"/>
          </a:p>
          <a:p>
            <a:r>
              <a:rPr lang="zh-CN" altLang="en-US" sz="2200" dirty="0" smtClean="0">
                <a:solidFill>
                  <a:srgbClr val="0000FF"/>
                </a:solidFill>
              </a:rPr>
              <a:t># </a:t>
            </a:r>
            <a:r>
              <a:rPr lang="zh-CN" altLang="en-US" sz="2200" dirty="0">
                <a:solidFill>
                  <a:srgbClr val="0000FF"/>
                </a:solidFill>
              </a:rPr>
              <a:t>cd/etc/yum.repos.d/  </a:t>
            </a:r>
            <a:endParaRPr lang="en-US" altLang="zh-CN" sz="2200" dirty="0" smtClean="0">
              <a:solidFill>
                <a:srgbClr val="0000FF"/>
              </a:solidFill>
            </a:endParaRPr>
          </a:p>
          <a:p>
            <a:r>
              <a:rPr lang="en-US" altLang="zh-CN" sz="2200" dirty="0" smtClean="0"/>
              <a:t>// </a:t>
            </a:r>
            <a:r>
              <a:rPr lang="zh-CN" altLang="en-US" sz="2200" dirty="0" smtClean="0"/>
              <a:t>备份</a:t>
            </a:r>
            <a:r>
              <a:rPr lang="zh-CN" altLang="en-US" sz="2200" dirty="0"/>
              <a:t>原始文件  </a:t>
            </a:r>
            <a:endParaRPr lang="en-US" altLang="zh-CN" sz="2200" dirty="0" smtClean="0"/>
          </a:p>
          <a:p>
            <a:r>
              <a:rPr lang="zh-CN" altLang="en-US" sz="2200" dirty="0" smtClean="0">
                <a:solidFill>
                  <a:srgbClr val="0000FF"/>
                </a:solidFill>
              </a:rPr>
              <a:t># </a:t>
            </a:r>
            <a:r>
              <a:rPr lang="zh-CN" altLang="en-US" sz="2200" dirty="0">
                <a:solidFill>
                  <a:srgbClr val="0000FF"/>
                </a:solidFill>
              </a:rPr>
              <a:t>cp CentOS-Base.repo CentOS-Base.repo.orig  </a:t>
            </a:r>
            <a:endParaRPr lang="en-US" altLang="zh-CN" sz="2200" dirty="0" smtClean="0">
              <a:solidFill>
                <a:srgbClr val="0000FF"/>
              </a:solidFill>
            </a:endParaRPr>
          </a:p>
          <a:p>
            <a:r>
              <a:rPr lang="en-US" altLang="zh-CN" sz="2200" dirty="0" smtClean="0"/>
              <a:t>// </a:t>
            </a:r>
            <a:r>
              <a:rPr lang="zh-CN" altLang="en-US" sz="2200" dirty="0" smtClean="0"/>
              <a:t>注释 </a:t>
            </a:r>
            <a:r>
              <a:rPr lang="zh-CN" altLang="en-US" sz="2200" dirty="0"/>
              <a:t>mirrorlist 配置行  </a:t>
            </a:r>
            <a:endParaRPr lang="en-US" altLang="zh-CN" sz="2200" dirty="0" smtClean="0"/>
          </a:p>
          <a:p>
            <a:r>
              <a:rPr lang="zh-CN" altLang="en-US" sz="2200" dirty="0" smtClean="0">
                <a:solidFill>
                  <a:srgbClr val="0000FF"/>
                </a:solidFill>
              </a:rPr>
              <a:t># sed</a:t>
            </a:r>
            <a:r>
              <a:rPr lang="zh-CN" altLang="en-US" sz="2200" dirty="0">
                <a:solidFill>
                  <a:srgbClr val="0000FF"/>
                </a:solidFill>
              </a:rPr>
              <a:t>-i"s/^mirrorlist#mirrorlist/g" CentOS-Base.repo  </a:t>
            </a:r>
            <a:endParaRPr lang="en-US" altLang="zh-CN" sz="2200" dirty="0" smtClean="0">
              <a:solidFill>
                <a:srgbClr val="0000FF"/>
              </a:solidFill>
            </a:endParaRPr>
          </a:p>
          <a:p>
            <a:r>
              <a:rPr lang="en-US" altLang="zh-CN" sz="2200" dirty="0" smtClean="0"/>
              <a:t>// </a:t>
            </a:r>
            <a:r>
              <a:rPr lang="zh-CN" altLang="en-US" sz="2200" dirty="0" smtClean="0"/>
              <a:t>启用 </a:t>
            </a:r>
            <a:r>
              <a:rPr lang="zh-CN" altLang="en-US" sz="2200" dirty="0"/>
              <a:t>baseurl 配置行 </a:t>
            </a:r>
            <a:endParaRPr lang="en-US" altLang="zh-CN" sz="2200" dirty="0" smtClean="0"/>
          </a:p>
          <a:p>
            <a:r>
              <a:rPr lang="zh-CN" altLang="en-US" sz="2200" dirty="0" smtClean="0">
                <a:solidFill>
                  <a:srgbClr val="0000FF"/>
                </a:solidFill>
              </a:rPr>
              <a:t># sed</a:t>
            </a:r>
            <a:r>
              <a:rPr lang="zh-CN" altLang="en-US" sz="2200" dirty="0">
                <a:solidFill>
                  <a:srgbClr val="0000FF"/>
                </a:solidFill>
              </a:rPr>
              <a:t>-i"s/^#baseurl/baseur\/g" CentOS-Base.repo  1/ </a:t>
            </a:r>
            <a:endParaRPr lang="en-US" altLang="zh-CN" sz="2200" dirty="0" smtClean="0">
              <a:solidFill>
                <a:srgbClr val="0000FF"/>
              </a:solidFill>
            </a:endParaRPr>
          </a:p>
          <a:p>
            <a:r>
              <a:rPr lang="en-US" altLang="zh-CN" sz="2200" dirty="0" smtClean="0"/>
              <a:t>// </a:t>
            </a:r>
            <a:r>
              <a:rPr lang="zh-CN" altLang="en-US" sz="2200" dirty="0" smtClean="0"/>
              <a:t>修改</a:t>
            </a:r>
            <a:r>
              <a:rPr lang="zh-CN" altLang="en-US" sz="2200" dirty="0"/>
              <a:t>镜像站点的 URL  </a:t>
            </a:r>
            <a:endParaRPr lang="en-US" altLang="zh-CN" sz="2200" dirty="0" smtClean="0"/>
          </a:p>
          <a:p>
            <a:r>
              <a:rPr lang="zh-CN" altLang="en-US" sz="2200" dirty="0" smtClean="0">
                <a:solidFill>
                  <a:srgbClr val="0000FF"/>
                </a:solidFill>
              </a:rPr>
              <a:t># </a:t>
            </a:r>
            <a:r>
              <a:rPr lang="zh-CN" altLang="en-US" sz="2200" dirty="0">
                <a:solidFill>
                  <a:srgbClr val="0000FF"/>
                </a:solidFill>
              </a:rPr>
              <a:t>sed -i"s/miror.centos.org/mirrors.sohu.com/g" CentOS-Base.</a:t>
            </a:r>
            <a:r>
              <a:rPr lang="zh-CN" altLang="en-US" sz="2200" dirty="0" smtClean="0">
                <a:solidFill>
                  <a:srgbClr val="0000FF"/>
                </a:solidFill>
              </a:rPr>
              <a:t>re</a:t>
            </a:r>
            <a:r>
              <a:rPr lang="en-US" altLang="zh-CN" sz="2200" dirty="0" err="1" smtClean="0">
                <a:solidFill>
                  <a:srgbClr val="0000FF"/>
                </a:solidFill>
              </a:rPr>
              <a:t>po</a:t>
            </a:r>
            <a:endParaRPr lang="en-US" altLang="zh-CN" sz="2200" dirty="0" smtClean="0">
              <a:solidFill>
                <a:srgbClr val="0000FF"/>
              </a:solidFill>
            </a:endParaRPr>
          </a:p>
          <a:p>
            <a:r>
              <a:rPr lang="zh-CN" altLang="en-US" sz="2200" dirty="0" smtClean="0"/>
              <a:t>  </a:t>
            </a:r>
            <a:endParaRPr lang="en-US" altLang="zh-CN" sz="2200" dirty="0" smtClean="0"/>
          </a:p>
        </p:txBody>
      </p:sp>
      <p:sp>
        <p:nvSpPr>
          <p:cNvPr id="6" name="矩形 5"/>
          <p:cNvSpPr/>
          <p:nvPr/>
        </p:nvSpPr>
        <p:spPr>
          <a:xfrm>
            <a:off x="611560" y="1469696"/>
            <a:ext cx="6083717" cy="461665"/>
          </a:xfrm>
          <a:prstGeom prst="rect">
            <a:avLst/>
          </a:prstGeom>
        </p:spPr>
        <p:txBody>
          <a:bodyPr wrap="none">
            <a:spAutoFit/>
          </a:bodyPr>
          <a:lstStyle/>
          <a:p>
            <a:r>
              <a:rPr lang="zh-CN" altLang="en-US" sz="2400" dirty="0"/>
              <a:t>配置 CentOS 镜像地址的</a:t>
            </a:r>
            <a:r>
              <a:rPr lang="zh-CN" altLang="en-US" sz="2400" dirty="0" smtClean="0"/>
              <a:t>例子</a:t>
            </a:r>
            <a:r>
              <a:rPr lang="en-US" altLang="zh-CN" sz="2400" dirty="0" smtClean="0"/>
              <a:t>(</a:t>
            </a:r>
            <a:r>
              <a:rPr lang="zh-CN" altLang="en-US" sz="2400" dirty="0" smtClean="0"/>
              <a:t>操作步骤</a:t>
            </a:r>
            <a:r>
              <a:rPr lang="en-US" altLang="zh-CN" sz="2400" dirty="0" smtClean="0"/>
              <a:t>5.8)</a:t>
            </a:r>
            <a:endParaRPr lang="zh-CN" altLang="en-US" sz="2400" dirty="0"/>
          </a:p>
        </p:txBody>
      </p:sp>
    </p:spTree>
    <p:extLst>
      <p:ext uri="{BB962C8B-B14F-4D97-AF65-F5344CB8AC3E}">
        <p14:creationId xmlns:p14="http://schemas.microsoft.com/office/powerpoint/2010/main" val="279095104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为什么使用非官方仓库</a:t>
            </a:r>
            <a:endParaRPr lang="zh-CN" altLang="en-US" dirty="0"/>
          </a:p>
        </p:txBody>
      </p:sp>
      <p:sp>
        <p:nvSpPr>
          <p:cNvPr id="3" name="内容占位符 2"/>
          <p:cNvSpPr>
            <a:spLocks noGrp="1"/>
          </p:cNvSpPr>
          <p:nvPr>
            <p:ph idx="1"/>
          </p:nvPr>
        </p:nvSpPr>
        <p:spPr>
          <a:xfrm>
            <a:off x="457200" y="1484784"/>
            <a:ext cx="8229600" cy="5112568"/>
          </a:xfrm>
        </p:spPr>
        <p:txBody>
          <a:bodyPr/>
          <a:lstStyle/>
          <a:p>
            <a:pPr>
              <a:lnSpc>
                <a:spcPct val="110000"/>
              </a:lnSpc>
            </a:pPr>
            <a:r>
              <a:rPr lang="zh-CN" altLang="en-US" dirty="0">
                <a:solidFill>
                  <a:srgbClr val="FF0000"/>
                </a:solidFill>
              </a:rPr>
              <a:t>官方仓库</a:t>
            </a:r>
            <a:r>
              <a:rPr lang="zh-CN" altLang="en-US" dirty="0"/>
              <a:t>是指</a:t>
            </a:r>
            <a:r>
              <a:rPr lang="en-US" altLang="zh-CN" dirty="0" err="1">
                <a:solidFill>
                  <a:srgbClr val="FF0000"/>
                </a:solidFill>
              </a:rPr>
              <a:t>RedHat</a:t>
            </a:r>
            <a:r>
              <a:rPr lang="en-US" altLang="zh-CN" dirty="0">
                <a:solidFill>
                  <a:srgbClr val="FF0000"/>
                </a:solidFill>
              </a:rPr>
              <a:t>/</a:t>
            </a:r>
            <a:r>
              <a:rPr lang="en-US" altLang="zh-CN" dirty="0" err="1">
                <a:solidFill>
                  <a:srgbClr val="FF0000"/>
                </a:solidFill>
              </a:rPr>
              <a:t>CentOS</a:t>
            </a:r>
            <a:r>
              <a:rPr lang="zh-CN" altLang="en-US" dirty="0">
                <a:solidFill>
                  <a:srgbClr val="FF0000"/>
                </a:solidFill>
              </a:rPr>
              <a:t>提供的仓库</a:t>
            </a:r>
          </a:p>
          <a:p>
            <a:pPr>
              <a:lnSpc>
                <a:spcPct val="110000"/>
              </a:lnSpc>
            </a:pPr>
            <a:r>
              <a:rPr lang="zh-CN" altLang="en-US" dirty="0">
                <a:solidFill>
                  <a:srgbClr val="FF0000"/>
                </a:solidFill>
              </a:rPr>
              <a:t>非官方仓库</a:t>
            </a:r>
            <a:r>
              <a:rPr lang="zh-CN" altLang="en-US" dirty="0"/>
              <a:t>是指官方仓库之外的</a:t>
            </a:r>
            <a:r>
              <a:rPr lang="zh-CN" altLang="en-US" dirty="0">
                <a:solidFill>
                  <a:srgbClr val="FF0000"/>
                </a:solidFill>
              </a:rPr>
              <a:t>由其他社区或某软件制作者提供的仓库</a:t>
            </a:r>
            <a:endParaRPr lang="zh-CN" altLang="en-US" dirty="0"/>
          </a:p>
          <a:p>
            <a:pPr>
              <a:lnSpc>
                <a:spcPct val="110000"/>
              </a:lnSpc>
            </a:pPr>
            <a:r>
              <a:rPr lang="zh-CN" altLang="en-US" dirty="0"/>
              <a:t>使用非官方仓库的</a:t>
            </a:r>
            <a:r>
              <a:rPr lang="zh-CN" altLang="en-US" dirty="0">
                <a:solidFill>
                  <a:srgbClr val="FF0000"/>
                </a:solidFill>
              </a:rPr>
              <a:t>目的</a:t>
            </a:r>
          </a:p>
          <a:p>
            <a:pPr lvl="1">
              <a:lnSpc>
                <a:spcPct val="110000"/>
              </a:lnSpc>
            </a:pPr>
            <a:r>
              <a:rPr lang="zh-CN" altLang="en-US" dirty="0"/>
              <a:t>安装</a:t>
            </a:r>
            <a:r>
              <a:rPr lang="zh-CN" altLang="en-US" dirty="0">
                <a:solidFill>
                  <a:srgbClr val="FF0000"/>
                </a:solidFill>
              </a:rPr>
              <a:t>官方仓库</a:t>
            </a:r>
            <a:r>
              <a:rPr lang="zh-CN" altLang="en-US" dirty="0"/>
              <a:t>中</a:t>
            </a:r>
            <a:r>
              <a:rPr lang="zh-CN" altLang="en-US" dirty="0">
                <a:solidFill>
                  <a:srgbClr val="FF0000"/>
                </a:solidFill>
              </a:rPr>
              <a:t>不提供的软件包</a:t>
            </a:r>
          </a:p>
          <a:p>
            <a:pPr lvl="1">
              <a:lnSpc>
                <a:spcPct val="110000"/>
              </a:lnSpc>
            </a:pPr>
            <a:r>
              <a:rPr lang="zh-CN" altLang="en-US" dirty="0"/>
              <a:t>安装比官方仓库中版本</a:t>
            </a:r>
            <a:r>
              <a:rPr lang="zh-CN" altLang="en-US" dirty="0">
                <a:solidFill>
                  <a:srgbClr val="FF0000"/>
                </a:solidFill>
              </a:rPr>
              <a:t>更新的软件包</a:t>
            </a:r>
            <a:endParaRPr lang="en-US" altLang="zh-CN" dirty="0">
              <a:solidFill>
                <a:srgbClr val="FF0000"/>
              </a:solidFill>
            </a:endParaRPr>
          </a:p>
          <a:p>
            <a:pPr>
              <a:lnSpc>
                <a:spcPct val="110000"/>
              </a:lnSpc>
            </a:pPr>
            <a:r>
              <a:rPr lang="zh-CN" altLang="en-US" dirty="0"/>
              <a:t>应该选择使用何种非官方仓库</a:t>
            </a:r>
          </a:p>
          <a:p>
            <a:pPr lvl="1">
              <a:lnSpc>
                <a:spcPct val="110000"/>
              </a:lnSpc>
            </a:pPr>
            <a:r>
              <a:rPr lang="zh-CN" altLang="en-US" dirty="0"/>
              <a:t>知名的非官方仓库</a:t>
            </a:r>
          </a:p>
          <a:p>
            <a:pPr lvl="1">
              <a:lnSpc>
                <a:spcPct val="110000"/>
              </a:lnSpc>
            </a:pPr>
            <a:r>
              <a:rPr lang="zh-CN" altLang="en-US" dirty="0"/>
              <a:t>具有</a:t>
            </a:r>
            <a:r>
              <a:rPr lang="en-US" altLang="zh-CN" dirty="0"/>
              <a:t>GPG</a:t>
            </a:r>
            <a:r>
              <a:rPr lang="zh-CN" altLang="en-US" dirty="0"/>
              <a:t>签名的非官方仓库</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常用的非官方仓库</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3699994485"/>
              </p:ext>
            </p:extLst>
          </p:nvPr>
        </p:nvGraphicFramePr>
        <p:xfrm>
          <a:off x="685799" y="1700808"/>
          <a:ext cx="7772401" cy="3657600"/>
        </p:xfrm>
        <a:graphic>
          <a:graphicData uri="http://schemas.openxmlformats.org/drawingml/2006/table">
            <a:tbl>
              <a:tblPr firstRow="1" bandRow="1">
                <a:tableStyleId>{21E4AEA4-8DFA-4A89-87EB-49C32662AFE0}</a:tableStyleId>
              </a:tblPr>
              <a:tblGrid>
                <a:gridCol w="2254019">
                  <a:extLst>
                    <a:ext uri="{9D8B030D-6E8A-4147-A177-3AD203B41FA5}">
                      <a16:colId xmlns:a16="http://schemas.microsoft.com/office/drawing/2014/main" val="20000"/>
                    </a:ext>
                  </a:extLst>
                </a:gridCol>
                <a:gridCol w="5518382">
                  <a:extLst>
                    <a:ext uri="{9D8B030D-6E8A-4147-A177-3AD203B41FA5}">
                      <a16:colId xmlns:a16="http://schemas.microsoft.com/office/drawing/2014/main" val="20001"/>
                    </a:ext>
                  </a:extLst>
                </a:gridCol>
              </a:tblGrid>
              <a:tr h="370840">
                <a:tc>
                  <a:txBody>
                    <a:bodyPr/>
                    <a:lstStyle/>
                    <a:p>
                      <a:r>
                        <a:rPr lang="zh-CN" altLang="en-US" sz="2400" dirty="0">
                          <a:solidFill>
                            <a:srgbClr val="C00000"/>
                          </a:solidFill>
                        </a:rPr>
                        <a:t>仓库名</a:t>
                      </a:r>
                    </a:p>
                  </a:txBody>
                  <a:tcPr marL="86360" marR="86360"/>
                </a:tc>
                <a:tc>
                  <a:txBody>
                    <a:bodyPr/>
                    <a:lstStyle/>
                    <a:p>
                      <a:r>
                        <a:rPr lang="en-US" altLang="zh-CN" sz="2400" dirty="0">
                          <a:solidFill>
                            <a:srgbClr val="C00000"/>
                          </a:solidFill>
                        </a:rPr>
                        <a:t>URL</a:t>
                      </a:r>
                      <a:endParaRPr lang="zh-CN" altLang="en-US" sz="2400" dirty="0">
                        <a:solidFill>
                          <a:srgbClr val="C00000"/>
                        </a:solidFill>
                      </a:endParaRPr>
                    </a:p>
                  </a:txBody>
                  <a:tcPr marL="86360" marR="86360"/>
                </a:tc>
                <a:extLst>
                  <a:ext uri="{0D108BD9-81ED-4DB2-BD59-A6C34878D82A}">
                    <a16:rowId xmlns:a16="http://schemas.microsoft.com/office/drawing/2014/main" val="10000"/>
                  </a:ext>
                </a:extLst>
              </a:tr>
              <a:tr h="370840">
                <a:tc>
                  <a:txBody>
                    <a:bodyPr/>
                    <a:lstStyle/>
                    <a:p>
                      <a:r>
                        <a:rPr lang="en-US" altLang="zh-CN" sz="2400" dirty="0" err="1">
                          <a:solidFill>
                            <a:srgbClr val="C00000"/>
                          </a:solidFill>
                        </a:rPr>
                        <a:t>epel</a:t>
                      </a:r>
                      <a:endParaRPr lang="zh-CN" altLang="en-US" sz="2400" dirty="0">
                        <a:solidFill>
                          <a:srgbClr val="C00000"/>
                        </a:solidFill>
                      </a:endParaRPr>
                    </a:p>
                  </a:txBody>
                  <a:tcPr marL="86360" marR="86360"/>
                </a:tc>
                <a:tc>
                  <a:txBody>
                    <a:bodyPr/>
                    <a:lstStyle/>
                    <a:p>
                      <a:r>
                        <a:rPr lang="en-US" altLang="zh-CN" sz="2400" dirty="0"/>
                        <a:t>http://fedoraproject.org/wiki/EPEL</a:t>
                      </a:r>
                      <a:endParaRPr lang="zh-CN" altLang="en-US" sz="2400" dirty="0"/>
                    </a:p>
                  </a:txBody>
                  <a:tcPr marL="86360" marR="86360"/>
                </a:tc>
                <a:extLst>
                  <a:ext uri="{0D108BD9-81ED-4DB2-BD59-A6C34878D82A}">
                    <a16:rowId xmlns:a16="http://schemas.microsoft.com/office/drawing/2014/main" val="10001"/>
                  </a:ext>
                </a:extLst>
              </a:tr>
              <a:tr h="370840">
                <a:tc>
                  <a:txBody>
                    <a:bodyPr/>
                    <a:lstStyle/>
                    <a:p>
                      <a:r>
                        <a:rPr lang="en-US" altLang="zh-CN" sz="2400" dirty="0" err="1">
                          <a:solidFill>
                            <a:srgbClr val="C00000"/>
                          </a:solidFill>
                        </a:rPr>
                        <a:t>rpmforge</a:t>
                      </a:r>
                      <a:endParaRPr lang="zh-CN" altLang="en-US" sz="2400" dirty="0">
                        <a:solidFill>
                          <a:srgbClr val="C00000"/>
                        </a:solidFill>
                      </a:endParaRPr>
                    </a:p>
                  </a:txBody>
                  <a:tcPr marL="86360" marR="86360"/>
                </a:tc>
                <a:tc>
                  <a:txBody>
                    <a:bodyPr/>
                    <a:lstStyle/>
                    <a:p>
                      <a:r>
                        <a:rPr lang="en-US" altLang="zh-CN" sz="2400" dirty="0"/>
                        <a:t>http://rpmforge.net/</a:t>
                      </a:r>
                      <a:endParaRPr lang="zh-CN" altLang="en-US" sz="2400" dirty="0"/>
                    </a:p>
                  </a:txBody>
                  <a:tcPr marL="86360" marR="86360"/>
                </a:tc>
                <a:extLst>
                  <a:ext uri="{0D108BD9-81ED-4DB2-BD59-A6C34878D82A}">
                    <a16:rowId xmlns:a16="http://schemas.microsoft.com/office/drawing/2014/main" val="10002"/>
                  </a:ext>
                </a:extLst>
              </a:tr>
              <a:tr h="370840">
                <a:tc>
                  <a:txBody>
                    <a:bodyPr/>
                    <a:lstStyle/>
                    <a:p>
                      <a:r>
                        <a:rPr lang="en-US" altLang="zh-CN" sz="2400" dirty="0" err="1">
                          <a:solidFill>
                            <a:srgbClr val="C00000"/>
                          </a:solidFill>
                        </a:rPr>
                        <a:t>remi</a:t>
                      </a:r>
                      <a:endParaRPr lang="zh-CN" altLang="en-US" sz="2400" dirty="0">
                        <a:solidFill>
                          <a:srgbClr val="C00000"/>
                        </a:solidFill>
                      </a:endParaRPr>
                    </a:p>
                  </a:txBody>
                  <a:tcPr marL="86360" marR="86360"/>
                </a:tc>
                <a:tc>
                  <a:txBody>
                    <a:bodyPr/>
                    <a:lstStyle/>
                    <a:p>
                      <a:r>
                        <a:rPr lang="en-US" altLang="zh-CN" sz="2400" dirty="0"/>
                        <a:t>http://rpms.famillecollet.com/</a:t>
                      </a:r>
                      <a:endParaRPr lang="zh-CN" altLang="en-US" sz="2400" dirty="0"/>
                    </a:p>
                  </a:txBody>
                  <a:tcPr marL="86360" marR="86360"/>
                </a:tc>
                <a:extLst>
                  <a:ext uri="{0D108BD9-81ED-4DB2-BD59-A6C34878D82A}">
                    <a16:rowId xmlns:a16="http://schemas.microsoft.com/office/drawing/2014/main" val="10003"/>
                  </a:ext>
                </a:extLst>
              </a:tr>
              <a:tr h="370840">
                <a:tc>
                  <a:txBody>
                    <a:bodyPr/>
                    <a:lstStyle/>
                    <a:p>
                      <a:r>
                        <a:rPr lang="en-US" altLang="zh-CN" sz="2400" dirty="0" err="1"/>
                        <a:t>rpmfusion</a:t>
                      </a:r>
                      <a:endParaRPr lang="zh-CN" altLang="en-US" sz="2400" dirty="0"/>
                    </a:p>
                  </a:txBody>
                  <a:tcPr marL="86360" marR="86360"/>
                </a:tc>
                <a:tc>
                  <a:txBody>
                    <a:bodyPr/>
                    <a:lstStyle/>
                    <a:p>
                      <a:r>
                        <a:rPr lang="en-US" altLang="zh-CN" sz="2400" dirty="0"/>
                        <a:t>http://rpmfusion.org/</a:t>
                      </a:r>
                      <a:endParaRPr lang="zh-CN" altLang="en-US" sz="2400" dirty="0"/>
                    </a:p>
                  </a:txBody>
                  <a:tcPr marL="86360" marR="86360"/>
                </a:tc>
                <a:extLst>
                  <a:ext uri="{0D108BD9-81ED-4DB2-BD59-A6C34878D82A}">
                    <a16:rowId xmlns:a16="http://schemas.microsoft.com/office/drawing/2014/main" val="10004"/>
                  </a:ext>
                </a:extLst>
              </a:tr>
              <a:tr h="185420">
                <a:tc>
                  <a:txBody>
                    <a:bodyPr/>
                    <a:lstStyle/>
                    <a:p>
                      <a:r>
                        <a:rPr lang="en-US" altLang="zh-CN" sz="2400" dirty="0" err="1"/>
                        <a:t>atrpms</a:t>
                      </a:r>
                      <a:endParaRPr lang="zh-CN" altLang="en-US" sz="2400" dirty="0"/>
                    </a:p>
                  </a:txBody>
                  <a:tcPr marL="86360" marR="86360"/>
                </a:tc>
                <a:tc>
                  <a:txBody>
                    <a:bodyPr/>
                    <a:lstStyle/>
                    <a:p>
                      <a:r>
                        <a:rPr lang="en-US" altLang="zh-CN" sz="2400" dirty="0"/>
                        <a:t>http://atrpms.net/</a:t>
                      </a:r>
                      <a:endParaRPr lang="zh-CN" altLang="en-US" sz="2400" dirty="0"/>
                    </a:p>
                  </a:txBody>
                  <a:tcPr marL="86360" marR="86360"/>
                </a:tc>
                <a:extLst>
                  <a:ext uri="{0D108BD9-81ED-4DB2-BD59-A6C34878D82A}">
                    <a16:rowId xmlns:a16="http://schemas.microsoft.com/office/drawing/2014/main" val="10005"/>
                  </a:ext>
                </a:extLst>
              </a:tr>
              <a:tr h="370840">
                <a:tc>
                  <a:txBody>
                    <a:bodyPr/>
                    <a:lstStyle/>
                    <a:p>
                      <a:r>
                        <a:rPr lang="en-US" altLang="zh-CN" sz="2400" dirty="0" err="1"/>
                        <a:t>webmin</a:t>
                      </a:r>
                      <a:endParaRPr lang="zh-CN" altLang="en-US" sz="2400" dirty="0"/>
                    </a:p>
                  </a:txBody>
                  <a:tcPr marL="86360" marR="86360"/>
                </a:tc>
                <a:tc>
                  <a:txBody>
                    <a:bodyPr/>
                    <a:lstStyle/>
                    <a:p>
                      <a:r>
                        <a:rPr lang="en-US" altLang="zh-CN" sz="2400" dirty="0"/>
                        <a:t>http://www.webmin.com.cn/rpm.html</a:t>
                      </a:r>
                      <a:endParaRPr lang="zh-CN" altLang="en-US" sz="2400" dirty="0"/>
                    </a:p>
                  </a:txBody>
                  <a:tcPr marL="86360" marR="86360"/>
                </a:tc>
                <a:extLst>
                  <a:ext uri="{0D108BD9-81ED-4DB2-BD59-A6C34878D82A}">
                    <a16:rowId xmlns:a16="http://schemas.microsoft.com/office/drawing/2014/main" val="10007"/>
                  </a:ext>
                </a:extLst>
              </a:tr>
              <a:tr h="370840">
                <a:tc>
                  <a:txBody>
                    <a:bodyPr/>
                    <a:lstStyle/>
                    <a:p>
                      <a:r>
                        <a:rPr lang="en-US" altLang="zh-CN" sz="2400" dirty="0" err="1"/>
                        <a:t>openvz</a:t>
                      </a:r>
                      <a:endParaRPr lang="zh-CN" altLang="en-US" sz="2400" dirty="0"/>
                    </a:p>
                  </a:txBody>
                  <a:tcPr marL="86360" marR="86360"/>
                </a:tc>
                <a:tc>
                  <a:txBody>
                    <a:bodyPr/>
                    <a:lstStyle/>
                    <a:p>
                      <a:r>
                        <a:rPr lang="en-US" altLang="zh-CN" sz="2400" dirty="0"/>
                        <a:t>http://wiki.openvz.org/Yum</a:t>
                      </a:r>
                      <a:endParaRPr lang="zh-CN" altLang="en-US" sz="2400" dirty="0"/>
                    </a:p>
                  </a:txBody>
                  <a:tcPr marL="86360" marR="86360"/>
                </a:tc>
                <a:extLst>
                  <a:ext uri="{0D108BD9-81ED-4DB2-BD59-A6C34878D82A}">
                    <a16:rowId xmlns:a16="http://schemas.microsoft.com/office/drawing/2014/main" val="10008"/>
                  </a:ext>
                </a:extLst>
              </a:tr>
            </a:tbl>
          </a:graphicData>
        </a:graphic>
      </p:graphicFrame>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使用非官方仓库有两种方法</a:t>
            </a:r>
          </a:p>
        </p:txBody>
      </p:sp>
      <p:sp>
        <p:nvSpPr>
          <p:cNvPr id="3" name="内容占位符 2"/>
          <p:cNvSpPr>
            <a:spLocks noGrp="1"/>
          </p:cNvSpPr>
          <p:nvPr>
            <p:ph idx="1"/>
          </p:nvPr>
        </p:nvSpPr>
        <p:spPr>
          <a:xfrm>
            <a:off x="575048" y="1484784"/>
            <a:ext cx="8568952" cy="4530725"/>
          </a:xfrm>
        </p:spPr>
        <p:txBody>
          <a:bodyPr/>
          <a:lstStyle/>
          <a:p>
            <a:r>
              <a:rPr lang="zh-CN" altLang="en-US" dirty="0">
                <a:solidFill>
                  <a:srgbClr val="FF0000"/>
                </a:solidFill>
              </a:rPr>
              <a:t>提供仓库 </a:t>
            </a:r>
            <a:r>
              <a:rPr lang="en-US" altLang="zh-CN" dirty="0">
                <a:solidFill>
                  <a:srgbClr val="C00000"/>
                </a:solidFill>
              </a:rPr>
              <a:t>”release” RPM</a:t>
            </a:r>
            <a:r>
              <a:rPr lang="zh-CN" altLang="en-US" dirty="0">
                <a:solidFill>
                  <a:srgbClr val="C00000"/>
                </a:solidFill>
              </a:rPr>
              <a:t>包</a:t>
            </a:r>
            <a:r>
              <a:rPr lang="zh-CN" altLang="en-US" dirty="0"/>
              <a:t>的非官方仓库</a:t>
            </a:r>
            <a:endParaRPr lang="en-US" altLang="zh-CN" dirty="0"/>
          </a:p>
          <a:p>
            <a:pPr lvl="1"/>
            <a:r>
              <a:rPr lang="zh-CN" altLang="en-US" dirty="0"/>
              <a:t>下载非官方仓库的“</a:t>
            </a:r>
            <a:r>
              <a:rPr lang="en-US" altLang="zh-CN" dirty="0"/>
              <a:t>release</a:t>
            </a:r>
            <a:r>
              <a:rPr lang="zh-CN" altLang="en-US" dirty="0"/>
              <a:t>”</a:t>
            </a:r>
            <a:r>
              <a:rPr lang="en-US" altLang="zh-CN" dirty="0"/>
              <a:t>RPM</a:t>
            </a:r>
            <a:r>
              <a:rPr lang="zh-CN" altLang="en-US" dirty="0"/>
              <a:t>包</a:t>
            </a:r>
          </a:p>
          <a:p>
            <a:pPr lvl="1"/>
            <a:r>
              <a:rPr lang="zh-CN" altLang="en-US" dirty="0"/>
              <a:t>导入仓库的 </a:t>
            </a:r>
            <a:r>
              <a:rPr lang="en-US" altLang="zh-CN" dirty="0"/>
              <a:t>RPM </a:t>
            </a:r>
            <a:r>
              <a:rPr lang="zh-CN" altLang="en-US" dirty="0"/>
              <a:t>公钥文件并验证“</a:t>
            </a:r>
            <a:r>
              <a:rPr lang="en-US" altLang="zh-CN" dirty="0"/>
              <a:t>release</a:t>
            </a:r>
            <a:r>
              <a:rPr lang="zh-CN" altLang="en-US" dirty="0"/>
              <a:t>”</a:t>
            </a:r>
            <a:r>
              <a:rPr lang="en-US" altLang="zh-CN" dirty="0"/>
              <a:t>RPM</a:t>
            </a:r>
            <a:r>
              <a:rPr lang="zh-CN" altLang="en-US" dirty="0"/>
              <a:t>包</a:t>
            </a:r>
          </a:p>
          <a:p>
            <a:pPr lvl="1"/>
            <a:r>
              <a:rPr lang="zh-CN" altLang="en-US" dirty="0"/>
              <a:t>使用 </a:t>
            </a:r>
            <a:r>
              <a:rPr lang="en-US" altLang="zh-CN" dirty="0"/>
              <a:t>rpm </a:t>
            </a:r>
            <a:r>
              <a:rPr lang="zh-CN" altLang="en-US" dirty="0"/>
              <a:t>命令安装非官方仓库的“</a:t>
            </a:r>
            <a:r>
              <a:rPr lang="en-US" altLang="zh-CN" dirty="0"/>
              <a:t>release</a:t>
            </a:r>
            <a:r>
              <a:rPr lang="zh-CN" altLang="en-US" dirty="0"/>
              <a:t>”</a:t>
            </a:r>
            <a:r>
              <a:rPr lang="en-US" altLang="zh-CN" dirty="0"/>
              <a:t>RPM</a:t>
            </a:r>
            <a:r>
              <a:rPr lang="zh-CN" altLang="en-US" dirty="0"/>
              <a:t>包</a:t>
            </a:r>
            <a:endParaRPr lang="en-US" altLang="zh-CN" dirty="0"/>
          </a:p>
          <a:p>
            <a:r>
              <a:rPr lang="zh-CN" altLang="en-US" dirty="0">
                <a:solidFill>
                  <a:srgbClr val="FF0000"/>
                </a:solidFill>
              </a:rPr>
              <a:t>未提供仓库 </a:t>
            </a:r>
            <a:r>
              <a:rPr lang="en-US" altLang="zh-CN" dirty="0">
                <a:solidFill>
                  <a:srgbClr val="FF0000"/>
                </a:solidFill>
              </a:rPr>
              <a:t>”release” </a:t>
            </a:r>
            <a:r>
              <a:rPr lang="en-US" altLang="zh-CN" dirty="0">
                <a:solidFill>
                  <a:srgbClr val="C00000"/>
                </a:solidFill>
              </a:rPr>
              <a:t>RPM</a:t>
            </a:r>
            <a:r>
              <a:rPr lang="zh-CN" altLang="en-US" dirty="0">
                <a:solidFill>
                  <a:srgbClr val="C00000"/>
                </a:solidFill>
              </a:rPr>
              <a:t>包</a:t>
            </a:r>
            <a:r>
              <a:rPr lang="zh-CN" altLang="en-US" dirty="0"/>
              <a:t>的非官方仓库</a:t>
            </a:r>
            <a:endParaRPr lang="en-US" altLang="zh-CN" dirty="0"/>
          </a:p>
          <a:p>
            <a:pPr lvl="1"/>
            <a:r>
              <a:rPr lang="zh-CN" altLang="en-US" dirty="0"/>
              <a:t>进入 </a:t>
            </a:r>
            <a:r>
              <a:rPr lang="en-US" altLang="zh-CN" dirty="0"/>
              <a:t>/etc/</a:t>
            </a:r>
            <a:r>
              <a:rPr lang="en-US" altLang="zh-CN" dirty="0" err="1"/>
              <a:t>yum.repos.d</a:t>
            </a:r>
            <a:r>
              <a:rPr lang="en-US" altLang="zh-CN" dirty="0"/>
              <a:t> </a:t>
            </a:r>
            <a:r>
              <a:rPr lang="zh-CN" altLang="en-US" dirty="0"/>
              <a:t>目录</a:t>
            </a:r>
          </a:p>
          <a:p>
            <a:pPr lvl="1"/>
            <a:r>
              <a:rPr lang="zh-CN" altLang="en-US" dirty="0"/>
              <a:t>下载或直接编辑“</a:t>
            </a:r>
            <a:r>
              <a:rPr lang="en-US" altLang="zh-CN" dirty="0"/>
              <a:t>.repo”</a:t>
            </a:r>
            <a:r>
              <a:rPr lang="zh-CN" altLang="en-US" dirty="0"/>
              <a:t>文件</a:t>
            </a:r>
          </a:p>
          <a:p>
            <a:pPr lvl="1"/>
            <a:r>
              <a:rPr lang="zh-CN" altLang="en-US" dirty="0"/>
              <a:t>导入仓库的 </a:t>
            </a:r>
            <a:r>
              <a:rPr lang="en-US" altLang="zh-CN" dirty="0"/>
              <a:t>RPM </a:t>
            </a:r>
            <a:r>
              <a:rPr lang="zh-CN" altLang="en-US" dirty="0"/>
              <a:t>公钥</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YUM</a:t>
            </a:r>
            <a:r>
              <a:rPr lang="zh-CN" altLang="en-US" dirty="0"/>
              <a:t>仓库管理工具</a:t>
            </a:r>
          </a:p>
        </p:txBody>
      </p:sp>
      <p:sp>
        <p:nvSpPr>
          <p:cNvPr id="3" name="内容占位符 2"/>
          <p:cNvSpPr>
            <a:spLocks noGrp="1"/>
          </p:cNvSpPr>
          <p:nvPr>
            <p:ph idx="1"/>
          </p:nvPr>
        </p:nvSpPr>
        <p:spPr>
          <a:xfrm>
            <a:off x="717550" y="1556792"/>
            <a:ext cx="8229600" cy="4862165"/>
          </a:xfrm>
        </p:spPr>
        <p:txBody>
          <a:bodyPr/>
          <a:lstStyle/>
          <a:p>
            <a:r>
              <a:rPr lang="zh-CN" altLang="en-US" dirty="0"/>
              <a:t>软件包</a:t>
            </a:r>
            <a:r>
              <a:rPr lang="en-US" altLang="zh-CN" dirty="0">
                <a:solidFill>
                  <a:srgbClr val="C00000"/>
                </a:solidFill>
              </a:rPr>
              <a:t>createrepo</a:t>
            </a:r>
          </a:p>
          <a:p>
            <a:pPr lvl="1"/>
            <a:r>
              <a:rPr lang="zh-CN" altLang="en-US" dirty="0"/>
              <a:t>提供了 </a:t>
            </a:r>
            <a:r>
              <a:rPr lang="en-US" altLang="zh-CN" dirty="0"/>
              <a:t>createrepo</a:t>
            </a:r>
            <a:r>
              <a:rPr lang="zh-CN" altLang="en-US" dirty="0"/>
              <a:t>命令用于生成</a:t>
            </a:r>
            <a:r>
              <a:rPr lang="en-US" altLang="zh-CN" dirty="0"/>
              <a:t>YUM</a:t>
            </a:r>
            <a:r>
              <a:rPr lang="zh-CN" altLang="en-US" dirty="0"/>
              <a:t>仓库</a:t>
            </a:r>
          </a:p>
          <a:p>
            <a:r>
              <a:rPr lang="zh-CN" altLang="en-US" dirty="0"/>
              <a:t>软件包</a:t>
            </a:r>
            <a:r>
              <a:rPr lang="en-US" altLang="zh-CN" dirty="0">
                <a:solidFill>
                  <a:srgbClr val="C00000"/>
                </a:solidFill>
              </a:rPr>
              <a:t>yum-</a:t>
            </a:r>
            <a:r>
              <a:rPr lang="en-US" altLang="zh-CN" dirty="0" err="1">
                <a:solidFill>
                  <a:srgbClr val="C00000"/>
                </a:solidFill>
              </a:rPr>
              <a:t>utils</a:t>
            </a:r>
            <a:r>
              <a:rPr lang="zh-CN" altLang="en-US" dirty="0"/>
              <a:t>主要提供了如下常用工具</a:t>
            </a:r>
          </a:p>
          <a:p>
            <a:pPr lvl="1"/>
            <a:r>
              <a:rPr lang="en-US" altLang="zh-CN" dirty="0">
                <a:solidFill>
                  <a:schemeClr val="accent6">
                    <a:lumMod val="75000"/>
                  </a:schemeClr>
                </a:solidFill>
              </a:rPr>
              <a:t>yumdownloader</a:t>
            </a:r>
            <a:r>
              <a:rPr lang="zh-CN" altLang="en-US" dirty="0"/>
              <a:t>：从</a:t>
            </a:r>
            <a:r>
              <a:rPr lang="en-US" altLang="zh-CN" dirty="0"/>
              <a:t>YUM</a:t>
            </a:r>
            <a:r>
              <a:rPr lang="zh-CN" altLang="en-US" dirty="0"/>
              <a:t>仓库（包括</a:t>
            </a:r>
            <a:r>
              <a:rPr lang="en-US" altLang="zh-CN" dirty="0"/>
              <a:t>SRPMs</a:t>
            </a:r>
            <a:r>
              <a:rPr lang="zh-CN" altLang="en-US" dirty="0"/>
              <a:t>）</a:t>
            </a:r>
            <a:r>
              <a:rPr lang="zh-CN" altLang="en-US" dirty="0">
                <a:solidFill>
                  <a:srgbClr val="C00000"/>
                </a:solidFill>
              </a:rPr>
              <a:t>下载</a:t>
            </a:r>
            <a:r>
              <a:rPr lang="en-US" altLang="zh-CN" dirty="0">
                <a:solidFill>
                  <a:srgbClr val="C00000"/>
                </a:solidFill>
              </a:rPr>
              <a:t>RPM</a:t>
            </a:r>
            <a:r>
              <a:rPr lang="zh-CN" altLang="en-US" dirty="0">
                <a:solidFill>
                  <a:srgbClr val="C00000"/>
                </a:solidFill>
              </a:rPr>
              <a:t>文件 </a:t>
            </a:r>
          </a:p>
          <a:p>
            <a:pPr lvl="1"/>
            <a:r>
              <a:rPr lang="en-US" altLang="zh-CN" dirty="0" err="1">
                <a:solidFill>
                  <a:schemeClr val="accent6">
                    <a:lumMod val="75000"/>
                  </a:schemeClr>
                </a:solidFill>
              </a:rPr>
              <a:t>reposync</a:t>
            </a:r>
            <a:r>
              <a:rPr lang="zh-CN" altLang="en-US" dirty="0"/>
              <a:t>：使用</a:t>
            </a:r>
            <a:r>
              <a:rPr lang="en-US" altLang="zh-CN" dirty="0"/>
              <a:t>YUM</a:t>
            </a:r>
            <a:r>
              <a:rPr lang="zh-CN" altLang="en-US" dirty="0"/>
              <a:t>配置</a:t>
            </a:r>
            <a:r>
              <a:rPr lang="zh-CN" altLang="en-US" dirty="0">
                <a:solidFill>
                  <a:srgbClr val="C00000"/>
                </a:solidFill>
              </a:rPr>
              <a:t>检索</a:t>
            </a:r>
            <a:r>
              <a:rPr lang="en-US" altLang="zh-CN" dirty="0">
                <a:solidFill>
                  <a:srgbClr val="C00000"/>
                </a:solidFill>
              </a:rPr>
              <a:t>YUM</a:t>
            </a:r>
            <a:r>
              <a:rPr lang="zh-CN" altLang="en-US" dirty="0">
                <a:solidFill>
                  <a:srgbClr val="C00000"/>
                </a:solidFill>
              </a:rPr>
              <a:t>远程仓库</a:t>
            </a:r>
            <a:r>
              <a:rPr lang="zh-CN" altLang="en-US" dirty="0"/>
              <a:t>并同步到本地目录</a:t>
            </a:r>
          </a:p>
          <a:p>
            <a:pPr lvl="1"/>
            <a:r>
              <a:rPr lang="en-US" altLang="zh-CN" dirty="0" err="1">
                <a:solidFill>
                  <a:schemeClr val="accent6">
                    <a:lumMod val="75000"/>
                  </a:schemeClr>
                </a:solidFill>
              </a:rPr>
              <a:t>verifytree</a:t>
            </a:r>
            <a:r>
              <a:rPr lang="zh-CN" altLang="en-US" dirty="0"/>
              <a:t>：校验本地</a:t>
            </a:r>
            <a:r>
              <a:rPr lang="en-US" altLang="zh-CN" dirty="0"/>
              <a:t>YUM</a:t>
            </a:r>
            <a:r>
              <a:rPr lang="zh-CN" altLang="en-US" dirty="0"/>
              <a:t>仓库的</a:t>
            </a:r>
            <a:r>
              <a:rPr lang="zh-CN" altLang="en-US" dirty="0">
                <a:solidFill>
                  <a:srgbClr val="C00000"/>
                </a:solidFill>
              </a:rPr>
              <a:t>一致性</a:t>
            </a:r>
          </a:p>
          <a:p>
            <a:pPr lvl="1"/>
            <a:r>
              <a:rPr lang="en-US" altLang="zh-CN" dirty="0">
                <a:solidFill>
                  <a:schemeClr val="accent6">
                    <a:lumMod val="75000"/>
                  </a:schemeClr>
                </a:solidFill>
              </a:rPr>
              <a:t>yum-complete-transaction</a:t>
            </a:r>
            <a:r>
              <a:rPr lang="zh-CN" altLang="en-US" dirty="0"/>
              <a:t>：查找并处理</a:t>
            </a:r>
            <a:r>
              <a:rPr lang="en-US" altLang="zh-CN" dirty="0"/>
              <a:t>YUM</a:t>
            </a:r>
            <a:r>
              <a:rPr lang="zh-CN" altLang="en-US" dirty="0">
                <a:solidFill>
                  <a:srgbClr val="C00000"/>
                </a:solidFill>
              </a:rPr>
              <a:t>完整性</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本地仓库创建过程</a:t>
            </a:r>
          </a:p>
        </p:txBody>
      </p:sp>
      <p:sp>
        <p:nvSpPr>
          <p:cNvPr id="3" name="内容占位符 2"/>
          <p:cNvSpPr>
            <a:spLocks noGrp="1"/>
          </p:cNvSpPr>
          <p:nvPr>
            <p:ph idx="1"/>
          </p:nvPr>
        </p:nvSpPr>
        <p:spPr>
          <a:xfrm>
            <a:off x="971600" y="1371600"/>
            <a:ext cx="7772400" cy="4114800"/>
          </a:xfrm>
        </p:spPr>
        <p:txBody>
          <a:bodyPr/>
          <a:lstStyle/>
          <a:p>
            <a:r>
              <a:rPr lang="zh-CN" altLang="en-US" dirty="0"/>
              <a:t>创建存放</a:t>
            </a:r>
            <a:r>
              <a:rPr lang="en-US" altLang="zh-CN" dirty="0"/>
              <a:t>RPM</a:t>
            </a:r>
            <a:r>
              <a:rPr lang="zh-CN" altLang="en-US" dirty="0"/>
              <a:t>包的目录</a:t>
            </a:r>
          </a:p>
          <a:p>
            <a:r>
              <a:rPr lang="zh-CN" altLang="en-US" dirty="0"/>
              <a:t>在</a:t>
            </a:r>
            <a:r>
              <a:rPr lang="en-US" altLang="zh-CN" dirty="0"/>
              <a:t>RPM</a:t>
            </a:r>
            <a:r>
              <a:rPr lang="zh-CN" altLang="en-US" dirty="0"/>
              <a:t>包的目录中准备</a:t>
            </a:r>
            <a:r>
              <a:rPr lang="en-US" altLang="zh-CN" dirty="0"/>
              <a:t>RPM</a:t>
            </a:r>
            <a:r>
              <a:rPr lang="zh-CN" altLang="en-US" dirty="0"/>
              <a:t>包文件：</a:t>
            </a:r>
            <a:endParaRPr lang="en-US" altLang="zh-CN" dirty="0"/>
          </a:p>
          <a:p>
            <a:pPr lvl="1">
              <a:buNone/>
            </a:pPr>
            <a:r>
              <a:rPr lang="en-US" altLang="zh-CN" dirty="0">
                <a:solidFill>
                  <a:srgbClr val="C00000"/>
                </a:solidFill>
              </a:rPr>
              <a:t>1</a:t>
            </a:r>
            <a:r>
              <a:rPr lang="zh-CN" altLang="en-US" dirty="0">
                <a:solidFill>
                  <a:srgbClr val="C00000"/>
                </a:solidFill>
              </a:rPr>
              <a:t>）</a:t>
            </a:r>
            <a:r>
              <a:rPr lang="zh-CN" altLang="en-US" dirty="0"/>
              <a:t>从安装光盘获得</a:t>
            </a:r>
          </a:p>
          <a:p>
            <a:pPr lvl="1">
              <a:buNone/>
            </a:pPr>
            <a:r>
              <a:rPr lang="en-US" altLang="zh-CN" dirty="0">
                <a:solidFill>
                  <a:srgbClr val="C00000"/>
                </a:solidFill>
              </a:rPr>
              <a:t>2</a:t>
            </a:r>
            <a:r>
              <a:rPr lang="zh-CN" altLang="en-US" dirty="0">
                <a:solidFill>
                  <a:srgbClr val="C00000"/>
                </a:solidFill>
              </a:rPr>
              <a:t>）</a:t>
            </a:r>
            <a:r>
              <a:rPr lang="zh-CN" altLang="en-US" dirty="0"/>
              <a:t>通过</a:t>
            </a:r>
            <a:r>
              <a:rPr lang="en-US" altLang="zh-CN" dirty="0" err="1"/>
              <a:t>wget</a:t>
            </a:r>
            <a:r>
              <a:rPr lang="zh-CN" altLang="en-US" dirty="0"/>
              <a:t>、</a:t>
            </a:r>
            <a:r>
              <a:rPr lang="en-US" altLang="zh-CN" dirty="0" err="1"/>
              <a:t>lftp</a:t>
            </a:r>
            <a:r>
              <a:rPr lang="zh-CN" altLang="en-US" dirty="0"/>
              <a:t>等工具从远程下载</a:t>
            </a:r>
          </a:p>
          <a:p>
            <a:pPr lvl="1">
              <a:buNone/>
            </a:pPr>
            <a:r>
              <a:rPr lang="en-US" altLang="zh-CN" dirty="0">
                <a:solidFill>
                  <a:srgbClr val="C00000"/>
                </a:solidFill>
              </a:rPr>
              <a:t>3</a:t>
            </a:r>
            <a:r>
              <a:rPr lang="zh-CN" altLang="en-US" dirty="0">
                <a:solidFill>
                  <a:srgbClr val="C00000"/>
                </a:solidFill>
              </a:rPr>
              <a:t>）</a:t>
            </a:r>
            <a:r>
              <a:rPr lang="zh-CN" altLang="en-US" dirty="0"/>
              <a:t>通过 </a:t>
            </a:r>
            <a:r>
              <a:rPr lang="en-US" altLang="zh-CN" dirty="0"/>
              <a:t>yumdownloader </a:t>
            </a:r>
            <a:r>
              <a:rPr lang="zh-CN" altLang="en-US" dirty="0"/>
              <a:t>工具从远程下载</a:t>
            </a:r>
          </a:p>
          <a:p>
            <a:pPr lvl="2"/>
            <a:r>
              <a:rPr lang="en-US" altLang="zh-CN" dirty="0">
                <a:solidFill>
                  <a:schemeClr val="accent6">
                    <a:lumMod val="75000"/>
                  </a:schemeClr>
                </a:solidFill>
              </a:rPr>
              <a:t>yumdownloader  --resolve   #</a:t>
            </a:r>
            <a:r>
              <a:rPr lang="zh-CN" altLang="en-US" dirty="0"/>
              <a:t>可以同时下载被依赖的</a:t>
            </a:r>
            <a:r>
              <a:rPr lang="en-US" altLang="zh-CN" dirty="0"/>
              <a:t>RPM</a:t>
            </a:r>
            <a:r>
              <a:rPr lang="zh-CN" altLang="en-US" dirty="0"/>
              <a:t>包</a:t>
            </a:r>
          </a:p>
          <a:p>
            <a:pPr lvl="2"/>
            <a:r>
              <a:rPr lang="en-US" altLang="zh-CN" dirty="0">
                <a:solidFill>
                  <a:schemeClr val="accent6">
                    <a:lumMod val="75000"/>
                  </a:schemeClr>
                </a:solidFill>
              </a:rPr>
              <a:t>yumdownloader  --source    #</a:t>
            </a:r>
            <a:r>
              <a:rPr lang="zh-CN" altLang="en-US" dirty="0"/>
              <a:t>可以下载</a:t>
            </a:r>
            <a:r>
              <a:rPr lang="en-US" altLang="zh-CN" dirty="0"/>
              <a:t>SRPM</a:t>
            </a:r>
            <a:r>
              <a:rPr lang="zh-CN" altLang="en-US" dirty="0"/>
              <a:t>的</a:t>
            </a:r>
            <a:r>
              <a:rPr lang="en-US" altLang="zh-CN" dirty="0"/>
              <a:t>RPM</a:t>
            </a:r>
            <a:r>
              <a:rPr lang="zh-CN" altLang="en-US" dirty="0"/>
              <a:t>包</a:t>
            </a:r>
          </a:p>
          <a:p>
            <a:pPr lvl="1">
              <a:buNone/>
            </a:pPr>
            <a:r>
              <a:rPr lang="en-US" altLang="zh-CN" dirty="0">
                <a:solidFill>
                  <a:srgbClr val="C00000"/>
                </a:solidFill>
              </a:rPr>
              <a:t>4</a:t>
            </a:r>
            <a:r>
              <a:rPr lang="zh-CN" altLang="en-US" dirty="0">
                <a:solidFill>
                  <a:srgbClr val="C00000"/>
                </a:solidFill>
              </a:rPr>
              <a:t>）</a:t>
            </a:r>
            <a:r>
              <a:rPr lang="zh-CN" altLang="en-US" dirty="0"/>
              <a:t>可以使用 </a:t>
            </a:r>
            <a:r>
              <a:rPr lang="en-US" altLang="zh-CN" dirty="0" smtClean="0"/>
              <a:t>rpmbuild</a:t>
            </a:r>
            <a:r>
              <a:rPr lang="zh-CN" altLang="en-US" dirty="0" smtClean="0"/>
              <a:t>命令</a:t>
            </a:r>
            <a:r>
              <a:rPr lang="zh-CN" altLang="en-US" dirty="0"/>
              <a:t>本地编译</a:t>
            </a:r>
            <a:endParaRPr lang="en-US" altLang="zh-CN" dirty="0"/>
          </a:p>
          <a:p>
            <a:r>
              <a:rPr lang="zh-CN" altLang="en-US" dirty="0"/>
              <a:t>使用</a:t>
            </a:r>
            <a:r>
              <a:rPr lang="en-US" altLang="zh-CN" dirty="0"/>
              <a:t>createrepo</a:t>
            </a:r>
            <a:r>
              <a:rPr lang="zh-CN" altLang="en-US" dirty="0"/>
              <a:t>命令生成本地仓库</a:t>
            </a:r>
            <a:endParaRPr lang="zh-CN" altLang="en-US" sz="28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createrepo </a:t>
            </a:r>
            <a:r>
              <a:rPr lang="zh-CN" altLang="en-US" dirty="0"/>
              <a:t>命令</a:t>
            </a:r>
          </a:p>
        </p:txBody>
      </p:sp>
      <p:sp>
        <p:nvSpPr>
          <p:cNvPr id="3" name="内容占位符 2"/>
          <p:cNvSpPr>
            <a:spLocks noGrp="1"/>
          </p:cNvSpPr>
          <p:nvPr>
            <p:ph idx="1"/>
          </p:nvPr>
        </p:nvSpPr>
        <p:spPr>
          <a:xfrm>
            <a:off x="717550" y="1484784"/>
            <a:ext cx="8229600" cy="4790157"/>
          </a:xfrm>
        </p:spPr>
        <p:txBody>
          <a:bodyPr/>
          <a:lstStyle/>
          <a:p>
            <a:r>
              <a:rPr lang="zh-CN" altLang="en-US" dirty="0"/>
              <a:t>命令格式</a:t>
            </a:r>
          </a:p>
          <a:p>
            <a:pPr lvl="1"/>
            <a:r>
              <a:rPr lang="en-US" altLang="zh-CN" dirty="0">
                <a:solidFill>
                  <a:schemeClr val="accent6">
                    <a:lumMod val="75000"/>
                  </a:schemeClr>
                </a:solidFill>
              </a:rPr>
              <a:t>createrepo [</a:t>
            </a:r>
            <a:r>
              <a:rPr lang="zh-CN" altLang="en-US" dirty="0">
                <a:solidFill>
                  <a:schemeClr val="accent6">
                    <a:lumMod val="75000"/>
                  </a:schemeClr>
                </a:solidFill>
              </a:rPr>
              <a:t>选项</a:t>
            </a:r>
            <a:r>
              <a:rPr lang="en-US" altLang="zh-CN" dirty="0">
                <a:solidFill>
                  <a:schemeClr val="accent6">
                    <a:lumMod val="75000"/>
                  </a:schemeClr>
                </a:solidFill>
              </a:rPr>
              <a:t>] </a:t>
            </a:r>
            <a:r>
              <a:rPr lang="zh-CN" altLang="en-US" dirty="0">
                <a:solidFill>
                  <a:schemeClr val="accent6">
                    <a:lumMod val="75000"/>
                  </a:schemeClr>
                </a:solidFill>
              </a:rPr>
              <a:t>包目录</a:t>
            </a:r>
          </a:p>
          <a:p>
            <a:r>
              <a:rPr lang="zh-CN" altLang="en-US" dirty="0"/>
              <a:t>常用选项</a:t>
            </a:r>
          </a:p>
          <a:p>
            <a:pPr lvl="1"/>
            <a:r>
              <a:rPr lang="en-US" altLang="zh-CN" dirty="0">
                <a:solidFill>
                  <a:schemeClr val="accent6">
                    <a:lumMod val="75000"/>
                  </a:schemeClr>
                </a:solidFill>
              </a:rPr>
              <a:t>-g, --</a:t>
            </a:r>
            <a:r>
              <a:rPr lang="en-US" altLang="zh-CN" dirty="0" err="1">
                <a:solidFill>
                  <a:schemeClr val="accent6">
                    <a:lumMod val="75000"/>
                  </a:schemeClr>
                </a:solidFill>
              </a:rPr>
              <a:t>groupfile</a:t>
            </a:r>
            <a:r>
              <a:rPr lang="en-US" altLang="zh-CN" dirty="0">
                <a:solidFill>
                  <a:schemeClr val="accent6">
                    <a:lumMod val="75000"/>
                  </a:schemeClr>
                </a:solidFill>
              </a:rPr>
              <a:t> &lt;filename&gt;</a:t>
            </a:r>
            <a:r>
              <a:rPr lang="zh-CN" altLang="en-US" dirty="0"/>
              <a:t>：指定</a:t>
            </a:r>
            <a:r>
              <a:rPr lang="en-US" altLang="zh-CN" dirty="0"/>
              <a:t>YUM</a:t>
            </a:r>
            <a:r>
              <a:rPr lang="zh-CN" altLang="en-US" dirty="0"/>
              <a:t>组操作所需的</a:t>
            </a:r>
            <a:r>
              <a:rPr lang="en-US" altLang="zh-CN" dirty="0"/>
              <a:t>XML</a:t>
            </a:r>
            <a:r>
              <a:rPr lang="zh-CN" altLang="en-US" dirty="0"/>
              <a:t>文件</a:t>
            </a:r>
          </a:p>
          <a:p>
            <a:pPr lvl="1"/>
            <a:r>
              <a:rPr lang="en-US" altLang="zh-CN" dirty="0">
                <a:solidFill>
                  <a:schemeClr val="accent6">
                    <a:lumMod val="75000"/>
                  </a:schemeClr>
                </a:solidFill>
              </a:rPr>
              <a:t>-d, --database</a:t>
            </a:r>
            <a:r>
              <a:rPr lang="zh-CN" altLang="en-US" dirty="0"/>
              <a:t>：生成</a:t>
            </a:r>
            <a:r>
              <a:rPr lang="en-US" altLang="zh-CN" dirty="0" err="1"/>
              <a:t>sqlite</a:t>
            </a:r>
            <a:r>
              <a:rPr lang="en-US" altLang="zh-CN" dirty="0"/>
              <a:t> </a:t>
            </a:r>
            <a:r>
              <a:rPr lang="zh-CN" altLang="en-US" dirty="0"/>
              <a:t>数据库文件</a:t>
            </a:r>
          </a:p>
          <a:p>
            <a:pPr lvl="1"/>
            <a:r>
              <a:rPr lang="en-US" altLang="zh-CN" dirty="0">
                <a:solidFill>
                  <a:schemeClr val="accent6">
                    <a:lumMod val="75000"/>
                  </a:schemeClr>
                </a:solidFill>
              </a:rPr>
              <a:t>--update</a:t>
            </a:r>
            <a:r>
              <a:rPr lang="zh-CN" altLang="en-US" dirty="0"/>
              <a:t>：更新仓库的元数据文件</a:t>
            </a:r>
          </a:p>
          <a:p>
            <a:pPr lvl="1"/>
            <a:r>
              <a:rPr lang="en-US" altLang="zh-CN" dirty="0">
                <a:solidFill>
                  <a:schemeClr val="accent6">
                    <a:lumMod val="75000"/>
                  </a:schemeClr>
                </a:solidFill>
              </a:rPr>
              <a:t>-q, --quiet</a:t>
            </a:r>
            <a:r>
              <a:rPr lang="zh-CN" altLang="en-US" dirty="0"/>
              <a:t>：不显示操作过程</a:t>
            </a:r>
          </a:p>
          <a:p>
            <a:pPr lvl="1"/>
            <a:r>
              <a:rPr lang="en-US" altLang="zh-CN" dirty="0">
                <a:solidFill>
                  <a:schemeClr val="accent6">
                    <a:lumMod val="75000"/>
                  </a:schemeClr>
                </a:solidFill>
              </a:rPr>
              <a:t>-v, --verbose</a:t>
            </a:r>
            <a:r>
              <a:rPr lang="zh-CN" altLang="en-US" dirty="0"/>
              <a:t>：显示完整的操作过程</a:t>
            </a:r>
          </a:p>
          <a:p>
            <a:pPr lvl="1"/>
            <a:r>
              <a:rPr lang="en-US" altLang="zh-CN" dirty="0">
                <a:solidFill>
                  <a:schemeClr val="accent6">
                    <a:lumMod val="75000"/>
                  </a:schemeClr>
                </a:solidFill>
              </a:rPr>
              <a:t>-h, --help</a:t>
            </a:r>
            <a:r>
              <a:rPr lang="zh-CN" altLang="en-US" dirty="0"/>
              <a:t>：显示帮助信息</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dirty="0"/>
              <a:t>思考</a:t>
            </a:r>
          </a:p>
        </p:txBody>
      </p:sp>
      <p:sp>
        <p:nvSpPr>
          <p:cNvPr id="108547" name="Rectangle 3"/>
          <p:cNvSpPr>
            <a:spLocks noGrp="1" noChangeArrowheads="1"/>
          </p:cNvSpPr>
          <p:nvPr>
            <p:ph idx="1"/>
          </p:nvPr>
        </p:nvSpPr>
        <p:spPr>
          <a:xfrm>
            <a:off x="426368" y="1484784"/>
            <a:ext cx="8291264" cy="4934173"/>
          </a:xfrm>
        </p:spPr>
        <p:txBody>
          <a:bodyPr/>
          <a:lstStyle/>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什么是</a:t>
            </a:r>
            <a:r>
              <a:rPr lang="en-US" altLang="zh-CN" b="1" dirty="0">
                <a:solidFill>
                  <a:srgbClr val="C00000"/>
                </a:solidFill>
                <a:latin typeface="微软雅黑" panose="020B0503020204020204" pitchFamily="34" charset="-122"/>
                <a:ea typeface="微软雅黑" panose="020B0503020204020204" pitchFamily="34" charset="-122"/>
              </a:rPr>
              <a:t>RPM</a:t>
            </a:r>
            <a:r>
              <a:rPr lang="zh-CN" altLang="en-US" b="1" dirty="0">
                <a:solidFill>
                  <a:srgbClr val="C00000"/>
                </a:solidFill>
                <a:latin typeface="微软雅黑" panose="020B0503020204020204" pitchFamily="34" charset="-122"/>
                <a:ea typeface="微软雅黑" panose="020B0503020204020204" pitchFamily="34" charset="-122"/>
              </a:rPr>
              <a:t>？为什么使用</a:t>
            </a:r>
            <a:r>
              <a:rPr lang="en-US" altLang="zh-CN" b="1" dirty="0">
                <a:solidFill>
                  <a:srgbClr val="C00000"/>
                </a:solidFill>
                <a:latin typeface="微软雅黑" panose="020B0503020204020204" pitchFamily="34" charset="-122"/>
                <a:ea typeface="微软雅黑" panose="020B0503020204020204" pitchFamily="34" charset="-122"/>
              </a:rPr>
              <a:t>RPM</a:t>
            </a:r>
            <a:r>
              <a:rPr lang="zh-CN" altLang="en-US" b="1" dirty="0">
                <a:solidFill>
                  <a:srgbClr val="C00000"/>
                </a:solidFill>
                <a:latin typeface="微软雅黑" panose="020B0503020204020204" pitchFamily="34" charset="-122"/>
                <a:ea typeface="微软雅黑" panose="020B0503020204020204" pitchFamily="34" charset="-122"/>
              </a:rPr>
              <a:t>？</a:t>
            </a:r>
            <a:r>
              <a:rPr lang="en-US" altLang="zh-CN" b="1" dirty="0">
                <a:solidFill>
                  <a:srgbClr val="C00000"/>
                </a:solidFill>
                <a:latin typeface="微软雅黑" panose="020B0503020204020204" pitchFamily="34" charset="-122"/>
                <a:ea typeface="微软雅黑" panose="020B0503020204020204" pitchFamily="34" charset="-122"/>
              </a:rPr>
              <a:t>RPM</a:t>
            </a:r>
            <a:r>
              <a:rPr lang="zh-CN" altLang="en-US" b="1" dirty="0">
                <a:solidFill>
                  <a:srgbClr val="C00000"/>
                </a:solidFill>
                <a:latin typeface="微软雅黑" panose="020B0503020204020204" pitchFamily="34" charset="-122"/>
                <a:ea typeface="微软雅黑" panose="020B0503020204020204" pitchFamily="34" charset="-122"/>
              </a:rPr>
              <a:t>具有什么功能？</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举例说明使用</a:t>
            </a:r>
            <a:r>
              <a:rPr lang="en-US" altLang="zh-CN" b="1" dirty="0">
                <a:solidFill>
                  <a:srgbClr val="C00000"/>
                </a:solidFill>
                <a:latin typeface="微软雅黑" panose="020B0503020204020204" pitchFamily="34" charset="-122"/>
                <a:ea typeface="微软雅黑" panose="020B0503020204020204" pitchFamily="34" charset="-122"/>
              </a:rPr>
              <a:t>RPM</a:t>
            </a:r>
            <a:r>
              <a:rPr lang="zh-CN" altLang="en-US" b="1" dirty="0">
                <a:solidFill>
                  <a:srgbClr val="C00000"/>
                </a:solidFill>
                <a:latin typeface="微软雅黑" panose="020B0503020204020204" pitchFamily="34" charset="-122"/>
                <a:ea typeface="微软雅黑" panose="020B0503020204020204" pitchFamily="34" charset="-122"/>
              </a:rPr>
              <a:t>命令安装、升级、删除、查询、校验软件包的方法。</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为何使用</a:t>
            </a:r>
            <a:r>
              <a:rPr lang="en-US" altLang="zh-CN" b="1" dirty="0">
                <a:solidFill>
                  <a:srgbClr val="C00000"/>
                </a:solidFill>
                <a:latin typeface="微软雅黑" panose="020B0503020204020204" pitchFamily="34" charset="-122"/>
                <a:ea typeface="微软雅黑" panose="020B0503020204020204" pitchFamily="34" charset="-122"/>
              </a:rPr>
              <a:t>YUM</a:t>
            </a:r>
            <a:r>
              <a:rPr lang="zh-CN" altLang="en-US" b="1" dirty="0">
                <a:solidFill>
                  <a:srgbClr val="C00000"/>
                </a:solidFill>
                <a:latin typeface="微软雅黑" panose="020B0503020204020204" pitchFamily="34" charset="-122"/>
                <a:ea typeface="微软雅黑" panose="020B0503020204020204" pitchFamily="34" charset="-122"/>
              </a:rPr>
              <a:t>？</a:t>
            </a:r>
            <a:r>
              <a:rPr lang="en-US" altLang="zh-CN" b="1" dirty="0">
                <a:solidFill>
                  <a:srgbClr val="C00000"/>
                </a:solidFill>
                <a:latin typeface="微软雅黑" panose="020B0503020204020204" pitchFamily="34" charset="-122"/>
                <a:ea typeface="微软雅黑" panose="020B0503020204020204" pitchFamily="34" charset="-122"/>
              </a:rPr>
              <a:t>yum</a:t>
            </a:r>
            <a:r>
              <a:rPr lang="zh-CN" altLang="en-US" b="1" dirty="0">
                <a:solidFill>
                  <a:srgbClr val="C00000"/>
                </a:solidFill>
                <a:latin typeface="微软雅黑" panose="020B0503020204020204" pitchFamily="34" charset="-122"/>
                <a:ea typeface="微软雅黑" panose="020B0503020204020204" pitchFamily="34" charset="-122"/>
              </a:rPr>
              <a:t>常用命令及参数有哪些？</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如何创建本地仓库？</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镜像远程仓库可以使用哪些命令工具？</a:t>
            </a:r>
          </a:p>
          <a:p>
            <a:endParaRPr lang="zh-CN" altLang="en-US" sz="2400" dirty="0"/>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17246</TotalTime>
  <Words>12575</Words>
  <Application>Microsoft Office PowerPoint</Application>
  <PresentationFormat>全屏显示(4:3)</PresentationFormat>
  <Paragraphs>1746</Paragraphs>
  <Slides>140</Slides>
  <Notes>95</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140</vt:i4>
      </vt:variant>
    </vt:vector>
  </HeadingPairs>
  <TitlesOfParts>
    <vt:vector size="158" baseType="lpstr">
      <vt:lpstr>方正粗倩简体</vt:lpstr>
      <vt:lpstr>仿宋</vt:lpstr>
      <vt:lpstr>黑体</vt:lpstr>
      <vt:lpstr>华文行楷</vt:lpstr>
      <vt:lpstr>楷体</vt:lpstr>
      <vt:lpstr>楷体_GB2312</vt:lpstr>
      <vt:lpstr>宋体</vt:lpstr>
      <vt:lpstr>微软雅黑</vt:lpstr>
      <vt:lpstr>细明体</vt:lpstr>
      <vt:lpstr>新细明体</vt:lpstr>
      <vt:lpstr>Arial</vt:lpstr>
      <vt:lpstr>Broadway</vt:lpstr>
      <vt:lpstr>Calibri</vt:lpstr>
      <vt:lpstr>Microsoft Sans Serif</vt:lpstr>
      <vt:lpstr>Tahoma</vt:lpstr>
      <vt:lpstr>Times New Roman</vt:lpstr>
      <vt:lpstr>Wingdings</vt:lpstr>
      <vt:lpstr>Blends</vt:lpstr>
      <vt:lpstr>     Linux操作系统</vt:lpstr>
      <vt:lpstr>本章内容要点</vt:lpstr>
      <vt:lpstr>一 Linux网络支持—网络协议</vt:lpstr>
      <vt:lpstr>一 Linux网络支持—网络接口</vt:lpstr>
      <vt:lpstr>常见的网络接口</vt:lpstr>
      <vt:lpstr>一致的网络设备命名</vt:lpstr>
      <vt:lpstr>一致的网络设备名举例</vt:lpstr>
      <vt:lpstr>禁用一致的网络设备名</vt:lpstr>
      <vt:lpstr>Linux的网络服务应用</vt:lpstr>
      <vt:lpstr>二 配置网络参数的方法</vt:lpstr>
      <vt:lpstr>临时性配置—ip命令显示网络参数</vt:lpstr>
      <vt:lpstr>临时性配置—ip命令显示网络参数</vt:lpstr>
      <vt:lpstr>临时性配置—ip命令显示网络参数</vt:lpstr>
      <vt:lpstr>临时性配置—ip命令更改IP网络地址</vt:lpstr>
      <vt:lpstr>临时性配置— ip命令设置静态路由</vt:lpstr>
      <vt:lpstr>临时性配置—设置包转发</vt:lpstr>
      <vt:lpstr>永久性配置—TCP/IP配置文件</vt:lpstr>
      <vt:lpstr>永久性配置—TCP/IP配置文件</vt:lpstr>
      <vt:lpstr>网络接口配置文件</vt:lpstr>
      <vt:lpstr>网络接口配置文件举例—静态配置</vt:lpstr>
      <vt:lpstr>为网络接口绑定多个IP地址</vt:lpstr>
      <vt:lpstr>网络接口配置文件举例—动态配置</vt:lpstr>
      <vt:lpstr>网络接口的静态路由配置文件</vt:lpstr>
      <vt:lpstr>本地域名解析配置文件</vt:lpstr>
      <vt:lpstr>配置远程域名解析器</vt:lpstr>
      <vt:lpstr>配置域名解析顺序</vt:lpstr>
      <vt:lpstr>设置包转发</vt:lpstr>
      <vt:lpstr>三 NetworkManager服务</vt:lpstr>
      <vt:lpstr>三 NetworkManager服务</vt:lpstr>
      <vt:lpstr>使用nmcli显示网络接口设备</vt:lpstr>
      <vt:lpstr>使用nmcli显示网络接口设备</vt:lpstr>
      <vt:lpstr>使用nmcli显示网络接口设备</vt:lpstr>
      <vt:lpstr>使用nmcli显示连接</vt:lpstr>
      <vt:lpstr>使用nmcli管理连接</vt:lpstr>
      <vt:lpstr>使用nmcli管理连接（续）</vt:lpstr>
      <vt:lpstr>使用nmcli配置网络参数</vt:lpstr>
      <vt:lpstr>使用nmcli配置网络参数(续)</vt:lpstr>
      <vt:lpstr>使用nmcli配置网络</vt:lpstr>
      <vt:lpstr>本章内容要点</vt:lpstr>
      <vt:lpstr>一 网络检测的常用工具</vt:lpstr>
      <vt:lpstr>ping和traceroute</vt:lpstr>
      <vt:lpstr>查看网络端口的使用情况</vt:lpstr>
      <vt:lpstr>查看套接字统计信息</vt:lpstr>
      <vt:lpstr>dig命令</vt:lpstr>
      <vt:lpstr>网络客户工具—图形界面</vt:lpstr>
      <vt:lpstr>字符界面网络工具</vt:lpstr>
      <vt:lpstr>传统的ftp命令</vt:lpstr>
      <vt:lpstr>lftp简介</vt:lpstr>
      <vt:lpstr>lftp的交互模式</vt:lpstr>
      <vt:lpstr>lftp的交互子命令</vt:lpstr>
      <vt:lpstr>lftp的交互子命令— get/put</vt:lpstr>
      <vt:lpstr>lftp的交互模式</vt:lpstr>
      <vt:lpstr>lftp的交互子命令—mget/mput</vt:lpstr>
      <vt:lpstr>lftp的交互子命令—pget</vt:lpstr>
      <vt:lpstr>lftp的交互子命令—mirror</vt:lpstr>
      <vt:lpstr>lftp的交互子命令—mirror选项</vt:lpstr>
      <vt:lpstr>lftp的交互子命令—mirror举例</vt:lpstr>
      <vt:lpstr>lftp的环境设置</vt:lpstr>
      <vt:lpstr>wget简介</vt:lpstr>
      <vt:lpstr>wget命令</vt:lpstr>
      <vt:lpstr>wget命令—常用下载选项</vt:lpstr>
      <vt:lpstr>wget命令—常用筛选选项</vt:lpstr>
      <vt:lpstr>wget命令—常用筛选选项</vt:lpstr>
      <vt:lpstr>wget命令—常用筛选选项</vt:lpstr>
      <vt:lpstr>字符界面浏览器— links/w3m</vt:lpstr>
      <vt:lpstr>字符界面浏览器— links/w3m</vt:lpstr>
      <vt:lpstr>邮件客户—mutt</vt:lpstr>
      <vt:lpstr>文件同步—rsync</vt:lpstr>
      <vt:lpstr>rsync 的基本特性</vt:lpstr>
      <vt:lpstr>rsync 使用的两种方式</vt:lpstr>
      <vt:lpstr>rsync 命令</vt:lpstr>
      <vt:lpstr>rsync 命令的常用选项</vt:lpstr>
      <vt:lpstr>rsync 命令的常用选项续</vt:lpstr>
      <vt:lpstr>rsync 命令应用举例（1）</vt:lpstr>
      <vt:lpstr>rsync 命令应用举例（2）</vt:lpstr>
      <vt:lpstr>ssh</vt:lpstr>
      <vt:lpstr>scp</vt:lpstr>
      <vt:lpstr>sftp</vt:lpstr>
      <vt:lpstr>PowerPoint 演示文稿</vt:lpstr>
      <vt:lpstr>PowerPoint 演示文稿</vt:lpstr>
      <vt:lpstr>PowerPoint 演示文稿</vt:lpstr>
      <vt:lpstr>思考</vt:lpstr>
      <vt:lpstr>回顾</vt:lpstr>
      <vt:lpstr>回顾</vt:lpstr>
      <vt:lpstr>永久性配置—TCP/IP配置文件</vt:lpstr>
      <vt:lpstr>回顾</vt:lpstr>
      <vt:lpstr>回顾</vt:lpstr>
      <vt:lpstr>回顾</vt:lpstr>
      <vt:lpstr>回顾</vt:lpstr>
      <vt:lpstr>回顾</vt:lpstr>
      <vt:lpstr>本章内容要点</vt:lpstr>
      <vt:lpstr>一 RPM概述</vt:lpstr>
      <vt:lpstr>RPM的优点</vt:lpstr>
      <vt:lpstr>RPM的缺点</vt:lpstr>
      <vt:lpstr>RPM包的名称格式</vt:lpstr>
      <vt:lpstr>获得RPM包</vt:lpstr>
      <vt:lpstr>RPM的五大功能</vt:lpstr>
      <vt:lpstr>安装、升级和卸载软件</vt:lpstr>
      <vt:lpstr>升级和更新软件</vt:lpstr>
      <vt:lpstr>RPM的基本查询</vt:lpstr>
      <vt:lpstr>RPM的基本查询说明</vt:lpstr>
      <vt:lpstr>RPM的基本查询说明</vt:lpstr>
      <vt:lpstr>RPM的基本查询说明</vt:lpstr>
      <vt:lpstr>RPM的基本查询说明</vt:lpstr>
      <vt:lpstr>RPM的基本查询举例1</vt:lpstr>
      <vt:lpstr>RPM的基本查询举例2</vt:lpstr>
      <vt:lpstr>RPM的基本查询举例3</vt:lpstr>
      <vt:lpstr>RPM校验</vt:lpstr>
      <vt:lpstr>RPM校验举例</vt:lpstr>
      <vt:lpstr>RPM校验结果说明</vt:lpstr>
      <vt:lpstr>RPM校验结果说明</vt:lpstr>
      <vt:lpstr>RPM包的公钥和签名</vt:lpstr>
      <vt:lpstr>RPM包的公钥和签名</vt:lpstr>
      <vt:lpstr>PowerPoint 演示文稿</vt:lpstr>
      <vt:lpstr>软件包管理与系统更新</vt:lpstr>
      <vt:lpstr>其他Linux发行的更新软件</vt:lpstr>
      <vt:lpstr>二 YUM简介</vt:lpstr>
      <vt:lpstr>yum 的特点</vt:lpstr>
      <vt:lpstr>YUM组件</vt:lpstr>
      <vt:lpstr>YUM使用流程</vt:lpstr>
      <vt:lpstr>YUM仓库</vt:lpstr>
      <vt:lpstr>yum命令语法</vt:lpstr>
      <vt:lpstr>yum 安装、升级和卸载</vt:lpstr>
      <vt:lpstr>yum查询</vt:lpstr>
      <vt:lpstr>yum查询</vt:lpstr>
      <vt:lpstr>yum查询</vt:lpstr>
      <vt:lpstr>yum查询</vt:lpstr>
      <vt:lpstr>yum的更多用法</vt:lpstr>
      <vt:lpstr>YUM主配置文件/etc/yum.conf</vt:lpstr>
      <vt:lpstr>仓库配置/etc/yum.repos.d/*.repo</vt:lpstr>
      <vt:lpstr>仓库配置/etc/yum.repos.d/*.repo</vt:lpstr>
      <vt:lpstr>仓库配置/etc/yum.repos.d/*.repo</vt:lpstr>
      <vt:lpstr>仓库配置/etc/yum.repos.d/*.repo</vt:lpstr>
      <vt:lpstr>为什么使用非官方仓库</vt:lpstr>
      <vt:lpstr>常用的非官方仓库</vt:lpstr>
      <vt:lpstr>使用非官方仓库有两种方法</vt:lpstr>
      <vt:lpstr>YUM仓库管理工具</vt:lpstr>
      <vt:lpstr>本地仓库创建过程</vt:lpstr>
      <vt:lpstr>createrepo 命令</vt:lpstr>
      <vt:lpstr>思考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第8章  Linux网络配置</dc:title>
  <dc:creator>osmond</dc:creator>
  <cp:lastModifiedBy>Hewlett-Packard Company</cp:lastModifiedBy>
  <cp:revision>524</cp:revision>
  <dcterms:created xsi:type="dcterms:W3CDTF">2011-06-22T09:51:37Z</dcterms:created>
  <dcterms:modified xsi:type="dcterms:W3CDTF">2025-05-09T09:16:07Z</dcterms:modified>
</cp:coreProperties>
</file>